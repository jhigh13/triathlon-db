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triathlon.org/2026-world-triathlon-para-series-montrea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vents.triathlon.org/2025-world-triathlon-para-series-montreal/result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triathlon.org/2026-world-triathlon-para-series-montreal/race-info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MONTREAL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Para Series Analysis  ·  June 24 – 27,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June 24 – 27, 2026   •   Parc Jean-Drapeau, Notre-Dame Island, Montréal (EDT, UTC-4)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Thu • June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Open Training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3727703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11:00 – 15:00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training — Aquatic Complex (50 m pool, 4 lanes)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14:00 – 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Gym training — Athletes' Quarter gym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(Wed Jun 24)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Pool training 14:00–18:00 + gym 14:00–17:00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30624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2064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June 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064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807495"/>
              </p:ext>
            </p:extLst>
          </p:nvPr>
        </p:nvGraphicFramePr>
        <p:xfrm>
          <a:off x="4230624" y="2240280"/>
          <a:ext cx="3727703" cy="395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9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07:45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Departures from Host Hotel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08:45 – 09:15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PTS/PTVI Bike Fam  •  PTWC Run Fam — Transition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09:30 – 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PTS/PTVI Run Fam  •  PTWC Bike Fam — Transition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10:15 – 11:00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Familiarisation (ALL) — Swim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10:15 – 10:45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Coaches Onsite Meeting — Transition Area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 –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Equipment verification (ALL)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12:00 – 12:45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WTPS Pre-race briefing (ALL) — Athletes' Quarter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12:45 – 13:30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Package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9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Departures from venue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186928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8368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June 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PARA RACE DAY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233400"/>
              </p:ext>
            </p:extLst>
          </p:nvPr>
        </p:nvGraphicFramePr>
        <p:xfrm>
          <a:off x="8186802" y="2241055"/>
          <a:ext cx="3727703" cy="4244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250"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262626"/>
                          </a:solidFill>
                          <a:latin typeface="Arial"/>
                        </a:rPr>
                        <a:t>05:00 / 05:30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Hotel departures — PTWC 05:00 • PTS/PTVI 05:30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50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05:30 / 06:15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Athletes' Lounge opens — PTWC 05:30 • PTS/PTVI 06:15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250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06:15 – 06:45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PTWC swim warm-up (on course) + transition check-in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531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06:53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PTWC Athletes' Introduction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250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07:00 / 07:03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★ PTWC1 Men 07:00  •  PTWC2 Men 07:03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250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07:04 / 07:08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★ PTWC1 Women 07:04  •  PTWC2 Women 07:08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531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07:45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★ PTS5 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497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07:50 / 07:53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★ PTVI1 Men 07:50  •  PTVI2/3 Men 07:53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250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07:54 / 07:57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★ PTVI1 Women 07:54  •  PTVI2/3 Women 07:57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250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08:10 / 08:15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PTS5 Women 08:10  •  PTS2/3/4 Women 08:15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497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08:25 / 08:30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PTS4 Men 08:25  •  PTS2/3 Men 08:30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250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10:15 /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Venue departures — 1st bus 10:15  •  2nd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531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10:30 – 11:30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262626"/>
                          </a:solidFill>
                          <a:latin typeface="Arial"/>
                        </a:rPr>
                        <a:t>WTPS Medal Ceremony — Podium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516108"/>
            <a:ext cx="11640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BFBFBF"/>
                </a:solidFill>
                <a:latin typeface="Arial"/>
              </a:rPr>
              <a:t>Times Montréal (EDT, UTC-4)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MONTREAL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Arial"/>
              </a:rPr>
              <a:t>World Triathlon Para Series Montréal returns to Parc Jean-Drapeau for the 2026 edition. The race uses the Olympic Basin for a 750 m swim, then heads to the Circuit Gilles-Villeneuve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, 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the F1 track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, a 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21.5 km bike closed circuit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 course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. The run mixes the CGV and the path alongside the rowing basin</a:t>
            </a:r>
            <a:r>
              <a:rPr lang="en-US" sz="1300" b="0" i="0" dirty="0">
                <a:solidFill>
                  <a:srgbClr val="262626"/>
                </a:solidFill>
                <a:latin typeface="Arial"/>
              </a:rPr>
              <a:t> for 2 laps of 2.5km</a:t>
            </a:r>
            <a:r>
              <a:rPr sz="1300" b="0" i="0" dirty="0">
                <a:solidFill>
                  <a:srgbClr val="262626"/>
                </a:solidFill>
                <a:latin typeface="Arial"/>
              </a:rPr>
              <a:t>. Late June in Montréal can run hot and humid; with 23 °C water, expect a non-wetsuit race and a power-driven bike.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Olympic Basin swim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S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heltered</a:t>
            </a:r>
            <a:r>
              <a:rPr lang="en-US" sz="1400" dirty="0">
                <a:solidFill>
                  <a:srgbClr val="262626"/>
                </a:solidFill>
                <a:latin typeface="Arial"/>
              </a:rPr>
              <a:t>,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~23 °C fresh water, in-water pontoon start.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Likely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Non-wetsuit.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44916"/>
            <a:ext cx="5852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Bike on Circuit Gilles-Villeneuve (F1 track): pancake-flat 4.1 km clockwise loop × 5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+ connectors 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= 21.5 km.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06552"/>
            <a:ext cx="5852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Arial"/>
              </a:rPr>
              <a:t>•  Run on CGV + Olympic Basin path: flat 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1.8</a:t>
            </a:r>
            <a:r>
              <a:rPr sz="1400" b="0" i="0" dirty="0">
                <a:solidFill>
                  <a:srgbClr val="262626"/>
                </a:solidFill>
                <a:latin typeface="Arial"/>
              </a:rPr>
              <a:t> km loop × 2</a:t>
            </a:r>
            <a:r>
              <a:rPr lang="en-US" sz="1400" b="0" i="0" dirty="0">
                <a:solidFill>
                  <a:srgbClr val="262626"/>
                </a:solidFill>
                <a:latin typeface="Arial"/>
              </a:rPr>
              <a:t> with a decent stretch before and after the main loop to total 5km. </a:t>
            </a:r>
            <a:endParaRPr sz="14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750 m – 1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21.5 km – 5 laps × 4.1 km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 + connections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5 km – 2 laps ×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1.8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 km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 + connections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Sprint Para Triathlon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262626"/>
                </a:solidFill>
                <a:latin typeface="Arial"/>
                <a:hlinkClick r:id="rId3"/>
              </a:rPr>
              <a:t>Race Info | 2026 World Triathlon Para Series Montréal</a:t>
            </a:r>
            <a:endParaRPr sz="1000" b="0" i="1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0BA3BA-D507-A915-02F8-80AAA3B0448B}"/>
              </a:ext>
            </a:extLst>
          </p:cNvPr>
          <p:cNvSpPr txBox="1"/>
          <p:nvPr/>
        </p:nvSpPr>
        <p:spPr>
          <a:xfrm>
            <a:off x="6702425" y="4654296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002060"/>
                </a:solidFill>
                <a:latin typeface="Arial"/>
              </a:rPr>
              <a:t>2025 </a:t>
            </a:r>
            <a:r>
              <a:rPr lang="en-US" sz="1100" b="1" i="0" dirty="0" err="1">
                <a:solidFill>
                  <a:srgbClr val="002060"/>
                </a:solidFill>
                <a:latin typeface="Arial"/>
              </a:rPr>
              <a:t>Resutls</a:t>
            </a:r>
            <a:r>
              <a:rPr lang="en-US" sz="1100" b="1" i="0" dirty="0">
                <a:solidFill>
                  <a:srgbClr val="002060"/>
                </a:solidFill>
                <a:latin typeface="Arial"/>
              </a:rPr>
              <a:t>: </a:t>
            </a:r>
            <a:endParaRPr sz="1100" b="1" i="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F6F76F-C8BF-7ACB-CE2B-D01F8EDFC0EA}"/>
              </a:ext>
            </a:extLst>
          </p:cNvPr>
          <p:cNvSpPr txBox="1"/>
          <p:nvPr/>
        </p:nvSpPr>
        <p:spPr>
          <a:xfrm>
            <a:off x="6675120" y="4908238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Results | 2025 World Triathlon Para Series Montreal</a:t>
            </a:r>
            <a:endParaRPr sz="1000" b="0" i="1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BFBFBF"/>
                </a:solidFill>
                <a:latin typeface="Arial"/>
              </a:rPr>
              <a:t>Source: </a:t>
            </a:r>
            <a:r>
              <a:rPr lang="en-US" sz="900" dirty="0">
                <a:hlinkClick r:id="rId3"/>
              </a:rPr>
              <a:t>Race Info | 2026 World Triathlon Para Series Montreal</a:t>
            </a:r>
            <a:endParaRPr lang="en-US" sz="900" b="0" i="1" dirty="0">
              <a:solidFill>
                <a:srgbClr val="BFBFBF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https://www.triathlon.org/events/event/2024_americas_triathlon_cup_montreal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993937"/>
              </p:ext>
            </p:extLst>
          </p:nvPr>
        </p:nvGraphicFramePr>
        <p:xfrm>
          <a:off x="274320" y="5048064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8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750 m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Olympic Basin swim. </a:t>
                      </a: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/>
                        </a:rPr>
                        <a:t>S</a:t>
                      </a:r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heltered</a:t>
                      </a: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/>
                        </a:rPr>
                        <a:t>,</a:t>
                      </a:r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 ~23 °C fresh water, in-water pontoon start. Likely Non-wetsuit.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.</a:t>
                      </a:r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Bike on Circuit Gilles-Villeneuve (F1 track): pancake-flat 4.1 km clockwise loop × 5 + connectors = 21.5 km. Note that the course is slightly long than in 2025 measuring 1km longer.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5.0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Run on CGV + Olympic Basin path: flat 1.8 km loop × 2 with a decent stretch before and after the main loop to total 5km.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Picture 17" descr="The image illustrates a triathlon course layout for the 2026 World Triathlon event in Montrￃﾩal, featuring swimming, cycling, and running segments, as well as various stations like aid, penalty, and neutral, all on a map with directional arrows.">
            <a:extLst>
              <a:ext uri="{FF2B5EF4-FFF2-40B4-BE49-F238E27FC236}">
                <a16:creationId xmlns:a16="http://schemas.microsoft.com/office/drawing/2014/main" id="{777FE283-0D89-AA80-7DDF-840BD6751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05" y="1115568"/>
            <a:ext cx="5796624" cy="3337560"/>
          </a:xfrm>
          <a:prstGeom prst="rect">
            <a:avLst/>
          </a:prstGeom>
        </p:spPr>
      </p:pic>
      <p:pic>
        <p:nvPicPr>
          <p:cNvPr id="20" name="Picture 19" descr="The image illustrates a triathlon course layout, featuring swim, bike, and run sections, with various aid stations and penalty boxes, set in Montreal for the 2025 event.">
            <a:extLst>
              <a:ext uri="{FF2B5EF4-FFF2-40B4-BE49-F238E27FC236}">
                <a16:creationId xmlns:a16="http://schemas.microsoft.com/office/drawing/2014/main" id="{B73B539A-6540-CEED-0FA4-FF8B07B9C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409" y="1115568"/>
            <a:ext cx="5679096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files/support/montreal_swim_course.png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Para Series Montréal Elite Athlete Guide — 27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AABBDD"/>
                </a:solidFill>
                <a:latin typeface="Arial"/>
              </a:rPr>
              <a:t>Sheltered rowing basin</a:t>
            </a:r>
            <a:r>
              <a:rPr lang="en-US" sz="1100" b="0" i="1" dirty="0">
                <a:solidFill>
                  <a:srgbClr val="AABBDD"/>
                </a:solidFill>
                <a:latin typeface="Arial"/>
              </a:rPr>
              <a:t> ,</a:t>
            </a:r>
            <a:r>
              <a:rPr sz="1100" b="0" i="1" dirty="0">
                <a:solidFill>
                  <a:srgbClr val="AABBDD"/>
                </a:solidFill>
                <a:latin typeface="Arial"/>
              </a:rPr>
              <a:t>fresh water, calm 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Olympic Basin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In water pontoon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5031" y="3048345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22.0–24.0 °C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Likely non-wetsuit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75031" y="4011171"/>
            <a:ext cx="6126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Sheltered Olympic Basin water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. Typically minimal 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chop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/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current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. </a:t>
            </a:r>
            <a:endParaRPr sz="12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0" y="4380215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•  PTWC swim warm-up on course 06:15–06:45; PTS/PTVI use warm-up lane 07:00–08:15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951178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•  Lounge opens 05:30 (PTWC) / 06:15 (PTS/PTVI); athletes' intro 10 min before category start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522141"/>
            <a:ext cx="6126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Warm water + warm air at 7 AM start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. N</a:t>
            </a:r>
            <a:r>
              <a:rPr sz="1200" b="0" i="0" dirty="0">
                <a:solidFill>
                  <a:srgbClr val="262626"/>
                </a:solidFill>
                <a:latin typeface="Arial"/>
              </a:rPr>
              <a:t>o cold-water acclimation concerns</a:t>
            </a:r>
          </a:p>
        </p:txBody>
      </p:sp>
      <p:pic>
        <p:nvPicPr>
          <p:cNvPr id="42" name="Picture 41" descr="The image is a diagram of the World Triathlon Paralympic swim course in Montreal, showing key buoys for alignment, turn, and exit, with a total distance of 750 meters for one lap.&#10;&#10;AI-generated content may be incorrect.">
            <a:extLst>
              <a:ext uri="{FF2B5EF4-FFF2-40B4-BE49-F238E27FC236}">
                <a16:creationId xmlns:a16="http://schemas.microsoft.com/office/drawing/2014/main" id="{B733D0B1-C665-A5AD-41B9-68D0870A9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1128444"/>
            <a:ext cx="5166360" cy="46505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files/support/montreal_bike_course.png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Para Series Montréal Elite Athlete Guide — 27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21.5 km   •   5 × 4.1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AABBDD"/>
                </a:solidFill>
                <a:latin typeface="Arial"/>
              </a:rPr>
              <a:t>Closed F1 circuit</a:t>
            </a:r>
            <a:r>
              <a:rPr lang="en-US" sz="1100" b="0" i="1" dirty="0">
                <a:solidFill>
                  <a:srgbClr val="AABBDD"/>
                </a:solidFill>
                <a:latin typeface="Arial"/>
              </a:rPr>
              <a:t>, </a:t>
            </a:r>
            <a:r>
              <a:rPr sz="1100" b="0" i="1" dirty="0">
                <a:solidFill>
                  <a:srgbClr val="AABBDD"/>
                </a:solidFill>
                <a:latin typeface="Arial"/>
              </a:rPr>
              <a:t>Circuit Gilles-Villeneuve, Parc Jean-Drapeau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Flat (no data)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Variable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5 × 4.1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Bike held on the Circuit Gilles-Villeneuve (CGV) F1 track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C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lockwise 4.1 km loop × 5 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+ connections 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= 21.5 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541782"/>
            <a:ext cx="6126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Pancake-flat, smooth tarmac throughout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N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o significant climbs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 favoring 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pure power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 profiles</a:t>
            </a:r>
            <a:endParaRPr sz="11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0" y="4852902"/>
            <a:ext cx="6126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Team wheel station at the CGV entrance; Neutral wheel station mid-la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p</a:t>
            </a:r>
            <a:endParaRPr sz="11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0" y="5164022"/>
            <a:ext cx="6126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Bike penalty box sits at the lap/transition split — athletes pass it 5 times across the race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532120"/>
            <a:ext cx="6126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Open island setting on Notre-Dame Island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. Some potential for 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winds off the St. Lawrence can swing crosswinds on the straights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53328"/>
            <a:ext cx="11640312" cy="48463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6092190"/>
            <a:ext cx="116403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</a:t>
            </a:r>
          </a:p>
        </p:txBody>
      </p:sp>
      <p:pic>
        <p:nvPicPr>
          <p:cNvPr id="43" name="Picture 42" descr="The image displays a map layout for a World Triathlon bike course in Montreal, featuring key points like the Team Wheel Station, Neutral Wheel Station, and a bike penalty box.">
            <a:extLst>
              <a:ext uri="{FF2B5EF4-FFF2-40B4-BE49-F238E27FC236}">
                <a16:creationId xmlns:a16="http://schemas.microsoft.com/office/drawing/2014/main" id="{DC014899-1D3D-0CF6-D064-059413830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57024"/>
            <a:ext cx="5166360" cy="4183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files/support/montreal_run_course.png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Para Series Montréal Elite Athlete Guide — 27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5.0 km   •   2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AABBDD"/>
                </a:solidFill>
                <a:latin typeface="Arial"/>
              </a:rPr>
              <a:t>Asphalt</a:t>
            </a:r>
            <a:r>
              <a:rPr lang="en-US" sz="1100" b="0" i="1" dirty="0">
                <a:solidFill>
                  <a:srgbClr val="AABBDD"/>
                </a:solidFill>
                <a:latin typeface="Arial"/>
              </a:rPr>
              <a:t>, </a:t>
            </a:r>
            <a:r>
              <a:rPr sz="1100" b="0" i="1" dirty="0">
                <a:solidFill>
                  <a:srgbClr val="AABBDD"/>
                </a:solidFill>
                <a:latin typeface="Arial"/>
              </a:rPr>
              <a:t>Circuit Gilles-Villeneuve + Olympic Basin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78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 b="0" i="0" dirty="0">
                <a:solidFill>
                  <a:srgbClr val="262626"/>
                </a:solidFill>
                <a:latin typeface="Arial"/>
              </a:rPr>
              <a:t>•  Flat </a:t>
            </a:r>
            <a:r>
              <a:rPr lang="en-US" sz="1120" b="0" i="0" dirty="0">
                <a:solidFill>
                  <a:srgbClr val="262626"/>
                </a:solidFill>
                <a:latin typeface="Arial"/>
              </a:rPr>
              <a:t>1.8</a:t>
            </a:r>
            <a:r>
              <a:rPr sz="1120" b="0" i="0" dirty="0">
                <a:solidFill>
                  <a:srgbClr val="262626"/>
                </a:solidFill>
                <a:latin typeface="Arial"/>
              </a:rPr>
              <a:t>km loop × 2</a:t>
            </a:r>
            <a:r>
              <a:rPr lang="en-US" sz="1120" b="0" i="0" dirty="0">
                <a:solidFill>
                  <a:srgbClr val="262626"/>
                </a:solidFill>
                <a:latin typeface="Arial"/>
              </a:rPr>
              <a:t> + opening and closing connecting stretches. </a:t>
            </a:r>
            <a:r>
              <a:rPr lang="en-US" sz="1120" dirty="0">
                <a:solidFill>
                  <a:srgbClr val="262626"/>
                </a:solidFill>
                <a:latin typeface="Arial"/>
              </a:rPr>
              <a:t>E</a:t>
            </a:r>
            <a:r>
              <a:rPr sz="1120" b="0" i="0" dirty="0">
                <a:solidFill>
                  <a:srgbClr val="262626"/>
                </a:solidFill>
                <a:latin typeface="Arial"/>
              </a:rPr>
              <a:t>xit transition north of basin, enter CGV at the hairpin, head west to pit lane</a:t>
            </a:r>
            <a:r>
              <a:rPr lang="en-US" sz="1120" dirty="0">
                <a:solidFill>
                  <a:srgbClr val="262626"/>
                </a:solidFill>
                <a:latin typeface="Arial"/>
              </a:rPr>
              <a:t>. Two left turns at the pit lane drop onto the north-side path along the Olympic Basin</a:t>
            </a:r>
          </a:p>
          <a:p>
            <a:pPr algn="l"/>
            <a:endParaRPr sz="112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0" y="4603859"/>
            <a:ext cx="6126480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i="0" dirty="0">
                <a:solidFill>
                  <a:srgbClr val="262626"/>
                </a:solidFill>
                <a:latin typeface="Arial"/>
              </a:rPr>
              <a:t>•  Aid stations / water at 370 m, 1.1 km, 2.3 km, 3.0 km, 4.1 km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32207"/>
            <a:ext cx="6126480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i="0" dirty="0">
                <a:solidFill>
                  <a:srgbClr val="262626"/>
                </a:solidFill>
                <a:latin typeface="Arial"/>
              </a:rPr>
              <a:t>•  Run penalty box at ~2.6 km (loop turnaround</a:t>
            </a:r>
            <a:r>
              <a:rPr lang="en-US" sz="1120" b="0" i="0" dirty="0">
                <a:solidFill>
                  <a:srgbClr val="262626"/>
                </a:solidFill>
                <a:latin typeface="Arial"/>
              </a:rPr>
              <a:t>)</a:t>
            </a:r>
            <a:endParaRPr sz="112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0" y="5260555"/>
            <a:ext cx="612648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i="0" dirty="0">
                <a:solidFill>
                  <a:srgbClr val="262626"/>
                </a:solidFill>
                <a:latin typeface="Arial"/>
              </a:rPr>
              <a:t>•  PTVI Free Leading zones: T2 exit→AS1, AS2 on CGV, paddocks turnaround, AS2 on Chemin Nord, Run Penalty Box 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758180"/>
            <a:ext cx="6126480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i="0" dirty="0">
                <a:solidFill>
                  <a:srgbClr val="262626"/>
                </a:solidFill>
                <a:latin typeface="Arial"/>
              </a:rPr>
              <a:t>•  Run team wheel station (for racing wheelchairs) co-located with Aid Station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262626"/>
                </a:solidFill>
                <a:latin typeface="Arial"/>
              </a:rPr>
              <a:t>Not in race brief: Elevation profile (course described as flat — no published grade data)</a:t>
            </a:r>
          </a:p>
        </p:txBody>
      </p:sp>
      <p:pic>
        <p:nvPicPr>
          <p:cNvPr id="43" name="Picture 42" descr="The image depicts a World Triathlon course in Montrￃﾩal, featuring a 5 km run route, aid stations, penalty boxes, and a transition area, with a map and a timeline for race preparation.">
            <a:extLst>
              <a:ext uri="{FF2B5EF4-FFF2-40B4-BE49-F238E27FC236}">
                <a16:creationId xmlns:a16="http://schemas.microsoft.com/office/drawing/2014/main" id="{ACAF5B12-A586-52BC-46B8-CE818800E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9" y="1148674"/>
            <a:ext cx="5148072" cy="47492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Montréal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62626"/>
                </a:solidFill>
                <a:latin typeface="Arial"/>
              </a:rPr>
              <a:t>Denver → Montréal is a same-day 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journey with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multiple nonstop options (Air Canada / United / WestJet) 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or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easy one-stop itineraries through ORD, YYZ, or EWR. Only +2 h time-zone shift (MDT → EDT), so jet-lag impact is minimal. LOC operates a scheduled airport shuttle YUL ↔ Alt Hotel Montréal between June 23–28 (60 USD mandatory per-person fee). 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World Triathlon also provides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official Wed/Thu pool + gym training windows ahead of Friday's familiarization.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YUL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Nonstop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~3h 45m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Nonstop estimate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Montréal ahead of Denver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YUL → Alt Hotel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LOC shuttle (60 USD)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19 km / ~20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By car/shuttle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Official Accommodation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Official hotel: Alt Hotel Montréal (Germain Group), 120 Peel Street, H3C 0L8.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050717"/>
            <a:ext cx="53400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Block code "2606OBTRIA" — book via the WTPS reservations link, email reservations.altmontreal@germainhotels.com, or call 514.375.0220.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521671"/>
            <a:ext cx="53400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Distance to venue (Parc Jean-Drapeau): 6.3 km — 15 min by car or bike; LOC provides free venue transport on familiarization + race day.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992624"/>
            <a:ext cx="53400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Hotel is downtown (</a:t>
            </a:r>
            <a:r>
              <a:rPr sz="1100" b="0" i="0" dirty="0" err="1">
                <a:solidFill>
                  <a:srgbClr val="262626"/>
                </a:solidFill>
                <a:latin typeface="Arial"/>
              </a:rPr>
              <a:t>Griffintown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 adjacent)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E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asy walk to Old Montréal, restaurants, and metro access.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Hotel + 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749040"/>
            <a:ext cx="53400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Best stock-up: </a:t>
            </a:r>
            <a:r>
              <a:rPr sz="1050" b="0" i="0" dirty="0" err="1">
                <a:solidFill>
                  <a:srgbClr val="262626"/>
                </a:solidFill>
                <a:latin typeface="Arial"/>
              </a:rPr>
              <a:t>Provigo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 / IGA / Métro grocery stores within walking distance of Alt Hotel (Peel St / Saint-Antoine corridor).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156140"/>
            <a:ext cx="5340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Quick basics: Tim Hortons / Couche-Tard / Starbucks 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Jean </a:t>
            </a:r>
            <a:r>
              <a:rPr lang="en-US" sz="1050" b="0" i="0" dirty="0" err="1">
                <a:solidFill>
                  <a:srgbClr val="262626"/>
                </a:solidFill>
                <a:latin typeface="Arial"/>
              </a:rPr>
              <a:t>Contu</a:t>
            </a:r>
            <a:endParaRPr sz="10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82512" y="4393963"/>
            <a:ext cx="53400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Athlete-friendly restaurants: Marcus, Burgundy Lion, and the Cours Mont-Royal food court 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score strong reviews and are within 15 min walk</a:t>
            </a:r>
            <a:endParaRPr sz="10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82512" y="4801063"/>
            <a:ext cx="53400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Venue note: Parc Jean-Drapeau is on Notre-Dame Island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Helpful to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bring race-day food/fluid from the hotel; on-island vendor options 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may be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limite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d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5208162"/>
            <a:ext cx="53400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Heat consideration: Late June can hit 30 °C+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E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lectrolytes / ice packs 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should be utilized</a:t>
            </a:r>
            <a:endParaRPr sz="1050" b="0" i="0" dirty="0">
              <a:solidFill>
                <a:srgbClr val="26262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853276"/>
              </p:ext>
            </p:extLst>
          </p:nvPr>
        </p:nvGraphicFramePr>
        <p:xfrm>
          <a:off x="274320" y="1293622"/>
          <a:ext cx="470915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257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Aug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22.3°*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22.3°*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23.1°*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22.6°*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26.5°*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Jun 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20.1°*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Jun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b="0" i="0" kern="1200" dirty="0">
                          <a:solidFill>
                            <a:srgbClr val="262626"/>
                          </a:solidFill>
                          <a:latin typeface="Arial"/>
                          <a:ea typeface="+mn-ea"/>
                          <a:cs typeface="+mn-cs"/>
                        </a:rPr>
                        <a:t>2024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kern="1200" dirty="0">
                          <a:solidFill>
                            <a:srgbClr val="262626"/>
                          </a:solidFill>
                          <a:latin typeface="Arial"/>
                          <a:ea typeface="+mn-ea"/>
                          <a:cs typeface="+mn-cs"/>
                        </a:rPr>
                        <a:t>Jun 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kern="1200" dirty="0">
                          <a:solidFill>
                            <a:srgbClr val="262626"/>
                          </a:solidFill>
                          <a:latin typeface="Arial"/>
                          <a:ea typeface="+mn-ea"/>
                          <a:cs typeface="+mn-cs"/>
                        </a:rPr>
                        <a:t>22.0°*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kern="1200" dirty="0">
                          <a:solidFill>
                            <a:srgbClr val="262626"/>
                          </a:solidFill>
                          <a:latin typeface="Arial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kern="1200" dirty="0">
                          <a:solidFill>
                            <a:srgbClr val="262626"/>
                          </a:solidFill>
                          <a:latin typeface="Arial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kern="1200" dirty="0">
                          <a:solidFill>
                            <a:srgbClr val="262626"/>
                          </a:solidFill>
                          <a:latin typeface="Arial"/>
                          <a:ea typeface="+mn-ea"/>
                          <a:cs typeface="+mn-cs"/>
                        </a:rPr>
                        <a:t>0.0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187451"/>
                  </a:ext>
                </a:extLst>
              </a:tr>
              <a:tr h="235428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28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828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 19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28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25.8°*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28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28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8282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35457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984252"/>
              </p:ext>
            </p:extLst>
          </p:nvPr>
        </p:nvGraphicFramePr>
        <p:xfrm>
          <a:off x="5166360" y="1280922"/>
          <a:ext cx="4069078" cy="2847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95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56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69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42562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42926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18686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Water Quality: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Official Montréal Triathlon page says the Parc Jean-Drapeau Olympic Basin meets World Triathlon water-quality standards.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68901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Athlete Health Incidents: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No public Montréal-specific GI illness cluster found. Bigger practical risk is humid mornings.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619116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Water Temperature: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Olympic Basin freshwater is typically warm for late June (~22–24°C). Expect likely non-wetsuit with no cold-water acclimation concern.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6933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Heat / Humidity Risk: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Historical race windows are usually mild-to-warm but humid. Current Jun 27 forecast is cooler (~21°C high / 11°C low), so heat risk looks moderate-low unless humidity or storms build.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PARA 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Para Series Results  — 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PTWC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PTS3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PTS4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PTVI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Jun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Plat
56:16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Ribstein
1:07:26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Molina
1:09:37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Hanquinquant
1:00:48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Daniel
57:30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Ellis
1:00:24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Plat
56:25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Morales
1:11:40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Godfrey
1:12:40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Peacock
1:05:34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Daniel
59:10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Coon
1:01:12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Sanborn
1:01:00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Morsink
1:08:22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Burgt
1:11:26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Hanquinquant
57:53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Daniel
57:24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Laparra
58:52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Jun 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Romele
1:01:01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Lahna
1:07:09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Urand
1:09:43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Hanquinquant
58:29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Hammer
56:50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Rigaudeau
57:29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Noel
1:02:50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Paepe
1:06:52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Gelhaar
1:06:59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Baele
59:17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Daniel
56:35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Kelly
57:51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7395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World Para Series Men winners by sport class. Surname + winning total time. Years with no completed racing are omitted.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Winning Time Trends  —  Para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PARA WOMEN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Para Series Results  — 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PTWC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PTS3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PTS4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PTVI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Jun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Tapp
1:07:25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Seely
1:20:12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Plotnikova
1:24:12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Moore
1:11:30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Cashmore
1:06:13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Rodriguez
1:08:33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Parker
1:05:08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Danz
1:20:03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Elmlinger
1:13:24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Norman
1:05:45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Rodriguez
1:07:24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Parker
1:03:32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Danz
1:14:40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Vargas
1:28:01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Elmlinger
1:13:26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Norman
1:03:06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Rodriguez
1:04:00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Jun 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Gretsch
1:05:34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Seely
1:14:20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Vargas
1:24:44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Elmlinger
1:10:45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Frenette
1:07:59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Rodriguez
1:04:26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Parker
1:03:08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Francis
1:16:43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Vargas
1:18:47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Seneclauze
1:14:01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Norman
1:02:03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Freitas
1:05:47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7395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World Para Series Women winners by sport class. Surname + winning total time. Years with no completed racing are omitted.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Winning Time Trends  —  Para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2376</Words>
  <Application>Microsoft Office PowerPoint</Application>
  <PresentationFormat>Custom</PresentationFormat>
  <Paragraphs>445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High</cp:lastModifiedBy>
  <cp:revision>4</cp:revision>
  <dcterms:created xsi:type="dcterms:W3CDTF">2013-01-27T09:14:16Z</dcterms:created>
  <dcterms:modified xsi:type="dcterms:W3CDTF">2026-06-14T20:57:05Z</dcterms:modified>
  <cp:category/>
</cp:coreProperties>
</file>