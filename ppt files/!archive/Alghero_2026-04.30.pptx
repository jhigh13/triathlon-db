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6" r:id="rId6"/>
    <p:sldId id="260" r:id="rId7"/>
    <p:sldId id="261" r:id="rId8"/>
    <p:sldId id="262" r:id="rId9"/>
    <p:sldId id="277" r:id="rId10"/>
    <p:sldId id="278" r:id="rId11"/>
    <p:sldId id="265" r:id="rId12"/>
    <p:sldId id="266" r:id="rId13"/>
    <p:sldId id="267" r:id="rId14"/>
    <p:sldId id="268" r:id="rId15"/>
    <p:sldId id="269" r:id="rId16"/>
    <p:sldId id="270" r:id="rId17"/>
    <p:sldId id="271" r:id="rId18"/>
    <p:sldId id="272" r:id="rId19"/>
    <p:sldId id="273" r:id="rId20"/>
    <p:sldId id="274" r:id="rId21"/>
    <p:sldId id="275" r:id="rId2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events.triathlon.org/2026-wtcs-alghero/race-info" TargetMode="Externa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www.triathlonlive.tv/pages/UKTf_yFez" TargetMode="External"/><Relationship Id="rId4" Type="http://schemas.openxmlformats.org/officeDocument/2006/relationships/hyperlink" Target="https://events.triathlon.org/2025-world-triathlon-championship-series-alghero/result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events.triathlon.org/2026-wtcs-alghero/travel"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www.hotelcalabona.it/"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ALGHERO RACE HISTORY</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Past 8 Years  ·  April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ALGHERO</a:t>
            </a:r>
          </a:p>
        </p:txBody>
      </p:sp>
      <p:sp>
        <p:nvSpPr>
          <p:cNvPr id="9" name="TextBox 8"/>
          <p:cNvSpPr txBox="1"/>
          <p:nvPr/>
        </p:nvSpPr>
        <p:spPr>
          <a:xfrm>
            <a:off x="274320" y="1627632"/>
            <a:ext cx="6035040" cy="1169551"/>
          </a:xfrm>
          <a:prstGeom prst="rect">
            <a:avLst/>
          </a:prstGeom>
          <a:noFill/>
        </p:spPr>
        <p:txBody>
          <a:bodyPr wrap="square">
            <a:spAutoFit/>
          </a:bodyPr>
          <a:lstStyle/>
          <a:p>
            <a:r>
              <a:rPr sz="1400" dirty="0">
                <a:solidFill>
                  <a:srgbClr val="242424"/>
                </a:solidFill>
                <a:latin typeface="Aptos"/>
              </a:rPr>
              <a:t>Set on Sardinia’s Coral Riviera, Alghero is a coastal Olympic-distance course built around San Giovanni Beach, the port, and the historic city </a:t>
            </a:r>
            <a:r>
              <a:rPr sz="1400" dirty="0" err="1">
                <a:solidFill>
                  <a:srgbClr val="242424"/>
                </a:solidFill>
                <a:latin typeface="Aptos"/>
              </a:rPr>
              <a:t>centre</a:t>
            </a:r>
            <a:r>
              <a:rPr sz="1400" dirty="0">
                <a:solidFill>
                  <a:srgbClr val="242424"/>
                </a:solidFill>
                <a:latin typeface="Aptos"/>
              </a:rPr>
              <a:t>. It is not a pure flat-power course: the bike includes some uphill/downhill sections, repeated direction changes, and enough technicality to make positioning important before the run.</a:t>
            </a:r>
          </a:p>
        </p:txBody>
      </p:sp>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383280"/>
            <a:ext cx="5852160" cy="430887"/>
          </a:xfrm>
          <a:prstGeom prst="rect">
            <a:avLst/>
          </a:prstGeom>
          <a:noFill/>
        </p:spPr>
        <p:txBody>
          <a:bodyPr wrap="square">
            <a:spAutoFit/>
          </a:bodyPr>
          <a:lstStyle/>
          <a:p>
            <a:r>
              <a:rPr sz="1100" dirty="0">
                <a:solidFill>
                  <a:srgbClr val="242424"/>
                </a:solidFill>
                <a:latin typeface="Aptos"/>
              </a:rPr>
              <a:t>• Beach/pontoon-style sea swim at San Giovanni Beach; 1.5 km over two laps with the first buoy ~325 m from the start.</a:t>
            </a:r>
          </a:p>
        </p:txBody>
      </p:sp>
      <p:sp>
        <p:nvSpPr>
          <p:cNvPr id="13" name="TextBox 12"/>
          <p:cNvSpPr txBox="1"/>
          <p:nvPr/>
        </p:nvSpPr>
        <p:spPr>
          <a:xfrm>
            <a:off x="365760" y="4041648"/>
            <a:ext cx="5852160" cy="430887"/>
          </a:xfrm>
          <a:prstGeom prst="rect">
            <a:avLst/>
          </a:prstGeom>
          <a:noFill/>
        </p:spPr>
        <p:txBody>
          <a:bodyPr wrap="square">
            <a:spAutoFit/>
          </a:bodyPr>
          <a:lstStyle/>
          <a:p>
            <a:r>
              <a:rPr sz="1100" dirty="0">
                <a:solidFill>
                  <a:srgbClr val="242424"/>
                </a:solidFill>
                <a:latin typeface="Aptos"/>
              </a:rPr>
              <a:t>• 40.5 km bike over 9 laps; coastal urban circuit with some uphill/downhill sections and many direction changes.</a:t>
            </a:r>
          </a:p>
        </p:txBody>
      </p:sp>
      <p:sp>
        <p:nvSpPr>
          <p:cNvPr id="14" name="TextBox 13"/>
          <p:cNvSpPr txBox="1"/>
          <p:nvPr/>
        </p:nvSpPr>
        <p:spPr>
          <a:xfrm>
            <a:off x="365760" y="4700016"/>
            <a:ext cx="5852160" cy="430887"/>
          </a:xfrm>
          <a:prstGeom prst="rect">
            <a:avLst/>
          </a:prstGeom>
          <a:noFill/>
        </p:spPr>
        <p:txBody>
          <a:bodyPr wrap="square">
            <a:spAutoFit/>
          </a:bodyPr>
          <a:lstStyle/>
          <a:p>
            <a:r>
              <a:rPr sz="1100" dirty="0">
                <a:solidFill>
                  <a:srgbClr val="242424"/>
                </a:solidFill>
                <a:latin typeface="Aptos"/>
              </a:rPr>
              <a:t>• 10 km run over 4 laps through the </a:t>
            </a:r>
            <a:r>
              <a:rPr sz="1100" dirty="0" err="1">
                <a:solidFill>
                  <a:srgbClr val="242424"/>
                </a:solidFill>
                <a:latin typeface="Aptos"/>
              </a:rPr>
              <a:t>centre</a:t>
            </a:r>
            <a:r>
              <a:rPr sz="1100" dirty="0">
                <a:solidFill>
                  <a:srgbClr val="242424"/>
                </a:solidFill>
                <a:latin typeface="Aptos"/>
              </a:rPr>
              <a:t> of Alghero and along the seafront; likely pavement/urban surface.</a:t>
            </a:r>
          </a:p>
        </p:txBody>
      </p:sp>
      <p:sp>
        <p:nvSpPr>
          <p:cNvPr id="15" name="TextBox 14"/>
          <p:cNvSpPr txBox="1"/>
          <p:nvPr/>
        </p:nvSpPr>
        <p:spPr>
          <a:xfrm>
            <a:off x="365760" y="5358384"/>
            <a:ext cx="5852160" cy="430887"/>
          </a:xfrm>
          <a:prstGeom prst="rect">
            <a:avLst/>
          </a:prstGeom>
          <a:noFill/>
        </p:spPr>
        <p:txBody>
          <a:bodyPr wrap="square">
            <a:spAutoFit/>
          </a:bodyPr>
          <a:lstStyle/>
          <a:p>
            <a:r>
              <a:rPr sz="1100" dirty="0">
                <a:solidFill>
                  <a:srgbClr val="242424"/>
                </a:solidFill>
                <a:latin typeface="Aptos"/>
              </a:rPr>
              <a:t>• Late-May conditions can be hot and exposed: 2025 race day was ~27–28°C, humid, and wetsuit-forbidden.</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595360" y="1508760"/>
            <a:ext cx="3200400" cy="320040"/>
          </a:xfrm>
          <a:prstGeom prst="rect">
            <a:avLst/>
          </a:prstGeom>
          <a:noFill/>
        </p:spPr>
        <p:txBody>
          <a:bodyPr wrap="square">
            <a:spAutoFit/>
          </a:bodyPr>
          <a:lstStyle/>
          <a:p>
            <a:pPr algn="l"/>
            <a:r>
              <a:rPr sz="1200" b="0" i="0">
                <a:solidFill>
                  <a:srgbClr val="262626"/>
                </a:solidFill>
                <a:latin typeface="Arial"/>
              </a:rPr>
              <a:t>1.5 km</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595360" y="1847088"/>
            <a:ext cx="3200400" cy="320040"/>
          </a:xfrm>
          <a:prstGeom prst="rect">
            <a:avLst/>
          </a:prstGeom>
          <a:noFill/>
        </p:spPr>
        <p:txBody>
          <a:bodyPr wrap="square">
            <a:spAutoFit/>
          </a:bodyPr>
          <a:lstStyle/>
          <a:p>
            <a:pPr algn="l"/>
            <a:r>
              <a:rPr sz="1200" b="0" i="0">
                <a:solidFill>
                  <a:srgbClr val="262626"/>
                </a:solidFill>
                <a:latin typeface="Arial"/>
              </a:rPr>
              <a:t>40.5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595360" y="2185415"/>
            <a:ext cx="3200400" cy="320040"/>
          </a:xfrm>
          <a:prstGeom prst="rect">
            <a:avLst/>
          </a:prstGeom>
          <a:noFill/>
        </p:spPr>
        <p:txBody>
          <a:bodyPr wrap="square">
            <a:spAutoFit/>
          </a:bodyPr>
          <a:lstStyle/>
          <a:p>
            <a:pPr algn="l"/>
            <a:r>
              <a:rPr sz="1200" b="0" i="0">
                <a:solidFill>
                  <a:srgbClr val="262626"/>
                </a:solidFill>
                <a:latin typeface="Arial"/>
              </a:rPr>
              <a:t>10.0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595360" y="2523744"/>
            <a:ext cx="3200400" cy="320040"/>
          </a:xfrm>
          <a:prstGeom prst="rect">
            <a:avLst/>
          </a:prstGeom>
          <a:noFill/>
        </p:spPr>
        <p:txBody>
          <a:bodyPr wrap="square">
            <a:spAutoFit/>
          </a:bodyPr>
          <a:lstStyle/>
          <a:p>
            <a:pPr algn="l"/>
            <a:r>
              <a:rPr sz="1200" b="0" i="0">
                <a:solidFill>
                  <a:srgbClr val="262626"/>
                </a:solidFill>
                <a:latin typeface="Arial"/>
              </a:rPr>
              <a:t>Standard Triathlon</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595360" y="2862072"/>
            <a:ext cx="3200400" cy="320040"/>
          </a:xfrm>
          <a:prstGeom prst="rect">
            <a:avLst/>
          </a:prstGeom>
          <a:noFill/>
        </p:spPr>
        <p:txBody>
          <a:bodyPr wrap="square">
            <a:spAutoFit/>
          </a:bodyPr>
          <a:lstStyle/>
          <a:p>
            <a:r>
              <a:rPr sz="850">
                <a:solidFill>
                  <a:srgbClr val="000000"/>
                </a:solidFill>
                <a:latin typeface="Aptos"/>
              </a:rPr>
              <a:t>9 (~12 key turns/lap est.)</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595360" y="3200400"/>
            <a:ext cx="3200400" cy="320040"/>
          </a:xfrm>
          <a:prstGeom prst="rect">
            <a:avLst/>
          </a:prstGeom>
          <a:noFill/>
        </p:spPr>
        <p:txBody>
          <a:bodyPr wrap="square">
            <a:spAutoFit/>
          </a:bodyPr>
          <a:lstStyle/>
          <a:p>
            <a:r>
              <a:rPr sz="850">
                <a:solidFill>
                  <a:srgbClr val="000000"/>
                </a:solidFill>
                <a:latin typeface="Aptos"/>
              </a:rPr>
              <a:t>4 (surface likely pavement)</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384048"/>
          </a:xfrm>
          <a:prstGeom prst="rect">
            <a:avLst/>
          </a:prstGeom>
          <a:noFill/>
        </p:spPr>
        <p:txBody>
          <a:bodyPr wrap="square">
            <a:spAutoFit/>
          </a:bodyPr>
          <a:lstStyle/>
          <a:p>
            <a:pPr algn="l"/>
            <a:r>
              <a:rPr sz="850" b="1" u="sng">
                <a:solidFill>
                  <a:srgbClr val="00529B"/>
                </a:solidFill>
                <a:latin typeface="Aptos"/>
                <a:hlinkClick r:id="rId3"/>
              </a:rPr>
              <a:t>2026 World Triathlon race info</a:t>
            </a:r>
          </a:p>
        </p:txBody>
      </p:sp>
      <p:sp>
        <p:nvSpPr>
          <p:cNvPr id="34" name="TextBox 33"/>
          <p:cNvSpPr txBox="1"/>
          <p:nvPr/>
        </p:nvSpPr>
        <p:spPr>
          <a:xfrm>
            <a:off x="6675120" y="4846320"/>
            <a:ext cx="5120640" cy="274320"/>
          </a:xfrm>
          <a:prstGeom prst="rect">
            <a:avLst/>
          </a:prstGeom>
          <a:noFill/>
        </p:spPr>
        <p:txBody>
          <a:bodyPr wrap="square">
            <a:spAutoFit/>
          </a:bodyPr>
          <a:lstStyle/>
          <a:p>
            <a:pPr algn="l"/>
            <a:r>
              <a:rPr sz="1100" b="1" i="0">
                <a:solidFill>
                  <a:srgbClr val="002060"/>
                </a:solidFill>
                <a:latin typeface="Arial"/>
              </a:rPr>
              <a:t>Last Year's Results:</a:t>
            </a:r>
          </a:p>
        </p:txBody>
      </p:sp>
      <p:sp>
        <p:nvSpPr>
          <p:cNvPr id="35" name="TextBox 34"/>
          <p:cNvSpPr txBox="1"/>
          <p:nvPr/>
        </p:nvSpPr>
        <p:spPr>
          <a:xfrm>
            <a:off x="6675120" y="5148072"/>
            <a:ext cx="5120640" cy="384048"/>
          </a:xfrm>
          <a:prstGeom prst="rect">
            <a:avLst/>
          </a:prstGeom>
          <a:noFill/>
        </p:spPr>
        <p:txBody>
          <a:bodyPr wrap="square">
            <a:spAutoFit/>
          </a:bodyPr>
          <a:lstStyle/>
          <a:p>
            <a:pPr algn="l"/>
            <a:r>
              <a:rPr sz="850" b="1" u="sng">
                <a:solidFill>
                  <a:srgbClr val="00529B"/>
                </a:solidFill>
                <a:latin typeface="Aptos"/>
                <a:hlinkClick r:id="rId4"/>
              </a:rPr>
              <a:t>2025 Alghero results</a:t>
            </a:r>
          </a:p>
        </p:txBody>
      </p:sp>
      <p:sp>
        <p:nvSpPr>
          <p:cNvPr id="36" name="TextBox 35"/>
          <p:cNvSpPr txBox="1"/>
          <p:nvPr/>
        </p:nvSpPr>
        <p:spPr>
          <a:xfrm>
            <a:off x="6675120" y="5623560"/>
            <a:ext cx="5120640" cy="274320"/>
          </a:xfrm>
          <a:prstGeom prst="rect">
            <a:avLst/>
          </a:prstGeom>
          <a:noFill/>
        </p:spPr>
        <p:txBody>
          <a:bodyPr wrap="square">
            <a:spAutoFit/>
          </a:bodyPr>
          <a:lstStyle/>
          <a:p>
            <a:pPr algn="l"/>
            <a:r>
              <a:rPr sz="1100" b="1" i="0">
                <a:solidFill>
                  <a:srgbClr val="002060"/>
                </a:solidFill>
                <a:latin typeface="Arial"/>
              </a:rPr>
              <a:t>Race Replay:</a:t>
            </a:r>
          </a:p>
        </p:txBody>
      </p:sp>
      <p:sp>
        <p:nvSpPr>
          <p:cNvPr id="37" name="TextBox 36"/>
          <p:cNvSpPr txBox="1"/>
          <p:nvPr/>
        </p:nvSpPr>
        <p:spPr>
          <a:xfrm>
            <a:off x="6675120" y="5925312"/>
            <a:ext cx="5120640" cy="384048"/>
          </a:xfrm>
          <a:prstGeom prst="rect">
            <a:avLst/>
          </a:prstGeom>
          <a:noFill/>
        </p:spPr>
        <p:txBody>
          <a:bodyPr wrap="square">
            <a:spAutoFit/>
          </a:bodyPr>
          <a:lstStyle/>
          <a:p>
            <a:pPr algn="l"/>
            <a:r>
              <a:rPr sz="850" b="1" u="sng">
                <a:solidFill>
                  <a:srgbClr val="00529B"/>
                </a:solidFill>
                <a:latin typeface="Aptos"/>
                <a:hlinkClick r:id="rId5"/>
              </a:rPr>
              <a:t>TriathlonLIVE replays + WT highlights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148840"/>
            <a:ext cx="5303520" cy="914400"/>
          </a:xfrm>
          <a:prstGeom prst="rect">
            <a:avLst/>
          </a:prstGeom>
          <a:noFill/>
        </p:spPr>
        <p:txBody>
          <a:bodyPr wrap="square">
            <a:spAutoFit/>
          </a:bodyPr>
          <a:lstStyle/>
          <a:p>
            <a:endParaRPr/>
          </a:p>
        </p:txBody>
      </p:sp>
      <p:sp>
        <p:nvSpPr>
          <p:cNvPr id="10" name="TextBox 9"/>
          <p:cNvSpPr txBox="1"/>
          <p:nvPr/>
        </p:nvSpPr>
        <p:spPr>
          <a:xfrm>
            <a:off x="274320" y="4507992"/>
            <a:ext cx="5669280" cy="274320"/>
          </a:xfrm>
          <a:prstGeom prst="rect">
            <a:avLst/>
          </a:prstGeom>
          <a:noFill/>
        </p:spPr>
        <p:txBody>
          <a:bodyPr wrap="square">
            <a:spAutoFit/>
          </a:bodyPr>
          <a:lstStyle/>
          <a:p>
            <a:pPr algn="ctr"/>
            <a:r>
              <a:rPr sz="1200" b="1" i="0">
                <a:solidFill>
                  <a:srgbClr val="002060"/>
                </a:solidFill>
                <a:latin typeface="Arial"/>
              </a:rPr>
              <a:t>2026 Course</a:t>
            </a:r>
          </a:p>
        </p:txBody>
      </p:sp>
      <p:sp>
        <p:nvSpPr>
          <p:cNvPr id="11" name="TextBox 10"/>
          <p:cNvSpPr txBox="1"/>
          <p:nvPr/>
        </p:nvSpPr>
        <p:spPr>
          <a:xfrm>
            <a:off x="274320" y="4773168"/>
            <a:ext cx="5669280" cy="246888"/>
          </a:xfrm>
          <a:prstGeom prst="rect">
            <a:avLst/>
          </a:prstGeom>
          <a:noFill/>
        </p:spPr>
        <p:txBody>
          <a:bodyPr wrap="square">
            <a:spAutoFit/>
          </a:bodyPr>
          <a:lstStyle/>
          <a:p>
            <a:r>
              <a:rPr sz="700">
                <a:solidFill>
                  <a:srgbClr val="00529B"/>
                </a:solidFill>
                <a:latin typeface="Aptos"/>
              </a:rPr>
              <a:t>Source: 2026 World Triathlon race info / course map</a:t>
            </a:r>
          </a:p>
        </p:txBody>
      </p:sp>
      <p:sp>
        <p:nvSpPr>
          <p:cNvPr id="12" name="Rectangle 11"/>
          <p:cNvSpPr/>
          <p:nvPr/>
        </p:nvSpPr>
        <p:spPr>
          <a:xfrm>
            <a:off x="626364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148840"/>
            <a:ext cx="5303520" cy="914400"/>
          </a:xfrm>
          <a:prstGeom prst="rect">
            <a:avLst/>
          </a:prstGeom>
          <a:noFill/>
        </p:spPr>
        <p:txBody>
          <a:bodyPr wrap="square">
            <a:spAutoFit/>
          </a:bodyPr>
          <a:lstStyle/>
          <a:p>
            <a:endParaRPr/>
          </a:p>
        </p:txBody>
      </p:sp>
      <p:sp>
        <p:nvSpPr>
          <p:cNvPr id="14" name="TextBox 13"/>
          <p:cNvSpPr txBox="1"/>
          <p:nvPr/>
        </p:nvSpPr>
        <p:spPr>
          <a:xfrm>
            <a:off x="6263640" y="4507992"/>
            <a:ext cx="5669280" cy="274320"/>
          </a:xfrm>
          <a:prstGeom prst="rect">
            <a:avLst/>
          </a:prstGeom>
          <a:noFill/>
        </p:spPr>
        <p:txBody>
          <a:bodyPr wrap="square">
            <a:spAutoFit/>
          </a:bodyPr>
          <a:lstStyle/>
          <a:p>
            <a:pPr algn="ctr"/>
            <a:r>
              <a:rPr sz="1200" b="1" i="0">
                <a:solidFill>
                  <a:srgbClr val="002060"/>
                </a:solidFill>
                <a:latin typeface="Arial"/>
              </a:rPr>
              <a:t>2025 Course</a:t>
            </a:r>
          </a:p>
        </p:txBody>
      </p:sp>
      <p:sp>
        <p:nvSpPr>
          <p:cNvPr id="15" name="TextBox 14"/>
          <p:cNvSpPr txBox="1"/>
          <p:nvPr/>
        </p:nvSpPr>
        <p:spPr>
          <a:xfrm>
            <a:off x="6263640" y="4773168"/>
            <a:ext cx="5669280" cy="246888"/>
          </a:xfrm>
          <a:prstGeom prst="rect">
            <a:avLst/>
          </a:prstGeom>
          <a:noFill/>
        </p:spPr>
        <p:txBody>
          <a:bodyPr wrap="square">
            <a:spAutoFit/>
          </a:bodyPr>
          <a:lstStyle/>
          <a:p>
            <a:r>
              <a:rPr sz="700">
                <a:solidFill>
                  <a:srgbClr val="00529B"/>
                </a:solidFill>
                <a:latin typeface="Aptos"/>
              </a:rPr>
              <a:t>Source: 2025 World Triathlon race info / Field of Play map</a:t>
            </a:r>
          </a:p>
        </p:txBody>
      </p:sp>
      <p:graphicFrame>
        <p:nvGraphicFramePr>
          <p:cNvPr id="16" name="Table 15"/>
          <p:cNvGraphicFramePr>
            <a:graphicFrameLocks noGrp="1"/>
          </p:cNvGraphicFramePr>
          <p:nvPr/>
        </p:nvGraphicFramePr>
        <p:xfrm>
          <a:off x="274320" y="4956048"/>
          <a:ext cx="11640312" cy="16459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08392">
                  <a:extLst>
                    <a:ext uri="{9D8B030D-6E8A-4147-A177-3AD203B41FA5}">
                      <a16:colId xmlns:a16="http://schemas.microsoft.com/office/drawing/2014/main" val="20003"/>
                    </a:ext>
                  </a:extLst>
                </a:gridCol>
              </a:tblGrid>
              <a:tr h="411480">
                <a:tc>
                  <a:txBody>
                    <a:bodyPr/>
                    <a:lstStyle/>
                    <a:p>
                      <a:pPr algn="ctr"/>
                      <a:r>
                        <a:rPr sz="750" b="1" i="0">
                          <a:solidFill>
                            <a:srgbClr val="FFFFFF"/>
                          </a:solidFill>
                          <a:latin typeface="Aptos"/>
                        </a:rPr>
                        <a:t>Discipline</a:t>
                      </a:r>
                    </a:p>
                  </a:txBody>
                  <a:tcPr>
                    <a:solidFill>
                      <a:srgbClr val="002060"/>
                    </a:solidFill>
                  </a:tcPr>
                </a:tc>
                <a:tc>
                  <a:txBody>
                    <a:bodyPr/>
                    <a:lstStyle/>
                    <a:p>
                      <a:pPr algn="ctr"/>
                      <a:r>
                        <a:rPr sz="750" b="1" i="0">
                          <a:solidFill>
                            <a:srgbClr val="FFFFFF"/>
                          </a:solidFill>
                          <a:latin typeface="Aptos"/>
                        </a:rPr>
                        <a:t>Distance</a:t>
                      </a:r>
                    </a:p>
                  </a:txBody>
                  <a:tcPr>
                    <a:solidFill>
                      <a:srgbClr val="002060"/>
                    </a:solidFill>
                  </a:tcPr>
                </a:tc>
                <a:tc>
                  <a:txBody>
                    <a:bodyPr/>
                    <a:lstStyle/>
                    <a:p>
                      <a:pPr algn="ctr"/>
                      <a:r>
                        <a:rPr sz="750" b="1" i="0">
                          <a:solidFill>
                            <a:srgbClr val="FFFFFF"/>
                          </a:solidFill>
                          <a:latin typeface="Aptos"/>
                        </a:rPr>
                        <a:t>Laps</a:t>
                      </a:r>
                    </a:p>
                  </a:txBody>
                  <a:tcPr>
                    <a:solidFill>
                      <a:srgbClr val="002060"/>
                    </a:solidFill>
                  </a:tcPr>
                </a:tc>
                <a:tc>
                  <a:txBody>
                    <a:bodyPr/>
                    <a:lstStyle/>
                    <a:p>
                      <a:pPr algn="l"/>
                      <a:r>
                        <a:rPr sz="750" b="1" i="0">
                          <a:solidFill>
                            <a:srgbClr val="FFFFFF"/>
                          </a:solidFill>
                          <a:latin typeface="Aptos"/>
                        </a:rPr>
                        <a:t>Terrain / Notes</a:t>
                      </a:r>
                    </a:p>
                  </a:txBody>
                  <a:tcPr>
                    <a:solidFill>
                      <a:srgbClr val="002060"/>
                    </a:solidFill>
                  </a:tcPr>
                </a:tc>
                <a:extLst>
                  <a:ext uri="{0D108BD9-81ED-4DB2-BD59-A6C34878D82A}">
                    <a16:rowId xmlns:a16="http://schemas.microsoft.com/office/drawing/2014/main" val="10000"/>
                  </a:ext>
                </a:extLst>
              </a:tr>
              <a:tr h="411480">
                <a:tc>
                  <a:txBody>
                    <a:bodyPr/>
                    <a:lstStyle/>
                    <a:p>
                      <a:r>
                        <a:rPr sz="750">
                          <a:latin typeface="Aptos"/>
                        </a:rPr>
                        <a:t>Swim</a:t>
                      </a:r>
                    </a:p>
                  </a:txBody>
                  <a:tcPr>
                    <a:solidFill>
                      <a:srgbClr val="FFFFFF"/>
                    </a:solidFill>
                  </a:tcPr>
                </a:tc>
                <a:tc>
                  <a:txBody>
                    <a:bodyPr/>
                    <a:lstStyle/>
                    <a:p>
                      <a:r>
                        <a:rPr sz="750">
                          <a:latin typeface="Aptos"/>
                        </a:rPr>
                        <a:t>1.5 km</a:t>
                      </a:r>
                    </a:p>
                  </a:txBody>
                  <a:tcPr>
                    <a:solidFill>
                      <a:srgbClr val="FFFFFF"/>
                    </a:solidFill>
                  </a:tcPr>
                </a:tc>
                <a:tc>
                  <a:txBody>
                    <a:bodyPr/>
                    <a:lstStyle/>
                    <a:p>
                      <a:r>
                        <a:rPr sz="750">
                          <a:latin typeface="Aptos"/>
                        </a:rPr>
                        <a:t>2</a:t>
                      </a:r>
                    </a:p>
                  </a:txBody>
                  <a:tcPr>
                    <a:solidFill>
                      <a:srgbClr val="FFFFFF"/>
                    </a:solidFill>
                  </a:tcPr>
                </a:tc>
                <a:tc>
                  <a:txBody>
                    <a:bodyPr/>
                    <a:lstStyle/>
                    <a:p>
                      <a:r>
                        <a:rPr sz="750">
                          <a:latin typeface="Aptos"/>
                        </a:rPr>
                        <a:t>Sea swim at San Giovanni Beach; first buoy ~325m; beach start with water-start contingency.</a:t>
                      </a:r>
                    </a:p>
                  </a:txBody>
                  <a:tcPr>
                    <a:solidFill>
                      <a:srgbClr val="FFFFFF"/>
                    </a:solidFill>
                  </a:tcPr>
                </a:tc>
                <a:extLst>
                  <a:ext uri="{0D108BD9-81ED-4DB2-BD59-A6C34878D82A}">
                    <a16:rowId xmlns:a16="http://schemas.microsoft.com/office/drawing/2014/main" val="10001"/>
                  </a:ext>
                </a:extLst>
              </a:tr>
              <a:tr h="411480">
                <a:tc>
                  <a:txBody>
                    <a:bodyPr/>
                    <a:lstStyle/>
                    <a:p>
                      <a:r>
                        <a:rPr sz="750">
                          <a:latin typeface="Aptos"/>
                        </a:rPr>
                        <a:t>Bike</a:t>
                      </a:r>
                    </a:p>
                  </a:txBody>
                  <a:tcPr>
                    <a:solidFill>
                      <a:srgbClr val="F2F2F2"/>
                    </a:solidFill>
                  </a:tcPr>
                </a:tc>
                <a:tc>
                  <a:txBody>
                    <a:bodyPr/>
                    <a:lstStyle/>
                    <a:p>
                      <a:r>
                        <a:rPr sz="750">
                          <a:latin typeface="Aptos"/>
                        </a:rPr>
                        <a:t>40.5 km</a:t>
                      </a:r>
                    </a:p>
                  </a:txBody>
                  <a:tcPr>
                    <a:solidFill>
                      <a:srgbClr val="F2F2F2"/>
                    </a:solidFill>
                  </a:tcPr>
                </a:tc>
                <a:tc>
                  <a:txBody>
                    <a:bodyPr/>
                    <a:lstStyle/>
                    <a:p>
                      <a:r>
                        <a:rPr sz="750">
                          <a:latin typeface="Aptos"/>
                        </a:rPr>
                        <a:t>9</a:t>
                      </a:r>
                    </a:p>
                  </a:txBody>
                  <a:tcPr>
                    <a:solidFill>
                      <a:srgbClr val="F2F2F2"/>
                    </a:solidFill>
                  </a:tcPr>
                </a:tc>
                <a:tc>
                  <a:txBody>
                    <a:bodyPr/>
                    <a:lstStyle/>
                    <a:p>
                      <a:r>
                        <a:rPr sz="750">
                          <a:latin typeface="Aptos"/>
                        </a:rPr>
                        <a:t>Urban coastal circuit with some uphill/downhill sections and numerous changes of direction.</a:t>
                      </a:r>
                    </a:p>
                  </a:txBody>
                  <a:tcPr>
                    <a:solidFill>
                      <a:srgbClr val="F2F2F2"/>
                    </a:solidFill>
                  </a:tcPr>
                </a:tc>
                <a:extLst>
                  <a:ext uri="{0D108BD9-81ED-4DB2-BD59-A6C34878D82A}">
                    <a16:rowId xmlns:a16="http://schemas.microsoft.com/office/drawing/2014/main" val="10002"/>
                  </a:ext>
                </a:extLst>
              </a:tr>
              <a:tr h="411480">
                <a:tc>
                  <a:txBody>
                    <a:bodyPr/>
                    <a:lstStyle/>
                    <a:p>
                      <a:r>
                        <a:rPr sz="750">
                          <a:latin typeface="Aptos"/>
                        </a:rPr>
                        <a:t>Run</a:t>
                      </a:r>
                    </a:p>
                  </a:txBody>
                  <a:tcPr>
                    <a:solidFill>
                      <a:srgbClr val="FFFFFF"/>
                    </a:solidFill>
                  </a:tcPr>
                </a:tc>
                <a:tc>
                  <a:txBody>
                    <a:bodyPr/>
                    <a:lstStyle/>
                    <a:p>
                      <a:r>
                        <a:rPr sz="750">
                          <a:latin typeface="Aptos"/>
                        </a:rPr>
                        <a:t>10.0 km</a:t>
                      </a:r>
                    </a:p>
                  </a:txBody>
                  <a:tcPr>
                    <a:solidFill>
                      <a:srgbClr val="FFFFFF"/>
                    </a:solidFill>
                  </a:tcPr>
                </a:tc>
                <a:tc>
                  <a:txBody>
                    <a:bodyPr/>
                    <a:lstStyle/>
                    <a:p>
                      <a:r>
                        <a:rPr sz="750">
                          <a:latin typeface="Aptos"/>
                        </a:rPr>
                        <a:t>4</a:t>
                      </a:r>
                    </a:p>
                  </a:txBody>
                  <a:tcPr>
                    <a:solidFill>
                      <a:srgbClr val="FFFFFF"/>
                    </a:solidFill>
                  </a:tcPr>
                </a:tc>
                <a:tc>
                  <a:txBody>
                    <a:bodyPr/>
                    <a:lstStyle/>
                    <a:p>
                      <a:r>
                        <a:rPr sz="750">
                          <a:latin typeface="Aptos"/>
                        </a:rPr>
                        <a:t>City-centre + seafront run; likely paved urban surface.</a:t>
                      </a:r>
                    </a:p>
                  </a:txBody>
                  <a:tcPr>
                    <a:solidFill>
                      <a:srgbClr val="FFFFFF"/>
                    </a:solidFill>
                  </a:tcPr>
                </a:tc>
                <a:extLst>
                  <a:ext uri="{0D108BD9-81ED-4DB2-BD59-A6C34878D82A}">
                    <a16:rowId xmlns:a16="http://schemas.microsoft.com/office/drawing/2014/main" val="10003"/>
                  </a:ext>
                </a:extLst>
              </a:tr>
            </a:tbl>
          </a:graphicData>
        </a:graphic>
      </p:graphicFrame>
      <p:pic>
        <p:nvPicPr>
          <p:cNvPr id="17" name="Picture 16" descr="alghero_2026_course_map_trim.png"/>
          <p:cNvPicPr>
            <a:picLocks noChangeAspect="1"/>
          </p:cNvPicPr>
          <p:nvPr/>
        </p:nvPicPr>
        <p:blipFill>
          <a:blip r:embed="rId3"/>
          <a:stretch>
            <a:fillRect/>
          </a:stretch>
        </p:blipFill>
        <p:spPr>
          <a:xfrm>
            <a:off x="347472" y="1670690"/>
            <a:ext cx="5532120" cy="2199882"/>
          </a:xfrm>
          <a:prstGeom prst="rect">
            <a:avLst/>
          </a:prstGeom>
        </p:spPr>
      </p:pic>
      <p:pic>
        <p:nvPicPr>
          <p:cNvPr id="18" name="Picture 17" descr="alghero_2025_course_map_crop.png"/>
          <p:cNvPicPr>
            <a:picLocks noChangeAspect="1"/>
          </p:cNvPicPr>
          <p:nvPr/>
        </p:nvPicPr>
        <p:blipFill>
          <a:blip r:embed="rId4"/>
          <a:stretch>
            <a:fillRect/>
          </a:stretch>
        </p:blipFill>
        <p:spPr>
          <a:xfrm>
            <a:off x="6336792" y="1668180"/>
            <a:ext cx="5532120" cy="22049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2567034252"/>
              </p:ext>
            </p:extLst>
          </p:nvPr>
        </p:nvGraphicFramePr>
        <p:xfrm>
          <a:off x="274320" y="1395984"/>
          <a:ext cx="4709158" cy="804672"/>
        </p:xfrm>
        <a:graphic>
          <a:graphicData uri="http://schemas.openxmlformats.org/drawingml/2006/table">
            <a:tbl>
              <a:tblPr firstRow="1" bandRow="1">
                <a:tableStyleId>{5C22544A-7EE6-4342-B048-85BDC9FD1C3A}</a:tableStyleId>
              </a:tblPr>
              <a:tblGrid>
                <a:gridCol w="612190">
                  <a:extLst>
                    <a:ext uri="{9D8B030D-6E8A-4147-A177-3AD203B41FA5}">
                      <a16:colId xmlns:a16="http://schemas.microsoft.com/office/drawing/2014/main" val="20000"/>
                    </a:ext>
                  </a:extLst>
                </a:gridCol>
                <a:gridCol w="800557">
                  <a:extLst>
                    <a:ext uri="{9D8B030D-6E8A-4147-A177-3AD203B41FA5}">
                      <a16:colId xmlns:a16="http://schemas.microsoft.com/office/drawing/2014/main" val="20001"/>
                    </a:ext>
                  </a:extLst>
                </a:gridCol>
                <a:gridCol w="894740">
                  <a:extLst>
                    <a:ext uri="{9D8B030D-6E8A-4147-A177-3AD203B41FA5}">
                      <a16:colId xmlns:a16="http://schemas.microsoft.com/office/drawing/2014/main" val="20002"/>
                    </a:ext>
                  </a:extLst>
                </a:gridCol>
                <a:gridCol w="800557">
                  <a:extLst>
                    <a:ext uri="{9D8B030D-6E8A-4147-A177-3AD203B41FA5}">
                      <a16:colId xmlns:a16="http://schemas.microsoft.com/office/drawing/2014/main" val="20003"/>
                    </a:ext>
                  </a:extLst>
                </a:gridCol>
                <a:gridCol w="800557">
                  <a:extLst>
                    <a:ext uri="{9D8B030D-6E8A-4147-A177-3AD203B41FA5}">
                      <a16:colId xmlns:a16="http://schemas.microsoft.com/office/drawing/2014/main" val="20004"/>
                    </a:ext>
                  </a:extLst>
                </a:gridCol>
                <a:gridCol w="800557">
                  <a:extLst>
                    <a:ext uri="{9D8B030D-6E8A-4147-A177-3AD203B41FA5}">
                      <a16:colId xmlns:a16="http://schemas.microsoft.com/office/drawing/2014/main" val="20005"/>
                    </a:ext>
                  </a:extLst>
                </a:gridCol>
              </a:tblGrid>
              <a:tr h="402336">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Date</a:t>
                      </a:r>
                    </a:p>
                  </a:txBody>
                  <a:tcPr>
                    <a:solidFill>
                      <a:srgbClr val="002060"/>
                    </a:solidFill>
                  </a:tcPr>
                </a:tc>
                <a:tc>
                  <a:txBody>
                    <a:bodyPr/>
                    <a:lstStyle/>
                    <a:p>
                      <a:pPr algn="ctr"/>
                      <a:r>
                        <a:rPr sz="1000" b="1" i="0">
                          <a:solidFill>
                            <a:srgbClr val="FFFFFF"/>
                          </a:solidFill>
                          <a:latin typeface="Arial"/>
                        </a:rPr>
                        <a:t>Air Temp</a:t>
                      </a:r>
                    </a:p>
                  </a:txBody>
                  <a:tcPr>
                    <a:solidFill>
                      <a:srgbClr val="002060"/>
                    </a:solidFill>
                  </a:tcPr>
                </a:tc>
                <a:tc>
                  <a:txBody>
                    <a:bodyPr/>
                    <a:lstStyle/>
                    <a:p>
                      <a:pPr algn="ctr"/>
                      <a:r>
                        <a:rPr sz="1000" b="1" i="0">
                          <a:solidFill>
                            <a:srgbClr val="FFFFFF"/>
                          </a:solidFill>
                          <a:latin typeface="Arial"/>
                        </a:rPr>
                        <a:t>Humidity</a:t>
                      </a:r>
                    </a:p>
                  </a:txBody>
                  <a:tcPr>
                    <a:solidFill>
                      <a:srgbClr val="002060"/>
                    </a:solidFill>
                  </a:tcPr>
                </a:tc>
                <a:tc>
                  <a:txBody>
                    <a:bodyPr/>
                    <a:lstStyle/>
                    <a:p>
                      <a:pPr algn="ctr"/>
                      <a:r>
                        <a:rPr sz="1000" b="1" i="0">
                          <a:solidFill>
                            <a:srgbClr val="FFFFFF"/>
                          </a:solidFill>
                          <a:latin typeface="Arial"/>
                        </a:rPr>
                        <a:t>Wind km/h</a:t>
                      </a:r>
                    </a:p>
                  </a:txBody>
                  <a:tcPr>
                    <a:solidFill>
                      <a:srgbClr val="002060"/>
                    </a:solidFill>
                  </a:tcPr>
                </a:tc>
                <a:tc>
                  <a:txBody>
                    <a:bodyPr/>
                    <a:lstStyle/>
                    <a:p>
                      <a:pPr algn="ctr"/>
                      <a:r>
                        <a:rPr sz="1000" b="1" i="0">
                          <a:solidFill>
                            <a:srgbClr val="FFFFFF"/>
                          </a:solidFill>
                          <a:latin typeface="Arial"/>
                        </a:rPr>
                        <a:t>Precip mm</a:t>
                      </a:r>
                    </a:p>
                  </a:txBody>
                  <a:tcPr>
                    <a:solidFill>
                      <a:srgbClr val="002060"/>
                    </a:solidFill>
                  </a:tcPr>
                </a:tc>
                <a:extLst>
                  <a:ext uri="{0D108BD9-81ED-4DB2-BD59-A6C34878D82A}">
                    <a16:rowId xmlns:a16="http://schemas.microsoft.com/office/drawing/2014/main" val="10000"/>
                  </a:ext>
                </a:extLst>
              </a:tr>
              <a:tr h="402336">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May 31</a:t>
                      </a:r>
                    </a:p>
                  </a:txBody>
                  <a:tcPr>
                    <a:solidFill>
                      <a:srgbClr val="FFFFFF"/>
                    </a:solidFill>
                  </a:tcPr>
                </a:tc>
                <a:tc>
                  <a:txBody>
                    <a:bodyPr/>
                    <a:lstStyle/>
                    <a:p>
                      <a:pPr algn="ctr"/>
                      <a:r>
                        <a:rPr sz="1000" b="0" i="0">
                          <a:solidFill>
                            <a:srgbClr val="262626"/>
                          </a:solidFill>
                          <a:latin typeface="Arial"/>
                        </a:rPr>
                        <a:t>27</a:t>
                      </a:r>
                    </a:p>
                  </a:txBody>
                  <a:tcPr>
                    <a:solidFill>
                      <a:srgbClr val="FFFFFF"/>
                    </a:solidFill>
                  </a:tcPr>
                </a:tc>
                <a:tc>
                  <a:txBody>
                    <a:bodyPr/>
                    <a:lstStyle/>
                    <a:p>
                      <a:pPr algn="ctr"/>
                      <a:r>
                        <a:rPr sz="1000" b="0" i="0">
                          <a:solidFill>
                            <a:srgbClr val="262626"/>
                          </a:solidFill>
                          <a:latin typeface="Arial"/>
                        </a:rPr>
                        <a:t>72%</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dirty="0">
                          <a:solidFill>
                            <a:srgbClr val="262626"/>
                          </a:solidFill>
                          <a:latin typeface="Arial"/>
                        </a:rPr>
                        <a:t>0.0</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529682755"/>
              </p:ext>
            </p:extLst>
          </p:nvPr>
        </p:nvGraphicFramePr>
        <p:xfrm>
          <a:off x="5189220" y="1399794"/>
          <a:ext cx="4069078" cy="804672"/>
        </p:xfrm>
        <a:graphic>
          <a:graphicData uri="http://schemas.openxmlformats.org/drawingml/2006/table">
            <a:tbl>
              <a:tblPr firstRow="1" bandRow="1">
                <a:tableStyleId>{5C22544A-7EE6-4342-B048-85BDC9FD1C3A}</a:tableStyleId>
              </a:tblPr>
              <a:tblGrid>
                <a:gridCol w="629738">
                  <a:extLst>
                    <a:ext uri="{9D8B030D-6E8A-4147-A177-3AD203B41FA5}">
                      <a16:colId xmlns:a16="http://schemas.microsoft.com/office/drawing/2014/main" val="20000"/>
                    </a:ext>
                  </a:extLst>
                </a:gridCol>
                <a:gridCol w="823504">
                  <a:extLst>
                    <a:ext uri="{9D8B030D-6E8A-4147-A177-3AD203B41FA5}">
                      <a16:colId xmlns:a16="http://schemas.microsoft.com/office/drawing/2014/main" val="20001"/>
                    </a:ext>
                  </a:extLst>
                </a:gridCol>
                <a:gridCol w="726621">
                  <a:extLst>
                    <a:ext uri="{9D8B030D-6E8A-4147-A177-3AD203B41FA5}">
                      <a16:colId xmlns:a16="http://schemas.microsoft.com/office/drawing/2014/main" val="20002"/>
                    </a:ext>
                  </a:extLst>
                </a:gridCol>
                <a:gridCol w="823504">
                  <a:extLst>
                    <a:ext uri="{9D8B030D-6E8A-4147-A177-3AD203B41FA5}">
                      <a16:colId xmlns:a16="http://schemas.microsoft.com/office/drawing/2014/main" val="20003"/>
                    </a:ext>
                  </a:extLst>
                </a:gridCol>
                <a:gridCol w="1065711">
                  <a:extLst>
                    <a:ext uri="{9D8B030D-6E8A-4147-A177-3AD203B41FA5}">
                      <a16:colId xmlns:a16="http://schemas.microsoft.com/office/drawing/2014/main" val="20004"/>
                    </a:ext>
                  </a:extLst>
                </a:gridCol>
              </a:tblGrid>
              <a:tr h="402336">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PM2.5</a:t>
                      </a:r>
                    </a:p>
                  </a:txBody>
                  <a:tcPr>
                    <a:solidFill>
                      <a:srgbClr val="002060"/>
                    </a:solidFill>
                  </a:tcPr>
                </a:tc>
                <a:tc>
                  <a:txBody>
                    <a:bodyPr/>
                    <a:lstStyle/>
                    <a:p>
                      <a:pPr algn="ctr"/>
                      <a:r>
                        <a:rPr sz="1000" b="1" i="0">
                          <a:solidFill>
                            <a:srgbClr val="FFFFFF"/>
                          </a:solidFill>
                          <a:latin typeface="Arial"/>
                        </a:rPr>
                        <a:t>EU AQI</a:t>
                      </a:r>
                    </a:p>
                  </a:txBody>
                  <a:tcPr>
                    <a:solidFill>
                      <a:srgbClr val="002060"/>
                    </a:solidFill>
                  </a:tcPr>
                </a:tc>
                <a:tc>
                  <a:txBody>
                    <a:bodyPr/>
                    <a:lstStyle/>
                    <a:p>
                      <a:pPr algn="ctr"/>
                      <a:r>
                        <a:rPr sz="1000" b="1" i="0">
                          <a:solidFill>
                            <a:srgbClr val="FFFFFF"/>
                          </a:solidFill>
                          <a:latin typeface="Arial"/>
                        </a:rPr>
                        <a:t>UV Index</a:t>
                      </a:r>
                    </a:p>
                  </a:txBody>
                  <a:tcPr>
                    <a:solidFill>
                      <a:srgbClr val="002060"/>
                    </a:solidFill>
                  </a:tcPr>
                </a:tc>
                <a:tc>
                  <a:txBody>
                    <a:bodyPr/>
                    <a:lstStyle/>
                    <a:p>
                      <a:pPr algn="ctr"/>
                      <a:r>
                        <a:rPr sz="1000" b="1" i="0">
                          <a:solidFill>
                            <a:srgbClr val="FFFFFF"/>
                          </a:solidFill>
                          <a:latin typeface="Arial"/>
                        </a:rPr>
                        <a:t>Risk</a:t>
                      </a:r>
                    </a:p>
                  </a:txBody>
                  <a:tcPr>
                    <a:solidFill>
                      <a:srgbClr val="002060"/>
                    </a:solidFill>
                  </a:tcPr>
                </a:tc>
                <a:extLst>
                  <a:ext uri="{0D108BD9-81ED-4DB2-BD59-A6C34878D82A}">
                    <a16:rowId xmlns:a16="http://schemas.microsoft.com/office/drawing/2014/main" val="10000"/>
                  </a:ext>
                </a:extLst>
              </a:tr>
              <a:tr h="402336">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dirty="0">
                          <a:solidFill>
                            <a:srgbClr val="262626"/>
                          </a:solidFill>
                          <a:latin typeface="Arial"/>
                        </a:rPr>
                        <a:t>6.0</a:t>
                      </a:r>
                    </a:p>
                  </a:txBody>
                  <a:tcPr>
                    <a:solidFill>
                      <a:srgbClr val="FFFFFF"/>
                    </a:solidFill>
                  </a:tcPr>
                </a:tc>
                <a:tc>
                  <a:txBody>
                    <a:bodyPr/>
                    <a:lstStyle/>
                    <a:p>
                      <a:pPr algn="ctr"/>
                      <a:r>
                        <a:rPr sz="1000" b="0" i="0">
                          <a:solidFill>
                            <a:srgbClr val="262626"/>
                          </a:solidFill>
                          <a:latin typeface="Arial"/>
                        </a:rPr>
                        <a:t>30</a:t>
                      </a:r>
                    </a:p>
                  </a:txBody>
                  <a:tcPr>
                    <a:solidFill>
                      <a:srgbClr val="FFFFFF"/>
                    </a:solidFill>
                  </a:tcPr>
                </a:tc>
                <a:tc>
                  <a:txBody>
                    <a:bodyPr/>
                    <a:lstStyle/>
                    <a:p>
                      <a:pPr algn="ctr"/>
                      <a:r>
                        <a:rPr sz="1000" b="0" i="0">
                          <a:solidFill>
                            <a:srgbClr val="262626"/>
                          </a:solidFill>
                          <a:latin typeface="Arial"/>
                        </a:rPr>
                        <a:t>3.4</a:t>
                      </a:r>
                    </a:p>
                  </a:txBody>
                  <a:tcPr>
                    <a:solidFill>
                      <a:srgbClr val="FFFFFF"/>
                    </a:solidFill>
                  </a:tcPr>
                </a:tc>
                <a:tc>
                  <a:txBody>
                    <a:bodyPr/>
                    <a:lstStyle/>
                    <a:p>
                      <a:pPr algn="ctr"/>
                      <a:r>
                        <a:rPr sz="1000" b="0" i="0" dirty="0">
                          <a:solidFill>
                            <a:srgbClr val="262626"/>
                          </a:solidFill>
                          <a:latin typeface="Arial"/>
                        </a:rPr>
                        <a:t>Fair</a:t>
                      </a:r>
                    </a:p>
                  </a:txBody>
                  <a:tcPr>
                    <a:solidFill>
                      <a:srgbClr val="FFFFFF"/>
                    </a:solidFill>
                  </a:tcPr>
                </a:tc>
                <a:extLst>
                  <a:ext uri="{0D108BD9-81ED-4DB2-BD59-A6C34878D82A}">
                    <a16:rowId xmlns:a16="http://schemas.microsoft.com/office/drawing/2014/main" val="10001"/>
                  </a:ext>
                </a:extLst>
              </a:tr>
            </a:tbl>
          </a:graphicData>
        </a:graphic>
      </p:graphicFrame>
      <p:sp>
        <p:nvSpPr>
          <p:cNvPr id="15" name="TextBox 14"/>
          <p:cNvSpPr txBox="1"/>
          <p:nvPr/>
        </p:nvSpPr>
        <p:spPr>
          <a:xfrm>
            <a:off x="365760" y="2587752"/>
            <a:ext cx="11430000" cy="584775"/>
          </a:xfrm>
          <a:prstGeom prst="rect">
            <a:avLst/>
          </a:prstGeom>
          <a:noFill/>
        </p:spPr>
        <p:txBody>
          <a:bodyPr wrap="square">
            <a:spAutoFit/>
          </a:bodyPr>
          <a:lstStyle/>
          <a:p>
            <a:r>
              <a:rPr sz="1600" dirty="0">
                <a:solidFill>
                  <a:srgbClr val="242424"/>
                </a:solidFill>
                <a:latin typeface="Aptos"/>
              </a:rPr>
              <a:t>• </a:t>
            </a:r>
            <a:r>
              <a:rPr sz="1600" b="1" dirty="0">
                <a:solidFill>
                  <a:srgbClr val="242424"/>
                </a:solidFill>
                <a:latin typeface="Aptos"/>
              </a:rPr>
              <a:t>Water Quality: </a:t>
            </a:r>
            <a:r>
              <a:rPr lang="en-US" sz="1600" b="1" dirty="0">
                <a:solidFill>
                  <a:srgbClr val="242424"/>
                </a:solidFill>
                <a:latin typeface="Aptos"/>
              </a:rPr>
              <a:t>Low to No Risk.</a:t>
            </a:r>
            <a:r>
              <a:rPr lang="en-US" sz="1600" dirty="0">
                <a:solidFill>
                  <a:srgbClr val="242424"/>
                </a:solidFill>
                <a:latin typeface="Aptos"/>
              </a:rPr>
              <a:t> </a:t>
            </a:r>
            <a:r>
              <a:rPr sz="1600" dirty="0">
                <a:solidFill>
                  <a:srgbClr val="242424"/>
                </a:solidFill>
                <a:latin typeface="Aptos"/>
              </a:rPr>
              <a:t>2026 athlete guide reports San Giovanni test values well below limits: E. coli 44–51 CFU/100ml vs 500 limit; fecal enterococci 14–25 CFU/100ml vs 200 limit.</a:t>
            </a:r>
          </a:p>
        </p:txBody>
      </p:sp>
      <p:sp>
        <p:nvSpPr>
          <p:cNvPr id="16" name="TextBox 15"/>
          <p:cNvSpPr txBox="1"/>
          <p:nvPr/>
        </p:nvSpPr>
        <p:spPr>
          <a:xfrm>
            <a:off x="365760" y="3609594"/>
            <a:ext cx="11430000" cy="338554"/>
          </a:xfrm>
          <a:prstGeom prst="rect">
            <a:avLst/>
          </a:prstGeom>
          <a:noFill/>
        </p:spPr>
        <p:txBody>
          <a:bodyPr wrap="square">
            <a:spAutoFit/>
          </a:bodyPr>
          <a:lstStyle/>
          <a:p>
            <a:r>
              <a:rPr sz="1600" b="1" dirty="0">
                <a:solidFill>
                  <a:srgbClr val="242424"/>
                </a:solidFill>
                <a:latin typeface="Aptos"/>
              </a:rPr>
              <a:t>• Athlete Health / GI Risk: </a:t>
            </a:r>
            <a:r>
              <a:rPr lang="en-US" sz="1600" b="1" dirty="0">
                <a:solidFill>
                  <a:srgbClr val="242424"/>
                </a:solidFill>
                <a:latin typeface="Aptos"/>
              </a:rPr>
              <a:t>Low to No Risk. </a:t>
            </a:r>
            <a:r>
              <a:rPr sz="1600" dirty="0">
                <a:solidFill>
                  <a:srgbClr val="242424"/>
                </a:solidFill>
                <a:latin typeface="Aptos"/>
              </a:rPr>
              <a:t>No public Alghero race-week illness cluster or swim cancellation found. </a:t>
            </a:r>
          </a:p>
        </p:txBody>
      </p:sp>
      <p:sp>
        <p:nvSpPr>
          <p:cNvPr id="17" name="TextBox 16"/>
          <p:cNvSpPr txBox="1"/>
          <p:nvPr/>
        </p:nvSpPr>
        <p:spPr>
          <a:xfrm>
            <a:off x="365760" y="4631436"/>
            <a:ext cx="11430000" cy="584775"/>
          </a:xfrm>
          <a:prstGeom prst="rect">
            <a:avLst/>
          </a:prstGeom>
          <a:noFill/>
        </p:spPr>
        <p:txBody>
          <a:bodyPr wrap="square">
            <a:spAutoFit/>
          </a:bodyPr>
          <a:lstStyle/>
          <a:p>
            <a:r>
              <a:rPr sz="1600" dirty="0">
                <a:solidFill>
                  <a:srgbClr val="242424"/>
                </a:solidFill>
                <a:latin typeface="Aptos"/>
              </a:rPr>
              <a:t>• </a:t>
            </a:r>
            <a:r>
              <a:rPr sz="1600" b="1" dirty="0">
                <a:solidFill>
                  <a:srgbClr val="242424"/>
                </a:solidFill>
                <a:latin typeface="Aptos"/>
              </a:rPr>
              <a:t>Water Temperature: </a:t>
            </a:r>
            <a:r>
              <a:rPr lang="en-US" sz="1600" b="1" dirty="0">
                <a:solidFill>
                  <a:srgbClr val="242424"/>
                </a:solidFill>
                <a:latin typeface="Aptos"/>
              </a:rPr>
              <a:t>Borderline. Likely non-wetsuit. </a:t>
            </a:r>
            <a:r>
              <a:rPr sz="1600" dirty="0">
                <a:solidFill>
                  <a:srgbClr val="242424"/>
                </a:solidFill>
                <a:latin typeface="Aptos"/>
              </a:rPr>
              <a:t>2025 race measured ~21.8–22.0°C and was wetsuit-forbidden. Athlete guide lists late-May San Giovanni range at ~15.5–21°C, so 2026 could still be borderline depending on week-of weather.</a:t>
            </a:r>
          </a:p>
        </p:txBody>
      </p:sp>
      <p:sp>
        <p:nvSpPr>
          <p:cNvPr id="18" name="TextBox 17"/>
          <p:cNvSpPr txBox="1"/>
          <p:nvPr/>
        </p:nvSpPr>
        <p:spPr>
          <a:xfrm>
            <a:off x="365760" y="5653278"/>
            <a:ext cx="11430000" cy="584775"/>
          </a:xfrm>
          <a:prstGeom prst="rect">
            <a:avLst/>
          </a:prstGeom>
          <a:noFill/>
        </p:spPr>
        <p:txBody>
          <a:bodyPr wrap="square">
            <a:spAutoFit/>
          </a:bodyPr>
          <a:lstStyle/>
          <a:p>
            <a:r>
              <a:rPr sz="1600" b="1" dirty="0">
                <a:solidFill>
                  <a:srgbClr val="242424"/>
                </a:solidFill>
                <a:latin typeface="Aptos"/>
              </a:rPr>
              <a:t>• Heat / Humidity: </a:t>
            </a:r>
            <a:r>
              <a:rPr lang="en-US" sz="1600" b="1" dirty="0">
                <a:solidFill>
                  <a:srgbClr val="242424"/>
                </a:solidFill>
                <a:latin typeface="Aptos"/>
              </a:rPr>
              <a:t>Moderate Heat. </a:t>
            </a:r>
            <a:r>
              <a:rPr sz="1600" dirty="0">
                <a:solidFill>
                  <a:srgbClr val="242424"/>
                </a:solidFill>
                <a:latin typeface="Aptos"/>
              </a:rPr>
              <a:t>2025 was warm for WTCS racing: ~27–28°C air temp with ~72% humidity. Women race at 11:00; men at 14:00, so heat load and cooling/hydration </a:t>
            </a:r>
            <a:r>
              <a:rPr lang="en-US" sz="1600" dirty="0">
                <a:solidFill>
                  <a:srgbClr val="242424"/>
                </a:solidFill>
                <a:latin typeface="Aptos"/>
              </a:rPr>
              <a:t>are factors to consider given the Olympic distance. </a:t>
            </a:r>
            <a:endParaRPr sz="1600" dirty="0">
              <a:solidFill>
                <a:srgbClr val="242424"/>
              </a:solidFill>
              <a:latin typeface="Aptos"/>
            </a:endParaRPr>
          </a:p>
        </p:txBody>
      </p:sp>
      <p:sp>
        <p:nvSpPr>
          <p:cNvPr id="19" name="TextBox 18"/>
          <p:cNvSpPr txBox="1"/>
          <p:nvPr/>
        </p:nvSpPr>
        <p:spPr>
          <a:xfrm>
            <a:off x="274320" y="6565392"/>
            <a:ext cx="11640312" cy="201168"/>
          </a:xfrm>
          <a:prstGeom prst="rect">
            <a:avLst/>
          </a:prstGeom>
          <a:noFill/>
        </p:spPr>
        <p:txBody>
          <a:bodyPr wrap="square">
            <a:spAutoFit/>
          </a:bodyPr>
          <a:lstStyle/>
          <a:p>
            <a:r>
              <a:rPr sz="550">
                <a:solidFill>
                  <a:srgbClr val="606670"/>
                </a:solidFill>
                <a:latin typeface="Aptos"/>
              </a:rPr>
              <a:t>Weather/AQ data: Open-Meteo historical archive; water-quality + water-temp context: 2026 athlete guide and World Triathlon results. Air quality in 2025 was fair (PM2.5 ~6.0; EU AQI ~30).</a:t>
            </a:r>
          </a:p>
        </p:txBody>
      </p:sp>
      <p:sp>
        <p:nvSpPr>
          <p:cNvPr id="13" name="Rectangle 12"/>
          <p:cNvSpPr/>
          <p:nvPr/>
        </p:nvSpPr>
        <p:spPr>
          <a:xfrm>
            <a:off x="274320" y="2203704"/>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0" y="1060704"/>
            <a:ext cx="3931920" cy="164592"/>
          </a:xfrm>
          <a:prstGeom prst="rect">
            <a:avLst/>
          </a:prstGeom>
          <a:noFill/>
        </p:spPr>
        <p:txBody>
          <a:bodyPr wrap="none">
            <a:spAutoFit/>
          </a:bodyPr>
          <a:lstStyle/>
          <a:p>
            <a:pPr algn="l"/>
            <a:r>
              <a:rPr sz="800" b="1" i="0" dirty="0">
                <a:solidFill>
                  <a:srgbClr val="002B66"/>
                </a:solidFill>
                <a:latin typeface="Arial"/>
              </a:rPr>
              <a:t>AIR QUALITY (Open-</a:t>
            </a:r>
            <a:r>
              <a:rPr sz="800" b="1" i="0" dirty="0" err="1">
                <a:solidFill>
                  <a:srgbClr val="002B66"/>
                </a:solidFill>
                <a:latin typeface="Arial"/>
              </a:rPr>
              <a:t>Meteo</a:t>
            </a:r>
            <a:r>
              <a:rPr sz="800" b="1" i="0" dirty="0">
                <a:solidFill>
                  <a:srgbClr val="002B66"/>
                </a:solidFill>
                <a:latin typeface="Arial"/>
              </a:rPr>
              <a:t> archive)</a:t>
            </a:r>
          </a:p>
        </p:txBody>
      </p:sp>
      <p:sp>
        <p:nvSpPr>
          <p:cNvPr id="14" name="TextBox 13"/>
          <p:cNvSpPr txBox="1"/>
          <p:nvPr/>
        </p:nvSpPr>
        <p:spPr>
          <a:xfrm>
            <a:off x="320040" y="2221992"/>
            <a:ext cx="11155680" cy="274320"/>
          </a:xfrm>
          <a:prstGeom prst="rect">
            <a:avLst/>
          </a:prstGeom>
          <a:noFill/>
        </p:spPr>
        <p:txBody>
          <a:bodyPr wrap="square">
            <a:spAutoFit/>
          </a:bodyPr>
          <a:lstStyle/>
          <a:p>
            <a:pPr algn="l"/>
            <a:r>
              <a:rPr sz="1100" b="1" i="0">
                <a:solidFill>
                  <a:srgbClr val="FFFFFF"/>
                </a:solidFill>
                <a:latin typeface="Arial"/>
              </a:rPr>
              <a:t>HEALTH &amp; WATER QUALITY RISK FACTORS</a:t>
            </a:r>
          </a:p>
        </p:txBody>
      </p:sp>
      <p:sp>
        <p:nvSpPr>
          <p:cNvPr id="10" name="TextBox 9"/>
          <p:cNvSpPr txBox="1"/>
          <p:nvPr/>
        </p:nvSpPr>
        <p:spPr>
          <a:xfrm>
            <a:off x="372739" y="1058138"/>
            <a:ext cx="2440765" cy="215444"/>
          </a:xfrm>
          <a:prstGeom prst="rect">
            <a:avLst/>
          </a:prstGeom>
          <a:noFill/>
        </p:spPr>
        <p:txBody>
          <a:bodyPr wrap="none">
            <a:spAutoFit/>
          </a:bodyPr>
          <a:lstStyle/>
          <a:p>
            <a:pPr algn="l"/>
            <a:r>
              <a:rPr sz="800" b="1" dirty="0">
                <a:solidFill>
                  <a:srgbClr val="002B66"/>
                </a:solidFill>
                <a:latin typeface="Arial"/>
              </a:rPr>
              <a:t>RACE-DAY WEATHER (08:00–11:00 local)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02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64008"/>
          </a:xfrm>
          <a:prstGeom prst="rect">
            <a:avLst/>
          </a:prstGeom>
          <a:solidFill>
            <a:srgbClr val="C60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45720"/>
            <a:ext cx="9601200" cy="502920"/>
          </a:xfrm>
          <a:prstGeom prst="rect">
            <a:avLst/>
          </a:prstGeom>
          <a:noFill/>
        </p:spPr>
        <p:txBody>
          <a:bodyPr wrap="square" lIns="36576" tIns="18288" rIns="36576" bIns="18288">
            <a:spAutoFit/>
          </a:bodyPr>
          <a:lstStyle/>
          <a:p>
            <a:r>
              <a:rPr sz="2400" b="1">
                <a:solidFill>
                  <a:srgbClr val="FFFFFF"/>
                </a:solidFill>
                <a:latin typeface="Aptos"/>
              </a:rPr>
              <a:t>Travel &amp; Arrival Load</a:t>
            </a:r>
          </a:p>
        </p:txBody>
      </p:sp>
      <p:sp>
        <p:nvSpPr>
          <p:cNvPr id="5" name="TextBox 4"/>
          <p:cNvSpPr txBox="1"/>
          <p:nvPr/>
        </p:nvSpPr>
        <p:spPr>
          <a:xfrm>
            <a:off x="228600" y="603504"/>
            <a:ext cx="9601200" cy="228600"/>
          </a:xfrm>
          <a:prstGeom prst="rect">
            <a:avLst/>
          </a:prstGeom>
          <a:noFill/>
        </p:spPr>
        <p:txBody>
          <a:bodyPr wrap="square" lIns="36576" tIns="18288" rIns="36576" bIns="18288">
            <a:spAutoFit/>
          </a:bodyPr>
          <a:lstStyle/>
          <a:p>
            <a:r>
              <a:rPr sz="900" b="0">
                <a:solidFill>
                  <a:srgbClr val="D2DCEB"/>
                </a:solidFill>
                <a:latin typeface="Aptos"/>
              </a:rPr>
              <a:t>Denver, CO → Alghero race week</a:t>
            </a:r>
          </a:p>
        </p:txBody>
      </p:sp>
      <p:pic>
        <p:nvPicPr>
          <p:cNvPr id="6" name="Picture 5" descr="image.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91695" cy="137160"/>
          </a:xfrm>
          <a:prstGeom prst="rect">
            <a:avLst/>
          </a:prstGeom>
          <a:solidFill>
            <a:srgbClr val="0029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0040" y="1234440"/>
            <a:ext cx="11567160" cy="685800"/>
          </a:xfrm>
          <a:prstGeom prst="roundRect">
            <a:avLst/>
          </a:prstGeom>
          <a:solidFill>
            <a:srgbClr val="F5F7FB"/>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305306"/>
            <a:ext cx="11201400" cy="590931"/>
          </a:xfrm>
          <a:prstGeom prst="rect">
            <a:avLst/>
          </a:prstGeom>
          <a:noFill/>
        </p:spPr>
        <p:txBody>
          <a:bodyPr wrap="square" lIns="36576" tIns="18288" rIns="36576" bIns="18288">
            <a:spAutoFit/>
          </a:bodyPr>
          <a:lstStyle/>
          <a:p>
            <a:pPr algn="ctr"/>
            <a:r>
              <a:rPr lang="en-US" sz="1200" b="1" dirty="0">
                <a:solidFill>
                  <a:srgbClr val="242424"/>
                </a:solidFill>
                <a:latin typeface="Aptos"/>
              </a:rPr>
              <a:t>Denver to Alghero Travel</a:t>
            </a:r>
            <a:endParaRPr lang="en-US" sz="1200" dirty="0">
              <a:solidFill>
                <a:srgbClr val="242424"/>
              </a:solidFill>
              <a:latin typeface="Aptos"/>
            </a:endParaRPr>
          </a:p>
          <a:p>
            <a:r>
              <a:rPr lang="en-US" sz="1200" dirty="0">
                <a:solidFill>
                  <a:srgbClr val="242424"/>
                </a:solidFill>
                <a:latin typeface="Aptos"/>
              </a:rPr>
              <a:t>N</a:t>
            </a:r>
            <a:r>
              <a:rPr sz="1200" b="0" dirty="0">
                <a:solidFill>
                  <a:srgbClr val="242424"/>
                </a:solidFill>
                <a:latin typeface="Aptos"/>
              </a:rPr>
              <a:t>o direct AHO service from DEN, likely 1–2 stops through a major European hub and Rome/Milan. </a:t>
            </a:r>
            <a:r>
              <a:rPr lang="en-US" sz="1200" b="0" dirty="0">
                <a:solidFill>
                  <a:srgbClr val="242424"/>
                </a:solidFill>
                <a:latin typeface="Aptos"/>
              </a:rPr>
              <a:t>Roughly ~20h </a:t>
            </a:r>
            <a:r>
              <a:rPr lang="en-US" sz="1200" dirty="0">
                <a:solidFill>
                  <a:srgbClr val="242424"/>
                </a:solidFill>
                <a:latin typeface="Aptos"/>
              </a:rPr>
              <a:t>hour travel door-to-door. 8 hour </a:t>
            </a:r>
            <a:r>
              <a:rPr sz="1200" b="0" dirty="0">
                <a:solidFill>
                  <a:srgbClr val="242424"/>
                </a:solidFill>
                <a:latin typeface="Aptos"/>
              </a:rPr>
              <a:t>time-zone </a:t>
            </a:r>
            <a:r>
              <a:rPr lang="en-US" sz="1200" b="0" dirty="0">
                <a:solidFill>
                  <a:srgbClr val="242424"/>
                </a:solidFill>
                <a:latin typeface="Aptos"/>
              </a:rPr>
              <a:t>change. Non-EU and Schengen Area citizens require an invitation letter and declaration from the National Federation for participation at the event. </a:t>
            </a:r>
            <a:endParaRPr sz="1200" b="0" dirty="0">
              <a:solidFill>
                <a:srgbClr val="242424"/>
              </a:solidFill>
              <a:latin typeface="Aptos"/>
            </a:endParaRPr>
          </a:p>
        </p:txBody>
      </p:sp>
      <p:sp>
        <p:nvSpPr>
          <p:cNvPr id="10" name="Rounded Rectangle 9"/>
          <p:cNvSpPr/>
          <p:nvPr/>
        </p:nvSpPr>
        <p:spPr>
          <a:xfrm>
            <a:off x="411480" y="2148840"/>
            <a:ext cx="2057400" cy="685800"/>
          </a:xfrm>
          <a:prstGeom prst="roundRect">
            <a:avLst/>
          </a:prstGeom>
          <a:solidFill>
            <a:srgbClr val="F8F9FC"/>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221992"/>
            <a:ext cx="1874519" cy="190821"/>
          </a:xfrm>
          <a:prstGeom prst="rect">
            <a:avLst/>
          </a:prstGeom>
          <a:noFill/>
        </p:spPr>
        <p:txBody>
          <a:bodyPr wrap="square" lIns="36576" tIns="18288" rIns="36576" bIns="18288">
            <a:spAutoFit/>
          </a:bodyPr>
          <a:lstStyle/>
          <a:p>
            <a:pPr algn="ctr"/>
            <a:r>
              <a:rPr sz="1000" b="1" dirty="0">
                <a:solidFill>
                  <a:srgbClr val="002968"/>
                </a:solidFill>
                <a:latin typeface="Aptos"/>
              </a:rPr>
              <a:t>Primary route</a:t>
            </a:r>
          </a:p>
        </p:txBody>
      </p:sp>
      <p:sp>
        <p:nvSpPr>
          <p:cNvPr id="12" name="TextBox 11"/>
          <p:cNvSpPr txBox="1"/>
          <p:nvPr/>
        </p:nvSpPr>
        <p:spPr>
          <a:xfrm>
            <a:off x="502920" y="2395728"/>
            <a:ext cx="1874519" cy="201168"/>
          </a:xfrm>
          <a:prstGeom prst="rect">
            <a:avLst/>
          </a:prstGeom>
          <a:noFill/>
        </p:spPr>
        <p:txBody>
          <a:bodyPr wrap="square" lIns="36576" tIns="18288" rIns="36576" bIns="18288">
            <a:spAutoFit/>
          </a:bodyPr>
          <a:lstStyle/>
          <a:p>
            <a:r>
              <a:rPr sz="900"/>
              <a:t>DEN to Europe to AHO</a:t>
            </a:r>
          </a:p>
        </p:txBody>
      </p:sp>
      <p:sp>
        <p:nvSpPr>
          <p:cNvPr id="13" name="TextBox 12"/>
          <p:cNvSpPr txBox="1"/>
          <p:nvPr/>
        </p:nvSpPr>
        <p:spPr>
          <a:xfrm>
            <a:off x="502920" y="2633472"/>
            <a:ext cx="1874519" cy="146304"/>
          </a:xfrm>
          <a:prstGeom prst="rect">
            <a:avLst/>
          </a:prstGeom>
          <a:noFill/>
        </p:spPr>
        <p:txBody>
          <a:bodyPr wrap="square" lIns="36576" tIns="18288" rIns="36576" bIns="18288">
            <a:spAutoFit/>
          </a:bodyPr>
          <a:lstStyle/>
          <a:p>
            <a:pPr algn="ctr"/>
            <a:r>
              <a:rPr sz="580" b="0">
                <a:solidFill>
                  <a:srgbClr val="606670"/>
                </a:solidFill>
                <a:latin typeface="Aptos"/>
              </a:rPr>
              <a:t>Likely 1–2 stops</a:t>
            </a:r>
          </a:p>
        </p:txBody>
      </p:sp>
      <p:sp>
        <p:nvSpPr>
          <p:cNvPr id="14" name="Rounded Rectangle 13"/>
          <p:cNvSpPr/>
          <p:nvPr/>
        </p:nvSpPr>
        <p:spPr>
          <a:xfrm>
            <a:off x="2743200" y="2148840"/>
            <a:ext cx="2057400" cy="685800"/>
          </a:xfrm>
          <a:prstGeom prst="roundRect">
            <a:avLst/>
          </a:prstGeom>
          <a:solidFill>
            <a:srgbClr val="F8F9FC"/>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34640" y="2221992"/>
            <a:ext cx="1874519" cy="190821"/>
          </a:xfrm>
          <a:prstGeom prst="rect">
            <a:avLst/>
          </a:prstGeom>
          <a:noFill/>
        </p:spPr>
        <p:txBody>
          <a:bodyPr wrap="square" lIns="36576" tIns="18288" rIns="36576" bIns="18288">
            <a:spAutoFit/>
          </a:bodyPr>
          <a:lstStyle/>
          <a:p>
            <a:pPr algn="ctr"/>
            <a:r>
              <a:rPr sz="1000" b="1" dirty="0">
                <a:solidFill>
                  <a:srgbClr val="002968"/>
                </a:solidFill>
                <a:latin typeface="Aptos"/>
              </a:rPr>
              <a:t>Flight time</a:t>
            </a:r>
          </a:p>
        </p:txBody>
      </p:sp>
      <p:sp>
        <p:nvSpPr>
          <p:cNvPr id="16" name="TextBox 15"/>
          <p:cNvSpPr txBox="1"/>
          <p:nvPr/>
        </p:nvSpPr>
        <p:spPr>
          <a:xfrm>
            <a:off x="2834640" y="2395728"/>
            <a:ext cx="1874519" cy="201168"/>
          </a:xfrm>
          <a:prstGeom prst="rect">
            <a:avLst/>
          </a:prstGeom>
          <a:noFill/>
        </p:spPr>
        <p:txBody>
          <a:bodyPr wrap="square" lIns="36576" tIns="18288" rIns="36576" bIns="18288">
            <a:spAutoFit/>
          </a:bodyPr>
          <a:lstStyle/>
          <a:p>
            <a:pPr algn="ctr"/>
            <a:r>
              <a:rPr sz="1100" b="1">
                <a:solidFill>
                  <a:srgbClr val="242424"/>
                </a:solidFill>
                <a:latin typeface="Aptos"/>
              </a:rPr>
              <a:t>~21h</a:t>
            </a:r>
          </a:p>
        </p:txBody>
      </p:sp>
      <p:sp>
        <p:nvSpPr>
          <p:cNvPr id="17" name="TextBox 16"/>
          <p:cNvSpPr txBox="1"/>
          <p:nvPr/>
        </p:nvSpPr>
        <p:spPr>
          <a:xfrm>
            <a:off x="2834640" y="2633472"/>
            <a:ext cx="1874519" cy="146304"/>
          </a:xfrm>
          <a:prstGeom prst="rect">
            <a:avLst/>
          </a:prstGeom>
          <a:noFill/>
        </p:spPr>
        <p:txBody>
          <a:bodyPr wrap="square" lIns="36576" tIns="18288" rIns="36576" bIns="18288">
            <a:spAutoFit/>
          </a:bodyPr>
          <a:lstStyle/>
          <a:p>
            <a:pPr algn="ctr"/>
            <a:r>
              <a:rPr sz="580" b="0">
                <a:solidFill>
                  <a:srgbClr val="606670"/>
                </a:solidFill>
                <a:latin typeface="Aptos"/>
              </a:rPr>
              <a:t>example 1-stop itinerary</a:t>
            </a:r>
          </a:p>
        </p:txBody>
      </p:sp>
      <p:sp>
        <p:nvSpPr>
          <p:cNvPr id="18" name="Rounded Rectangle 17"/>
          <p:cNvSpPr/>
          <p:nvPr/>
        </p:nvSpPr>
        <p:spPr>
          <a:xfrm>
            <a:off x="5074920" y="2148840"/>
            <a:ext cx="2057400" cy="685800"/>
          </a:xfrm>
          <a:prstGeom prst="roundRect">
            <a:avLst/>
          </a:prstGeom>
          <a:solidFill>
            <a:srgbClr val="F8F9FC"/>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2221992"/>
            <a:ext cx="1874519" cy="190821"/>
          </a:xfrm>
          <a:prstGeom prst="rect">
            <a:avLst/>
          </a:prstGeom>
          <a:noFill/>
        </p:spPr>
        <p:txBody>
          <a:bodyPr wrap="square" lIns="36576" tIns="18288" rIns="36576" bIns="18288">
            <a:spAutoFit/>
          </a:bodyPr>
          <a:lstStyle/>
          <a:p>
            <a:pPr algn="ctr"/>
            <a:r>
              <a:rPr sz="1000" b="1" dirty="0">
                <a:solidFill>
                  <a:srgbClr val="002968"/>
                </a:solidFill>
                <a:latin typeface="Aptos"/>
              </a:rPr>
              <a:t>Time zones</a:t>
            </a:r>
          </a:p>
        </p:txBody>
      </p:sp>
      <p:sp>
        <p:nvSpPr>
          <p:cNvPr id="20" name="TextBox 19"/>
          <p:cNvSpPr txBox="1"/>
          <p:nvPr/>
        </p:nvSpPr>
        <p:spPr>
          <a:xfrm>
            <a:off x="5166359" y="2395728"/>
            <a:ext cx="1874519" cy="201168"/>
          </a:xfrm>
          <a:prstGeom prst="rect">
            <a:avLst/>
          </a:prstGeom>
          <a:noFill/>
        </p:spPr>
        <p:txBody>
          <a:bodyPr wrap="square" lIns="36576" tIns="18288" rIns="36576" bIns="18288">
            <a:spAutoFit/>
          </a:bodyPr>
          <a:lstStyle/>
          <a:p>
            <a:pPr algn="ctr"/>
            <a:r>
              <a:rPr sz="1100" b="1">
                <a:solidFill>
                  <a:srgbClr val="242424"/>
                </a:solidFill>
                <a:latin typeface="Aptos"/>
              </a:rPr>
              <a:t>+8h</a:t>
            </a:r>
          </a:p>
        </p:txBody>
      </p:sp>
      <p:sp>
        <p:nvSpPr>
          <p:cNvPr id="21" name="TextBox 20"/>
          <p:cNvSpPr txBox="1"/>
          <p:nvPr/>
        </p:nvSpPr>
        <p:spPr>
          <a:xfrm>
            <a:off x="5166359" y="2633472"/>
            <a:ext cx="1874519" cy="146304"/>
          </a:xfrm>
          <a:prstGeom prst="rect">
            <a:avLst/>
          </a:prstGeom>
          <a:noFill/>
        </p:spPr>
        <p:txBody>
          <a:bodyPr wrap="square" lIns="36576" tIns="18288" rIns="36576" bIns="18288">
            <a:spAutoFit/>
          </a:bodyPr>
          <a:lstStyle/>
          <a:p>
            <a:pPr algn="ctr"/>
            <a:r>
              <a:rPr sz="580" b="0">
                <a:solidFill>
                  <a:srgbClr val="606670"/>
                </a:solidFill>
                <a:latin typeface="Aptos"/>
              </a:rPr>
              <a:t>Alghero ahead of Denver</a:t>
            </a:r>
          </a:p>
        </p:txBody>
      </p:sp>
      <p:sp>
        <p:nvSpPr>
          <p:cNvPr id="22" name="Rounded Rectangle 21"/>
          <p:cNvSpPr/>
          <p:nvPr/>
        </p:nvSpPr>
        <p:spPr>
          <a:xfrm>
            <a:off x="7406640" y="2148840"/>
            <a:ext cx="2057400" cy="685800"/>
          </a:xfrm>
          <a:prstGeom prst="roundRect">
            <a:avLst/>
          </a:prstGeom>
          <a:solidFill>
            <a:srgbClr val="F8F9FC"/>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79" y="2221992"/>
            <a:ext cx="1874519" cy="190821"/>
          </a:xfrm>
          <a:prstGeom prst="rect">
            <a:avLst/>
          </a:prstGeom>
          <a:noFill/>
        </p:spPr>
        <p:txBody>
          <a:bodyPr wrap="square" lIns="36576" tIns="18288" rIns="36576" bIns="18288">
            <a:spAutoFit/>
          </a:bodyPr>
          <a:lstStyle/>
          <a:p>
            <a:pPr algn="ctr"/>
            <a:r>
              <a:rPr sz="1000" b="1" dirty="0">
                <a:solidFill>
                  <a:srgbClr val="002968"/>
                </a:solidFill>
                <a:latin typeface="Aptos"/>
              </a:rPr>
              <a:t>AHO transfer</a:t>
            </a:r>
          </a:p>
        </p:txBody>
      </p:sp>
      <p:sp>
        <p:nvSpPr>
          <p:cNvPr id="24" name="TextBox 23"/>
          <p:cNvSpPr txBox="1"/>
          <p:nvPr/>
        </p:nvSpPr>
        <p:spPr>
          <a:xfrm>
            <a:off x="7498079" y="2395728"/>
            <a:ext cx="1874519" cy="206210"/>
          </a:xfrm>
          <a:prstGeom prst="rect">
            <a:avLst/>
          </a:prstGeom>
          <a:noFill/>
        </p:spPr>
        <p:txBody>
          <a:bodyPr wrap="square" lIns="36576" tIns="18288" rIns="36576" bIns="18288">
            <a:spAutoFit/>
          </a:bodyPr>
          <a:lstStyle/>
          <a:p>
            <a:pPr algn="ctr"/>
            <a:r>
              <a:rPr sz="1100" b="1" dirty="0">
                <a:solidFill>
                  <a:srgbClr val="242424"/>
                </a:solidFill>
                <a:latin typeface="Aptos"/>
              </a:rPr>
              <a:t>10 km</a:t>
            </a:r>
            <a:r>
              <a:rPr lang="en-US" sz="1100" b="1" dirty="0">
                <a:solidFill>
                  <a:srgbClr val="242424"/>
                </a:solidFill>
                <a:latin typeface="Aptos"/>
              </a:rPr>
              <a:t> (Sign up by May 8</a:t>
            </a:r>
            <a:r>
              <a:rPr lang="en-US" sz="1100" b="1" baseline="30000" dirty="0">
                <a:solidFill>
                  <a:srgbClr val="242424"/>
                </a:solidFill>
                <a:latin typeface="Aptos"/>
              </a:rPr>
              <a:t>th</a:t>
            </a:r>
            <a:r>
              <a:rPr lang="en-US" sz="1100" b="1" dirty="0">
                <a:solidFill>
                  <a:srgbClr val="242424"/>
                </a:solidFill>
                <a:latin typeface="Aptos"/>
              </a:rPr>
              <a:t>)</a:t>
            </a:r>
            <a:endParaRPr sz="1100" b="1" dirty="0">
              <a:solidFill>
                <a:srgbClr val="242424"/>
              </a:solidFill>
              <a:latin typeface="Aptos"/>
            </a:endParaRPr>
          </a:p>
        </p:txBody>
      </p:sp>
      <p:sp>
        <p:nvSpPr>
          <p:cNvPr id="25" name="TextBox 24"/>
          <p:cNvSpPr txBox="1"/>
          <p:nvPr/>
        </p:nvSpPr>
        <p:spPr>
          <a:xfrm>
            <a:off x="7498079" y="2633472"/>
            <a:ext cx="1874519" cy="126188"/>
          </a:xfrm>
          <a:prstGeom prst="rect">
            <a:avLst/>
          </a:prstGeom>
          <a:noFill/>
        </p:spPr>
        <p:txBody>
          <a:bodyPr wrap="square" lIns="36576" tIns="18288" rIns="36576" bIns="18288">
            <a:spAutoFit/>
          </a:bodyPr>
          <a:lstStyle/>
          <a:p>
            <a:pPr algn="ctr"/>
            <a:r>
              <a:rPr sz="580" b="0" dirty="0">
                <a:solidFill>
                  <a:srgbClr val="606670"/>
                </a:solidFill>
                <a:latin typeface="Aptos"/>
                <a:hlinkClick r:id="rId3"/>
              </a:rPr>
              <a:t>LOC shuttle available</a:t>
            </a:r>
            <a:endParaRPr sz="580" b="0" dirty="0">
              <a:solidFill>
                <a:srgbClr val="606670"/>
              </a:solidFill>
              <a:latin typeface="Aptos"/>
            </a:endParaRPr>
          </a:p>
        </p:txBody>
      </p:sp>
      <p:sp>
        <p:nvSpPr>
          <p:cNvPr id="26" name="Rounded Rectangle 25"/>
          <p:cNvSpPr/>
          <p:nvPr/>
        </p:nvSpPr>
        <p:spPr>
          <a:xfrm>
            <a:off x="9738359" y="2148840"/>
            <a:ext cx="2057400" cy="685800"/>
          </a:xfrm>
          <a:prstGeom prst="roundRect">
            <a:avLst/>
          </a:prstGeom>
          <a:solidFill>
            <a:srgbClr val="F8F9FC"/>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9799" y="2221992"/>
            <a:ext cx="1874519" cy="190821"/>
          </a:xfrm>
          <a:prstGeom prst="rect">
            <a:avLst/>
          </a:prstGeom>
          <a:noFill/>
        </p:spPr>
        <p:txBody>
          <a:bodyPr wrap="square" lIns="36576" tIns="18288" rIns="36576" bIns="18288">
            <a:spAutoFit/>
          </a:bodyPr>
          <a:lstStyle/>
          <a:p>
            <a:pPr algn="ctr"/>
            <a:r>
              <a:rPr sz="1000" b="1" dirty="0">
                <a:solidFill>
                  <a:srgbClr val="002968"/>
                </a:solidFill>
                <a:latin typeface="Aptos"/>
              </a:rPr>
              <a:t>Backup airports</a:t>
            </a:r>
          </a:p>
        </p:txBody>
      </p:sp>
      <p:sp>
        <p:nvSpPr>
          <p:cNvPr id="28" name="TextBox 27"/>
          <p:cNvSpPr txBox="1"/>
          <p:nvPr/>
        </p:nvSpPr>
        <p:spPr>
          <a:xfrm>
            <a:off x="9829799" y="2395728"/>
            <a:ext cx="1874519" cy="201168"/>
          </a:xfrm>
          <a:prstGeom prst="rect">
            <a:avLst/>
          </a:prstGeom>
          <a:noFill/>
        </p:spPr>
        <p:txBody>
          <a:bodyPr wrap="square" lIns="36576" tIns="18288" rIns="36576" bIns="18288">
            <a:spAutoFit/>
          </a:bodyPr>
          <a:lstStyle/>
          <a:p>
            <a:pPr algn="ctr"/>
            <a:r>
              <a:rPr sz="1100" b="1">
                <a:solidFill>
                  <a:srgbClr val="242424"/>
                </a:solidFill>
                <a:latin typeface="Aptos"/>
              </a:rPr>
              <a:t>Olbia / Porto Torres</a:t>
            </a:r>
          </a:p>
        </p:txBody>
      </p:sp>
      <p:sp>
        <p:nvSpPr>
          <p:cNvPr id="29" name="TextBox 28"/>
          <p:cNvSpPr txBox="1"/>
          <p:nvPr/>
        </p:nvSpPr>
        <p:spPr>
          <a:xfrm>
            <a:off x="9829799" y="2633472"/>
            <a:ext cx="1874519" cy="146304"/>
          </a:xfrm>
          <a:prstGeom prst="rect">
            <a:avLst/>
          </a:prstGeom>
          <a:noFill/>
        </p:spPr>
        <p:txBody>
          <a:bodyPr wrap="square" lIns="36576" tIns="18288" rIns="36576" bIns="18288">
            <a:spAutoFit/>
          </a:bodyPr>
          <a:lstStyle/>
          <a:p>
            <a:pPr algn="ctr"/>
            <a:r>
              <a:rPr sz="580" b="0">
                <a:solidFill>
                  <a:srgbClr val="606670"/>
                </a:solidFill>
                <a:latin typeface="Aptos"/>
              </a:rPr>
              <a:t>138 km / 35 km from town</a:t>
            </a:r>
          </a:p>
        </p:txBody>
      </p:sp>
      <p:sp>
        <p:nvSpPr>
          <p:cNvPr id="30" name="Rounded Rectangle 29"/>
          <p:cNvSpPr/>
          <p:nvPr/>
        </p:nvSpPr>
        <p:spPr>
          <a:xfrm>
            <a:off x="502920" y="3154680"/>
            <a:ext cx="5440680" cy="2788920"/>
          </a:xfrm>
          <a:prstGeom prst="roundRect">
            <a:avLst/>
          </a:prstGeom>
          <a:solidFill>
            <a:srgbClr val="FFFFFF"/>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9808" y="3310128"/>
            <a:ext cx="4937760" cy="228600"/>
          </a:xfrm>
          <a:prstGeom prst="rect">
            <a:avLst/>
          </a:prstGeom>
          <a:noFill/>
        </p:spPr>
        <p:txBody>
          <a:bodyPr wrap="square" lIns="36576" tIns="18288" rIns="36576" bIns="18288">
            <a:spAutoFit/>
          </a:bodyPr>
          <a:lstStyle/>
          <a:p>
            <a:pPr algn="ctr"/>
            <a:r>
              <a:rPr sz="1200" b="1">
                <a:solidFill>
                  <a:srgbClr val="002968"/>
                </a:solidFill>
                <a:latin typeface="Aptos"/>
              </a:rPr>
              <a:t>Host Hotel / Official Accommodation Read</a:t>
            </a:r>
          </a:p>
        </p:txBody>
      </p:sp>
      <p:sp>
        <p:nvSpPr>
          <p:cNvPr id="32" name="TextBox 31"/>
          <p:cNvSpPr txBox="1"/>
          <p:nvPr/>
        </p:nvSpPr>
        <p:spPr>
          <a:xfrm>
            <a:off x="685800" y="3611880"/>
            <a:ext cx="5120640" cy="2037481"/>
          </a:xfrm>
          <a:prstGeom prst="rect">
            <a:avLst/>
          </a:prstGeom>
          <a:noFill/>
        </p:spPr>
        <p:txBody>
          <a:bodyPr wrap="square" lIns="36576" tIns="18288" rIns="36576" bIns="18288">
            <a:spAutoFit/>
          </a:bodyPr>
          <a:lstStyle/>
          <a:p>
            <a:r>
              <a:rPr sz="1000" b="0" dirty="0">
                <a:solidFill>
                  <a:srgbClr val="242424"/>
                </a:solidFill>
                <a:latin typeface="Aptos"/>
              </a:rPr>
              <a:t>• Official host hotel: </a:t>
            </a:r>
            <a:r>
              <a:rPr sz="1000" b="0" dirty="0">
                <a:solidFill>
                  <a:srgbClr val="242424"/>
                </a:solidFill>
                <a:latin typeface="Aptos"/>
                <a:hlinkClick r:id="rId4"/>
              </a:rPr>
              <a:t>Hotel </a:t>
            </a:r>
            <a:r>
              <a:rPr sz="1000" b="0" dirty="0" err="1">
                <a:solidFill>
                  <a:srgbClr val="242424"/>
                </a:solidFill>
                <a:latin typeface="Aptos"/>
                <a:hlinkClick r:id="rId4"/>
              </a:rPr>
              <a:t>Calabona</a:t>
            </a:r>
            <a:r>
              <a:rPr sz="1000" b="0" dirty="0">
                <a:solidFill>
                  <a:srgbClr val="242424"/>
                </a:solidFill>
                <a:latin typeface="Aptos"/>
              </a:rPr>
              <a:t>, </a:t>
            </a:r>
            <a:r>
              <a:rPr sz="1000" b="0" dirty="0" err="1">
                <a:solidFill>
                  <a:srgbClr val="242424"/>
                </a:solidFill>
                <a:latin typeface="Aptos"/>
              </a:rPr>
              <a:t>Località</a:t>
            </a:r>
            <a:r>
              <a:rPr sz="1000" b="0" dirty="0">
                <a:solidFill>
                  <a:srgbClr val="242424"/>
                </a:solidFill>
                <a:latin typeface="Aptos"/>
              </a:rPr>
              <a:t> </a:t>
            </a:r>
            <a:r>
              <a:rPr sz="1000" b="0" dirty="0" err="1">
                <a:solidFill>
                  <a:srgbClr val="242424"/>
                </a:solidFill>
                <a:latin typeface="Aptos"/>
              </a:rPr>
              <a:t>Calabona</a:t>
            </a:r>
            <a:r>
              <a:rPr sz="1000" b="0" dirty="0">
                <a:solidFill>
                  <a:srgbClr val="242424"/>
                </a:solidFill>
                <a:latin typeface="Aptos"/>
              </a:rPr>
              <a:t>; 4-star seaside property listed by WTCS travel page.</a:t>
            </a:r>
            <a:endParaRPr lang="en-US" sz="1000" b="0" dirty="0">
              <a:solidFill>
                <a:srgbClr val="242424"/>
              </a:solidFill>
              <a:latin typeface="Aptos"/>
            </a:endParaRPr>
          </a:p>
          <a:p>
            <a:endParaRPr sz="1000" b="0" dirty="0">
              <a:solidFill>
                <a:srgbClr val="242424"/>
              </a:solidFill>
              <a:latin typeface="Aptos"/>
            </a:endParaRPr>
          </a:p>
          <a:p>
            <a:r>
              <a:rPr sz="1000" b="0" dirty="0">
                <a:solidFill>
                  <a:srgbClr val="242424"/>
                </a:solidFill>
                <a:latin typeface="Aptos"/>
              </a:rPr>
              <a:t>• Logistics read: outside the port/transition area but close enough for LOC shuttle support; hotel is roughly a 15-min walk from Alghero’s historic </a:t>
            </a:r>
            <a:r>
              <a:rPr sz="1000" b="0" dirty="0" err="1">
                <a:solidFill>
                  <a:srgbClr val="242424"/>
                </a:solidFill>
                <a:latin typeface="Aptos"/>
              </a:rPr>
              <a:t>centre</a:t>
            </a:r>
            <a:r>
              <a:rPr sz="1000" b="0" dirty="0">
                <a:solidFill>
                  <a:srgbClr val="242424"/>
                </a:solidFill>
                <a:latin typeface="Aptos"/>
              </a:rPr>
              <a:t>.</a:t>
            </a:r>
            <a:endParaRPr lang="en-US" sz="1000" b="0" dirty="0">
              <a:solidFill>
                <a:srgbClr val="242424"/>
              </a:solidFill>
              <a:latin typeface="Aptos"/>
            </a:endParaRPr>
          </a:p>
          <a:p>
            <a:endParaRPr sz="1000" b="0" dirty="0">
              <a:solidFill>
                <a:srgbClr val="242424"/>
              </a:solidFill>
              <a:latin typeface="Aptos"/>
            </a:endParaRPr>
          </a:p>
          <a:p>
            <a:r>
              <a:rPr sz="1000" b="0" dirty="0">
                <a:solidFill>
                  <a:srgbClr val="242424"/>
                </a:solidFill>
                <a:latin typeface="Aptos"/>
              </a:rPr>
              <a:t>• Quality read: strong sea-view/pool/private-beach profile; reviews generally note clean rooms and good breakfast, but some describe the hotel as a little dated/rustic.</a:t>
            </a:r>
          </a:p>
          <a:p>
            <a:r>
              <a:rPr sz="1000" b="0" dirty="0">
                <a:solidFill>
                  <a:srgbClr val="242424"/>
                </a:solidFill>
                <a:latin typeface="Aptos"/>
              </a:rPr>
              <a:t>• Price read: public OTA snapshots vary; recent examples cluster around ~$85–120/night before race-week demand.</a:t>
            </a:r>
            <a:endParaRPr lang="en-US" sz="1000" b="0" dirty="0">
              <a:solidFill>
                <a:srgbClr val="242424"/>
              </a:solidFill>
              <a:latin typeface="Aptos"/>
            </a:endParaRPr>
          </a:p>
          <a:p>
            <a:endParaRPr sz="1000" b="0" dirty="0">
              <a:solidFill>
                <a:srgbClr val="242424"/>
              </a:solidFill>
              <a:latin typeface="Aptos"/>
            </a:endParaRPr>
          </a:p>
          <a:p>
            <a:r>
              <a:rPr sz="1000" b="0" dirty="0">
                <a:solidFill>
                  <a:srgbClr val="242424"/>
                </a:solidFill>
                <a:latin typeface="Aptos"/>
              </a:rPr>
              <a:t>• Athlete note: good base if the team uses official transport; plan one grocery stock-up because immediate supermarket access is not as dense as Yokohama.</a:t>
            </a:r>
          </a:p>
        </p:txBody>
      </p:sp>
      <p:sp>
        <p:nvSpPr>
          <p:cNvPr id="33" name="Rounded Rectangle 32"/>
          <p:cNvSpPr/>
          <p:nvPr/>
        </p:nvSpPr>
        <p:spPr>
          <a:xfrm>
            <a:off x="6263640" y="3154680"/>
            <a:ext cx="5440680" cy="2788920"/>
          </a:xfrm>
          <a:prstGeom prst="roundRect">
            <a:avLst/>
          </a:prstGeom>
          <a:solidFill>
            <a:srgbClr val="FFFFFF"/>
          </a:solidFill>
          <a:ln w="15240">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37960" y="3310128"/>
            <a:ext cx="4937760" cy="228600"/>
          </a:xfrm>
          <a:prstGeom prst="rect">
            <a:avLst/>
          </a:prstGeom>
          <a:noFill/>
        </p:spPr>
        <p:txBody>
          <a:bodyPr wrap="square" lIns="36576" tIns="18288" rIns="36576" bIns="18288">
            <a:spAutoFit/>
          </a:bodyPr>
          <a:lstStyle/>
          <a:p>
            <a:pPr algn="ctr"/>
            <a:r>
              <a:rPr sz="1200" b="1" dirty="0">
                <a:solidFill>
                  <a:srgbClr val="002968"/>
                </a:solidFill>
                <a:latin typeface="Aptos"/>
              </a:rPr>
              <a:t>Food / Grocery Options Near Hotel + Venue</a:t>
            </a:r>
          </a:p>
        </p:txBody>
      </p:sp>
      <p:sp>
        <p:nvSpPr>
          <p:cNvPr id="35" name="TextBox 34"/>
          <p:cNvSpPr txBox="1"/>
          <p:nvPr/>
        </p:nvSpPr>
        <p:spPr>
          <a:xfrm>
            <a:off x="6446520" y="3611880"/>
            <a:ext cx="5120640" cy="1575816"/>
          </a:xfrm>
          <a:prstGeom prst="rect">
            <a:avLst/>
          </a:prstGeom>
          <a:noFill/>
        </p:spPr>
        <p:txBody>
          <a:bodyPr wrap="square" lIns="36576" tIns="18288" rIns="36576" bIns="18288">
            <a:spAutoFit/>
          </a:bodyPr>
          <a:lstStyle/>
          <a:p>
            <a:r>
              <a:rPr sz="1000" b="0" dirty="0">
                <a:solidFill>
                  <a:srgbClr val="242424"/>
                </a:solidFill>
                <a:latin typeface="Aptos"/>
              </a:rPr>
              <a:t>• Best stock-up targets: </a:t>
            </a:r>
            <a:r>
              <a:rPr sz="1000" b="0" dirty="0" err="1">
                <a:solidFill>
                  <a:srgbClr val="242424"/>
                </a:solidFill>
                <a:latin typeface="Aptos"/>
              </a:rPr>
              <a:t>Conad</a:t>
            </a:r>
            <a:r>
              <a:rPr sz="1000" b="0" dirty="0">
                <a:solidFill>
                  <a:srgbClr val="242424"/>
                </a:solidFill>
                <a:latin typeface="Aptos"/>
              </a:rPr>
              <a:t> / Coop / </a:t>
            </a:r>
            <a:r>
              <a:rPr sz="1000" b="0" dirty="0" err="1">
                <a:solidFill>
                  <a:srgbClr val="242424"/>
                </a:solidFill>
                <a:latin typeface="Aptos"/>
              </a:rPr>
              <a:t>Eurospin</a:t>
            </a:r>
            <a:r>
              <a:rPr sz="1000" b="0" dirty="0">
                <a:solidFill>
                  <a:srgbClr val="242424"/>
                </a:solidFill>
                <a:latin typeface="Aptos"/>
              </a:rPr>
              <a:t> in Alghero for fruit, yogurt, rice/pasta, breakfast staples, drinks, and room food.</a:t>
            </a:r>
            <a:endParaRPr lang="en-US" sz="1000" b="0" dirty="0">
              <a:solidFill>
                <a:srgbClr val="242424"/>
              </a:solidFill>
              <a:latin typeface="Aptos"/>
            </a:endParaRPr>
          </a:p>
          <a:p>
            <a:endParaRPr sz="1000" b="0" dirty="0">
              <a:solidFill>
                <a:srgbClr val="242424"/>
              </a:solidFill>
              <a:latin typeface="Aptos"/>
            </a:endParaRPr>
          </a:p>
          <a:p>
            <a:r>
              <a:rPr sz="1000" b="0" dirty="0">
                <a:solidFill>
                  <a:srgbClr val="242424"/>
                </a:solidFill>
                <a:latin typeface="Aptos"/>
              </a:rPr>
              <a:t>• Quick hotel-side options: expect smaller local markets and cafés near </a:t>
            </a:r>
            <a:r>
              <a:rPr sz="1000" b="0" dirty="0" err="1">
                <a:solidFill>
                  <a:srgbClr val="242424"/>
                </a:solidFill>
                <a:latin typeface="Aptos"/>
              </a:rPr>
              <a:t>Calabona</a:t>
            </a:r>
            <a:r>
              <a:rPr sz="1000" b="0" dirty="0">
                <a:solidFill>
                  <a:srgbClr val="242424"/>
                </a:solidFill>
                <a:latin typeface="Aptos"/>
              </a:rPr>
              <a:t>; larger selection is easier closer to town / Lido.</a:t>
            </a:r>
            <a:endParaRPr lang="en-US" sz="1000" b="0" dirty="0">
              <a:solidFill>
                <a:srgbClr val="242424"/>
              </a:solidFill>
              <a:latin typeface="Aptos"/>
            </a:endParaRPr>
          </a:p>
          <a:p>
            <a:endParaRPr sz="1000" b="0" dirty="0">
              <a:solidFill>
                <a:srgbClr val="242424"/>
              </a:solidFill>
              <a:latin typeface="Aptos"/>
            </a:endParaRPr>
          </a:p>
          <a:p>
            <a:r>
              <a:rPr sz="1000" b="0" dirty="0">
                <a:solidFill>
                  <a:srgbClr val="242424"/>
                </a:solidFill>
                <a:latin typeface="Aptos"/>
              </a:rPr>
              <a:t>• Restaurant read: old town + waterfront have many options; near </a:t>
            </a:r>
            <a:r>
              <a:rPr sz="1000" b="0" dirty="0" err="1">
                <a:solidFill>
                  <a:srgbClr val="242424"/>
                </a:solidFill>
                <a:latin typeface="Aptos"/>
              </a:rPr>
              <a:t>Calabona</a:t>
            </a:r>
            <a:r>
              <a:rPr sz="1000" b="0" dirty="0">
                <a:solidFill>
                  <a:srgbClr val="242424"/>
                </a:solidFill>
                <a:latin typeface="Aptos"/>
              </a:rPr>
              <a:t>, Quintilio / La Saletta style seafood and simple Italian options are close.</a:t>
            </a:r>
            <a:endParaRPr lang="en-US" sz="1000" b="0" dirty="0">
              <a:solidFill>
                <a:srgbClr val="242424"/>
              </a:solidFill>
              <a:latin typeface="Aptos"/>
            </a:endParaRPr>
          </a:p>
          <a:p>
            <a:endParaRPr sz="1000" b="0" dirty="0">
              <a:solidFill>
                <a:srgbClr val="242424"/>
              </a:solidFill>
              <a:latin typeface="Aptos"/>
            </a:endParaRPr>
          </a:p>
          <a:p>
            <a:r>
              <a:rPr sz="1000" b="0" dirty="0">
                <a:solidFill>
                  <a:srgbClr val="242424"/>
                </a:solidFill>
                <a:latin typeface="Aptos"/>
              </a:rPr>
              <a:t>• Food risk: Low. Sardinia/Alghero is very traveler-friendly</a:t>
            </a:r>
            <a:r>
              <a:rPr lang="en-US" sz="1000" b="0" dirty="0">
                <a:solidFill>
                  <a:srgbClr val="242424"/>
                </a:solidFill>
                <a:latin typeface="Aptos"/>
              </a:rPr>
              <a:t> with strong reviews</a:t>
            </a:r>
            <a:endParaRPr sz="1000" b="0" dirty="0">
              <a:solidFill>
                <a:srgbClr val="242424"/>
              </a:solidFill>
              <a:latin typeface="Aptos"/>
            </a:endParaRPr>
          </a:p>
        </p:txBody>
      </p:sp>
      <p:sp>
        <p:nvSpPr>
          <p:cNvPr id="36" name="TextBox 35"/>
          <p:cNvSpPr txBox="1"/>
          <p:nvPr/>
        </p:nvSpPr>
        <p:spPr>
          <a:xfrm>
            <a:off x="274320" y="6528816"/>
            <a:ext cx="11704320" cy="164592"/>
          </a:xfrm>
          <a:prstGeom prst="rect">
            <a:avLst/>
          </a:prstGeom>
          <a:noFill/>
        </p:spPr>
        <p:txBody>
          <a:bodyPr wrap="square" lIns="36576" tIns="18288" rIns="36576" bIns="18288">
            <a:spAutoFit/>
          </a:bodyPr>
          <a:lstStyle/>
          <a:p>
            <a:r>
              <a:rPr sz="500" b="0">
                <a:solidFill>
                  <a:srgbClr val="606670"/>
                </a:solidFill>
                <a:latin typeface="Aptos"/>
              </a:rPr>
              <a:t>Sources: WTCS 2026 Alghero travel page/athlete guide; Hotel Calabona official site; Booking/Expedia/Hotels.com/Tripadvisor review summaries; local Alghero supermarket/restaurant listings.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ALGHERO</a:t>
            </a:r>
          </a:p>
        </p:txBody>
      </p:sp>
      <p:sp>
        <p:nvSpPr>
          <p:cNvPr id="10" name="TextBox 9"/>
          <p:cNvSpPr txBox="1"/>
          <p:nvPr/>
        </p:nvSpPr>
        <p:spPr>
          <a:xfrm>
            <a:off x="274320" y="1508760"/>
            <a:ext cx="6400800" cy="1323439"/>
          </a:xfrm>
          <a:prstGeom prst="rect">
            <a:avLst/>
          </a:prstGeom>
          <a:noFill/>
        </p:spPr>
        <p:txBody>
          <a:bodyPr wrap="square">
            <a:spAutoFit/>
          </a:bodyPr>
          <a:lstStyle/>
          <a:p>
            <a:r>
              <a:rPr sz="1600" dirty="0">
                <a:solidFill>
                  <a:srgbClr val="242424"/>
                </a:solidFill>
                <a:latin typeface="Aptos"/>
              </a:rPr>
              <a:t>Alghero debuted on the WTCS calendar in 2025 </a:t>
            </a:r>
            <a:r>
              <a:rPr lang="en-US" sz="1600" dirty="0">
                <a:solidFill>
                  <a:srgbClr val="242424"/>
                </a:solidFill>
                <a:latin typeface="Aptos"/>
              </a:rPr>
              <a:t>and immediately offered a hard race that results in 10 DNF/LAPs in a field of 43 athletes</a:t>
            </a:r>
            <a:r>
              <a:rPr sz="1600" dirty="0">
                <a:solidFill>
                  <a:srgbClr val="242424"/>
                </a:solidFill>
                <a:latin typeface="Aptos"/>
              </a:rPr>
              <a:t>. </a:t>
            </a:r>
            <a:r>
              <a:rPr lang="en-US" sz="1600" dirty="0">
                <a:solidFill>
                  <a:srgbClr val="242424"/>
                </a:solidFill>
                <a:latin typeface="Aptos"/>
              </a:rPr>
              <a:t>A small group of 20 came out of T1</a:t>
            </a:r>
            <a:r>
              <a:rPr sz="1600" dirty="0">
                <a:solidFill>
                  <a:srgbClr val="242424"/>
                </a:solidFill>
                <a:latin typeface="Aptos"/>
              </a:rPr>
              <a:t>, but </a:t>
            </a:r>
            <a:r>
              <a:rPr lang="en-US" sz="1600" dirty="0">
                <a:solidFill>
                  <a:srgbClr val="242424"/>
                </a:solidFill>
                <a:latin typeface="Aptos"/>
              </a:rPr>
              <a:t>a hard </a:t>
            </a:r>
            <a:r>
              <a:rPr sz="1600" dirty="0">
                <a:solidFill>
                  <a:srgbClr val="242424"/>
                </a:solidFill>
                <a:latin typeface="Aptos"/>
              </a:rPr>
              <a:t>bike </a:t>
            </a:r>
            <a:r>
              <a:rPr lang="en-US" sz="1600" dirty="0">
                <a:solidFill>
                  <a:srgbClr val="242424"/>
                </a:solidFill>
                <a:latin typeface="Aptos"/>
              </a:rPr>
              <a:t>punctuated by significant hill allowed an exclusive of 8</a:t>
            </a:r>
            <a:r>
              <a:rPr sz="1600" dirty="0">
                <a:solidFill>
                  <a:srgbClr val="242424"/>
                </a:solidFill>
                <a:latin typeface="Aptos"/>
              </a:rPr>
              <a:t> </a:t>
            </a:r>
            <a:r>
              <a:rPr lang="en-US" sz="1600" dirty="0">
                <a:solidFill>
                  <a:srgbClr val="242424"/>
                </a:solidFill>
                <a:latin typeface="Aptos"/>
              </a:rPr>
              <a:t>to open a </a:t>
            </a:r>
            <a:r>
              <a:rPr sz="1600" dirty="0">
                <a:solidFill>
                  <a:srgbClr val="242424"/>
                </a:solidFill>
                <a:latin typeface="Aptos"/>
              </a:rPr>
              <a:t>103s gap to the chase. </a:t>
            </a:r>
            <a:r>
              <a:rPr lang="en-US" sz="1600" dirty="0">
                <a:solidFill>
                  <a:srgbClr val="242424"/>
                </a:solidFill>
                <a:latin typeface="Aptos"/>
              </a:rPr>
              <a:t>Hidalgo ultimately went on to win with a 30:05. </a:t>
            </a:r>
            <a:endParaRPr sz="1600" dirty="0">
              <a:solidFill>
                <a:srgbClr val="242424"/>
              </a:solidFill>
              <a:latin typeface="Aptos"/>
            </a:endParaRP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646331"/>
          </a:xfrm>
          <a:prstGeom prst="rect">
            <a:avLst/>
          </a:prstGeom>
          <a:noFill/>
        </p:spPr>
        <p:txBody>
          <a:bodyPr wrap="square">
            <a:spAutoFit/>
          </a:bodyPr>
          <a:lstStyle/>
          <a:p>
            <a:pPr algn="l"/>
            <a:r>
              <a:rPr lang="en-US" sz="1200" b="0" i="0" dirty="0">
                <a:solidFill>
                  <a:srgbClr val="262626"/>
                </a:solidFill>
                <a:latin typeface="Arial"/>
              </a:rPr>
              <a:t>Swim positioning is paramount. There were no major breaks on the swim but the athletes towards the front of the spear were able to get the work on bike and separate quickly. </a:t>
            </a:r>
            <a:endParaRPr lang="en-US" sz="1200" dirty="0">
              <a:solidFill>
                <a:srgbClr val="262626"/>
              </a:solidFill>
              <a:latin typeface="Arial"/>
            </a:endParaRP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646331"/>
          </a:xfrm>
          <a:prstGeom prst="rect">
            <a:avLst/>
          </a:prstGeom>
          <a:noFill/>
        </p:spPr>
        <p:txBody>
          <a:bodyPr wrap="square">
            <a:spAutoFit/>
          </a:bodyPr>
          <a:lstStyle/>
          <a:p>
            <a:r>
              <a:rPr lang="en-US" sz="1200" dirty="0">
                <a:solidFill>
                  <a:srgbClr val="242424"/>
                </a:solidFill>
                <a:latin typeface="Aptos"/>
              </a:rPr>
              <a:t>Aggressive and controlled bike handling. 10 athletes race came to an early finish on the bike leg. Expect to be on the rivet through rolling climbs and be aware of crash potential. </a:t>
            </a: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461665"/>
          </a:xfrm>
          <a:prstGeom prst="rect">
            <a:avLst/>
          </a:prstGeom>
          <a:noFill/>
        </p:spPr>
        <p:txBody>
          <a:bodyPr wrap="square">
            <a:spAutoFit/>
          </a:bodyPr>
          <a:lstStyle/>
          <a:p>
            <a:pPr algn="l"/>
            <a:r>
              <a:rPr lang="en-US" sz="1200" b="0" i="0" dirty="0">
                <a:solidFill>
                  <a:srgbClr val="262626"/>
                </a:solidFill>
                <a:latin typeface="Arial"/>
              </a:rPr>
              <a:t>Expect a hard and hilly but not overly fast run. Only one athlete managed to break </a:t>
            </a:r>
            <a:endParaRPr sz="1200" b="0" i="0" dirty="0">
              <a:solidFill>
                <a:srgbClr val="262626"/>
              </a:solidFill>
              <a:latin typeface="Arial"/>
            </a:endParaRPr>
          </a:p>
        </p:txBody>
      </p:sp>
      <p:pic>
        <p:nvPicPr>
          <p:cNvPr id="1026" name="Picture 2" descr="Chase McQueen Leads U.S. Elites at 2025 World Triathlon Championship Series Alghero | USA Triathlon">
            <a:extLst>
              <a:ext uri="{FF2B5EF4-FFF2-40B4-BE49-F238E27FC236}">
                <a16:creationId xmlns:a16="http://schemas.microsoft.com/office/drawing/2014/main" id="{F229E298-5F26-9BF3-4971-2CE84657F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565" y="3078420"/>
            <a:ext cx="6451937" cy="338726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D93D7C33-C082-BA50-50BD-54CC5B0A930E}"/>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2143114738"/>
              </p:ext>
            </p:extLst>
          </p:nvPr>
        </p:nvGraphicFramePr>
        <p:xfrm>
          <a:off x="274320" y="1143000"/>
          <a:ext cx="11640308" cy="1030224"/>
        </p:xfrm>
        <a:graphic>
          <a:graphicData uri="http://schemas.openxmlformats.org/drawingml/2006/table">
            <a:tbl>
              <a:tblPr firstRow="1" bandRow="1">
                <a:tableStyleId>{5C22544A-7EE6-4342-B048-85BDC9FD1C3A}</a:tableStyleId>
              </a:tblPr>
              <a:tblGrid>
                <a:gridCol w="669575">
                  <a:extLst>
                    <a:ext uri="{9D8B030D-6E8A-4147-A177-3AD203B41FA5}">
                      <a16:colId xmlns:a16="http://schemas.microsoft.com/office/drawing/2014/main" val="20000"/>
                    </a:ext>
                  </a:extLst>
                </a:gridCol>
                <a:gridCol w="978610">
                  <a:extLst>
                    <a:ext uri="{9D8B030D-6E8A-4147-A177-3AD203B41FA5}">
                      <a16:colId xmlns:a16="http://schemas.microsoft.com/office/drawing/2014/main" val="20001"/>
                    </a:ext>
                  </a:extLst>
                </a:gridCol>
                <a:gridCol w="2060232">
                  <a:extLst>
                    <a:ext uri="{9D8B030D-6E8A-4147-A177-3AD203B41FA5}">
                      <a16:colId xmlns:a16="http://schemas.microsoft.com/office/drawing/2014/main" val="20002"/>
                    </a:ext>
                  </a:extLst>
                </a:gridCol>
                <a:gridCol w="618069">
                  <a:extLst>
                    <a:ext uri="{9D8B030D-6E8A-4147-A177-3AD203B41FA5}">
                      <a16:colId xmlns:a16="http://schemas.microsoft.com/office/drawing/2014/main" val="20003"/>
                    </a:ext>
                  </a:extLst>
                </a:gridCol>
                <a:gridCol w="2163243">
                  <a:extLst>
                    <a:ext uri="{9D8B030D-6E8A-4147-A177-3AD203B41FA5}">
                      <a16:colId xmlns:a16="http://schemas.microsoft.com/office/drawing/2014/main" val="20004"/>
                    </a:ext>
                  </a:extLst>
                </a:gridCol>
                <a:gridCol w="1030116">
                  <a:extLst>
                    <a:ext uri="{9D8B030D-6E8A-4147-A177-3AD203B41FA5}">
                      <a16:colId xmlns:a16="http://schemas.microsoft.com/office/drawing/2014/main" val="20005"/>
                    </a:ext>
                  </a:extLst>
                </a:gridCol>
                <a:gridCol w="875598">
                  <a:extLst>
                    <a:ext uri="{9D8B030D-6E8A-4147-A177-3AD203B41FA5}">
                      <a16:colId xmlns:a16="http://schemas.microsoft.com/office/drawing/2014/main" val="20006"/>
                    </a:ext>
                  </a:extLst>
                </a:gridCol>
                <a:gridCol w="927104">
                  <a:extLst>
                    <a:ext uri="{9D8B030D-6E8A-4147-A177-3AD203B41FA5}">
                      <a16:colId xmlns:a16="http://schemas.microsoft.com/office/drawing/2014/main" val="20007"/>
                    </a:ext>
                  </a:extLst>
                </a:gridCol>
                <a:gridCol w="772587">
                  <a:extLst>
                    <a:ext uri="{9D8B030D-6E8A-4147-A177-3AD203B41FA5}">
                      <a16:colId xmlns:a16="http://schemas.microsoft.com/office/drawing/2014/main" val="20008"/>
                    </a:ext>
                  </a:extLst>
                </a:gridCol>
                <a:gridCol w="772587">
                  <a:extLst>
                    <a:ext uri="{9D8B030D-6E8A-4147-A177-3AD203B41FA5}">
                      <a16:colId xmlns:a16="http://schemas.microsoft.com/office/drawing/2014/main" val="20009"/>
                    </a:ext>
                  </a:extLst>
                </a:gridCol>
                <a:gridCol w="772587">
                  <a:extLst>
                    <a:ext uri="{9D8B030D-6E8A-4147-A177-3AD203B41FA5}">
                      <a16:colId xmlns:a16="http://schemas.microsoft.com/office/drawing/2014/main" val="20010"/>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May 31</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lang="en-US" sz="1400" b="0" i="0" dirty="0">
                          <a:solidFill>
                            <a:srgbClr val="262626"/>
                          </a:solidFill>
                          <a:latin typeface="Arial"/>
                        </a:rPr>
                        <a:t>43</a:t>
                      </a:r>
                      <a:endParaRPr sz="1400" b="0" i="0" dirty="0">
                        <a:solidFill>
                          <a:srgbClr val="262626"/>
                        </a:solidFill>
                        <a:latin typeface="Arial"/>
                      </a:endParaRPr>
                    </a:p>
                  </a:txBody>
                  <a:tcPr>
                    <a:solidFill>
                      <a:srgbClr val="FFFFFF"/>
                    </a:solidFill>
                  </a:tcPr>
                </a:tc>
                <a:tc>
                  <a:txBody>
                    <a:bodyPr/>
                    <a:lstStyle/>
                    <a:p>
                      <a:pPr algn="l"/>
                      <a:r>
                        <a:rPr sz="1400" b="0" i="0">
                          <a:solidFill>
                            <a:srgbClr val="262626"/>
                          </a:solidFill>
                          <a:latin typeface="Arial"/>
                        </a:rPr>
                        <a:t>Hidalgo</a:t>
                      </a:r>
                    </a:p>
                  </a:txBody>
                  <a:tcPr>
                    <a:solidFill>
                      <a:srgbClr val="FFFFFF"/>
                    </a:solidFill>
                  </a:tcPr>
                </a:tc>
                <a:tc>
                  <a:txBody>
                    <a:bodyPr/>
                    <a:lstStyle/>
                    <a:p>
                      <a:pPr algn="ctr"/>
                      <a:r>
                        <a:rPr sz="1400" b="0" i="0">
                          <a:solidFill>
                            <a:srgbClr val="262626"/>
                          </a:solidFill>
                          <a:latin typeface="Arial"/>
                        </a:rPr>
                        <a:t>1:44:05</a:t>
                      </a:r>
                    </a:p>
                  </a:txBody>
                  <a:tcPr>
                    <a:solidFill>
                      <a:srgbClr val="FFFFFF"/>
                    </a:solidFill>
                  </a:tcPr>
                </a:tc>
                <a:tc>
                  <a:txBody>
                    <a:bodyPr/>
                    <a:lstStyle/>
                    <a:p>
                      <a:pPr algn="ctr"/>
                      <a:r>
                        <a:rPr sz="1400" b="0" i="0">
                          <a:solidFill>
                            <a:srgbClr val="262626"/>
                          </a:solidFill>
                          <a:latin typeface="Arial"/>
                        </a:rPr>
                        <a:t>27</a:t>
                      </a:r>
                    </a:p>
                  </a:txBody>
                  <a:tcPr>
                    <a:solidFill>
                      <a:srgbClr val="FFFFFF"/>
                    </a:solidFill>
                  </a:tcPr>
                </a:tc>
                <a:tc>
                  <a:txBody>
                    <a:bodyPr/>
                    <a:lstStyle/>
                    <a:p>
                      <a:pPr algn="ctr"/>
                      <a:r>
                        <a:rPr sz="1400" b="0" i="0">
                          <a:solidFill>
                            <a:srgbClr val="262626"/>
                          </a:solidFill>
                          <a:latin typeface="Arial"/>
                        </a:rPr>
                        <a:t>22</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40.5</a:t>
                      </a:r>
                    </a:p>
                  </a:txBody>
                  <a:tcPr>
                    <a:solidFill>
                      <a:srgbClr val="FFFFFF"/>
                    </a:solidFill>
                  </a:tcPr>
                </a:tc>
                <a:tc>
                  <a:txBody>
                    <a:bodyPr/>
                    <a:lstStyle/>
                    <a:p>
                      <a:pPr algn="ctr"/>
                      <a:r>
                        <a:rPr sz="1400" b="0" i="0" dirty="0">
                          <a:solidFill>
                            <a:srgbClr val="262626"/>
                          </a:solidFill>
                          <a:latin typeface="Arial"/>
                        </a:rPr>
                        <a:t>10.0</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
        <p:nvSpPr>
          <p:cNvPr id="9" name="TextBox 8">
            <a:extLst>
              <a:ext uri="{FF2B5EF4-FFF2-40B4-BE49-F238E27FC236}">
                <a16:creationId xmlns:a16="http://schemas.microsoft.com/office/drawing/2014/main" id="{8C97A361-C750-3B07-B02C-2E16A7F55DCC}"/>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320" y="1481328"/>
            <a:ext cx="11640312" cy="3749039"/>
          </a:xfrm>
          <a:prstGeom prst="rect">
            <a:avLst/>
          </a:prstGeom>
        </p:spPr>
      </p:pic>
      <p:graphicFrame>
        <p:nvGraphicFramePr>
          <p:cNvPr id="10" name="Table 9"/>
          <p:cNvGraphicFramePr>
            <a:graphicFrameLocks noGrp="1"/>
          </p:cNvGraphicFramePr>
          <p:nvPr/>
        </p:nvGraphicFramePr>
        <p:xfrm>
          <a:off x="274320" y="5285232"/>
          <a:ext cx="11640311" cy="14173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70866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708660">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20</a:t>
                      </a:r>
                    </a:p>
                  </a:txBody>
                  <a:tcPr>
                    <a:solidFill>
                      <a:srgbClr val="FFFFFF"/>
                    </a:solidFill>
                  </a:tcPr>
                </a:tc>
                <a:tc>
                  <a:txBody>
                    <a:bodyPr/>
                    <a:lstStyle/>
                    <a:p>
                      <a:pPr algn="ctr"/>
                      <a:r>
                        <a:rPr sz="950" b="0" i="0">
                          <a:solidFill>
                            <a:srgbClr val="262626"/>
                          </a:solidFill>
                          <a:latin typeface="Arial"/>
                        </a:rPr>
                        <a:t>8</a:t>
                      </a:r>
                    </a:p>
                  </a:txBody>
                  <a:tcPr>
                    <a:solidFill>
                      <a:srgbClr val="FFFFFF"/>
                    </a:solidFill>
                  </a:tcPr>
                </a:tc>
                <a:tc>
                  <a:txBody>
                    <a:bodyPr/>
                    <a:lstStyle/>
                    <a:p>
                      <a:pPr algn="ctr"/>
                      <a:r>
                        <a:rPr sz="950" b="0" i="0">
                          <a:solidFill>
                            <a:srgbClr val="262626"/>
                          </a:solidFill>
                          <a:latin typeface="Arial"/>
                        </a:rPr>
                        <a:t>-12</a:t>
                      </a:r>
                    </a:p>
                  </a:txBody>
                  <a:tcPr>
                    <a:solidFill>
                      <a:srgbClr val="FFFFFF"/>
                    </a:solidFill>
                  </a:tcPr>
                </a:tc>
                <a:tc>
                  <a:txBody>
                    <a:bodyPr/>
                    <a:lstStyle/>
                    <a:p>
                      <a:pPr algn="ctr"/>
                      <a:r>
                        <a:rPr sz="950" b="0" i="0">
                          <a:solidFill>
                            <a:srgbClr val="262626"/>
                          </a:solidFill>
                          <a:latin typeface="Arial"/>
                        </a:rPr>
                        <a:t>24</a:t>
                      </a:r>
                    </a:p>
                  </a:txBody>
                  <a:tcPr>
                    <a:solidFill>
                      <a:srgbClr val="FFFFFF"/>
                    </a:solidFill>
                  </a:tcPr>
                </a:tc>
                <a:tc>
                  <a:txBody>
                    <a:bodyPr/>
                    <a:lstStyle/>
                    <a:p>
                      <a:pPr algn="ctr"/>
                      <a:r>
                        <a:rPr sz="950" b="0" i="0">
                          <a:solidFill>
                            <a:srgbClr val="262626"/>
                          </a:solidFill>
                          <a:latin typeface="Arial"/>
                        </a:rPr>
                        <a:t>103s</a:t>
                      </a:r>
                    </a:p>
                  </a:txBody>
                  <a:tcPr>
                    <a:solidFill>
                      <a:srgbClr val="FFFFFF"/>
                    </a:solidFill>
                  </a:tcPr>
                </a:tc>
                <a:extLst>
                  <a:ext uri="{0D108BD9-81ED-4DB2-BD59-A6C34878D82A}">
                    <a16:rowId xmlns:a16="http://schemas.microsoft.com/office/drawing/2014/main" val="10001"/>
                  </a:ext>
                </a:extLst>
              </a:tr>
            </a:tbl>
          </a:graphicData>
        </a:graphic>
      </p:graphicFrame>
      <p:sp>
        <p:nvSpPr>
          <p:cNvPr id="11" name="TextBox 10"/>
          <p:cNvSpPr txBox="1"/>
          <p:nvPr/>
        </p:nvSpPr>
        <p:spPr>
          <a:xfrm>
            <a:off x="274320" y="6387592"/>
            <a:ext cx="11640312" cy="215444"/>
          </a:xfrm>
          <a:prstGeom prst="rect">
            <a:avLst/>
          </a:prstGeom>
          <a:noFill/>
        </p:spPr>
        <p:txBody>
          <a:bodyPr wrap="square">
            <a:spAutoFit/>
          </a:bodyPr>
          <a:lstStyle/>
          <a:p>
            <a:pPr algn="l"/>
            <a:r>
              <a:rPr sz="800" b="0" i="1" dirty="0">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r>
              <a:rPr lang="en-US" sz="800" b="0" i="1" dirty="0">
                <a:solidFill>
                  <a:srgbClr val="BFBFBF"/>
                </a:solidFill>
                <a:latin typeface="Arial"/>
              </a:rPr>
              <a:t> Only includes athletes that finished</a:t>
            </a:r>
            <a:endParaRPr sz="800" b="0" i="1" dirty="0">
              <a:solidFill>
                <a:srgbClr val="BFBFBF"/>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
        <p:nvSpPr>
          <p:cNvPr id="9" name="TextBox 8">
            <a:extLst>
              <a:ext uri="{FF2B5EF4-FFF2-40B4-BE49-F238E27FC236}">
                <a16:creationId xmlns:a16="http://schemas.microsoft.com/office/drawing/2014/main" id="{3ACBC9A8-0EFE-E9CE-AB7D-0F4695CC1B63}"/>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69799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474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47472">
                <a:tc>
                  <a:txBody>
                    <a:bodyPr/>
                    <a:lstStyle/>
                    <a:p>
                      <a:pPr algn="ctr"/>
                      <a:r>
                        <a:rPr sz="1000" b="1" i="0">
                          <a:solidFill>
                            <a:srgbClr val="262626"/>
                          </a:solidFill>
                          <a:latin typeface="Arial"/>
                        </a:rPr>
                        <a:t>2025</a:t>
                      </a:r>
                    </a:p>
                  </a:txBody>
                  <a:tcPr>
                    <a:solidFill>
                      <a:srgbClr val="FFFFFF"/>
                    </a:solidFill>
                  </a:tcPr>
                </a:tc>
                <a:tc>
                  <a:txBody>
                    <a:bodyPr/>
                    <a:lstStyle/>
                    <a:p>
                      <a:pPr algn="ctr"/>
                      <a:r>
                        <a:rPr sz="850" b="0" i="0">
                          <a:solidFill>
                            <a:srgbClr val="262626"/>
                          </a:solidFill>
                          <a:latin typeface="Arial"/>
                        </a:rPr>
                        <a:t>1:44:05</a:t>
                      </a:r>
                    </a:p>
                  </a:txBody>
                  <a:tcPr>
                    <a:solidFill>
                      <a:srgbClr val="FFFFFF"/>
                    </a:solidFill>
                  </a:tcPr>
                </a:tc>
                <a:tc>
                  <a:txBody>
                    <a:bodyPr/>
                    <a:lstStyle/>
                    <a:p>
                      <a:pPr algn="ctr"/>
                      <a:r>
                        <a:rPr sz="850" b="0" i="0">
                          <a:solidFill>
                            <a:srgbClr val="262626"/>
                          </a:solidFill>
                          <a:latin typeface="Arial"/>
                        </a:rPr>
                        <a:t>1:44:33
+28s</a:t>
                      </a:r>
                    </a:p>
                  </a:txBody>
                  <a:tcPr>
                    <a:solidFill>
                      <a:srgbClr val="FFFFFF"/>
                    </a:solidFill>
                  </a:tcPr>
                </a:tc>
                <a:tc>
                  <a:txBody>
                    <a:bodyPr/>
                    <a:lstStyle/>
                    <a:p>
                      <a:pPr algn="ctr"/>
                      <a:r>
                        <a:rPr sz="850" b="0" i="0">
                          <a:solidFill>
                            <a:srgbClr val="262626"/>
                          </a:solidFill>
                          <a:latin typeface="Arial"/>
                        </a:rPr>
                        <a:t>1:45:09
+64s</a:t>
                      </a:r>
                    </a:p>
                  </a:txBody>
                  <a:tcPr>
                    <a:solidFill>
                      <a:srgbClr val="FFFFFF"/>
                    </a:solidFill>
                  </a:tcPr>
                </a:tc>
                <a:tc>
                  <a:txBody>
                    <a:bodyPr/>
                    <a:lstStyle/>
                    <a:p>
                      <a:pPr algn="ctr"/>
                      <a:r>
                        <a:rPr sz="850" b="0" i="0">
                          <a:solidFill>
                            <a:srgbClr val="262626"/>
                          </a:solidFill>
                          <a:latin typeface="Arial"/>
                        </a:rPr>
                        <a:t>1:45:36
+91s</a:t>
                      </a:r>
                    </a:p>
                  </a:txBody>
                  <a:tcPr>
                    <a:solidFill>
                      <a:srgbClr val="FFFFFF"/>
                    </a:solidFill>
                  </a:tcPr>
                </a:tc>
                <a:tc>
                  <a:txBody>
                    <a:bodyPr/>
                    <a:lstStyle/>
                    <a:p>
                      <a:pPr algn="ctr"/>
                      <a:r>
                        <a:rPr sz="850" b="0" i="0">
                          <a:solidFill>
                            <a:srgbClr val="262626"/>
                          </a:solidFill>
                          <a:latin typeface="Arial"/>
                        </a:rPr>
                        <a:t>1:46:25
+140s</a:t>
                      </a:r>
                    </a:p>
                  </a:txBody>
                  <a:tcPr>
                    <a:solidFill>
                      <a:srgbClr val="FFFFFF"/>
                    </a:solidFill>
                  </a:tcPr>
                </a:tc>
                <a:tc>
                  <a:txBody>
                    <a:bodyPr/>
                    <a:lstStyle/>
                    <a:p>
                      <a:pPr algn="ctr"/>
                      <a:r>
                        <a:rPr sz="850" b="0" i="0">
                          <a:solidFill>
                            <a:srgbClr val="262626"/>
                          </a:solidFill>
                          <a:latin typeface="Arial"/>
                        </a:rPr>
                        <a:t>1:47:49
+224s</a:t>
                      </a:r>
                    </a:p>
                  </a:txBody>
                  <a:tcPr>
                    <a:solidFill>
                      <a:srgbClr val="FFFFFF"/>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2C213058-BFE6-3635-B640-238241071144}"/>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9144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May 31</a:t>
                      </a:r>
                    </a:p>
                  </a:txBody>
                  <a:tcPr>
                    <a:solidFill>
                      <a:srgbClr val="FFFFFF"/>
                    </a:solidFill>
                  </a:tcPr>
                </a:tc>
                <a:tc>
                  <a:txBody>
                    <a:bodyPr/>
                    <a:lstStyle/>
                    <a:p>
                      <a:pPr algn="ctr"/>
                      <a:r>
                        <a:rPr sz="1000" b="0" i="0">
                          <a:solidFill>
                            <a:srgbClr val="262626"/>
                          </a:solidFill>
                          <a:latin typeface="Arial"/>
                        </a:rPr>
                        <a:t>27</a:t>
                      </a:r>
                    </a:p>
                  </a:txBody>
                  <a:tcPr>
                    <a:solidFill>
                      <a:srgbClr val="FFFFFF"/>
                    </a:solidFill>
                  </a:tcPr>
                </a:tc>
                <a:tc>
                  <a:txBody>
                    <a:bodyPr/>
                    <a:lstStyle/>
                    <a:p>
                      <a:pPr algn="ctr"/>
                      <a:r>
                        <a:rPr sz="1000" b="0" i="0">
                          <a:solidFill>
                            <a:srgbClr val="262626"/>
                          </a:solidFill>
                          <a:latin typeface="Arial"/>
                        </a:rPr>
                        <a:t>72%</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22</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3840480"/>
            <a:ext cx="1051560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103120"/>
            <a:ext cx="10515600" cy="1645920"/>
          </a:xfrm>
          <a:prstGeom prst="rect">
            <a:avLst/>
          </a:prstGeom>
          <a:noFill/>
        </p:spPr>
        <p:txBody>
          <a:bodyPr wrap="square">
            <a:spAutoFit/>
          </a:bodyPr>
          <a:lstStyle/>
          <a:p>
            <a:pPr algn="ctr"/>
            <a:r>
              <a:rPr sz="6000" b="1" i="0">
                <a:solidFill>
                  <a:srgbClr val="FFFFFF"/>
                </a:solidFill>
                <a:latin typeface="Arial"/>
              </a:rPr>
              <a:t>ELITE WOMEN</a:t>
            </a:r>
          </a:p>
        </p:txBody>
      </p:sp>
      <p:pic>
        <p:nvPicPr>
          <p:cNvPr id="6" name="Picture 5" descr="USA_Triathlon_Logo.jpg"/>
          <p:cNvPicPr>
            <a:picLocks noChangeAspect="1"/>
          </p:cNvPicPr>
          <p:nvPr/>
        </p:nvPicPr>
        <p:blipFill>
          <a:blip r:embed="rId2"/>
          <a:stretch>
            <a:fillRect/>
          </a:stretch>
        </p:blipFill>
        <p:spPr>
          <a:xfrm>
            <a:off x="10058400" y="5760720"/>
            <a:ext cx="1828800" cy="1005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Overview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640080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15568"/>
            <a:ext cx="6035040" cy="274320"/>
          </a:xfrm>
          <a:prstGeom prst="rect">
            <a:avLst/>
          </a:prstGeom>
          <a:noFill/>
        </p:spPr>
        <p:txBody>
          <a:bodyPr wrap="square">
            <a:spAutoFit/>
          </a:bodyPr>
          <a:lstStyle/>
          <a:p>
            <a:pPr algn="l"/>
            <a:r>
              <a:rPr sz="1200" b="1" i="0">
                <a:solidFill>
                  <a:srgbClr val="FFFFFF"/>
                </a:solidFill>
                <a:latin typeface="Arial"/>
              </a:rPr>
              <a:t>RACE HISTORY AT ALGHERO</a:t>
            </a:r>
          </a:p>
        </p:txBody>
      </p:sp>
      <p:sp>
        <p:nvSpPr>
          <p:cNvPr id="10" name="TextBox 9"/>
          <p:cNvSpPr txBox="1"/>
          <p:nvPr/>
        </p:nvSpPr>
        <p:spPr>
          <a:xfrm>
            <a:off x="274320" y="1508760"/>
            <a:ext cx="6400800" cy="1323439"/>
          </a:xfrm>
          <a:prstGeom prst="rect">
            <a:avLst/>
          </a:prstGeom>
          <a:noFill/>
        </p:spPr>
        <p:txBody>
          <a:bodyPr wrap="square">
            <a:spAutoFit/>
          </a:bodyPr>
          <a:lstStyle/>
          <a:p>
            <a:r>
              <a:rPr sz="1600" dirty="0">
                <a:solidFill>
                  <a:srgbClr val="242424"/>
                </a:solidFill>
                <a:latin typeface="Aptos"/>
              </a:rPr>
              <a:t>Alghero’s first WTCS women’s race was more selective than the men’s race from the start. Only </a:t>
            </a:r>
            <a:r>
              <a:rPr lang="en-US" sz="1600" dirty="0">
                <a:solidFill>
                  <a:srgbClr val="242424"/>
                </a:solidFill>
                <a:latin typeface="Aptos"/>
              </a:rPr>
              <a:t>7</a:t>
            </a:r>
            <a:r>
              <a:rPr sz="1600" dirty="0">
                <a:solidFill>
                  <a:srgbClr val="242424"/>
                </a:solidFill>
                <a:latin typeface="Aptos"/>
              </a:rPr>
              <a:t> athletes were in the lead group at T1 and </a:t>
            </a:r>
            <a:r>
              <a:rPr lang="en-US" sz="1600" dirty="0">
                <a:solidFill>
                  <a:srgbClr val="242424"/>
                </a:solidFill>
                <a:latin typeface="Aptos"/>
              </a:rPr>
              <a:t>6</a:t>
            </a:r>
            <a:r>
              <a:rPr sz="1600" dirty="0">
                <a:solidFill>
                  <a:srgbClr val="242424"/>
                </a:solidFill>
                <a:latin typeface="Aptos"/>
              </a:rPr>
              <a:t> remained at T2, with a 142s gap to the chase. Beaugrand won from the front group, reinforcing that this course can reward a true swim-bike selection before the run begins.</a:t>
            </a:r>
          </a:p>
        </p:txBody>
      </p:sp>
      <p:sp>
        <p:nvSpPr>
          <p:cNvPr id="11" name="Rectangle 10"/>
          <p:cNvSpPr/>
          <p:nvPr/>
        </p:nvSpPr>
        <p:spPr>
          <a:xfrm>
            <a:off x="6903720" y="1097280"/>
            <a:ext cx="4983480"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115568"/>
            <a:ext cx="4663440" cy="274320"/>
          </a:xfrm>
          <a:prstGeom prst="rect">
            <a:avLst/>
          </a:prstGeom>
          <a:noFill/>
        </p:spPr>
        <p:txBody>
          <a:bodyPr wrap="square">
            <a:spAutoFit/>
          </a:bodyPr>
          <a:lstStyle/>
          <a:p>
            <a:pPr algn="l"/>
            <a:r>
              <a:rPr sz="1200" b="1" i="0">
                <a:solidFill>
                  <a:srgbClr val="FFFFFF"/>
                </a:solidFill>
                <a:latin typeface="Arial"/>
              </a:rPr>
              <a:t>3 KEYS TO SUCCESS</a:t>
            </a:r>
          </a:p>
        </p:txBody>
      </p:sp>
      <p:sp>
        <p:nvSpPr>
          <p:cNvPr id="13" name="Rectangle 12"/>
          <p:cNvSpPr/>
          <p:nvPr/>
        </p:nvSpPr>
        <p:spPr>
          <a:xfrm>
            <a:off x="6949440" y="155448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14" name="TextBox 13"/>
          <p:cNvSpPr txBox="1"/>
          <p:nvPr/>
        </p:nvSpPr>
        <p:spPr>
          <a:xfrm>
            <a:off x="7452360" y="1536192"/>
            <a:ext cx="4434840" cy="646331"/>
          </a:xfrm>
          <a:prstGeom prst="rect">
            <a:avLst/>
          </a:prstGeom>
          <a:noFill/>
        </p:spPr>
        <p:txBody>
          <a:bodyPr wrap="square">
            <a:spAutoFit/>
          </a:bodyPr>
          <a:lstStyle/>
          <a:p>
            <a:pPr algn="l"/>
            <a:r>
              <a:rPr lang="en-US" sz="1200" b="0" i="0" dirty="0">
                <a:solidFill>
                  <a:srgbClr val="262626"/>
                </a:solidFill>
                <a:latin typeface="Arial"/>
              </a:rPr>
              <a:t>Fast swimming can set up for a top 15 finish here. Only 2 women that missed the front swimmers were able to finish in the top 10. </a:t>
            </a:r>
            <a:endParaRPr sz="1200" b="0" i="0" dirty="0">
              <a:solidFill>
                <a:srgbClr val="262626"/>
              </a:solidFill>
              <a:latin typeface="Arial"/>
            </a:endParaRPr>
          </a:p>
        </p:txBody>
      </p:sp>
      <p:sp>
        <p:nvSpPr>
          <p:cNvPr id="15" name="Rectangle 14"/>
          <p:cNvSpPr/>
          <p:nvPr/>
        </p:nvSpPr>
        <p:spPr>
          <a:xfrm>
            <a:off x="6949440" y="324612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6" name="TextBox 15"/>
          <p:cNvSpPr txBox="1"/>
          <p:nvPr/>
        </p:nvSpPr>
        <p:spPr>
          <a:xfrm>
            <a:off x="7452360" y="3227832"/>
            <a:ext cx="4434840" cy="646331"/>
          </a:xfrm>
          <a:prstGeom prst="rect">
            <a:avLst/>
          </a:prstGeom>
          <a:noFill/>
        </p:spPr>
        <p:txBody>
          <a:bodyPr wrap="square">
            <a:spAutoFit/>
          </a:bodyPr>
          <a:lstStyle/>
          <a:p>
            <a:r>
              <a:rPr lang="en-US" sz="1200" dirty="0">
                <a:solidFill>
                  <a:srgbClr val="242424"/>
                </a:solidFill>
                <a:latin typeface="Aptos"/>
              </a:rPr>
              <a:t>Missing the front bike group here meant missing the podium but not the top 5-10 spots. Despite a two-minute deficit, Leonie Perialt managed to catch two of the leaders and run into 5</a:t>
            </a:r>
            <a:r>
              <a:rPr lang="en-US" sz="1200" baseline="30000" dirty="0">
                <a:solidFill>
                  <a:srgbClr val="242424"/>
                </a:solidFill>
                <a:latin typeface="Aptos"/>
              </a:rPr>
              <a:t>th</a:t>
            </a:r>
            <a:r>
              <a:rPr lang="en-US" sz="1200" dirty="0">
                <a:solidFill>
                  <a:srgbClr val="242424"/>
                </a:solidFill>
                <a:latin typeface="Aptos"/>
              </a:rPr>
              <a:t>. </a:t>
            </a:r>
            <a:endParaRPr sz="1200" dirty="0">
              <a:solidFill>
                <a:srgbClr val="242424"/>
              </a:solidFill>
              <a:latin typeface="Aptos"/>
            </a:endParaRPr>
          </a:p>
        </p:txBody>
      </p:sp>
      <p:sp>
        <p:nvSpPr>
          <p:cNvPr id="17" name="Rectangle 16"/>
          <p:cNvSpPr/>
          <p:nvPr/>
        </p:nvSpPr>
        <p:spPr>
          <a:xfrm>
            <a:off x="6949440" y="4937760"/>
            <a:ext cx="384048" cy="38404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8" name="TextBox 17"/>
          <p:cNvSpPr txBox="1"/>
          <p:nvPr/>
        </p:nvSpPr>
        <p:spPr>
          <a:xfrm>
            <a:off x="7452360" y="4919472"/>
            <a:ext cx="4434840" cy="461665"/>
          </a:xfrm>
          <a:prstGeom prst="rect">
            <a:avLst/>
          </a:prstGeom>
          <a:noFill/>
        </p:spPr>
        <p:txBody>
          <a:bodyPr wrap="square">
            <a:spAutoFit/>
          </a:bodyPr>
          <a:lstStyle/>
          <a:p>
            <a:pPr algn="l"/>
            <a:r>
              <a:rPr lang="en-US" sz="1200" b="0" i="0" dirty="0">
                <a:solidFill>
                  <a:srgbClr val="262626"/>
                </a:solidFill>
                <a:latin typeface="Arial"/>
              </a:rPr>
              <a:t>Prepare for a sub-35-minute 10k here. In 2025 5 women including the winner ran under the threshold.  </a:t>
            </a:r>
            <a:endParaRPr sz="1200" b="0" i="0" dirty="0">
              <a:solidFill>
                <a:srgbClr val="262626"/>
              </a:solidFill>
              <a:latin typeface="Arial"/>
            </a:endParaRPr>
          </a:p>
        </p:txBody>
      </p:sp>
      <p:pic>
        <p:nvPicPr>
          <p:cNvPr id="2050" name="Picture 2" descr="Gwen Jorgensen, U.S. Elite Triathletes to Race at 2025 World Triathlon Championship Series ...">
            <a:extLst>
              <a:ext uri="{FF2B5EF4-FFF2-40B4-BE49-F238E27FC236}">
                <a16:creationId xmlns:a16="http://schemas.microsoft.com/office/drawing/2014/main" id="{AB6C70E7-82C7-4F3D-DCD1-14839E7208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1" y="2949525"/>
            <a:ext cx="6329680" cy="338726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73B124EA-AEDA-2619-6192-117E773D0267}"/>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Results Summary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607668885"/>
              </p:ext>
            </p:extLst>
          </p:nvPr>
        </p:nvGraphicFramePr>
        <p:xfrm>
          <a:off x="274320" y="1143000"/>
          <a:ext cx="11640308" cy="1030224"/>
        </p:xfrm>
        <a:graphic>
          <a:graphicData uri="http://schemas.openxmlformats.org/drawingml/2006/table">
            <a:tbl>
              <a:tblPr firstRow="1" bandRow="1">
                <a:tableStyleId>{5C22544A-7EE6-4342-B048-85BDC9FD1C3A}</a:tableStyleId>
              </a:tblPr>
              <a:tblGrid>
                <a:gridCol w="669575">
                  <a:extLst>
                    <a:ext uri="{9D8B030D-6E8A-4147-A177-3AD203B41FA5}">
                      <a16:colId xmlns:a16="http://schemas.microsoft.com/office/drawing/2014/main" val="20000"/>
                    </a:ext>
                  </a:extLst>
                </a:gridCol>
                <a:gridCol w="978610">
                  <a:extLst>
                    <a:ext uri="{9D8B030D-6E8A-4147-A177-3AD203B41FA5}">
                      <a16:colId xmlns:a16="http://schemas.microsoft.com/office/drawing/2014/main" val="20001"/>
                    </a:ext>
                  </a:extLst>
                </a:gridCol>
                <a:gridCol w="2060232">
                  <a:extLst>
                    <a:ext uri="{9D8B030D-6E8A-4147-A177-3AD203B41FA5}">
                      <a16:colId xmlns:a16="http://schemas.microsoft.com/office/drawing/2014/main" val="20002"/>
                    </a:ext>
                  </a:extLst>
                </a:gridCol>
                <a:gridCol w="618069">
                  <a:extLst>
                    <a:ext uri="{9D8B030D-6E8A-4147-A177-3AD203B41FA5}">
                      <a16:colId xmlns:a16="http://schemas.microsoft.com/office/drawing/2014/main" val="20003"/>
                    </a:ext>
                  </a:extLst>
                </a:gridCol>
                <a:gridCol w="2163243">
                  <a:extLst>
                    <a:ext uri="{9D8B030D-6E8A-4147-A177-3AD203B41FA5}">
                      <a16:colId xmlns:a16="http://schemas.microsoft.com/office/drawing/2014/main" val="20004"/>
                    </a:ext>
                  </a:extLst>
                </a:gridCol>
                <a:gridCol w="1030116">
                  <a:extLst>
                    <a:ext uri="{9D8B030D-6E8A-4147-A177-3AD203B41FA5}">
                      <a16:colId xmlns:a16="http://schemas.microsoft.com/office/drawing/2014/main" val="20005"/>
                    </a:ext>
                  </a:extLst>
                </a:gridCol>
                <a:gridCol w="875598">
                  <a:extLst>
                    <a:ext uri="{9D8B030D-6E8A-4147-A177-3AD203B41FA5}">
                      <a16:colId xmlns:a16="http://schemas.microsoft.com/office/drawing/2014/main" val="20006"/>
                    </a:ext>
                  </a:extLst>
                </a:gridCol>
                <a:gridCol w="927104">
                  <a:extLst>
                    <a:ext uri="{9D8B030D-6E8A-4147-A177-3AD203B41FA5}">
                      <a16:colId xmlns:a16="http://schemas.microsoft.com/office/drawing/2014/main" val="20007"/>
                    </a:ext>
                  </a:extLst>
                </a:gridCol>
                <a:gridCol w="772587">
                  <a:extLst>
                    <a:ext uri="{9D8B030D-6E8A-4147-A177-3AD203B41FA5}">
                      <a16:colId xmlns:a16="http://schemas.microsoft.com/office/drawing/2014/main" val="20008"/>
                    </a:ext>
                  </a:extLst>
                </a:gridCol>
                <a:gridCol w="772587">
                  <a:extLst>
                    <a:ext uri="{9D8B030D-6E8A-4147-A177-3AD203B41FA5}">
                      <a16:colId xmlns:a16="http://schemas.microsoft.com/office/drawing/2014/main" val="20009"/>
                    </a:ext>
                  </a:extLst>
                </a:gridCol>
                <a:gridCol w="772587">
                  <a:extLst>
                    <a:ext uri="{9D8B030D-6E8A-4147-A177-3AD203B41FA5}">
                      <a16:colId xmlns:a16="http://schemas.microsoft.com/office/drawing/2014/main" val="20010"/>
                    </a:ext>
                  </a:extLst>
                </a:gridCol>
              </a:tblGrid>
              <a:tr h="512064">
                <a:tc>
                  <a:txBody>
                    <a:bodyPr/>
                    <a:lstStyle/>
                    <a:p>
                      <a:pPr algn="ctr"/>
                      <a:r>
                        <a:rPr sz="1400" b="1" i="0">
                          <a:solidFill>
                            <a:srgbClr val="FFFFFF"/>
                          </a:solidFill>
                          <a:latin typeface="Arial"/>
                        </a:rPr>
                        <a:t>Year</a:t>
                      </a:r>
                    </a:p>
                  </a:txBody>
                  <a:tcPr>
                    <a:solidFill>
                      <a:srgbClr val="002060"/>
                    </a:solidFill>
                  </a:tcPr>
                </a:tc>
                <a:tc>
                  <a:txBody>
                    <a:bodyPr/>
                    <a:lstStyle/>
                    <a:p>
                      <a:pPr algn="ctr"/>
                      <a:r>
                        <a:rPr sz="1400" b="1" i="0">
                          <a:solidFill>
                            <a:srgbClr val="FFFFFF"/>
                          </a:solidFill>
                          <a:latin typeface="Arial"/>
                        </a:rPr>
                        <a:t>Date</a:t>
                      </a:r>
                    </a:p>
                  </a:txBody>
                  <a:tcPr>
                    <a:solidFill>
                      <a:srgbClr val="002060"/>
                    </a:solidFill>
                  </a:tcPr>
                </a:tc>
                <a:tc>
                  <a:txBody>
                    <a:bodyPr/>
                    <a:lstStyle/>
                    <a:p>
                      <a:pPr algn="ctr"/>
                      <a:r>
                        <a:rPr sz="1400" b="1" i="0">
                          <a:solidFill>
                            <a:srgbClr val="FFFFFF"/>
                          </a:solidFill>
                          <a:latin typeface="Arial"/>
                        </a:rPr>
                        <a:t>Category</a:t>
                      </a:r>
                    </a:p>
                  </a:txBody>
                  <a:tcPr>
                    <a:solidFill>
                      <a:srgbClr val="002060"/>
                    </a:solidFill>
                  </a:tcPr>
                </a:tc>
                <a:tc>
                  <a:txBody>
                    <a:bodyPr/>
                    <a:lstStyle/>
                    <a:p>
                      <a:pPr algn="ctr"/>
                      <a:r>
                        <a:rPr sz="1400" b="1" i="0">
                          <a:solidFill>
                            <a:srgbClr val="FFFFFF"/>
                          </a:solidFill>
                          <a:latin typeface="Arial"/>
                        </a:rPr>
                        <a:t>Field</a:t>
                      </a:r>
                    </a:p>
                  </a:txBody>
                  <a:tcPr>
                    <a:solidFill>
                      <a:srgbClr val="002060"/>
                    </a:solidFill>
                  </a:tcPr>
                </a:tc>
                <a:tc>
                  <a:txBody>
                    <a:bodyPr/>
                    <a:lstStyle/>
                    <a:p>
                      <a:pPr algn="ctr"/>
                      <a:r>
                        <a:rPr sz="1400" b="1" i="0">
                          <a:solidFill>
                            <a:srgbClr val="FFFFFF"/>
                          </a:solidFill>
                          <a:latin typeface="Arial"/>
                        </a:rPr>
                        <a:t>Winner</a:t>
                      </a:r>
                    </a:p>
                  </a:txBody>
                  <a:tcPr>
                    <a:solidFill>
                      <a:srgbClr val="002060"/>
                    </a:solidFill>
                  </a:tcPr>
                </a:tc>
                <a:tc>
                  <a:txBody>
                    <a:bodyPr/>
                    <a:lstStyle/>
                    <a:p>
                      <a:pPr algn="ctr"/>
                      <a:r>
                        <a:rPr sz="1400" b="1" i="0">
                          <a:solidFill>
                            <a:srgbClr val="FFFFFF"/>
                          </a:solidFill>
                          <a:latin typeface="Arial"/>
                        </a:rPr>
                        <a:t>Winner Time</a:t>
                      </a:r>
                    </a:p>
                  </a:txBody>
                  <a:tcPr>
                    <a:solidFill>
                      <a:srgbClr val="002060"/>
                    </a:solidFill>
                  </a:tcPr>
                </a:tc>
                <a:tc>
                  <a:txBody>
                    <a:bodyPr/>
                    <a:lstStyle/>
                    <a:p>
                      <a:pPr algn="ctr"/>
                      <a:r>
                        <a:rPr sz="1400" b="1" i="0">
                          <a:solidFill>
                            <a:srgbClr val="FFFFFF"/>
                          </a:solidFill>
                          <a:latin typeface="Arial"/>
                        </a:rPr>
                        <a:t>Air Temp</a:t>
                      </a:r>
                    </a:p>
                  </a:txBody>
                  <a:tcPr>
                    <a:solidFill>
                      <a:srgbClr val="002060"/>
                    </a:solidFill>
                  </a:tcPr>
                </a:tc>
                <a:tc>
                  <a:txBody>
                    <a:bodyPr/>
                    <a:lstStyle/>
                    <a:p>
                      <a:pPr algn="ctr"/>
                      <a:r>
                        <a:rPr sz="1400" b="1" i="0">
                          <a:solidFill>
                            <a:srgbClr val="FFFFFF"/>
                          </a:solidFill>
                          <a:latin typeface="Arial"/>
                        </a:rPr>
                        <a:t>Water Temp</a:t>
                      </a:r>
                    </a:p>
                  </a:txBody>
                  <a:tcPr>
                    <a:solidFill>
                      <a:srgbClr val="002060"/>
                    </a:solidFill>
                  </a:tcPr>
                </a:tc>
                <a:tc>
                  <a:txBody>
                    <a:bodyPr/>
                    <a:lstStyle/>
                    <a:p>
                      <a:pPr algn="ctr"/>
                      <a:r>
                        <a:rPr sz="1400" b="1" i="0">
                          <a:solidFill>
                            <a:srgbClr val="FFFFFF"/>
                          </a:solidFill>
                          <a:latin typeface="Arial"/>
                        </a:rPr>
                        <a:t>Swim km</a:t>
                      </a:r>
                    </a:p>
                  </a:txBody>
                  <a:tcPr>
                    <a:solidFill>
                      <a:srgbClr val="002060"/>
                    </a:solidFill>
                  </a:tcPr>
                </a:tc>
                <a:tc>
                  <a:txBody>
                    <a:bodyPr/>
                    <a:lstStyle/>
                    <a:p>
                      <a:pPr algn="ctr"/>
                      <a:r>
                        <a:rPr sz="1400" b="1" i="0">
                          <a:solidFill>
                            <a:srgbClr val="FFFFFF"/>
                          </a:solidFill>
                          <a:latin typeface="Arial"/>
                        </a:rPr>
                        <a:t>Bike km</a:t>
                      </a:r>
                    </a:p>
                  </a:txBody>
                  <a:tcPr>
                    <a:solidFill>
                      <a:srgbClr val="002060"/>
                    </a:solidFill>
                  </a:tcPr>
                </a:tc>
                <a:tc>
                  <a:txBody>
                    <a:bodyPr/>
                    <a:lstStyle/>
                    <a:p>
                      <a:pPr algn="ctr"/>
                      <a:r>
                        <a:rPr sz="1400" b="1" i="0">
                          <a:solidFill>
                            <a:srgbClr val="FFFFFF"/>
                          </a:solidFill>
                          <a:latin typeface="Arial"/>
                        </a:rPr>
                        <a:t>Run km</a:t>
                      </a:r>
                    </a:p>
                  </a:txBody>
                  <a:tcPr>
                    <a:solidFill>
                      <a:srgbClr val="002060"/>
                    </a:solidFill>
                  </a:tcPr>
                </a:tc>
                <a:extLst>
                  <a:ext uri="{0D108BD9-81ED-4DB2-BD59-A6C34878D82A}">
                    <a16:rowId xmlns:a16="http://schemas.microsoft.com/office/drawing/2014/main" val="10000"/>
                  </a:ext>
                </a:extLst>
              </a:tr>
              <a:tr h="512064">
                <a:tc>
                  <a:txBody>
                    <a:bodyPr/>
                    <a:lstStyle/>
                    <a:p>
                      <a:pPr algn="ctr"/>
                      <a:r>
                        <a:rPr sz="1400" b="0" i="0">
                          <a:solidFill>
                            <a:srgbClr val="262626"/>
                          </a:solidFill>
                          <a:latin typeface="Arial"/>
                        </a:rPr>
                        <a:t>2025</a:t>
                      </a:r>
                    </a:p>
                  </a:txBody>
                  <a:tcPr>
                    <a:solidFill>
                      <a:srgbClr val="FFFFFF"/>
                    </a:solidFill>
                  </a:tcPr>
                </a:tc>
                <a:tc>
                  <a:txBody>
                    <a:bodyPr/>
                    <a:lstStyle/>
                    <a:p>
                      <a:pPr algn="ctr"/>
                      <a:r>
                        <a:rPr sz="1400" b="0" i="0">
                          <a:solidFill>
                            <a:srgbClr val="262626"/>
                          </a:solidFill>
                          <a:latin typeface="Arial"/>
                        </a:rPr>
                        <a:t>May 31</a:t>
                      </a:r>
                    </a:p>
                  </a:txBody>
                  <a:tcPr>
                    <a:solidFill>
                      <a:srgbClr val="FFFFFF"/>
                    </a:solidFill>
                  </a:tcPr>
                </a:tc>
                <a:tc>
                  <a:txBody>
                    <a:bodyPr/>
                    <a:lstStyle/>
                    <a:p>
                      <a:pPr algn="l"/>
                      <a:r>
                        <a:rPr sz="1200" b="0" i="0">
                          <a:solidFill>
                            <a:srgbClr val="262626"/>
                          </a:solidFill>
                          <a:latin typeface="Arial"/>
                        </a:rPr>
                        <a:t>World Championship Series</a:t>
                      </a:r>
                    </a:p>
                  </a:txBody>
                  <a:tcPr>
                    <a:solidFill>
                      <a:srgbClr val="FFFFFF"/>
                    </a:solidFill>
                  </a:tcPr>
                </a:tc>
                <a:tc>
                  <a:txBody>
                    <a:bodyPr/>
                    <a:lstStyle/>
                    <a:p>
                      <a:pPr algn="ctr"/>
                      <a:r>
                        <a:rPr lang="en-US" sz="1400" b="0" i="0" dirty="0">
                          <a:solidFill>
                            <a:srgbClr val="262626"/>
                          </a:solidFill>
                          <a:latin typeface="Arial"/>
                        </a:rPr>
                        <a:t>39</a:t>
                      </a:r>
                      <a:endParaRPr sz="1400" b="0" i="0" dirty="0">
                        <a:solidFill>
                          <a:srgbClr val="262626"/>
                        </a:solidFill>
                        <a:latin typeface="Arial"/>
                      </a:endParaRPr>
                    </a:p>
                  </a:txBody>
                  <a:tcPr>
                    <a:solidFill>
                      <a:srgbClr val="FFFFFF"/>
                    </a:solidFill>
                  </a:tcPr>
                </a:tc>
                <a:tc>
                  <a:txBody>
                    <a:bodyPr/>
                    <a:lstStyle/>
                    <a:p>
                      <a:pPr algn="l"/>
                      <a:r>
                        <a:rPr sz="1400" b="0" i="0">
                          <a:solidFill>
                            <a:srgbClr val="262626"/>
                          </a:solidFill>
                          <a:latin typeface="Arial"/>
                        </a:rPr>
                        <a:t>Beaugrand</a:t>
                      </a:r>
                    </a:p>
                  </a:txBody>
                  <a:tcPr>
                    <a:solidFill>
                      <a:srgbClr val="FFFFFF"/>
                    </a:solidFill>
                  </a:tcPr>
                </a:tc>
                <a:tc>
                  <a:txBody>
                    <a:bodyPr/>
                    <a:lstStyle/>
                    <a:p>
                      <a:pPr algn="ctr"/>
                      <a:r>
                        <a:rPr sz="1400" b="0" i="0">
                          <a:solidFill>
                            <a:srgbClr val="262626"/>
                          </a:solidFill>
                          <a:latin typeface="Arial"/>
                        </a:rPr>
                        <a:t>1:55:55</a:t>
                      </a:r>
                    </a:p>
                  </a:txBody>
                  <a:tcPr>
                    <a:solidFill>
                      <a:srgbClr val="FFFFFF"/>
                    </a:solidFill>
                  </a:tcPr>
                </a:tc>
                <a:tc>
                  <a:txBody>
                    <a:bodyPr/>
                    <a:lstStyle/>
                    <a:p>
                      <a:pPr algn="ctr"/>
                      <a:r>
                        <a:rPr sz="1400" b="0" i="0">
                          <a:solidFill>
                            <a:srgbClr val="262626"/>
                          </a:solidFill>
                          <a:latin typeface="Arial"/>
                        </a:rPr>
                        <a:t>28</a:t>
                      </a:r>
                    </a:p>
                  </a:txBody>
                  <a:tcPr>
                    <a:solidFill>
                      <a:srgbClr val="FFFFFF"/>
                    </a:solidFill>
                  </a:tcPr>
                </a:tc>
                <a:tc>
                  <a:txBody>
                    <a:bodyPr/>
                    <a:lstStyle/>
                    <a:p>
                      <a:pPr algn="ctr"/>
                      <a:r>
                        <a:rPr sz="1400" b="0" i="0">
                          <a:solidFill>
                            <a:srgbClr val="262626"/>
                          </a:solidFill>
                          <a:latin typeface="Arial"/>
                        </a:rPr>
                        <a:t>21.8</a:t>
                      </a:r>
                    </a:p>
                  </a:txBody>
                  <a:tcPr>
                    <a:solidFill>
                      <a:srgbClr val="FFFFFF"/>
                    </a:solidFill>
                  </a:tcPr>
                </a:tc>
                <a:tc>
                  <a:txBody>
                    <a:bodyPr/>
                    <a:lstStyle/>
                    <a:p>
                      <a:pPr algn="ctr"/>
                      <a:r>
                        <a:rPr sz="1400" b="0" i="0">
                          <a:solidFill>
                            <a:srgbClr val="262626"/>
                          </a:solidFill>
                          <a:latin typeface="Arial"/>
                        </a:rPr>
                        <a:t>1.50</a:t>
                      </a:r>
                    </a:p>
                  </a:txBody>
                  <a:tcPr>
                    <a:solidFill>
                      <a:srgbClr val="FFFFFF"/>
                    </a:solidFill>
                  </a:tcPr>
                </a:tc>
                <a:tc>
                  <a:txBody>
                    <a:bodyPr/>
                    <a:lstStyle/>
                    <a:p>
                      <a:pPr algn="ctr"/>
                      <a:r>
                        <a:rPr sz="1400" b="0" i="0">
                          <a:solidFill>
                            <a:srgbClr val="262626"/>
                          </a:solidFill>
                          <a:latin typeface="Arial"/>
                        </a:rPr>
                        <a:t>40.5</a:t>
                      </a:r>
                    </a:p>
                  </a:txBody>
                  <a:tcPr>
                    <a:solidFill>
                      <a:srgbClr val="FFFFFF"/>
                    </a:solidFill>
                  </a:tcPr>
                </a:tc>
                <a:tc>
                  <a:txBody>
                    <a:bodyPr/>
                    <a:lstStyle/>
                    <a:p>
                      <a:pPr algn="ctr"/>
                      <a:r>
                        <a:rPr sz="1400" b="0" i="0" dirty="0">
                          <a:solidFill>
                            <a:srgbClr val="262626"/>
                          </a:solidFill>
                          <a:latin typeface="Arial"/>
                        </a:rPr>
                        <a:t>10.0</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Exit Dynamics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143000"/>
            <a:ext cx="11640312" cy="5394960"/>
          </a:xfrm>
          <a:prstGeom prst="rect">
            <a:avLst/>
          </a:prstGeom>
        </p:spPr>
      </p:pic>
      <p:sp>
        <p:nvSpPr>
          <p:cNvPr id="9" name="TextBox 8">
            <a:extLst>
              <a:ext uri="{FF2B5EF4-FFF2-40B4-BE49-F238E27FC236}">
                <a16:creationId xmlns:a16="http://schemas.microsoft.com/office/drawing/2014/main" id="{B9E7EAFB-BA63-231C-F902-08DB1A2EDF7A}"/>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Pack Evolution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78992"/>
            <a:ext cx="11640312" cy="347472"/>
          </a:xfrm>
          <a:prstGeom prst="rect">
            <a:avLst/>
          </a:prstGeom>
          <a:noFill/>
        </p:spPr>
        <p:txBody>
          <a:bodyPr wrap="square">
            <a:spAutoFit/>
          </a:bodyPr>
          <a:lstStyle/>
          <a:p>
            <a:pPr algn="ctr"/>
            <a:r>
              <a:rPr sz="1050" b="0" i="1">
                <a:solidFill>
                  <a:srgbClr val="262626"/>
                </a:solidFill>
                <a:latin typeface="Arial"/>
              </a:rPr>
              <a:t>Lead pack = athletes within 15 sec of leader. T1 = lead group entering the bike; T2 = lead group exiting the bike.</a:t>
            </a:r>
          </a:p>
        </p:txBody>
      </p:sp>
      <p:pic>
        <p:nvPicPr>
          <p:cNvPr id="9" name="Picture 8" descr="image.png"/>
          <p:cNvPicPr>
            <a:picLocks noChangeAspect="1"/>
          </p:cNvPicPr>
          <p:nvPr/>
        </p:nvPicPr>
        <p:blipFill>
          <a:blip r:embed="rId3"/>
          <a:stretch>
            <a:fillRect/>
          </a:stretch>
        </p:blipFill>
        <p:spPr>
          <a:xfrm>
            <a:off x="274320" y="1481328"/>
            <a:ext cx="11640312" cy="3749039"/>
          </a:xfrm>
          <a:prstGeom prst="rect">
            <a:avLst/>
          </a:prstGeom>
        </p:spPr>
      </p:pic>
      <p:graphicFrame>
        <p:nvGraphicFramePr>
          <p:cNvPr id="10" name="Table 9"/>
          <p:cNvGraphicFramePr>
            <a:graphicFrameLocks noGrp="1"/>
          </p:cNvGraphicFramePr>
          <p:nvPr/>
        </p:nvGraphicFramePr>
        <p:xfrm>
          <a:off x="274320" y="5285232"/>
          <a:ext cx="11640311" cy="14173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3822191">
                  <a:extLst>
                    <a:ext uri="{9D8B030D-6E8A-4147-A177-3AD203B41FA5}">
                      <a16:colId xmlns:a16="http://schemas.microsoft.com/office/drawing/2014/main" val="20005"/>
                    </a:ext>
                  </a:extLst>
                </a:gridCol>
              </a:tblGrid>
              <a:tr h="708660">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Lead Size @ T1</a:t>
                      </a:r>
                    </a:p>
                  </a:txBody>
                  <a:tcPr>
                    <a:solidFill>
                      <a:srgbClr val="002060"/>
                    </a:solidFill>
                  </a:tcPr>
                </a:tc>
                <a:tc>
                  <a:txBody>
                    <a:bodyPr/>
                    <a:lstStyle/>
                    <a:p>
                      <a:pPr algn="ctr"/>
                      <a:r>
                        <a:rPr sz="1000" b="1" i="0">
                          <a:solidFill>
                            <a:srgbClr val="FFFFFF"/>
                          </a:solidFill>
                          <a:latin typeface="Arial"/>
                        </a:rPr>
                        <a:t>Lead Size @ T2</a:t>
                      </a:r>
                    </a:p>
                  </a:txBody>
                  <a:tcPr>
                    <a:solidFill>
                      <a:srgbClr val="002060"/>
                    </a:solidFill>
                  </a:tcPr>
                </a:tc>
                <a:tc>
                  <a:txBody>
                    <a:bodyPr/>
                    <a:lstStyle/>
                    <a:p>
                      <a:pPr algn="ctr"/>
                      <a:r>
                        <a:rPr sz="1000" b="1" i="0">
                          <a:solidFill>
                            <a:srgbClr val="FFFFFF"/>
                          </a:solidFill>
                          <a:latin typeface="Arial"/>
                        </a:rPr>
                        <a:t>Change</a:t>
                      </a:r>
                    </a:p>
                  </a:txBody>
                  <a:tcPr>
                    <a:solidFill>
                      <a:srgbClr val="002060"/>
                    </a:solidFill>
                  </a:tcPr>
                </a:tc>
                <a:tc>
                  <a:txBody>
                    <a:bodyPr/>
                    <a:lstStyle/>
                    <a:p>
                      <a:pPr algn="ctr"/>
                      <a:r>
                        <a:rPr sz="1000" b="1" i="0">
                          <a:solidFill>
                            <a:srgbClr val="FFFFFF"/>
                          </a:solidFill>
                          <a:latin typeface="Arial"/>
                        </a:rPr>
                        <a:t>Chase Group @ T2</a:t>
                      </a:r>
                    </a:p>
                  </a:txBody>
                  <a:tcPr>
                    <a:solidFill>
                      <a:srgbClr val="002060"/>
                    </a:solidFill>
                  </a:tcPr>
                </a:tc>
                <a:tc>
                  <a:txBody>
                    <a:bodyPr/>
                    <a:lstStyle/>
                    <a:p>
                      <a:pPr algn="ctr"/>
                      <a:r>
                        <a:rPr sz="1000" b="1" i="0">
                          <a:solidFill>
                            <a:srgbClr val="FFFFFF"/>
                          </a:solidFill>
                          <a:latin typeface="Arial"/>
                        </a:rPr>
                        <a:t>Chase Gap*</a:t>
                      </a:r>
                    </a:p>
                  </a:txBody>
                  <a:tcPr>
                    <a:solidFill>
                      <a:srgbClr val="002060"/>
                    </a:solidFill>
                  </a:tcPr>
                </a:tc>
                <a:extLst>
                  <a:ext uri="{0D108BD9-81ED-4DB2-BD59-A6C34878D82A}">
                    <a16:rowId xmlns:a16="http://schemas.microsoft.com/office/drawing/2014/main" val="10000"/>
                  </a:ext>
                </a:extLst>
              </a:tr>
              <a:tr h="708660">
                <a:tc>
                  <a:txBody>
                    <a:bodyPr/>
                    <a:lstStyle/>
                    <a:p>
                      <a:pPr algn="ctr"/>
                      <a:r>
                        <a:rPr sz="950" b="0" i="0">
                          <a:solidFill>
                            <a:srgbClr val="262626"/>
                          </a:solidFill>
                          <a:latin typeface="Arial"/>
                        </a:rPr>
                        <a:t>2025</a:t>
                      </a:r>
                    </a:p>
                  </a:txBody>
                  <a:tcPr>
                    <a:solidFill>
                      <a:srgbClr val="FFFFFF"/>
                    </a:solidFill>
                  </a:tcPr>
                </a:tc>
                <a:tc>
                  <a:txBody>
                    <a:bodyPr/>
                    <a:lstStyle/>
                    <a:p>
                      <a:pPr algn="ctr"/>
                      <a:r>
                        <a:rPr sz="950" b="0" i="0">
                          <a:solidFill>
                            <a:srgbClr val="262626"/>
                          </a:solidFill>
                          <a:latin typeface="Arial"/>
                        </a:rPr>
                        <a:t>7</a:t>
                      </a:r>
                    </a:p>
                  </a:txBody>
                  <a:tcPr>
                    <a:solidFill>
                      <a:srgbClr val="FFFFFF"/>
                    </a:solidFill>
                  </a:tcPr>
                </a:tc>
                <a:tc>
                  <a:txBody>
                    <a:bodyPr/>
                    <a:lstStyle/>
                    <a:p>
                      <a:pPr algn="ctr"/>
                      <a:r>
                        <a:rPr sz="950" b="0" i="0">
                          <a:solidFill>
                            <a:srgbClr val="262626"/>
                          </a:solidFill>
                          <a:latin typeface="Arial"/>
                        </a:rPr>
                        <a:t>6</a:t>
                      </a:r>
                    </a:p>
                  </a:txBody>
                  <a:tcPr>
                    <a:solidFill>
                      <a:srgbClr val="FFFFFF"/>
                    </a:solidFill>
                  </a:tcPr>
                </a:tc>
                <a:tc>
                  <a:txBody>
                    <a:bodyPr/>
                    <a:lstStyle/>
                    <a:p>
                      <a:pPr algn="ctr"/>
                      <a:r>
                        <a:rPr sz="950" b="0" i="0">
                          <a:solidFill>
                            <a:srgbClr val="262626"/>
                          </a:solidFill>
                          <a:latin typeface="Arial"/>
                        </a:rPr>
                        <a:t>-1</a:t>
                      </a:r>
                    </a:p>
                  </a:txBody>
                  <a:tcPr>
                    <a:solidFill>
                      <a:srgbClr val="FFFFFF"/>
                    </a:solidFill>
                  </a:tcPr>
                </a:tc>
                <a:tc>
                  <a:txBody>
                    <a:bodyPr/>
                    <a:lstStyle/>
                    <a:p>
                      <a:pPr algn="ctr"/>
                      <a:r>
                        <a:rPr sz="950" b="0" i="0">
                          <a:solidFill>
                            <a:srgbClr val="262626"/>
                          </a:solidFill>
                          <a:latin typeface="Arial"/>
                        </a:rPr>
                        <a:t>21</a:t>
                      </a:r>
                    </a:p>
                  </a:txBody>
                  <a:tcPr>
                    <a:solidFill>
                      <a:srgbClr val="FFFFFF"/>
                    </a:solidFill>
                  </a:tcPr>
                </a:tc>
                <a:tc>
                  <a:txBody>
                    <a:bodyPr/>
                    <a:lstStyle/>
                    <a:p>
                      <a:pPr algn="ctr"/>
                      <a:r>
                        <a:rPr sz="950" b="0" i="0">
                          <a:solidFill>
                            <a:srgbClr val="262626"/>
                          </a:solidFill>
                          <a:latin typeface="Arial"/>
                        </a:rPr>
                        <a:t>142s</a:t>
                      </a:r>
                    </a:p>
                  </a:txBody>
                  <a:tcPr>
                    <a:solidFill>
                      <a:srgbClr val="FFFFFF"/>
                    </a:solidFill>
                  </a:tcPr>
                </a:tc>
                <a:extLst>
                  <a:ext uri="{0D108BD9-81ED-4DB2-BD59-A6C34878D82A}">
                    <a16:rowId xmlns:a16="http://schemas.microsoft.com/office/drawing/2014/main" val="10001"/>
                  </a:ext>
                </a:extLst>
              </a:tr>
            </a:tbl>
          </a:graphicData>
        </a:graphic>
      </p:graphicFrame>
      <p:sp>
        <p:nvSpPr>
          <p:cNvPr id="12" name="TextBox 11">
            <a:extLst>
              <a:ext uri="{FF2B5EF4-FFF2-40B4-BE49-F238E27FC236}">
                <a16:creationId xmlns:a16="http://schemas.microsoft.com/office/drawing/2014/main" id="{414BA9B8-983C-5017-18FB-AE26E5DF75E2}"/>
              </a:ext>
            </a:extLst>
          </p:cNvPr>
          <p:cNvSpPr txBox="1"/>
          <p:nvPr/>
        </p:nvSpPr>
        <p:spPr>
          <a:xfrm>
            <a:off x="274320" y="6387592"/>
            <a:ext cx="11640312" cy="215444"/>
          </a:xfrm>
          <a:prstGeom prst="rect">
            <a:avLst/>
          </a:prstGeom>
          <a:noFill/>
        </p:spPr>
        <p:txBody>
          <a:bodyPr wrap="square">
            <a:spAutoFit/>
          </a:bodyPr>
          <a:lstStyle/>
          <a:p>
            <a:pPr algn="l"/>
            <a:r>
              <a:rPr sz="800" b="0" i="1" dirty="0">
                <a:solidFill>
                  <a:srgbClr val="BFBFBF"/>
                </a:solidFill>
                <a:latin typeface="Arial"/>
              </a:rPr>
              <a:t>Lead pack = athletes within 15 sec of leader. Chase group = athletes within 15 sec of the first athlete outside the lead pack. * Chase Gap = seconds from the last lead-pack athlete to the first chase-group athlete at T2.</a:t>
            </a:r>
            <a:r>
              <a:rPr lang="en-US" sz="800" b="0" i="1" dirty="0">
                <a:solidFill>
                  <a:srgbClr val="BFBFBF"/>
                </a:solidFill>
                <a:latin typeface="Arial"/>
              </a:rPr>
              <a:t> Only includes athletes that finished</a:t>
            </a:r>
            <a:endParaRPr sz="800" b="0" i="1" dirty="0">
              <a:solidFill>
                <a:srgbClr val="BFBFBF"/>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Split Analysis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457200" y="1115568"/>
            <a:ext cx="11247120" cy="5440680"/>
          </a:xfrm>
          <a:prstGeom prst="rect">
            <a:avLst/>
          </a:prstGeom>
        </p:spPr>
      </p:pic>
      <p:sp>
        <p:nvSpPr>
          <p:cNvPr id="9" name="TextBox 8">
            <a:extLst>
              <a:ext uri="{FF2B5EF4-FFF2-40B4-BE49-F238E27FC236}">
                <a16:creationId xmlns:a16="http://schemas.microsoft.com/office/drawing/2014/main" id="{6118C9EF-3F45-B5B5-21CA-86F40351BFF6}"/>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Position Times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274320" y="1078992"/>
            <a:ext cx="11640312" cy="3017520"/>
          </a:xfrm>
          <a:prstGeom prst="rect">
            <a:avLst/>
          </a:prstGeom>
        </p:spPr>
      </p:pic>
      <p:graphicFrame>
        <p:nvGraphicFramePr>
          <p:cNvPr id="9" name="Table 8"/>
          <p:cNvGraphicFramePr>
            <a:graphicFrameLocks noGrp="1"/>
          </p:cNvGraphicFramePr>
          <p:nvPr/>
        </p:nvGraphicFramePr>
        <p:xfrm>
          <a:off x="274320" y="4187952"/>
          <a:ext cx="11640312" cy="69799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1833372">
                  <a:extLst>
                    <a:ext uri="{9D8B030D-6E8A-4147-A177-3AD203B41FA5}">
                      <a16:colId xmlns:a16="http://schemas.microsoft.com/office/drawing/2014/main" val="20001"/>
                    </a:ext>
                  </a:extLst>
                </a:gridCol>
                <a:gridCol w="1833372">
                  <a:extLst>
                    <a:ext uri="{9D8B030D-6E8A-4147-A177-3AD203B41FA5}">
                      <a16:colId xmlns:a16="http://schemas.microsoft.com/office/drawing/2014/main" val="20002"/>
                    </a:ext>
                  </a:extLst>
                </a:gridCol>
                <a:gridCol w="1833372">
                  <a:extLst>
                    <a:ext uri="{9D8B030D-6E8A-4147-A177-3AD203B41FA5}">
                      <a16:colId xmlns:a16="http://schemas.microsoft.com/office/drawing/2014/main" val="20003"/>
                    </a:ext>
                  </a:extLst>
                </a:gridCol>
                <a:gridCol w="1833372">
                  <a:extLst>
                    <a:ext uri="{9D8B030D-6E8A-4147-A177-3AD203B41FA5}">
                      <a16:colId xmlns:a16="http://schemas.microsoft.com/office/drawing/2014/main" val="20004"/>
                    </a:ext>
                  </a:extLst>
                </a:gridCol>
                <a:gridCol w="1833372">
                  <a:extLst>
                    <a:ext uri="{9D8B030D-6E8A-4147-A177-3AD203B41FA5}">
                      <a16:colId xmlns:a16="http://schemas.microsoft.com/office/drawing/2014/main" val="20005"/>
                    </a:ext>
                  </a:extLst>
                </a:gridCol>
                <a:gridCol w="1833372">
                  <a:extLst>
                    <a:ext uri="{9D8B030D-6E8A-4147-A177-3AD203B41FA5}">
                      <a16:colId xmlns:a16="http://schemas.microsoft.com/office/drawing/2014/main" val="20006"/>
                    </a:ext>
                  </a:extLst>
                </a:gridCol>
              </a:tblGrid>
              <a:tr h="347472">
                <a:tc>
                  <a:txBody>
                    <a:bodyPr/>
                    <a:lstStyle/>
                    <a:p>
                      <a:pPr algn="ctr"/>
                      <a:r>
                        <a:rPr sz="1000" b="1" i="0">
                          <a:solidFill>
                            <a:srgbClr val="FFFFFF"/>
                          </a:solidFill>
                          <a:latin typeface="Arial"/>
                        </a:rPr>
                        <a:t>Year</a:t>
                      </a:r>
                    </a:p>
                  </a:txBody>
                  <a:tcPr>
                    <a:solidFill>
                      <a:srgbClr val="002060"/>
                    </a:solidFill>
                  </a:tcPr>
                </a:tc>
                <a:tc>
                  <a:txBody>
                    <a:bodyPr/>
                    <a:lstStyle/>
                    <a:p>
                      <a:pPr algn="ctr"/>
                      <a:r>
                        <a:rPr sz="1000" b="1" i="0">
                          <a:solidFill>
                            <a:srgbClr val="FFFFFF"/>
                          </a:solidFill>
                          <a:latin typeface="Arial"/>
                        </a:rPr>
                        <a:t>1st</a:t>
                      </a:r>
                    </a:p>
                  </a:txBody>
                  <a:tcPr>
                    <a:solidFill>
                      <a:srgbClr val="002060"/>
                    </a:solidFill>
                  </a:tcPr>
                </a:tc>
                <a:tc>
                  <a:txBody>
                    <a:bodyPr/>
                    <a:lstStyle/>
                    <a:p>
                      <a:pPr algn="ctr"/>
                      <a:r>
                        <a:rPr sz="1000" b="1" i="0">
                          <a:solidFill>
                            <a:srgbClr val="FFFFFF"/>
                          </a:solidFill>
                          <a:latin typeface="Arial"/>
                        </a:rPr>
                        <a:t>2nd</a:t>
                      </a:r>
                    </a:p>
                  </a:txBody>
                  <a:tcPr>
                    <a:solidFill>
                      <a:srgbClr val="002060"/>
                    </a:solidFill>
                  </a:tcPr>
                </a:tc>
                <a:tc>
                  <a:txBody>
                    <a:bodyPr/>
                    <a:lstStyle/>
                    <a:p>
                      <a:pPr algn="ctr"/>
                      <a:r>
                        <a:rPr sz="1000" b="1" i="0">
                          <a:solidFill>
                            <a:srgbClr val="FFFFFF"/>
                          </a:solidFill>
                          <a:latin typeface="Arial"/>
                        </a:rPr>
                        <a:t>3rd</a:t>
                      </a:r>
                    </a:p>
                  </a:txBody>
                  <a:tcPr>
                    <a:solidFill>
                      <a:srgbClr val="002060"/>
                    </a:solidFill>
                  </a:tcPr>
                </a:tc>
                <a:tc>
                  <a:txBody>
                    <a:bodyPr/>
                    <a:lstStyle/>
                    <a:p>
                      <a:pPr algn="ctr"/>
                      <a:r>
                        <a:rPr sz="1000" b="1" i="0">
                          <a:solidFill>
                            <a:srgbClr val="FFFFFF"/>
                          </a:solidFill>
                          <a:latin typeface="Arial"/>
                        </a:rPr>
                        <a:t>5th</a:t>
                      </a:r>
                    </a:p>
                  </a:txBody>
                  <a:tcPr>
                    <a:solidFill>
                      <a:srgbClr val="002060"/>
                    </a:solidFill>
                  </a:tcPr>
                </a:tc>
                <a:tc>
                  <a:txBody>
                    <a:bodyPr/>
                    <a:lstStyle/>
                    <a:p>
                      <a:pPr algn="ctr"/>
                      <a:r>
                        <a:rPr sz="1000" b="1" i="0">
                          <a:solidFill>
                            <a:srgbClr val="FFFFFF"/>
                          </a:solidFill>
                          <a:latin typeface="Arial"/>
                        </a:rPr>
                        <a:t>10th</a:t>
                      </a:r>
                    </a:p>
                  </a:txBody>
                  <a:tcPr>
                    <a:solidFill>
                      <a:srgbClr val="002060"/>
                    </a:solidFill>
                  </a:tcPr>
                </a:tc>
                <a:tc>
                  <a:txBody>
                    <a:bodyPr/>
                    <a:lstStyle/>
                    <a:p>
                      <a:pPr algn="ctr"/>
                      <a:r>
                        <a:rPr sz="1000" b="1" i="0">
                          <a:solidFill>
                            <a:srgbClr val="FFFFFF"/>
                          </a:solidFill>
                          <a:latin typeface="Arial"/>
                        </a:rPr>
                        <a:t>20th</a:t>
                      </a:r>
                    </a:p>
                  </a:txBody>
                  <a:tcPr>
                    <a:solidFill>
                      <a:srgbClr val="002060"/>
                    </a:solidFill>
                  </a:tcPr>
                </a:tc>
                <a:extLst>
                  <a:ext uri="{0D108BD9-81ED-4DB2-BD59-A6C34878D82A}">
                    <a16:rowId xmlns:a16="http://schemas.microsoft.com/office/drawing/2014/main" val="10000"/>
                  </a:ext>
                </a:extLst>
              </a:tr>
              <a:tr h="347472">
                <a:tc>
                  <a:txBody>
                    <a:bodyPr/>
                    <a:lstStyle/>
                    <a:p>
                      <a:pPr algn="ctr"/>
                      <a:r>
                        <a:rPr sz="1000" b="1" i="0">
                          <a:solidFill>
                            <a:srgbClr val="262626"/>
                          </a:solidFill>
                          <a:latin typeface="Arial"/>
                        </a:rPr>
                        <a:t>2025</a:t>
                      </a:r>
                    </a:p>
                  </a:txBody>
                  <a:tcPr>
                    <a:solidFill>
                      <a:srgbClr val="FFFFFF"/>
                    </a:solidFill>
                  </a:tcPr>
                </a:tc>
                <a:tc>
                  <a:txBody>
                    <a:bodyPr/>
                    <a:lstStyle/>
                    <a:p>
                      <a:pPr algn="ctr"/>
                      <a:r>
                        <a:rPr sz="850" b="0" i="0">
                          <a:solidFill>
                            <a:srgbClr val="262626"/>
                          </a:solidFill>
                          <a:latin typeface="Arial"/>
                        </a:rPr>
                        <a:t>1:55:55</a:t>
                      </a:r>
                    </a:p>
                  </a:txBody>
                  <a:tcPr>
                    <a:solidFill>
                      <a:srgbClr val="FFFFFF"/>
                    </a:solidFill>
                  </a:tcPr>
                </a:tc>
                <a:tc>
                  <a:txBody>
                    <a:bodyPr/>
                    <a:lstStyle/>
                    <a:p>
                      <a:pPr algn="ctr"/>
                      <a:r>
                        <a:rPr sz="850" b="0" i="0">
                          <a:solidFill>
                            <a:srgbClr val="262626"/>
                          </a:solidFill>
                          <a:latin typeface="Arial"/>
                        </a:rPr>
                        <a:t>1:56:33
+38s</a:t>
                      </a:r>
                    </a:p>
                  </a:txBody>
                  <a:tcPr>
                    <a:solidFill>
                      <a:srgbClr val="FFFFFF"/>
                    </a:solidFill>
                  </a:tcPr>
                </a:tc>
                <a:tc>
                  <a:txBody>
                    <a:bodyPr/>
                    <a:lstStyle/>
                    <a:p>
                      <a:pPr algn="ctr"/>
                      <a:r>
                        <a:rPr sz="850" b="0" i="0">
                          <a:solidFill>
                            <a:srgbClr val="262626"/>
                          </a:solidFill>
                          <a:latin typeface="Arial"/>
                        </a:rPr>
                        <a:t>1:57:04
+69s</a:t>
                      </a:r>
                    </a:p>
                  </a:txBody>
                  <a:tcPr>
                    <a:solidFill>
                      <a:srgbClr val="FFFFFF"/>
                    </a:solidFill>
                  </a:tcPr>
                </a:tc>
                <a:tc>
                  <a:txBody>
                    <a:bodyPr/>
                    <a:lstStyle/>
                    <a:p>
                      <a:pPr algn="ctr"/>
                      <a:r>
                        <a:rPr sz="850" b="0" i="0">
                          <a:solidFill>
                            <a:srgbClr val="262626"/>
                          </a:solidFill>
                          <a:latin typeface="Arial"/>
                        </a:rPr>
                        <a:t>1:57:59
+124s</a:t>
                      </a:r>
                    </a:p>
                  </a:txBody>
                  <a:tcPr>
                    <a:solidFill>
                      <a:srgbClr val="FFFFFF"/>
                    </a:solidFill>
                  </a:tcPr>
                </a:tc>
                <a:tc>
                  <a:txBody>
                    <a:bodyPr/>
                    <a:lstStyle/>
                    <a:p>
                      <a:pPr algn="ctr"/>
                      <a:r>
                        <a:rPr sz="850" b="0" i="0">
                          <a:solidFill>
                            <a:srgbClr val="262626"/>
                          </a:solidFill>
                          <a:latin typeface="Arial"/>
                        </a:rPr>
                        <a:t>1:58:52
+177s</a:t>
                      </a:r>
                    </a:p>
                  </a:txBody>
                  <a:tcPr>
                    <a:solidFill>
                      <a:srgbClr val="FFFFFF"/>
                    </a:solidFill>
                  </a:tcPr>
                </a:tc>
                <a:tc>
                  <a:txBody>
                    <a:bodyPr/>
                    <a:lstStyle/>
                    <a:p>
                      <a:pPr algn="ctr"/>
                      <a:r>
                        <a:rPr sz="850" b="0" i="0">
                          <a:solidFill>
                            <a:srgbClr val="262626"/>
                          </a:solidFill>
                          <a:latin typeface="Arial"/>
                        </a:rPr>
                        <a:t>2:00:10
+255s</a:t>
                      </a:r>
                    </a:p>
                  </a:txBody>
                  <a:tcPr>
                    <a:solidFill>
                      <a:srgbClr val="FFFFFF"/>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C3714A51-D543-C6B6-BDCB-5D81688CB304}"/>
              </a:ext>
            </a:extLst>
          </p:cNvPr>
          <p:cNvSpPr txBox="1"/>
          <p:nvPr/>
        </p:nvSpPr>
        <p:spPr>
          <a:xfrm>
            <a:off x="274320" y="6528816"/>
            <a:ext cx="11704320" cy="144655"/>
          </a:xfrm>
          <a:prstGeom prst="rect">
            <a:avLst/>
          </a:prstGeom>
          <a:noFill/>
        </p:spPr>
        <p:txBody>
          <a:bodyPr wrap="square" lIns="36576" tIns="18288" rIns="36576" bIns="18288">
            <a:spAutoFit/>
          </a:bodyPr>
          <a:lstStyle/>
          <a:p>
            <a:r>
              <a:rPr lang="en-US" sz="700" b="0" dirty="0">
                <a:solidFill>
                  <a:srgbClr val="606670"/>
                </a:solidFill>
                <a:latin typeface="Aptos"/>
              </a:rPr>
              <a:t>All stats only include athletes that finished the race</a:t>
            </a:r>
            <a:endParaRPr sz="700" b="0" dirty="0">
              <a:solidFill>
                <a:srgbClr val="606670"/>
              </a:solidFill>
              <a:latin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Conditions  —  Elite Women</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Alghero</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74320" y="1143000"/>
          <a:ext cx="11640307" cy="914400"/>
        </p:xfrm>
        <a:graphic>
          <a:graphicData uri="http://schemas.openxmlformats.org/drawingml/2006/table">
            <a:tbl>
              <a:tblPr firstRow="1" bandRow="1">
                <a:tableStyleId>{5C22544A-7EE6-4342-B048-85BDC9FD1C3A}</a:tableStyleId>
              </a:tblPr>
              <a:tblGrid>
                <a:gridCol w="591571">
                  <a:extLst>
                    <a:ext uri="{9D8B030D-6E8A-4147-A177-3AD203B41FA5}">
                      <a16:colId xmlns:a16="http://schemas.microsoft.com/office/drawing/2014/main" val="20000"/>
                    </a:ext>
                  </a:extLst>
                </a:gridCol>
                <a:gridCol w="864604">
                  <a:extLst>
                    <a:ext uri="{9D8B030D-6E8A-4147-A177-3AD203B41FA5}">
                      <a16:colId xmlns:a16="http://schemas.microsoft.com/office/drawing/2014/main" val="20001"/>
                    </a:ext>
                  </a:extLst>
                </a:gridCol>
                <a:gridCol w="910110">
                  <a:extLst>
                    <a:ext uri="{9D8B030D-6E8A-4147-A177-3AD203B41FA5}">
                      <a16:colId xmlns:a16="http://schemas.microsoft.com/office/drawing/2014/main" val="20002"/>
                    </a:ext>
                  </a:extLst>
                </a:gridCol>
                <a:gridCol w="819099">
                  <a:extLst>
                    <a:ext uri="{9D8B030D-6E8A-4147-A177-3AD203B41FA5}">
                      <a16:colId xmlns:a16="http://schemas.microsoft.com/office/drawing/2014/main" val="20003"/>
                    </a:ext>
                  </a:extLst>
                </a:gridCol>
                <a:gridCol w="910110">
                  <a:extLst>
                    <a:ext uri="{9D8B030D-6E8A-4147-A177-3AD203B41FA5}">
                      <a16:colId xmlns:a16="http://schemas.microsoft.com/office/drawing/2014/main" val="20004"/>
                    </a:ext>
                  </a:extLst>
                </a:gridCol>
                <a:gridCol w="864604">
                  <a:extLst>
                    <a:ext uri="{9D8B030D-6E8A-4147-A177-3AD203B41FA5}">
                      <a16:colId xmlns:a16="http://schemas.microsoft.com/office/drawing/2014/main" val="20005"/>
                    </a:ext>
                  </a:extLst>
                </a:gridCol>
                <a:gridCol w="864604">
                  <a:extLst>
                    <a:ext uri="{9D8B030D-6E8A-4147-A177-3AD203B41FA5}">
                      <a16:colId xmlns:a16="http://schemas.microsoft.com/office/drawing/2014/main" val="20006"/>
                    </a:ext>
                  </a:extLst>
                </a:gridCol>
                <a:gridCol w="819099">
                  <a:extLst>
                    <a:ext uri="{9D8B030D-6E8A-4147-A177-3AD203B41FA5}">
                      <a16:colId xmlns:a16="http://schemas.microsoft.com/office/drawing/2014/main" val="20007"/>
                    </a:ext>
                  </a:extLst>
                </a:gridCol>
                <a:gridCol w="4996506">
                  <a:extLst>
                    <a:ext uri="{9D8B030D-6E8A-4147-A177-3AD203B41FA5}">
                      <a16:colId xmlns:a16="http://schemas.microsoft.com/office/drawing/2014/main" val="20008"/>
                    </a:ext>
                  </a:extLst>
                </a:gridCol>
              </a:tblGrid>
              <a:tr h="457200">
                <a:tc>
                  <a:txBody>
                    <a:bodyPr/>
                    <a:lstStyle/>
                    <a:p>
                      <a:pPr algn="ctr"/>
                      <a:r>
                        <a:rPr sz="1200" b="1" i="0">
                          <a:solidFill>
                            <a:srgbClr val="FFFFFF"/>
                          </a:solidFill>
                          <a:latin typeface="Arial"/>
                        </a:rPr>
                        <a:t>Year</a:t>
                      </a:r>
                    </a:p>
                  </a:txBody>
                  <a:tcPr>
                    <a:solidFill>
                      <a:srgbClr val="002060"/>
                    </a:solidFill>
                  </a:tcPr>
                </a:tc>
                <a:tc>
                  <a:txBody>
                    <a:bodyPr/>
                    <a:lstStyle/>
                    <a:p>
                      <a:pPr algn="ctr"/>
                      <a:r>
                        <a:rPr sz="1200" b="1" i="0">
                          <a:solidFill>
                            <a:srgbClr val="FFFFFF"/>
                          </a:solidFill>
                          <a:latin typeface="Arial"/>
                        </a:rPr>
                        <a:t>Date</a:t>
                      </a:r>
                    </a:p>
                  </a:txBody>
                  <a:tcPr>
                    <a:solidFill>
                      <a:srgbClr val="002060"/>
                    </a:solidFill>
                  </a:tcPr>
                </a:tc>
                <a:tc>
                  <a:txBody>
                    <a:bodyPr/>
                    <a:lstStyle/>
                    <a:p>
                      <a:pPr algn="ctr"/>
                      <a:r>
                        <a:rPr sz="1200" b="1" i="0">
                          <a:solidFill>
                            <a:srgbClr val="FFFFFF"/>
                          </a:solidFill>
                          <a:latin typeface="Arial"/>
                        </a:rPr>
                        <a:t>Air Temp</a:t>
                      </a:r>
                    </a:p>
                  </a:txBody>
                  <a:tcPr>
                    <a:solidFill>
                      <a:srgbClr val="002060"/>
                    </a:solidFill>
                  </a:tcPr>
                </a:tc>
                <a:tc>
                  <a:txBody>
                    <a:bodyPr/>
                    <a:lstStyle/>
                    <a:p>
                      <a:pPr algn="ctr"/>
                      <a:r>
                        <a:rPr sz="1200" b="1" i="0">
                          <a:solidFill>
                            <a:srgbClr val="FFFFFF"/>
                          </a:solidFill>
                          <a:latin typeface="Arial"/>
                        </a:rPr>
                        <a:t>Humidity</a:t>
                      </a:r>
                    </a:p>
                  </a:txBody>
                  <a:tcPr>
                    <a:solidFill>
                      <a:srgbClr val="002060"/>
                    </a:solidFill>
                  </a:tcPr>
                </a:tc>
                <a:tc>
                  <a:txBody>
                    <a:bodyPr/>
                    <a:lstStyle/>
                    <a:p>
                      <a:pPr algn="ctr"/>
                      <a:r>
                        <a:rPr sz="1200" b="1" i="0">
                          <a:solidFill>
                            <a:srgbClr val="FFFFFF"/>
                          </a:solidFill>
                          <a:latin typeface="Arial"/>
                        </a:rPr>
                        <a:t>Wind (km/h)</a:t>
                      </a:r>
                    </a:p>
                  </a:txBody>
                  <a:tcPr>
                    <a:solidFill>
                      <a:srgbClr val="002060"/>
                    </a:solidFill>
                  </a:tcPr>
                </a:tc>
                <a:tc>
                  <a:txBody>
                    <a:bodyPr/>
                    <a:lstStyle/>
                    <a:p>
                      <a:pPr algn="ctr"/>
                      <a:r>
                        <a:rPr sz="1200" b="1" i="0">
                          <a:solidFill>
                            <a:srgbClr val="FFFFFF"/>
                          </a:solidFill>
                          <a:latin typeface="Arial"/>
                        </a:rPr>
                        <a:t>Precip (mm)</a:t>
                      </a:r>
                    </a:p>
                  </a:txBody>
                  <a:tcPr>
                    <a:solidFill>
                      <a:srgbClr val="002060"/>
                    </a:solidFill>
                  </a:tcPr>
                </a:tc>
                <a:tc>
                  <a:txBody>
                    <a:bodyPr/>
                    <a:lstStyle/>
                    <a:p>
                      <a:pPr algn="ctr"/>
                      <a:r>
                        <a:rPr sz="1200" b="1" i="0">
                          <a:solidFill>
                            <a:srgbClr val="FFFFFF"/>
                          </a:solidFill>
                          <a:latin typeface="Arial"/>
                        </a:rPr>
                        <a:t>Water Temp</a:t>
                      </a:r>
                    </a:p>
                  </a:txBody>
                  <a:tcPr>
                    <a:solidFill>
                      <a:srgbClr val="002060"/>
                    </a:solidFill>
                  </a:tcPr>
                </a:tc>
                <a:tc>
                  <a:txBody>
                    <a:bodyPr/>
                    <a:lstStyle/>
                    <a:p>
                      <a:pPr algn="ctr"/>
                      <a:r>
                        <a:rPr sz="1200" b="1" i="0">
                          <a:solidFill>
                            <a:srgbClr val="FFFFFF"/>
                          </a:solidFill>
                          <a:latin typeface="Arial"/>
                        </a:rPr>
                        <a:t>Wetsuit</a:t>
                      </a:r>
                    </a:p>
                  </a:txBody>
                  <a:tcPr>
                    <a:solidFill>
                      <a:srgbClr val="002060"/>
                    </a:solidFill>
                  </a:tcPr>
                </a:tc>
                <a:tc>
                  <a:txBody>
                    <a:bodyPr/>
                    <a:lstStyle/>
                    <a:p>
                      <a:pPr algn="ctr"/>
                      <a:r>
                        <a:rPr sz="1200" b="1" i="0">
                          <a:solidFill>
                            <a:srgbClr val="FFFFFF"/>
                          </a:solidFill>
                          <a:latin typeface="Arial"/>
                        </a:rPr>
                        <a:t>Conditions</a:t>
                      </a:r>
                    </a:p>
                  </a:txBody>
                  <a:tcPr>
                    <a:solidFill>
                      <a:srgbClr val="002060"/>
                    </a:solidFill>
                  </a:tcPr>
                </a:tc>
                <a:extLst>
                  <a:ext uri="{0D108BD9-81ED-4DB2-BD59-A6C34878D82A}">
                    <a16:rowId xmlns:a16="http://schemas.microsoft.com/office/drawing/2014/main" val="10000"/>
                  </a:ext>
                </a:extLst>
              </a:tr>
              <a:tr h="457200">
                <a:tc>
                  <a:txBody>
                    <a:bodyPr/>
                    <a:lstStyle/>
                    <a:p>
                      <a:pPr algn="ctr"/>
                      <a:r>
                        <a:rPr sz="1000" b="0" i="0">
                          <a:solidFill>
                            <a:srgbClr val="262626"/>
                          </a:solidFill>
                          <a:latin typeface="Arial"/>
                        </a:rPr>
                        <a:t>2025</a:t>
                      </a:r>
                    </a:p>
                  </a:txBody>
                  <a:tcPr>
                    <a:solidFill>
                      <a:srgbClr val="FFFFFF"/>
                    </a:solidFill>
                  </a:tcPr>
                </a:tc>
                <a:tc>
                  <a:txBody>
                    <a:bodyPr/>
                    <a:lstStyle/>
                    <a:p>
                      <a:pPr algn="ctr"/>
                      <a:r>
                        <a:rPr sz="1000" b="0" i="0">
                          <a:solidFill>
                            <a:srgbClr val="262626"/>
                          </a:solidFill>
                          <a:latin typeface="Arial"/>
                        </a:rPr>
                        <a:t>May 31</a:t>
                      </a:r>
                    </a:p>
                  </a:txBody>
                  <a:tcPr>
                    <a:solidFill>
                      <a:srgbClr val="FFFFFF"/>
                    </a:solidFill>
                  </a:tcPr>
                </a:tc>
                <a:tc>
                  <a:txBody>
                    <a:bodyPr/>
                    <a:lstStyle/>
                    <a:p>
                      <a:pPr algn="ctr"/>
                      <a:r>
                        <a:rPr sz="1000" b="0" i="0">
                          <a:solidFill>
                            <a:srgbClr val="262626"/>
                          </a:solidFill>
                          <a:latin typeface="Arial"/>
                        </a:rPr>
                        <a:t>28</a:t>
                      </a:r>
                    </a:p>
                  </a:txBody>
                  <a:tcPr>
                    <a:solidFill>
                      <a:srgbClr val="FFFFFF"/>
                    </a:solidFill>
                  </a:tcPr>
                </a:tc>
                <a:tc>
                  <a:txBody>
                    <a:bodyPr/>
                    <a:lstStyle/>
                    <a:p>
                      <a:pPr algn="ctr"/>
                      <a:r>
                        <a:rPr sz="1000" b="0" i="0">
                          <a:solidFill>
                            <a:srgbClr val="262626"/>
                          </a:solidFill>
                          <a:latin typeface="Arial"/>
                        </a:rPr>
                        <a:t>72%</a:t>
                      </a:r>
                    </a:p>
                  </a:txBody>
                  <a:tcPr>
                    <a:solidFill>
                      <a:srgbClr val="FFFFFF"/>
                    </a:solidFill>
                  </a:tcPr>
                </a:tc>
                <a:tc>
                  <a:txBody>
                    <a:bodyPr/>
                    <a:lstStyle/>
                    <a:p>
                      <a:pPr algn="ctr"/>
                      <a:r>
                        <a:rPr sz="1000" b="0" i="0">
                          <a:solidFill>
                            <a:srgbClr val="262626"/>
                          </a:solidFill>
                          <a:latin typeface="Arial"/>
                        </a:rPr>
                        <a:t>9</a:t>
                      </a:r>
                    </a:p>
                  </a:txBody>
                  <a:tcPr>
                    <a:solidFill>
                      <a:srgbClr val="FFFFFF"/>
                    </a:solidFill>
                  </a:tcPr>
                </a:tc>
                <a:tc>
                  <a:txBody>
                    <a:bodyPr/>
                    <a:lstStyle/>
                    <a:p>
                      <a:pPr algn="ctr"/>
                      <a:r>
                        <a:rPr sz="1000" b="0" i="0">
                          <a:solidFill>
                            <a:srgbClr val="262626"/>
                          </a:solidFill>
                          <a:latin typeface="Arial"/>
                        </a:rPr>
                        <a:t>0.0</a:t>
                      </a:r>
                    </a:p>
                  </a:txBody>
                  <a:tcPr>
                    <a:solidFill>
                      <a:srgbClr val="FFFFFF"/>
                    </a:solidFill>
                  </a:tcPr>
                </a:tc>
                <a:tc>
                  <a:txBody>
                    <a:bodyPr/>
                    <a:lstStyle/>
                    <a:p>
                      <a:pPr algn="ctr"/>
                      <a:r>
                        <a:rPr sz="1000" b="0" i="0">
                          <a:solidFill>
                            <a:srgbClr val="262626"/>
                          </a:solidFill>
                          <a:latin typeface="Arial"/>
                        </a:rPr>
                        <a:t>21.8</a:t>
                      </a:r>
                    </a:p>
                  </a:txBody>
                  <a:tcPr>
                    <a:solidFill>
                      <a:srgbClr val="FFFFFF"/>
                    </a:solidFill>
                  </a:tcPr>
                </a:tc>
                <a:tc>
                  <a:txBody>
                    <a:bodyPr/>
                    <a:lstStyle/>
                    <a:p>
                      <a:pPr algn="ctr"/>
                      <a:r>
                        <a:rPr sz="1000" b="0" i="0">
                          <a:solidFill>
                            <a:srgbClr val="262626"/>
                          </a:solidFill>
                          <a:latin typeface="Arial"/>
                        </a:rPr>
                        <a:t>forbidden</a:t>
                      </a:r>
                    </a:p>
                  </a:txBody>
                  <a:tcPr>
                    <a:solidFill>
                      <a:srgbClr val="FFFFFF"/>
                    </a:solidFill>
                  </a:tcPr>
                </a:tc>
                <a:tc>
                  <a:txBody>
                    <a:bodyPr/>
                    <a:lstStyle/>
                    <a:p>
                      <a:pPr algn="l"/>
                      <a:r>
                        <a:rPr sz="1000" b="0" i="0">
                          <a:solidFill>
                            <a:srgbClr val="262626"/>
                          </a:solidFill>
                          <a:latin typeface="Arial"/>
                        </a:rPr>
                        <a:t>—</a:t>
                      </a:r>
                    </a:p>
                  </a:txBody>
                  <a:tcPr>
                    <a:solidFill>
                      <a:srgbClr val="FFFFFF"/>
                    </a:solidFill>
                  </a:tcPr>
                </a:tc>
                <a:extLst>
                  <a:ext uri="{0D108BD9-81ED-4DB2-BD59-A6C34878D82A}">
                    <a16:rowId xmlns:a16="http://schemas.microsoft.com/office/drawing/2014/main" val="10001"/>
                  </a:ext>
                </a:extLst>
              </a:tr>
            </a:tbl>
          </a:graphicData>
        </a:graphic>
      </p:graphicFrame>
      <p:sp>
        <p:nvSpPr>
          <p:cNvPr id="9" name="TextBox 8"/>
          <p:cNvSpPr txBox="1"/>
          <p:nvPr/>
        </p:nvSpPr>
        <p:spPr>
          <a:xfrm>
            <a:off x="274320" y="6035040"/>
            <a:ext cx="11640312" cy="658368"/>
          </a:xfrm>
          <a:prstGeom prst="rect">
            <a:avLst/>
          </a:prstGeom>
          <a:noFill/>
        </p:spPr>
        <p:txBody>
          <a:bodyPr wrap="square">
            <a:spAutoFit/>
          </a:bodyPr>
          <a:lstStyle/>
          <a:p>
            <a:pPr algn="l"/>
            <a:r>
              <a:rPr sz="900" b="0" i="1">
                <a:solidFill>
                  <a:srgbClr val="BFBFBF"/>
                </a:solidFill>
                <a:latin typeface="Arial"/>
              </a:rPr>
              <a:t>Air temp, humidity, wind, and precipitation sourced from Open-Meteo historical archive (race window 08:00–11:00 local) where WT API data is absent. Values marked * are Open-Meteo estimates. Water temp and wetsuit ruling are from the World Triathlon API per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TotalTime>
  <Words>1952</Words>
  <Application>Microsoft Office PowerPoint</Application>
  <PresentationFormat>Custom</PresentationFormat>
  <Paragraphs>317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John High</dc:creator>
  <cp:keywords/>
  <dc:description>generated using python-pptx</dc:description>
  <cp:lastModifiedBy>John High</cp:lastModifiedBy>
  <cp:revision>3</cp:revision>
  <dcterms:created xsi:type="dcterms:W3CDTF">2013-01-27T09:14:16Z</dcterms:created>
  <dcterms:modified xsi:type="dcterms:W3CDTF">2026-05-01T01:06:38Z</dcterms:modified>
  <cp:category/>
</cp:coreProperties>
</file>