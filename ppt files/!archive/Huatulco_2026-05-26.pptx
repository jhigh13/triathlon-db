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82" r:id="rId20"/>
    <p:sldId id="276" r:id="rId21"/>
    <p:sldId id="277" r:id="rId22"/>
    <p:sldId id="278" r:id="rId23"/>
    <p:sldId id="279" r:id="rId24"/>
    <p:sldId id="280" r:id="rId25"/>
    <p:sldId id="281" r:id="rId2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3F3609-15FA-4C9F-A7D6-D6911B40A184}"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D783C7-333F-41A3-8E56-EBE9DA10F73C}" type="slidenum">
              <a:rPr lang="en-US" smtClean="0"/>
              <a:t>‹#›</a:t>
            </a:fld>
            <a:endParaRPr lang="en-US"/>
          </a:p>
        </p:txBody>
      </p:sp>
    </p:spTree>
    <p:extLst>
      <p:ext uri="{BB962C8B-B14F-4D97-AF65-F5344CB8AC3E}">
        <p14:creationId xmlns:p14="http://schemas.microsoft.com/office/powerpoint/2010/main" val="195878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D783C7-333F-41A3-8E56-EBE9DA10F73C}" type="slidenum">
              <a:rPr lang="en-US" smtClean="0"/>
              <a:t>14</a:t>
            </a:fld>
            <a:endParaRPr lang="en-US"/>
          </a:p>
        </p:txBody>
      </p:sp>
    </p:spTree>
    <p:extLst>
      <p:ext uri="{BB962C8B-B14F-4D97-AF65-F5344CB8AC3E}">
        <p14:creationId xmlns:p14="http://schemas.microsoft.com/office/powerpoint/2010/main" val="3430814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orld-triathlon-cup-huatulco/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events.triathlon.org/2025-world-triathlon-cup-huatulco/results?program=67415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HUATULCO RACE HISTORY</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Past 8 Years  ·  May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June 12 – 14, 2026   •   Plaza Santa Cruz Huatulco, Mexico</a:t>
            </a:r>
          </a:p>
        </p:txBody>
      </p:sp>
      <p:sp>
        <p:nvSpPr>
          <p:cNvPr id="10" name="Rectangle 9"/>
          <p:cNvSpPr/>
          <p:nvPr/>
        </p:nvSpPr>
        <p:spPr>
          <a:xfrm>
            <a:off x="274320"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28216"/>
            <a:ext cx="3544824" cy="201168"/>
          </a:xfrm>
          <a:prstGeom prst="rect">
            <a:avLst/>
          </a:prstGeom>
          <a:noFill/>
        </p:spPr>
        <p:txBody>
          <a:bodyPr wrap="square">
            <a:spAutoFit/>
          </a:bodyPr>
          <a:lstStyle/>
          <a:p>
            <a:pPr algn="ctr"/>
            <a:r>
              <a:rPr sz="1200" b="1" i="0">
                <a:solidFill>
                  <a:srgbClr val="FFFFFF"/>
                </a:solidFill>
                <a:latin typeface="Arial"/>
              </a:rPr>
              <a:t>Friday • June 12</a:t>
            </a:r>
          </a:p>
        </p:txBody>
      </p:sp>
      <p:sp>
        <p:nvSpPr>
          <p:cNvPr id="12" name="TextBox 11"/>
          <p:cNvSpPr txBox="1"/>
          <p:nvPr/>
        </p:nvSpPr>
        <p:spPr>
          <a:xfrm>
            <a:off x="365760" y="1929384"/>
            <a:ext cx="3544824" cy="201168"/>
          </a:xfrm>
          <a:prstGeom prst="rect">
            <a:avLst/>
          </a:prstGeom>
          <a:noFill/>
        </p:spPr>
        <p:txBody>
          <a:bodyPr wrap="square">
            <a:spAutoFit/>
          </a:bodyPr>
          <a:lstStyle/>
          <a:p>
            <a:pPr algn="ctr"/>
            <a:r>
              <a:rPr sz="950" b="0" i="1">
                <a:solidFill>
                  <a:srgbClr val="AABBDD"/>
                </a:solidFill>
                <a:latin typeface="Arial"/>
              </a:rPr>
              <a:t>Familiarization Day</a:t>
            </a:r>
          </a:p>
        </p:txBody>
      </p:sp>
      <p:graphicFrame>
        <p:nvGraphicFramePr>
          <p:cNvPr id="13" name="Table 12"/>
          <p:cNvGraphicFramePr>
            <a:graphicFrameLocks noGrp="1"/>
          </p:cNvGraphicFramePr>
          <p:nvPr/>
        </p:nvGraphicFramePr>
        <p:xfrm>
          <a:off x="274320" y="2240280"/>
          <a:ext cx="3727703" cy="150876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10:00</a:t>
                      </a:r>
                    </a:p>
                  </a:txBody>
                  <a:tcPr>
                    <a:solidFill>
                      <a:srgbClr val="F2F2F2"/>
                    </a:solidFill>
                  </a:tcPr>
                </a:tc>
                <a:tc>
                  <a:txBody>
                    <a:bodyPr/>
                    <a:lstStyle/>
                    <a:p>
                      <a:pPr algn="l"/>
                      <a:r>
                        <a:rPr sz="1000" b="0" i="0">
                          <a:solidFill>
                            <a:srgbClr val="262626"/>
                          </a:solidFill>
                          <a:latin typeface="Arial"/>
                        </a:rPr>
                        <a:t>Bike familiarization — 3 laps from Bahía Santa Cruz</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10:30</a:t>
                      </a:r>
                    </a:p>
                  </a:txBody>
                  <a:tcPr>
                    <a:solidFill>
                      <a:srgbClr val="FFFFFF"/>
                    </a:solidFill>
                  </a:tcPr>
                </a:tc>
                <a:tc>
                  <a:txBody>
                    <a:bodyPr/>
                    <a:lstStyle/>
                    <a:p>
                      <a:pPr algn="l"/>
                      <a:r>
                        <a:rPr sz="1000" b="0" i="0">
                          <a:solidFill>
                            <a:srgbClr val="262626"/>
                          </a:solidFill>
                          <a:latin typeface="Arial"/>
                        </a:rPr>
                        <a:t>Run familiarization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11:00 – 11:45</a:t>
                      </a:r>
                    </a:p>
                  </a:txBody>
                  <a:tcPr>
                    <a:solidFill>
                      <a:srgbClr val="F2F2F2"/>
                    </a:solidFill>
                  </a:tcPr>
                </a:tc>
                <a:tc>
                  <a:txBody>
                    <a:bodyPr/>
                    <a:lstStyle/>
                    <a:p>
                      <a:pPr algn="l"/>
                      <a:r>
                        <a:rPr sz="1000" b="0" i="0">
                          <a:solidFill>
                            <a:srgbClr val="262626"/>
                          </a:solidFill>
                          <a:latin typeface="Arial"/>
                        </a:rPr>
                        <a:t>Swim familiarization — Santa Cruz</a:t>
                      </a:r>
                    </a:p>
                  </a:txBody>
                  <a:tcPr>
                    <a:solidFill>
                      <a:srgbClr val="F2F2F2"/>
                    </a:solidFill>
                  </a:tcPr>
                </a:tc>
                <a:extLst>
                  <a:ext uri="{0D108BD9-81ED-4DB2-BD59-A6C34878D82A}">
                    <a16:rowId xmlns:a16="http://schemas.microsoft.com/office/drawing/2014/main" val="10002"/>
                  </a:ext>
                </a:extLst>
              </a:tr>
            </a:tbl>
          </a:graphicData>
        </a:graphic>
      </p:graphicFrame>
      <p:sp>
        <p:nvSpPr>
          <p:cNvPr id="14" name="Rectangle 13"/>
          <p:cNvSpPr/>
          <p:nvPr/>
        </p:nvSpPr>
        <p:spPr>
          <a:xfrm>
            <a:off x="4230624"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2064" y="1728216"/>
            <a:ext cx="3544824" cy="201168"/>
          </a:xfrm>
          <a:prstGeom prst="rect">
            <a:avLst/>
          </a:prstGeom>
          <a:noFill/>
        </p:spPr>
        <p:txBody>
          <a:bodyPr wrap="square">
            <a:spAutoFit/>
          </a:bodyPr>
          <a:lstStyle/>
          <a:p>
            <a:pPr algn="ctr"/>
            <a:r>
              <a:rPr sz="1200" b="1" i="0">
                <a:solidFill>
                  <a:srgbClr val="FFFFFF"/>
                </a:solidFill>
                <a:latin typeface="Arial"/>
              </a:rPr>
              <a:t>Saturday • June 13</a:t>
            </a:r>
          </a:p>
        </p:txBody>
      </p:sp>
      <p:sp>
        <p:nvSpPr>
          <p:cNvPr id="16" name="TextBox 15"/>
          <p:cNvSpPr txBox="1"/>
          <p:nvPr/>
        </p:nvSpPr>
        <p:spPr>
          <a:xfrm>
            <a:off x="4322064" y="1929384"/>
            <a:ext cx="3544824" cy="201168"/>
          </a:xfrm>
          <a:prstGeom prst="rect">
            <a:avLst/>
          </a:prstGeom>
          <a:noFill/>
        </p:spPr>
        <p:txBody>
          <a:bodyPr wrap="square">
            <a:spAutoFit/>
          </a:bodyPr>
          <a:lstStyle/>
          <a:p>
            <a:pPr algn="ctr"/>
            <a:r>
              <a:rPr sz="950" b="0" i="1">
                <a:solidFill>
                  <a:srgbClr val="AABBDD"/>
                </a:solidFill>
                <a:latin typeface="Arial"/>
              </a:rPr>
              <a:t>Briefing &amp; Packet Pickup</a:t>
            </a:r>
          </a:p>
        </p:txBody>
      </p:sp>
      <p:graphicFrame>
        <p:nvGraphicFramePr>
          <p:cNvPr id="17" name="Table 16"/>
          <p:cNvGraphicFramePr>
            <a:graphicFrameLocks noGrp="1"/>
          </p:cNvGraphicFramePr>
          <p:nvPr/>
        </p:nvGraphicFramePr>
        <p:xfrm>
          <a:off x="4230624" y="2240280"/>
          <a:ext cx="3727703" cy="100584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1" i="0">
                          <a:solidFill>
                            <a:srgbClr val="C00000"/>
                          </a:solidFill>
                          <a:latin typeface="Arial"/>
                        </a:rPr>
                        <a:t>16:00 – 16:30</a:t>
                      </a:r>
                    </a:p>
                  </a:txBody>
                  <a:tcPr>
                    <a:solidFill>
                      <a:srgbClr val="FDECEC"/>
                    </a:solidFill>
                  </a:tcPr>
                </a:tc>
                <a:tc>
                  <a:txBody>
                    <a:bodyPr/>
                    <a:lstStyle/>
                    <a:p>
                      <a:pPr algn="l"/>
                      <a:r>
                        <a:rPr sz="1000" b="1" i="0">
                          <a:solidFill>
                            <a:srgbClr val="C00000"/>
                          </a:solidFill>
                          <a:latin typeface="Arial"/>
                        </a:rPr>
                        <a:t>★ Mandatory Elite athlete meeting — Hotel Biniguenda</a:t>
                      </a:r>
                    </a:p>
                  </a:txBody>
                  <a:tcPr>
                    <a:solidFill>
                      <a:srgbClr val="FDECEC"/>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16:30 – 17:00</a:t>
                      </a:r>
                    </a:p>
                  </a:txBody>
                  <a:tcPr>
                    <a:solidFill>
                      <a:srgbClr val="FFFFFF"/>
                    </a:solidFill>
                  </a:tcPr>
                </a:tc>
                <a:tc>
                  <a:txBody>
                    <a:bodyPr/>
                    <a:lstStyle/>
                    <a:p>
                      <a:pPr algn="l"/>
                      <a:r>
                        <a:rPr sz="1000" b="0" i="0">
                          <a:solidFill>
                            <a:srgbClr val="262626"/>
                          </a:solidFill>
                          <a:latin typeface="Arial"/>
                        </a:rPr>
                        <a:t>Packet pickup — Hotel Biniguenda</a:t>
                      </a:r>
                    </a:p>
                  </a:txBody>
                  <a:tcPr>
                    <a:solidFill>
                      <a:srgbClr val="FFFFFF"/>
                    </a:solidFill>
                  </a:tcPr>
                </a:tc>
                <a:extLst>
                  <a:ext uri="{0D108BD9-81ED-4DB2-BD59-A6C34878D82A}">
                    <a16:rowId xmlns:a16="http://schemas.microsoft.com/office/drawing/2014/main" val="10001"/>
                  </a:ext>
                </a:extLst>
              </a:tr>
            </a:tbl>
          </a:graphicData>
        </a:graphic>
      </p:graphicFrame>
      <p:sp>
        <p:nvSpPr>
          <p:cNvPr id="18" name="Rectangle 17"/>
          <p:cNvSpPr/>
          <p:nvPr/>
        </p:nvSpPr>
        <p:spPr>
          <a:xfrm>
            <a:off x="8186928"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8368" y="1728216"/>
            <a:ext cx="3544824" cy="201168"/>
          </a:xfrm>
          <a:prstGeom prst="rect">
            <a:avLst/>
          </a:prstGeom>
          <a:noFill/>
        </p:spPr>
        <p:txBody>
          <a:bodyPr wrap="square">
            <a:spAutoFit/>
          </a:bodyPr>
          <a:lstStyle/>
          <a:p>
            <a:pPr algn="ctr"/>
            <a:r>
              <a:rPr sz="1200" b="1" i="0">
                <a:solidFill>
                  <a:srgbClr val="FFFFFF"/>
                </a:solidFill>
                <a:latin typeface="Arial"/>
              </a:rPr>
              <a:t>Sunday • June 14</a:t>
            </a:r>
          </a:p>
        </p:txBody>
      </p:sp>
      <p:sp>
        <p:nvSpPr>
          <p:cNvPr id="20" name="TextBox 19"/>
          <p:cNvSpPr txBox="1"/>
          <p:nvPr/>
        </p:nvSpPr>
        <p:spPr>
          <a:xfrm>
            <a:off x="8278368" y="1929384"/>
            <a:ext cx="3544824" cy="201168"/>
          </a:xfrm>
          <a:prstGeom prst="rect">
            <a:avLst/>
          </a:prstGeom>
          <a:noFill/>
        </p:spPr>
        <p:txBody>
          <a:bodyPr wrap="square">
            <a:spAutoFit/>
          </a:bodyPr>
          <a:lstStyle/>
          <a:p>
            <a:pPr algn="ctr"/>
            <a:r>
              <a:rPr sz="950" b="0" i="1">
                <a:solidFill>
                  <a:srgbClr val="AABBDD"/>
                </a:solidFill>
                <a:latin typeface="Arial"/>
              </a:rPr>
              <a:t>RACE DAY</a:t>
            </a:r>
          </a:p>
        </p:txBody>
      </p:sp>
      <p:graphicFrame>
        <p:nvGraphicFramePr>
          <p:cNvPr id="21" name="Table 20"/>
          <p:cNvGraphicFramePr>
            <a:graphicFrameLocks noGrp="1"/>
          </p:cNvGraphicFramePr>
          <p:nvPr/>
        </p:nvGraphicFramePr>
        <p:xfrm>
          <a:off x="8186928" y="2240280"/>
          <a:ext cx="3727703" cy="251460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05:30</a:t>
                      </a:r>
                    </a:p>
                  </a:txBody>
                  <a:tcPr>
                    <a:solidFill>
                      <a:srgbClr val="F2F2F2"/>
                    </a:solidFill>
                  </a:tcPr>
                </a:tc>
                <a:tc>
                  <a:txBody>
                    <a:bodyPr/>
                    <a:lstStyle/>
                    <a:p>
                      <a:pPr algn="l"/>
                      <a:r>
                        <a:rPr sz="1000" b="0" i="0">
                          <a:solidFill>
                            <a:srgbClr val="262626"/>
                          </a:solidFill>
                          <a:latin typeface="Arial"/>
                        </a:rPr>
                        <a:t>Elite Female lounge opens</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1" i="0">
                          <a:solidFill>
                            <a:srgbClr val="C00000"/>
                          </a:solidFill>
                          <a:latin typeface="Arial"/>
                        </a:rPr>
                        <a:t>06:30</a:t>
                      </a:r>
                    </a:p>
                  </a:txBody>
                  <a:tcPr>
                    <a:solidFill>
                      <a:srgbClr val="FDECEC"/>
                    </a:solidFill>
                  </a:tcPr>
                </a:tc>
                <a:tc>
                  <a:txBody>
                    <a:bodyPr/>
                    <a:lstStyle/>
                    <a:p>
                      <a:pPr algn="l"/>
                      <a:r>
                        <a:rPr sz="1000" b="1" i="0">
                          <a:solidFill>
                            <a:srgbClr val="C00000"/>
                          </a:solidFill>
                          <a:latin typeface="Arial"/>
                        </a:rPr>
                        <a:t>★ ELITE FEMALE START</a:t>
                      </a:r>
                    </a:p>
                  </a:txBody>
                  <a:tcPr>
                    <a:solidFill>
                      <a:srgbClr val="FDECEC"/>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07:45</a:t>
                      </a:r>
                    </a:p>
                  </a:txBody>
                  <a:tcPr>
                    <a:solidFill>
                      <a:srgbClr val="F2F2F2"/>
                    </a:solidFill>
                  </a:tcPr>
                </a:tc>
                <a:tc>
                  <a:txBody>
                    <a:bodyPr/>
                    <a:lstStyle/>
                    <a:p>
                      <a:pPr algn="l"/>
                      <a:r>
                        <a:rPr sz="1000" b="0" i="0">
                          <a:solidFill>
                            <a:srgbClr val="262626"/>
                          </a:solidFill>
                          <a:latin typeface="Arial"/>
                        </a:rPr>
                        <a:t>Elite Male lounge opens</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1" i="0">
                          <a:solidFill>
                            <a:srgbClr val="C00000"/>
                          </a:solidFill>
                          <a:latin typeface="Arial"/>
                        </a:rPr>
                        <a:t>08:30</a:t>
                      </a:r>
                    </a:p>
                  </a:txBody>
                  <a:tcPr>
                    <a:solidFill>
                      <a:srgbClr val="FDECEC"/>
                    </a:solidFill>
                  </a:tcPr>
                </a:tc>
                <a:tc>
                  <a:txBody>
                    <a:bodyPr/>
                    <a:lstStyle/>
                    <a:p>
                      <a:pPr algn="l"/>
                      <a:r>
                        <a:rPr sz="1000" b="1" i="0">
                          <a:solidFill>
                            <a:srgbClr val="C00000"/>
                          </a:solidFill>
                          <a:latin typeface="Arial"/>
                        </a:rPr>
                        <a:t>★ ELITE MALE START</a:t>
                      </a:r>
                    </a:p>
                  </a:txBody>
                  <a:tcPr>
                    <a:solidFill>
                      <a:srgbClr val="FDECEC"/>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10:00</a:t>
                      </a:r>
                    </a:p>
                  </a:txBody>
                  <a:tcPr>
                    <a:solidFill>
                      <a:srgbClr val="F2F2F2"/>
                    </a:solidFill>
                  </a:tcPr>
                </a:tc>
                <a:tc>
                  <a:txBody>
                    <a:bodyPr/>
                    <a:lstStyle/>
                    <a:p>
                      <a:pPr algn="l"/>
                      <a:r>
                        <a:rPr sz="1000" b="0" i="0">
                          <a:solidFill>
                            <a:srgbClr val="262626"/>
                          </a:solidFill>
                          <a:latin typeface="Arial"/>
                        </a:rPr>
                        <a:t>Awards ceremony</a:t>
                      </a:r>
                    </a:p>
                  </a:txBody>
                  <a:tcPr>
                    <a:solidFill>
                      <a:srgbClr val="F2F2F2"/>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274320" y="6355080"/>
            <a:ext cx="11640312" cy="230832"/>
          </a:xfrm>
          <a:prstGeom prst="rect">
            <a:avLst/>
          </a:prstGeom>
          <a:noFill/>
        </p:spPr>
        <p:txBody>
          <a:bodyPr wrap="square">
            <a:spAutoFit/>
          </a:bodyPr>
          <a:lstStyle/>
          <a:p>
            <a:pPr algn="ctr"/>
            <a:r>
              <a:rPr sz="900" b="0" i="1" dirty="0">
                <a:solidFill>
                  <a:srgbClr val="BFBFBF"/>
                </a:solidFill>
                <a:latin typeface="Arial"/>
              </a:rPr>
              <a:t>Times local to Huatulco (CST, UTC-6)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HUATULCO</a:t>
            </a:r>
          </a:p>
        </p:txBody>
      </p:sp>
      <p:sp>
        <p:nvSpPr>
          <p:cNvPr id="9" name="TextBox 8"/>
          <p:cNvSpPr txBox="1"/>
          <p:nvPr/>
        </p:nvSpPr>
        <p:spPr>
          <a:xfrm>
            <a:off x="274320" y="1627632"/>
            <a:ext cx="6035040" cy="1200329"/>
          </a:xfrm>
          <a:prstGeom prst="rect">
            <a:avLst/>
          </a:prstGeom>
          <a:noFill/>
        </p:spPr>
        <p:txBody>
          <a:bodyPr wrap="square">
            <a:spAutoFit/>
          </a:bodyPr>
          <a:lstStyle/>
          <a:p>
            <a:pPr algn="l"/>
            <a:r>
              <a:rPr lang="en-US" sz="1200" b="0" i="0" dirty="0">
                <a:solidFill>
                  <a:srgbClr val="262626"/>
                </a:solidFill>
                <a:latin typeface="Arial"/>
              </a:rPr>
              <a:t>Set around Bahía Santa Cruz on Mexico’s Pacific coast, Huatulco is a hot, humid sprint-distance World Cup. The swim is usually non-wetsuit in very warm water; the bike includes a short climb and corresponding descent. The run is also exposed enough that heat management becomes a major performance limiter. This race often stays close deep into the run, but hilly run, and heat </a:t>
            </a:r>
            <a:r>
              <a:rPr lang="en-US" sz="1200" dirty="0">
                <a:solidFill>
                  <a:srgbClr val="262626"/>
                </a:solidFill>
                <a:latin typeface="Arial"/>
              </a:rPr>
              <a:t>has led to </a:t>
            </a:r>
            <a:r>
              <a:rPr lang="en-US" sz="1200" b="0" i="0" dirty="0">
                <a:solidFill>
                  <a:srgbClr val="262626"/>
                </a:solidFill>
                <a:latin typeface="Arial"/>
              </a:rPr>
              <a:t>a high DNF/LAP/DNS history. Heat prep leading into and on race day are critical for performance.</a:t>
            </a:r>
            <a:endParaRPr sz="1200" b="0" i="0" dirty="0">
              <a:solidFill>
                <a:srgbClr val="262626"/>
              </a:solidFill>
              <a:latin typeface="Arial"/>
            </a:endParaRPr>
          </a:p>
        </p:txBody>
      </p:sp>
      <p:grpSp>
        <p:nvGrpSpPr>
          <p:cNvPr id="38" name="Group 37">
            <a:extLst>
              <a:ext uri="{FF2B5EF4-FFF2-40B4-BE49-F238E27FC236}">
                <a16:creationId xmlns:a16="http://schemas.microsoft.com/office/drawing/2014/main" id="{A58771A2-A000-8160-AEF6-3495DF513A8B}"/>
              </a:ext>
            </a:extLst>
          </p:cNvPr>
          <p:cNvGrpSpPr/>
          <p:nvPr/>
        </p:nvGrpSpPr>
        <p:grpSpPr>
          <a:xfrm>
            <a:off x="274320" y="3095804"/>
            <a:ext cx="6035040" cy="320040"/>
            <a:chOff x="274320" y="2971800"/>
            <a:chExt cx="6035040" cy="320040"/>
          </a:xfrm>
        </p:grpSpPr>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dirty="0">
                  <a:solidFill>
                    <a:srgbClr val="FFFFFF"/>
                  </a:solidFill>
                  <a:latin typeface="Arial"/>
                </a:rPr>
                <a:t>COURSE FEATURES</a:t>
              </a:r>
            </a:p>
          </p:txBody>
        </p:sp>
      </p:grpSp>
      <p:sp>
        <p:nvSpPr>
          <p:cNvPr id="12" name="TextBox 11"/>
          <p:cNvSpPr txBox="1"/>
          <p:nvPr/>
        </p:nvSpPr>
        <p:spPr>
          <a:xfrm>
            <a:off x="365760" y="3515251"/>
            <a:ext cx="5852160" cy="646331"/>
          </a:xfrm>
          <a:prstGeom prst="rect">
            <a:avLst/>
          </a:prstGeom>
          <a:noFill/>
        </p:spPr>
        <p:txBody>
          <a:bodyPr wrap="square">
            <a:spAutoFit/>
          </a:bodyPr>
          <a:lstStyle/>
          <a:p>
            <a:pPr algn="l"/>
            <a:r>
              <a:rPr lang="en-US" sz="1200" b="1" i="0" dirty="0">
                <a:solidFill>
                  <a:srgbClr val="262626"/>
                </a:solidFill>
                <a:latin typeface="Arial"/>
              </a:rPr>
              <a:t>Heat and humidity are the defining environmental factors. </a:t>
            </a:r>
            <a:r>
              <a:rPr lang="en-US" sz="1200" dirty="0">
                <a:solidFill>
                  <a:srgbClr val="262626"/>
                </a:solidFill>
                <a:latin typeface="Arial"/>
              </a:rPr>
              <a:t>W</a:t>
            </a:r>
            <a:r>
              <a:rPr lang="en-US" sz="1200" b="0" i="0" dirty="0">
                <a:solidFill>
                  <a:srgbClr val="262626"/>
                </a:solidFill>
                <a:latin typeface="Arial"/>
              </a:rPr>
              <a:t>omen start earlier at 06:30, but historical race conditions still show warm air, very warm water, and frequent high humidity.</a:t>
            </a:r>
            <a:endParaRPr sz="1200" b="0" i="0" dirty="0">
              <a:solidFill>
                <a:srgbClr val="262626"/>
              </a:solidFill>
              <a:latin typeface="Arial"/>
            </a:endParaRPr>
          </a:p>
        </p:txBody>
      </p:sp>
      <p:sp>
        <p:nvSpPr>
          <p:cNvPr id="13" name="TextBox 12"/>
          <p:cNvSpPr txBox="1"/>
          <p:nvPr/>
        </p:nvSpPr>
        <p:spPr>
          <a:xfrm>
            <a:off x="365760" y="4256801"/>
            <a:ext cx="5852160" cy="646331"/>
          </a:xfrm>
          <a:prstGeom prst="rect">
            <a:avLst/>
          </a:prstGeom>
          <a:noFill/>
        </p:spPr>
        <p:txBody>
          <a:bodyPr wrap="square">
            <a:spAutoFit/>
          </a:bodyPr>
          <a:lstStyle/>
          <a:p>
            <a:pPr algn="l"/>
            <a:r>
              <a:rPr lang="en-US" sz="1200" b="0" i="0" dirty="0">
                <a:solidFill>
                  <a:srgbClr val="262626"/>
                </a:solidFill>
                <a:latin typeface="Arial"/>
              </a:rPr>
              <a:t>The swim is a single 750 m loop from Santa Cruz with warm water that has historically sat around 29–32°C when recorded, </a:t>
            </a:r>
            <a:r>
              <a:rPr lang="en-US" sz="1200" b="1" i="0" dirty="0">
                <a:solidFill>
                  <a:srgbClr val="262626"/>
                </a:solidFill>
                <a:latin typeface="Arial"/>
              </a:rPr>
              <a:t>making wetsuits extremely unlikely.</a:t>
            </a:r>
            <a:endParaRPr sz="1200" b="1" i="0" dirty="0">
              <a:solidFill>
                <a:srgbClr val="262626"/>
              </a:solidFill>
              <a:latin typeface="Arial"/>
            </a:endParaRPr>
          </a:p>
        </p:txBody>
      </p:sp>
      <p:sp>
        <p:nvSpPr>
          <p:cNvPr id="14" name="TextBox 13"/>
          <p:cNvSpPr txBox="1"/>
          <p:nvPr/>
        </p:nvSpPr>
        <p:spPr>
          <a:xfrm>
            <a:off x="365760" y="4998351"/>
            <a:ext cx="5852160" cy="461665"/>
          </a:xfrm>
          <a:prstGeom prst="rect">
            <a:avLst/>
          </a:prstGeom>
          <a:noFill/>
        </p:spPr>
        <p:txBody>
          <a:bodyPr wrap="square">
            <a:spAutoFit/>
          </a:bodyPr>
          <a:lstStyle/>
          <a:p>
            <a:pPr algn="l"/>
            <a:r>
              <a:rPr lang="en-US" sz="1200" b="0" i="0" dirty="0">
                <a:solidFill>
                  <a:srgbClr val="262626"/>
                </a:solidFill>
                <a:latin typeface="Arial"/>
              </a:rPr>
              <a:t>The bike is four laps of a 5 km circuit and has a brief climb. </a:t>
            </a:r>
            <a:r>
              <a:rPr lang="en-US" sz="1200" b="1" i="0" dirty="0">
                <a:solidFill>
                  <a:srgbClr val="262626"/>
                </a:solidFill>
                <a:latin typeface="Arial"/>
              </a:rPr>
              <a:t>The only true breakaway occurre</a:t>
            </a:r>
            <a:r>
              <a:rPr lang="en-US" sz="1200" b="1" dirty="0">
                <a:solidFill>
                  <a:srgbClr val="262626"/>
                </a:solidFill>
                <a:latin typeface="Arial"/>
              </a:rPr>
              <a:t>d in 2025. </a:t>
            </a:r>
            <a:endParaRPr sz="1200" b="1" i="0" dirty="0">
              <a:solidFill>
                <a:srgbClr val="262626"/>
              </a:solidFill>
              <a:latin typeface="Arial"/>
            </a:endParaRPr>
          </a:p>
        </p:txBody>
      </p:sp>
      <p:sp>
        <p:nvSpPr>
          <p:cNvPr id="15" name="TextBox 14"/>
          <p:cNvSpPr txBox="1"/>
          <p:nvPr/>
        </p:nvSpPr>
        <p:spPr>
          <a:xfrm>
            <a:off x="365760" y="5555234"/>
            <a:ext cx="5852160" cy="461665"/>
          </a:xfrm>
          <a:prstGeom prst="rect">
            <a:avLst/>
          </a:prstGeom>
          <a:noFill/>
        </p:spPr>
        <p:txBody>
          <a:bodyPr wrap="square">
            <a:spAutoFit/>
          </a:bodyPr>
          <a:lstStyle/>
          <a:p>
            <a:pPr algn="l"/>
            <a:r>
              <a:rPr lang="en-US" sz="1200" b="0" i="0" dirty="0">
                <a:solidFill>
                  <a:srgbClr val="262626"/>
                </a:solidFill>
                <a:latin typeface="Arial"/>
              </a:rPr>
              <a:t>The run is two laps and includes enough elevation to slow 5 km times significantly </a:t>
            </a:r>
            <a:r>
              <a:rPr lang="en-US" sz="1200" b="1" i="0" dirty="0">
                <a:solidFill>
                  <a:srgbClr val="262626"/>
                </a:solidFill>
                <a:latin typeface="Arial"/>
              </a:rPr>
              <a:t>The </a:t>
            </a:r>
            <a:r>
              <a:rPr lang="en-US" sz="1200" b="1" dirty="0">
                <a:solidFill>
                  <a:srgbClr val="262626"/>
                </a:solidFill>
                <a:latin typeface="Arial"/>
              </a:rPr>
              <a:t>f</a:t>
            </a:r>
            <a:r>
              <a:rPr lang="en-US" sz="1200" b="1" i="0" dirty="0">
                <a:solidFill>
                  <a:srgbClr val="262626"/>
                </a:solidFill>
                <a:latin typeface="Arial"/>
              </a:rPr>
              <a:t>astest time in several years was 14:45</a:t>
            </a:r>
            <a:endParaRPr sz="1200" b="1" i="0" dirty="0">
              <a:solidFill>
                <a:srgbClr val="262626"/>
              </a:solidFill>
              <a:latin typeface="Arial"/>
            </a:endParaRP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595360" y="1508760"/>
            <a:ext cx="3200400" cy="276999"/>
          </a:xfrm>
          <a:prstGeom prst="rect">
            <a:avLst/>
          </a:prstGeom>
          <a:noFill/>
        </p:spPr>
        <p:txBody>
          <a:bodyPr wrap="square">
            <a:spAutoFit/>
          </a:bodyPr>
          <a:lstStyle/>
          <a:p>
            <a:pPr algn="l"/>
            <a:r>
              <a:rPr lang="en-US" sz="1200" b="0" i="0" dirty="0">
                <a:solidFill>
                  <a:srgbClr val="262626"/>
                </a:solidFill>
                <a:latin typeface="Arial"/>
              </a:rPr>
              <a:t>750 m</a:t>
            </a:r>
            <a:endParaRPr sz="1200" b="0" i="0" dirty="0">
              <a:solidFill>
                <a:srgbClr val="262626"/>
              </a:solidFill>
              <a:latin typeface="Arial"/>
            </a:endParaRP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595360" y="1847088"/>
            <a:ext cx="3200400" cy="320040"/>
          </a:xfrm>
          <a:prstGeom prst="rect">
            <a:avLst/>
          </a:prstGeom>
          <a:noFill/>
        </p:spPr>
        <p:txBody>
          <a:bodyPr wrap="square">
            <a:spAutoFit/>
          </a:bodyPr>
          <a:lstStyle/>
          <a:p>
            <a:pPr algn="l"/>
            <a:r>
              <a:rPr sz="1200" b="0" i="0">
                <a:solidFill>
                  <a:srgbClr val="262626"/>
                </a:solidFill>
                <a:latin typeface="Arial"/>
              </a:rPr>
              <a:t>20.0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595360" y="2185415"/>
            <a:ext cx="3200400" cy="320040"/>
          </a:xfrm>
          <a:prstGeom prst="rect">
            <a:avLst/>
          </a:prstGeom>
          <a:noFill/>
        </p:spPr>
        <p:txBody>
          <a:bodyPr wrap="square">
            <a:spAutoFit/>
          </a:bodyPr>
          <a:lstStyle/>
          <a:p>
            <a:pPr algn="l"/>
            <a:r>
              <a:rPr sz="1200" b="0" i="0">
                <a:solidFill>
                  <a:srgbClr val="262626"/>
                </a:solidFill>
                <a:latin typeface="Arial"/>
              </a:rPr>
              <a:t>5.0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595360" y="2523744"/>
            <a:ext cx="3200400" cy="276999"/>
          </a:xfrm>
          <a:prstGeom prst="rect">
            <a:avLst/>
          </a:prstGeom>
          <a:noFill/>
        </p:spPr>
        <p:txBody>
          <a:bodyPr wrap="square">
            <a:spAutoFit/>
          </a:bodyPr>
          <a:lstStyle/>
          <a:p>
            <a:pPr algn="l"/>
            <a:r>
              <a:rPr lang="en-US" sz="1200" b="0" i="0" dirty="0">
                <a:solidFill>
                  <a:srgbClr val="262626"/>
                </a:solidFill>
                <a:latin typeface="Arial"/>
              </a:rPr>
              <a:t>Sprint</a:t>
            </a:r>
            <a:r>
              <a:rPr sz="1200" b="0" i="0" dirty="0">
                <a:solidFill>
                  <a:srgbClr val="262626"/>
                </a:solidFill>
                <a:latin typeface="Arial"/>
              </a:rPr>
              <a:t> Triathlon</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595360" y="2862072"/>
            <a:ext cx="3200400" cy="320040"/>
          </a:xfrm>
          <a:prstGeom prst="rect">
            <a:avLst/>
          </a:prstGeom>
          <a:noFill/>
        </p:spPr>
        <p:txBody>
          <a:bodyPr wrap="square">
            <a:spAutoFit/>
          </a:bodyPr>
          <a:lstStyle/>
          <a:p>
            <a:pPr algn="l"/>
            <a:r>
              <a:rPr sz="1200" b="0" i="0">
                <a:solidFill>
                  <a:srgbClr val="262626"/>
                </a:solidFill>
                <a:latin typeface="Arial"/>
              </a:rPr>
              <a:t>4</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595360" y="3200400"/>
            <a:ext cx="3200400" cy="320040"/>
          </a:xfrm>
          <a:prstGeom prst="rect">
            <a:avLst/>
          </a:prstGeom>
          <a:noFill/>
        </p:spPr>
        <p:txBody>
          <a:bodyPr wrap="square">
            <a:spAutoFit/>
          </a:bodyPr>
          <a:lstStyle/>
          <a:p>
            <a:pPr algn="l"/>
            <a:r>
              <a:rPr sz="1200" b="0" i="0">
                <a:solidFill>
                  <a:srgbClr val="262626"/>
                </a:solidFill>
                <a:latin typeface="Arial"/>
              </a:rPr>
              <a:t>2</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246221"/>
          </a:xfrm>
          <a:prstGeom prst="rect">
            <a:avLst/>
          </a:prstGeom>
          <a:noFill/>
        </p:spPr>
        <p:txBody>
          <a:bodyPr wrap="square">
            <a:spAutoFit/>
          </a:bodyPr>
          <a:lstStyle/>
          <a:p>
            <a:r>
              <a:rPr lang="en-US" sz="1000" dirty="0">
                <a:hlinkClick r:id="rId3"/>
              </a:rPr>
              <a:t>Race Info | 2026 World Triathlon Cup Huatulco</a:t>
            </a:r>
            <a:endParaRPr sz="1000" b="0" i="1" dirty="0">
              <a:solidFill>
                <a:srgbClr val="262626"/>
              </a:solidFill>
              <a:latin typeface="Arial"/>
            </a:endParaRPr>
          </a:p>
        </p:txBody>
      </p:sp>
      <p:sp>
        <p:nvSpPr>
          <p:cNvPr id="34" name="TextBox 33"/>
          <p:cNvSpPr txBox="1"/>
          <p:nvPr/>
        </p:nvSpPr>
        <p:spPr>
          <a:xfrm>
            <a:off x="6675120" y="4846320"/>
            <a:ext cx="5120640" cy="274320"/>
          </a:xfrm>
          <a:prstGeom prst="rect">
            <a:avLst/>
          </a:prstGeom>
          <a:noFill/>
        </p:spPr>
        <p:txBody>
          <a:bodyPr wrap="square">
            <a:spAutoFit/>
          </a:bodyPr>
          <a:lstStyle/>
          <a:p>
            <a:pPr algn="l"/>
            <a:r>
              <a:rPr sz="1100" b="1" i="0">
                <a:solidFill>
                  <a:srgbClr val="002060"/>
                </a:solidFill>
                <a:latin typeface="Arial"/>
              </a:rPr>
              <a:t>Last Year's Results:</a:t>
            </a:r>
          </a:p>
        </p:txBody>
      </p:sp>
      <p:sp>
        <p:nvSpPr>
          <p:cNvPr id="35" name="TextBox 34"/>
          <p:cNvSpPr txBox="1"/>
          <p:nvPr/>
        </p:nvSpPr>
        <p:spPr>
          <a:xfrm>
            <a:off x="6675120" y="5148072"/>
            <a:ext cx="5120640" cy="246221"/>
          </a:xfrm>
          <a:prstGeom prst="rect">
            <a:avLst/>
          </a:prstGeom>
          <a:noFill/>
        </p:spPr>
        <p:txBody>
          <a:bodyPr wrap="square">
            <a:spAutoFit/>
          </a:bodyPr>
          <a:lstStyle/>
          <a:p>
            <a:r>
              <a:rPr lang="en-US" sz="1000" dirty="0">
                <a:hlinkClick r:id="rId4"/>
              </a:rPr>
              <a:t>Results | 2025 World Triathlon Cup Huatulco</a:t>
            </a:r>
            <a:endParaRPr sz="1000" b="0" i="1" dirty="0">
              <a:solidFill>
                <a:srgbClr val="262626"/>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swim course map here]
Save the organiser map as:
ppt files/support/huatulco_swim_course.png
It will be embedded automatically on the next run.</a:t>
            </a:r>
          </a:p>
        </p:txBody>
      </p:sp>
      <p:sp>
        <p:nvSpPr>
          <p:cNvPr id="10" name="TextBox 9"/>
          <p:cNvSpPr txBox="1"/>
          <p:nvPr/>
        </p:nvSpPr>
        <p:spPr>
          <a:xfrm>
            <a:off x="228600" y="6222492"/>
            <a:ext cx="5120640" cy="228600"/>
          </a:xfrm>
          <a:prstGeom prst="rect">
            <a:avLst/>
          </a:prstGeom>
          <a:noFill/>
        </p:spPr>
        <p:txBody>
          <a:bodyPr wrap="square">
            <a:spAutoFit/>
          </a:bodyPr>
          <a:lstStyle/>
          <a:p>
            <a:pPr algn="ctr"/>
            <a:r>
              <a:rPr sz="900" b="0" i="1" dirty="0">
                <a:solidFill>
                  <a:srgbClr val="BFBFBF"/>
                </a:solidFill>
                <a:latin typeface="Arial"/>
              </a:rPr>
              <a:t>Source: </a:t>
            </a:r>
            <a:r>
              <a:rPr sz="900" b="0" i="1" dirty="0" err="1">
                <a:solidFill>
                  <a:srgbClr val="BFBFBF"/>
                </a:solidFill>
                <a:latin typeface="Arial"/>
              </a:rPr>
              <a:t>asdeporte</a:t>
            </a:r>
            <a:r>
              <a:rPr sz="900" b="0" i="1" dirty="0">
                <a:solidFill>
                  <a:srgbClr val="BFBFBF"/>
                </a:solidFill>
                <a:latin typeface="Arial"/>
              </a:rPr>
              <a:t> 2026 Elite Swim course map (</a:t>
            </a:r>
            <a:r>
              <a:rPr sz="900" b="0" i="1" dirty="0" err="1">
                <a:solidFill>
                  <a:srgbClr val="BFBFBF"/>
                </a:solidFill>
                <a:latin typeface="Arial"/>
              </a:rPr>
              <a:t>Natación</a:t>
            </a:r>
            <a:r>
              <a:rPr sz="900" b="0" i="1" dirty="0">
                <a:solidFill>
                  <a:srgbClr val="BFBFBF"/>
                </a:solidFill>
                <a:latin typeface="Arial"/>
              </a:rPr>
              <a:t> Elite — Bahía de Santa Cruz)</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750 m   •   single lap</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Ocean — Bahía de Santa Cruz (protected marina)</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750 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U-shape rectangle</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2" name="TextBox 21"/>
          <p:cNvSpPr txBox="1"/>
          <p:nvPr/>
        </p:nvSpPr>
        <p:spPr>
          <a:xfrm>
            <a:off x="9875520" y="2340864"/>
            <a:ext cx="1920240" cy="307777"/>
          </a:xfrm>
          <a:prstGeom prst="rect">
            <a:avLst/>
          </a:prstGeom>
          <a:noFill/>
        </p:spPr>
        <p:txBody>
          <a:bodyPr wrap="square">
            <a:spAutoFit/>
          </a:bodyPr>
          <a:lstStyle/>
          <a:p>
            <a:pPr algn="ctr"/>
            <a:r>
              <a:rPr sz="1400" b="1" i="0" dirty="0">
                <a:solidFill>
                  <a:srgbClr val="262626"/>
                </a:solidFill>
                <a:latin typeface="Arial"/>
              </a:rPr>
              <a:t>Beach start</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5" name="TextBox 24"/>
          <p:cNvSpPr txBox="1"/>
          <p:nvPr/>
        </p:nvSpPr>
        <p:spPr>
          <a:xfrm>
            <a:off x="5669280" y="3054096"/>
            <a:ext cx="1920240" cy="307777"/>
          </a:xfrm>
          <a:prstGeom prst="rect">
            <a:avLst/>
          </a:prstGeom>
          <a:noFill/>
        </p:spPr>
        <p:txBody>
          <a:bodyPr wrap="square">
            <a:spAutoFit/>
          </a:bodyPr>
          <a:lstStyle/>
          <a:p>
            <a:pPr algn="ctr"/>
            <a:r>
              <a:rPr lang="en-US" sz="1400" b="1" dirty="0">
                <a:solidFill>
                  <a:srgbClr val="262626"/>
                </a:solidFill>
                <a:latin typeface="Arial"/>
              </a:rPr>
              <a:t>30.5 °C (7-yr avg)</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Likely non-wetsuit</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1</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523220"/>
          </a:xfrm>
          <a:prstGeom prst="rect">
            <a:avLst/>
          </a:prstGeom>
          <a:noFill/>
        </p:spPr>
        <p:txBody>
          <a:bodyPr wrap="square">
            <a:spAutoFit/>
          </a:bodyPr>
          <a:lstStyle/>
          <a:p>
            <a:pPr algn="l"/>
            <a:r>
              <a:rPr sz="1400" b="0" i="0" dirty="0">
                <a:solidFill>
                  <a:srgbClr val="262626"/>
                </a:solidFill>
                <a:latin typeface="Arial"/>
              </a:rPr>
              <a:t>•  Single 750 m loop</a:t>
            </a:r>
            <a:r>
              <a:rPr lang="en-US" sz="1400" b="0" i="0" dirty="0">
                <a:solidFill>
                  <a:srgbClr val="262626"/>
                </a:solidFill>
                <a:latin typeface="Arial"/>
              </a:rPr>
              <a:t>: </a:t>
            </a:r>
            <a:r>
              <a:rPr sz="1400" b="0" i="0" dirty="0">
                <a:solidFill>
                  <a:srgbClr val="262626"/>
                </a:solidFill>
                <a:latin typeface="Arial"/>
              </a:rPr>
              <a:t>300 m east leg, 150 m across south, 300 m west leg, beach exit by transition</a:t>
            </a:r>
          </a:p>
        </p:txBody>
      </p:sp>
      <p:sp>
        <p:nvSpPr>
          <p:cNvPr id="35" name="TextBox 34"/>
          <p:cNvSpPr txBox="1"/>
          <p:nvPr/>
        </p:nvSpPr>
        <p:spPr>
          <a:xfrm>
            <a:off x="5669280" y="4673810"/>
            <a:ext cx="6126480" cy="523220"/>
          </a:xfrm>
          <a:prstGeom prst="rect">
            <a:avLst/>
          </a:prstGeom>
          <a:noFill/>
        </p:spPr>
        <p:txBody>
          <a:bodyPr wrap="square">
            <a:spAutoFit/>
          </a:bodyPr>
          <a:lstStyle/>
          <a:p>
            <a:pPr algn="l"/>
            <a:r>
              <a:rPr sz="1400" b="0" i="0" dirty="0">
                <a:solidFill>
                  <a:srgbClr val="262626"/>
                </a:solidFill>
                <a:latin typeface="Arial"/>
              </a:rPr>
              <a:t>•  Tight rectangle inside the protected marina</a:t>
            </a:r>
            <a:r>
              <a:rPr lang="en-US" sz="1400" b="0" i="0" dirty="0">
                <a:solidFill>
                  <a:srgbClr val="262626"/>
                </a:solidFill>
                <a:latin typeface="Arial"/>
              </a:rPr>
              <a:t>. Typically, has </a:t>
            </a:r>
            <a:r>
              <a:rPr sz="1400" b="0" i="0" dirty="0">
                <a:solidFill>
                  <a:srgbClr val="262626"/>
                </a:solidFill>
                <a:latin typeface="Arial"/>
              </a:rPr>
              <a:t>minimal chop, current normally low at 06:30 start</a:t>
            </a:r>
          </a:p>
        </p:txBody>
      </p:sp>
      <p:sp>
        <p:nvSpPr>
          <p:cNvPr id="36" name="TextBox 35"/>
          <p:cNvSpPr txBox="1"/>
          <p:nvPr/>
        </p:nvSpPr>
        <p:spPr>
          <a:xfrm>
            <a:off x="5669280" y="5369980"/>
            <a:ext cx="6126480" cy="307777"/>
          </a:xfrm>
          <a:prstGeom prst="rect">
            <a:avLst/>
          </a:prstGeom>
          <a:noFill/>
        </p:spPr>
        <p:txBody>
          <a:bodyPr wrap="square">
            <a:spAutoFit/>
          </a:bodyPr>
          <a:lstStyle/>
          <a:p>
            <a:pPr algn="l"/>
            <a:r>
              <a:rPr sz="1400" b="0" i="0" dirty="0">
                <a:solidFill>
                  <a:srgbClr val="262626"/>
                </a:solidFill>
                <a:latin typeface="Arial"/>
              </a:rPr>
              <a:t>•  Two turn buoys at the south end</a:t>
            </a:r>
            <a:r>
              <a:rPr lang="en-US" sz="1400" b="0" i="0" dirty="0">
                <a:solidFill>
                  <a:srgbClr val="262626"/>
                </a:solidFill>
                <a:latin typeface="Arial"/>
              </a:rPr>
              <a:t> with kayak in position here</a:t>
            </a:r>
            <a:endParaRPr sz="1400" b="0" i="0" dirty="0">
              <a:solidFill>
                <a:srgbClr val="262626"/>
              </a:solidFill>
              <a:latin typeface="Arial"/>
            </a:endParaRPr>
          </a:p>
        </p:txBody>
      </p:sp>
      <p:sp>
        <p:nvSpPr>
          <p:cNvPr id="37" name="TextBox 36"/>
          <p:cNvSpPr txBox="1"/>
          <p:nvPr/>
        </p:nvSpPr>
        <p:spPr>
          <a:xfrm>
            <a:off x="5669280" y="5850707"/>
            <a:ext cx="6126480" cy="307777"/>
          </a:xfrm>
          <a:prstGeom prst="rect">
            <a:avLst/>
          </a:prstGeom>
          <a:noFill/>
        </p:spPr>
        <p:txBody>
          <a:bodyPr wrap="square">
            <a:spAutoFit/>
          </a:bodyPr>
          <a:lstStyle/>
          <a:p>
            <a:pPr algn="l"/>
            <a:r>
              <a:rPr sz="1400" b="0" i="0" dirty="0">
                <a:solidFill>
                  <a:srgbClr val="262626"/>
                </a:solidFill>
                <a:latin typeface="Arial"/>
              </a:rPr>
              <a:t>•  Sun rising due east at 06:30</a:t>
            </a:r>
            <a:r>
              <a:rPr lang="en-US" sz="1400" b="0" i="0" dirty="0">
                <a:solidFill>
                  <a:srgbClr val="262626"/>
                </a:solidFill>
                <a:latin typeface="Arial"/>
              </a:rPr>
              <a:t>. </a:t>
            </a:r>
            <a:r>
              <a:rPr lang="en-US" sz="1400" dirty="0">
                <a:solidFill>
                  <a:srgbClr val="262626"/>
                </a:solidFill>
                <a:latin typeface="Arial"/>
              </a:rPr>
              <a:t>Potential to swim into glare at the start</a:t>
            </a:r>
            <a:endParaRPr sz="1400" b="0" i="0" dirty="0">
              <a:solidFill>
                <a:srgbClr val="262626"/>
              </a:solidFill>
              <a:latin typeface="Arial"/>
            </a:endParaRPr>
          </a:p>
        </p:txBody>
      </p:sp>
      <p:pic>
        <p:nvPicPr>
          <p:cNvPr id="40" name="Picture 39">
            <a:extLst>
              <a:ext uri="{FF2B5EF4-FFF2-40B4-BE49-F238E27FC236}">
                <a16:creationId xmlns:a16="http://schemas.microsoft.com/office/drawing/2014/main" id="{750059CD-C5AF-D37B-E267-5DA662CC2048}"/>
              </a:ext>
            </a:extLst>
          </p:cNvPr>
          <p:cNvPicPr>
            <a:picLocks noChangeAspect="1"/>
          </p:cNvPicPr>
          <p:nvPr/>
        </p:nvPicPr>
        <p:blipFill>
          <a:blip r:embed="rId3"/>
          <a:stretch>
            <a:fillRect/>
          </a:stretch>
        </p:blipFill>
        <p:spPr>
          <a:xfrm>
            <a:off x="274320" y="1143000"/>
            <a:ext cx="5141589" cy="50154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29184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40280"/>
            <a:ext cx="4754880" cy="1280160"/>
          </a:xfrm>
          <a:prstGeom prst="rect">
            <a:avLst/>
          </a:prstGeom>
          <a:noFill/>
        </p:spPr>
        <p:txBody>
          <a:bodyPr wrap="square">
            <a:spAutoFit/>
          </a:bodyPr>
          <a:lstStyle/>
          <a:p>
            <a:pPr algn="ctr"/>
            <a:r>
              <a:rPr sz="1000" b="0" i="1">
                <a:solidFill>
                  <a:srgbClr val="BFBFBF"/>
                </a:solidFill>
                <a:latin typeface="Arial"/>
              </a:rPr>
              <a:t>[Drop course map here]
Save the organiser course map as:
ppt files/support/huatulco_bike_course.png
It will be embedded automatically on the next run.</a:t>
            </a:r>
          </a:p>
        </p:txBody>
      </p:sp>
      <p:sp>
        <p:nvSpPr>
          <p:cNvPr id="10" name="TextBox 9"/>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asdeporte 2026 Elite Cycling course map</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20 km   •   4 × 5 km loops</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urban circuit (Bahía de Santa Cruz → Vialidad 5 → return)</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500" b="1" i="0">
                <a:solidFill>
                  <a:srgbClr val="262626"/>
                </a:solidFill>
                <a:latin typeface="Arial"/>
              </a:rPr>
              <a:t>+84.4 m / 84.6 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500" b="1" i="0">
                <a:solidFill>
                  <a:srgbClr val="262626"/>
                </a:solidFill>
                <a:latin typeface="Arial"/>
              </a:rPr>
              <a:t>~338 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500" b="1" i="0">
                <a:solidFill>
                  <a:srgbClr val="262626"/>
                </a:solidFill>
                <a:latin typeface="Arial"/>
              </a:rPr>
              <a:t>3.2%</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5" name="TextBox 24"/>
          <p:cNvSpPr txBox="1"/>
          <p:nvPr/>
        </p:nvSpPr>
        <p:spPr>
          <a:xfrm>
            <a:off x="5669280" y="3054096"/>
            <a:ext cx="1920240" cy="323165"/>
          </a:xfrm>
          <a:prstGeom prst="rect">
            <a:avLst/>
          </a:prstGeom>
          <a:noFill/>
        </p:spPr>
        <p:txBody>
          <a:bodyPr wrap="square">
            <a:spAutoFit/>
          </a:bodyPr>
          <a:lstStyle/>
          <a:p>
            <a:pPr algn="ctr"/>
            <a:r>
              <a:rPr sz="1500" b="1" i="0" dirty="0">
                <a:solidFill>
                  <a:srgbClr val="262626"/>
                </a:solidFill>
                <a:latin typeface="Arial"/>
              </a:rPr>
              <a:t>+1</a:t>
            </a:r>
            <a:r>
              <a:rPr lang="en-US" sz="1500" b="1" i="0" dirty="0">
                <a:solidFill>
                  <a:srgbClr val="262626"/>
                </a:solidFill>
                <a:latin typeface="Arial"/>
              </a:rPr>
              <a:t>6</a:t>
            </a:r>
            <a:r>
              <a:rPr sz="1500" b="1" i="0" dirty="0">
                <a:solidFill>
                  <a:srgbClr val="262626"/>
                </a:solidFill>
                <a:latin typeface="Arial"/>
              </a:rPr>
              <a:t>.4%</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Descent</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500" b="1" i="0">
                <a:solidFill>
                  <a:srgbClr val="262626"/>
                </a:solidFill>
                <a:latin typeface="Arial"/>
              </a:rPr>
              <a:t>-14.9%</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4 × 5 km</a:t>
            </a:r>
          </a:p>
        </p:txBody>
      </p:sp>
      <p:grpSp>
        <p:nvGrpSpPr>
          <p:cNvPr id="40" name="Group 39">
            <a:extLst>
              <a:ext uri="{FF2B5EF4-FFF2-40B4-BE49-F238E27FC236}">
                <a16:creationId xmlns:a16="http://schemas.microsoft.com/office/drawing/2014/main" id="{D6C1EDAE-3D34-C65A-D277-166D2F3D7BDB}"/>
              </a:ext>
            </a:extLst>
          </p:cNvPr>
          <p:cNvGrpSpPr/>
          <p:nvPr/>
        </p:nvGrpSpPr>
        <p:grpSpPr>
          <a:xfrm>
            <a:off x="5577840" y="3557270"/>
            <a:ext cx="6309360" cy="292608"/>
            <a:chOff x="5577840" y="3703320"/>
            <a:chExt cx="6309360" cy="292608"/>
          </a:xfrm>
        </p:grpSpPr>
        <p:sp>
          <p:nvSpPr>
            <p:cNvPr id="32" name="Rectangle 31"/>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grpSp>
      <p:sp>
        <p:nvSpPr>
          <p:cNvPr id="34" name="TextBox 33"/>
          <p:cNvSpPr txBox="1"/>
          <p:nvPr/>
        </p:nvSpPr>
        <p:spPr>
          <a:xfrm>
            <a:off x="5669280" y="3897990"/>
            <a:ext cx="6126480" cy="523220"/>
          </a:xfrm>
          <a:prstGeom prst="rect">
            <a:avLst/>
          </a:prstGeom>
          <a:noFill/>
        </p:spPr>
        <p:txBody>
          <a:bodyPr wrap="square">
            <a:spAutoFit/>
          </a:bodyPr>
          <a:lstStyle/>
          <a:p>
            <a:pPr algn="l"/>
            <a:r>
              <a:rPr sz="1400" b="0" i="0" dirty="0">
                <a:solidFill>
                  <a:srgbClr val="262626"/>
                </a:solidFill>
                <a:latin typeface="Arial"/>
              </a:rPr>
              <a:t>•  Out-and-back along Blvd Santa Cruz with a tight technical hairpin at the neutral wheel station</a:t>
            </a:r>
          </a:p>
        </p:txBody>
      </p:sp>
      <p:sp>
        <p:nvSpPr>
          <p:cNvPr id="35" name="TextBox 34"/>
          <p:cNvSpPr txBox="1"/>
          <p:nvPr/>
        </p:nvSpPr>
        <p:spPr>
          <a:xfrm>
            <a:off x="5669280" y="4641193"/>
            <a:ext cx="6126480" cy="307777"/>
          </a:xfrm>
          <a:prstGeom prst="rect">
            <a:avLst/>
          </a:prstGeom>
          <a:noFill/>
        </p:spPr>
        <p:txBody>
          <a:bodyPr wrap="square">
            <a:spAutoFit/>
          </a:bodyPr>
          <a:lstStyle/>
          <a:p>
            <a:pPr algn="l"/>
            <a:r>
              <a:rPr sz="1400" b="0" i="0" dirty="0">
                <a:solidFill>
                  <a:srgbClr val="262626"/>
                </a:solidFill>
                <a:latin typeface="Arial"/>
              </a:rPr>
              <a:t>•  Single sustained climb up </a:t>
            </a:r>
            <a:r>
              <a:rPr sz="1400" b="0" i="0" dirty="0" err="1">
                <a:solidFill>
                  <a:srgbClr val="262626"/>
                </a:solidFill>
                <a:latin typeface="Arial"/>
              </a:rPr>
              <a:t>Vialidad</a:t>
            </a:r>
            <a:r>
              <a:rPr sz="1400" b="0" i="0" dirty="0">
                <a:solidFill>
                  <a:srgbClr val="262626"/>
                </a:solidFill>
                <a:latin typeface="Arial"/>
              </a:rPr>
              <a:t> 5 </a:t>
            </a:r>
            <a:r>
              <a:rPr lang="en-US" sz="1400" dirty="0">
                <a:solidFill>
                  <a:srgbClr val="262626"/>
                </a:solidFill>
                <a:latin typeface="Arial"/>
              </a:rPr>
              <a:t>is </a:t>
            </a:r>
            <a:r>
              <a:rPr sz="1400" b="0" i="0" dirty="0">
                <a:solidFill>
                  <a:srgbClr val="262626"/>
                </a:solidFill>
                <a:latin typeface="Arial"/>
              </a:rPr>
              <a:t>short but punchy (max 1</a:t>
            </a:r>
            <a:r>
              <a:rPr lang="en-US" sz="1400" b="0" i="0" dirty="0">
                <a:solidFill>
                  <a:srgbClr val="262626"/>
                </a:solidFill>
                <a:latin typeface="Arial"/>
              </a:rPr>
              <a:t>6</a:t>
            </a:r>
            <a:r>
              <a:rPr sz="1400" b="0" i="0" dirty="0">
                <a:solidFill>
                  <a:srgbClr val="262626"/>
                </a:solidFill>
                <a:latin typeface="Arial"/>
              </a:rPr>
              <a:t>.4%)</a:t>
            </a:r>
          </a:p>
        </p:txBody>
      </p:sp>
      <p:sp>
        <p:nvSpPr>
          <p:cNvPr id="36" name="TextBox 35"/>
          <p:cNvSpPr txBox="1"/>
          <p:nvPr/>
        </p:nvSpPr>
        <p:spPr>
          <a:xfrm>
            <a:off x="5669280" y="5168953"/>
            <a:ext cx="6126480" cy="307777"/>
          </a:xfrm>
          <a:prstGeom prst="rect">
            <a:avLst/>
          </a:prstGeom>
          <a:noFill/>
        </p:spPr>
        <p:txBody>
          <a:bodyPr wrap="square">
            <a:spAutoFit/>
          </a:bodyPr>
          <a:lstStyle/>
          <a:p>
            <a:pPr algn="l"/>
            <a:r>
              <a:rPr sz="1400" b="0" i="0" dirty="0">
                <a:solidFill>
                  <a:srgbClr val="262626"/>
                </a:solidFill>
                <a:latin typeface="Arial"/>
              </a:rPr>
              <a:t>•  </a:t>
            </a:r>
            <a:r>
              <a:rPr lang="en-US" sz="1400" b="0" i="0" dirty="0">
                <a:solidFill>
                  <a:srgbClr val="262626"/>
                </a:solidFill>
                <a:latin typeface="Arial"/>
              </a:rPr>
              <a:t>Quick</a:t>
            </a:r>
            <a:r>
              <a:rPr sz="1400" b="0" i="0" dirty="0">
                <a:solidFill>
                  <a:srgbClr val="262626"/>
                </a:solidFill>
                <a:latin typeface="Arial"/>
              </a:rPr>
              <a:t> descent back into </a:t>
            </a:r>
            <a:r>
              <a:rPr lang="en-US" sz="1400" b="0" i="0" dirty="0">
                <a:solidFill>
                  <a:srgbClr val="262626"/>
                </a:solidFill>
                <a:latin typeface="Arial"/>
              </a:rPr>
              <a:t>town center</a:t>
            </a:r>
            <a:r>
              <a:rPr sz="1400" b="0" i="0" dirty="0">
                <a:solidFill>
                  <a:srgbClr val="262626"/>
                </a:solidFill>
                <a:latin typeface="Arial"/>
              </a:rPr>
              <a:t>; max -14.9% grade</a:t>
            </a:r>
          </a:p>
        </p:txBody>
      </p:sp>
      <p:sp>
        <p:nvSpPr>
          <p:cNvPr id="37" name="TextBox 36"/>
          <p:cNvSpPr txBox="1"/>
          <p:nvPr/>
        </p:nvSpPr>
        <p:spPr>
          <a:xfrm>
            <a:off x="5669280" y="5696712"/>
            <a:ext cx="6126480" cy="307777"/>
          </a:xfrm>
          <a:prstGeom prst="rect">
            <a:avLst/>
          </a:prstGeom>
          <a:noFill/>
        </p:spPr>
        <p:txBody>
          <a:bodyPr wrap="square">
            <a:spAutoFit/>
          </a:bodyPr>
          <a:lstStyle/>
          <a:p>
            <a:pPr algn="l"/>
            <a:r>
              <a:rPr sz="1400" b="0" i="0" dirty="0">
                <a:solidFill>
                  <a:srgbClr val="262626"/>
                </a:solidFill>
                <a:latin typeface="Arial"/>
              </a:rPr>
              <a:t>•  Tight start/finish chicane through transition</a:t>
            </a:r>
          </a:p>
        </p:txBody>
      </p:sp>
      <p:pic>
        <p:nvPicPr>
          <p:cNvPr id="42" name="Picture 41">
            <a:extLst>
              <a:ext uri="{FF2B5EF4-FFF2-40B4-BE49-F238E27FC236}">
                <a16:creationId xmlns:a16="http://schemas.microsoft.com/office/drawing/2014/main" id="{BDE3C960-6F2D-3A4F-0428-F1B1B8F37935}"/>
              </a:ext>
            </a:extLst>
          </p:cNvPr>
          <p:cNvPicPr>
            <a:picLocks noChangeAspect="1"/>
          </p:cNvPicPr>
          <p:nvPr/>
        </p:nvPicPr>
        <p:blipFill>
          <a:blip r:embed="rId3"/>
          <a:stretch>
            <a:fillRect/>
          </a:stretch>
        </p:blipFill>
        <p:spPr>
          <a:xfrm>
            <a:off x="265303" y="1118648"/>
            <a:ext cx="5120640" cy="49438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4684105"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run course map here]
Save the organiser map as:
ppt files/support/huatulco_run_course.png
It will be embedded automatically on the next run.</a:t>
            </a:r>
          </a:p>
        </p:txBody>
      </p:sp>
      <p:sp>
        <p:nvSpPr>
          <p:cNvPr id="10" name="TextBox 9"/>
          <p:cNvSpPr txBox="1"/>
          <p:nvPr/>
        </p:nvSpPr>
        <p:spPr>
          <a:xfrm>
            <a:off x="274320" y="5988050"/>
            <a:ext cx="5120640" cy="228600"/>
          </a:xfrm>
          <a:prstGeom prst="rect">
            <a:avLst/>
          </a:prstGeom>
          <a:noFill/>
        </p:spPr>
        <p:txBody>
          <a:bodyPr wrap="square">
            <a:spAutoFit/>
          </a:bodyPr>
          <a:lstStyle/>
          <a:p>
            <a:pPr algn="ctr"/>
            <a:r>
              <a:rPr sz="900" b="0" i="1" dirty="0">
                <a:solidFill>
                  <a:srgbClr val="BFBFBF"/>
                </a:solidFill>
                <a:latin typeface="Arial"/>
              </a:rPr>
              <a:t>Source: </a:t>
            </a:r>
            <a:r>
              <a:rPr sz="900" b="0" i="1" dirty="0" err="1">
                <a:solidFill>
                  <a:srgbClr val="BFBFBF"/>
                </a:solidFill>
                <a:latin typeface="Arial"/>
              </a:rPr>
              <a:t>asdeporte</a:t>
            </a:r>
            <a:r>
              <a:rPr sz="900" b="0" i="1" dirty="0">
                <a:solidFill>
                  <a:srgbClr val="BFBFBF"/>
                </a:solidFill>
                <a:latin typeface="Arial"/>
              </a:rPr>
              <a:t> 2026 Elite Run course map (Carrera Elite — Boulevard Santa Cruz)</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5.0 km   •   2 × 2.5 km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Paved urban — Blvd Santa Cruz / Camino a Santa Cruz</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5.0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2 × 2.5 km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~111 m</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4.2%</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+17.3% / -15.3%</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HIGH</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307777"/>
          </a:xfrm>
          <a:prstGeom prst="rect">
            <a:avLst/>
          </a:prstGeom>
          <a:noFill/>
        </p:spPr>
        <p:txBody>
          <a:bodyPr wrap="square">
            <a:spAutoFit/>
          </a:bodyPr>
          <a:lstStyle/>
          <a:p>
            <a:pPr algn="l"/>
            <a:r>
              <a:rPr sz="1400" b="0" i="0" dirty="0">
                <a:solidFill>
                  <a:srgbClr val="262626"/>
                </a:solidFill>
                <a:latin typeface="Arial"/>
              </a:rPr>
              <a:t>•  Hilly 2.5 km out-and-back loop</a:t>
            </a:r>
            <a:r>
              <a:rPr lang="en-US" sz="1400" b="0" i="0" dirty="0">
                <a:solidFill>
                  <a:srgbClr val="262626"/>
                </a:solidFill>
                <a:latin typeface="Arial"/>
              </a:rPr>
              <a:t>. </a:t>
            </a:r>
            <a:r>
              <a:rPr sz="1400" b="0" i="0" dirty="0">
                <a:solidFill>
                  <a:srgbClr val="262626"/>
                </a:solidFill>
                <a:latin typeface="Arial"/>
              </a:rPr>
              <a:t>+55.3 m gain per lap</a:t>
            </a:r>
          </a:p>
        </p:txBody>
      </p:sp>
      <p:sp>
        <p:nvSpPr>
          <p:cNvPr id="35" name="TextBox 34"/>
          <p:cNvSpPr txBox="1"/>
          <p:nvPr/>
        </p:nvSpPr>
        <p:spPr>
          <a:xfrm>
            <a:off x="5669280" y="4448048"/>
            <a:ext cx="6126480" cy="307777"/>
          </a:xfrm>
          <a:prstGeom prst="rect">
            <a:avLst/>
          </a:prstGeom>
          <a:noFill/>
        </p:spPr>
        <p:txBody>
          <a:bodyPr wrap="square">
            <a:spAutoFit/>
          </a:bodyPr>
          <a:lstStyle/>
          <a:p>
            <a:pPr algn="l"/>
            <a:r>
              <a:rPr sz="1400" b="0" i="0" dirty="0">
                <a:solidFill>
                  <a:srgbClr val="262626"/>
                </a:solidFill>
                <a:latin typeface="Arial"/>
              </a:rPr>
              <a:t>•  Max climb 17.3% on Camino a Santa Cruz</a:t>
            </a:r>
            <a:r>
              <a:rPr lang="en-US" sz="1400" b="0" i="0" dirty="0">
                <a:solidFill>
                  <a:srgbClr val="262626"/>
                </a:solidFill>
                <a:latin typeface="Arial"/>
              </a:rPr>
              <a:t>; Short steep climb</a:t>
            </a:r>
            <a:endParaRPr sz="1400" b="0" i="0" dirty="0">
              <a:solidFill>
                <a:srgbClr val="262626"/>
              </a:solidFill>
              <a:latin typeface="Arial"/>
            </a:endParaRPr>
          </a:p>
        </p:txBody>
      </p:sp>
      <p:sp>
        <p:nvSpPr>
          <p:cNvPr id="36" name="TextBox 35"/>
          <p:cNvSpPr txBox="1"/>
          <p:nvPr/>
        </p:nvSpPr>
        <p:spPr>
          <a:xfrm>
            <a:off x="5669280" y="4918456"/>
            <a:ext cx="6126480" cy="307777"/>
          </a:xfrm>
          <a:prstGeom prst="rect">
            <a:avLst/>
          </a:prstGeom>
          <a:noFill/>
        </p:spPr>
        <p:txBody>
          <a:bodyPr wrap="square">
            <a:spAutoFit/>
          </a:bodyPr>
          <a:lstStyle/>
          <a:p>
            <a:pPr algn="l"/>
            <a:r>
              <a:rPr sz="1400" b="0" i="0" dirty="0">
                <a:solidFill>
                  <a:srgbClr val="262626"/>
                </a:solidFill>
                <a:latin typeface="Arial"/>
              </a:rPr>
              <a:t>•  Steep -15.3% descent back into Bahía de Santa Cruz</a:t>
            </a:r>
          </a:p>
        </p:txBody>
      </p:sp>
      <p:sp>
        <p:nvSpPr>
          <p:cNvPr id="37" name="TextBox 36"/>
          <p:cNvSpPr txBox="1"/>
          <p:nvPr/>
        </p:nvSpPr>
        <p:spPr>
          <a:xfrm>
            <a:off x="5669280" y="5388864"/>
            <a:ext cx="6126480" cy="307777"/>
          </a:xfrm>
          <a:prstGeom prst="rect">
            <a:avLst/>
          </a:prstGeom>
          <a:noFill/>
        </p:spPr>
        <p:txBody>
          <a:bodyPr wrap="square">
            <a:spAutoFit/>
          </a:bodyPr>
          <a:lstStyle/>
          <a:p>
            <a:pPr algn="l"/>
            <a:r>
              <a:rPr sz="1400" b="0" i="0" dirty="0">
                <a:solidFill>
                  <a:srgbClr val="262626"/>
                </a:solidFill>
                <a:latin typeface="Arial"/>
              </a:rPr>
              <a:t>•  08:30 men's start</a:t>
            </a:r>
            <a:r>
              <a:rPr lang="en-US" sz="1400" b="0" i="0" dirty="0">
                <a:solidFill>
                  <a:srgbClr val="262626"/>
                </a:solidFill>
                <a:latin typeface="Arial"/>
              </a:rPr>
              <a:t> will likely have hot temperatures</a:t>
            </a:r>
            <a:endParaRPr sz="1400" b="0" i="0" dirty="0">
              <a:solidFill>
                <a:srgbClr val="262626"/>
              </a:solidFill>
              <a:latin typeface="Arial"/>
            </a:endParaRPr>
          </a:p>
        </p:txBody>
      </p:sp>
      <p:sp>
        <p:nvSpPr>
          <p:cNvPr id="39" name="TextBox 38"/>
          <p:cNvSpPr txBox="1"/>
          <p:nvPr/>
        </p:nvSpPr>
        <p:spPr>
          <a:xfrm>
            <a:off x="5669280" y="5796238"/>
            <a:ext cx="6126480" cy="523220"/>
          </a:xfrm>
          <a:prstGeom prst="rect">
            <a:avLst/>
          </a:prstGeom>
          <a:noFill/>
        </p:spPr>
        <p:txBody>
          <a:bodyPr wrap="square">
            <a:spAutoFit/>
          </a:bodyPr>
          <a:lstStyle/>
          <a:p>
            <a:pPr algn="l"/>
            <a:r>
              <a:rPr lang="en-US" sz="1400" b="0" i="0" dirty="0">
                <a:solidFill>
                  <a:srgbClr val="262626"/>
                </a:solidFill>
                <a:latin typeface="Arial"/>
              </a:rPr>
              <a:t>•  Three turns into the closing 0.5km of the race. Come into sprint with good positioning</a:t>
            </a:r>
          </a:p>
        </p:txBody>
      </p:sp>
      <p:pic>
        <p:nvPicPr>
          <p:cNvPr id="41" name="Picture 40">
            <a:extLst>
              <a:ext uri="{FF2B5EF4-FFF2-40B4-BE49-F238E27FC236}">
                <a16:creationId xmlns:a16="http://schemas.microsoft.com/office/drawing/2014/main" id="{80FFC7F2-102D-DFCF-529A-BEDD33522F62}"/>
              </a:ext>
            </a:extLst>
          </p:cNvPr>
          <p:cNvPicPr>
            <a:picLocks noChangeAspect="1"/>
          </p:cNvPicPr>
          <p:nvPr/>
        </p:nvPicPr>
        <p:blipFill>
          <a:blip r:embed="rId3"/>
          <a:stretch>
            <a:fillRect/>
          </a:stretch>
        </p:blipFill>
        <p:spPr>
          <a:xfrm>
            <a:off x="274320" y="1143000"/>
            <a:ext cx="4684105" cy="46841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dirty="0">
                <a:solidFill>
                  <a:srgbClr val="002060"/>
                </a:solidFill>
                <a:latin typeface="Arial"/>
              </a:rPr>
              <a:t>2026-06-14   •   Historical climatology</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7498079" y="16459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682496"/>
            <a:ext cx="4233672" cy="246888"/>
          </a:xfrm>
          <a:prstGeom prst="rect">
            <a:avLst/>
          </a:prstGeom>
          <a:noFill/>
        </p:spPr>
        <p:txBody>
          <a:bodyPr wrap="square">
            <a:spAutoFit/>
          </a:bodyPr>
          <a:lstStyle/>
          <a:p>
            <a:pPr algn="ctr"/>
            <a:r>
              <a:rPr sz="1100" b="1" i="0">
                <a:solidFill>
                  <a:srgbClr val="FFFFFF"/>
                </a:solidFill>
                <a:latin typeface="Arial"/>
              </a:rPr>
              <a:t>Female start — 06:30</a:t>
            </a:r>
          </a:p>
        </p:txBody>
      </p:sp>
      <p:sp>
        <p:nvSpPr>
          <p:cNvPr id="13" name="Rectangle 12"/>
          <p:cNvSpPr/>
          <p:nvPr/>
        </p:nvSpPr>
        <p:spPr>
          <a:xfrm>
            <a:off x="7516367"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34655" y="20391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15" name="TextBox 14"/>
          <p:cNvSpPr txBox="1"/>
          <p:nvPr/>
        </p:nvSpPr>
        <p:spPr>
          <a:xfrm>
            <a:off x="7534655" y="2212848"/>
            <a:ext cx="1399032" cy="310896"/>
          </a:xfrm>
          <a:prstGeom prst="rect">
            <a:avLst/>
          </a:prstGeom>
          <a:noFill/>
        </p:spPr>
        <p:txBody>
          <a:bodyPr wrap="square">
            <a:spAutoFit/>
          </a:bodyPr>
          <a:lstStyle/>
          <a:p>
            <a:pPr algn="ctr"/>
            <a:r>
              <a:rPr sz="1200" b="1" i="0">
                <a:solidFill>
                  <a:srgbClr val="262626"/>
                </a:solidFill>
                <a:latin typeface="Arial"/>
              </a:rPr>
              <a:t>23.8 °C</a:t>
            </a:r>
          </a:p>
        </p:txBody>
      </p:sp>
      <p:sp>
        <p:nvSpPr>
          <p:cNvPr id="16" name="Rectangle 15"/>
          <p:cNvSpPr/>
          <p:nvPr/>
        </p:nvSpPr>
        <p:spPr>
          <a:xfrm>
            <a:off x="8988551"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06839" y="20391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18" name="TextBox 17"/>
          <p:cNvSpPr txBox="1"/>
          <p:nvPr/>
        </p:nvSpPr>
        <p:spPr>
          <a:xfrm>
            <a:off x="9006839" y="2212848"/>
            <a:ext cx="1399032" cy="310896"/>
          </a:xfrm>
          <a:prstGeom prst="rect">
            <a:avLst/>
          </a:prstGeom>
          <a:noFill/>
        </p:spPr>
        <p:txBody>
          <a:bodyPr wrap="square">
            <a:spAutoFit/>
          </a:bodyPr>
          <a:lstStyle/>
          <a:p>
            <a:pPr algn="ctr"/>
            <a:r>
              <a:rPr sz="1200" b="1" i="0">
                <a:solidFill>
                  <a:srgbClr val="262626"/>
                </a:solidFill>
                <a:latin typeface="Arial"/>
              </a:rPr>
              <a:t>28.3 °C</a:t>
            </a:r>
          </a:p>
        </p:txBody>
      </p:sp>
      <p:sp>
        <p:nvSpPr>
          <p:cNvPr id="19" name="Rectangle 18"/>
          <p:cNvSpPr/>
          <p:nvPr/>
        </p:nvSpPr>
        <p:spPr>
          <a:xfrm>
            <a:off x="10460735"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79023" y="20391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21" name="TextBox 20"/>
          <p:cNvSpPr txBox="1"/>
          <p:nvPr/>
        </p:nvSpPr>
        <p:spPr>
          <a:xfrm>
            <a:off x="10479023" y="2212848"/>
            <a:ext cx="1399032" cy="310896"/>
          </a:xfrm>
          <a:prstGeom prst="rect">
            <a:avLst/>
          </a:prstGeom>
          <a:noFill/>
        </p:spPr>
        <p:txBody>
          <a:bodyPr wrap="square">
            <a:spAutoFit/>
          </a:bodyPr>
          <a:lstStyle/>
          <a:p>
            <a:pPr algn="ctr"/>
            <a:r>
              <a:rPr sz="1200" b="1" i="0">
                <a:solidFill>
                  <a:srgbClr val="262626"/>
                </a:solidFill>
                <a:latin typeface="Arial"/>
              </a:rPr>
              <a:t>91%</a:t>
            </a:r>
          </a:p>
        </p:txBody>
      </p:sp>
      <p:sp>
        <p:nvSpPr>
          <p:cNvPr id="22" name="Rectangle 21"/>
          <p:cNvSpPr/>
          <p:nvPr/>
        </p:nvSpPr>
        <p:spPr>
          <a:xfrm>
            <a:off x="7516367"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34655" y="26060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24" name="TextBox 23"/>
          <p:cNvSpPr txBox="1"/>
          <p:nvPr/>
        </p:nvSpPr>
        <p:spPr>
          <a:xfrm>
            <a:off x="7534655" y="2779776"/>
            <a:ext cx="1399032" cy="310896"/>
          </a:xfrm>
          <a:prstGeom prst="rect">
            <a:avLst/>
          </a:prstGeom>
          <a:noFill/>
        </p:spPr>
        <p:txBody>
          <a:bodyPr wrap="square">
            <a:spAutoFit/>
          </a:bodyPr>
          <a:lstStyle/>
          <a:p>
            <a:pPr algn="ctr"/>
            <a:r>
              <a:rPr sz="1200" b="1" i="0">
                <a:solidFill>
                  <a:srgbClr val="262626"/>
                </a:solidFill>
                <a:latin typeface="Arial"/>
              </a:rPr>
              <a:t>3.7 km/h</a:t>
            </a:r>
          </a:p>
        </p:txBody>
      </p:sp>
      <p:sp>
        <p:nvSpPr>
          <p:cNvPr id="25" name="Rectangle 24"/>
          <p:cNvSpPr/>
          <p:nvPr/>
        </p:nvSpPr>
        <p:spPr>
          <a:xfrm>
            <a:off x="8988551"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39" y="26060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27" name="TextBox 26"/>
          <p:cNvSpPr txBox="1"/>
          <p:nvPr/>
        </p:nvSpPr>
        <p:spPr>
          <a:xfrm>
            <a:off x="9006839" y="27797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28" name="Rectangle 27"/>
          <p:cNvSpPr/>
          <p:nvPr/>
        </p:nvSpPr>
        <p:spPr>
          <a:xfrm>
            <a:off x="10460735"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79023" y="26060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30" name="TextBox 29"/>
          <p:cNvSpPr txBox="1"/>
          <p:nvPr/>
        </p:nvSpPr>
        <p:spPr>
          <a:xfrm>
            <a:off x="10479023" y="2779776"/>
            <a:ext cx="1399032" cy="310896"/>
          </a:xfrm>
          <a:prstGeom prst="rect">
            <a:avLst/>
          </a:prstGeom>
          <a:noFill/>
        </p:spPr>
        <p:txBody>
          <a:bodyPr wrap="square">
            <a:spAutoFit/>
          </a:bodyPr>
          <a:lstStyle/>
          <a:p>
            <a:pPr algn="ctr"/>
            <a:r>
              <a:rPr sz="1200" b="1" i="0">
                <a:solidFill>
                  <a:srgbClr val="E66A00"/>
                </a:solidFill>
                <a:latin typeface="Arial"/>
              </a:rPr>
              <a:t>HIGH</a:t>
            </a:r>
          </a:p>
        </p:txBody>
      </p:sp>
      <p:sp>
        <p:nvSpPr>
          <p:cNvPr id="31" name="Rectangle 30"/>
          <p:cNvSpPr/>
          <p:nvPr/>
        </p:nvSpPr>
        <p:spPr>
          <a:xfrm>
            <a:off x="7498079" y="32461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19" y="3282696"/>
            <a:ext cx="4233672" cy="246888"/>
          </a:xfrm>
          <a:prstGeom prst="rect">
            <a:avLst/>
          </a:prstGeom>
          <a:noFill/>
        </p:spPr>
        <p:txBody>
          <a:bodyPr wrap="square">
            <a:spAutoFit/>
          </a:bodyPr>
          <a:lstStyle/>
          <a:p>
            <a:pPr algn="ctr"/>
            <a:r>
              <a:rPr sz="1100" b="1" i="0">
                <a:solidFill>
                  <a:srgbClr val="FFFFFF"/>
                </a:solidFill>
                <a:latin typeface="Arial"/>
              </a:rPr>
              <a:t>Male start — 08:30</a:t>
            </a:r>
          </a:p>
        </p:txBody>
      </p:sp>
      <p:sp>
        <p:nvSpPr>
          <p:cNvPr id="33" name="Rectangle 32"/>
          <p:cNvSpPr/>
          <p:nvPr/>
        </p:nvSpPr>
        <p:spPr>
          <a:xfrm>
            <a:off x="7516367"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34655" y="36393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35" name="TextBox 34"/>
          <p:cNvSpPr txBox="1"/>
          <p:nvPr/>
        </p:nvSpPr>
        <p:spPr>
          <a:xfrm>
            <a:off x="7534655" y="3813048"/>
            <a:ext cx="1399032" cy="310896"/>
          </a:xfrm>
          <a:prstGeom prst="rect">
            <a:avLst/>
          </a:prstGeom>
          <a:noFill/>
        </p:spPr>
        <p:txBody>
          <a:bodyPr wrap="square">
            <a:spAutoFit/>
          </a:bodyPr>
          <a:lstStyle/>
          <a:p>
            <a:pPr algn="ctr"/>
            <a:r>
              <a:rPr sz="1200" b="1" i="0">
                <a:solidFill>
                  <a:srgbClr val="262626"/>
                </a:solidFill>
                <a:latin typeface="Arial"/>
              </a:rPr>
              <a:t>26.6 °C</a:t>
            </a:r>
          </a:p>
        </p:txBody>
      </p:sp>
      <p:sp>
        <p:nvSpPr>
          <p:cNvPr id="36" name="Rectangle 35"/>
          <p:cNvSpPr/>
          <p:nvPr/>
        </p:nvSpPr>
        <p:spPr>
          <a:xfrm>
            <a:off x="8988551"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6839" y="36393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38" name="TextBox 37"/>
          <p:cNvSpPr txBox="1"/>
          <p:nvPr/>
        </p:nvSpPr>
        <p:spPr>
          <a:xfrm>
            <a:off x="9006839" y="3813048"/>
            <a:ext cx="1399032" cy="310896"/>
          </a:xfrm>
          <a:prstGeom prst="rect">
            <a:avLst/>
          </a:prstGeom>
          <a:noFill/>
        </p:spPr>
        <p:txBody>
          <a:bodyPr wrap="square">
            <a:spAutoFit/>
          </a:bodyPr>
          <a:lstStyle/>
          <a:p>
            <a:pPr algn="ctr"/>
            <a:r>
              <a:rPr sz="1200" b="1" i="0">
                <a:solidFill>
                  <a:srgbClr val="262626"/>
                </a:solidFill>
                <a:latin typeface="Arial"/>
              </a:rPr>
              <a:t>31.4 °C</a:t>
            </a:r>
          </a:p>
        </p:txBody>
      </p:sp>
      <p:sp>
        <p:nvSpPr>
          <p:cNvPr id="39" name="Rectangle 38"/>
          <p:cNvSpPr/>
          <p:nvPr/>
        </p:nvSpPr>
        <p:spPr>
          <a:xfrm>
            <a:off x="10460735"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79023" y="36393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41" name="TextBox 40"/>
          <p:cNvSpPr txBox="1"/>
          <p:nvPr/>
        </p:nvSpPr>
        <p:spPr>
          <a:xfrm>
            <a:off x="10479023" y="3813048"/>
            <a:ext cx="1399032" cy="310896"/>
          </a:xfrm>
          <a:prstGeom prst="rect">
            <a:avLst/>
          </a:prstGeom>
          <a:noFill/>
        </p:spPr>
        <p:txBody>
          <a:bodyPr wrap="square">
            <a:spAutoFit/>
          </a:bodyPr>
          <a:lstStyle/>
          <a:p>
            <a:pPr algn="ctr"/>
            <a:r>
              <a:rPr sz="1200" b="1" i="0">
                <a:solidFill>
                  <a:srgbClr val="262626"/>
                </a:solidFill>
                <a:latin typeface="Arial"/>
              </a:rPr>
              <a:t>81%</a:t>
            </a:r>
          </a:p>
        </p:txBody>
      </p:sp>
      <p:sp>
        <p:nvSpPr>
          <p:cNvPr id="42" name="Rectangle 41"/>
          <p:cNvSpPr/>
          <p:nvPr/>
        </p:nvSpPr>
        <p:spPr>
          <a:xfrm>
            <a:off x="7516367"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34655" y="42062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44" name="TextBox 43"/>
          <p:cNvSpPr txBox="1"/>
          <p:nvPr/>
        </p:nvSpPr>
        <p:spPr>
          <a:xfrm>
            <a:off x="7534655" y="4379976"/>
            <a:ext cx="1399032" cy="310896"/>
          </a:xfrm>
          <a:prstGeom prst="rect">
            <a:avLst/>
          </a:prstGeom>
          <a:noFill/>
        </p:spPr>
        <p:txBody>
          <a:bodyPr wrap="square">
            <a:spAutoFit/>
          </a:bodyPr>
          <a:lstStyle/>
          <a:p>
            <a:pPr algn="ctr"/>
            <a:r>
              <a:rPr sz="1200" b="1" i="0">
                <a:solidFill>
                  <a:srgbClr val="262626"/>
                </a:solidFill>
                <a:latin typeface="Arial"/>
              </a:rPr>
              <a:t>3.8 km/h</a:t>
            </a:r>
          </a:p>
        </p:txBody>
      </p:sp>
      <p:sp>
        <p:nvSpPr>
          <p:cNvPr id="45" name="Rectangle 44"/>
          <p:cNvSpPr/>
          <p:nvPr/>
        </p:nvSpPr>
        <p:spPr>
          <a:xfrm>
            <a:off x="8988551"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06839" y="42062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47" name="TextBox 46"/>
          <p:cNvSpPr txBox="1"/>
          <p:nvPr/>
        </p:nvSpPr>
        <p:spPr>
          <a:xfrm>
            <a:off x="9006839" y="43799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48" name="Rectangle 47"/>
          <p:cNvSpPr/>
          <p:nvPr/>
        </p:nvSpPr>
        <p:spPr>
          <a:xfrm>
            <a:off x="10460735"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479023" y="42062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50" name="TextBox 49"/>
          <p:cNvSpPr txBox="1"/>
          <p:nvPr/>
        </p:nvSpPr>
        <p:spPr>
          <a:xfrm>
            <a:off x="10479023" y="4379976"/>
            <a:ext cx="1399032" cy="310896"/>
          </a:xfrm>
          <a:prstGeom prst="rect">
            <a:avLst/>
          </a:prstGeom>
          <a:noFill/>
        </p:spPr>
        <p:txBody>
          <a:bodyPr wrap="square">
            <a:spAutoFit/>
          </a:bodyPr>
          <a:lstStyle/>
          <a:p>
            <a:pPr algn="ctr"/>
            <a:r>
              <a:rPr sz="1200" b="1" i="0">
                <a:solidFill>
                  <a:srgbClr val="E66A00"/>
                </a:solidFill>
                <a:latin typeface="Arial"/>
              </a:rPr>
              <a:t>HIGH</a:t>
            </a:r>
          </a:p>
        </p:txBody>
      </p:sp>
      <p:sp>
        <p:nvSpPr>
          <p:cNvPr id="51" name="Rectangle 5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54" name="TextBox 53"/>
          <p:cNvSpPr txBox="1"/>
          <p:nvPr/>
        </p:nvSpPr>
        <p:spPr>
          <a:xfrm>
            <a:off x="365760" y="5239512"/>
            <a:ext cx="11430000" cy="307777"/>
          </a:xfrm>
          <a:prstGeom prst="rect">
            <a:avLst/>
          </a:prstGeom>
          <a:noFill/>
        </p:spPr>
        <p:txBody>
          <a:bodyPr wrap="square">
            <a:spAutoFit/>
          </a:bodyPr>
          <a:lstStyle/>
          <a:p>
            <a:pPr algn="l"/>
            <a:r>
              <a:rPr sz="1400" b="0" i="0" dirty="0">
                <a:solidFill>
                  <a:srgbClr val="262626"/>
                </a:solidFill>
                <a:latin typeface="Arial"/>
              </a:rPr>
              <a:t>•  Men's race runs 2.8 °C hotter than women's</a:t>
            </a:r>
          </a:p>
        </p:txBody>
      </p:sp>
      <p:sp>
        <p:nvSpPr>
          <p:cNvPr id="55" name="TextBox 54"/>
          <p:cNvSpPr txBox="1"/>
          <p:nvPr/>
        </p:nvSpPr>
        <p:spPr>
          <a:xfrm>
            <a:off x="274320" y="6446520"/>
            <a:ext cx="11640312" cy="228600"/>
          </a:xfrm>
          <a:prstGeom prst="rect">
            <a:avLst/>
          </a:prstGeom>
          <a:noFill/>
        </p:spPr>
        <p:txBody>
          <a:bodyPr wrap="square">
            <a:spAutoFit/>
          </a:bodyPr>
          <a:lstStyle/>
          <a:p>
            <a:pPr algn="ctr"/>
            <a:r>
              <a:rPr sz="900" b="0" i="1" dirty="0">
                <a:solidFill>
                  <a:srgbClr val="BFBFBF"/>
                </a:solidFill>
                <a:latin typeface="Arial"/>
              </a:rPr>
              <a:t>Data source: Open-</a:t>
            </a:r>
            <a:r>
              <a:rPr sz="900" b="0" i="1" dirty="0" err="1">
                <a:solidFill>
                  <a:srgbClr val="BFBFBF"/>
                </a:solidFill>
                <a:latin typeface="Arial"/>
              </a:rPr>
              <a:t>Meteo</a:t>
            </a:r>
            <a:r>
              <a:rPr sz="900" b="0" i="1" dirty="0">
                <a:solidFill>
                  <a:srgbClr val="BFBFBF"/>
                </a:solidFill>
                <a:latin typeface="Arial"/>
              </a:rPr>
              <a:t>. Forecast will replace climatology once race day is within 16 days.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453339693"/>
              </p:ext>
            </p:extLst>
          </p:nvPr>
        </p:nvGraphicFramePr>
        <p:xfrm>
          <a:off x="274320" y="1437894"/>
          <a:ext cx="4709158" cy="2331425"/>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3708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dirty="0" err="1">
                          <a:solidFill>
                            <a:srgbClr val="FFFFFF"/>
                          </a:solidFill>
                          <a:latin typeface="Arial"/>
                        </a:rPr>
                        <a:t>Precip</a:t>
                      </a:r>
                      <a:r>
                        <a:rPr sz="1000" b="1" i="0" dirty="0">
                          <a:solidFill>
                            <a:srgbClr val="FFFFFF"/>
                          </a:solidFill>
                          <a:latin typeface="Arial"/>
                        </a:rPr>
                        <a:t> mm</a:t>
                      </a:r>
                    </a:p>
                  </a:txBody>
                  <a:tcPr>
                    <a:solidFill>
                      <a:srgbClr val="002060"/>
                    </a:solidFill>
                  </a:tcPr>
                </a:tc>
                <a:extLst>
                  <a:ext uri="{0D108BD9-81ED-4DB2-BD59-A6C34878D82A}">
                    <a16:rowId xmlns:a16="http://schemas.microsoft.com/office/drawing/2014/main" val="10000"/>
                  </a:ext>
                </a:extLst>
              </a:tr>
              <a:tr h="276455">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Jun 10</a:t>
                      </a:r>
                    </a:p>
                  </a:txBody>
                  <a:tcPr>
                    <a:solidFill>
                      <a:srgbClr val="FFFFFF"/>
                    </a:solidFill>
                  </a:tcPr>
                </a:tc>
                <a:tc>
                  <a:txBody>
                    <a:bodyPr/>
                    <a:lstStyle/>
                    <a:p>
                      <a:pPr algn="ctr"/>
                      <a:r>
                        <a:rPr sz="1000" b="0" i="0">
                          <a:solidFill>
                            <a:srgbClr val="262626"/>
                          </a:solidFill>
                          <a:latin typeface="Arial"/>
                        </a:rPr>
                        <a:t>29.2</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10</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r h="276455">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Jun 08</a:t>
                      </a:r>
                    </a:p>
                  </a:txBody>
                  <a:tcPr>
                    <a:solidFill>
                      <a:srgbClr val="F2F2F2"/>
                    </a:solidFill>
                  </a:tcPr>
                </a:tc>
                <a:tc>
                  <a:txBody>
                    <a:bodyPr/>
                    <a:lstStyle/>
                    <a:p>
                      <a:pPr algn="ctr"/>
                      <a:r>
                        <a:rPr sz="1000" b="0" i="0">
                          <a:solidFill>
                            <a:srgbClr val="262626"/>
                          </a:solidFill>
                          <a:latin typeface="Arial"/>
                        </a:rPr>
                        <a:t>28.3</a:t>
                      </a:r>
                    </a:p>
                  </a:txBody>
                  <a:tcPr>
                    <a:solidFill>
                      <a:srgbClr val="F2F2F2"/>
                    </a:solidFill>
                  </a:tcPr>
                </a:tc>
                <a:tc>
                  <a:txBody>
                    <a:bodyPr/>
                    <a:lstStyle/>
                    <a:p>
                      <a:pPr algn="ctr"/>
                      <a:r>
                        <a:rPr sz="1000" b="0" i="0">
                          <a:solidFill>
                            <a:srgbClr val="262626"/>
                          </a:solidFill>
                          <a:latin typeface="Arial"/>
                        </a:rPr>
                        <a:t>77%</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extLst>
                  <a:ext uri="{0D108BD9-81ED-4DB2-BD59-A6C34878D82A}">
                    <a16:rowId xmlns:a16="http://schemas.microsoft.com/office/drawing/2014/main" val="10002"/>
                  </a:ext>
                </a:extLst>
              </a:tr>
              <a:tr h="276455">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Jun 12</a:t>
                      </a:r>
                    </a:p>
                  </a:txBody>
                  <a:tcPr>
                    <a:solidFill>
                      <a:srgbClr val="FFFFFF"/>
                    </a:solidFill>
                  </a:tcPr>
                </a:tc>
                <a:tc>
                  <a:txBody>
                    <a:bodyPr/>
                    <a:lstStyle/>
                    <a:p>
                      <a:pPr algn="ctr"/>
                      <a:r>
                        <a:rPr sz="1000" b="0" i="0">
                          <a:solidFill>
                            <a:srgbClr val="262626"/>
                          </a:solidFill>
                          <a:latin typeface="Arial"/>
                        </a:rPr>
                        <a:t>26.8</a:t>
                      </a:r>
                    </a:p>
                  </a:txBody>
                  <a:tcPr>
                    <a:solidFill>
                      <a:srgbClr val="FFFFFF"/>
                    </a:solidFill>
                  </a:tcPr>
                </a:tc>
                <a:tc>
                  <a:txBody>
                    <a:bodyPr/>
                    <a:lstStyle/>
                    <a:p>
                      <a:pPr algn="ctr"/>
                      <a:r>
                        <a:rPr sz="1000" b="0" i="0">
                          <a:solidFill>
                            <a:srgbClr val="262626"/>
                          </a:solidFill>
                          <a:latin typeface="Arial"/>
                        </a:rPr>
                        <a:t>82%</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3"/>
                  </a:ext>
                </a:extLst>
              </a:tr>
              <a:tr h="276455">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Jun 18</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68%</a:t>
                      </a:r>
                    </a:p>
                  </a:txBody>
                  <a:tcPr>
                    <a:solidFill>
                      <a:srgbClr val="F2F2F2"/>
                    </a:solidFill>
                  </a:tcPr>
                </a:tc>
                <a:tc>
                  <a:txBody>
                    <a:bodyPr/>
                    <a:lstStyle/>
                    <a:p>
                      <a:pPr algn="ctr"/>
                      <a:r>
                        <a:rPr sz="1000" b="0" i="0">
                          <a:solidFill>
                            <a:srgbClr val="262626"/>
                          </a:solidFill>
                          <a:latin typeface="Arial"/>
                        </a:rPr>
                        <a:t>6</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4"/>
                  </a:ext>
                </a:extLst>
              </a:tr>
              <a:tr h="276455">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Jun 17</a:t>
                      </a:r>
                    </a:p>
                  </a:txBody>
                  <a:tcPr>
                    <a:solidFill>
                      <a:srgbClr val="FFFFFF"/>
                    </a:solidFill>
                  </a:tcPr>
                </a:tc>
                <a:tc>
                  <a:txBody>
                    <a:bodyPr/>
                    <a:lstStyle/>
                    <a:p>
                      <a:pPr algn="ctr"/>
                      <a:r>
                        <a:rPr sz="1000" b="0" i="0">
                          <a:solidFill>
                            <a:srgbClr val="262626"/>
                          </a:solidFill>
                          <a:latin typeface="Arial"/>
                        </a:rPr>
                        <a:t>32.8</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extLst>
                  <a:ext uri="{0D108BD9-81ED-4DB2-BD59-A6C34878D82A}">
                    <a16:rowId xmlns:a16="http://schemas.microsoft.com/office/drawing/2014/main" val="10005"/>
                  </a:ext>
                </a:extLst>
              </a:tr>
              <a:tr h="276455">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29.3</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7</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6"/>
                  </a:ext>
                </a:extLst>
              </a:tr>
              <a:tr h="276455">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Jun 22</a:t>
                      </a:r>
                    </a:p>
                  </a:txBody>
                  <a:tcPr>
                    <a:solidFill>
                      <a:srgbClr val="FFFFFF"/>
                    </a:solidFill>
                  </a:tcPr>
                </a:tc>
                <a:tc>
                  <a:txBody>
                    <a:bodyPr/>
                    <a:lstStyle/>
                    <a:p>
                      <a:pPr algn="ctr"/>
                      <a:r>
                        <a:rPr sz="1000" b="0" i="0">
                          <a:solidFill>
                            <a:srgbClr val="262626"/>
                          </a:solidFill>
                          <a:latin typeface="Arial"/>
                        </a:rPr>
                        <a:t>24</a:t>
                      </a:r>
                    </a:p>
                  </a:txBody>
                  <a:tcPr>
                    <a:solidFill>
                      <a:srgbClr val="FFFFFF"/>
                    </a:solidFill>
                  </a:tcPr>
                </a:tc>
                <a:tc>
                  <a:txBody>
                    <a:bodyPr/>
                    <a:lstStyle/>
                    <a:p>
                      <a:pPr algn="ctr"/>
                      <a:r>
                        <a:rPr sz="1000" b="0" i="0">
                          <a:solidFill>
                            <a:srgbClr val="262626"/>
                          </a:solidFill>
                          <a:latin typeface="Arial"/>
                        </a:rPr>
                        <a:t>96%</a:t>
                      </a:r>
                    </a:p>
                  </a:txBody>
                  <a:tcPr>
                    <a:solidFill>
                      <a:srgbClr val="FFFFFF"/>
                    </a:solidFill>
                  </a:tcPr>
                </a:tc>
                <a:tc>
                  <a:txBody>
                    <a:bodyPr/>
                    <a:lstStyle/>
                    <a:p>
                      <a:pPr algn="ctr"/>
                      <a:r>
                        <a:rPr sz="1000" b="0" i="0">
                          <a:solidFill>
                            <a:srgbClr val="262626"/>
                          </a:solidFill>
                          <a:latin typeface="Arial"/>
                        </a:rPr>
                        <a:t>4</a:t>
                      </a:r>
                    </a:p>
                  </a:txBody>
                  <a:tcPr>
                    <a:solidFill>
                      <a:srgbClr val="FFFFFF"/>
                    </a:solidFill>
                  </a:tcPr>
                </a:tc>
                <a:tc>
                  <a:txBody>
                    <a:bodyPr/>
                    <a:lstStyle/>
                    <a:p>
                      <a:pPr algn="ctr"/>
                      <a:r>
                        <a:rPr sz="1000" b="0" i="0" dirty="0">
                          <a:solidFill>
                            <a:srgbClr val="262626"/>
                          </a:solidFill>
                          <a:latin typeface="Arial"/>
                        </a:rPr>
                        <a:t>2.6</a:t>
                      </a:r>
                    </a:p>
                  </a:txBody>
                  <a:tcPr>
                    <a:solidFill>
                      <a:srgbClr val="FFFFFF"/>
                    </a:solidFill>
                  </a:tcPr>
                </a:tc>
                <a:extLst>
                  <a:ext uri="{0D108BD9-81ED-4DB2-BD59-A6C34878D82A}">
                    <a16:rowId xmlns:a16="http://schemas.microsoft.com/office/drawing/2014/main" val="10007"/>
                  </a:ext>
                </a:extLst>
              </a:tr>
            </a:tbl>
          </a:graphicData>
        </a:graphic>
      </p:graphicFrame>
      <p:sp>
        <p:nvSpPr>
          <p:cNvPr id="9" name="Rectangle 8"/>
          <p:cNvSpPr/>
          <p:nvPr/>
        </p:nvSpPr>
        <p:spPr>
          <a:xfrm>
            <a:off x="274320" y="1078991"/>
            <a:ext cx="8961118" cy="26030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088136"/>
            <a:ext cx="4572000" cy="91440"/>
          </a:xfrm>
          <a:prstGeom prst="rect">
            <a:avLst/>
          </a:prstGeom>
          <a:noFill/>
        </p:spPr>
        <p:txBody>
          <a:bodyPr wrap="square">
            <a:spAutoFit/>
          </a:bodyPr>
          <a:lstStyle/>
          <a:p>
            <a:pPr algn="l"/>
            <a:r>
              <a:rPr sz="950" b="1" i="0">
                <a:solidFill>
                  <a:srgbClr val="002060"/>
                </a:solidFill>
                <a:latin typeface="Arial"/>
              </a:rPr>
              <a:t>RACE-DAY WEATHER (08:00–11:00 local)</a:t>
            </a:r>
          </a:p>
        </p:txBody>
      </p:sp>
      <p:graphicFrame>
        <p:nvGraphicFramePr>
          <p:cNvPr id="11" name="Table 10"/>
          <p:cNvGraphicFramePr>
            <a:graphicFrameLocks noGrp="1"/>
          </p:cNvGraphicFramePr>
          <p:nvPr>
            <p:extLst>
              <p:ext uri="{D42A27DB-BD31-4B8C-83A1-F6EECF244321}">
                <p14:modId xmlns:p14="http://schemas.microsoft.com/office/powerpoint/2010/main" val="1223723581"/>
              </p:ext>
            </p:extLst>
          </p:nvPr>
        </p:nvGraphicFramePr>
        <p:xfrm>
          <a:off x="5166360" y="1456182"/>
          <a:ext cx="4069078" cy="2183128"/>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272891">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272891">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272891">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272891">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272891">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272891">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7.7</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5.3</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5"/>
                  </a:ext>
                </a:extLst>
              </a:tr>
              <a:tr h="272891">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4.3</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4.3</a:t>
                      </a:r>
                    </a:p>
                  </a:txBody>
                  <a:tcPr>
                    <a:solidFill>
                      <a:srgbClr val="F2F2F2"/>
                    </a:solidFill>
                  </a:tcPr>
                </a:tc>
                <a:tc>
                  <a:txBody>
                    <a:bodyPr/>
                    <a:lstStyle/>
                    <a:p>
                      <a:pPr algn="ctr"/>
                      <a:r>
                        <a:rPr sz="1000" b="0" i="0">
                          <a:solidFill>
                            <a:srgbClr val="262626"/>
                          </a:solidFill>
                          <a:latin typeface="Arial"/>
                        </a:rPr>
                        <a:t>Good</a:t>
                      </a:r>
                    </a:p>
                  </a:txBody>
                  <a:tcPr>
                    <a:solidFill>
                      <a:srgbClr val="F2F2F2"/>
                    </a:solidFill>
                  </a:tcPr>
                </a:tc>
                <a:extLst>
                  <a:ext uri="{0D108BD9-81ED-4DB2-BD59-A6C34878D82A}">
                    <a16:rowId xmlns:a16="http://schemas.microsoft.com/office/drawing/2014/main" val="10006"/>
                  </a:ext>
                </a:extLst>
              </a:tr>
              <a:tr h="272891">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3.4</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4.5</a:t>
                      </a:r>
                    </a:p>
                  </a:txBody>
                  <a:tcPr>
                    <a:solidFill>
                      <a:srgbClr val="FFFFFF"/>
                    </a:solidFill>
                  </a:tcPr>
                </a:tc>
                <a:tc>
                  <a:txBody>
                    <a:bodyPr/>
                    <a:lstStyle/>
                    <a:p>
                      <a:pPr algn="ctr"/>
                      <a:r>
                        <a:rPr sz="1000" b="0" i="0" dirty="0">
                          <a:solidFill>
                            <a:srgbClr val="262626"/>
                          </a:solidFill>
                          <a:latin typeface="Arial"/>
                        </a:rPr>
                        <a:t>Good</a:t>
                      </a:r>
                    </a:p>
                  </a:txBody>
                  <a:tcPr>
                    <a:solidFill>
                      <a:srgbClr val="FFFFFF"/>
                    </a:solidFill>
                  </a:tcPr>
                </a:tc>
                <a:extLst>
                  <a:ext uri="{0D108BD9-81ED-4DB2-BD59-A6C34878D82A}">
                    <a16:rowId xmlns:a16="http://schemas.microsoft.com/office/drawing/2014/main" val="10007"/>
                  </a:ext>
                </a:extLst>
              </a:tr>
            </a:tbl>
          </a:graphicData>
        </a:graphic>
      </p:graphicFrame>
      <p:sp>
        <p:nvSpPr>
          <p:cNvPr id="12" name="TextBox 11"/>
          <p:cNvSpPr txBox="1"/>
          <p:nvPr/>
        </p:nvSpPr>
        <p:spPr>
          <a:xfrm>
            <a:off x="5212080" y="1088136"/>
            <a:ext cx="3931920" cy="91440"/>
          </a:xfrm>
          <a:prstGeom prst="rect">
            <a:avLst/>
          </a:prstGeom>
          <a:noFill/>
        </p:spPr>
        <p:txBody>
          <a:bodyPr wrap="square">
            <a:spAutoFit/>
          </a:bodyPr>
          <a:lstStyle/>
          <a:p>
            <a:pPr algn="l"/>
            <a:r>
              <a:rPr sz="950" b="1" i="0">
                <a:solidFill>
                  <a:srgbClr val="002060"/>
                </a:solidFill>
                <a:latin typeface="Arial"/>
              </a:rPr>
              <a:t>AIR QUALITY (Open-Meteo archive)</a:t>
            </a:r>
          </a:p>
        </p:txBody>
      </p:sp>
      <p:sp>
        <p:nvSpPr>
          <p:cNvPr id="13" name="Rectangle 12"/>
          <p:cNvSpPr/>
          <p:nvPr/>
        </p:nvSpPr>
        <p:spPr>
          <a:xfrm>
            <a:off x="274320" y="3867912"/>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886200"/>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5" name="TextBox 14"/>
          <p:cNvSpPr txBox="1"/>
          <p:nvPr/>
        </p:nvSpPr>
        <p:spPr>
          <a:xfrm>
            <a:off x="365760" y="4251960"/>
            <a:ext cx="11430000" cy="307777"/>
          </a:xfrm>
          <a:prstGeom prst="rect">
            <a:avLst/>
          </a:prstGeom>
          <a:noFill/>
        </p:spPr>
        <p:txBody>
          <a:bodyPr wrap="square">
            <a:spAutoFit/>
          </a:bodyPr>
          <a:lstStyle/>
          <a:p>
            <a:pPr algn="l"/>
            <a:r>
              <a:rPr lang="en-US" sz="1400" b="1" i="0" dirty="0">
                <a:solidFill>
                  <a:srgbClr val="262626"/>
                </a:solidFill>
                <a:latin typeface="Arial"/>
              </a:rPr>
              <a:t>Water Quality:</a:t>
            </a:r>
            <a:r>
              <a:rPr lang="en-US" sz="1400" b="0" i="0" dirty="0">
                <a:solidFill>
                  <a:srgbClr val="262626"/>
                </a:solidFill>
                <a:latin typeface="Arial"/>
              </a:rPr>
              <a:t> No public Huatulco race-week illness cluster found.</a:t>
            </a:r>
            <a:endParaRPr sz="1400" b="0" i="0" dirty="0">
              <a:solidFill>
                <a:srgbClr val="262626"/>
              </a:solidFill>
              <a:latin typeface="Arial"/>
            </a:endParaRPr>
          </a:p>
        </p:txBody>
      </p:sp>
      <p:sp>
        <p:nvSpPr>
          <p:cNvPr id="16" name="TextBox 15"/>
          <p:cNvSpPr txBox="1"/>
          <p:nvPr/>
        </p:nvSpPr>
        <p:spPr>
          <a:xfrm>
            <a:off x="365760" y="4785936"/>
            <a:ext cx="11430000" cy="307777"/>
          </a:xfrm>
          <a:prstGeom prst="rect">
            <a:avLst/>
          </a:prstGeom>
          <a:noFill/>
        </p:spPr>
        <p:txBody>
          <a:bodyPr wrap="square">
            <a:spAutoFit/>
          </a:bodyPr>
          <a:lstStyle/>
          <a:p>
            <a:pPr algn="l"/>
            <a:r>
              <a:rPr sz="1400" b="1" i="0" dirty="0">
                <a:solidFill>
                  <a:srgbClr val="262626"/>
                </a:solidFill>
                <a:latin typeface="Arial"/>
              </a:rPr>
              <a:t>Athlete Health Incidents:</a:t>
            </a:r>
            <a:r>
              <a:rPr sz="1400" b="0" i="0" dirty="0">
                <a:solidFill>
                  <a:srgbClr val="262626"/>
                </a:solidFill>
                <a:latin typeface="Arial"/>
              </a:rPr>
              <a:t> </a:t>
            </a:r>
            <a:r>
              <a:rPr lang="en-US" sz="1400" b="0" i="0" dirty="0">
                <a:solidFill>
                  <a:srgbClr val="262626"/>
                </a:solidFill>
                <a:latin typeface="Arial"/>
              </a:rPr>
              <a:t>No known Huatulco-specific GI illness pattern found.</a:t>
            </a:r>
            <a:endParaRPr sz="1400" b="0" i="0" dirty="0">
              <a:solidFill>
                <a:srgbClr val="262626"/>
              </a:solidFill>
              <a:latin typeface="Arial"/>
            </a:endParaRPr>
          </a:p>
        </p:txBody>
      </p:sp>
      <p:sp>
        <p:nvSpPr>
          <p:cNvPr id="17" name="TextBox 16"/>
          <p:cNvSpPr txBox="1"/>
          <p:nvPr/>
        </p:nvSpPr>
        <p:spPr>
          <a:xfrm>
            <a:off x="365760" y="5319912"/>
            <a:ext cx="11430000" cy="523220"/>
          </a:xfrm>
          <a:prstGeom prst="rect">
            <a:avLst/>
          </a:prstGeom>
          <a:noFill/>
        </p:spPr>
        <p:txBody>
          <a:bodyPr wrap="square">
            <a:spAutoFit/>
          </a:bodyPr>
          <a:lstStyle/>
          <a:p>
            <a:pPr algn="l"/>
            <a:r>
              <a:rPr sz="1400" b="1" i="0" dirty="0">
                <a:solidFill>
                  <a:srgbClr val="262626"/>
                </a:solidFill>
                <a:latin typeface="Arial"/>
              </a:rPr>
              <a:t>Water Temperature:</a:t>
            </a:r>
            <a:r>
              <a:rPr sz="1400" b="0" i="0" dirty="0">
                <a:solidFill>
                  <a:srgbClr val="262626"/>
                </a:solidFill>
                <a:latin typeface="Arial"/>
              </a:rPr>
              <a:t> </a:t>
            </a:r>
            <a:r>
              <a:rPr lang="en-US" sz="1400" b="0" i="0" dirty="0">
                <a:solidFill>
                  <a:srgbClr val="262626"/>
                </a:solidFill>
                <a:latin typeface="Arial"/>
              </a:rPr>
              <a:t>Historically very warm when recorded: 2022 men/women ~29–31°C, 2023 ~31.7–31.8°C, 2024 ~30°C, 2025 ~29°C. Expect non-wetsuit and warm-water swim.</a:t>
            </a:r>
            <a:endParaRPr sz="1400" b="0" i="0" dirty="0">
              <a:solidFill>
                <a:srgbClr val="262626"/>
              </a:solidFill>
              <a:latin typeface="Arial"/>
            </a:endParaRPr>
          </a:p>
        </p:txBody>
      </p:sp>
      <p:sp>
        <p:nvSpPr>
          <p:cNvPr id="18" name="TextBox 17"/>
          <p:cNvSpPr txBox="1"/>
          <p:nvPr/>
        </p:nvSpPr>
        <p:spPr>
          <a:xfrm>
            <a:off x="365760" y="6069330"/>
            <a:ext cx="11430000" cy="523220"/>
          </a:xfrm>
          <a:prstGeom prst="rect">
            <a:avLst/>
          </a:prstGeom>
          <a:noFill/>
        </p:spPr>
        <p:txBody>
          <a:bodyPr wrap="square">
            <a:spAutoFit/>
          </a:bodyPr>
          <a:lstStyle/>
          <a:p>
            <a:pPr algn="l"/>
            <a:r>
              <a:rPr lang="en-US" sz="1400" b="1" i="0" dirty="0">
                <a:solidFill>
                  <a:srgbClr val="262626"/>
                </a:solidFill>
                <a:latin typeface="Arial"/>
              </a:rPr>
              <a:t>Heat / Humidity: </a:t>
            </a:r>
            <a:r>
              <a:rPr lang="en-US" sz="1400" b="0" i="0" dirty="0">
                <a:solidFill>
                  <a:srgbClr val="262626"/>
                </a:solidFill>
                <a:latin typeface="Arial"/>
              </a:rPr>
              <a:t>High risk. Historical race-window air temperatures range from ~24°C to 35°C, with humidity often above 70% and as high as 96% in 2025. The women start at 06:30, which may offer slightly </a:t>
            </a:r>
            <a:r>
              <a:rPr lang="en-US" sz="1400" b="0" i="0" dirty="0" err="1">
                <a:solidFill>
                  <a:srgbClr val="262626"/>
                </a:solidFill>
                <a:latin typeface="Arial"/>
              </a:rPr>
              <a:t>coolor</a:t>
            </a:r>
            <a:r>
              <a:rPr lang="en-US" sz="1400" b="0" i="0" dirty="0">
                <a:solidFill>
                  <a:srgbClr val="262626"/>
                </a:solidFill>
                <a:latin typeface="Arial"/>
              </a:rPr>
              <a:t> temperatures.</a:t>
            </a:r>
            <a:endParaRPr sz="1400" b="0" i="0" dirty="0">
              <a:solidFill>
                <a:srgbClr val="262626"/>
              </a:solidFill>
              <a:latin typeface="Arial"/>
            </a:endParaRP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800" b="0" i="1" dirty="0">
                <a:solidFill>
                  <a:srgbClr val="BFBFBF"/>
                </a:solidFill>
                <a:latin typeface="Arial"/>
              </a:rPr>
              <a:t>Weather and AQ data: Open-</a:t>
            </a:r>
            <a:r>
              <a:rPr sz="800" b="0" i="1" dirty="0" err="1">
                <a:solidFill>
                  <a:srgbClr val="BFBFBF"/>
                </a:solidFill>
                <a:latin typeface="Arial"/>
              </a:rPr>
              <a:t>Meteo</a:t>
            </a:r>
            <a:r>
              <a:rPr sz="800" b="0" i="1" dirty="0">
                <a:solidFill>
                  <a:srgbClr val="BFBFBF"/>
                </a:solidFill>
                <a:latin typeface="Arial"/>
              </a:rPr>
              <a:t> historical archive (archive-api.open-meteo.com). EU AQI: Good ≤20, Fair ≤40, Moderate ≤60, Poor ≤80, Very Poor &gt;80.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23220"/>
          </a:xfrm>
          <a:prstGeom prst="rect">
            <a:avLst/>
          </a:prstGeom>
          <a:noFill/>
        </p:spPr>
        <p:txBody>
          <a:bodyPr wrap="square">
            <a:spAutoFit/>
          </a:bodyPr>
          <a:lstStyle/>
          <a:p>
            <a:pPr algn="l"/>
            <a:r>
              <a:rPr sz="2800" b="1" i="0" dirty="0">
                <a:solidFill>
                  <a:srgbClr val="FFFFFF"/>
                </a:solidFill>
                <a:latin typeface="Arial"/>
              </a:rPr>
              <a:t>Who to Watch</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3 Ranked on Startlist</a:t>
            </a:r>
          </a:p>
        </p:txBody>
      </p:sp>
      <p:graphicFrame>
        <p:nvGraphicFramePr>
          <p:cNvPr id="11" name="Table 10"/>
          <p:cNvGraphicFramePr>
            <a:graphicFrameLocks noGrp="1"/>
          </p:cNvGraphicFramePr>
          <p:nvPr/>
        </p:nvGraphicFramePr>
        <p:xfrm>
          <a:off x="274320" y="1965960"/>
          <a:ext cx="5486400" cy="1335024"/>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33756">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333756">
                <a:tc>
                  <a:txBody>
                    <a:bodyPr/>
                    <a:lstStyle/>
                    <a:p>
                      <a:pPr algn="ctr"/>
                      <a:r>
                        <a:rPr sz="1000" b="1" i="0">
                          <a:solidFill>
                            <a:srgbClr val="262626"/>
                          </a:solidFill>
                          <a:latin typeface="Arial"/>
                        </a:rPr>
                        <a:t>15</a:t>
                      </a:r>
                    </a:p>
                  </a:txBody>
                  <a:tcPr>
                    <a:solidFill>
                      <a:srgbClr val="FFFFFF"/>
                    </a:solidFill>
                  </a:tcPr>
                </a:tc>
                <a:tc>
                  <a:txBody>
                    <a:bodyPr/>
                    <a:lstStyle/>
                    <a:p>
                      <a:pPr algn="l"/>
                      <a:r>
                        <a:rPr sz="1000" b="0" i="0">
                          <a:solidFill>
                            <a:srgbClr val="262626"/>
                          </a:solidFill>
                          <a:latin typeface="Arial"/>
                        </a:rPr>
                        <a:t>Tyler Mislawchuk</a:t>
                      </a:r>
                    </a:p>
                  </a:txBody>
                  <a:tcPr>
                    <a:solidFill>
                      <a:srgbClr val="FFFFFF"/>
                    </a:solidFill>
                  </a:tcPr>
                </a:tc>
                <a:tc>
                  <a:txBody>
                    <a:bodyPr/>
                    <a:lstStyle/>
                    <a:p>
                      <a:pPr algn="ctr"/>
                      <a:r>
                        <a:rPr sz="1000" b="0" i="0">
                          <a:solidFill>
                            <a:srgbClr val="262626"/>
                          </a:solidFill>
                          <a:latin typeface="Arial"/>
                        </a:rPr>
                        <a:t>2,943</a:t>
                      </a:r>
                    </a:p>
                  </a:txBody>
                  <a:tcPr>
                    <a:solidFill>
                      <a:srgbClr val="FFFFFF"/>
                    </a:solidFill>
                  </a:tcPr>
                </a:tc>
                <a:extLst>
                  <a:ext uri="{0D108BD9-81ED-4DB2-BD59-A6C34878D82A}">
                    <a16:rowId xmlns:a16="http://schemas.microsoft.com/office/drawing/2014/main" val="10001"/>
                  </a:ext>
                </a:extLst>
              </a:tr>
              <a:tr h="333756">
                <a:tc>
                  <a:txBody>
                    <a:bodyPr/>
                    <a:lstStyle/>
                    <a:p>
                      <a:pPr algn="ctr"/>
                      <a:r>
                        <a:rPr sz="1000" b="1" i="0">
                          <a:solidFill>
                            <a:srgbClr val="262626"/>
                          </a:solidFill>
                          <a:latin typeface="Arial"/>
                        </a:rPr>
                        <a:t>42</a:t>
                      </a:r>
                    </a:p>
                  </a:txBody>
                  <a:tcPr>
                    <a:solidFill>
                      <a:srgbClr val="F2F2F2"/>
                    </a:solidFill>
                  </a:tcPr>
                </a:tc>
                <a:tc>
                  <a:txBody>
                    <a:bodyPr/>
                    <a:lstStyle/>
                    <a:p>
                      <a:pPr algn="l"/>
                      <a:r>
                        <a:rPr sz="1000" b="0" i="0">
                          <a:solidFill>
                            <a:srgbClr val="262626"/>
                          </a:solidFill>
                          <a:latin typeface="Arial"/>
                        </a:rPr>
                        <a:t>Aoba Yasumatsu</a:t>
                      </a:r>
                    </a:p>
                  </a:txBody>
                  <a:tcPr>
                    <a:solidFill>
                      <a:srgbClr val="F2F2F2"/>
                    </a:solidFill>
                  </a:tcPr>
                </a:tc>
                <a:tc>
                  <a:txBody>
                    <a:bodyPr/>
                    <a:lstStyle/>
                    <a:p>
                      <a:pPr algn="ctr"/>
                      <a:r>
                        <a:rPr sz="1000" b="0" i="0">
                          <a:solidFill>
                            <a:srgbClr val="262626"/>
                          </a:solidFill>
                          <a:latin typeface="Arial"/>
                        </a:rPr>
                        <a:t>2,080</a:t>
                      </a:r>
                    </a:p>
                  </a:txBody>
                  <a:tcPr>
                    <a:solidFill>
                      <a:srgbClr val="F2F2F2"/>
                    </a:solidFill>
                  </a:tcPr>
                </a:tc>
                <a:extLst>
                  <a:ext uri="{0D108BD9-81ED-4DB2-BD59-A6C34878D82A}">
                    <a16:rowId xmlns:a16="http://schemas.microsoft.com/office/drawing/2014/main" val="10002"/>
                  </a:ext>
                </a:extLst>
              </a:tr>
              <a:tr h="333756">
                <a:tc>
                  <a:txBody>
                    <a:bodyPr/>
                    <a:lstStyle/>
                    <a:p>
                      <a:pPr algn="ctr"/>
                      <a:r>
                        <a:rPr sz="1000" b="1" i="0">
                          <a:solidFill>
                            <a:srgbClr val="262626"/>
                          </a:solidFill>
                          <a:latin typeface="Arial"/>
                        </a:rPr>
                        <a:t>52</a:t>
                      </a:r>
                    </a:p>
                  </a:txBody>
                  <a:tcPr>
                    <a:solidFill>
                      <a:srgbClr val="FFFFFF"/>
                    </a:solidFill>
                  </a:tcPr>
                </a:tc>
                <a:tc>
                  <a:txBody>
                    <a:bodyPr/>
                    <a:lstStyle/>
                    <a:p>
                      <a:pPr algn="l"/>
                      <a:r>
                        <a:rPr sz="1000" b="0" i="0">
                          <a:solidFill>
                            <a:srgbClr val="262626"/>
                          </a:solidFill>
                          <a:latin typeface="Arial"/>
                        </a:rPr>
                        <a:t>Liam Donnelly</a:t>
                      </a:r>
                    </a:p>
                  </a:txBody>
                  <a:tcPr>
                    <a:solidFill>
                      <a:srgbClr val="FFFFFF"/>
                    </a:solidFill>
                  </a:tcPr>
                </a:tc>
                <a:tc>
                  <a:txBody>
                    <a:bodyPr/>
                    <a:lstStyle/>
                    <a:p>
                      <a:pPr algn="ctr"/>
                      <a:r>
                        <a:rPr sz="1000" b="0" i="0">
                          <a:solidFill>
                            <a:srgbClr val="262626"/>
                          </a:solidFill>
                          <a:latin typeface="Arial"/>
                        </a:rPr>
                        <a:t>1,939</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ctangle 11"/>
          <p:cNvSpPr/>
          <p:nvPr/>
        </p:nvSpPr>
        <p:spPr>
          <a:xfrm>
            <a:off x="274320" y="3575304"/>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593592"/>
            <a:ext cx="5486400" cy="237744"/>
          </a:xfrm>
          <a:prstGeom prst="rect">
            <a:avLst/>
          </a:prstGeom>
          <a:noFill/>
        </p:spPr>
        <p:txBody>
          <a:bodyPr wrap="square">
            <a:spAutoFit/>
          </a:bodyPr>
          <a:lstStyle/>
          <a:p>
            <a:pPr algn="l"/>
            <a:r>
              <a:rPr sz="1100" b="1" i="0" dirty="0">
                <a:solidFill>
                  <a:srgbClr val="FFFFFF"/>
                </a:solidFill>
                <a:latin typeface="Arial"/>
              </a:rPr>
              <a:t>Returning Podium Athletes on </a:t>
            </a:r>
            <a:r>
              <a:rPr sz="1100" b="1" i="0" dirty="0" err="1">
                <a:solidFill>
                  <a:srgbClr val="FFFFFF"/>
                </a:solidFill>
                <a:latin typeface="Arial"/>
              </a:rPr>
              <a:t>Startlist</a:t>
            </a:r>
            <a:endParaRPr sz="1100" b="1" i="0" dirty="0">
              <a:solidFill>
                <a:srgbClr val="FFFFFF"/>
              </a:solidFill>
              <a:latin typeface="Arial"/>
            </a:endParaRPr>
          </a:p>
        </p:txBody>
      </p:sp>
      <p:sp>
        <p:nvSpPr>
          <p:cNvPr id="14" name="TextBox 13"/>
          <p:cNvSpPr txBox="1"/>
          <p:nvPr/>
        </p:nvSpPr>
        <p:spPr>
          <a:xfrm>
            <a:off x="411480" y="3941064"/>
            <a:ext cx="5394960" cy="261610"/>
          </a:xfrm>
          <a:prstGeom prst="rect">
            <a:avLst/>
          </a:prstGeom>
          <a:noFill/>
        </p:spPr>
        <p:txBody>
          <a:bodyPr wrap="square">
            <a:spAutoFit/>
          </a:bodyPr>
          <a:lstStyle/>
          <a:p>
            <a:pPr algn="l"/>
            <a:r>
              <a:rPr sz="1100" b="1" i="0" dirty="0">
                <a:solidFill>
                  <a:srgbClr val="262626"/>
                </a:solidFill>
                <a:latin typeface="Arial"/>
              </a:rPr>
              <a:t>2.  Alejandro Rodriguez Diez</a:t>
            </a:r>
            <a:r>
              <a:rPr lang="en-US" sz="1100" b="1" i="0" dirty="0">
                <a:solidFill>
                  <a:srgbClr val="262626"/>
                </a:solidFill>
                <a:latin typeface="Arial"/>
              </a:rPr>
              <a:t>: 2</a:t>
            </a:r>
            <a:r>
              <a:rPr lang="en-US" sz="1100" b="1" i="0" baseline="30000" dirty="0">
                <a:solidFill>
                  <a:srgbClr val="262626"/>
                </a:solidFill>
                <a:latin typeface="Arial"/>
              </a:rPr>
              <a:t>nd</a:t>
            </a:r>
            <a:r>
              <a:rPr lang="en-US" sz="1100" b="1" i="0" dirty="0">
                <a:solidFill>
                  <a:srgbClr val="262626"/>
                </a:solidFill>
                <a:latin typeface="Arial"/>
              </a:rPr>
              <a:t> Place in 2025 </a:t>
            </a:r>
            <a:r>
              <a:rPr sz="1100" b="1" i="0" dirty="0">
                <a:solidFill>
                  <a:srgbClr val="262626"/>
                </a:solidFill>
                <a:latin typeface="Arial"/>
              </a:rPr>
              <a:t>(00:55:07)</a:t>
            </a:r>
          </a:p>
        </p:txBody>
      </p:sp>
      <p:sp>
        <p:nvSpPr>
          <p:cNvPr id="15" name="TextBox 14"/>
          <p:cNvSpPr txBox="1"/>
          <p:nvPr/>
        </p:nvSpPr>
        <p:spPr>
          <a:xfrm>
            <a:off x="411480" y="4233672"/>
            <a:ext cx="5394960" cy="261610"/>
          </a:xfrm>
          <a:prstGeom prst="rect">
            <a:avLst/>
          </a:prstGeom>
          <a:noFill/>
        </p:spPr>
        <p:txBody>
          <a:bodyPr wrap="square">
            <a:spAutoFit/>
          </a:bodyPr>
          <a:lstStyle/>
          <a:p>
            <a:pPr algn="l"/>
            <a:r>
              <a:rPr sz="1100" b="0" i="0" dirty="0">
                <a:solidFill>
                  <a:srgbClr val="262626"/>
                </a:solidFill>
                <a:latin typeface="Arial"/>
              </a:rPr>
              <a:t>3.  Kuba Gajda</a:t>
            </a:r>
            <a:r>
              <a:rPr lang="en-US" sz="1100" b="0" i="0" dirty="0">
                <a:solidFill>
                  <a:srgbClr val="262626"/>
                </a:solidFill>
                <a:latin typeface="Arial"/>
              </a:rPr>
              <a:t>: 3</a:t>
            </a:r>
            <a:r>
              <a:rPr lang="en-US" sz="1100" b="0" i="0" baseline="30000" dirty="0">
                <a:solidFill>
                  <a:srgbClr val="262626"/>
                </a:solidFill>
                <a:latin typeface="Arial"/>
              </a:rPr>
              <a:t>rd</a:t>
            </a:r>
            <a:r>
              <a:rPr lang="en-US" sz="1100" b="0" i="0" dirty="0">
                <a:solidFill>
                  <a:srgbClr val="262626"/>
                </a:solidFill>
                <a:latin typeface="Arial"/>
              </a:rPr>
              <a:t> Place in 2025</a:t>
            </a:r>
            <a:r>
              <a:rPr sz="1100" b="0" i="0" dirty="0">
                <a:solidFill>
                  <a:srgbClr val="262626"/>
                </a:solidFill>
                <a:latin typeface="Arial"/>
              </a:rPr>
              <a:t>  (00:55:11)</a:t>
            </a:r>
          </a:p>
        </p:txBody>
      </p:sp>
      <p:sp>
        <p:nvSpPr>
          <p:cNvPr id="16" name="Rectangle 15"/>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8" name="Rectangle 17"/>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3 Ranked on Startlist</a:t>
            </a:r>
          </a:p>
        </p:txBody>
      </p:sp>
      <p:graphicFrame>
        <p:nvGraphicFramePr>
          <p:cNvPr id="20" name="Table 19"/>
          <p:cNvGraphicFramePr>
            <a:graphicFrameLocks noGrp="1"/>
          </p:cNvGraphicFramePr>
          <p:nvPr/>
        </p:nvGraphicFramePr>
        <p:xfrm>
          <a:off x="6217920" y="1965960"/>
          <a:ext cx="5486400" cy="1335024"/>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33756">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333756">
                <a:tc>
                  <a:txBody>
                    <a:bodyPr/>
                    <a:lstStyle/>
                    <a:p>
                      <a:pPr algn="ctr"/>
                      <a:r>
                        <a:rPr sz="1000" b="1" i="0">
                          <a:solidFill>
                            <a:srgbClr val="262626"/>
                          </a:solidFill>
                          <a:latin typeface="Arial"/>
                        </a:rPr>
                        <a:t>24</a:t>
                      </a:r>
                    </a:p>
                  </a:txBody>
                  <a:tcPr>
                    <a:solidFill>
                      <a:srgbClr val="FFFFFF"/>
                    </a:solidFill>
                  </a:tcPr>
                </a:tc>
                <a:tc>
                  <a:txBody>
                    <a:bodyPr/>
                    <a:lstStyle/>
                    <a:p>
                      <a:pPr algn="l"/>
                      <a:r>
                        <a:rPr sz="1000" b="0" i="0">
                          <a:solidFill>
                            <a:srgbClr val="262626"/>
                          </a:solidFill>
                          <a:latin typeface="Arial"/>
                        </a:rPr>
                        <a:t>Maria Carolina Velasquez Soto</a:t>
                      </a:r>
                    </a:p>
                  </a:txBody>
                  <a:tcPr>
                    <a:solidFill>
                      <a:srgbClr val="FFFFFF"/>
                    </a:solidFill>
                  </a:tcPr>
                </a:tc>
                <a:tc>
                  <a:txBody>
                    <a:bodyPr/>
                    <a:lstStyle/>
                    <a:p>
                      <a:pPr algn="ctr"/>
                      <a:r>
                        <a:rPr sz="1000" b="0" i="0">
                          <a:solidFill>
                            <a:srgbClr val="262626"/>
                          </a:solidFill>
                          <a:latin typeface="Arial"/>
                        </a:rPr>
                        <a:t>2,558</a:t>
                      </a:r>
                    </a:p>
                  </a:txBody>
                  <a:tcPr>
                    <a:solidFill>
                      <a:srgbClr val="FFFFFF"/>
                    </a:solidFill>
                  </a:tcPr>
                </a:tc>
                <a:extLst>
                  <a:ext uri="{0D108BD9-81ED-4DB2-BD59-A6C34878D82A}">
                    <a16:rowId xmlns:a16="http://schemas.microsoft.com/office/drawing/2014/main" val="10001"/>
                  </a:ext>
                </a:extLst>
              </a:tr>
              <a:tr h="333756">
                <a:tc>
                  <a:txBody>
                    <a:bodyPr/>
                    <a:lstStyle/>
                    <a:p>
                      <a:pPr algn="ctr"/>
                      <a:r>
                        <a:rPr sz="1000" b="1" i="0">
                          <a:solidFill>
                            <a:srgbClr val="262626"/>
                          </a:solidFill>
                          <a:latin typeface="Arial"/>
                        </a:rPr>
                        <a:t>25</a:t>
                      </a:r>
                    </a:p>
                  </a:txBody>
                  <a:tcPr>
                    <a:solidFill>
                      <a:srgbClr val="F2F2F2"/>
                    </a:solidFill>
                  </a:tcPr>
                </a:tc>
                <a:tc>
                  <a:txBody>
                    <a:bodyPr/>
                    <a:lstStyle/>
                    <a:p>
                      <a:pPr algn="l"/>
                      <a:r>
                        <a:rPr sz="1000" b="0" i="0">
                          <a:solidFill>
                            <a:srgbClr val="262626"/>
                          </a:solidFill>
                          <a:latin typeface="Arial"/>
                        </a:rPr>
                        <a:t>Rosa Maria Tapia Vidal</a:t>
                      </a:r>
                    </a:p>
                  </a:txBody>
                  <a:tcPr>
                    <a:solidFill>
                      <a:srgbClr val="F2F2F2"/>
                    </a:solidFill>
                  </a:tcPr>
                </a:tc>
                <a:tc>
                  <a:txBody>
                    <a:bodyPr/>
                    <a:lstStyle/>
                    <a:p>
                      <a:pPr algn="ctr"/>
                      <a:r>
                        <a:rPr sz="1000" b="0" i="0">
                          <a:solidFill>
                            <a:srgbClr val="262626"/>
                          </a:solidFill>
                          <a:latin typeface="Arial"/>
                        </a:rPr>
                        <a:t>2,515</a:t>
                      </a:r>
                    </a:p>
                  </a:txBody>
                  <a:tcPr>
                    <a:solidFill>
                      <a:srgbClr val="F2F2F2"/>
                    </a:solidFill>
                  </a:tcPr>
                </a:tc>
                <a:extLst>
                  <a:ext uri="{0D108BD9-81ED-4DB2-BD59-A6C34878D82A}">
                    <a16:rowId xmlns:a16="http://schemas.microsoft.com/office/drawing/2014/main" val="10002"/>
                  </a:ext>
                </a:extLst>
              </a:tr>
              <a:tr h="333756">
                <a:tc>
                  <a:txBody>
                    <a:bodyPr/>
                    <a:lstStyle/>
                    <a:p>
                      <a:pPr algn="ctr"/>
                      <a:r>
                        <a:rPr sz="1000" b="1" i="0">
                          <a:solidFill>
                            <a:srgbClr val="262626"/>
                          </a:solidFill>
                          <a:latin typeface="Arial"/>
                        </a:rPr>
                        <a:t>49</a:t>
                      </a:r>
                    </a:p>
                  </a:txBody>
                  <a:tcPr>
                    <a:solidFill>
                      <a:srgbClr val="FFFFFF"/>
                    </a:solidFill>
                  </a:tcPr>
                </a:tc>
                <a:tc>
                  <a:txBody>
                    <a:bodyPr/>
                    <a:lstStyle/>
                    <a:p>
                      <a:pPr algn="l"/>
                      <a:r>
                        <a:rPr sz="1000" b="0" i="0">
                          <a:solidFill>
                            <a:srgbClr val="262626"/>
                          </a:solidFill>
                          <a:latin typeface="Arial"/>
                        </a:rPr>
                        <a:t>Danielle Orie</a:t>
                      </a:r>
                    </a:p>
                  </a:txBody>
                  <a:tcPr>
                    <a:solidFill>
                      <a:srgbClr val="FFFFFF"/>
                    </a:solidFill>
                  </a:tcPr>
                </a:tc>
                <a:tc>
                  <a:txBody>
                    <a:bodyPr/>
                    <a:lstStyle/>
                    <a:p>
                      <a:pPr algn="ctr"/>
                      <a:r>
                        <a:rPr sz="1000" b="0" i="0">
                          <a:solidFill>
                            <a:srgbClr val="262626"/>
                          </a:solidFill>
                          <a:latin typeface="Arial"/>
                        </a:rPr>
                        <a:t>1,941</a:t>
                      </a:r>
                    </a:p>
                  </a:txBody>
                  <a:tcPr>
                    <a:solidFill>
                      <a:srgbClr val="FFFFFF"/>
                    </a:solidFill>
                  </a:tcPr>
                </a:tc>
                <a:extLst>
                  <a:ext uri="{0D108BD9-81ED-4DB2-BD59-A6C34878D82A}">
                    <a16:rowId xmlns:a16="http://schemas.microsoft.com/office/drawing/2014/main" val="10003"/>
                  </a:ext>
                </a:extLst>
              </a:tr>
            </a:tbl>
          </a:graphicData>
        </a:graphic>
      </p:graphicFrame>
      <p:sp>
        <p:nvSpPr>
          <p:cNvPr id="21" name="Rectangle 20"/>
          <p:cNvSpPr/>
          <p:nvPr/>
        </p:nvSpPr>
        <p:spPr>
          <a:xfrm>
            <a:off x="6217920" y="3575304"/>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3593592"/>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23" name="TextBox 22"/>
          <p:cNvSpPr txBox="1"/>
          <p:nvPr/>
        </p:nvSpPr>
        <p:spPr>
          <a:xfrm>
            <a:off x="6355080" y="3941064"/>
            <a:ext cx="5394960" cy="261610"/>
          </a:xfrm>
          <a:prstGeom prst="rect">
            <a:avLst/>
          </a:prstGeom>
          <a:noFill/>
        </p:spPr>
        <p:txBody>
          <a:bodyPr wrap="square">
            <a:spAutoFit/>
          </a:bodyPr>
          <a:lstStyle/>
          <a:p>
            <a:pPr algn="l"/>
            <a:r>
              <a:rPr sz="1100" b="1" i="0" dirty="0">
                <a:solidFill>
                  <a:srgbClr val="262626"/>
                </a:solidFill>
                <a:latin typeface="Arial"/>
              </a:rPr>
              <a:t>1.  Maria Carolina Velasquez Soto</a:t>
            </a:r>
            <a:r>
              <a:rPr lang="en-US" sz="1100" b="1" i="0" dirty="0">
                <a:solidFill>
                  <a:srgbClr val="262626"/>
                </a:solidFill>
                <a:latin typeface="Arial"/>
              </a:rPr>
              <a:t>: 1</a:t>
            </a:r>
            <a:r>
              <a:rPr lang="en-US" sz="1100" b="1" i="0" baseline="30000" dirty="0">
                <a:solidFill>
                  <a:srgbClr val="262626"/>
                </a:solidFill>
                <a:latin typeface="Arial"/>
              </a:rPr>
              <a:t>st</a:t>
            </a:r>
            <a:r>
              <a:rPr lang="en-US" sz="1100" b="1" i="0" dirty="0">
                <a:solidFill>
                  <a:srgbClr val="262626"/>
                </a:solidFill>
                <a:latin typeface="Arial"/>
              </a:rPr>
              <a:t> Place in 2025</a:t>
            </a:r>
            <a:r>
              <a:rPr sz="1100" b="1" i="0" dirty="0">
                <a:solidFill>
                  <a:srgbClr val="262626"/>
                </a:solidFill>
                <a:latin typeface="Arial"/>
              </a:rPr>
              <a:t>   (01:00:08)</a:t>
            </a:r>
          </a:p>
        </p:txBody>
      </p:sp>
      <p:sp>
        <p:nvSpPr>
          <p:cNvPr id="24" name="TextBox 23"/>
          <p:cNvSpPr txBox="1"/>
          <p:nvPr/>
        </p:nvSpPr>
        <p:spPr>
          <a:xfrm>
            <a:off x="6355080" y="4233672"/>
            <a:ext cx="5394960" cy="261610"/>
          </a:xfrm>
          <a:prstGeom prst="rect">
            <a:avLst/>
          </a:prstGeom>
          <a:noFill/>
        </p:spPr>
        <p:txBody>
          <a:bodyPr wrap="square">
            <a:spAutoFit/>
          </a:bodyPr>
          <a:lstStyle/>
          <a:p>
            <a:pPr algn="l"/>
            <a:r>
              <a:rPr sz="1100" b="0" i="0" dirty="0">
                <a:solidFill>
                  <a:srgbClr val="262626"/>
                </a:solidFill>
                <a:latin typeface="Arial"/>
              </a:rPr>
              <a:t>3.  Elizabeth Bravo</a:t>
            </a:r>
            <a:r>
              <a:rPr lang="en-US" sz="1100" b="0" i="0" dirty="0">
                <a:solidFill>
                  <a:srgbClr val="262626"/>
                </a:solidFill>
                <a:latin typeface="Arial"/>
              </a:rPr>
              <a:t>: 3</a:t>
            </a:r>
            <a:r>
              <a:rPr lang="en-US" sz="1100" b="0" i="0" baseline="30000" dirty="0">
                <a:solidFill>
                  <a:srgbClr val="262626"/>
                </a:solidFill>
                <a:latin typeface="Arial"/>
              </a:rPr>
              <a:t>rd</a:t>
            </a:r>
            <a:r>
              <a:rPr lang="en-US" sz="1100" b="0" i="0" dirty="0">
                <a:solidFill>
                  <a:srgbClr val="262626"/>
                </a:solidFill>
                <a:latin typeface="Arial"/>
              </a:rPr>
              <a:t> Place in 2025</a:t>
            </a:r>
            <a:r>
              <a:rPr sz="1100" b="0" i="0" dirty="0">
                <a:solidFill>
                  <a:srgbClr val="262626"/>
                </a:solidFill>
                <a:latin typeface="Arial"/>
              </a:rPr>
              <a:t>   (01:00:09)</a:t>
            </a:r>
          </a:p>
        </p:txBody>
      </p:sp>
      <p:sp>
        <p:nvSpPr>
          <p:cNvPr id="25" name="TextBox 24"/>
          <p:cNvSpPr txBox="1"/>
          <p:nvPr/>
        </p:nvSpPr>
        <p:spPr>
          <a:xfrm>
            <a:off x="274320" y="6446520"/>
            <a:ext cx="11640312" cy="228600"/>
          </a:xfrm>
          <a:prstGeom prst="rect">
            <a:avLst/>
          </a:prstGeom>
          <a:noFill/>
        </p:spPr>
        <p:txBody>
          <a:bodyPr wrap="square">
            <a:spAutoFit/>
          </a:bodyPr>
          <a:lstStyle/>
          <a:p>
            <a:pPr algn="ctr"/>
            <a:r>
              <a:rPr sz="900" b="0" i="1" dirty="0">
                <a:solidFill>
                  <a:srgbClr val="BFBFBF"/>
                </a:solidFill>
                <a:latin typeface="Arial"/>
              </a:rPr>
              <a:t>Rankings = current World Triathlon rankings snapshot;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2732838" y="3227832"/>
            <a:ext cx="6939685" cy="954107"/>
          </a:xfrm>
          <a:prstGeom prst="rect">
            <a:avLst/>
          </a:prstGeom>
          <a:noFill/>
        </p:spPr>
        <p:txBody>
          <a:bodyPr wrap="square">
            <a:spAutoFit/>
          </a:bodyPr>
          <a:lstStyle/>
          <a:p>
            <a:pPr algn="l"/>
            <a:r>
              <a:rPr lang="en-US" sz="1400" b="0" i="0" dirty="0">
                <a:solidFill>
                  <a:srgbClr val="262626"/>
                </a:solidFill>
                <a:latin typeface="Arial"/>
              </a:rPr>
              <a:t>2025 saw the first true breakaway stick at this course. However, the lead group </a:t>
            </a:r>
            <a:r>
              <a:rPr lang="en-US" sz="1400" dirty="0">
                <a:solidFill>
                  <a:srgbClr val="262626"/>
                </a:solidFill>
                <a:latin typeface="Arial"/>
              </a:rPr>
              <a:t>of 3 was only able to get ~40s for the effort. Likewise in 2023 a much larger breakaway group only put ~60s on the chase. </a:t>
            </a:r>
            <a:r>
              <a:rPr lang="en-US" sz="1400" b="0" i="0" dirty="0">
                <a:solidFill>
                  <a:srgbClr val="262626"/>
                </a:solidFill>
                <a:latin typeface="Arial"/>
              </a:rPr>
              <a:t>With two long straightaways, expect for the bike to come together if there is a train coming from behind.</a:t>
            </a:r>
            <a:endParaRPr sz="1400" b="0" i="0" dirty="0">
              <a:solidFill>
                <a:srgbClr val="262626"/>
              </a:solidFill>
              <a:latin typeface="Arial"/>
            </a:endParaRPr>
          </a:p>
        </p:txBody>
      </p:sp>
      <p:sp>
        <p:nvSpPr>
          <p:cNvPr id="14" name="TextBox 13"/>
          <p:cNvSpPr txBox="1"/>
          <p:nvPr/>
        </p:nvSpPr>
        <p:spPr>
          <a:xfrm>
            <a:off x="2732838" y="1536192"/>
            <a:ext cx="6939685" cy="954107"/>
          </a:xfrm>
          <a:prstGeom prst="rect">
            <a:avLst/>
          </a:prstGeom>
          <a:noFill/>
        </p:spPr>
        <p:txBody>
          <a:bodyPr wrap="square">
            <a:spAutoFit/>
          </a:bodyPr>
          <a:lstStyle/>
          <a:p>
            <a:pPr algn="l"/>
            <a:r>
              <a:rPr lang="en-US" sz="1400" dirty="0">
                <a:solidFill>
                  <a:srgbClr val="262626"/>
                </a:solidFill>
                <a:latin typeface="Arial"/>
              </a:rPr>
              <a:t>Prepare for a non-wetsuit swim. Water temperature around 30C will not only be non-wetsuit but feel very warm. With such warm temps, this has limited the top swimmers from attacking the swim. Expect for at least 15 athletes to exit the water close to each other with the main group not far behind. </a:t>
            </a:r>
            <a:endParaRPr sz="1400" b="0" i="0" dirty="0">
              <a:solidFill>
                <a:srgbClr val="262626"/>
              </a:solidFill>
              <a:latin typeface="Arial"/>
            </a:endParaRPr>
          </a:p>
        </p:txBody>
      </p:sp>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29257" y="1097280"/>
            <a:ext cx="7798206"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65361" y="1115568"/>
            <a:ext cx="7297398"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2053084" y="155448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5" name="Rectangle 14"/>
          <p:cNvSpPr/>
          <p:nvPr/>
        </p:nvSpPr>
        <p:spPr>
          <a:xfrm>
            <a:off x="2072134" y="324612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Arial"/>
              </a:rPr>
              <a:t>2</a:t>
            </a:r>
          </a:p>
        </p:txBody>
      </p:sp>
      <p:sp>
        <p:nvSpPr>
          <p:cNvPr id="17" name="Rectangle 16"/>
          <p:cNvSpPr/>
          <p:nvPr/>
        </p:nvSpPr>
        <p:spPr>
          <a:xfrm>
            <a:off x="2053084" y="493776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2736648" y="4937760"/>
            <a:ext cx="6935876" cy="954107"/>
          </a:xfrm>
          <a:prstGeom prst="rect">
            <a:avLst/>
          </a:prstGeom>
          <a:noFill/>
        </p:spPr>
        <p:txBody>
          <a:bodyPr wrap="square">
            <a:spAutoFit/>
          </a:bodyPr>
          <a:lstStyle/>
          <a:p>
            <a:pPr algn="l"/>
            <a:r>
              <a:rPr lang="en-US" sz="1400" b="0" i="0" dirty="0">
                <a:solidFill>
                  <a:srgbClr val="262626"/>
                </a:solidFill>
                <a:latin typeface="Arial"/>
              </a:rPr>
              <a:t>Heat and elevation on the run drives a slow 5K. The fastest time since 2018 is 14:45 and many years have had no one go under 15:00. Trust in the Park City hill training and make your move against the competition on the second lap here. To achieve a top 10 result, you’ll likely need to be within 35-45 seconds of the winner.  </a:t>
            </a:r>
            <a:endParaRPr sz="1400" b="0" i="0" dirty="0">
              <a:solidFill>
                <a:srgbClr val="262626"/>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4176000177"/>
              </p:ext>
            </p:extLst>
          </p:nvPr>
        </p:nvGraphicFramePr>
        <p:xfrm>
          <a:off x="274320" y="1143000"/>
          <a:ext cx="11640307" cy="4102608"/>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504070">
                  <a:extLst>
                    <a:ext uri="{9D8B030D-6E8A-4147-A177-3AD203B41FA5}">
                      <a16:colId xmlns:a16="http://schemas.microsoft.com/office/drawing/2014/main" val="20002"/>
                    </a:ext>
                  </a:extLst>
                </a:gridCol>
                <a:gridCol w="679450">
                  <a:extLst>
                    <a:ext uri="{9D8B030D-6E8A-4147-A177-3AD203B41FA5}">
                      <a16:colId xmlns:a16="http://schemas.microsoft.com/office/drawing/2014/main" val="20003"/>
                    </a:ext>
                  </a:extLst>
                </a:gridCol>
                <a:gridCol w="1041500">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dirty="0">
                          <a:solidFill>
                            <a:srgbClr val="FFFFFF"/>
                          </a:solidFill>
                          <a:latin typeface="Arial"/>
                        </a:rPr>
                        <a:t>Field</a:t>
                      </a:r>
                    </a:p>
                  </a:txBody>
                  <a:tcPr>
                    <a:solidFill>
                      <a:srgbClr val="002060"/>
                    </a:solidFill>
                  </a:tcPr>
                </a:tc>
                <a:tc>
                  <a:txBody>
                    <a:bodyPr/>
                    <a:lstStyle/>
                    <a:p>
                      <a:pPr algn="ctr"/>
                      <a:r>
                        <a:rPr sz="1400" b="1" i="0" dirty="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Jun 10</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66</a:t>
                      </a:r>
                    </a:p>
                  </a:txBody>
                  <a:tcPr>
                    <a:solidFill>
                      <a:srgbClr val="FFFFFF"/>
                    </a:solidFill>
                  </a:tcPr>
                </a:tc>
                <a:tc>
                  <a:txBody>
                    <a:bodyPr/>
                    <a:lstStyle/>
                    <a:p>
                      <a:pPr algn="ctr"/>
                      <a:r>
                        <a:rPr sz="1400" b="0" i="0">
                          <a:solidFill>
                            <a:srgbClr val="262626"/>
                          </a:solidFill>
                          <a:latin typeface="Arial"/>
                        </a:rPr>
                        <a:t>6</a:t>
                      </a:r>
                    </a:p>
                  </a:txBody>
                  <a:tcPr>
                    <a:solidFill>
                      <a:srgbClr val="FFFFFF"/>
                    </a:solidFill>
                  </a:tcPr>
                </a:tc>
                <a:tc>
                  <a:txBody>
                    <a:bodyPr/>
                    <a:lstStyle/>
                    <a:p>
                      <a:pPr algn="l"/>
                      <a:r>
                        <a:rPr sz="1400" b="0" i="0">
                          <a:solidFill>
                            <a:srgbClr val="262626"/>
                          </a:solidFill>
                          <a:latin typeface="Arial"/>
                        </a:rPr>
                        <a:t>Lopez</a:t>
                      </a:r>
                    </a:p>
                  </a:txBody>
                  <a:tcPr>
                    <a:solidFill>
                      <a:srgbClr val="FFFFFF"/>
                    </a:solidFill>
                  </a:tcPr>
                </a:tc>
                <a:tc>
                  <a:txBody>
                    <a:bodyPr/>
                    <a:lstStyle/>
                    <a:p>
                      <a:pPr algn="ctr"/>
                      <a:r>
                        <a:rPr sz="1400" b="0" i="0">
                          <a:solidFill>
                            <a:srgbClr val="262626"/>
                          </a:solidFill>
                          <a:latin typeface="Arial"/>
                        </a:rPr>
                        <a:t>55:32</a:t>
                      </a:r>
                    </a:p>
                  </a:txBody>
                  <a:tcPr>
                    <a:solidFill>
                      <a:srgbClr val="FFFFFF"/>
                    </a:solidFill>
                  </a:tcPr>
                </a:tc>
                <a:tc>
                  <a:txBody>
                    <a:bodyPr/>
                    <a:lstStyle/>
                    <a:p>
                      <a:pPr algn="ctr"/>
                      <a:r>
                        <a:rPr sz="1400" b="0" i="0">
                          <a:solidFill>
                            <a:srgbClr val="262626"/>
                          </a:solidFill>
                          <a:latin typeface="Arial"/>
                        </a:rPr>
                        <a:t>29.2</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Jun 08</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62</a:t>
                      </a:r>
                    </a:p>
                  </a:txBody>
                  <a:tcPr>
                    <a:solidFill>
                      <a:srgbClr val="F2F2F2"/>
                    </a:solidFill>
                  </a:tcPr>
                </a:tc>
                <a:tc>
                  <a:txBody>
                    <a:bodyPr/>
                    <a:lstStyle/>
                    <a:p>
                      <a:pPr algn="ctr"/>
                      <a:r>
                        <a:rPr sz="1400" b="0" i="0">
                          <a:solidFill>
                            <a:srgbClr val="262626"/>
                          </a:solidFill>
                          <a:latin typeface="Arial"/>
                        </a:rPr>
                        <a:t>7</a:t>
                      </a:r>
                    </a:p>
                  </a:txBody>
                  <a:tcPr>
                    <a:solidFill>
                      <a:srgbClr val="F2F2F2"/>
                    </a:solidFill>
                  </a:tcPr>
                </a:tc>
                <a:tc>
                  <a:txBody>
                    <a:bodyPr/>
                    <a:lstStyle/>
                    <a:p>
                      <a:pPr algn="l"/>
                      <a:r>
                        <a:rPr sz="1400" b="0" i="0">
                          <a:solidFill>
                            <a:srgbClr val="262626"/>
                          </a:solidFill>
                          <a:latin typeface="Arial"/>
                        </a:rPr>
                        <a:t>Mislawchuk</a:t>
                      </a:r>
                    </a:p>
                  </a:txBody>
                  <a:tcPr>
                    <a:solidFill>
                      <a:srgbClr val="F2F2F2"/>
                    </a:solidFill>
                  </a:tcPr>
                </a:tc>
                <a:tc>
                  <a:txBody>
                    <a:bodyPr/>
                    <a:lstStyle/>
                    <a:p>
                      <a:pPr algn="ctr"/>
                      <a:r>
                        <a:rPr sz="1400" b="0" i="0">
                          <a:solidFill>
                            <a:srgbClr val="262626"/>
                          </a:solidFill>
                          <a:latin typeface="Arial"/>
                        </a:rPr>
                        <a:t>55:04</a:t>
                      </a:r>
                    </a:p>
                  </a:txBody>
                  <a:tcPr>
                    <a:solidFill>
                      <a:srgbClr val="F2F2F2"/>
                    </a:solidFill>
                  </a:tcPr>
                </a:tc>
                <a:tc>
                  <a:txBody>
                    <a:bodyPr/>
                    <a:lstStyle/>
                    <a:p>
                      <a:pPr algn="ctr"/>
                      <a:r>
                        <a:rPr sz="1400" b="0" i="0">
                          <a:solidFill>
                            <a:srgbClr val="262626"/>
                          </a:solidFill>
                          <a:latin typeface="Arial"/>
                        </a:rPr>
                        <a:t>28.3</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Jun 12</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60</a:t>
                      </a:r>
                    </a:p>
                  </a:txBody>
                  <a:tcPr>
                    <a:solidFill>
                      <a:srgbClr val="FFFFFF"/>
                    </a:solidFill>
                  </a:tcPr>
                </a:tc>
                <a:tc>
                  <a:txBody>
                    <a:bodyPr/>
                    <a:lstStyle/>
                    <a:p>
                      <a:pPr algn="ctr"/>
                      <a:r>
                        <a:rPr sz="1400" b="0" i="0">
                          <a:solidFill>
                            <a:srgbClr val="262626"/>
                          </a:solidFill>
                          <a:latin typeface="Arial"/>
                        </a:rPr>
                        <a:t>11</a:t>
                      </a:r>
                    </a:p>
                  </a:txBody>
                  <a:tcPr>
                    <a:solidFill>
                      <a:srgbClr val="FFFFFF"/>
                    </a:solidFill>
                  </a:tcPr>
                </a:tc>
                <a:tc>
                  <a:txBody>
                    <a:bodyPr/>
                    <a:lstStyle/>
                    <a:p>
                      <a:pPr algn="l"/>
                      <a:r>
                        <a:rPr sz="1400" b="0" i="0">
                          <a:solidFill>
                            <a:srgbClr val="262626"/>
                          </a:solidFill>
                          <a:latin typeface="Arial"/>
                        </a:rPr>
                        <a:t>Mislawchuk</a:t>
                      </a:r>
                    </a:p>
                  </a:txBody>
                  <a:tcPr>
                    <a:solidFill>
                      <a:srgbClr val="FFFFFF"/>
                    </a:solidFill>
                  </a:tcPr>
                </a:tc>
                <a:tc>
                  <a:txBody>
                    <a:bodyPr/>
                    <a:lstStyle/>
                    <a:p>
                      <a:pPr algn="ctr"/>
                      <a:r>
                        <a:rPr sz="1400" b="0" i="0">
                          <a:solidFill>
                            <a:srgbClr val="262626"/>
                          </a:solidFill>
                          <a:latin typeface="Arial"/>
                        </a:rPr>
                        <a:t>53:09</a:t>
                      </a:r>
                    </a:p>
                  </a:txBody>
                  <a:tcPr>
                    <a:solidFill>
                      <a:srgbClr val="FFFFFF"/>
                    </a:solidFill>
                  </a:tcPr>
                </a:tc>
                <a:tc>
                  <a:txBody>
                    <a:bodyPr/>
                    <a:lstStyle/>
                    <a:p>
                      <a:pPr algn="ctr"/>
                      <a:r>
                        <a:rPr sz="1400" b="0" i="0">
                          <a:solidFill>
                            <a:srgbClr val="262626"/>
                          </a:solidFill>
                          <a:latin typeface="Arial"/>
                        </a:rPr>
                        <a:t>26.8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2022</a:t>
                      </a:r>
                    </a:p>
                  </a:txBody>
                  <a:tcPr>
                    <a:solidFill>
                      <a:srgbClr val="F2F2F2"/>
                    </a:solidFill>
                  </a:tcPr>
                </a:tc>
                <a:tc>
                  <a:txBody>
                    <a:bodyPr/>
                    <a:lstStyle/>
                    <a:p>
                      <a:pPr algn="ctr"/>
                      <a:r>
                        <a:rPr sz="1400" b="0" i="0">
                          <a:solidFill>
                            <a:srgbClr val="262626"/>
                          </a:solidFill>
                          <a:latin typeface="Arial"/>
                        </a:rPr>
                        <a:t>Jun 18</a:t>
                      </a:r>
                    </a:p>
                  </a:txBody>
                  <a:tcPr>
                    <a:solidFill>
                      <a:srgbClr val="F2F2F2"/>
                    </a:solidFill>
                  </a:tcPr>
                </a:tc>
                <a:tc>
                  <a:txBody>
                    <a:bodyPr/>
                    <a:lstStyle/>
                    <a:p>
                      <a:pPr algn="l"/>
                      <a:r>
                        <a:rPr sz="1200" b="0" i="0">
                          <a:solidFill>
                            <a:srgbClr val="262626"/>
                          </a:solidFill>
                          <a:latin typeface="Arial"/>
                        </a:rPr>
                        <a:t>World Cup *</a:t>
                      </a:r>
                    </a:p>
                  </a:txBody>
                  <a:tcPr>
                    <a:solidFill>
                      <a:srgbClr val="F2F2F2"/>
                    </a:solidFill>
                  </a:tcPr>
                </a:tc>
                <a:tc>
                  <a:txBody>
                    <a:bodyPr/>
                    <a:lstStyle/>
                    <a:p>
                      <a:pPr algn="ctr"/>
                      <a:r>
                        <a:rPr sz="1400" b="0" i="0">
                          <a:solidFill>
                            <a:srgbClr val="262626"/>
                          </a:solidFill>
                          <a:latin typeface="Arial"/>
                        </a:rPr>
                        <a:t>65</a:t>
                      </a:r>
                    </a:p>
                  </a:txBody>
                  <a:tcPr>
                    <a:solidFill>
                      <a:srgbClr val="F2F2F2"/>
                    </a:solidFill>
                  </a:tcPr>
                </a:tc>
                <a:tc>
                  <a:txBody>
                    <a:bodyPr/>
                    <a:lstStyle/>
                    <a:p>
                      <a:pPr algn="ctr"/>
                      <a:r>
                        <a:rPr sz="1400" b="0" i="0">
                          <a:solidFill>
                            <a:srgbClr val="262626"/>
                          </a:solidFill>
                          <a:latin typeface="Arial"/>
                        </a:rPr>
                        <a:t>8</a:t>
                      </a:r>
                    </a:p>
                  </a:txBody>
                  <a:tcPr>
                    <a:solidFill>
                      <a:srgbClr val="F2F2F2"/>
                    </a:solidFill>
                  </a:tcPr>
                </a:tc>
                <a:tc>
                  <a:txBody>
                    <a:bodyPr/>
                    <a:lstStyle/>
                    <a:p>
                      <a:pPr algn="l"/>
                      <a:r>
                        <a:rPr sz="1400" b="0" i="0">
                          <a:solidFill>
                            <a:srgbClr val="262626"/>
                          </a:solidFill>
                          <a:latin typeface="Arial"/>
                        </a:rPr>
                        <a:t>Grau</a:t>
                      </a:r>
                    </a:p>
                  </a:txBody>
                  <a:tcPr>
                    <a:solidFill>
                      <a:srgbClr val="F2F2F2"/>
                    </a:solidFill>
                  </a:tcPr>
                </a:tc>
                <a:tc>
                  <a:txBody>
                    <a:bodyPr/>
                    <a:lstStyle/>
                    <a:p>
                      <a:pPr algn="ctr"/>
                      <a:r>
                        <a:rPr sz="1400" b="0" i="0">
                          <a:solidFill>
                            <a:srgbClr val="262626"/>
                          </a:solidFill>
                          <a:latin typeface="Arial"/>
                        </a:rPr>
                        <a:t>53:47</a:t>
                      </a:r>
                    </a:p>
                  </a:txBody>
                  <a:tcPr>
                    <a:solidFill>
                      <a:srgbClr val="F2F2F2"/>
                    </a:solidFill>
                  </a:tcPr>
                </a:tc>
                <a:tc>
                  <a:txBody>
                    <a:bodyPr/>
                    <a:lstStyle/>
                    <a:p>
                      <a:pPr algn="ctr"/>
                      <a:r>
                        <a:rPr sz="1400" b="0" i="0">
                          <a:solidFill>
                            <a:srgbClr val="262626"/>
                          </a:solidFill>
                          <a:latin typeface="Arial"/>
                        </a:rPr>
                        <a:t>28</a:t>
                      </a:r>
                    </a:p>
                  </a:txBody>
                  <a:tcPr>
                    <a:solidFill>
                      <a:srgbClr val="F2F2F2"/>
                    </a:solidFill>
                  </a:tcPr>
                </a:tc>
                <a:tc>
                  <a:txBody>
                    <a:bodyPr/>
                    <a:lstStyle/>
                    <a:p>
                      <a:pPr algn="ctr"/>
                      <a:r>
                        <a:rPr sz="1400" b="0" i="0">
                          <a:solidFill>
                            <a:srgbClr val="262626"/>
                          </a:solidFill>
                          <a:latin typeface="Arial"/>
                        </a:rPr>
                        <a:t>29</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20.0</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Jun 17</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64</a:t>
                      </a:r>
                    </a:p>
                  </a:txBody>
                  <a:tcPr>
                    <a:solidFill>
                      <a:srgbClr val="FFFFFF"/>
                    </a:solidFill>
                  </a:tcPr>
                </a:tc>
                <a:tc>
                  <a:txBody>
                    <a:bodyPr/>
                    <a:lstStyle/>
                    <a:p>
                      <a:pPr algn="ctr"/>
                      <a:r>
                        <a:rPr sz="1400" b="0" i="0">
                          <a:solidFill>
                            <a:srgbClr val="262626"/>
                          </a:solidFill>
                          <a:latin typeface="Arial"/>
                        </a:rPr>
                        <a:t>6</a:t>
                      </a:r>
                    </a:p>
                  </a:txBody>
                  <a:tcPr>
                    <a:solidFill>
                      <a:srgbClr val="FFFFFF"/>
                    </a:solidFill>
                  </a:tcPr>
                </a:tc>
                <a:tc>
                  <a:txBody>
                    <a:bodyPr/>
                    <a:lstStyle/>
                    <a:p>
                      <a:pPr algn="l"/>
                      <a:r>
                        <a:rPr sz="1400" b="0" i="0">
                          <a:solidFill>
                            <a:srgbClr val="262626"/>
                          </a:solidFill>
                          <a:latin typeface="Arial"/>
                        </a:rPr>
                        <a:t>Fajardo</a:t>
                      </a:r>
                    </a:p>
                  </a:txBody>
                  <a:tcPr>
                    <a:solidFill>
                      <a:srgbClr val="FFFFFF"/>
                    </a:solidFill>
                  </a:tcPr>
                </a:tc>
                <a:tc>
                  <a:txBody>
                    <a:bodyPr/>
                    <a:lstStyle/>
                    <a:p>
                      <a:pPr algn="ctr"/>
                      <a:r>
                        <a:rPr sz="1400" b="0" i="0">
                          <a:solidFill>
                            <a:srgbClr val="262626"/>
                          </a:solidFill>
                          <a:latin typeface="Arial"/>
                        </a:rPr>
                        <a:t>54:13</a:t>
                      </a:r>
                    </a:p>
                  </a:txBody>
                  <a:tcPr>
                    <a:solidFill>
                      <a:srgbClr val="FFFFFF"/>
                    </a:solidFill>
                  </a:tcPr>
                </a:tc>
                <a:tc>
                  <a:txBody>
                    <a:bodyPr/>
                    <a:lstStyle/>
                    <a:p>
                      <a:pPr algn="ctr"/>
                      <a:r>
                        <a:rPr sz="1400" b="0" i="0">
                          <a:solidFill>
                            <a:srgbClr val="262626"/>
                          </a:solidFill>
                          <a:latin typeface="Arial"/>
                        </a:rPr>
                        <a:t>32.8</a:t>
                      </a:r>
                    </a:p>
                  </a:txBody>
                  <a:tcPr>
                    <a:solidFill>
                      <a:srgbClr val="FFFFFF"/>
                    </a:solidFill>
                  </a:tcPr>
                </a:tc>
                <a:tc>
                  <a:txBody>
                    <a:bodyPr/>
                    <a:lstStyle/>
                    <a:p>
                      <a:pPr algn="ctr"/>
                      <a:r>
                        <a:rPr sz="1400" b="0" i="0">
                          <a:solidFill>
                            <a:srgbClr val="262626"/>
                          </a:solidFill>
                          <a:latin typeface="Arial"/>
                        </a:rPr>
                        <a:t>31.7</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May 18</a:t>
                      </a:r>
                    </a:p>
                  </a:txBody>
                  <a:tcPr>
                    <a:solidFill>
                      <a:srgbClr val="F2F2F2"/>
                    </a:solidFill>
                  </a:tcPr>
                </a:tc>
                <a:tc>
                  <a:txBody>
                    <a:bodyPr/>
                    <a:lstStyle/>
                    <a:p>
                      <a:pPr algn="l"/>
                      <a:r>
                        <a:rPr sz="1200" b="0" i="0">
                          <a:solidFill>
                            <a:srgbClr val="262626"/>
                          </a:solidFill>
                          <a:latin typeface="Arial"/>
                        </a:rPr>
                        <a:t>World Cup *</a:t>
                      </a:r>
                    </a:p>
                  </a:txBody>
                  <a:tcPr>
                    <a:solidFill>
                      <a:srgbClr val="F2F2F2"/>
                    </a:solidFill>
                  </a:tcPr>
                </a:tc>
                <a:tc>
                  <a:txBody>
                    <a:bodyPr/>
                    <a:lstStyle/>
                    <a:p>
                      <a:pPr algn="ctr"/>
                      <a:r>
                        <a:rPr sz="1400" b="0" i="0">
                          <a:solidFill>
                            <a:srgbClr val="262626"/>
                          </a:solidFill>
                          <a:latin typeface="Arial"/>
                        </a:rPr>
                        <a:t>52</a:t>
                      </a:r>
                    </a:p>
                  </a:txBody>
                  <a:tcPr>
                    <a:solidFill>
                      <a:srgbClr val="F2F2F2"/>
                    </a:solidFill>
                  </a:tcPr>
                </a:tc>
                <a:tc>
                  <a:txBody>
                    <a:bodyPr/>
                    <a:lstStyle/>
                    <a:p>
                      <a:pPr algn="ctr"/>
                      <a:r>
                        <a:rPr sz="1400" b="0" i="0">
                          <a:solidFill>
                            <a:srgbClr val="262626"/>
                          </a:solidFill>
                          <a:latin typeface="Arial"/>
                        </a:rPr>
                        <a:t>7</a:t>
                      </a:r>
                    </a:p>
                  </a:txBody>
                  <a:tcPr>
                    <a:solidFill>
                      <a:srgbClr val="F2F2F2"/>
                    </a:solidFill>
                  </a:tcPr>
                </a:tc>
                <a:tc>
                  <a:txBody>
                    <a:bodyPr/>
                    <a:lstStyle/>
                    <a:p>
                      <a:pPr algn="l"/>
                      <a:r>
                        <a:rPr sz="1400" b="0" i="0">
                          <a:solidFill>
                            <a:srgbClr val="262626"/>
                          </a:solidFill>
                          <a:latin typeface="Arial"/>
                        </a:rPr>
                        <a:t>Murray</a:t>
                      </a:r>
                    </a:p>
                  </a:txBody>
                  <a:tcPr>
                    <a:solidFill>
                      <a:srgbClr val="F2F2F2"/>
                    </a:solidFill>
                  </a:tcPr>
                </a:tc>
                <a:tc>
                  <a:txBody>
                    <a:bodyPr/>
                    <a:lstStyle/>
                    <a:p>
                      <a:pPr algn="ctr"/>
                      <a:r>
                        <a:rPr sz="1400" b="0" i="0">
                          <a:solidFill>
                            <a:srgbClr val="262626"/>
                          </a:solidFill>
                          <a:latin typeface="Arial"/>
                        </a:rPr>
                        <a:t>58:07</a:t>
                      </a:r>
                    </a:p>
                  </a:txBody>
                  <a:tcPr>
                    <a:solidFill>
                      <a:srgbClr val="F2F2F2"/>
                    </a:solidFill>
                  </a:tcPr>
                </a:tc>
                <a:tc>
                  <a:txBody>
                    <a:bodyPr/>
                    <a:lstStyle/>
                    <a:p>
                      <a:pPr algn="ctr"/>
                      <a:r>
                        <a:rPr sz="1400" b="0" i="0">
                          <a:solidFill>
                            <a:srgbClr val="262626"/>
                          </a:solidFill>
                          <a:latin typeface="Arial"/>
                        </a:rPr>
                        <a:t>29.3</a:t>
                      </a:r>
                    </a:p>
                  </a:txBody>
                  <a:tcPr>
                    <a:solidFill>
                      <a:srgbClr val="F2F2F2"/>
                    </a:solidFill>
                  </a:tcPr>
                </a:tc>
                <a:tc>
                  <a:txBody>
                    <a:bodyPr/>
                    <a:lstStyle/>
                    <a:p>
                      <a:pPr algn="ctr"/>
                      <a:r>
                        <a:rPr sz="1400" b="0" i="0">
                          <a:solidFill>
                            <a:srgbClr val="262626"/>
                          </a:solidFill>
                          <a:latin typeface="Arial"/>
                        </a:rPr>
                        <a:t>30</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22.2</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Jun 22</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tc>
                  <a:txBody>
                    <a:bodyPr/>
                    <a:lstStyle/>
                    <a:p>
                      <a:pPr algn="ctr"/>
                      <a:r>
                        <a:rPr sz="1400" b="0" i="0">
                          <a:solidFill>
                            <a:srgbClr val="262626"/>
                          </a:solidFill>
                          <a:latin typeface="Arial"/>
                        </a:rPr>
                        <a:t>4</a:t>
                      </a:r>
                    </a:p>
                  </a:txBody>
                  <a:tcPr>
                    <a:solidFill>
                      <a:srgbClr val="FFFFFF"/>
                    </a:solidFill>
                  </a:tcPr>
                </a:tc>
                <a:tc>
                  <a:txBody>
                    <a:bodyPr/>
                    <a:lstStyle/>
                    <a:p>
                      <a:pPr algn="l"/>
                      <a:r>
                        <a:rPr sz="1400" b="0" i="0">
                          <a:solidFill>
                            <a:srgbClr val="262626"/>
                          </a:solidFill>
                          <a:latin typeface="Arial"/>
                        </a:rPr>
                        <a:t>Sagiv</a:t>
                      </a:r>
                    </a:p>
                  </a:txBody>
                  <a:tcPr>
                    <a:solidFill>
                      <a:srgbClr val="FFFFFF"/>
                    </a:solidFill>
                  </a:tcPr>
                </a:tc>
                <a:tc>
                  <a:txBody>
                    <a:bodyPr/>
                    <a:lstStyle/>
                    <a:p>
                      <a:pPr algn="ctr"/>
                      <a:r>
                        <a:rPr sz="1400" b="0" i="0">
                          <a:solidFill>
                            <a:srgbClr val="262626"/>
                          </a:solidFill>
                          <a:latin typeface="Arial"/>
                        </a:rPr>
                        <a:t>54:53</a:t>
                      </a:r>
                    </a:p>
                  </a:txBody>
                  <a:tcPr>
                    <a:solidFill>
                      <a:srgbClr val="FFFFFF"/>
                    </a:solidFill>
                  </a:tcPr>
                </a:tc>
                <a:tc>
                  <a:txBody>
                    <a:bodyPr/>
                    <a:lstStyle/>
                    <a:p>
                      <a:pPr algn="ctr"/>
                      <a:r>
                        <a:rPr sz="1400" b="0" i="0">
                          <a:solidFill>
                            <a:srgbClr val="262626"/>
                          </a:solidFill>
                          <a:latin typeface="Arial"/>
                        </a:rPr>
                        <a:t>24</a:t>
                      </a:r>
                    </a:p>
                  </a:txBody>
                  <a:tcPr>
                    <a:solidFill>
                      <a:srgbClr val="FFFFFF"/>
                    </a:solidFill>
                  </a:tcPr>
                </a:tc>
                <a:tc>
                  <a:txBody>
                    <a:bodyPr/>
                    <a:lstStyle/>
                    <a:p>
                      <a:pPr algn="ctr"/>
                      <a:r>
                        <a:rPr sz="1400" b="0" i="0">
                          <a:solidFill>
                            <a:srgbClr val="262626"/>
                          </a:solidFill>
                          <a:latin typeface="Arial"/>
                        </a:rPr>
                        <a:t>29</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dirty="0">
                          <a:solidFill>
                            <a:srgbClr val="262626"/>
                          </a:solidFill>
                          <a:latin typeface="Arial"/>
                        </a:rPr>
                        <a:t>5.0</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
        <p:nvSpPr>
          <p:cNvPr id="11" name="Speech Bubble: Rectangle 10">
            <a:extLst>
              <a:ext uri="{FF2B5EF4-FFF2-40B4-BE49-F238E27FC236}">
                <a16:creationId xmlns:a16="http://schemas.microsoft.com/office/drawing/2014/main" id="{B8C0A6A0-BB85-5FE1-3756-289A96FCEC92}"/>
              </a:ext>
            </a:extLst>
          </p:cNvPr>
          <p:cNvSpPr/>
          <p:nvPr/>
        </p:nvSpPr>
        <p:spPr>
          <a:xfrm>
            <a:off x="5314950" y="5187950"/>
            <a:ext cx="2012950" cy="1133348"/>
          </a:xfrm>
          <a:prstGeom prst="wedgeRectCallout">
            <a:avLst>
              <a:gd name="adj1" fmla="val 44782"/>
              <a:gd name="adj2" fmla="val -112310"/>
            </a:avLst>
          </a:prstGeom>
          <a:solidFill>
            <a:schemeClr val="tx2"/>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2024 had longer course and ~3-4 minute longer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
        <p:nvSpPr>
          <p:cNvPr id="9" name="Speech Bubble: Rectangle 8">
            <a:extLst>
              <a:ext uri="{FF2B5EF4-FFF2-40B4-BE49-F238E27FC236}">
                <a16:creationId xmlns:a16="http://schemas.microsoft.com/office/drawing/2014/main" id="{700DFFE6-4081-388C-33C4-A15027032E91}"/>
              </a:ext>
            </a:extLst>
          </p:cNvPr>
          <p:cNvSpPr/>
          <p:nvPr/>
        </p:nvSpPr>
        <p:spPr>
          <a:xfrm>
            <a:off x="7461250" y="1882902"/>
            <a:ext cx="1555750" cy="980948"/>
          </a:xfrm>
          <a:prstGeom prst="wedgeRectCallout">
            <a:avLst/>
          </a:prstGeom>
          <a:solidFill>
            <a:schemeClr val="tx2"/>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Delta from fastest to the average has been around 15-30 seconds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3"/>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4"/>
          <a:stretch>
            <a:fillRect/>
          </a:stretch>
        </p:blipFill>
        <p:spPr>
          <a:xfrm>
            <a:off x="501421" y="1294121"/>
            <a:ext cx="11186110" cy="3404879"/>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1300799750"/>
              </p:ext>
            </p:extLst>
          </p:nvPr>
        </p:nvGraphicFramePr>
        <p:xfrm>
          <a:off x="228600" y="4615189"/>
          <a:ext cx="11640311" cy="18973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177165">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177165">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a:solidFill>
                            <a:srgbClr val="262626"/>
                          </a:solidFill>
                          <a:latin typeface="Arial"/>
                        </a:rPr>
                        <a:t>49</a:t>
                      </a:r>
                    </a:p>
                  </a:txBody>
                  <a:tcPr>
                    <a:solidFill>
                      <a:srgbClr val="FFFFFF"/>
                    </a:solidFill>
                  </a:tcPr>
                </a:tc>
                <a:tc>
                  <a:txBody>
                    <a:bodyPr/>
                    <a:lstStyle/>
                    <a:p>
                      <a:pPr algn="ctr"/>
                      <a:r>
                        <a:rPr sz="950" b="0" i="0" dirty="0">
                          <a:solidFill>
                            <a:srgbClr val="262626"/>
                          </a:solidFill>
                          <a:latin typeface="Arial"/>
                        </a:rPr>
                        <a:t>+35</a:t>
                      </a:r>
                    </a:p>
                  </a:txBody>
                  <a:tcPr>
                    <a:solidFill>
                      <a:srgbClr val="FFFFFF"/>
                    </a:solidFill>
                  </a:tcPr>
                </a:tc>
                <a:tc>
                  <a:txBody>
                    <a:bodyPr/>
                    <a:lstStyle/>
                    <a:p>
                      <a:pPr algn="ctr"/>
                      <a:r>
                        <a:rPr sz="950" b="0" i="0" dirty="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42s</a:t>
                      </a:r>
                    </a:p>
                  </a:txBody>
                  <a:tcPr>
                    <a:solidFill>
                      <a:srgbClr val="FFFFFF"/>
                    </a:solidFill>
                  </a:tcPr>
                </a:tc>
                <a:extLst>
                  <a:ext uri="{0D108BD9-81ED-4DB2-BD59-A6C34878D82A}">
                    <a16:rowId xmlns:a16="http://schemas.microsoft.com/office/drawing/2014/main" val="10001"/>
                  </a:ext>
                </a:extLst>
              </a:tr>
              <a:tr h="177165">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24</a:t>
                      </a:r>
                    </a:p>
                  </a:txBody>
                  <a:tcPr>
                    <a:solidFill>
                      <a:srgbClr val="F2F2F2"/>
                    </a:solidFill>
                  </a:tcPr>
                </a:tc>
                <a:tc>
                  <a:txBody>
                    <a:bodyPr/>
                    <a:lstStyle/>
                    <a:p>
                      <a:pPr algn="ctr"/>
                      <a:r>
                        <a:rPr sz="950" b="0" i="0">
                          <a:solidFill>
                            <a:srgbClr val="262626"/>
                          </a:solidFill>
                          <a:latin typeface="Arial"/>
                        </a:rPr>
                        <a:t>46</a:t>
                      </a:r>
                    </a:p>
                  </a:txBody>
                  <a:tcPr>
                    <a:solidFill>
                      <a:srgbClr val="F2F2F2"/>
                    </a:solidFill>
                  </a:tcPr>
                </a:tc>
                <a:tc>
                  <a:txBody>
                    <a:bodyPr/>
                    <a:lstStyle/>
                    <a:p>
                      <a:pPr algn="ctr"/>
                      <a:r>
                        <a:rPr sz="950" b="0" i="0">
                          <a:solidFill>
                            <a:srgbClr val="262626"/>
                          </a:solidFill>
                          <a:latin typeface="Arial"/>
                        </a:rPr>
                        <a:t>+22</a:t>
                      </a:r>
                    </a:p>
                  </a:txBody>
                  <a:tcPr>
                    <a:solidFill>
                      <a:srgbClr val="F2F2F2"/>
                    </a:solidFill>
                  </a:tcPr>
                </a:tc>
                <a:tc>
                  <a:txBody>
                    <a:bodyPr/>
                    <a:lstStyle/>
                    <a:p>
                      <a:pPr algn="ctr"/>
                      <a:r>
                        <a:rPr sz="950" b="0"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88s</a:t>
                      </a:r>
                    </a:p>
                  </a:txBody>
                  <a:tcPr>
                    <a:solidFill>
                      <a:srgbClr val="F2F2F2"/>
                    </a:solidFill>
                  </a:tcPr>
                </a:tc>
                <a:extLst>
                  <a:ext uri="{0D108BD9-81ED-4DB2-BD59-A6C34878D82A}">
                    <a16:rowId xmlns:a16="http://schemas.microsoft.com/office/drawing/2014/main" val="10002"/>
                  </a:ext>
                </a:extLst>
              </a:tr>
              <a:tr h="177165">
                <a:tc>
                  <a:txBody>
                    <a:bodyPr/>
                    <a:lstStyle/>
                    <a:p>
                      <a:pPr algn="ctr"/>
                      <a:r>
                        <a:rPr sz="950" b="0" i="0">
                          <a:solidFill>
                            <a:srgbClr val="262626"/>
                          </a:solidFill>
                          <a:latin typeface="Arial"/>
                        </a:rPr>
                        <a:t>2021</a:t>
                      </a:r>
                    </a:p>
                  </a:txBody>
                  <a:tcPr>
                    <a:solidFill>
                      <a:srgbClr val="FFFFFF"/>
                    </a:solidFill>
                  </a:tcPr>
                </a:tc>
                <a:tc>
                  <a:txBody>
                    <a:bodyPr/>
                    <a:lstStyle/>
                    <a:p>
                      <a:pPr algn="ctr"/>
                      <a:r>
                        <a:rPr sz="950" b="0" i="0">
                          <a:solidFill>
                            <a:srgbClr val="262626"/>
                          </a:solidFill>
                          <a:latin typeface="Arial"/>
                        </a:rPr>
                        <a:t>30</a:t>
                      </a:r>
                    </a:p>
                  </a:txBody>
                  <a:tcPr>
                    <a:solidFill>
                      <a:srgbClr val="FFFFFF"/>
                    </a:solidFill>
                  </a:tcPr>
                </a:tc>
                <a:tc>
                  <a:txBody>
                    <a:bodyPr/>
                    <a:lstStyle/>
                    <a:p>
                      <a:pPr algn="ctr"/>
                      <a:r>
                        <a:rPr sz="950" b="0" i="0">
                          <a:solidFill>
                            <a:srgbClr val="262626"/>
                          </a:solidFill>
                          <a:latin typeface="Arial"/>
                        </a:rPr>
                        <a:t>43</a:t>
                      </a:r>
                    </a:p>
                  </a:txBody>
                  <a:tcPr>
                    <a:solidFill>
                      <a:srgbClr val="FFFFFF"/>
                    </a:solidFill>
                  </a:tcPr>
                </a:tc>
                <a:tc>
                  <a:txBody>
                    <a:bodyPr/>
                    <a:lstStyle/>
                    <a:p>
                      <a:pPr algn="ctr"/>
                      <a:r>
                        <a:rPr sz="950" b="0" i="0">
                          <a:solidFill>
                            <a:srgbClr val="262626"/>
                          </a:solidFill>
                          <a:latin typeface="Arial"/>
                        </a:rPr>
                        <a:t>+13</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187s</a:t>
                      </a:r>
                    </a:p>
                  </a:txBody>
                  <a:tcPr>
                    <a:solidFill>
                      <a:srgbClr val="FFFFFF"/>
                    </a:solidFill>
                  </a:tcPr>
                </a:tc>
                <a:extLst>
                  <a:ext uri="{0D108BD9-81ED-4DB2-BD59-A6C34878D82A}">
                    <a16:rowId xmlns:a16="http://schemas.microsoft.com/office/drawing/2014/main" val="10003"/>
                  </a:ext>
                </a:extLst>
              </a:tr>
              <a:tr h="177165">
                <a:tc>
                  <a:txBody>
                    <a:bodyPr/>
                    <a:lstStyle/>
                    <a:p>
                      <a:pPr algn="ctr"/>
                      <a:r>
                        <a:rPr sz="950" b="0" i="0">
                          <a:solidFill>
                            <a:srgbClr val="262626"/>
                          </a:solidFill>
                          <a:latin typeface="Arial"/>
                        </a:rPr>
                        <a:t>2022</a:t>
                      </a:r>
                    </a:p>
                  </a:txBody>
                  <a:tcPr>
                    <a:solidFill>
                      <a:srgbClr val="F2F2F2"/>
                    </a:solidFill>
                  </a:tcPr>
                </a:tc>
                <a:tc>
                  <a:txBody>
                    <a:bodyPr/>
                    <a:lstStyle/>
                    <a:p>
                      <a:pPr algn="ctr"/>
                      <a:r>
                        <a:rPr sz="950" b="0" i="0">
                          <a:solidFill>
                            <a:srgbClr val="262626"/>
                          </a:solidFill>
                          <a:latin typeface="Arial"/>
                        </a:rPr>
                        <a:t>19</a:t>
                      </a:r>
                    </a:p>
                  </a:txBody>
                  <a:tcPr>
                    <a:solidFill>
                      <a:srgbClr val="F2F2F2"/>
                    </a:solidFill>
                  </a:tcPr>
                </a:tc>
                <a:tc>
                  <a:txBody>
                    <a:bodyPr/>
                    <a:lstStyle/>
                    <a:p>
                      <a:pPr algn="ctr"/>
                      <a:r>
                        <a:rPr sz="950" b="0" i="0">
                          <a:solidFill>
                            <a:srgbClr val="262626"/>
                          </a:solidFill>
                          <a:latin typeface="Arial"/>
                        </a:rPr>
                        <a:t>51</a:t>
                      </a:r>
                    </a:p>
                  </a:txBody>
                  <a:tcPr>
                    <a:solidFill>
                      <a:srgbClr val="F2F2F2"/>
                    </a:solidFill>
                  </a:tcPr>
                </a:tc>
                <a:tc>
                  <a:txBody>
                    <a:bodyPr/>
                    <a:lstStyle/>
                    <a:p>
                      <a:pPr algn="ctr"/>
                      <a:r>
                        <a:rPr sz="950" b="0" i="0">
                          <a:solidFill>
                            <a:srgbClr val="262626"/>
                          </a:solidFill>
                          <a:latin typeface="Arial"/>
                        </a:rPr>
                        <a:t>+32</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103s</a:t>
                      </a:r>
                    </a:p>
                  </a:txBody>
                  <a:tcPr>
                    <a:solidFill>
                      <a:srgbClr val="F2F2F2"/>
                    </a:solidFill>
                  </a:tcPr>
                </a:tc>
                <a:extLst>
                  <a:ext uri="{0D108BD9-81ED-4DB2-BD59-A6C34878D82A}">
                    <a16:rowId xmlns:a16="http://schemas.microsoft.com/office/drawing/2014/main" val="10004"/>
                  </a:ext>
                </a:extLst>
              </a:tr>
              <a:tr h="177165">
                <a:tc>
                  <a:txBody>
                    <a:bodyPr/>
                    <a:lstStyle/>
                    <a:p>
                      <a:pPr algn="ctr"/>
                      <a:r>
                        <a:rPr sz="950" b="0" i="0">
                          <a:solidFill>
                            <a:srgbClr val="262626"/>
                          </a:solidFill>
                          <a:latin typeface="Arial"/>
                        </a:rPr>
                        <a:t>2023</a:t>
                      </a:r>
                    </a:p>
                  </a:txBody>
                  <a:tcPr>
                    <a:solidFill>
                      <a:srgbClr val="FFFFFF"/>
                    </a:solidFill>
                  </a:tcPr>
                </a:tc>
                <a:tc>
                  <a:txBody>
                    <a:bodyPr/>
                    <a:lstStyle/>
                    <a:p>
                      <a:pPr algn="ctr"/>
                      <a:r>
                        <a:rPr sz="950" b="0" i="0">
                          <a:solidFill>
                            <a:srgbClr val="262626"/>
                          </a:solidFill>
                          <a:latin typeface="Arial"/>
                        </a:rPr>
                        <a:t>26</a:t>
                      </a:r>
                    </a:p>
                  </a:txBody>
                  <a:tcPr>
                    <a:solidFill>
                      <a:srgbClr val="FFFFFF"/>
                    </a:solidFill>
                  </a:tcPr>
                </a:tc>
                <a:tc>
                  <a:txBody>
                    <a:bodyPr/>
                    <a:lstStyle/>
                    <a:p>
                      <a:pPr algn="ctr"/>
                      <a:r>
                        <a:rPr sz="950" b="0" i="0">
                          <a:solidFill>
                            <a:srgbClr val="262626"/>
                          </a:solidFill>
                          <a:latin typeface="Arial"/>
                        </a:rPr>
                        <a:t>30</a:t>
                      </a:r>
                    </a:p>
                  </a:txBody>
                  <a:tcPr>
                    <a:solidFill>
                      <a:srgbClr val="FFFFFF"/>
                    </a:solidFill>
                  </a:tcPr>
                </a:tc>
                <a:tc>
                  <a:txBody>
                    <a:bodyPr/>
                    <a:lstStyle/>
                    <a:p>
                      <a:pPr algn="ctr"/>
                      <a:r>
                        <a:rPr sz="950" b="0" i="0">
                          <a:solidFill>
                            <a:srgbClr val="262626"/>
                          </a:solidFill>
                          <a:latin typeface="Arial"/>
                        </a:rPr>
                        <a:t>+4</a:t>
                      </a:r>
                    </a:p>
                  </a:txBody>
                  <a:tcPr>
                    <a:solidFill>
                      <a:srgbClr val="FFFFFF"/>
                    </a:solidFill>
                  </a:tcPr>
                </a:tc>
                <a:tc>
                  <a:txBody>
                    <a:bodyPr/>
                    <a:lstStyle/>
                    <a:p>
                      <a:pPr algn="ctr"/>
                      <a:r>
                        <a:rPr sz="950" b="0" i="0">
                          <a:solidFill>
                            <a:srgbClr val="262626"/>
                          </a:solidFill>
                          <a:latin typeface="Arial"/>
                        </a:rPr>
                        <a:t>22</a:t>
                      </a:r>
                    </a:p>
                  </a:txBody>
                  <a:tcPr>
                    <a:solidFill>
                      <a:srgbClr val="FFFFFF"/>
                    </a:solidFill>
                  </a:tcPr>
                </a:tc>
                <a:tc>
                  <a:txBody>
                    <a:bodyPr/>
                    <a:lstStyle/>
                    <a:p>
                      <a:pPr algn="ctr"/>
                      <a:r>
                        <a:rPr sz="950" b="0" i="0">
                          <a:solidFill>
                            <a:srgbClr val="262626"/>
                          </a:solidFill>
                          <a:latin typeface="Arial"/>
                        </a:rPr>
                        <a:t>61s</a:t>
                      </a:r>
                    </a:p>
                  </a:txBody>
                  <a:tcPr>
                    <a:solidFill>
                      <a:srgbClr val="FFFFFF"/>
                    </a:solidFill>
                  </a:tcPr>
                </a:tc>
                <a:extLst>
                  <a:ext uri="{0D108BD9-81ED-4DB2-BD59-A6C34878D82A}">
                    <a16:rowId xmlns:a16="http://schemas.microsoft.com/office/drawing/2014/main" val="10005"/>
                  </a:ext>
                </a:extLst>
              </a:tr>
              <a:tr h="177165">
                <a:tc>
                  <a:txBody>
                    <a:bodyPr/>
                    <a:lstStyle/>
                    <a:p>
                      <a:pPr algn="ctr"/>
                      <a:r>
                        <a:rPr sz="950" b="0" i="0">
                          <a:solidFill>
                            <a:srgbClr val="262626"/>
                          </a:solidFill>
                          <a:latin typeface="Arial"/>
                        </a:rPr>
                        <a:t>2024</a:t>
                      </a:r>
                    </a:p>
                  </a:txBody>
                  <a:tcPr>
                    <a:solidFill>
                      <a:srgbClr val="F2F2F2"/>
                    </a:solidFill>
                  </a:tcPr>
                </a:tc>
                <a:tc>
                  <a:txBody>
                    <a:bodyPr/>
                    <a:lstStyle/>
                    <a:p>
                      <a:pPr algn="ctr"/>
                      <a:r>
                        <a:rPr sz="950" b="0" i="0">
                          <a:solidFill>
                            <a:srgbClr val="262626"/>
                          </a:solidFill>
                          <a:latin typeface="Arial"/>
                        </a:rPr>
                        <a:t>25</a:t>
                      </a:r>
                    </a:p>
                  </a:txBody>
                  <a:tcPr>
                    <a:solidFill>
                      <a:srgbClr val="F2F2F2"/>
                    </a:solidFill>
                  </a:tcPr>
                </a:tc>
                <a:tc>
                  <a:txBody>
                    <a:bodyPr/>
                    <a:lstStyle/>
                    <a:p>
                      <a:pPr algn="ctr"/>
                      <a:r>
                        <a:rPr sz="950" b="0" i="0">
                          <a:solidFill>
                            <a:srgbClr val="262626"/>
                          </a:solidFill>
                          <a:latin typeface="Arial"/>
                        </a:rPr>
                        <a:t>37</a:t>
                      </a:r>
                    </a:p>
                  </a:txBody>
                  <a:tcPr>
                    <a:solidFill>
                      <a:srgbClr val="F2F2F2"/>
                    </a:solidFill>
                  </a:tcPr>
                </a:tc>
                <a:tc>
                  <a:txBody>
                    <a:bodyPr/>
                    <a:lstStyle/>
                    <a:p>
                      <a:pPr algn="ctr"/>
                      <a:r>
                        <a:rPr sz="950" b="0" i="0">
                          <a:solidFill>
                            <a:srgbClr val="262626"/>
                          </a:solidFill>
                          <a:latin typeface="Arial"/>
                        </a:rPr>
                        <a:t>+12</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237s</a:t>
                      </a:r>
                    </a:p>
                  </a:txBody>
                  <a:tcPr>
                    <a:solidFill>
                      <a:srgbClr val="F2F2F2"/>
                    </a:solidFill>
                  </a:tcPr>
                </a:tc>
                <a:extLst>
                  <a:ext uri="{0D108BD9-81ED-4DB2-BD59-A6C34878D82A}">
                    <a16:rowId xmlns:a16="http://schemas.microsoft.com/office/drawing/2014/main" val="10006"/>
                  </a:ext>
                </a:extLst>
              </a:tr>
              <a:tr h="177165">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12</a:t>
                      </a:r>
                    </a:p>
                  </a:txBody>
                  <a:tcPr>
                    <a:solidFill>
                      <a:srgbClr val="FFFFFF"/>
                    </a:solidFill>
                  </a:tcPr>
                </a:tc>
                <a:tc>
                  <a:txBody>
                    <a:bodyPr/>
                    <a:lstStyle/>
                    <a:p>
                      <a:pPr algn="ctr"/>
                      <a:r>
                        <a:rPr sz="950" b="0" i="0">
                          <a:solidFill>
                            <a:srgbClr val="262626"/>
                          </a:solidFill>
                          <a:latin typeface="Arial"/>
                        </a:rPr>
                        <a:t>3</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31</a:t>
                      </a:r>
                    </a:p>
                  </a:txBody>
                  <a:tcPr>
                    <a:solidFill>
                      <a:srgbClr val="FFFFFF"/>
                    </a:solidFill>
                  </a:tcPr>
                </a:tc>
                <a:tc>
                  <a:txBody>
                    <a:bodyPr/>
                    <a:lstStyle/>
                    <a:p>
                      <a:pPr algn="ctr"/>
                      <a:r>
                        <a:rPr sz="950" b="0" i="0" dirty="0">
                          <a:solidFill>
                            <a:srgbClr val="262626"/>
                          </a:solidFill>
                          <a:latin typeface="Arial"/>
                        </a:rPr>
                        <a:t>41s</a:t>
                      </a:r>
                    </a:p>
                  </a:txBody>
                  <a:tcPr>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274320" y="6519672"/>
            <a:ext cx="11640312" cy="201168"/>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Speech Bubble: Rectangle 11">
            <a:extLst>
              <a:ext uri="{FF2B5EF4-FFF2-40B4-BE49-F238E27FC236}">
                <a16:creationId xmlns:a16="http://schemas.microsoft.com/office/drawing/2014/main" id="{8882A246-9AC6-1FDD-E3EB-02F20DE409E6}"/>
              </a:ext>
            </a:extLst>
          </p:cNvPr>
          <p:cNvSpPr/>
          <p:nvPr/>
        </p:nvSpPr>
        <p:spPr>
          <a:xfrm>
            <a:off x="7004050" y="1882902"/>
            <a:ext cx="2012950" cy="1133348"/>
          </a:xfrm>
          <a:prstGeom prst="wedgeRectCallout">
            <a:avLst>
              <a:gd name="adj1" fmla="val 65602"/>
              <a:gd name="adj2" fmla="val 15996"/>
            </a:avLst>
          </a:prstGeom>
          <a:solidFill>
            <a:schemeClr val="tx2"/>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2025 first true small breakaway (3 athletes)</a:t>
            </a:r>
          </a:p>
        </p:txBody>
      </p:sp>
      <p:sp>
        <p:nvSpPr>
          <p:cNvPr id="13" name="Rectangle 12">
            <a:extLst>
              <a:ext uri="{FF2B5EF4-FFF2-40B4-BE49-F238E27FC236}">
                <a16:creationId xmlns:a16="http://schemas.microsoft.com/office/drawing/2014/main" id="{66198B1D-6A34-E666-E8AA-09CC91F74FCD}"/>
              </a:ext>
            </a:extLst>
          </p:cNvPr>
          <p:cNvSpPr/>
          <p:nvPr/>
        </p:nvSpPr>
        <p:spPr>
          <a:xfrm>
            <a:off x="2762250" y="4615189"/>
            <a:ext cx="1822450" cy="1897380"/>
          </a:xfrm>
          <a:prstGeom prst="rect">
            <a:avLst/>
          </a:prstGeom>
          <a:noFill/>
          <a:ln w="381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
        <p:nvSpPr>
          <p:cNvPr id="9" name="Speech Bubble: Rectangle 8">
            <a:extLst>
              <a:ext uri="{FF2B5EF4-FFF2-40B4-BE49-F238E27FC236}">
                <a16:creationId xmlns:a16="http://schemas.microsoft.com/office/drawing/2014/main" id="{87421CD2-9DA6-8F7E-AD70-6262BE44D029}"/>
              </a:ext>
            </a:extLst>
          </p:cNvPr>
          <p:cNvSpPr/>
          <p:nvPr/>
        </p:nvSpPr>
        <p:spPr>
          <a:xfrm>
            <a:off x="4521200" y="1788414"/>
            <a:ext cx="2012950" cy="1133348"/>
          </a:xfrm>
          <a:prstGeom prst="wedgeRectCallout">
            <a:avLst>
              <a:gd name="adj1" fmla="val 5350"/>
              <a:gd name="adj2" fmla="val 89394"/>
            </a:avLst>
          </a:prstGeom>
          <a:solidFill>
            <a:schemeClr val="tx2"/>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Fastest times consistently just below 15:00. Prepare for a longer 5K than normal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276225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377196311"/>
              </p:ext>
            </p:extLst>
          </p:nvPr>
        </p:nvGraphicFramePr>
        <p:xfrm>
          <a:off x="228600" y="3830320"/>
          <a:ext cx="11640312" cy="276225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0861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08610">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55:32</a:t>
                      </a:r>
                    </a:p>
                  </a:txBody>
                  <a:tcPr>
                    <a:solidFill>
                      <a:srgbClr val="FFFFFF"/>
                    </a:solidFill>
                  </a:tcPr>
                </a:tc>
                <a:tc>
                  <a:txBody>
                    <a:bodyPr/>
                    <a:lstStyle/>
                    <a:p>
                      <a:pPr algn="ctr"/>
                      <a:r>
                        <a:rPr sz="850" b="0" i="0">
                          <a:solidFill>
                            <a:srgbClr val="262626"/>
                          </a:solidFill>
                          <a:latin typeface="Arial"/>
                        </a:rPr>
                        <a:t>55:45
+13s</a:t>
                      </a:r>
                    </a:p>
                  </a:txBody>
                  <a:tcPr>
                    <a:solidFill>
                      <a:srgbClr val="FFFFFF"/>
                    </a:solidFill>
                  </a:tcPr>
                </a:tc>
                <a:tc>
                  <a:txBody>
                    <a:bodyPr/>
                    <a:lstStyle/>
                    <a:p>
                      <a:pPr algn="ctr"/>
                      <a:r>
                        <a:rPr sz="850" b="0" i="0" dirty="0">
                          <a:solidFill>
                            <a:srgbClr val="262626"/>
                          </a:solidFill>
                          <a:latin typeface="Arial"/>
                        </a:rPr>
                        <a:t>55:51
+19s</a:t>
                      </a:r>
                    </a:p>
                  </a:txBody>
                  <a:tcPr>
                    <a:solidFill>
                      <a:srgbClr val="FFFFFF"/>
                    </a:solidFill>
                  </a:tcPr>
                </a:tc>
                <a:tc>
                  <a:txBody>
                    <a:bodyPr/>
                    <a:lstStyle/>
                    <a:p>
                      <a:pPr algn="ctr"/>
                      <a:r>
                        <a:rPr sz="850" b="0" i="0">
                          <a:solidFill>
                            <a:srgbClr val="262626"/>
                          </a:solidFill>
                          <a:latin typeface="Arial"/>
                        </a:rPr>
                        <a:t>55:54
+22s</a:t>
                      </a:r>
                    </a:p>
                  </a:txBody>
                  <a:tcPr>
                    <a:solidFill>
                      <a:srgbClr val="FFFFFF"/>
                    </a:solidFill>
                  </a:tcPr>
                </a:tc>
                <a:tc>
                  <a:txBody>
                    <a:bodyPr/>
                    <a:lstStyle/>
                    <a:p>
                      <a:pPr algn="ctr"/>
                      <a:r>
                        <a:rPr sz="850" b="0" i="0">
                          <a:solidFill>
                            <a:srgbClr val="262626"/>
                          </a:solidFill>
                          <a:latin typeface="Arial"/>
                        </a:rPr>
                        <a:t>56:06
+34s</a:t>
                      </a:r>
                    </a:p>
                  </a:txBody>
                  <a:tcPr>
                    <a:solidFill>
                      <a:srgbClr val="FFFFFF"/>
                    </a:solidFill>
                  </a:tcPr>
                </a:tc>
                <a:tc>
                  <a:txBody>
                    <a:bodyPr/>
                    <a:lstStyle/>
                    <a:p>
                      <a:pPr algn="ctr"/>
                      <a:r>
                        <a:rPr sz="850" b="0" i="0">
                          <a:solidFill>
                            <a:srgbClr val="262626"/>
                          </a:solidFill>
                          <a:latin typeface="Arial"/>
                        </a:rPr>
                        <a:t>56:38
+66s</a:t>
                      </a:r>
                    </a:p>
                  </a:txBody>
                  <a:tcPr>
                    <a:solidFill>
                      <a:srgbClr val="FFFFFF"/>
                    </a:solidFill>
                  </a:tcPr>
                </a:tc>
                <a:extLst>
                  <a:ext uri="{0D108BD9-81ED-4DB2-BD59-A6C34878D82A}">
                    <a16:rowId xmlns:a16="http://schemas.microsoft.com/office/drawing/2014/main" val="10001"/>
                  </a:ext>
                </a:extLst>
              </a:tr>
              <a:tr h="308610">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55:04</a:t>
                      </a:r>
                    </a:p>
                  </a:txBody>
                  <a:tcPr>
                    <a:solidFill>
                      <a:srgbClr val="F2F2F2"/>
                    </a:solidFill>
                  </a:tcPr>
                </a:tc>
                <a:tc>
                  <a:txBody>
                    <a:bodyPr/>
                    <a:lstStyle/>
                    <a:p>
                      <a:pPr algn="ctr"/>
                      <a:r>
                        <a:rPr sz="850" b="0" i="0">
                          <a:solidFill>
                            <a:srgbClr val="262626"/>
                          </a:solidFill>
                          <a:latin typeface="Arial"/>
                        </a:rPr>
                        <a:t>55:11
+7s</a:t>
                      </a:r>
                    </a:p>
                  </a:txBody>
                  <a:tcPr>
                    <a:solidFill>
                      <a:srgbClr val="F2F2F2"/>
                    </a:solidFill>
                  </a:tcPr>
                </a:tc>
                <a:tc>
                  <a:txBody>
                    <a:bodyPr/>
                    <a:lstStyle/>
                    <a:p>
                      <a:pPr algn="ctr"/>
                      <a:r>
                        <a:rPr sz="850" b="0" i="0">
                          <a:solidFill>
                            <a:srgbClr val="262626"/>
                          </a:solidFill>
                          <a:latin typeface="Arial"/>
                        </a:rPr>
                        <a:t>55:19
+15s</a:t>
                      </a:r>
                    </a:p>
                  </a:txBody>
                  <a:tcPr>
                    <a:solidFill>
                      <a:srgbClr val="F2F2F2"/>
                    </a:solidFill>
                  </a:tcPr>
                </a:tc>
                <a:tc>
                  <a:txBody>
                    <a:bodyPr/>
                    <a:lstStyle/>
                    <a:p>
                      <a:pPr algn="ctr"/>
                      <a:r>
                        <a:rPr sz="850" b="0" i="0">
                          <a:solidFill>
                            <a:srgbClr val="262626"/>
                          </a:solidFill>
                          <a:latin typeface="Arial"/>
                        </a:rPr>
                        <a:t>55:28
+24s</a:t>
                      </a:r>
                    </a:p>
                  </a:txBody>
                  <a:tcPr>
                    <a:solidFill>
                      <a:srgbClr val="F2F2F2"/>
                    </a:solidFill>
                  </a:tcPr>
                </a:tc>
                <a:tc>
                  <a:txBody>
                    <a:bodyPr/>
                    <a:lstStyle/>
                    <a:p>
                      <a:pPr algn="ctr"/>
                      <a:r>
                        <a:rPr sz="850" b="0" i="0">
                          <a:solidFill>
                            <a:srgbClr val="262626"/>
                          </a:solidFill>
                          <a:latin typeface="Arial"/>
                        </a:rPr>
                        <a:t>55:36
+32s</a:t>
                      </a:r>
                    </a:p>
                  </a:txBody>
                  <a:tcPr>
                    <a:solidFill>
                      <a:srgbClr val="F2F2F2"/>
                    </a:solidFill>
                  </a:tcPr>
                </a:tc>
                <a:tc>
                  <a:txBody>
                    <a:bodyPr/>
                    <a:lstStyle/>
                    <a:p>
                      <a:pPr algn="ctr"/>
                      <a:r>
                        <a:rPr sz="850" b="0" i="0">
                          <a:solidFill>
                            <a:srgbClr val="262626"/>
                          </a:solidFill>
                          <a:latin typeface="Arial"/>
                        </a:rPr>
                        <a:t>56:03
+59s</a:t>
                      </a:r>
                    </a:p>
                  </a:txBody>
                  <a:tcPr>
                    <a:solidFill>
                      <a:srgbClr val="F2F2F2"/>
                    </a:solidFill>
                  </a:tcPr>
                </a:tc>
                <a:extLst>
                  <a:ext uri="{0D108BD9-81ED-4DB2-BD59-A6C34878D82A}">
                    <a16:rowId xmlns:a16="http://schemas.microsoft.com/office/drawing/2014/main" val="10002"/>
                  </a:ext>
                </a:extLst>
              </a:tr>
              <a:tr h="308610">
                <a:tc>
                  <a:txBody>
                    <a:bodyPr/>
                    <a:lstStyle/>
                    <a:p>
                      <a:pPr algn="ctr"/>
                      <a:r>
                        <a:rPr sz="1000" b="1" i="0">
                          <a:solidFill>
                            <a:srgbClr val="262626"/>
                          </a:solidFill>
                          <a:latin typeface="Arial"/>
                        </a:rPr>
                        <a:t>2021</a:t>
                      </a:r>
                    </a:p>
                  </a:txBody>
                  <a:tcPr>
                    <a:solidFill>
                      <a:srgbClr val="FFFFFF"/>
                    </a:solidFill>
                  </a:tcPr>
                </a:tc>
                <a:tc>
                  <a:txBody>
                    <a:bodyPr/>
                    <a:lstStyle/>
                    <a:p>
                      <a:pPr algn="ctr"/>
                      <a:r>
                        <a:rPr sz="850" b="0" i="0">
                          <a:solidFill>
                            <a:srgbClr val="262626"/>
                          </a:solidFill>
                          <a:latin typeface="Arial"/>
                        </a:rPr>
                        <a:t>53:09</a:t>
                      </a:r>
                    </a:p>
                  </a:txBody>
                  <a:tcPr>
                    <a:solidFill>
                      <a:srgbClr val="FFFFFF"/>
                    </a:solidFill>
                  </a:tcPr>
                </a:tc>
                <a:tc>
                  <a:txBody>
                    <a:bodyPr/>
                    <a:lstStyle/>
                    <a:p>
                      <a:pPr algn="ctr"/>
                      <a:r>
                        <a:rPr sz="850" b="0" i="0">
                          <a:solidFill>
                            <a:srgbClr val="262626"/>
                          </a:solidFill>
                          <a:latin typeface="Arial"/>
                        </a:rPr>
                        <a:t>53:21
+12s</a:t>
                      </a:r>
                    </a:p>
                  </a:txBody>
                  <a:tcPr>
                    <a:solidFill>
                      <a:srgbClr val="FFFFFF"/>
                    </a:solidFill>
                  </a:tcPr>
                </a:tc>
                <a:tc>
                  <a:txBody>
                    <a:bodyPr/>
                    <a:lstStyle/>
                    <a:p>
                      <a:pPr algn="ctr"/>
                      <a:r>
                        <a:rPr sz="850" b="0" i="0">
                          <a:solidFill>
                            <a:srgbClr val="262626"/>
                          </a:solidFill>
                          <a:latin typeface="Arial"/>
                        </a:rPr>
                        <a:t>53:22
+13s</a:t>
                      </a:r>
                    </a:p>
                  </a:txBody>
                  <a:tcPr>
                    <a:solidFill>
                      <a:srgbClr val="FFFFFF"/>
                    </a:solidFill>
                  </a:tcPr>
                </a:tc>
                <a:tc>
                  <a:txBody>
                    <a:bodyPr/>
                    <a:lstStyle/>
                    <a:p>
                      <a:pPr algn="ctr"/>
                      <a:r>
                        <a:rPr sz="850" b="0" i="0">
                          <a:solidFill>
                            <a:srgbClr val="262626"/>
                          </a:solidFill>
                          <a:latin typeface="Arial"/>
                        </a:rPr>
                        <a:t>53:26
+17s</a:t>
                      </a:r>
                    </a:p>
                  </a:txBody>
                  <a:tcPr>
                    <a:solidFill>
                      <a:srgbClr val="FFFFFF"/>
                    </a:solidFill>
                  </a:tcPr>
                </a:tc>
                <a:tc>
                  <a:txBody>
                    <a:bodyPr/>
                    <a:lstStyle/>
                    <a:p>
                      <a:pPr algn="ctr"/>
                      <a:r>
                        <a:rPr sz="850" b="0" i="0">
                          <a:solidFill>
                            <a:srgbClr val="262626"/>
                          </a:solidFill>
                          <a:latin typeface="Arial"/>
                        </a:rPr>
                        <a:t>53:44
+35s</a:t>
                      </a:r>
                    </a:p>
                  </a:txBody>
                  <a:tcPr>
                    <a:solidFill>
                      <a:srgbClr val="FFFFFF"/>
                    </a:solidFill>
                  </a:tcPr>
                </a:tc>
                <a:tc>
                  <a:txBody>
                    <a:bodyPr/>
                    <a:lstStyle/>
                    <a:p>
                      <a:pPr algn="ctr"/>
                      <a:r>
                        <a:rPr sz="850" b="0" i="0">
                          <a:solidFill>
                            <a:srgbClr val="262626"/>
                          </a:solidFill>
                          <a:latin typeface="Arial"/>
                        </a:rPr>
                        <a:t>54:11
+62s</a:t>
                      </a:r>
                    </a:p>
                  </a:txBody>
                  <a:tcPr>
                    <a:solidFill>
                      <a:srgbClr val="FFFFFF"/>
                    </a:solidFill>
                  </a:tcPr>
                </a:tc>
                <a:extLst>
                  <a:ext uri="{0D108BD9-81ED-4DB2-BD59-A6C34878D82A}">
                    <a16:rowId xmlns:a16="http://schemas.microsoft.com/office/drawing/2014/main" val="10003"/>
                  </a:ext>
                </a:extLst>
              </a:tr>
              <a:tr h="308610">
                <a:tc>
                  <a:txBody>
                    <a:bodyPr/>
                    <a:lstStyle/>
                    <a:p>
                      <a:pPr algn="ctr"/>
                      <a:r>
                        <a:rPr sz="1000" b="1" i="0">
                          <a:solidFill>
                            <a:srgbClr val="262626"/>
                          </a:solidFill>
                          <a:latin typeface="Arial"/>
                        </a:rPr>
                        <a:t>2022</a:t>
                      </a:r>
                    </a:p>
                  </a:txBody>
                  <a:tcPr>
                    <a:solidFill>
                      <a:srgbClr val="F2F2F2"/>
                    </a:solidFill>
                  </a:tcPr>
                </a:tc>
                <a:tc>
                  <a:txBody>
                    <a:bodyPr/>
                    <a:lstStyle/>
                    <a:p>
                      <a:pPr algn="ctr"/>
                      <a:r>
                        <a:rPr sz="850" b="0" i="0">
                          <a:solidFill>
                            <a:srgbClr val="262626"/>
                          </a:solidFill>
                          <a:latin typeface="Arial"/>
                        </a:rPr>
                        <a:t>53:47</a:t>
                      </a:r>
                    </a:p>
                  </a:txBody>
                  <a:tcPr>
                    <a:solidFill>
                      <a:srgbClr val="F2F2F2"/>
                    </a:solidFill>
                  </a:tcPr>
                </a:tc>
                <a:tc>
                  <a:txBody>
                    <a:bodyPr/>
                    <a:lstStyle/>
                    <a:p>
                      <a:pPr algn="ctr"/>
                      <a:r>
                        <a:rPr sz="850" b="0" i="0">
                          <a:solidFill>
                            <a:srgbClr val="262626"/>
                          </a:solidFill>
                          <a:latin typeface="Arial"/>
                        </a:rPr>
                        <a:t>53:48
+1s</a:t>
                      </a:r>
                    </a:p>
                  </a:txBody>
                  <a:tcPr>
                    <a:solidFill>
                      <a:srgbClr val="F2F2F2"/>
                    </a:solidFill>
                  </a:tcPr>
                </a:tc>
                <a:tc>
                  <a:txBody>
                    <a:bodyPr/>
                    <a:lstStyle/>
                    <a:p>
                      <a:pPr algn="ctr"/>
                      <a:r>
                        <a:rPr sz="850" b="0" i="0">
                          <a:solidFill>
                            <a:srgbClr val="262626"/>
                          </a:solidFill>
                          <a:latin typeface="Arial"/>
                        </a:rPr>
                        <a:t>53:50
+3s</a:t>
                      </a:r>
                    </a:p>
                  </a:txBody>
                  <a:tcPr>
                    <a:solidFill>
                      <a:srgbClr val="F2F2F2"/>
                    </a:solidFill>
                  </a:tcPr>
                </a:tc>
                <a:tc>
                  <a:txBody>
                    <a:bodyPr/>
                    <a:lstStyle/>
                    <a:p>
                      <a:pPr algn="ctr"/>
                      <a:r>
                        <a:rPr sz="850" b="0" i="0">
                          <a:solidFill>
                            <a:srgbClr val="262626"/>
                          </a:solidFill>
                          <a:latin typeface="Arial"/>
                        </a:rPr>
                        <a:t>53:53
+6s</a:t>
                      </a:r>
                    </a:p>
                  </a:txBody>
                  <a:tcPr>
                    <a:solidFill>
                      <a:srgbClr val="F2F2F2"/>
                    </a:solidFill>
                  </a:tcPr>
                </a:tc>
                <a:tc>
                  <a:txBody>
                    <a:bodyPr/>
                    <a:lstStyle/>
                    <a:p>
                      <a:pPr algn="ctr"/>
                      <a:r>
                        <a:rPr sz="850" b="0" i="0">
                          <a:solidFill>
                            <a:srgbClr val="262626"/>
                          </a:solidFill>
                          <a:latin typeface="Arial"/>
                        </a:rPr>
                        <a:t>54:06
+19s</a:t>
                      </a:r>
                    </a:p>
                  </a:txBody>
                  <a:tcPr>
                    <a:solidFill>
                      <a:srgbClr val="F2F2F2"/>
                    </a:solidFill>
                  </a:tcPr>
                </a:tc>
                <a:tc>
                  <a:txBody>
                    <a:bodyPr/>
                    <a:lstStyle/>
                    <a:p>
                      <a:pPr algn="ctr"/>
                      <a:r>
                        <a:rPr sz="850" b="0" i="0">
                          <a:solidFill>
                            <a:srgbClr val="262626"/>
                          </a:solidFill>
                          <a:latin typeface="Arial"/>
                        </a:rPr>
                        <a:t>54:30
+43s</a:t>
                      </a:r>
                    </a:p>
                  </a:txBody>
                  <a:tcPr>
                    <a:solidFill>
                      <a:srgbClr val="F2F2F2"/>
                    </a:solidFill>
                  </a:tcPr>
                </a:tc>
                <a:extLst>
                  <a:ext uri="{0D108BD9-81ED-4DB2-BD59-A6C34878D82A}">
                    <a16:rowId xmlns:a16="http://schemas.microsoft.com/office/drawing/2014/main" val="10004"/>
                  </a:ext>
                </a:extLst>
              </a:tr>
              <a:tr h="308610">
                <a:tc>
                  <a:txBody>
                    <a:bodyPr/>
                    <a:lstStyle/>
                    <a:p>
                      <a:pPr algn="ctr"/>
                      <a:r>
                        <a:rPr sz="1000" b="1" i="0">
                          <a:solidFill>
                            <a:srgbClr val="262626"/>
                          </a:solidFill>
                          <a:latin typeface="Arial"/>
                        </a:rPr>
                        <a:t>2023</a:t>
                      </a:r>
                    </a:p>
                  </a:txBody>
                  <a:tcPr>
                    <a:solidFill>
                      <a:srgbClr val="FFFFFF"/>
                    </a:solidFill>
                  </a:tcPr>
                </a:tc>
                <a:tc>
                  <a:txBody>
                    <a:bodyPr/>
                    <a:lstStyle/>
                    <a:p>
                      <a:pPr algn="ctr"/>
                      <a:r>
                        <a:rPr sz="850" b="0" i="0">
                          <a:solidFill>
                            <a:srgbClr val="262626"/>
                          </a:solidFill>
                          <a:latin typeface="Arial"/>
                        </a:rPr>
                        <a:t>54:13</a:t>
                      </a:r>
                    </a:p>
                  </a:txBody>
                  <a:tcPr>
                    <a:solidFill>
                      <a:srgbClr val="FFFFFF"/>
                    </a:solidFill>
                  </a:tcPr>
                </a:tc>
                <a:tc>
                  <a:txBody>
                    <a:bodyPr/>
                    <a:lstStyle/>
                    <a:p>
                      <a:pPr algn="ctr"/>
                      <a:r>
                        <a:rPr sz="850" b="0" i="0">
                          <a:solidFill>
                            <a:srgbClr val="262626"/>
                          </a:solidFill>
                          <a:latin typeface="Arial"/>
                        </a:rPr>
                        <a:t>54:14
+1s</a:t>
                      </a:r>
                    </a:p>
                  </a:txBody>
                  <a:tcPr>
                    <a:solidFill>
                      <a:srgbClr val="FFFFFF"/>
                    </a:solidFill>
                  </a:tcPr>
                </a:tc>
                <a:tc>
                  <a:txBody>
                    <a:bodyPr/>
                    <a:lstStyle/>
                    <a:p>
                      <a:pPr algn="ctr"/>
                      <a:r>
                        <a:rPr sz="850" b="0" i="0">
                          <a:solidFill>
                            <a:srgbClr val="262626"/>
                          </a:solidFill>
                          <a:latin typeface="Arial"/>
                        </a:rPr>
                        <a:t>54:17
+4s</a:t>
                      </a:r>
                    </a:p>
                  </a:txBody>
                  <a:tcPr>
                    <a:solidFill>
                      <a:srgbClr val="FFFFFF"/>
                    </a:solidFill>
                  </a:tcPr>
                </a:tc>
                <a:tc>
                  <a:txBody>
                    <a:bodyPr/>
                    <a:lstStyle/>
                    <a:p>
                      <a:pPr algn="ctr"/>
                      <a:r>
                        <a:rPr sz="850" b="0" i="0">
                          <a:solidFill>
                            <a:srgbClr val="262626"/>
                          </a:solidFill>
                          <a:latin typeface="Arial"/>
                        </a:rPr>
                        <a:t>54:34
+21s</a:t>
                      </a:r>
                    </a:p>
                  </a:txBody>
                  <a:tcPr>
                    <a:solidFill>
                      <a:srgbClr val="FFFFFF"/>
                    </a:solidFill>
                  </a:tcPr>
                </a:tc>
                <a:tc>
                  <a:txBody>
                    <a:bodyPr/>
                    <a:lstStyle/>
                    <a:p>
                      <a:pPr algn="ctr"/>
                      <a:r>
                        <a:rPr sz="850" b="0" i="0">
                          <a:solidFill>
                            <a:srgbClr val="262626"/>
                          </a:solidFill>
                          <a:latin typeface="Arial"/>
                        </a:rPr>
                        <a:t>54:51
+38s</a:t>
                      </a:r>
                    </a:p>
                  </a:txBody>
                  <a:tcPr>
                    <a:solidFill>
                      <a:srgbClr val="FFFFFF"/>
                    </a:solidFill>
                  </a:tcPr>
                </a:tc>
                <a:tc>
                  <a:txBody>
                    <a:bodyPr/>
                    <a:lstStyle/>
                    <a:p>
                      <a:pPr algn="ctr"/>
                      <a:r>
                        <a:rPr sz="850" b="0" i="0">
                          <a:solidFill>
                            <a:srgbClr val="262626"/>
                          </a:solidFill>
                          <a:latin typeface="Arial"/>
                        </a:rPr>
                        <a:t>55:31
+78s</a:t>
                      </a:r>
                    </a:p>
                  </a:txBody>
                  <a:tcPr>
                    <a:solidFill>
                      <a:srgbClr val="FFFFFF"/>
                    </a:solidFill>
                  </a:tcPr>
                </a:tc>
                <a:extLst>
                  <a:ext uri="{0D108BD9-81ED-4DB2-BD59-A6C34878D82A}">
                    <a16:rowId xmlns:a16="http://schemas.microsoft.com/office/drawing/2014/main" val="10005"/>
                  </a:ext>
                </a:extLst>
              </a:tr>
              <a:tr h="308610">
                <a:tc>
                  <a:txBody>
                    <a:bodyPr/>
                    <a:lstStyle/>
                    <a:p>
                      <a:pPr algn="ctr"/>
                      <a:r>
                        <a:rPr sz="1000" b="1" i="0">
                          <a:solidFill>
                            <a:srgbClr val="262626"/>
                          </a:solidFill>
                          <a:latin typeface="Arial"/>
                        </a:rPr>
                        <a:t>2024</a:t>
                      </a:r>
                    </a:p>
                  </a:txBody>
                  <a:tcPr>
                    <a:solidFill>
                      <a:srgbClr val="F2F2F2"/>
                    </a:solidFill>
                  </a:tcPr>
                </a:tc>
                <a:tc>
                  <a:txBody>
                    <a:bodyPr/>
                    <a:lstStyle/>
                    <a:p>
                      <a:pPr algn="ctr"/>
                      <a:r>
                        <a:rPr sz="850" b="0" i="0">
                          <a:solidFill>
                            <a:srgbClr val="262626"/>
                          </a:solidFill>
                          <a:latin typeface="Arial"/>
                        </a:rPr>
                        <a:t>58:07</a:t>
                      </a:r>
                    </a:p>
                  </a:txBody>
                  <a:tcPr>
                    <a:solidFill>
                      <a:srgbClr val="F2F2F2"/>
                    </a:solidFill>
                  </a:tcPr>
                </a:tc>
                <a:tc>
                  <a:txBody>
                    <a:bodyPr/>
                    <a:lstStyle/>
                    <a:p>
                      <a:pPr algn="ctr"/>
                      <a:r>
                        <a:rPr sz="850" b="0" i="0">
                          <a:solidFill>
                            <a:srgbClr val="262626"/>
                          </a:solidFill>
                          <a:latin typeface="Arial"/>
                        </a:rPr>
                        <a:t>58:15
+8s</a:t>
                      </a:r>
                    </a:p>
                  </a:txBody>
                  <a:tcPr>
                    <a:solidFill>
                      <a:srgbClr val="F2F2F2"/>
                    </a:solidFill>
                  </a:tcPr>
                </a:tc>
                <a:tc>
                  <a:txBody>
                    <a:bodyPr/>
                    <a:lstStyle/>
                    <a:p>
                      <a:pPr algn="ctr"/>
                      <a:r>
                        <a:rPr sz="850" b="0" i="0">
                          <a:solidFill>
                            <a:srgbClr val="262626"/>
                          </a:solidFill>
                          <a:latin typeface="Arial"/>
                        </a:rPr>
                        <a:t>58:21
+14s</a:t>
                      </a:r>
                    </a:p>
                  </a:txBody>
                  <a:tcPr>
                    <a:solidFill>
                      <a:srgbClr val="F2F2F2"/>
                    </a:solidFill>
                  </a:tcPr>
                </a:tc>
                <a:tc>
                  <a:txBody>
                    <a:bodyPr/>
                    <a:lstStyle/>
                    <a:p>
                      <a:pPr algn="ctr"/>
                      <a:r>
                        <a:rPr sz="850" b="0" i="0">
                          <a:solidFill>
                            <a:srgbClr val="262626"/>
                          </a:solidFill>
                          <a:latin typeface="Arial"/>
                        </a:rPr>
                        <a:t>58:29
+22s</a:t>
                      </a:r>
                    </a:p>
                  </a:txBody>
                  <a:tcPr>
                    <a:solidFill>
                      <a:srgbClr val="F2F2F2"/>
                    </a:solidFill>
                  </a:tcPr>
                </a:tc>
                <a:tc>
                  <a:txBody>
                    <a:bodyPr/>
                    <a:lstStyle/>
                    <a:p>
                      <a:pPr algn="ctr"/>
                      <a:r>
                        <a:rPr sz="850" b="0" i="0">
                          <a:solidFill>
                            <a:srgbClr val="262626"/>
                          </a:solidFill>
                          <a:latin typeface="Arial"/>
                        </a:rPr>
                        <a:t>58:47
+40s</a:t>
                      </a:r>
                    </a:p>
                  </a:txBody>
                  <a:tcPr>
                    <a:solidFill>
                      <a:srgbClr val="F2F2F2"/>
                    </a:solidFill>
                  </a:tcPr>
                </a:tc>
                <a:tc>
                  <a:txBody>
                    <a:bodyPr/>
                    <a:lstStyle/>
                    <a:p>
                      <a:pPr algn="ctr"/>
                      <a:r>
                        <a:rPr sz="850" b="0" i="0">
                          <a:solidFill>
                            <a:srgbClr val="262626"/>
                          </a:solidFill>
                          <a:latin typeface="Arial"/>
                        </a:rPr>
                        <a:t>59:22
+75s</a:t>
                      </a:r>
                    </a:p>
                  </a:txBody>
                  <a:tcPr>
                    <a:solidFill>
                      <a:srgbClr val="F2F2F2"/>
                    </a:solidFill>
                  </a:tcPr>
                </a:tc>
                <a:extLst>
                  <a:ext uri="{0D108BD9-81ED-4DB2-BD59-A6C34878D82A}">
                    <a16:rowId xmlns:a16="http://schemas.microsoft.com/office/drawing/2014/main" val="10006"/>
                  </a:ext>
                </a:extLst>
              </a:tr>
              <a:tr h="308610">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54:53</a:t>
                      </a:r>
                    </a:p>
                  </a:txBody>
                  <a:tcPr>
                    <a:solidFill>
                      <a:srgbClr val="FFFFFF"/>
                    </a:solidFill>
                  </a:tcPr>
                </a:tc>
                <a:tc>
                  <a:txBody>
                    <a:bodyPr/>
                    <a:lstStyle/>
                    <a:p>
                      <a:pPr algn="ctr"/>
                      <a:r>
                        <a:rPr sz="850" b="0" i="0">
                          <a:solidFill>
                            <a:srgbClr val="262626"/>
                          </a:solidFill>
                          <a:latin typeface="Arial"/>
                        </a:rPr>
                        <a:t>55:07
+14s</a:t>
                      </a:r>
                    </a:p>
                  </a:txBody>
                  <a:tcPr>
                    <a:solidFill>
                      <a:srgbClr val="FFFFFF"/>
                    </a:solidFill>
                  </a:tcPr>
                </a:tc>
                <a:tc>
                  <a:txBody>
                    <a:bodyPr/>
                    <a:lstStyle/>
                    <a:p>
                      <a:pPr algn="ctr"/>
                      <a:r>
                        <a:rPr sz="850" b="0" i="0">
                          <a:solidFill>
                            <a:srgbClr val="262626"/>
                          </a:solidFill>
                          <a:latin typeface="Arial"/>
                        </a:rPr>
                        <a:t>55:11
+18s</a:t>
                      </a:r>
                    </a:p>
                  </a:txBody>
                  <a:tcPr>
                    <a:solidFill>
                      <a:srgbClr val="FFFFFF"/>
                    </a:solidFill>
                  </a:tcPr>
                </a:tc>
                <a:tc>
                  <a:txBody>
                    <a:bodyPr/>
                    <a:lstStyle/>
                    <a:p>
                      <a:pPr algn="ctr"/>
                      <a:r>
                        <a:rPr sz="850" b="0" i="0">
                          <a:solidFill>
                            <a:srgbClr val="262626"/>
                          </a:solidFill>
                          <a:latin typeface="Arial"/>
                        </a:rPr>
                        <a:t>55:20
+27s</a:t>
                      </a:r>
                    </a:p>
                  </a:txBody>
                  <a:tcPr>
                    <a:solidFill>
                      <a:srgbClr val="FFFFFF"/>
                    </a:solidFill>
                  </a:tcPr>
                </a:tc>
                <a:tc>
                  <a:txBody>
                    <a:bodyPr/>
                    <a:lstStyle/>
                    <a:p>
                      <a:pPr algn="ctr"/>
                      <a:r>
                        <a:rPr sz="850" b="0" i="0">
                          <a:solidFill>
                            <a:srgbClr val="262626"/>
                          </a:solidFill>
                          <a:latin typeface="Arial"/>
                        </a:rPr>
                        <a:t>55:45
+52s</a:t>
                      </a:r>
                    </a:p>
                  </a:txBody>
                  <a:tcPr>
                    <a:solidFill>
                      <a:srgbClr val="FFFFFF"/>
                    </a:solidFill>
                  </a:tcPr>
                </a:tc>
                <a:tc>
                  <a:txBody>
                    <a:bodyPr/>
                    <a:lstStyle/>
                    <a:p>
                      <a:pPr algn="ctr"/>
                      <a:r>
                        <a:rPr sz="850" b="0" i="0" dirty="0">
                          <a:solidFill>
                            <a:srgbClr val="262626"/>
                          </a:solidFill>
                          <a:latin typeface="Arial"/>
                        </a:rPr>
                        <a:t>56:16
+83s</a:t>
                      </a:r>
                    </a:p>
                  </a:txBody>
                  <a:tcPr>
                    <a:solidFill>
                      <a:srgbClr val="FFFFFF"/>
                    </a:solidFill>
                  </a:tcPr>
                </a:tc>
                <a:extLst>
                  <a:ext uri="{0D108BD9-81ED-4DB2-BD59-A6C34878D82A}">
                    <a16:rowId xmlns:a16="http://schemas.microsoft.com/office/drawing/2014/main" val="10007"/>
                  </a:ext>
                </a:extLst>
              </a:tr>
            </a:tbl>
          </a:graphicData>
        </a:graphic>
      </p:graphicFrame>
      <p:sp>
        <p:nvSpPr>
          <p:cNvPr id="13" name="Speech Bubble: Rectangle 12">
            <a:extLst>
              <a:ext uri="{FF2B5EF4-FFF2-40B4-BE49-F238E27FC236}">
                <a16:creationId xmlns:a16="http://schemas.microsoft.com/office/drawing/2014/main" id="{81969141-ABCB-EA7E-11EC-CC3A9A7F03FD}"/>
              </a:ext>
            </a:extLst>
          </p:cNvPr>
          <p:cNvSpPr/>
          <p:nvPr/>
        </p:nvSpPr>
        <p:spPr>
          <a:xfrm>
            <a:off x="6870700" y="1353566"/>
            <a:ext cx="2012950" cy="1133348"/>
          </a:xfrm>
          <a:prstGeom prst="wedgeRectCallout">
            <a:avLst>
              <a:gd name="adj1" fmla="val 42889"/>
              <a:gd name="adj2" fmla="val 87153"/>
            </a:avLst>
          </a:prstGeom>
          <a:solidFill>
            <a:schemeClr val="tx2"/>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Decent amount of separation from the winner to top 5. Pace smart and reel in those fading at the 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990919500"/>
              </p:ext>
            </p:extLst>
          </p:nvPr>
        </p:nvGraphicFramePr>
        <p:xfrm>
          <a:off x="274320" y="1143000"/>
          <a:ext cx="11640307" cy="36576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58245">
                  <a:extLst>
                    <a:ext uri="{9D8B030D-6E8A-4147-A177-3AD203B41FA5}">
                      <a16:colId xmlns:a16="http://schemas.microsoft.com/office/drawing/2014/main" val="20003"/>
                    </a:ext>
                  </a:extLst>
                </a:gridCol>
                <a:gridCol w="870964">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Jun 10</a:t>
                      </a:r>
                    </a:p>
                  </a:txBody>
                  <a:tcPr>
                    <a:solidFill>
                      <a:srgbClr val="FFFFFF"/>
                    </a:solidFill>
                  </a:tcPr>
                </a:tc>
                <a:tc>
                  <a:txBody>
                    <a:bodyPr/>
                    <a:lstStyle/>
                    <a:p>
                      <a:pPr algn="ctr"/>
                      <a:r>
                        <a:rPr sz="1000" b="0" i="0">
                          <a:solidFill>
                            <a:srgbClr val="262626"/>
                          </a:solidFill>
                          <a:latin typeface="Arial"/>
                        </a:rPr>
                        <a:t>29.2</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10</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Jun 08</a:t>
                      </a:r>
                    </a:p>
                  </a:txBody>
                  <a:tcPr>
                    <a:solidFill>
                      <a:srgbClr val="F2F2F2"/>
                    </a:solidFill>
                  </a:tcPr>
                </a:tc>
                <a:tc>
                  <a:txBody>
                    <a:bodyPr/>
                    <a:lstStyle/>
                    <a:p>
                      <a:pPr algn="ctr"/>
                      <a:r>
                        <a:rPr sz="1000" b="0" i="0">
                          <a:solidFill>
                            <a:srgbClr val="262626"/>
                          </a:solidFill>
                          <a:latin typeface="Arial"/>
                        </a:rPr>
                        <a:t>28.3</a:t>
                      </a:r>
                    </a:p>
                  </a:txBody>
                  <a:tcPr>
                    <a:solidFill>
                      <a:srgbClr val="F2F2F2"/>
                    </a:solidFill>
                  </a:tcPr>
                </a:tc>
                <a:tc>
                  <a:txBody>
                    <a:bodyPr/>
                    <a:lstStyle/>
                    <a:p>
                      <a:pPr algn="ctr"/>
                      <a:r>
                        <a:rPr sz="1000" b="0" i="0">
                          <a:solidFill>
                            <a:srgbClr val="262626"/>
                          </a:solidFill>
                          <a:latin typeface="Arial"/>
                        </a:rPr>
                        <a:t>77%</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Jun 12</a:t>
                      </a:r>
                    </a:p>
                  </a:txBody>
                  <a:tcPr>
                    <a:solidFill>
                      <a:srgbClr val="FFFFFF"/>
                    </a:solidFill>
                  </a:tcPr>
                </a:tc>
                <a:tc>
                  <a:txBody>
                    <a:bodyPr/>
                    <a:lstStyle/>
                    <a:p>
                      <a:pPr algn="ctr"/>
                      <a:r>
                        <a:rPr sz="1000" b="0" i="0">
                          <a:solidFill>
                            <a:srgbClr val="262626"/>
                          </a:solidFill>
                          <a:latin typeface="Arial"/>
                        </a:rPr>
                        <a:t>26.8</a:t>
                      </a:r>
                    </a:p>
                  </a:txBody>
                  <a:tcPr>
                    <a:solidFill>
                      <a:srgbClr val="FFFFFF"/>
                    </a:solidFill>
                  </a:tcPr>
                </a:tc>
                <a:tc>
                  <a:txBody>
                    <a:bodyPr/>
                    <a:lstStyle/>
                    <a:p>
                      <a:pPr algn="ctr"/>
                      <a:r>
                        <a:rPr sz="1000" b="0" i="0">
                          <a:solidFill>
                            <a:srgbClr val="262626"/>
                          </a:solidFill>
                          <a:latin typeface="Arial"/>
                        </a:rPr>
                        <a:t>82%</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Jun 18</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68%</a:t>
                      </a:r>
                    </a:p>
                  </a:txBody>
                  <a:tcPr>
                    <a:solidFill>
                      <a:srgbClr val="F2F2F2"/>
                    </a:solidFill>
                  </a:tcPr>
                </a:tc>
                <a:tc>
                  <a:txBody>
                    <a:bodyPr/>
                    <a:lstStyle/>
                    <a:p>
                      <a:pPr algn="ctr"/>
                      <a:r>
                        <a:rPr sz="1000" b="0" i="0">
                          <a:solidFill>
                            <a:srgbClr val="262626"/>
                          </a:solidFill>
                          <a:latin typeface="Arial"/>
                        </a:rPr>
                        <a:t>6</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29</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Jun 17</a:t>
                      </a:r>
                    </a:p>
                  </a:txBody>
                  <a:tcPr>
                    <a:solidFill>
                      <a:srgbClr val="FFFFFF"/>
                    </a:solidFill>
                  </a:tcPr>
                </a:tc>
                <a:tc>
                  <a:txBody>
                    <a:bodyPr/>
                    <a:lstStyle/>
                    <a:p>
                      <a:pPr algn="ctr"/>
                      <a:r>
                        <a:rPr sz="1000" b="0" i="0">
                          <a:solidFill>
                            <a:srgbClr val="262626"/>
                          </a:solidFill>
                          <a:latin typeface="Arial"/>
                        </a:rPr>
                        <a:t>32.8</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31.7</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29.3</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7</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30</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Jun 22</a:t>
                      </a:r>
                    </a:p>
                  </a:txBody>
                  <a:tcPr>
                    <a:solidFill>
                      <a:srgbClr val="FFFFFF"/>
                    </a:solidFill>
                  </a:tcPr>
                </a:tc>
                <a:tc>
                  <a:txBody>
                    <a:bodyPr/>
                    <a:lstStyle/>
                    <a:p>
                      <a:pPr algn="ctr"/>
                      <a:r>
                        <a:rPr sz="1000" b="0" i="0">
                          <a:solidFill>
                            <a:srgbClr val="262626"/>
                          </a:solidFill>
                          <a:latin typeface="Arial"/>
                        </a:rPr>
                        <a:t>24</a:t>
                      </a:r>
                    </a:p>
                  </a:txBody>
                  <a:tcPr>
                    <a:solidFill>
                      <a:srgbClr val="FFFFFF"/>
                    </a:solidFill>
                  </a:tcPr>
                </a:tc>
                <a:tc>
                  <a:txBody>
                    <a:bodyPr/>
                    <a:lstStyle/>
                    <a:p>
                      <a:pPr algn="ctr"/>
                      <a:r>
                        <a:rPr sz="1000" b="0" i="0">
                          <a:solidFill>
                            <a:srgbClr val="262626"/>
                          </a:solidFill>
                          <a:latin typeface="Arial"/>
                        </a:rPr>
                        <a:t>96%</a:t>
                      </a:r>
                    </a:p>
                  </a:txBody>
                  <a:tcPr>
                    <a:solidFill>
                      <a:srgbClr val="FFFFFF"/>
                    </a:solidFill>
                  </a:tcPr>
                </a:tc>
                <a:tc>
                  <a:txBody>
                    <a:bodyPr/>
                    <a:lstStyle/>
                    <a:p>
                      <a:pPr algn="ctr"/>
                      <a:r>
                        <a:rPr sz="1000" b="0" i="0">
                          <a:solidFill>
                            <a:srgbClr val="262626"/>
                          </a:solidFill>
                          <a:latin typeface="Arial"/>
                        </a:rPr>
                        <a:t>4</a:t>
                      </a:r>
                    </a:p>
                  </a:txBody>
                  <a:tcPr>
                    <a:solidFill>
                      <a:srgbClr val="FFFFFF"/>
                    </a:solidFill>
                  </a:tcPr>
                </a:tc>
                <a:tc>
                  <a:txBody>
                    <a:bodyPr/>
                    <a:lstStyle/>
                    <a:p>
                      <a:pPr algn="ctr"/>
                      <a:r>
                        <a:rPr sz="1000" b="0" i="0">
                          <a:solidFill>
                            <a:srgbClr val="262626"/>
                          </a:solidFill>
                          <a:latin typeface="Arial"/>
                        </a:rPr>
                        <a:t>2.6</a:t>
                      </a:r>
                    </a:p>
                  </a:txBody>
                  <a:tcPr>
                    <a:solidFill>
                      <a:srgbClr val="FFFFFF"/>
                    </a:solidFill>
                  </a:tcPr>
                </a:tc>
                <a:tc>
                  <a:txBody>
                    <a:bodyPr/>
                    <a:lstStyle/>
                    <a:p>
                      <a:pPr algn="ctr"/>
                      <a:r>
                        <a:rPr sz="1000" b="0" i="0">
                          <a:solidFill>
                            <a:srgbClr val="262626"/>
                          </a:solidFill>
                          <a:latin typeface="Arial"/>
                        </a:rPr>
                        <a:t>29</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dirty="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C009-5379-2386-7A11-436F4BFFADC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843B373-89B8-1328-81F7-66B1C24EF74E}"/>
              </a:ext>
            </a:extLst>
          </p:cNvPr>
          <p:cNvSpPr txBox="1"/>
          <p:nvPr/>
        </p:nvSpPr>
        <p:spPr>
          <a:xfrm>
            <a:off x="2732838" y="3227832"/>
            <a:ext cx="6939685" cy="954107"/>
          </a:xfrm>
          <a:prstGeom prst="rect">
            <a:avLst/>
          </a:prstGeom>
          <a:noFill/>
        </p:spPr>
        <p:txBody>
          <a:bodyPr wrap="square">
            <a:spAutoFit/>
          </a:bodyPr>
          <a:lstStyle/>
          <a:p>
            <a:r>
              <a:rPr lang="en-US" sz="1400" dirty="0">
                <a:solidFill>
                  <a:srgbClr val="262626"/>
                </a:solidFill>
                <a:latin typeface="Arial"/>
              </a:rPr>
              <a:t>While athletes have historically been able to bike to the front group a small to medium breakaway is common in the women’s racing here. If you are able to make a breakaway of ~20 athletes it's not uncommon to put ~2 minutes into the chasers, helping solidify better positioning into the run. </a:t>
            </a:r>
          </a:p>
        </p:txBody>
      </p:sp>
      <p:sp>
        <p:nvSpPr>
          <p:cNvPr id="14" name="TextBox 13">
            <a:extLst>
              <a:ext uri="{FF2B5EF4-FFF2-40B4-BE49-F238E27FC236}">
                <a16:creationId xmlns:a16="http://schemas.microsoft.com/office/drawing/2014/main" id="{D23B6DF2-8E99-E33B-0462-71B23F8F22D7}"/>
              </a:ext>
            </a:extLst>
          </p:cNvPr>
          <p:cNvSpPr txBox="1"/>
          <p:nvPr/>
        </p:nvSpPr>
        <p:spPr>
          <a:xfrm>
            <a:off x="2732838" y="1536192"/>
            <a:ext cx="6939685" cy="1169551"/>
          </a:xfrm>
          <a:prstGeom prst="rect">
            <a:avLst/>
          </a:prstGeom>
          <a:noFill/>
        </p:spPr>
        <p:txBody>
          <a:bodyPr wrap="square">
            <a:spAutoFit/>
          </a:bodyPr>
          <a:lstStyle/>
          <a:p>
            <a:pPr algn="l"/>
            <a:r>
              <a:rPr lang="en-US" sz="1400" dirty="0">
                <a:solidFill>
                  <a:srgbClr val="262626"/>
                </a:solidFill>
                <a:latin typeface="Arial"/>
              </a:rPr>
              <a:t>Stay attached through the swim and first bike lap. Huatulco does not always reward an all-out swim break, but missing the first organized group can be costly from an energy standpoint. The women’s race has ranged from very small groups at T1 to larger groups by T2, so put yourself close enough to the leaders that you can attach yourself on the bike.</a:t>
            </a:r>
            <a:endParaRPr sz="1400" b="0" i="0" dirty="0">
              <a:solidFill>
                <a:srgbClr val="262626"/>
              </a:solidFill>
              <a:latin typeface="Arial"/>
            </a:endParaRPr>
          </a:p>
        </p:txBody>
      </p:sp>
      <p:sp>
        <p:nvSpPr>
          <p:cNvPr id="2" name="Rectangle 1">
            <a:extLst>
              <a:ext uri="{FF2B5EF4-FFF2-40B4-BE49-F238E27FC236}">
                <a16:creationId xmlns:a16="http://schemas.microsoft.com/office/drawing/2014/main" id="{34D96237-DE1D-3892-8487-BE8B0A1CFE23}"/>
              </a:ext>
            </a:extLst>
          </p:cNvPr>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DDAC39B-C061-1967-8CD1-2B732F2092CD}"/>
              </a:ext>
            </a:extLst>
          </p:cNvPr>
          <p:cNvSpPr txBox="1"/>
          <p:nvPr/>
        </p:nvSpPr>
        <p:spPr>
          <a:xfrm>
            <a:off x="228600" y="45720"/>
            <a:ext cx="9601200" cy="523220"/>
          </a:xfrm>
          <a:prstGeom prst="rect">
            <a:avLst/>
          </a:prstGeom>
          <a:noFill/>
        </p:spPr>
        <p:txBody>
          <a:bodyPr wrap="square">
            <a:spAutoFit/>
          </a:bodyPr>
          <a:lstStyle/>
          <a:p>
            <a:pPr algn="l"/>
            <a:r>
              <a:rPr sz="2800" b="1" i="0" dirty="0">
                <a:solidFill>
                  <a:srgbClr val="FFFFFF"/>
                </a:solidFill>
                <a:latin typeface="Arial"/>
              </a:rPr>
              <a:t>Race Overview  —  Elite </a:t>
            </a:r>
            <a:r>
              <a:rPr lang="en-US" sz="2800" b="1" i="0" dirty="0">
                <a:solidFill>
                  <a:srgbClr val="FFFFFF"/>
                </a:solidFill>
                <a:latin typeface="Arial"/>
              </a:rPr>
              <a:t>Women</a:t>
            </a:r>
            <a:endParaRPr sz="2800" b="1" i="0" dirty="0">
              <a:solidFill>
                <a:srgbClr val="FFFFFF"/>
              </a:solidFill>
              <a:latin typeface="Arial"/>
            </a:endParaRPr>
          </a:p>
        </p:txBody>
      </p:sp>
      <p:sp>
        <p:nvSpPr>
          <p:cNvPr id="4" name="TextBox 3">
            <a:extLst>
              <a:ext uri="{FF2B5EF4-FFF2-40B4-BE49-F238E27FC236}">
                <a16:creationId xmlns:a16="http://schemas.microsoft.com/office/drawing/2014/main" id="{E56FECDC-3716-ECDB-9693-9293A637A7B9}"/>
              </a:ext>
            </a:extLst>
          </p:cNvPr>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a:extLst>
              <a:ext uri="{FF2B5EF4-FFF2-40B4-BE49-F238E27FC236}">
                <a16:creationId xmlns:a16="http://schemas.microsoft.com/office/drawing/2014/main" id="{05DD1F25-8D4E-5F4A-1FA8-82CE4E8BD5EC}"/>
              </a:ext>
            </a:extLst>
          </p:cNvPr>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a:extLst>
              <a:ext uri="{FF2B5EF4-FFF2-40B4-BE49-F238E27FC236}">
                <a16:creationId xmlns:a16="http://schemas.microsoft.com/office/drawing/2014/main" id="{5958C9C5-CBCC-64F9-A704-A13FBABE46DD}"/>
              </a:ext>
            </a:extLst>
          </p:cNvPr>
          <p:cNvPicPr>
            <a:picLocks noChangeAspect="1"/>
          </p:cNvPicPr>
          <p:nvPr/>
        </p:nvPicPr>
        <p:blipFill>
          <a:blip r:embed="rId2"/>
          <a:stretch>
            <a:fillRect/>
          </a:stretch>
        </p:blipFill>
        <p:spPr>
          <a:xfrm>
            <a:off x="10881360" y="27432"/>
            <a:ext cx="1234440" cy="914400"/>
          </a:xfrm>
          <a:prstGeom prst="rect">
            <a:avLst/>
          </a:prstGeom>
        </p:spPr>
      </p:pic>
      <p:sp>
        <p:nvSpPr>
          <p:cNvPr id="7" name="Rectangle 6">
            <a:extLst>
              <a:ext uri="{FF2B5EF4-FFF2-40B4-BE49-F238E27FC236}">
                <a16:creationId xmlns:a16="http://schemas.microsoft.com/office/drawing/2014/main" id="{D5E10AAD-9C04-6E37-E5E7-4766D4583A48}"/>
              </a:ext>
            </a:extLst>
          </p:cNvPr>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03694936-B12D-8ED2-33A3-89E869899FB8}"/>
              </a:ext>
            </a:extLst>
          </p:cNvPr>
          <p:cNvSpPr/>
          <p:nvPr/>
        </p:nvSpPr>
        <p:spPr>
          <a:xfrm>
            <a:off x="2029257" y="1097280"/>
            <a:ext cx="7798206"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DE2D91C-E5A0-AED6-6EBA-05CDD987E914}"/>
              </a:ext>
            </a:extLst>
          </p:cNvPr>
          <p:cNvSpPr txBox="1"/>
          <p:nvPr/>
        </p:nvSpPr>
        <p:spPr>
          <a:xfrm>
            <a:off x="2165361" y="1115568"/>
            <a:ext cx="7297398"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a:extLst>
              <a:ext uri="{FF2B5EF4-FFF2-40B4-BE49-F238E27FC236}">
                <a16:creationId xmlns:a16="http://schemas.microsoft.com/office/drawing/2014/main" id="{F04D7280-5948-C047-849D-7175AD9AFB0A}"/>
              </a:ext>
            </a:extLst>
          </p:cNvPr>
          <p:cNvSpPr/>
          <p:nvPr/>
        </p:nvSpPr>
        <p:spPr>
          <a:xfrm>
            <a:off x="2053084" y="155448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5" name="Rectangle 14">
            <a:extLst>
              <a:ext uri="{FF2B5EF4-FFF2-40B4-BE49-F238E27FC236}">
                <a16:creationId xmlns:a16="http://schemas.microsoft.com/office/drawing/2014/main" id="{2FC2FA00-E697-BB03-615F-6F0D262D708A}"/>
              </a:ext>
            </a:extLst>
          </p:cNvPr>
          <p:cNvSpPr/>
          <p:nvPr/>
        </p:nvSpPr>
        <p:spPr>
          <a:xfrm>
            <a:off x="2072134" y="324612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Arial"/>
              </a:rPr>
              <a:t>2</a:t>
            </a:r>
          </a:p>
        </p:txBody>
      </p:sp>
      <p:sp>
        <p:nvSpPr>
          <p:cNvPr id="17" name="Rectangle 16">
            <a:extLst>
              <a:ext uri="{FF2B5EF4-FFF2-40B4-BE49-F238E27FC236}">
                <a16:creationId xmlns:a16="http://schemas.microsoft.com/office/drawing/2014/main" id="{9DD638B7-7626-950B-1DAC-6F69BAC0CD68}"/>
              </a:ext>
            </a:extLst>
          </p:cNvPr>
          <p:cNvSpPr/>
          <p:nvPr/>
        </p:nvSpPr>
        <p:spPr>
          <a:xfrm>
            <a:off x="2053084" y="4937760"/>
            <a:ext cx="600960"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a:extLst>
              <a:ext uri="{FF2B5EF4-FFF2-40B4-BE49-F238E27FC236}">
                <a16:creationId xmlns:a16="http://schemas.microsoft.com/office/drawing/2014/main" id="{FA0173B1-3B9C-D3BE-E566-E91F042FF8E7}"/>
              </a:ext>
            </a:extLst>
          </p:cNvPr>
          <p:cNvSpPr txBox="1"/>
          <p:nvPr/>
        </p:nvSpPr>
        <p:spPr>
          <a:xfrm>
            <a:off x="2736648" y="4937760"/>
            <a:ext cx="6935876" cy="1169551"/>
          </a:xfrm>
          <a:prstGeom prst="rect">
            <a:avLst/>
          </a:prstGeom>
          <a:noFill/>
        </p:spPr>
        <p:txBody>
          <a:bodyPr wrap="square">
            <a:spAutoFit/>
          </a:bodyPr>
          <a:lstStyle/>
          <a:p>
            <a:r>
              <a:rPr lang="en-US" sz="1400" dirty="0">
                <a:solidFill>
                  <a:srgbClr val="262626"/>
                </a:solidFill>
                <a:latin typeface="Arial"/>
              </a:rPr>
              <a:t>The Huatulco 5K is slower than a flat sprint-course run because of heat and elevation. Managing your effort on the short but steep climb amid increasing heat in the morning is key to putting yourself in a strong position over the final 0.5 km. Based on recent gaps, a top-10 result likely requires staying within roughly one minute of the winner, and podium contention has been seen photo finishes in back to back years.</a:t>
            </a:r>
          </a:p>
        </p:txBody>
      </p:sp>
    </p:spTree>
    <p:extLst>
      <p:ext uri="{BB962C8B-B14F-4D97-AF65-F5344CB8AC3E}">
        <p14:creationId xmlns:p14="http://schemas.microsoft.com/office/powerpoint/2010/main" val="2379673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4094686513"/>
              </p:ext>
            </p:extLst>
          </p:nvPr>
        </p:nvGraphicFramePr>
        <p:xfrm>
          <a:off x="274320" y="1143000"/>
          <a:ext cx="11640307" cy="4102608"/>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46597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1035150">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Jun 10</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41</a:t>
                      </a:r>
                    </a:p>
                  </a:txBody>
                  <a:tcPr>
                    <a:solidFill>
                      <a:srgbClr val="FFFFFF"/>
                    </a:solidFill>
                  </a:tcPr>
                </a:tc>
                <a:tc>
                  <a:txBody>
                    <a:bodyPr/>
                    <a:lstStyle/>
                    <a:p>
                      <a:pPr algn="ctr"/>
                      <a:r>
                        <a:rPr sz="1400" b="0" i="0">
                          <a:solidFill>
                            <a:srgbClr val="262626"/>
                          </a:solidFill>
                          <a:latin typeface="Arial"/>
                        </a:rPr>
                        <a:t>3</a:t>
                      </a:r>
                    </a:p>
                  </a:txBody>
                  <a:tcPr>
                    <a:solidFill>
                      <a:srgbClr val="FFFFFF"/>
                    </a:solidFill>
                  </a:tcPr>
                </a:tc>
                <a:tc>
                  <a:txBody>
                    <a:bodyPr/>
                    <a:lstStyle/>
                    <a:p>
                      <a:pPr algn="l"/>
                      <a:r>
                        <a:rPr sz="1400" b="0" i="0">
                          <a:solidFill>
                            <a:srgbClr val="262626"/>
                          </a:solidFill>
                          <a:latin typeface="Arial"/>
                        </a:rPr>
                        <a:t>Sodaro</a:t>
                      </a:r>
                    </a:p>
                  </a:txBody>
                  <a:tcPr>
                    <a:solidFill>
                      <a:srgbClr val="FFFFFF"/>
                    </a:solidFill>
                  </a:tcPr>
                </a:tc>
                <a:tc>
                  <a:txBody>
                    <a:bodyPr/>
                    <a:lstStyle/>
                    <a:p>
                      <a:pPr algn="ctr"/>
                      <a:r>
                        <a:rPr sz="1400" b="0" i="0">
                          <a:solidFill>
                            <a:srgbClr val="262626"/>
                          </a:solidFill>
                          <a:latin typeface="Arial"/>
                        </a:rPr>
                        <a:t>1:01:14</a:t>
                      </a:r>
                    </a:p>
                  </a:txBody>
                  <a:tcPr>
                    <a:solidFill>
                      <a:srgbClr val="FFFFFF"/>
                    </a:solidFill>
                  </a:tcPr>
                </a:tc>
                <a:tc>
                  <a:txBody>
                    <a:bodyPr/>
                    <a:lstStyle/>
                    <a:p>
                      <a:pPr algn="ctr"/>
                      <a:r>
                        <a:rPr sz="1400" b="0" i="0">
                          <a:solidFill>
                            <a:srgbClr val="262626"/>
                          </a:solidFill>
                          <a:latin typeface="Arial"/>
                        </a:rPr>
                        <a:t>29.2</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Jun 08</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42</a:t>
                      </a:r>
                    </a:p>
                  </a:txBody>
                  <a:tcPr>
                    <a:solidFill>
                      <a:srgbClr val="F2F2F2"/>
                    </a:solidFill>
                  </a:tcPr>
                </a:tc>
                <a:tc>
                  <a:txBody>
                    <a:bodyPr/>
                    <a:lstStyle/>
                    <a:p>
                      <a:pPr algn="ctr"/>
                      <a:r>
                        <a:rPr sz="1400" b="0" i="0">
                          <a:solidFill>
                            <a:srgbClr val="262626"/>
                          </a:solidFill>
                          <a:latin typeface="Arial"/>
                        </a:rPr>
                        <a:t>4</a:t>
                      </a:r>
                    </a:p>
                  </a:txBody>
                  <a:tcPr>
                    <a:solidFill>
                      <a:srgbClr val="F2F2F2"/>
                    </a:solidFill>
                  </a:tcPr>
                </a:tc>
                <a:tc>
                  <a:txBody>
                    <a:bodyPr/>
                    <a:lstStyle/>
                    <a:p>
                      <a:pPr algn="l"/>
                      <a:r>
                        <a:rPr sz="1400" b="0" i="0">
                          <a:solidFill>
                            <a:srgbClr val="262626"/>
                          </a:solidFill>
                          <a:latin typeface="Arial"/>
                        </a:rPr>
                        <a:t>Rappaport</a:t>
                      </a:r>
                    </a:p>
                  </a:txBody>
                  <a:tcPr>
                    <a:solidFill>
                      <a:srgbClr val="F2F2F2"/>
                    </a:solidFill>
                  </a:tcPr>
                </a:tc>
                <a:tc>
                  <a:txBody>
                    <a:bodyPr/>
                    <a:lstStyle/>
                    <a:p>
                      <a:pPr algn="ctr"/>
                      <a:r>
                        <a:rPr sz="1400" b="0" i="0">
                          <a:solidFill>
                            <a:srgbClr val="262626"/>
                          </a:solidFill>
                          <a:latin typeface="Arial"/>
                        </a:rPr>
                        <a:t>1:00:56</a:t>
                      </a:r>
                    </a:p>
                  </a:txBody>
                  <a:tcPr>
                    <a:solidFill>
                      <a:srgbClr val="F2F2F2"/>
                    </a:solidFill>
                  </a:tcPr>
                </a:tc>
                <a:tc>
                  <a:txBody>
                    <a:bodyPr/>
                    <a:lstStyle/>
                    <a:p>
                      <a:pPr algn="ctr"/>
                      <a:r>
                        <a:rPr sz="1400" b="0" i="0">
                          <a:solidFill>
                            <a:srgbClr val="262626"/>
                          </a:solidFill>
                          <a:latin typeface="Arial"/>
                        </a:rPr>
                        <a:t>28.3</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Jun 12</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43</a:t>
                      </a:r>
                    </a:p>
                  </a:txBody>
                  <a:tcPr>
                    <a:solidFill>
                      <a:srgbClr val="FFFFFF"/>
                    </a:solidFill>
                  </a:tcPr>
                </a:tc>
                <a:tc>
                  <a:txBody>
                    <a:bodyPr/>
                    <a:lstStyle/>
                    <a:p>
                      <a:pPr algn="ctr"/>
                      <a:r>
                        <a:rPr sz="1400" b="0" i="0">
                          <a:solidFill>
                            <a:srgbClr val="262626"/>
                          </a:solidFill>
                          <a:latin typeface="Arial"/>
                        </a:rPr>
                        <a:t>5</a:t>
                      </a:r>
                    </a:p>
                  </a:txBody>
                  <a:tcPr>
                    <a:solidFill>
                      <a:srgbClr val="FFFFFF"/>
                    </a:solidFill>
                  </a:tcPr>
                </a:tc>
                <a:tc>
                  <a:txBody>
                    <a:bodyPr/>
                    <a:lstStyle/>
                    <a:p>
                      <a:pPr algn="l"/>
                      <a:r>
                        <a:rPr sz="1400" b="0" i="0">
                          <a:solidFill>
                            <a:srgbClr val="262626"/>
                          </a:solidFill>
                          <a:latin typeface="Arial"/>
                        </a:rPr>
                        <a:t>Pedersen</a:t>
                      </a:r>
                    </a:p>
                  </a:txBody>
                  <a:tcPr>
                    <a:solidFill>
                      <a:srgbClr val="FFFFFF"/>
                    </a:solidFill>
                  </a:tcPr>
                </a:tc>
                <a:tc>
                  <a:txBody>
                    <a:bodyPr/>
                    <a:lstStyle/>
                    <a:p>
                      <a:pPr algn="ctr"/>
                      <a:r>
                        <a:rPr sz="1400" b="0" i="0">
                          <a:solidFill>
                            <a:srgbClr val="262626"/>
                          </a:solidFill>
                          <a:latin typeface="Arial"/>
                        </a:rPr>
                        <a:t>1:00:24</a:t>
                      </a:r>
                    </a:p>
                  </a:txBody>
                  <a:tcPr>
                    <a:solidFill>
                      <a:srgbClr val="FFFFFF"/>
                    </a:solidFill>
                  </a:tcPr>
                </a:tc>
                <a:tc>
                  <a:txBody>
                    <a:bodyPr/>
                    <a:lstStyle/>
                    <a:p>
                      <a:pPr algn="ctr"/>
                      <a:r>
                        <a:rPr sz="1400" b="0" i="0">
                          <a:solidFill>
                            <a:srgbClr val="262626"/>
                          </a:solidFill>
                          <a:latin typeface="Arial"/>
                        </a:rPr>
                        <a:t>26.8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2022</a:t>
                      </a:r>
                    </a:p>
                  </a:txBody>
                  <a:tcPr>
                    <a:solidFill>
                      <a:srgbClr val="F2F2F2"/>
                    </a:solidFill>
                  </a:tcPr>
                </a:tc>
                <a:tc>
                  <a:txBody>
                    <a:bodyPr/>
                    <a:lstStyle/>
                    <a:p>
                      <a:pPr algn="ctr"/>
                      <a:r>
                        <a:rPr sz="1400" b="0" i="0">
                          <a:solidFill>
                            <a:srgbClr val="262626"/>
                          </a:solidFill>
                          <a:latin typeface="Arial"/>
                        </a:rPr>
                        <a:t>Jun 18</a:t>
                      </a:r>
                    </a:p>
                  </a:txBody>
                  <a:tcPr>
                    <a:solidFill>
                      <a:srgbClr val="F2F2F2"/>
                    </a:solidFill>
                  </a:tcPr>
                </a:tc>
                <a:tc>
                  <a:txBody>
                    <a:bodyPr/>
                    <a:lstStyle/>
                    <a:p>
                      <a:pPr algn="l"/>
                      <a:r>
                        <a:rPr sz="1200" b="0" i="0">
                          <a:solidFill>
                            <a:srgbClr val="262626"/>
                          </a:solidFill>
                          <a:latin typeface="Arial"/>
                        </a:rPr>
                        <a:t>World Cup *</a:t>
                      </a:r>
                    </a:p>
                  </a:txBody>
                  <a:tcPr>
                    <a:solidFill>
                      <a:srgbClr val="F2F2F2"/>
                    </a:solidFill>
                  </a:tcPr>
                </a:tc>
                <a:tc>
                  <a:txBody>
                    <a:bodyPr/>
                    <a:lstStyle/>
                    <a:p>
                      <a:pPr algn="ctr"/>
                      <a:r>
                        <a:rPr sz="1400" b="0" i="0">
                          <a:solidFill>
                            <a:srgbClr val="262626"/>
                          </a:solidFill>
                          <a:latin typeface="Arial"/>
                        </a:rPr>
                        <a:t>56</a:t>
                      </a:r>
                    </a:p>
                  </a:txBody>
                  <a:tcPr>
                    <a:solidFill>
                      <a:srgbClr val="F2F2F2"/>
                    </a:solidFill>
                  </a:tcPr>
                </a:tc>
                <a:tc>
                  <a:txBody>
                    <a:bodyPr/>
                    <a:lstStyle/>
                    <a:p>
                      <a:pPr algn="ctr"/>
                      <a:r>
                        <a:rPr sz="1400" b="0" i="0">
                          <a:solidFill>
                            <a:srgbClr val="262626"/>
                          </a:solidFill>
                          <a:latin typeface="Arial"/>
                        </a:rPr>
                        <a:t>4</a:t>
                      </a:r>
                    </a:p>
                  </a:txBody>
                  <a:tcPr>
                    <a:solidFill>
                      <a:srgbClr val="F2F2F2"/>
                    </a:solidFill>
                  </a:tcPr>
                </a:tc>
                <a:tc>
                  <a:txBody>
                    <a:bodyPr/>
                    <a:lstStyle/>
                    <a:p>
                      <a:pPr algn="l"/>
                      <a:r>
                        <a:rPr sz="1400" b="0" i="0">
                          <a:solidFill>
                            <a:srgbClr val="262626"/>
                          </a:solidFill>
                          <a:latin typeface="Arial"/>
                        </a:rPr>
                        <a:t>Koch</a:t>
                      </a:r>
                    </a:p>
                  </a:txBody>
                  <a:tcPr>
                    <a:solidFill>
                      <a:srgbClr val="F2F2F2"/>
                    </a:solidFill>
                  </a:tcPr>
                </a:tc>
                <a:tc>
                  <a:txBody>
                    <a:bodyPr/>
                    <a:lstStyle/>
                    <a:p>
                      <a:pPr algn="ctr"/>
                      <a:r>
                        <a:rPr sz="1400" b="0" i="0">
                          <a:solidFill>
                            <a:srgbClr val="262626"/>
                          </a:solidFill>
                          <a:latin typeface="Arial"/>
                        </a:rPr>
                        <a:t>1:00:01</a:t>
                      </a:r>
                    </a:p>
                  </a:txBody>
                  <a:tcPr>
                    <a:solidFill>
                      <a:srgbClr val="F2F2F2"/>
                    </a:solidFill>
                  </a:tcPr>
                </a:tc>
                <a:tc>
                  <a:txBody>
                    <a:bodyPr/>
                    <a:lstStyle/>
                    <a:p>
                      <a:pPr algn="ctr"/>
                      <a:r>
                        <a:rPr sz="1400" b="0" i="0">
                          <a:solidFill>
                            <a:srgbClr val="262626"/>
                          </a:solidFill>
                          <a:latin typeface="Arial"/>
                        </a:rPr>
                        <a:t>29</a:t>
                      </a:r>
                    </a:p>
                  </a:txBody>
                  <a:tcPr>
                    <a:solidFill>
                      <a:srgbClr val="F2F2F2"/>
                    </a:solidFill>
                  </a:tcPr>
                </a:tc>
                <a:tc>
                  <a:txBody>
                    <a:bodyPr/>
                    <a:lstStyle/>
                    <a:p>
                      <a:pPr algn="ctr"/>
                      <a:r>
                        <a:rPr sz="1400" b="0" i="0">
                          <a:solidFill>
                            <a:srgbClr val="262626"/>
                          </a:solidFill>
                          <a:latin typeface="Arial"/>
                        </a:rPr>
                        <a:t>31</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20.0</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Jun 17</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61</a:t>
                      </a:r>
                    </a:p>
                  </a:txBody>
                  <a:tcPr>
                    <a:solidFill>
                      <a:srgbClr val="FFFFFF"/>
                    </a:solidFill>
                  </a:tcPr>
                </a:tc>
                <a:tc>
                  <a:txBody>
                    <a:bodyPr/>
                    <a:lstStyle/>
                    <a:p>
                      <a:pPr algn="ctr"/>
                      <a:r>
                        <a:rPr sz="1400" b="0" i="0">
                          <a:solidFill>
                            <a:srgbClr val="262626"/>
                          </a:solidFill>
                          <a:latin typeface="Arial"/>
                        </a:rPr>
                        <a:t>7</a:t>
                      </a:r>
                    </a:p>
                  </a:txBody>
                  <a:tcPr>
                    <a:solidFill>
                      <a:srgbClr val="FFFFFF"/>
                    </a:solidFill>
                  </a:tcPr>
                </a:tc>
                <a:tc>
                  <a:txBody>
                    <a:bodyPr/>
                    <a:lstStyle/>
                    <a:p>
                      <a:pPr algn="l"/>
                      <a:r>
                        <a:rPr sz="1400" b="0" i="0">
                          <a:solidFill>
                            <a:srgbClr val="262626"/>
                          </a:solidFill>
                          <a:latin typeface="Arial"/>
                        </a:rPr>
                        <a:t>Corral</a:t>
                      </a:r>
                    </a:p>
                  </a:txBody>
                  <a:tcPr>
                    <a:solidFill>
                      <a:srgbClr val="FFFFFF"/>
                    </a:solidFill>
                  </a:tcPr>
                </a:tc>
                <a:tc>
                  <a:txBody>
                    <a:bodyPr/>
                    <a:lstStyle/>
                    <a:p>
                      <a:pPr algn="ctr"/>
                      <a:r>
                        <a:rPr sz="1400" b="0" i="0">
                          <a:solidFill>
                            <a:srgbClr val="262626"/>
                          </a:solidFill>
                          <a:latin typeface="Arial"/>
                        </a:rPr>
                        <a:t>1:00:31</a:t>
                      </a:r>
                    </a:p>
                  </a:txBody>
                  <a:tcPr>
                    <a:solidFill>
                      <a:srgbClr val="FFFFFF"/>
                    </a:solidFill>
                  </a:tcPr>
                </a:tc>
                <a:tc>
                  <a:txBody>
                    <a:bodyPr/>
                    <a:lstStyle/>
                    <a:p>
                      <a:pPr algn="ctr"/>
                      <a:r>
                        <a:rPr sz="1400" b="0" i="0">
                          <a:solidFill>
                            <a:srgbClr val="262626"/>
                          </a:solidFill>
                          <a:latin typeface="Arial"/>
                        </a:rPr>
                        <a:t>35</a:t>
                      </a:r>
                    </a:p>
                  </a:txBody>
                  <a:tcPr>
                    <a:solidFill>
                      <a:srgbClr val="FFFFFF"/>
                    </a:solidFill>
                  </a:tcPr>
                </a:tc>
                <a:tc>
                  <a:txBody>
                    <a:bodyPr/>
                    <a:lstStyle/>
                    <a:p>
                      <a:pPr algn="ctr"/>
                      <a:r>
                        <a:rPr sz="1400" b="0" i="0">
                          <a:solidFill>
                            <a:srgbClr val="262626"/>
                          </a:solidFill>
                          <a:latin typeface="Arial"/>
                        </a:rPr>
                        <a:t>31.8</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May 18</a:t>
                      </a:r>
                    </a:p>
                  </a:txBody>
                  <a:tcPr>
                    <a:solidFill>
                      <a:srgbClr val="F2F2F2"/>
                    </a:solidFill>
                  </a:tcPr>
                </a:tc>
                <a:tc>
                  <a:txBody>
                    <a:bodyPr/>
                    <a:lstStyle/>
                    <a:p>
                      <a:pPr algn="l"/>
                      <a:r>
                        <a:rPr sz="1200" b="0" i="0">
                          <a:solidFill>
                            <a:srgbClr val="262626"/>
                          </a:solidFill>
                          <a:latin typeface="Arial"/>
                        </a:rPr>
                        <a:t>World Cup *</a:t>
                      </a:r>
                    </a:p>
                  </a:txBody>
                  <a:tcPr>
                    <a:solidFill>
                      <a:srgbClr val="F2F2F2"/>
                    </a:solidFill>
                  </a:tcPr>
                </a:tc>
                <a:tc>
                  <a:txBody>
                    <a:bodyPr/>
                    <a:lstStyle/>
                    <a:p>
                      <a:pPr algn="ctr"/>
                      <a:r>
                        <a:rPr sz="1400" b="0" i="0">
                          <a:solidFill>
                            <a:srgbClr val="262626"/>
                          </a:solidFill>
                          <a:latin typeface="Arial"/>
                        </a:rPr>
                        <a:t>45</a:t>
                      </a:r>
                    </a:p>
                  </a:txBody>
                  <a:tcPr>
                    <a:solidFill>
                      <a:srgbClr val="F2F2F2"/>
                    </a:solidFill>
                  </a:tcPr>
                </a:tc>
                <a:tc>
                  <a:txBody>
                    <a:bodyPr/>
                    <a:lstStyle/>
                    <a:p>
                      <a:pPr algn="ctr"/>
                      <a:r>
                        <a:rPr sz="1400" b="0" i="0">
                          <a:solidFill>
                            <a:srgbClr val="262626"/>
                          </a:solidFill>
                          <a:latin typeface="Arial"/>
                        </a:rPr>
                        <a:t>10</a:t>
                      </a:r>
                    </a:p>
                  </a:txBody>
                  <a:tcPr>
                    <a:solidFill>
                      <a:srgbClr val="F2F2F2"/>
                    </a:solidFill>
                  </a:tcPr>
                </a:tc>
                <a:tc>
                  <a:txBody>
                    <a:bodyPr/>
                    <a:lstStyle/>
                    <a:p>
                      <a:pPr algn="l"/>
                      <a:r>
                        <a:rPr sz="1400" b="0" i="0">
                          <a:solidFill>
                            <a:srgbClr val="262626"/>
                          </a:solidFill>
                          <a:latin typeface="Arial"/>
                        </a:rPr>
                        <a:t>Pedersen</a:t>
                      </a:r>
                    </a:p>
                  </a:txBody>
                  <a:tcPr>
                    <a:solidFill>
                      <a:srgbClr val="F2F2F2"/>
                    </a:solidFill>
                  </a:tcPr>
                </a:tc>
                <a:tc>
                  <a:txBody>
                    <a:bodyPr/>
                    <a:lstStyle/>
                    <a:p>
                      <a:pPr algn="ctr"/>
                      <a:r>
                        <a:rPr sz="1400" b="0" i="0">
                          <a:solidFill>
                            <a:srgbClr val="262626"/>
                          </a:solidFill>
                          <a:latin typeface="Arial"/>
                        </a:rPr>
                        <a:t>1:04:54</a:t>
                      </a:r>
                    </a:p>
                  </a:txBody>
                  <a:tcPr>
                    <a:solidFill>
                      <a:srgbClr val="F2F2F2"/>
                    </a:solidFill>
                  </a:tcPr>
                </a:tc>
                <a:tc>
                  <a:txBody>
                    <a:bodyPr/>
                    <a:lstStyle/>
                    <a:p>
                      <a:pPr algn="ctr"/>
                      <a:r>
                        <a:rPr sz="1400" b="0" i="0">
                          <a:solidFill>
                            <a:srgbClr val="262626"/>
                          </a:solidFill>
                          <a:latin typeface="Arial"/>
                        </a:rPr>
                        <a:t>33.9</a:t>
                      </a:r>
                    </a:p>
                  </a:txBody>
                  <a:tcPr>
                    <a:solidFill>
                      <a:srgbClr val="F2F2F2"/>
                    </a:solidFill>
                  </a:tcPr>
                </a:tc>
                <a:tc>
                  <a:txBody>
                    <a:bodyPr/>
                    <a:lstStyle/>
                    <a:p>
                      <a:pPr algn="ctr"/>
                      <a:r>
                        <a:rPr sz="1400" b="0" i="0">
                          <a:solidFill>
                            <a:srgbClr val="262626"/>
                          </a:solidFill>
                          <a:latin typeface="Arial"/>
                        </a:rPr>
                        <a:t>30</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22.2</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Jun 22</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35</a:t>
                      </a:r>
                    </a:p>
                  </a:txBody>
                  <a:tcPr>
                    <a:solidFill>
                      <a:srgbClr val="FFFFFF"/>
                    </a:solidFill>
                  </a:tcPr>
                </a:tc>
                <a:tc>
                  <a:txBody>
                    <a:bodyPr/>
                    <a:lstStyle/>
                    <a:p>
                      <a:pPr algn="ctr"/>
                      <a:r>
                        <a:rPr sz="1400" b="0" i="0">
                          <a:solidFill>
                            <a:srgbClr val="262626"/>
                          </a:solidFill>
                          <a:latin typeface="Arial"/>
                        </a:rPr>
                        <a:t>3</a:t>
                      </a:r>
                    </a:p>
                  </a:txBody>
                  <a:tcPr>
                    <a:solidFill>
                      <a:srgbClr val="FFFFFF"/>
                    </a:solidFill>
                  </a:tcPr>
                </a:tc>
                <a:tc>
                  <a:txBody>
                    <a:bodyPr/>
                    <a:lstStyle/>
                    <a:p>
                      <a:pPr algn="l"/>
                      <a:r>
                        <a:rPr sz="1400" b="0" i="0">
                          <a:solidFill>
                            <a:srgbClr val="262626"/>
                          </a:solidFill>
                          <a:latin typeface="Arial"/>
                        </a:rPr>
                        <a:t>Soto</a:t>
                      </a:r>
                    </a:p>
                  </a:txBody>
                  <a:tcPr>
                    <a:solidFill>
                      <a:srgbClr val="FFFFFF"/>
                    </a:solidFill>
                  </a:tcPr>
                </a:tc>
                <a:tc>
                  <a:txBody>
                    <a:bodyPr/>
                    <a:lstStyle/>
                    <a:p>
                      <a:pPr algn="ctr"/>
                      <a:r>
                        <a:rPr sz="1400" b="0" i="0">
                          <a:solidFill>
                            <a:srgbClr val="262626"/>
                          </a:solidFill>
                          <a:latin typeface="Arial"/>
                        </a:rPr>
                        <a:t>1:00:08</a:t>
                      </a:r>
                    </a:p>
                  </a:txBody>
                  <a:tcPr>
                    <a:solidFill>
                      <a:srgbClr val="FFFFFF"/>
                    </a:solidFill>
                  </a:tcPr>
                </a:tc>
                <a:tc>
                  <a:txBody>
                    <a:bodyPr/>
                    <a:lstStyle/>
                    <a:p>
                      <a:pPr algn="ctr"/>
                      <a:r>
                        <a:rPr sz="1400" b="0" i="0">
                          <a:solidFill>
                            <a:srgbClr val="262626"/>
                          </a:solidFill>
                          <a:latin typeface="Arial"/>
                        </a:rPr>
                        <a:t>24</a:t>
                      </a:r>
                    </a:p>
                  </a:txBody>
                  <a:tcPr>
                    <a:solidFill>
                      <a:srgbClr val="FFFFFF"/>
                    </a:solidFill>
                  </a:tcPr>
                </a:tc>
                <a:tc>
                  <a:txBody>
                    <a:bodyPr/>
                    <a:lstStyle/>
                    <a:p>
                      <a:pPr algn="ctr"/>
                      <a:r>
                        <a:rPr sz="1400" b="0" i="0">
                          <a:solidFill>
                            <a:srgbClr val="262626"/>
                          </a:solidFill>
                          <a:latin typeface="Arial"/>
                        </a:rPr>
                        <a:t>29</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20.0</a:t>
                      </a:r>
                    </a:p>
                  </a:txBody>
                  <a:tcPr>
                    <a:solidFill>
                      <a:srgbClr val="FFFFFF"/>
                    </a:solidFill>
                  </a:tcPr>
                </a:tc>
                <a:tc>
                  <a:txBody>
                    <a:bodyPr/>
                    <a:lstStyle/>
                    <a:p>
                      <a:pPr algn="ctr"/>
                      <a:r>
                        <a:rPr sz="1400" b="0" i="0" dirty="0">
                          <a:solidFill>
                            <a:srgbClr val="262626"/>
                          </a:solidFill>
                          <a:latin typeface="Arial"/>
                        </a:rPr>
                        <a:t>5.0</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256" y="1344168"/>
            <a:ext cx="11640312" cy="3319272"/>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2904691416"/>
              </p:ext>
            </p:extLst>
          </p:nvPr>
        </p:nvGraphicFramePr>
        <p:xfrm>
          <a:off x="274192" y="4629912"/>
          <a:ext cx="11640311" cy="18973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177165">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dirty="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177165">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8</a:t>
                      </a:r>
                    </a:p>
                  </a:txBody>
                  <a:tcPr>
                    <a:solidFill>
                      <a:srgbClr val="FFFFFF"/>
                    </a:solidFill>
                  </a:tcPr>
                </a:tc>
                <a:tc>
                  <a:txBody>
                    <a:bodyPr/>
                    <a:lstStyle/>
                    <a:p>
                      <a:pPr algn="ctr"/>
                      <a:r>
                        <a:rPr sz="950" b="0" i="0">
                          <a:solidFill>
                            <a:srgbClr val="262626"/>
                          </a:solidFill>
                          <a:latin typeface="Arial"/>
                        </a:rPr>
                        <a:t>27</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91s</a:t>
                      </a:r>
                    </a:p>
                  </a:txBody>
                  <a:tcPr>
                    <a:solidFill>
                      <a:srgbClr val="FFFFFF"/>
                    </a:solidFill>
                  </a:tcPr>
                </a:tc>
                <a:extLst>
                  <a:ext uri="{0D108BD9-81ED-4DB2-BD59-A6C34878D82A}">
                    <a16:rowId xmlns:a16="http://schemas.microsoft.com/office/drawing/2014/main" val="10001"/>
                  </a:ext>
                </a:extLst>
              </a:tr>
              <a:tr h="177165">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4</a:t>
                      </a:r>
                    </a:p>
                  </a:txBody>
                  <a:tcPr>
                    <a:solidFill>
                      <a:srgbClr val="F2F2F2"/>
                    </a:solidFill>
                  </a:tcPr>
                </a:tc>
                <a:tc>
                  <a:txBody>
                    <a:bodyPr/>
                    <a:lstStyle/>
                    <a:p>
                      <a:pPr algn="ctr"/>
                      <a:r>
                        <a:rPr sz="950" b="0" i="0">
                          <a:solidFill>
                            <a:srgbClr val="262626"/>
                          </a:solidFill>
                          <a:latin typeface="Arial"/>
                        </a:rPr>
                        <a:t>27</a:t>
                      </a:r>
                    </a:p>
                  </a:txBody>
                  <a:tcPr>
                    <a:solidFill>
                      <a:srgbClr val="F2F2F2"/>
                    </a:solidFill>
                  </a:tcPr>
                </a:tc>
                <a:tc>
                  <a:txBody>
                    <a:bodyPr/>
                    <a:lstStyle/>
                    <a:p>
                      <a:pPr algn="ctr"/>
                      <a:r>
                        <a:rPr sz="950" b="0" i="0">
                          <a:solidFill>
                            <a:srgbClr val="262626"/>
                          </a:solidFill>
                          <a:latin typeface="Arial"/>
                        </a:rPr>
                        <a:t>+23</a:t>
                      </a:r>
                    </a:p>
                  </a:txBody>
                  <a:tcPr>
                    <a:solidFill>
                      <a:srgbClr val="F2F2F2"/>
                    </a:solidFill>
                  </a:tcPr>
                </a:tc>
                <a:tc>
                  <a:txBody>
                    <a:bodyPr/>
                    <a:lstStyle/>
                    <a:p>
                      <a:pPr algn="ctr"/>
                      <a:r>
                        <a:rPr sz="950" b="0"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71s</a:t>
                      </a:r>
                    </a:p>
                  </a:txBody>
                  <a:tcPr>
                    <a:solidFill>
                      <a:srgbClr val="F2F2F2"/>
                    </a:solidFill>
                  </a:tcPr>
                </a:tc>
                <a:extLst>
                  <a:ext uri="{0D108BD9-81ED-4DB2-BD59-A6C34878D82A}">
                    <a16:rowId xmlns:a16="http://schemas.microsoft.com/office/drawing/2014/main" val="10002"/>
                  </a:ext>
                </a:extLst>
              </a:tr>
              <a:tr h="177165">
                <a:tc>
                  <a:txBody>
                    <a:bodyPr/>
                    <a:lstStyle/>
                    <a:p>
                      <a:pPr algn="ctr"/>
                      <a:r>
                        <a:rPr sz="950" b="0" i="0">
                          <a:solidFill>
                            <a:srgbClr val="262626"/>
                          </a:solidFill>
                          <a:latin typeface="Arial"/>
                        </a:rPr>
                        <a:t>2021</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17</a:t>
                      </a:r>
                    </a:p>
                  </a:txBody>
                  <a:tcPr>
                    <a:solidFill>
                      <a:srgbClr val="FFFFFF"/>
                    </a:solidFill>
                  </a:tcPr>
                </a:tc>
                <a:tc>
                  <a:txBody>
                    <a:bodyPr/>
                    <a:lstStyle/>
                    <a:p>
                      <a:pPr algn="ctr"/>
                      <a:r>
                        <a:rPr sz="950" b="0" i="0">
                          <a:solidFill>
                            <a:srgbClr val="262626"/>
                          </a:solidFill>
                          <a:latin typeface="Arial"/>
                        </a:rPr>
                        <a:t>-2</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27s</a:t>
                      </a:r>
                    </a:p>
                  </a:txBody>
                  <a:tcPr>
                    <a:solidFill>
                      <a:srgbClr val="FFFFFF"/>
                    </a:solidFill>
                  </a:tcPr>
                </a:tc>
                <a:extLst>
                  <a:ext uri="{0D108BD9-81ED-4DB2-BD59-A6C34878D82A}">
                    <a16:rowId xmlns:a16="http://schemas.microsoft.com/office/drawing/2014/main" val="10003"/>
                  </a:ext>
                </a:extLst>
              </a:tr>
              <a:tr h="177165">
                <a:tc>
                  <a:txBody>
                    <a:bodyPr/>
                    <a:lstStyle/>
                    <a:p>
                      <a:pPr algn="ctr"/>
                      <a:r>
                        <a:rPr sz="950" b="0" i="0">
                          <a:solidFill>
                            <a:srgbClr val="262626"/>
                          </a:solidFill>
                          <a:latin typeface="Arial"/>
                        </a:rPr>
                        <a:t>2022</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28</a:t>
                      </a:r>
                    </a:p>
                  </a:txBody>
                  <a:tcPr>
                    <a:solidFill>
                      <a:srgbClr val="F2F2F2"/>
                    </a:solidFill>
                  </a:tcPr>
                </a:tc>
                <a:tc>
                  <a:txBody>
                    <a:bodyPr/>
                    <a:lstStyle/>
                    <a:p>
                      <a:pPr algn="ctr"/>
                      <a:r>
                        <a:rPr sz="950" b="0" i="0">
                          <a:solidFill>
                            <a:srgbClr val="262626"/>
                          </a:solidFill>
                          <a:latin typeface="Arial"/>
                        </a:rPr>
                        <a:t>+27</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7s</a:t>
                      </a:r>
                    </a:p>
                  </a:txBody>
                  <a:tcPr>
                    <a:solidFill>
                      <a:srgbClr val="F2F2F2"/>
                    </a:solidFill>
                  </a:tcPr>
                </a:tc>
                <a:extLst>
                  <a:ext uri="{0D108BD9-81ED-4DB2-BD59-A6C34878D82A}">
                    <a16:rowId xmlns:a16="http://schemas.microsoft.com/office/drawing/2014/main" val="10004"/>
                  </a:ext>
                </a:extLst>
              </a:tr>
              <a:tr h="177165">
                <a:tc>
                  <a:txBody>
                    <a:bodyPr/>
                    <a:lstStyle/>
                    <a:p>
                      <a:pPr algn="ctr"/>
                      <a:r>
                        <a:rPr sz="950" b="0" i="0">
                          <a:solidFill>
                            <a:srgbClr val="262626"/>
                          </a:solidFill>
                          <a:latin typeface="Arial"/>
                        </a:rPr>
                        <a:t>2023</a:t>
                      </a:r>
                    </a:p>
                  </a:txBody>
                  <a:tcPr>
                    <a:solidFill>
                      <a:srgbClr val="FFFFFF"/>
                    </a:solidFill>
                  </a:tcPr>
                </a:tc>
                <a:tc>
                  <a:txBody>
                    <a:bodyPr/>
                    <a:lstStyle/>
                    <a:p>
                      <a:pPr algn="ctr"/>
                      <a:r>
                        <a:rPr sz="950" b="0" i="0">
                          <a:solidFill>
                            <a:srgbClr val="262626"/>
                          </a:solidFill>
                          <a:latin typeface="Arial"/>
                        </a:rPr>
                        <a:t>17</a:t>
                      </a:r>
                    </a:p>
                  </a:txBody>
                  <a:tcPr>
                    <a:solidFill>
                      <a:srgbClr val="FFFFFF"/>
                    </a:solidFill>
                  </a:tcPr>
                </a:tc>
                <a:tc>
                  <a:txBody>
                    <a:bodyPr/>
                    <a:lstStyle/>
                    <a:p>
                      <a:pPr algn="ctr"/>
                      <a:r>
                        <a:rPr sz="950" b="0" i="0">
                          <a:solidFill>
                            <a:srgbClr val="262626"/>
                          </a:solidFill>
                          <a:latin typeface="Arial"/>
                        </a:rPr>
                        <a:t>40</a:t>
                      </a:r>
                    </a:p>
                  </a:txBody>
                  <a:tcPr>
                    <a:solidFill>
                      <a:srgbClr val="FFFFFF"/>
                    </a:solidFill>
                  </a:tcPr>
                </a:tc>
                <a:tc>
                  <a:txBody>
                    <a:bodyPr/>
                    <a:lstStyle/>
                    <a:p>
                      <a:pPr algn="ctr"/>
                      <a:r>
                        <a:rPr sz="950" b="0" i="0">
                          <a:solidFill>
                            <a:srgbClr val="262626"/>
                          </a:solidFill>
                          <a:latin typeface="Arial"/>
                        </a:rPr>
                        <a:t>+23</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129s</a:t>
                      </a:r>
                    </a:p>
                  </a:txBody>
                  <a:tcPr>
                    <a:solidFill>
                      <a:srgbClr val="FFFFFF"/>
                    </a:solidFill>
                  </a:tcPr>
                </a:tc>
                <a:extLst>
                  <a:ext uri="{0D108BD9-81ED-4DB2-BD59-A6C34878D82A}">
                    <a16:rowId xmlns:a16="http://schemas.microsoft.com/office/drawing/2014/main" val="10005"/>
                  </a:ext>
                </a:extLst>
              </a:tr>
              <a:tr h="177165">
                <a:tc>
                  <a:txBody>
                    <a:bodyPr/>
                    <a:lstStyle/>
                    <a:p>
                      <a:pPr algn="ctr"/>
                      <a:r>
                        <a:rPr sz="950" b="0" i="0">
                          <a:solidFill>
                            <a:srgbClr val="262626"/>
                          </a:solidFill>
                          <a:latin typeface="Arial"/>
                        </a:rPr>
                        <a:t>2024</a:t>
                      </a:r>
                    </a:p>
                  </a:txBody>
                  <a:tcPr>
                    <a:solidFill>
                      <a:srgbClr val="F2F2F2"/>
                    </a:solidFill>
                  </a:tcPr>
                </a:tc>
                <a:tc>
                  <a:txBody>
                    <a:bodyPr/>
                    <a:lstStyle/>
                    <a:p>
                      <a:pPr algn="ctr"/>
                      <a:r>
                        <a:rPr sz="950" b="0" i="0">
                          <a:solidFill>
                            <a:srgbClr val="262626"/>
                          </a:solidFill>
                          <a:latin typeface="Arial"/>
                        </a:rPr>
                        <a:t>13</a:t>
                      </a:r>
                    </a:p>
                  </a:txBody>
                  <a:tcPr>
                    <a:solidFill>
                      <a:srgbClr val="F2F2F2"/>
                    </a:solidFill>
                  </a:tcPr>
                </a:tc>
                <a:tc>
                  <a:txBody>
                    <a:bodyPr/>
                    <a:lstStyle/>
                    <a:p>
                      <a:pPr algn="ctr"/>
                      <a:r>
                        <a:rPr sz="950" b="0" i="0">
                          <a:solidFill>
                            <a:srgbClr val="262626"/>
                          </a:solidFill>
                          <a:latin typeface="Arial"/>
                        </a:rPr>
                        <a:t>24</a:t>
                      </a:r>
                    </a:p>
                  </a:txBody>
                  <a:tcPr>
                    <a:solidFill>
                      <a:srgbClr val="F2F2F2"/>
                    </a:solidFill>
                  </a:tcPr>
                </a:tc>
                <a:tc>
                  <a:txBody>
                    <a:bodyPr/>
                    <a:lstStyle/>
                    <a:p>
                      <a:pPr algn="ctr"/>
                      <a:r>
                        <a:rPr sz="950" b="0" i="0">
                          <a:solidFill>
                            <a:srgbClr val="262626"/>
                          </a:solidFill>
                          <a:latin typeface="Arial"/>
                        </a:rPr>
                        <a:t>+11</a:t>
                      </a:r>
                    </a:p>
                  </a:txBody>
                  <a:tcPr>
                    <a:solidFill>
                      <a:srgbClr val="F2F2F2"/>
                    </a:solidFill>
                  </a:tcPr>
                </a:tc>
                <a:tc>
                  <a:txBody>
                    <a:bodyPr/>
                    <a:lstStyle/>
                    <a:p>
                      <a:pPr algn="ctr"/>
                      <a:r>
                        <a:rPr sz="950" b="0" i="0">
                          <a:solidFill>
                            <a:srgbClr val="262626"/>
                          </a:solidFill>
                          <a:latin typeface="Arial"/>
                        </a:rPr>
                        <a:t>5</a:t>
                      </a:r>
                    </a:p>
                  </a:txBody>
                  <a:tcPr>
                    <a:solidFill>
                      <a:srgbClr val="F2F2F2"/>
                    </a:solidFill>
                  </a:tcPr>
                </a:tc>
                <a:tc>
                  <a:txBody>
                    <a:bodyPr/>
                    <a:lstStyle/>
                    <a:p>
                      <a:pPr algn="ctr"/>
                      <a:r>
                        <a:rPr sz="950" b="0" i="0">
                          <a:solidFill>
                            <a:srgbClr val="262626"/>
                          </a:solidFill>
                          <a:latin typeface="Arial"/>
                        </a:rPr>
                        <a:t>174s</a:t>
                      </a:r>
                    </a:p>
                  </a:txBody>
                  <a:tcPr>
                    <a:solidFill>
                      <a:srgbClr val="F2F2F2"/>
                    </a:solidFill>
                  </a:tcPr>
                </a:tc>
                <a:extLst>
                  <a:ext uri="{0D108BD9-81ED-4DB2-BD59-A6C34878D82A}">
                    <a16:rowId xmlns:a16="http://schemas.microsoft.com/office/drawing/2014/main" val="10006"/>
                  </a:ext>
                </a:extLst>
              </a:tr>
              <a:tr h="177165">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17</a:t>
                      </a:r>
                    </a:p>
                  </a:txBody>
                  <a:tcPr>
                    <a:solidFill>
                      <a:srgbClr val="FFFFFF"/>
                    </a:solidFill>
                  </a:tcPr>
                </a:tc>
                <a:tc>
                  <a:txBody>
                    <a:bodyPr/>
                    <a:lstStyle/>
                    <a:p>
                      <a:pPr algn="ctr"/>
                      <a:r>
                        <a:rPr sz="950" b="0" i="0">
                          <a:solidFill>
                            <a:srgbClr val="262626"/>
                          </a:solidFill>
                          <a:latin typeface="Arial"/>
                        </a:rPr>
                        <a:t>12</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dirty="0">
                          <a:solidFill>
                            <a:srgbClr val="262626"/>
                          </a:solidFill>
                          <a:latin typeface="Arial"/>
                        </a:rPr>
                        <a:t>109s</a:t>
                      </a:r>
                    </a:p>
                  </a:txBody>
                  <a:tcPr>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274127" y="6512814"/>
            <a:ext cx="11640312" cy="201168"/>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45491" y="1083409"/>
            <a:ext cx="11297971" cy="2928775"/>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223793243"/>
              </p:ext>
            </p:extLst>
          </p:nvPr>
        </p:nvGraphicFramePr>
        <p:xfrm>
          <a:off x="274320" y="3942842"/>
          <a:ext cx="11640312" cy="276225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0861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08610">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1:01:14</a:t>
                      </a:r>
                    </a:p>
                  </a:txBody>
                  <a:tcPr>
                    <a:solidFill>
                      <a:srgbClr val="FFFFFF"/>
                    </a:solidFill>
                  </a:tcPr>
                </a:tc>
                <a:tc>
                  <a:txBody>
                    <a:bodyPr/>
                    <a:lstStyle/>
                    <a:p>
                      <a:pPr algn="ctr"/>
                      <a:r>
                        <a:rPr sz="850" b="0" i="0">
                          <a:solidFill>
                            <a:srgbClr val="262626"/>
                          </a:solidFill>
                          <a:latin typeface="Arial"/>
                        </a:rPr>
                        <a:t>1:01:39
+25s</a:t>
                      </a:r>
                    </a:p>
                  </a:txBody>
                  <a:tcPr>
                    <a:solidFill>
                      <a:srgbClr val="FFFFFF"/>
                    </a:solidFill>
                  </a:tcPr>
                </a:tc>
                <a:tc>
                  <a:txBody>
                    <a:bodyPr/>
                    <a:lstStyle/>
                    <a:p>
                      <a:pPr algn="ctr"/>
                      <a:r>
                        <a:rPr sz="850" b="0" i="0">
                          <a:solidFill>
                            <a:srgbClr val="262626"/>
                          </a:solidFill>
                          <a:latin typeface="Arial"/>
                        </a:rPr>
                        <a:t>1:01:41
+27s</a:t>
                      </a:r>
                    </a:p>
                  </a:txBody>
                  <a:tcPr>
                    <a:solidFill>
                      <a:srgbClr val="FFFFFF"/>
                    </a:solidFill>
                  </a:tcPr>
                </a:tc>
                <a:tc>
                  <a:txBody>
                    <a:bodyPr/>
                    <a:lstStyle/>
                    <a:p>
                      <a:pPr algn="ctr"/>
                      <a:r>
                        <a:rPr sz="850" b="0" i="0">
                          <a:solidFill>
                            <a:srgbClr val="262626"/>
                          </a:solidFill>
                          <a:latin typeface="Arial"/>
                        </a:rPr>
                        <a:t>1:01:45
+31s</a:t>
                      </a:r>
                    </a:p>
                  </a:txBody>
                  <a:tcPr>
                    <a:solidFill>
                      <a:srgbClr val="FFFFFF"/>
                    </a:solidFill>
                  </a:tcPr>
                </a:tc>
                <a:tc>
                  <a:txBody>
                    <a:bodyPr/>
                    <a:lstStyle/>
                    <a:p>
                      <a:pPr algn="ctr"/>
                      <a:r>
                        <a:rPr sz="850" b="0" i="0">
                          <a:solidFill>
                            <a:srgbClr val="262626"/>
                          </a:solidFill>
                          <a:latin typeface="Arial"/>
                        </a:rPr>
                        <a:t>1:02:31
+77s</a:t>
                      </a:r>
                    </a:p>
                  </a:txBody>
                  <a:tcPr>
                    <a:solidFill>
                      <a:srgbClr val="FFFFFF"/>
                    </a:solidFill>
                  </a:tcPr>
                </a:tc>
                <a:tc>
                  <a:txBody>
                    <a:bodyPr/>
                    <a:lstStyle/>
                    <a:p>
                      <a:pPr algn="ctr"/>
                      <a:r>
                        <a:rPr sz="850" b="0" i="0">
                          <a:solidFill>
                            <a:srgbClr val="262626"/>
                          </a:solidFill>
                          <a:latin typeface="Arial"/>
                        </a:rPr>
                        <a:t>1:03:28
+134s</a:t>
                      </a:r>
                    </a:p>
                  </a:txBody>
                  <a:tcPr>
                    <a:solidFill>
                      <a:srgbClr val="FFFFFF"/>
                    </a:solidFill>
                  </a:tcPr>
                </a:tc>
                <a:extLst>
                  <a:ext uri="{0D108BD9-81ED-4DB2-BD59-A6C34878D82A}">
                    <a16:rowId xmlns:a16="http://schemas.microsoft.com/office/drawing/2014/main" val="10001"/>
                  </a:ext>
                </a:extLst>
              </a:tr>
              <a:tr h="308610">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1:00:56</a:t>
                      </a:r>
                    </a:p>
                  </a:txBody>
                  <a:tcPr>
                    <a:solidFill>
                      <a:srgbClr val="F2F2F2"/>
                    </a:solidFill>
                  </a:tcPr>
                </a:tc>
                <a:tc>
                  <a:txBody>
                    <a:bodyPr/>
                    <a:lstStyle/>
                    <a:p>
                      <a:pPr algn="ctr"/>
                      <a:r>
                        <a:rPr sz="850" b="0" i="0">
                          <a:solidFill>
                            <a:srgbClr val="262626"/>
                          </a:solidFill>
                          <a:latin typeface="Arial"/>
                        </a:rPr>
                        <a:t>1:01:05
+9s</a:t>
                      </a:r>
                    </a:p>
                  </a:txBody>
                  <a:tcPr>
                    <a:solidFill>
                      <a:srgbClr val="F2F2F2"/>
                    </a:solidFill>
                  </a:tcPr>
                </a:tc>
                <a:tc>
                  <a:txBody>
                    <a:bodyPr/>
                    <a:lstStyle/>
                    <a:p>
                      <a:pPr algn="ctr"/>
                      <a:r>
                        <a:rPr sz="850" b="0" i="0" dirty="0">
                          <a:solidFill>
                            <a:srgbClr val="262626"/>
                          </a:solidFill>
                          <a:latin typeface="Arial"/>
                        </a:rPr>
                        <a:t>1:01:18
+22s</a:t>
                      </a:r>
                    </a:p>
                  </a:txBody>
                  <a:tcPr>
                    <a:solidFill>
                      <a:srgbClr val="F2F2F2"/>
                    </a:solidFill>
                  </a:tcPr>
                </a:tc>
                <a:tc>
                  <a:txBody>
                    <a:bodyPr/>
                    <a:lstStyle/>
                    <a:p>
                      <a:pPr algn="ctr"/>
                      <a:r>
                        <a:rPr sz="850" b="0" i="0">
                          <a:solidFill>
                            <a:srgbClr val="262626"/>
                          </a:solidFill>
                          <a:latin typeface="Arial"/>
                        </a:rPr>
                        <a:t>1:01:22
+26s</a:t>
                      </a:r>
                    </a:p>
                  </a:txBody>
                  <a:tcPr>
                    <a:solidFill>
                      <a:srgbClr val="F2F2F2"/>
                    </a:solidFill>
                  </a:tcPr>
                </a:tc>
                <a:tc>
                  <a:txBody>
                    <a:bodyPr/>
                    <a:lstStyle/>
                    <a:p>
                      <a:pPr algn="ctr"/>
                      <a:r>
                        <a:rPr sz="850" b="0" i="0">
                          <a:solidFill>
                            <a:srgbClr val="262626"/>
                          </a:solidFill>
                          <a:latin typeface="Arial"/>
                        </a:rPr>
                        <a:t>1:01:48
+52s</a:t>
                      </a:r>
                    </a:p>
                  </a:txBody>
                  <a:tcPr>
                    <a:solidFill>
                      <a:srgbClr val="F2F2F2"/>
                    </a:solidFill>
                  </a:tcPr>
                </a:tc>
                <a:tc>
                  <a:txBody>
                    <a:bodyPr/>
                    <a:lstStyle/>
                    <a:p>
                      <a:pPr algn="ctr"/>
                      <a:r>
                        <a:rPr sz="850" b="0" i="0">
                          <a:solidFill>
                            <a:srgbClr val="262626"/>
                          </a:solidFill>
                          <a:latin typeface="Arial"/>
                        </a:rPr>
                        <a:t>1:02:53
+117s</a:t>
                      </a:r>
                    </a:p>
                  </a:txBody>
                  <a:tcPr>
                    <a:solidFill>
                      <a:srgbClr val="F2F2F2"/>
                    </a:solidFill>
                  </a:tcPr>
                </a:tc>
                <a:extLst>
                  <a:ext uri="{0D108BD9-81ED-4DB2-BD59-A6C34878D82A}">
                    <a16:rowId xmlns:a16="http://schemas.microsoft.com/office/drawing/2014/main" val="10002"/>
                  </a:ext>
                </a:extLst>
              </a:tr>
              <a:tr h="308610">
                <a:tc>
                  <a:txBody>
                    <a:bodyPr/>
                    <a:lstStyle/>
                    <a:p>
                      <a:pPr algn="ctr"/>
                      <a:r>
                        <a:rPr sz="1000" b="1" i="0">
                          <a:solidFill>
                            <a:srgbClr val="262626"/>
                          </a:solidFill>
                          <a:latin typeface="Arial"/>
                        </a:rPr>
                        <a:t>2021</a:t>
                      </a:r>
                    </a:p>
                  </a:txBody>
                  <a:tcPr>
                    <a:solidFill>
                      <a:srgbClr val="FFFFFF"/>
                    </a:solidFill>
                  </a:tcPr>
                </a:tc>
                <a:tc>
                  <a:txBody>
                    <a:bodyPr/>
                    <a:lstStyle/>
                    <a:p>
                      <a:pPr algn="ctr"/>
                      <a:r>
                        <a:rPr sz="850" b="0" i="0">
                          <a:solidFill>
                            <a:srgbClr val="262626"/>
                          </a:solidFill>
                          <a:latin typeface="Arial"/>
                        </a:rPr>
                        <a:t>1:00:24</a:t>
                      </a:r>
                    </a:p>
                  </a:txBody>
                  <a:tcPr>
                    <a:solidFill>
                      <a:srgbClr val="FFFFFF"/>
                    </a:solidFill>
                  </a:tcPr>
                </a:tc>
                <a:tc>
                  <a:txBody>
                    <a:bodyPr/>
                    <a:lstStyle/>
                    <a:p>
                      <a:pPr algn="ctr"/>
                      <a:r>
                        <a:rPr sz="850" b="0" i="0">
                          <a:solidFill>
                            <a:srgbClr val="262626"/>
                          </a:solidFill>
                          <a:latin typeface="Arial"/>
                        </a:rPr>
                        <a:t>1:00:36
+12s</a:t>
                      </a:r>
                    </a:p>
                  </a:txBody>
                  <a:tcPr>
                    <a:solidFill>
                      <a:srgbClr val="FFFFFF"/>
                    </a:solidFill>
                  </a:tcPr>
                </a:tc>
                <a:tc>
                  <a:txBody>
                    <a:bodyPr/>
                    <a:lstStyle/>
                    <a:p>
                      <a:pPr algn="ctr"/>
                      <a:r>
                        <a:rPr sz="850" b="0" i="0">
                          <a:solidFill>
                            <a:srgbClr val="262626"/>
                          </a:solidFill>
                          <a:latin typeface="Arial"/>
                        </a:rPr>
                        <a:t>1:00:37
+13s</a:t>
                      </a:r>
                    </a:p>
                  </a:txBody>
                  <a:tcPr>
                    <a:solidFill>
                      <a:srgbClr val="FFFFFF"/>
                    </a:solidFill>
                  </a:tcPr>
                </a:tc>
                <a:tc>
                  <a:txBody>
                    <a:bodyPr/>
                    <a:lstStyle/>
                    <a:p>
                      <a:pPr algn="ctr"/>
                      <a:r>
                        <a:rPr sz="850" b="0" i="0">
                          <a:solidFill>
                            <a:srgbClr val="262626"/>
                          </a:solidFill>
                          <a:latin typeface="Arial"/>
                        </a:rPr>
                        <a:t>1:00:57
+33s</a:t>
                      </a:r>
                    </a:p>
                  </a:txBody>
                  <a:tcPr>
                    <a:solidFill>
                      <a:srgbClr val="FFFFFF"/>
                    </a:solidFill>
                  </a:tcPr>
                </a:tc>
                <a:tc>
                  <a:txBody>
                    <a:bodyPr/>
                    <a:lstStyle/>
                    <a:p>
                      <a:pPr algn="ctr"/>
                      <a:r>
                        <a:rPr sz="850" b="0" i="0">
                          <a:solidFill>
                            <a:srgbClr val="262626"/>
                          </a:solidFill>
                          <a:latin typeface="Arial"/>
                        </a:rPr>
                        <a:t>1:01:21
+57s</a:t>
                      </a:r>
                    </a:p>
                  </a:txBody>
                  <a:tcPr>
                    <a:solidFill>
                      <a:srgbClr val="FFFFFF"/>
                    </a:solidFill>
                  </a:tcPr>
                </a:tc>
                <a:tc>
                  <a:txBody>
                    <a:bodyPr/>
                    <a:lstStyle/>
                    <a:p>
                      <a:pPr algn="ctr"/>
                      <a:r>
                        <a:rPr sz="850" b="0" i="0">
                          <a:solidFill>
                            <a:srgbClr val="262626"/>
                          </a:solidFill>
                          <a:latin typeface="Arial"/>
                        </a:rPr>
                        <a:t>1:02:35
+131s</a:t>
                      </a:r>
                    </a:p>
                  </a:txBody>
                  <a:tcPr>
                    <a:solidFill>
                      <a:srgbClr val="FFFFFF"/>
                    </a:solidFill>
                  </a:tcPr>
                </a:tc>
                <a:extLst>
                  <a:ext uri="{0D108BD9-81ED-4DB2-BD59-A6C34878D82A}">
                    <a16:rowId xmlns:a16="http://schemas.microsoft.com/office/drawing/2014/main" val="10003"/>
                  </a:ext>
                </a:extLst>
              </a:tr>
              <a:tr h="308610">
                <a:tc>
                  <a:txBody>
                    <a:bodyPr/>
                    <a:lstStyle/>
                    <a:p>
                      <a:pPr algn="ctr"/>
                      <a:r>
                        <a:rPr sz="1000" b="1" i="0">
                          <a:solidFill>
                            <a:srgbClr val="262626"/>
                          </a:solidFill>
                          <a:latin typeface="Arial"/>
                        </a:rPr>
                        <a:t>2022</a:t>
                      </a:r>
                    </a:p>
                  </a:txBody>
                  <a:tcPr>
                    <a:solidFill>
                      <a:srgbClr val="F2F2F2"/>
                    </a:solidFill>
                  </a:tcPr>
                </a:tc>
                <a:tc>
                  <a:txBody>
                    <a:bodyPr/>
                    <a:lstStyle/>
                    <a:p>
                      <a:pPr algn="ctr"/>
                      <a:r>
                        <a:rPr sz="850" b="0" i="0">
                          <a:solidFill>
                            <a:srgbClr val="262626"/>
                          </a:solidFill>
                          <a:latin typeface="Arial"/>
                        </a:rPr>
                        <a:t>1:00:01</a:t>
                      </a:r>
                    </a:p>
                  </a:txBody>
                  <a:tcPr>
                    <a:solidFill>
                      <a:srgbClr val="F2F2F2"/>
                    </a:solidFill>
                  </a:tcPr>
                </a:tc>
                <a:tc>
                  <a:txBody>
                    <a:bodyPr/>
                    <a:lstStyle/>
                    <a:p>
                      <a:pPr algn="ctr"/>
                      <a:r>
                        <a:rPr sz="850" b="0" i="0">
                          <a:solidFill>
                            <a:srgbClr val="262626"/>
                          </a:solidFill>
                          <a:latin typeface="Arial"/>
                        </a:rPr>
                        <a:t>1:00:13
+12s</a:t>
                      </a:r>
                    </a:p>
                  </a:txBody>
                  <a:tcPr>
                    <a:solidFill>
                      <a:srgbClr val="F2F2F2"/>
                    </a:solidFill>
                  </a:tcPr>
                </a:tc>
                <a:tc>
                  <a:txBody>
                    <a:bodyPr/>
                    <a:lstStyle/>
                    <a:p>
                      <a:pPr algn="ctr"/>
                      <a:r>
                        <a:rPr sz="850" b="0" i="0">
                          <a:solidFill>
                            <a:srgbClr val="262626"/>
                          </a:solidFill>
                          <a:latin typeface="Arial"/>
                        </a:rPr>
                        <a:t>1:00:15
+14s</a:t>
                      </a:r>
                    </a:p>
                  </a:txBody>
                  <a:tcPr>
                    <a:solidFill>
                      <a:srgbClr val="F2F2F2"/>
                    </a:solidFill>
                  </a:tcPr>
                </a:tc>
                <a:tc>
                  <a:txBody>
                    <a:bodyPr/>
                    <a:lstStyle/>
                    <a:p>
                      <a:pPr algn="ctr"/>
                      <a:r>
                        <a:rPr sz="850" b="0" i="0">
                          <a:solidFill>
                            <a:srgbClr val="262626"/>
                          </a:solidFill>
                          <a:latin typeface="Arial"/>
                        </a:rPr>
                        <a:t>1:00:33
+32s</a:t>
                      </a:r>
                    </a:p>
                  </a:txBody>
                  <a:tcPr>
                    <a:solidFill>
                      <a:srgbClr val="F2F2F2"/>
                    </a:solidFill>
                  </a:tcPr>
                </a:tc>
                <a:tc>
                  <a:txBody>
                    <a:bodyPr/>
                    <a:lstStyle/>
                    <a:p>
                      <a:pPr algn="ctr"/>
                      <a:r>
                        <a:rPr sz="850" b="0" i="0">
                          <a:solidFill>
                            <a:srgbClr val="262626"/>
                          </a:solidFill>
                          <a:latin typeface="Arial"/>
                        </a:rPr>
                        <a:t>1:00:54
+53s</a:t>
                      </a:r>
                    </a:p>
                  </a:txBody>
                  <a:tcPr>
                    <a:solidFill>
                      <a:srgbClr val="F2F2F2"/>
                    </a:solidFill>
                  </a:tcPr>
                </a:tc>
                <a:tc>
                  <a:txBody>
                    <a:bodyPr/>
                    <a:lstStyle/>
                    <a:p>
                      <a:pPr algn="ctr"/>
                      <a:r>
                        <a:rPr sz="850" b="0" i="0">
                          <a:solidFill>
                            <a:srgbClr val="262626"/>
                          </a:solidFill>
                          <a:latin typeface="Arial"/>
                        </a:rPr>
                        <a:t>1:01:40
+99s</a:t>
                      </a:r>
                    </a:p>
                  </a:txBody>
                  <a:tcPr>
                    <a:solidFill>
                      <a:srgbClr val="F2F2F2"/>
                    </a:solidFill>
                  </a:tcPr>
                </a:tc>
                <a:extLst>
                  <a:ext uri="{0D108BD9-81ED-4DB2-BD59-A6C34878D82A}">
                    <a16:rowId xmlns:a16="http://schemas.microsoft.com/office/drawing/2014/main" val="10004"/>
                  </a:ext>
                </a:extLst>
              </a:tr>
              <a:tr h="308610">
                <a:tc>
                  <a:txBody>
                    <a:bodyPr/>
                    <a:lstStyle/>
                    <a:p>
                      <a:pPr algn="ctr"/>
                      <a:r>
                        <a:rPr sz="1000" b="1" i="0">
                          <a:solidFill>
                            <a:srgbClr val="262626"/>
                          </a:solidFill>
                          <a:latin typeface="Arial"/>
                        </a:rPr>
                        <a:t>2023</a:t>
                      </a:r>
                    </a:p>
                  </a:txBody>
                  <a:tcPr>
                    <a:solidFill>
                      <a:srgbClr val="FFFFFF"/>
                    </a:solidFill>
                  </a:tcPr>
                </a:tc>
                <a:tc>
                  <a:txBody>
                    <a:bodyPr/>
                    <a:lstStyle/>
                    <a:p>
                      <a:pPr algn="ctr"/>
                      <a:r>
                        <a:rPr sz="850" b="0" i="0">
                          <a:solidFill>
                            <a:srgbClr val="262626"/>
                          </a:solidFill>
                          <a:latin typeface="Arial"/>
                        </a:rPr>
                        <a:t>1:00:31</a:t>
                      </a:r>
                    </a:p>
                  </a:txBody>
                  <a:tcPr>
                    <a:solidFill>
                      <a:srgbClr val="FFFFFF"/>
                    </a:solidFill>
                  </a:tcPr>
                </a:tc>
                <a:tc>
                  <a:txBody>
                    <a:bodyPr/>
                    <a:lstStyle/>
                    <a:p>
                      <a:pPr algn="ctr"/>
                      <a:r>
                        <a:rPr sz="850" b="0" i="0">
                          <a:solidFill>
                            <a:srgbClr val="262626"/>
                          </a:solidFill>
                          <a:latin typeface="Arial"/>
                        </a:rPr>
                        <a:t>1:01:04
+33s</a:t>
                      </a:r>
                    </a:p>
                  </a:txBody>
                  <a:tcPr>
                    <a:solidFill>
                      <a:srgbClr val="FFFFFF"/>
                    </a:solidFill>
                  </a:tcPr>
                </a:tc>
                <a:tc>
                  <a:txBody>
                    <a:bodyPr/>
                    <a:lstStyle/>
                    <a:p>
                      <a:pPr algn="ctr"/>
                      <a:r>
                        <a:rPr sz="850" b="0" i="0">
                          <a:solidFill>
                            <a:srgbClr val="262626"/>
                          </a:solidFill>
                          <a:latin typeface="Arial"/>
                        </a:rPr>
                        <a:t>1:01:11
+40s</a:t>
                      </a:r>
                    </a:p>
                  </a:txBody>
                  <a:tcPr>
                    <a:solidFill>
                      <a:srgbClr val="FFFFFF"/>
                    </a:solidFill>
                  </a:tcPr>
                </a:tc>
                <a:tc>
                  <a:txBody>
                    <a:bodyPr/>
                    <a:lstStyle/>
                    <a:p>
                      <a:pPr algn="ctr"/>
                      <a:r>
                        <a:rPr sz="850" b="0" i="0">
                          <a:solidFill>
                            <a:srgbClr val="262626"/>
                          </a:solidFill>
                          <a:latin typeface="Arial"/>
                        </a:rPr>
                        <a:t>1:01:14
+43s</a:t>
                      </a:r>
                    </a:p>
                  </a:txBody>
                  <a:tcPr>
                    <a:solidFill>
                      <a:srgbClr val="FFFFFF"/>
                    </a:solidFill>
                  </a:tcPr>
                </a:tc>
                <a:tc>
                  <a:txBody>
                    <a:bodyPr/>
                    <a:lstStyle/>
                    <a:p>
                      <a:pPr algn="ctr"/>
                      <a:r>
                        <a:rPr sz="850" b="0" i="0">
                          <a:solidFill>
                            <a:srgbClr val="262626"/>
                          </a:solidFill>
                          <a:latin typeface="Arial"/>
                        </a:rPr>
                        <a:t>1:01:48
+77s</a:t>
                      </a:r>
                    </a:p>
                  </a:txBody>
                  <a:tcPr>
                    <a:solidFill>
                      <a:srgbClr val="FFFFFF"/>
                    </a:solidFill>
                  </a:tcPr>
                </a:tc>
                <a:tc>
                  <a:txBody>
                    <a:bodyPr/>
                    <a:lstStyle/>
                    <a:p>
                      <a:pPr algn="ctr"/>
                      <a:r>
                        <a:rPr sz="850" b="0" i="0">
                          <a:solidFill>
                            <a:srgbClr val="262626"/>
                          </a:solidFill>
                          <a:latin typeface="Arial"/>
                        </a:rPr>
                        <a:t>1:02:30
+119s</a:t>
                      </a:r>
                    </a:p>
                  </a:txBody>
                  <a:tcPr>
                    <a:solidFill>
                      <a:srgbClr val="FFFFFF"/>
                    </a:solidFill>
                  </a:tcPr>
                </a:tc>
                <a:extLst>
                  <a:ext uri="{0D108BD9-81ED-4DB2-BD59-A6C34878D82A}">
                    <a16:rowId xmlns:a16="http://schemas.microsoft.com/office/drawing/2014/main" val="10005"/>
                  </a:ext>
                </a:extLst>
              </a:tr>
              <a:tr h="308610">
                <a:tc>
                  <a:txBody>
                    <a:bodyPr/>
                    <a:lstStyle/>
                    <a:p>
                      <a:pPr algn="ctr"/>
                      <a:r>
                        <a:rPr sz="1000" b="1" i="0">
                          <a:solidFill>
                            <a:srgbClr val="262626"/>
                          </a:solidFill>
                          <a:latin typeface="Arial"/>
                        </a:rPr>
                        <a:t>2024</a:t>
                      </a:r>
                    </a:p>
                  </a:txBody>
                  <a:tcPr>
                    <a:solidFill>
                      <a:srgbClr val="F2F2F2"/>
                    </a:solidFill>
                  </a:tcPr>
                </a:tc>
                <a:tc>
                  <a:txBody>
                    <a:bodyPr/>
                    <a:lstStyle/>
                    <a:p>
                      <a:pPr algn="ctr"/>
                      <a:r>
                        <a:rPr sz="850" b="0" i="0">
                          <a:solidFill>
                            <a:srgbClr val="262626"/>
                          </a:solidFill>
                          <a:latin typeface="Arial"/>
                        </a:rPr>
                        <a:t>1:04:54</a:t>
                      </a:r>
                    </a:p>
                  </a:txBody>
                  <a:tcPr>
                    <a:solidFill>
                      <a:srgbClr val="F2F2F2"/>
                    </a:solidFill>
                  </a:tcPr>
                </a:tc>
                <a:tc>
                  <a:txBody>
                    <a:bodyPr/>
                    <a:lstStyle/>
                    <a:p>
                      <a:pPr algn="ctr"/>
                      <a:r>
                        <a:rPr sz="850" b="0" i="0">
                          <a:solidFill>
                            <a:srgbClr val="262626"/>
                          </a:solidFill>
                          <a:latin typeface="Arial"/>
                        </a:rPr>
                        <a:t>1:04:54</a:t>
                      </a:r>
                    </a:p>
                  </a:txBody>
                  <a:tcPr>
                    <a:solidFill>
                      <a:srgbClr val="F2F2F2"/>
                    </a:solidFill>
                  </a:tcPr>
                </a:tc>
                <a:tc>
                  <a:txBody>
                    <a:bodyPr/>
                    <a:lstStyle/>
                    <a:p>
                      <a:pPr algn="ctr"/>
                      <a:r>
                        <a:rPr sz="850" b="0" i="0">
                          <a:solidFill>
                            <a:srgbClr val="262626"/>
                          </a:solidFill>
                          <a:latin typeface="Arial"/>
                        </a:rPr>
                        <a:t>1:04:54</a:t>
                      </a:r>
                    </a:p>
                  </a:txBody>
                  <a:tcPr>
                    <a:solidFill>
                      <a:srgbClr val="F2F2F2"/>
                    </a:solidFill>
                  </a:tcPr>
                </a:tc>
                <a:tc>
                  <a:txBody>
                    <a:bodyPr/>
                    <a:lstStyle/>
                    <a:p>
                      <a:pPr algn="ctr"/>
                      <a:r>
                        <a:rPr sz="850" b="0" i="0">
                          <a:solidFill>
                            <a:srgbClr val="262626"/>
                          </a:solidFill>
                          <a:latin typeface="Arial"/>
                        </a:rPr>
                        <a:t>1:05:08
+14s</a:t>
                      </a:r>
                    </a:p>
                  </a:txBody>
                  <a:tcPr>
                    <a:solidFill>
                      <a:srgbClr val="F2F2F2"/>
                    </a:solidFill>
                  </a:tcPr>
                </a:tc>
                <a:tc>
                  <a:txBody>
                    <a:bodyPr/>
                    <a:lstStyle/>
                    <a:p>
                      <a:pPr algn="ctr"/>
                      <a:r>
                        <a:rPr sz="850" b="0" i="0">
                          <a:solidFill>
                            <a:srgbClr val="262626"/>
                          </a:solidFill>
                          <a:latin typeface="Arial"/>
                        </a:rPr>
                        <a:t>1:05:30
+36s</a:t>
                      </a:r>
                    </a:p>
                  </a:txBody>
                  <a:tcPr>
                    <a:solidFill>
                      <a:srgbClr val="F2F2F2"/>
                    </a:solidFill>
                  </a:tcPr>
                </a:tc>
                <a:tc>
                  <a:txBody>
                    <a:bodyPr/>
                    <a:lstStyle/>
                    <a:p>
                      <a:pPr algn="ctr"/>
                      <a:r>
                        <a:rPr sz="850" b="0" i="0">
                          <a:solidFill>
                            <a:srgbClr val="262626"/>
                          </a:solidFill>
                          <a:latin typeface="Arial"/>
                        </a:rPr>
                        <a:t>1:06:48
+114s</a:t>
                      </a:r>
                    </a:p>
                  </a:txBody>
                  <a:tcPr>
                    <a:solidFill>
                      <a:srgbClr val="F2F2F2"/>
                    </a:solidFill>
                  </a:tcPr>
                </a:tc>
                <a:extLst>
                  <a:ext uri="{0D108BD9-81ED-4DB2-BD59-A6C34878D82A}">
                    <a16:rowId xmlns:a16="http://schemas.microsoft.com/office/drawing/2014/main" val="10006"/>
                  </a:ext>
                </a:extLst>
              </a:tr>
              <a:tr h="308610">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1:00:08</a:t>
                      </a:r>
                    </a:p>
                  </a:txBody>
                  <a:tcPr>
                    <a:solidFill>
                      <a:srgbClr val="FFFFFF"/>
                    </a:solidFill>
                  </a:tcPr>
                </a:tc>
                <a:tc>
                  <a:txBody>
                    <a:bodyPr/>
                    <a:lstStyle/>
                    <a:p>
                      <a:pPr algn="ctr"/>
                      <a:r>
                        <a:rPr sz="850" b="0" i="0">
                          <a:solidFill>
                            <a:srgbClr val="262626"/>
                          </a:solidFill>
                          <a:latin typeface="Arial"/>
                        </a:rPr>
                        <a:t>1:00:08</a:t>
                      </a:r>
                    </a:p>
                  </a:txBody>
                  <a:tcPr>
                    <a:solidFill>
                      <a:srgbClr val="FFFFFF"/>
                    </a:solidFill>
                  </a:tcPr>
                </a:tc>
                <a:tc>
                  <a:txBody>
                    <a:bodyPr/>
                    <a:lstStyle/>
                    <a:p>
                      <a:pPr algn="ctr"/>
                      <a:r>
                        <a:rPr sz="850" b="0" i="0">
                          <a:solidFill>
                            <a:srgbClr val="262626"/>
                          </a:solidFill>
                          <a:latin typeface="Arial"/>
                        </a:rPr>
                        <a:t>1:00:09
+1s</a:t>
                      </a:r>
                    </a:p>
                  </a:txBody>
                  <a:tcPr>
                    <a:solidFill>
                      <a:srgbClr val="FFFFFF"/>
                    </a:solidFill>
                  </a:tcPr>
                </a:tc>
                <a:tc>
                  <a:txBody>
                    <a:bodyPr/>
                    <a:lstStyle/>
                    <a:p>
                      <a:pPr algn="ctr"/>
                      <a:r>
                        <a:rPr sz="850" b="0" i="0">
                          <a:solidFill>
                            <a:srgbClr val="262626"/>
                          </a:solidFill>
                          <a:latin typeface="Arial"/>
                        </a:rPr>
                        <a:t>1:00:29
+21s</a:t>
                      </a:r>
                    </a:p>
                  </a:txBody>
                  <a:tcPr>
                    <a:solidFill>
                      <a:srgbClr val="FFFFFF"/>
                    </a:solidFill>
                  </a:tcPr>
                </a:tc>
                <a:tc>
                  <a:txBody>
                    <a:bodyPr/>
                    <a:lstStyle/>
                    <a:p>
                      <a:pPr algn="ctr"/>
                      <a:r>
                        <a:rPr sz="850" b="0" i="0">
                          <a:solidFill>
                            <a:srgbClr val="262626"/>
                          </a:solidFill>
                          <a:latin typeface="Arial"/>
                        </a:rPr>
                        <a:t>1:01:02
+54s</a:t>
                      </a:r>
                    </a:p>
                  </a:txBody>
                  <a:tcPr>
                    <a:solidFill>
                      <a:srgbClr val="FFFFFF"/>
                    </a:solidFill>
                  </a:tcPr>
                </a:tc>
                <a:tc>
                  <a:txBody>
                    <a:bodyPr/>
                    <a:lstStyle/>
                    <a:p>
                      <a:pPr algn="ctr"/>
                      <a:r>
                        <a:rPr sz="850" b="0" i="0" dirty="0">
                          <a:solidFill>
                            <a:srgbClr val="262626"/>
                          </a:solidFill>
                          <a:latin typeface="Arial"/>
                        </a:rPr>
                        <a:t>1:03:42
+214s</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Huatulco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6576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Jun 10</a:t>
                      </a:r>
                    </a:p>
                  </a:txBody>
                  <a:tcPr>
                    <a:solidFill>
                      <a:srgbClr val="FFFFFF"/>
                    </a:solidFill>
                  </a:tcPr>
                </a:tc>
                <a:tc>
                  <a:txBody>
                    <a:bodyPr/>
                    <a:lstStyle/>
                    <a:p>
                      <a:pPr algn="ctr"/>
                      <a:r>
                        <a:rPr sz="1000" b="0" i="0">
                          <a:solidFill>
                            <a:srgbClr val="262626"/>
                          </a:solidFill>
                          <a:latin typeface="Arial"/>
                        </a:rPr>
                        <a:t>29.2</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10</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Jun 08</a:t>
                      </a:r>
                    </a:p>
                  </a:txBody>
                  <a:tcPr>
                    <a:solidFill>
                      <a:srgbClr val="F2F2F2"/>
                    </a:solidFill>
                  </a:tcPr>
                </a:tc>
                <a:tc>
                  <a:txBody>
                    <a:bodyPr/>
                    <a:lstStyle/>
                    <a:p>
                      <a:pPr algn="ctr"/>
                      <a:r>
                        <a:rPr sz="1000" b="0" i="0">
                          <a:solidFill>
                            <a:srgbClr val="262626"/>
                          </a:solidFill>
                          <a:latin typeface="Arial"/>
                        </a:rPr>
                        <a:t>28.3</a:t>
                      </a:r>
                    </a:p>
                  </a:txBody>
                  <a:tcPr>
                    <a:solidFill>
                      <a:srgbClr val="F2F2F2"/>
                    </a:solidFill>
                  </a:tcPr>
                </a:tc>
                <a:tc>
                  <a:txBody>
                    <a:bodyPr/>
                    <a:lstStyle/>
                    <a:p>
                      <a:pPr algn="ctr"/>
                      <a:r>
                        <a:rPr sz="1000" b="0" i="0">
                          <a:solidFill>
                            <a:srgbClr val="262626"/>
                          </a:solidFill>
                          <a:latin typeface="Arial"/>
                        </a:rPr>
                        <a:t>77%</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Jun 12</a:t>
                      </a:r>
                    </a:p>
                  </a:txBody>
                  <a:tcPr>
                    <a:solidFill>
                      <a:srgbClr val="FFFFFF"/>
                    </a:solidFill>
                  </a:tcPr>
                </a:tc>
                <a:tc>
                  <a:txBody>
                    <a:bodyPr/>
                    <a:lstStyle/>
                    <a:p>
                      <a:pPr algn="ctr"/>
                      <a:r>
                        <a:rPr sz="1000" b="0" i="0">
                          <a:solidFill>
                            <a:srgbClr val="262626"/>
                          </a:solidFill>
                          <a:latin typeface="Arial"/>
                        </a:rPr>
                        <a:t>26.8</a:t>
                      </a:r>
                    </a:p>
                  </a:txBody>
                  <a:tcPr>
                    <a:solidFill>
                      <a:srgbClr val="FFFFFF"/>
                    </a:solidFill>
                  </a:tcPr>
                </a:tc>
                <a:tc>
                  <a:txBody>
                    <a:bodyPr/>
                    <a:lstStyle/>
                    <a:p>
                      <a:pPr algn="ctr"/>
                      <a:r>
                        <a:rPr sz="1000" b="0" i="0">
                          <a:solidFill>
                            <a:srgbClr val="262626"/>
                          </a:solidFill>
                          <a:latin typeface="Arial"/>
                        </a:rPr>
                        <a:t>82%</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Jun 18</a:t>
                      </a:r>
                    </a:p>
                  </a:txBody>
                  <a:tcPr>
                    <a:solidFill>
                      <a:srgbClr val="F2F2F2"/>
                    </a:solidFill>
                  </a:tcPr>
                </a:tc>
                <a:tc>
                  <a:txBody>
                    <a:bodyPr/>
                    <a:lstStyle/>
                    <a:p>
                      <a:pPr algn="ctr"/>
                      <a:r>
                        <a:rPr sz="1000" b="0" i="0">
                          <a:solidFill>
                            <a:srgbClr val="262626"/>
                          </a:solidFill>
                          <a:latin typeface="Arial"/>
                        </a:rPr>
                        <a:t>29</a:t>
                      </a:r>
                    </a:p>
                  </a:txBody>
                  <a:tcPr>
                    <a:solidFill>
                      <a:srgbClr val="F2F2F2"/>
                    </a:solidFill>
                  </a:tcPr>
                </a:tc>
                <a:tc>
                  <a:txBody>
                    <a:bodyPr/>
                    <a:lstStyle/>
                    <a:p>
                      <a:pPr algn="ctr"/>
                      <a:r>
                        <a:rPr sz="1000" b="0" i="0">
                          <a:solidFill>
                            <a:srgbClr val="262626"/>
                          </a:solidFill>
                          <a:latin typeface="Arial"/>
                        </a:rPr>
                        <a:t>68%</a:t>
                      </a:r>
                    </a:p>
                  </a:txBody>
                  <a:tcPr>
                    <a:solidFill>
                      <a:srgbClr val="F2F2F2"/>
                    </a:solidFill>
                  </a:tcPr>
                </a:tc>
                <a:tc>
                  <a:txBody>
                    <a:bodyPr/>
                    <a:lstStyle/>
                    <a:p>
                      <a:pPr algn="ctr"/>
                      <a:r>
                        <a:rPr sz="1000" b="0" i="0">
                          <a:solidFill>
                            <a:srgbClr val="262626"/>
                          </a:solidFill>
                          <a:latin typeface="Arial"/>
                        </a:rPr>
                        <a:t>6</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31</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Jun 17</a:t>
                      </a:r>
                    </a:p>
                  </a:txBody>
                  <a:tcPr>
                    <a:solidFill>
                      <a:srgbClr val="FFFFFF"/>
                    </a:solidFill>
                  </a:tcPr>
                </a:tc>
                <a:tc>
                  <a:txBody>
                    <a:bodyPr/>
                    <a:lstStyle/>
                    <a:p>
                      <a:pPr algn="ctr"/>
                      <a:r>
                        <a:rPr sz="1000" b="0" i="0">
                          <a:solidFill>
                            <a:srgbClr val="262626"/>
                          </a:solidFill>
                          <a:latin typeface="Arial"/>
                        </a:rPr>
                        <a:t>35</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31.8</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33.9</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7</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30</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Jun 22</a:t>
                      </a:r>
                    </a:p>
                  </a:txBody>
                  <a:tcPr>
                    <a:solidFill>
                      <a:srgbClr val="FFFFFF"/>
                    </a:solidFill>
                  </a:tcPr>
                </a:tc>
                <a:tc>
                  <a:txBody>
                    <a:bodyPr/>
                    <a:lstStyle/>
                    <a:p>
                      <a:pPr algn="ctr"/>
                      <a:r>
                        <a:rPr sz="1000" b="0" i="0">
                          <a:solidFill>
                            <a:srgbClr val="262626"/>
                          </a:solidFill>
                          <a:latin typeface="Arial"/>
                        </a:rPr>
                        <a:t>24</a:t>
                      </a:r>
                    </a:p>
                  </a:txBody>
                  <a:tcPr>
                    <a:solidFill>
                      <a:srgbClr val="FFFFFF"/>
                    </a:solidFill>
                  </a:tcPr>
                </a:tc>
                <a:tc>
                  <a:txBody>
                    <a:bodyPr/>
                    <a:lstStyle/>
                    <a:p>
                      <a:pPr algn="ctr"/>
                      <a:r>
                        <a:rPr sz="1000" b="0" i="0">
                          <a:solidFill>
                            <a:srgbClr val="262626"/>
                          </a:solidFill>
                          <a:latin typeface="Arial"/>
                        </a:rPr>
                        <a:t>96%</a:t>
                      </a:r>
                    </a:p>
                  </a:txBody>
                  <a:tcPr>
                    <a:solidFill>
                      <a:srgbClr val="FFFFFF"/>
                    </a:solidFill>
                  </a:tcPr>
                </a:tc>
                <a:tc>
                  <a:txBody>
                    <a:bodyPr/>
                    <a:lstStyle/>
                    <a:p>
                      <a:pPr algn="ctr"/>
                      <a:r>
                        <a:rPr sz="1000" b="0" i="0">
                          <a:solidFill>
                            <a:srgbClr val="262626"/>
                          </a:solidFill>
                          <a:latin typeface="Arial"/>
                        </a:rPr>
                        <a:t>4</a:t>
                      </a:r>
                    </a:p>
                  </a:txBody>
                  <a:tcPr>
                    <a:solidFill>
                      <a:srgbClr val="FFFFFF"/>
                    </a:solidFill>
                  </a:tcPr>
                </a:tc>
                <a:tc>
                  <a:txBody>
                    <a:bodyPr/>
                    <a:lstStyle/>
                    <a:p>
                      <a:pPr algn="ctr"/>
                      <a:r>
                        <a:rPr sz="1000" b="0" i="0">
                          <a:solidFill>
                            <a:srgbClr val="262626"/>
                          </a:solidFill>
                          <a:latin typeface="Arial"/>
                        </a:rPr>
                        <a:t>2.6</a:t>
                      </a:r>
                    </a:p>
                  </a:txBody>
                  <a:tcPr>
                    <a:solidFill>
                      <a:srgbClr val="FFFFFF"/>
                    </a:solidFill>
                  </a:tcPr>
                </a:tc>
                <a:tc>
                  <a:txBody>
                    <a:bodyPr/>
                    <a:lstStyle/>
                    <a:p>
                      <a:pPr algn="ctr"/>
                      <a:r>
                        <a:rPr sz="1000" b="0" i="0">
                          <a:solidFill>
                            <a:srgbClr val="262626"/>
                          </a:solidFill>
                          <a:latin typeface="Arial"/>
                        </a:rPr>
                        <a:t>29</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3117</Words>
  <Application>Microsoft Office PowerPoint</Application>
  <PresentationFormat>Custom</PresentationFormat>
  <Paragraphs>898</Paragraphs>
  <Slides>25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High</cp:lastModifiedBy>
  <cp:revision>4</cp:revision>
  <dcterms:created xsi:type="dcterms:W3CDTF">2013-01-27T09:14:16Z</dcterms:created>
  <dcterms:modified xsi:type="dcterms:W3CDTF">2026-05-29T01:49:54Z</dcterms:modified>
  <cp:category/>
</cp:coreProperties>
</file>