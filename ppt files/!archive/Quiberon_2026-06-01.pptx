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8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triathlon.org/2026-wtcs-quiberon/race-info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QUIBERON RACE</a:t>
            </a:r>
            <a:r>
              <a:rPr lang="en-US" sz="5400" b="1" i="0">
                <a:solidFill>
                  <a:srgbClr val="FFFFFF"/>
                </a:solidFill>
                <a:latin typeface="Arial"/>
              </a:rPr>
              <a:t> PREVIEW</a:t>
            </a:r>
            <a:endParaRPr sz="5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AABBDD"/>
                </a:solidFill>
                <a:latin typeface="Arial"/>
              </a:rPr>
              <a:t>Elite Analysis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June 18 – 21, 2026   •   Espace Louison Bobet, Bd René Cassin, Quiberon (CEST, UTC+2)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Friday • June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372770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07:00 – 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— Neptune Swimming Pool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09:00 – 09:30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 familiarization — 2 laps from transition (escorted)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familiarization — beach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14:00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— Neptune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16:00 – 16:30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Mandatory Elite Athletes' briefing — Espace Louison Bobet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16:30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team medical meeting — LOC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Post-briefing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package distribution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 course measurement (coaches) — Finish Area, Bd René Cassin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Saturday • June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WTCS SPRINT RACE DAY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022228"/>
              </p:ext>
            </p:extLst>
          </p:nvPr>
        </p:nvGraphicFramePr>
        <p:xfrm>
          <a:off x="4230625" y="2240280"/>
          <a:ext cx="3727703" cy="418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95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08:30 – 09:30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WTCS Men — Athletes' lounge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95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09:00 – 09:45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WTCS Men — Transition + swim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848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09:50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Men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848">
                <a:tc>
                  <a:txBody>
                    <a:bodyPr/>
                    <a:lstStyle/>
                    <a:p>
                      <a:pPr algn="ctr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10:00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WTCS 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84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Men medals ceremony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95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 – 11:30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Women — Athletes' lounge check-in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95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11:00 – 11:45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Women — Transition + swim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95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Women — Athletes' introduction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84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12:00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WTCS WOMEN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84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Women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84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13:30 – 14:00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Team Declaration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95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20:00 – 20:30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Mixed Relay — Team Managers' Meeting (Elite Athletes Area)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Sunday • June 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Mixed Relay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86928" y="2240280"/>
          <a:ext cx="3727703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07:00 – 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— Neptune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12:30 – 12:45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Final Team Declaration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15:30 – 16:30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Athletes' lounge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16:00 – 16:45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Transition + swim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17:00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MIXED RELAY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medals ceremony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46303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BFBFBF"/>
                </a:solidFill>
                <a:latin typeface="Arial"/>
              </a:rPr>
              <a:t>Times local to Huatulco (CST, UTC-6). Schedule confirmed from World Triathlon race-info page; subject to </a:t>
            </a:r>
            <a:r>
              <a:rPr sz="900" b="0" i="1" dirty="0" err="1">
                <a:solidFill>
                  <a:srgbClr val="BFBFBF"/>
                </a:solidFill>
                <a:latin typeface="Arial"/>
              </a:rPr>
              <a:t>organiser</a:t>
            </a:r>
            <a:r>
              <a:rPr sz="900" b="0" i="1" dirty="0">
                <a:solidFill>
                  <a:srgbClr val="BFBFBF"/>
                </a:solidFill>
                <a:latin typeface="Arial"/>
              </a:rPr>
              <a:t>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QUIBERON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Set on the southern tip of Brittany’s Quiberon peninsula, this will be the </a:t>
            </a:r>
            <a:r>
              <a:rPr lang="en-US" sz="1200" b="0" i="1" dirty="0">
                <a:solidFill>
                  <a:srgbClr val="262626"/>
                </a:solidFill>
                <a:latin typeface="Arial"/>
              </a:rPr>
              <a:t>first </a:t>
            </a:r>
            <a:r>
              <a:rPr lang="en-US" sz="1200" b="0" dirty="0">
                <a:solidFill>
                  <a:srgbClr val="262626"/>
                </a:solidFill>
                <a:latin typeface="Arial"/>
              </a:rPr>
              <a:t>edition of WTCS Quiberon.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Expect a cool-water, likely wetsuit sprint race with a decently long beach start. The bike is largely flat but has multiple sections along the coast with potential for exposure to coastal winds. The run is also a simply out and back on asphalt that should lead to fast splits.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262626"/>
                </a:solidFill>
                <a:latin typeface="Arial"/>
              </a:rPr>
              <a:t>•  Beach Start 750m Atlantic Swim. Cool water, likely wetsuit-legal.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3898019"/>
            <a:ext cx="585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Flat Bike course. 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4 laps of 5.5km will make the distance longer than normal. No real elevation but potential for exposed wind could come into play.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4843645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Mostly asphalt out and back run. Simple 2 lap course.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First race at this venue.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50876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750 m – 1 lap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47088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262626"/>
                </a:solidFill>
                <a:latin typeface="Arial"/>
              </a:rPr>
              <a:t>22km – 4 laps x 5.5km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185415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5km – 2 laps x 2.5km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523744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Sprint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862072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4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20040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2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Race Info | 2026 World Triathlon Championship Series Quiberon</a:t>
            </a:r>
            <a:endParaRPr sz="1000" b="0" i="1" dirty="0">
              <a:solidFill>
                <a:srgbClr val="26262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files/support/quiberon_swim_course.png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Elite Athlete Guide — WTCS Quiberon, 20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Open ocean — Atlantic / Bay of Quiberon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Atlantic Ocean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Beach 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18.0 °C (7-yr avg)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Wetsuit </a:t>
            </a:r>
            <a:r>
              <a:rPr lang="en-US" sz="1400" b="1" i="0" dirty="0">
                <a:solidFill>
                  <a:srgbClr val="262626"/>
                </a:solidFill>
                <a:latin typeface="Arial"/>
              </a:rPr>
              <a:t>Likely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Single 750 m loop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. Historically cold water that will make for a wetsuit legal race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0" y="4561633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Beach start running entry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into the first 330m segment to the turning buoy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0" y="4930183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Atlantic exposure brings chop and swell — sighting on bigger surface waves than typical WTCS venues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514177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262626"/>
                </a:solidFill>
                <a:latin typeface="Arial"/>
              </a:rPr>
              <a:t>•  Two left hands turns comprise simple box style course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1350039-9C9C-B708-637E-28645802C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143000"/>
            <a:ext cx="5120640" cy="4684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files/support/quiberon_bike_course.png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Elite Athlete Guide — WTCS Quiberon, 20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2200" b="1" i="0" dirty="0">
                <a:solidFill>
                  <a:srgbClr val="FFFFFF"/>
                </a:solidFill>
                <a:latin typeface="Arial"/>
              </a:rPr>
              <a:t>2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 km   •   4 × 5</a:t>
            </a:r>
            <a:r>
              <a:rPr lang="en-US" sz="2200" b="1" i="0" dirty="0">
                <a:solidFill>
                  <a:srgbClr val="FFFFFF"/>
                </a:solidFill>
                <a:latin typeface="Arial"/>
              </a:rPr>
              <a:t>.5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coastal/urban circuit — Boulevard René Cassin, Quiberon Peninsula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>
                <a:solidFill>
                  <a:srgbClr val="262626"/>
                </a:solidFill>
                <a:latin typeface="Arial"/>
              </a:rPr>
              <a:t>—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—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dirty="0">
                <a:solidFill>
                  <a:srgbClr val="002060"/>
                </a:solidFill>
                <a:latin typeface="Arial"/>
              </a:rPr>
              <a:t>Wind</a:t>
            </a:r>
            <a:endParaRPr sz="900" b="1" i="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262626"/>
                </a:solidFill>
                <a:latin typeface="Arial"/>
              </a:rPr>
              <a:t>Coastal Wind Likely (~20km)</a:t>
            </a:r>
            <a:endParaRPr sz="12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4 × 5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9E3DB21-17F3-8BC3-F79E-4B06FABDB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141823"/>
            <a:ext cx="5120640" cy="351923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4069080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Generally flat profile with no significant climbs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Single loop with limited technical sections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0" y="4628574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Coastal sections exposed to Atlantic win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d.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0" y="4972625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Two wheel stations: René Cassin Street (just out of T1) and Fort Neuf Street / Parking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Nautique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near Pointe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Riberen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69280" y="553212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Slightly longer course than standard, 22km total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files/support/quiberon_run_course.png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Elite Athlete Guide — WTCS Quiberon, 20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5.0 km   •   2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Asphalt out-and-back; small stabilized (gravel) section per lap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latin typeface="Arial"/>
              </a:rPr>
              <a:t>—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latin typeface="Arial"/>
              </a:rPr>
              <a:t>—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LOW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Flat out-and-back asphalt course with one short stabilized-surface section per lap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436631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Aid stations at 0.2 km (just after T2) and 1.25 km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P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ass each twice across the 2 laps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895622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Penalty Box located on the left, ~50 m before the Transition Area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0" y="5139170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Cool Atlantic conditions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June daily high ~23 °C, low ~13 °C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means little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heat-stress concern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59816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Lap structure: 2 × 2.5 km out-and-back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10CFC50-F09B-8C0A-972D-482D90B62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143000"/>
            <a:ext cx="5166360" cy="416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2026-06-20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Men start — 10:00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17.1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16.2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86%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18.4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Women start — 12:00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17.1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16.8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85%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17.3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Cool to </a:t>
            </a:r>
            <a:r>
              <a:rPr sz="1050" b="0" i="0">
                <a:solidFill>
                  <a:srgbClr val="262626"/>
                </a:solidFill>
                <a:latin typeface="Arial"/>
              </a:rPr>
              <a:t>mild outlook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5760" y="55046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Notable wind (21 km/h) — drafting protection matters on exposed coastal bike sections; sight more frequently in chop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Data source: Open-Meteo. Forecast will replace climatology once race day is within 16 days. Historical Race Conditions slide shows what actually happened in prior years.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88952" cy="64008"/>
          </a:xfrm>
          <a:prstGeom prst="rect">
            <a:avLst/>
          </a:prstGeom>
          <a:solidFill>
            <a:srgbClr val="BE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93268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76072"/>
            <a:ext cx="2507610" cy="18466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Arial"/>
              </a:rPr>
              <a:t>Denver, CO → </a:t>
            </a:r>
            <a:r>
              <a:rPr lang="en-US" sz="1200" dirty="0">
                <a:solidFill>
                  <a:srgbClr val="FFFFFF"/>
                </a:solidFill>
                <a:latin typeface="Arial"/>
              </a:rPr>
              <a:t>Quiberon</a:t>
            </a:r>
            <a:r>
              <a:rPr sz="1200" dirty="0">
                <a:solidFill>
                  <a:srgbClr val="FFFFFF"/>
                </a:solidFill>
                <a:latin typeface="Arial"/>
              </a:rPr>
              <a:t> race week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"/>
            <a:ext cx="1097280" cy="822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7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" y="1170432"/>
            <a:ext cx="11433810" cy="96012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lang="en-US" sz="1400" b="1" dirty="0">
                <a:solidFill>
                  <a:srgbClr val="002864"/>
                </a:solidFill>
                <a:latin typeface="Arial"/>
              </a:rPr>
              <a:t>Core travel read</a:t>
            </a:r>
          </a:p>
          <a:p>
            <a:pPr algn="ctr">
              <a:spcBef>
                <a:spcPts val="500"/>
              </a:spcBef>
            </a:pPr>
            <a:r>
              <a:rPr lang="en-US" sz="1200" dirty="0">
                <a:solidFill>
                  <a:srgbClr val="5A6473"/>
                </a:solidFill>
                <a:latin typeface="Arial"/>
              </a:rPr>
              <a:t>There are no direct Denver → Nantes flights. The cleanest athlete route is a one-stop itinerary through CDG, Dublin, Amsterdam, or another European hub into Nantes, then use the LOC/Nirvana scheduled shuttle to Quiberon. Many flight options include an overnight long-haul travel as a part of the leg. Minimize the 8h time zone shift by shifting daily schedule earlier before travel. </a:t>
            </a:r>
          </a:p>
          <a:p>
            <a:pPr>
              <a:spcBef>
                <a:spcPts val="500"/>
              </a:spcBef>
            </a:pPr>
            <a:endParaRPr lang="en-US" sz="100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040" y="2331720"/>
            <a:ext cx="19202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900" b="1" dirty="0">
                <a:solidFill>
                  <a:srgbClr val="002864"/>
                </a:solidFill>
                <a:latin typeface="Arial"/>
              </a:rPr>
              <a:t>Primary route</a:t>
            </a:r>
          </a:p>
          <a:p>
            <a:pPr algn="ctr">
              <a:spcBef>
                <a:spcPts val="200"/>
              </a:spcBef>
            </a:pPr>
            <a:r>
              <a:rPr sz="1500" b="1" dirty="0">
                <a:solidFill>
                  <a:srgbClr val="232832"/>
                </a:solidFill>
                <a:latin typeface="Arial"/>
              </a:rPr>
              <a:t>DEN → </a:t>
            </a:r>
            <a:r>
              <a:rPr lang="en-US" sz="1500" b="1" dirty="0">
                <a:solidFill>
                  <a:srgbClr val="232832"/>
                </a:solidFill>
                <a:latin typeface="Arial"/>
              </a:rPr>
              <a:t>NTE</a:t>
            </a:r>
            <a:endParaRPr sz="1500" b="1" dirty="0">
              <a:solidFill>
                <a:srgbClr val="232832"/>
              </a:solidFill>
              <a:latin typeface="Arial"/>
            </a:endParaRPr>
          </a:p>
          <a:p>
            <a:pPr algn="ctr">
              <a:spcBef>
                <a:spcPts val="200"/>
              </a:spcBef>
            </a:pPr>
            <a:r>
              <a:rPr lang="en-US" sz="750" dirty="0">
                <a:solidFill>
                  <a:srgbClr val="5A6473"/>
                </a:solidFill>
                <a:latin typeface="Arial"/>
              </a:rPr>
              <a:t>1 stop likely</a:t>
            </a:r>
            <a:endParaRPr sz="75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98433" y="2331720"/>
            <a:ext cx="19202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900" b="1" dirty="0">
                <a:solidFill>
                  <a:srgbClr val="002864"/>
                </a:solidFill>
                <a:latin typeface="Arial"/>
              </a:rPr>
              <a:t>Flight time</a:t>
            </a:r>
          </a:p>
          <a:p>
            <a:pPr algn="ctr">
              <a:spcBef>
                <a:spcPts val="200"/>
              </a:spcBef>
            </a:pPr>
            <a:r>
              <a:rPr sz="1500" b="1" dirty="0">
                <a:solidFill>
                  <a:srgbClr val="232832"/>
                </a:solidFill>
                <a:latin typeface="Arial"/>
              </a:rPr>
              <a:t>~12h</a:t>
            </a:r>
          </a:p>
          <a:p>
            <a:pPr algn="ctr">
              <a:spcBef>
                <a:spcPts val="200"/>
              </a:spcBef>
            </a:pPr>
            <a:r>
              <a:rPr lang="en-US" sz="750" dirty="0">
                <a:solidFill>
                  <a:srgbClr val="5A6473"/>
                </a:solidFill>
                <a:latin typeface="Arial"/>
              </a:rPr>
              <a:t>Plus layover</a:t>
            </a:r>
            <a:endParaRPr sz="75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76826" y="2331720"/>
            <a:ext cx="19202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900" b="1" dirty="0">
                <a:solidFill>
                  <a:srgbClr val="002864"/>
                </a:solidFill>
                <a:latin typeface="Arial"/>
              </a:rPr>
              <a:t>Time zones</a:t>
            </a:r>
          </a:p>
          <a:p>
            <a:pPr algn="ctr">
              <a:spcBef>
                <a:spcPts val="200"/>
              </a:spcBef>
            </a:pPr>
            <a:r>
              <a:rPr sz="1500" b="1" dirty="0">
                <a:solidFill>
                  <a:srgbClr val="232832"/>
                </a:solidFill>
                <a:latin typeface="Arial"/>
              </a:rPr>
              <a:t>+</a:t>
            </a:r>
            <a:r>
              <a:rPr lang="en-US" sz="1500" b="1" dirty="0">
                <a:solidFill>
                  <a:srgbClr val="232832"/>
                </a:solidFill>
                <a:latin typeface="Arial"/>
              </a:rPr>
              <a:t>8</a:t>
            </a:r>
            <a:r>
              <a:rPr sz="1500" b="1" dirty="0">
                <a:solidFill>
                  <a:srgbClr val="232832"/>
                </a:solidFill>
                <a:latin typeface="Arial"/>
              </a:rPr>
              <a:t>h</a:t>
            </a:r>
          </a:p>
          <a:p>
            <a:pPr algn="ctr">
              <a:spcBef>
                <a:spcPts val="200"/>
              </a:spcBef>
            </a:pPr>
            <a:r>
              <a:rPr lang="en-US" sz="750" dirty="0">
                <a:solidFill>
                  <a:srgbClr val="5A6473"/>
                </a:solidFill>
                <a:latin typeface="Arial"/>
              </a:rPr>
              <a:t>France</a:t>
            </a:r>
            <a:r>
              <a:rPr sz="750" dirty="0">
                <a:solidFill>
                  <a:srgbClr val="5A6473"/>
                </a:solidFill>
                <a:latin typeface="Arial"/>
              </a:rPr>
              <a:t> ahead of Denver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5219" y="2331720"/>
            <a:ext cx="19202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lang="en-US" sz="900" b="1" dirty="0">
                <a:solidFill>
                  <a:srgbClr val="002864"/>
                </a:solidFill>
                <a:latin typeface="Arial"/>
              </a:rPr>
              <a:t>Airport Transfer</a:t>
            </a:r>
            <a:endParaRPr sz="900" b="1" dirty="0">
              <a:solidFill>
                <a:srgbClr val="002864"/>
              </a:solidFill>
              <a:latin typeface="Arial"/>
            </a:endParaRPr>
          </a:p>
          <a:p>
            <a:pPr algn="ctr">
              <a:spcBef>
                <a:spcPts val="200"/>
              </a:spcBef>
            </a:pPr>
            <a:r>
              <a:rPr lang="en-US" sz="1500" b="1" dirty="0">
                <a:solidFill>
                  <a:srgbClr val="232832"/>
                </a:solidFill>
                <a:latin typeface="Arial"/>
              </a:rPr>
              <a:t>NTE → Quiberon</a:t>
            </a:r>
            <a:endParaRPr sz="1500" b="1" dirty="0">
              <a:solidFill>
                <a:srgbClr val="232832"/>
              </a:solidFill>
              <a:latin typeface="Arial"/>
            </a:endParaRPr>
          </a:p>
          <a:p>
            <a:pPr algn="ctr">
              <a:spcBef>
                <a:spcPts val="200"/>
              </a:spcBef>
            </a:pPr>
            <a:r>
              <a:rPr lang="en-US" sz="750" dirty="0">
                <a:solidFill>
                  <a:srgbClr val="5A6473"/>
                </a:solidFill>
                <a:latin typeface="Arial"/>
              </a:rPr>
              <a:t>LOC Scheduled Transfer</a:t>
            </a:r>
            <a:endParaRPr sz="75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833610" y="2331720"/>
            <a:ext cx="192024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lang="en-US" sz="900" b="1" dirty="0">
                <a:solidFill>
                  <a:srgbClr val="002864"/>
                </a:solidFill>
                <a:latin typeface="Arial"/>
              </a:rPr>
              <a:t>Transfer Distance</a:t>
            </a:r>
            <a:endParaRPr sz="900" b="1" dirty="0">
              <a:solidFill>
                <a:srgbClr val="002864"/>
              </a:solidFill>
              <a:latin typeface="Arial"/>
            </a:endParaRPr>
          </a:p>
          <a:p>
            <a:pPr algn="ctr">
              <a:spcBef>
                <a:spcPts val="200"/>
              </a:spcBef>
            </a:pPr>
            <a:r>
              <a:rPr lang="en-US" sz="1500" b="1" dirty="0">
                <a:solidFill>
                  <a:srgbClr val="232832"/>
                </a:solidFill>
                <a:latin typeface="Arial"/>
              </a:rPr>
              <a:t>~2 hours</a:t>
            </a:r>
            <a:endParaRPr sz="75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0040" y="3401568"/>
            <a:ext cx="5440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 dirty="0">
                <a:solidFill>
                  <a:srgbClr val="002768"/>
                </a:solidFill>
              </a:rPr>
              <a:t>Host Hotel / Official Accommodation Read</a:t>
            </a:r>
            <a:endParaRPr lang="en-US" sz="1400" b="1" dirty="0">
              <a:solidFill>
                <a:srgbClr val="002768"/>
              </a:solidFill>
            </a:endParaRPr>
          </a:p>
          <a:p>
            <a:pPr algn="ctr"/>
            <a:endParaRPr sz="1000" b="1" dirty="0">
              <a:solidFill>
                <a:srgbClr val="002864"/>
              </a:solidFill>
              <a:latin typeface="Arial"/>
            </a:endParaRPr>
          </a:p>
          <a:p>
            <a:pPr>
              <a:defRPr sz="940">
                <a:solidFill>
                  <a:srgbClr val="505050"/>
                </a:solidFill>
              </a:defRPr>
            </a:pPr>
            <a:r>
              <a:rPr lang="en-US" sz="1000" dirty="0"/>
              <a:t>• Official accommodation is 3 hotels: Sofitel Quiberon Thalassa Sea &amp; Spa, Mercure Quiberon Hotel, and ENV-I2N.</a:t>
            </a:r>
          </a:p>
          <a:p>
            <a:pPr>
              <a:defRPr sz="940">
                <a:solidFill>
                  <a:srgbClr val="505050"/>
                </a:solidFill>
              </a:defRPr>
            </a:pPr>
            <a:r>
              <a:rPr lang="en-US" sz="1000" dirty="0"/>
              <a:t>• Sofitel = premium recovery/wellness choice, oceanfront thalassotherapy setting.</a:t>
            </a:r>
          </a:p>
          <a:p>
            <a:pPr>
              <a:defRPr sz="940">
                <a:solidFill>
                  <a:srgbClr val="505050"/>
                </a:solidFill>
              </a:defRPr>
            </a:pPr>
            <a:r>
              <a:rPr lang="en-US" sz="1000" dirty="0"/>
              <a:t>• Mercure = practical team option: renovated rooms, close to beach/</a:t>
            </a:r>
            <a:r>
              <a:rPr lang="en-US" sz="1000" dirty="0" err="1"/>
              <a:t>thalasso</a:t>
            </a:r>
            <a:r>
              <a:rPr lang="en-US" sz="1000" dirty="0"/>
              <a:t> area, free Wi‑Fi, bike storage in package.</a:t>
            </a:r>
          </a:p>
          <a:p>
            <a:pPr>
              <a:defRPr sz="940">
                <a:solidFill>
                  <a:srgbClr val="505050"/>
                </a:solidFill>
              </a:defRPr>
            </a:pPr>
            <a:r>
              <a:rPr lang="en-US" sz="1000" dirty="0"/>
              <a:t>• ENV-I2N = budget-oriented accommodation within a short ride/cycle to the event site.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6EB15836-76D2-6B2A-8DA5-E326465A77EE}"/>
              </a:ext>
            </a:extLst>
          </p:cNvPr>
          <p:cNvSpPr/>
          <p:nvPr/>
        </p:nvSpPr>
        <p:spPr>
          <a:xfrm>
            <a:off x="6313170" y="3401568"/>
            <a:ext cx="5440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 dirty="0">
                <a:solidFill>
                  <a:srgbClr val="002768"/>
                </a:solidFill>
              </a:rPr>
              <a:t>Food / Grocery Options Near Hotel + Venue</a:t>
            </a:r>
            <a:endParaRPr lang="en-US" sz="1400" b="1" dirty="0">
              <a:solidFill>
                <a:srgbClr val="002768"/>
              </a:solidFill>
            </a:endParaRPr>
          </a:p>
          <a:p>
            <a:pPr algn="ctr"/>
            <a:endParaRPr sz="1400" b="1" dirty="0">
              <a:solidFill>
                <a:srgbClr val="002864"/>
              </a:solidFill>
              <a:latin typeface="Arial"/>
            </a:endParaRPr>
          </a:p>
          <a:p>
            <a:pPr>
              <a:defRPr sz="940">
                <a:solidFill>
                  <a:srgbClr val="505050"/>
                </a:solidFill>
              </a:defRPr>
            </a:pPr>
            <a:r>
              <a:rPr lang="en-US" sz="1000" dirty="0"/>
              <a:t>• Best stock-up target: Super U Quiberon (116 Rue du Port de Pêche) for groceries, water, snacks, and room food.</a:t>
            </a:r>
          </a:p>
          <a:p>
            <a:pPr>
              <a:defRPr sz="940">
                <a:solidFill>
                  <a:srgbClr val="505050"/>
                </a:solidFill>
              </a:defRPr>
            </a:pPr>
            <a:r>
              <a:rPr lang="en-US" sz="1000" dirty="0"/>
              <a:t>• Quick basics: town-center bakeries, small markets, pharmacies, and convenience food around Quiberon </a:t>
            </a:r>
            <a:r>
              <a:rPr lang="en-US" sz="1000" dirty="0" err="1"/>
              <a:t>centre</a:t>
            </a:r>
            <a:r>
              <a:rPr lang="en-US" sz="1000" dirty="0"/>
              <a:t> / beach area.</a:t>
            </a:r>
          </a:p>
          <a:p>
            <a:pPr>
              <a:defRPr sz="940">
                <a:solidFill>
                  <a:srgbClr val="505050"/>
                </a:solidFill>
              </a:defRPr>
            </a:pPr>
            <a:r>
              <a:rPr lang="en-US" sz="1000" dirty="0"/>
              <a:t>• Restaurant read: seafood/crêperie-heavy resort town; plan simple athlete meals if avoiding rich sauces or unfamiliar seafood.</a:t>
            </a:r>
          </a:p>
          <a:p>
            <a:pPr>
              <a:defRPr sz="940">
                <a:solidFill>
                  <a:srgbClr val="505050"/>
                </a:solidFill>
              </a:defRPr>
            </a:pPr>
            <a:r>
              <a:rPr lang="en-US" sz="1000" dirty="0"/>
              <a:t>• Logistics note: peninsula access is constrained by one road/rail link. Potential for heavy traffic if coming from outside town center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2B856D-CA26-7750-D296-BF313F8C7002}"/>
              </a:ext>
            </a:extLst>
          </p:cNvPr>
          <p:cNvGrpSpPr/>
          <p:nvPr/>
        </p:nvGrpSpPr>
        <p:grpSpPr>
          <a:xfrm>
            <a:off x="274320" y="1229868"/>
            <a:ext cx="11640312" cy="320040"/>
            <a:chOff x="274320" y="1801368"/>
            <a:chExt cx="11640312" cy="320040"/>
          </a:xfrm>
        </p:grpSpPr>
        <p:sp>
          <p:nvSpPr>
            <p:cNvPr id="13" name="Rectangle 12"/>
            <p:cNvSpPr/>
            <p:nvPr/>
          </p:nvSpPr>
          <p:spPr>
            <a:xfrm>
              <a:off x="274320" y="1801368"/>
              <a:ext cx="11640312" cy="32004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0040" y="1819656"/>
              <a:ext cx="1115568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Arial"/>
                </a:rPr>
                <a:t>HEALTH &amp; WATER QUALITY RISK FACTORS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BFE5046A-9FEB-3D7E-D2A0-32C07FC0584A}"/>
              </a:ext>
            </a:extLst>
          </p:cNvPr>
          <p:cNvSpPr txBox="1"/>
          <p:nvPr/>
        </p:nvSpPr>
        <p:spPr>
          <a:xfrm>
            <a:off x="320040" y="1913382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05265E"/>
                </a:solidFill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• Water Quality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Risk. A</a:t>
            </a:r>
            <a:r>
              <a:rPr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thlete guide sample values are safely inside WT reference limits: E.coli &lt;15 / 46 / &lt;15 per 100ml, Enterococci &lt;15 at all points, pH 6.0–6.3, blue algae &lt;0.5 </a:t>
            </a:r>
            <a:r>
              <a:rPr sz="1400" b="0" dirty="0" err="1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μg</a:t>
            </a:r>
            <a:r>
              <a:rPr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/l. 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2E042F57-BE8E-8704-E367-4874F5AA2E02}"/>
              </a:ext>
            </a:extLst>
          </p:cNvPr>
          <p:cNvSpPr txBox="1"/>
          <p:nvPr/>
        </p:nvSpPr>
        <p:spPr>
          <a:xfrm>
            <a:off x="310832" y="2790867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05265E"/>
                </a:solidFill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• Athlete Health / GI Risk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Risk. No</a:t>
            </a:r>
            <a:r>
              <a:rPr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Quiberon WTCS race-history. Primary health variable is cold-water / Atlantic exposure rather than documented GI illness.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B58F9895-508E-1417-DB12-4651F977FB50}"/>
              </a:ext>
            </a:extLst>
          </p:cNvPr>
          <p:cNvSpPr txBox="1"/>
          <p:nvPr/>
        </p:nvSpPr>
        <p:spPr>
          <a:xfrm>
            <a:off x="310832" y="3668352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05265E"/>
                </a:solidFill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• Water Temperature: </a:t>
            </a:r>
            <a:r>
              <a:rPr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Mid-June Atlantic range listed at 14.9–19.3°C; latest guide sample shows ~19.5°C. </a:t>
            </a:r>
            <a:r>
              <a:rPr lang="en-US"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ikely wetsuit-legal</a:t>
            </a:r>
            <a:r>
              <a:rPr lang="en-US"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400" b="0" dirty="0">
              <a:solidFill>
                <a:srgbClr val="505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C1A2DD25-B89A-5BF0-C4EB-19B8542E47B0}"/>
              </a:ext>
            </a:extLst>
          </p:cNvPr>
          <p:cNvSpPr txBox="1"/>
          <p:nvPr/>
        </p:nvSpPr>
        <p:spPr>
          <a:xfrm>
            <a:off x="320040" y="4545838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05265E"/>
                </a:solidFill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• Heat / Humidity: </a:t>
            </a:r>
            <a:r>
              <a:rPr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heat risk. Forecast is mild with high around 22°C; humidity may be elevated, </a:t>
            </a:r>
            <a:r>
              <a:rPr lang="en-US" sz="1400" b="0" dirty="0">
                <a:solidFill>
                  <a:srgbClr val="50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temperature is less of a factor than the potential for winds along the coasts.</a:t>
            </a:r>
            <a:endParaRPr sz="1400" b="0" dirty="0">
              <a:solidFill>
                <a:srgbClr val="505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Quiberon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Ranked on Startlist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Vasco Vilaca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Henry Graf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Ranked on Startlist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Jeanne Lehair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Leonie Periault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179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1737</Words>
  <Application>Microsoft Office PowerPoint</Application>
  <PresentationFormat>Custom</PresentationFormat>
  <Paragraphs>267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High</dc:creator>
  <cp:keywords/>
  <dc:description>generated using python-pptx</dc:description>
  <cp:lastModifiedBy>John High</cp:lastModifiedBy>
  <cp:revision>4</cp:revision>
  <dcterms:created xsi:type="dcterms:W3CDTF">2013-01-27T09:14:16Z</dcterms:created>
  <dcterms:modified xsi:type="dcterms:W3CDTF">2026-06-08T19:08:03Z</dcterms:modified>
  <cp:category/>
</cp:coreProperties>
</file>