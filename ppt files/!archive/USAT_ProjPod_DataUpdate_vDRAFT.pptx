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sldIdLst>
    <p:sldId id="260" r:id="rId2"/>
    <p:sldId id="328" r:id="rId3"/>
    <p:sldId id="286" r:id="rId4"/>
    <p:sldId id="285" r:id="rId5"/>
    <p:sldId id="351" r:id="rId6"/>
    <p:sldId id="329" r:id="rId7"/>
    <p:sldId id="346" r:id="rId8"/>
    <p:sldId id="350" r:id="rId9"/>
    <p:sldId id="352" r:id="rId10"/>
    <p:sldId id="349" r:id="rId11"/>
    <p:sldId id="344" r:id="rId12"/>
    <p:sldId id="348" r:id="rId13"/>
    <p:sldId id="345" r:id="rId14"/>
    <p:sldId id="257" r:id="rId15"/>
  </p:sldIdLst>
  <p:sldSz cx="9144000" cy="6858000" type="letter"/>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59" d="100"/>
          <a:sy n="159" d="100"/>
        </p:scale>
        <p:origin x="185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441881089385013E-2"/>
          <c:y val="3.7700025060541861E-2"/>
          <c:w val="0.87826698171630713"/>
          <c:h val="0.6664689585370455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E568-46B4-B116-9A4455D2B2DD}"/>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1-E568-46B4-B116-9A4455D2B2DD}"/>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92681527385123"/>
          <c:y val="3.7700025060541861E-2"/>
          <c:w val="0.85278206718637217"/>
          <c:h val="0.75995142967984086"/>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6F34-459A-963F-44A1161E6025}"/>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3-6F34-459A-963F-44A1161E6025}"/>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6722326391214088"/>
          <c:h val="0.65202542960158283"/>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7A66-4101-A9B6-0AEAA297CD35}"/>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7A66-4101-A9B6-0AEAA297CD35}"/>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4962505977073888"/>
          <c:h val="0.7438610556744248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B266-4A13-B136-40B119F39778}"/>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B266-4A13-B136-40B119F39778}"/>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6717078074463128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7438609907706762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4"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4"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C5DFA4-ED7B-4C04-88BC-ABD4D2FD95E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FF30C49D-0962-4298-9700-248383EC1DA2}">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WHO</a:t>
          </a:r>
        </a:p>
      </dgm:t>
    </dgm:pt>
    <dgm:pt modelId="{A9939946-D4B6-4760-BEFF-0D8B03EB5699}" type="parTrans" cxnId="{90363C23-4CC6-4DD5-AF21-B0CA0FFD5EC0}">
      <dgm:prSet/>
      <dgm:spPr/>
      <dgm:t>
        <a:bodyPr/>
        <a:lstStyle/>
        <a:p>
          <a:endParaRPr lang="en-US"/>
        </a:p>
      </dgm:t>
    </dgm:pt>
    <dgm:pt modelId="{60214B19-A013-48D6-AADF-E1B667B04F1E}" type="sibTrans" cxnId="{90363C23-4CC6-4DD5-AF21-B0CA0FFD5EC0}">
      <dgm:prSet/>
      <dgm:spPr/>
      <dgm:t>
        <a:bodyPr/>
        <a:lstStyle/>
        <a:p>
          <a:endParaRPr lang="en-US"/>
        </a:p>
      </dgm:t>
    </dgm:pt>
    <dgm:pt modelId="{9BB53ED3-C846-49BD-9160-D9FC8BA77CDE}">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Three Project Podium Athletes competed at the WTCS Yokohama – Braxton Legg, Blake Bullard, Reese Vannerson</a:t>
          </a:r>
          <a:endParaRPr lang="en-US" dirty="0"/>
        </a:p>
      </dgm:t>
    </dgm:pt>
    <dgm:pt modelId="{7DA3E9DF-BA6B-4741-8093-020A70F09A88}" type="parTrans" cxnId="{E502F62E-18A7-4373-8E3F-0D1F0D02F6C3}">
      <dgm:prSet/>
      <dgm:spPr/>
      <dgm:t>
        <a:bodyPr/>
        <a:lstStyle/>
        <a:p>
          <a:endParaRPr lang="en-US"/>
        </a:p>
      </dgm:t>
    </dgm:pt>
    <dgm:pt modelId="{85279933-9082-4FCD-B70A-8BE4C87E1F52}" type="sibTrans" cxnId="{E502F62E-18A7-4373-8E3F-0D1F0D02F6C3}">
      <dgm:prSet/>
      <dgm:spPr/>
      <dgm:t>
        <a:bodyPr/>
        <a:lstStyle/>
        <a:p>
          <a:endParaRPr lang="en-US"/>
        </a:p>
      </dgm:t>
    </dgm:pt>
    <dgm:pt modelId="{24D26040-8F49-45EC-B51B-1B7CAE4A519E}">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WHAT</a:t>
          </a:r>
        </a:p>
      </dgm:t>
    </dgm:pt>
    <dgm:pt modelId="{0D5DD8B7-68A8-4342-BA70-58DCD14B7043}" type="parTrans" cxnId="{432D6B82-3288-4A89-B5E0-13F4BF01A8E1}">
      <dgm:prSet/>
      <dgm:spPr/>
      <dgm:t>
        <a:bodyPr/>
        <a:lstStyle/>
        <a:p>
          <a:endParaRPr lang="en-US"/>
        </a:p>
      </dgm:t>
    </dgm:pt>
    <dgm:pt modelId="{CF64D240-9F86-451E-B707-BBB693F05CE6}" type="sibTrans" cxnId="{432D6B82-3288-4A89-B5E0-13F4BF01A8E1}">
      <dgm:prSet/>
      <dgm:spPr/>
      <dgm:t>
        <a:bodyPr/>
        <a:lstStyle/>
        <a:p>
          <a:endParaRPr lang="en-US"/>
        </a:p>
      </dgm:t>
    </dgm:pt>
    <dgm:pt modelId="{7E963B29-084D-4B97-AC2F-A901CC064E5C}">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Reese was most likely to have the best performance</a:t>
          </a:r>
          <a:endParaRPr lang="en-US" dirty="0"/>
        </a:p>
      </dgm:t>
    </dgm:pt>
    <dgm:pt modelId="{DA1CD97D-718D-4B4B-80DE-82183C25DAB3}" type="parTrans" cxnId="{31648690-33AB-4453-923B-22B821CFEC2B}">
      <dgm:prSet/>
      <dgm:spPr/>
      <dgm:t>
        <a:bodyPr/>
        <a:lstStyle/>
        <a:p>
          <a:endParaRPr lang="en-US"/>
        </a:p>
      </dgm:t>
    </dgm:pt>
    <dgm:pt modelId="{3892A760-E77B-4A3C-8018-CE2F3EA124F8}" type="sibTrans" cxnId="{31648690-33AB-4453-923B-22B821CFEC2B}">
      <dgm:prSet/>
      <dgm:spPr/>
      <dgm:t>
        <a:bodyPr/>
        <a:lstStyle/>
        <a:p>
          <a:endParaRPr lang="en-US"/>
        </a:p>
      </dgm:t>
    </dgm:pt>
    <dgm:pt modelId="{588AE4B0-0851-4F7B-9969-BA9ADCCC0220}">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HOW</a:t>
          </a:r>
        </a:p>
      </dgm:t>
    </dgm:pt>
    <dgm:pt modelId="{365BC8DF-C9FF-4E49-96C7-93AC23DE15B7}" type="parTrans" cxnId="{2E2DD7D9-23C6-4962-9A56-429F442F1FB6}">
      <dgm:prSet/>
      <dgm:spPr/>
      <dgm:t>
        <a:bodyPr/>
        <a:lstStyle/>
        <a:p>
          <a:endParaRPr lang="en-US"/>
        </a:p>
      </dgm:t>
    </dgm:pt>
    <dgm:pt modelId="{DE452A02-B220-49F4-8494-499A35A8BC59}" type="sibTrans" cxnId="{2E2DD7D9-23C6-4962-9A56-429F442F1FB6}">
      <dgm:prSet/>
      <dgm:spPr/>
      <dgm:t>
        <a:bodyPr/>
        <a:lstStyle/>
        <a:p>
          <a:endParaRPr lang="en-US"/>
        </a:p>
      </dgm:t>
    </dgm:pt>
    <dgm:pt modelId="{735F2C79-9D48-40D8-ABE0-DC2DA02A05D0}">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When analyzing the athletes bike data, Reese’s file in terms of average power looks very similar to Blake’s and Braxton’s. </a:t>
          </a:r>
          <a:endParaRPr lang="en-US" dirty="0"/>
        </a:p>
      </dgm:t>
    </dgm:pt>
    <dgm:pt modelId="{A6639ADE-B296-4AD9-838B-E18576D8977D}" type="parTrans" cxnId="{1C323639-914C-4C56-BFC9-9C18FC598A11}">
      <dgm:prSet/>
      <dgm:spPr/>
      <dgm:t>
        <a:bodyPr/>
        <a:lstStyle/>
        <a:p>
          <a:endParaRPr lang="en-US"/>
        </a:p>
      </dgm:t>
    </dgm:pt>
    <dgm:pt modelId="{A4A4E2F1-A584-4E52-B5AA-566DA20FB1EB}" type="sibTrans" cxnId="{1C323639-914C-4C56-BFC9-9C18FC598A11}">
      <dgm:prSet/>
      <dgm:spPr/>
      <dgm:t>
        <a:bodyPr/>
        <a:lstStyle/>
        <a:p>
          <a:endParaRPr lang="en-US"/>
        </a:p>
      </dgm:t>
    </dgm:pt>
    <dgm:pt modelId="{DCA40B36-58A1-42CE-AA94-473A92489042}">
      <dgm:prSet/>
      <dgm:spPr>
        <a:solidFill>
          <a:srgbClr val="002060"/>
        </a:solidFill>
      </dgm:spPr>
      <dgm:t>
        <a:bodyPr/>
        <a:lstStyle/>
        <a:p>
          <a:r>
            <a:rPr lang="en-US" dirty="0">
              <a:latin typeface="Arial" panose="020B0604020202020204" pitchFamily="34" charset="0"/>
              <a:cs typeface="Arial" panose="020B0604020202020204" pitchFamily="34" charset="0"/>
            </a:rPr>
            <a:t>WHY</a:t>
          </a:r>
        </a:p>
      </dgm:t>
    </dgm:pt>
    <dgm:pt modelId="{A749B417-46F5-40CB-BDD4-E0FC7F3A944E}" type="parTrans" cxnId="{2E4AC127-0333-43E1-ABB2-C8A1DC219A25}">
      <dgm:prSet/>
      <dgm:spPr/>
      <dgm:t>
        <a:bodyPr/>
        <a:lstStyle/>
        <a:p>
          <a:endParaRPr lang="en-US"/>
        </a:p>
      </dgm:t>
    </dgm:pt>
    <dgm:pt modelId="{CFCF54CB-8CB5-43CB-9C75-7916B27CD267}" type="sibTrans" cxnId="{2E4AC127-0333-43E1-ABB2-C8A1DC219A25}">
      <dgm:prSet/>
      <dgm:spPr/>
      <dgm:t>
        <a:bodyPr/>
        <a:lstStyle/>
        <a:p>
          <a:endParaRPr lang="en-US"/>
        </a:p>
      </dgm:t>
    </dgm:pt>
    <dgm:pt modelId="{0E975F9B-2DBE-4299-9DB8-4D28EDBD5994}">
      <dgm:prSe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This is important because without this data we might have believed Reese to have lost significant run fitness, whereas he spiked his lactate by surging over 600W several times due to pack positioning</a:t>
          </a:r>
          <a:endParaRPr lang="en-US" dirty="0"/>
        </a:p>
      </dgm:t>
    </dgm:pt>
    <dgm:pt modelId="{0AF97C5F-2C54-46F3-B651-D22AE173148C}" type="parTrans" cxnId="{BE911A0D-256A-48FA-9DD3-9D355067F6C4}">
      <dgm:prSet/>
      <dgm:spPr/>
      <dgm:t>
        <a:bodyPr/>
        <a:lstStyle/>
        <a:p>
          <a:endParaRPr lang="en-US"/>
        </a:p>
      </dgm:t>
    </dgm:pt>
    <dgm:pt modelId="{DD0B5501-CB2D-4094-89AF-81410246E019}" type="sibTrans" cxnId="{BE911A0D-256A-48FA-9DD3-9D355067F6C4}">
      <dgm:prSet/>
      <dgm:spPr/>
      <dgm:t>
        <a:bodyPr/>
        <a:lstStyle/>
        <a:p>
          <a:endParaRPr lang="en-US"/>
        </a:p>
      </dgm:t>
    </dgm:pt>
    <dgm:pt modelId="{5080F913-0EBB-44C8-AF0A-1E2332E40B9A}">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These athletes have similar metabolic profiles; however historically Reese Vannerson has been the top runner</a:t>
          </a:r>
          <a:endParaRPr lang="en-US" dirty="0"/>
        </a:p>
      </dgm:t>
    </dgm:pt>
    <dgm:pt modelId="{B25F37BB-3914-4A36-8138-C8AAF7D06639}" type="parTrans" cxnId="{52994A35-9EC2-4007-8106-059ADEC0064B}">
      <dgm:prSet/>
      <dgm:spPr/>
      <dgm:t>
        <a:bodyPr/>
        <a:lstStyle/>
        <a:p>
          <a:endParaRPr lang="en-US"/>
        </a:p>
      </dgm:t>
    </dgm:pt>
    <dgm:pt modelId="{B47DD85C-087E-46EC-8B75-072664347A7A}" type="sibTrans" cxnId="{52994A35-9EC2-4007-8106-059ADEC0064B}">
      <dgm:prSet/>
      <dgm:spPr/>
      <dgm:t>
        <a:bodyPr/>
        <a:lstStyle/>
        <a:p>
          <a:endParaRPr lang="en-US"/>
        </a:p>
      </dgm:t>
    </dgm:pt>
    <dgm:pt modelId="{45563957-D794-45F0-AA4A-F08FA04E2DCB}">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Yet, he struggled on the run and finished 3</a:t>
          </a:r>
          <a:r>
            <a:rPr lang="en-US" baseline="30000" dirty="0">
              <a:solidFill>
                <a:schemeClr val="accent4">
                  <a:lumMod val="50000"/>
                </a:schemeClr>
              </a:solidFill>
              <a:latin typeface="Arial" panose="020B0604020202020204" pitchFamily="34" charset="0"/>
              <a:cs typeface="Arial" panose="020B0604020202020204" pitchFamily="34" charset="0"/>
            </a:rPr>
            <a:t>rd</a:t>
          </a:r>
          <a:r>
            <a:rPr lang="en-US" dirty="0">
              <a:solidFill>
                <a:schemeClr val="accent4">
                  <a:lumMod val="50000"/>
                </a:schemeClr>
              </a:solidFill>
              <a:latin typeface="Arial" panose="020B0604020202020204" pitchFamily="34" charset="0"/>
              <a:cs typeface="Arial" panose="020B0604020202020204" pitchFamily="34" charset="0"/>
            </a:rPr>
            <a:t> among the group</a:t>
          </a:r>
          <a:r>
            <a:rPr lang="en-US" dirty="0"/>
            <a:t> </a:t>
          </a:r>
        </a:p>
      </dgm:t>
    </dgm:pt>
    <dgm:pt modelId="{0ACB52F2-9AE5-46BF-867D-BC3B77BE8CEB}" type="parTrans" cxnId="{4A44A215-72F0-4E3D-A6FF-F859794ECAE2}">
      <dgm:prSet/>
      <dgm:spPr/>
      <dgm:t>
        <a:bodyPr/>
        <a:lstStyle/>
        <a:p>
          <a:endParaRPr lang="en-US"/>
        </a:p>
      </dgm:t>
    </dgm:pt>
    <dgm:pt modelId="{F80A7DB1-EAFB-4185-A2F8-7E722B7B64D6}" type="sibTrans" cxnId="{4A44A215-72F0-4E3D-A6FF-F859794ECAE2}">
      <dgm:prSet/>
      <dgm:spPr/>
      <dgm:t>
        <a:bodyPr/>
        <a:lstStyle/>
        <a:p>
          <a:endParaRPr lang="en-US"/>
        </a:p>
      </dgm:t>
    </dgm:pt>
    <dgm:pt modelId="{70358421-E6CB-492B-AD27-92F86ECCD3B5}">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However, using advanced simulation techniques we model out Reese’s Blood Lactate levels and see that he finished the bike far above his threshold. This led to poor run performance</a:t>
          </a:r>
          <a:endParaRPr lang="en-US" dirty="0"/>
        </a:p>
      </dgm:t>
    </dgm:pt>
    <dgm:pt modelId="{F5B2C479-3FD0-4839-A67B-E6DE379FD480}" type="parTrans" cxnId="{996A1FD7-BCE3-4BA3-AA8A-7C038FE938D2}">
      <dgm:prSet/>
      <dgm:spPr/>
      <dgm:t>
        <a:bodyPr/>
        <a:lstStyle/>
        <a:p>
          <a:endParaRPr lang="en-US"/>
        </a:p>
      </dgm:t>
    </dgm:pt>
    <dgm:pt modelId="{062C627A-835B-48E5-B6BB-BA76F79CE4E0}" type="sibTrans" cxnId="{996A1FD7-BCE3-4BA3-AA8A-7C038FE938D2}">
      <dgm:prSet/>
      <dgm:spPr/>
      <dgm:t>
        <a:bodyPr/>
        <a:lstStyle/>
        <a:p>
          <a:endParaRPr lang="en-US"/>
        </a:p>
      </dgm:t>
    </dgm:pt>
    <dgm:pt modelId="{D69C6E8A-7306-4A76-A196-8C891F18E961}" type="pres">
      <dgm:prSet presAssocID="{22C5DFA4-ED7B-4C04-88BC-ABD4D2FD95E7}" presName="Name0" presStyleCnt="0">
        <dgm:presLayoutVars>
          <dgm:dir/>
          <dgm:animLvl val="lvl"/>
          <dgm:resizeHandles val="exact"/>
        </dgm:presLayoutVars>
      </dgm:prSet>
      <dgm:spPr/>
    </dgm:pt>
    <dgm:pt modelId="{BC05AC00-003D-4F2A-B24D-54A98D232339}" type="pres">
      <dgm:prSet presAssocID="{FF30C49D-0962-4298-9700-248383EC1DA2}" presName="linNode" presStyleCnt="0"/>
      <dgm:spPr/>
    </dgm:pt>
    <dgm:pt modelId="{FEDADBAC-82B3-4694-B907-348AFFAB5076}" type="pres">
      <dgm:prSet presAssocID="{FF30C49D-0962-4298-9700-248383EC1DA2}" presName="parentText" presStyleLbl="node1" presStyleIdx="0" presStyleCnt="4">
        <dgm:presLayoutVars>
          <dgm:chMax val="1"/>
          <dgm:bulletEnabled val="1"/>
        </dgm:presLayoutVars>
      </dgm:prSet>
      <dgm:spPr/>
    </dgm:pt>
    <dgm:pt modelId="{59334AC8-CF18-4D9E-9877-B7512B2EF4A8}" type="pres">
      <dgm:prSet presAssocID="{FF30C49D-0962-4298-9700-248383EC1DA2}" presName="descendantText" presStyleLbl="alignAccFollowNode1" presStyleIdx="0" presStyleCnt="4">
        <dgm:presLayoutVars>
          <dgm:bulletEnabled val="1"/>
        </dgm:presLayoutVars>
      </dgm:prSet>
      <dgm:spPr/>
    </dgm:pt>
    <dgm:pt modelId="{E42D15D6-ED2E-4BA0-93EC-237F925F2BE7}" type="pres">
      <dgm:prSet presAssocID="{60214B19-A013-48D6-AADF-E1B667B04F1E}" presName="sp" presStyleCnt="0"/>
      <dgm:spPr/>
    </dgm:pt>
    <dgm:pt modelId="{63F77796-ED88-4B90-9606-2C23050D1744}" type="pres">
      <dgm:prSet presAssocID="{24D26040-8F49-45EC-B51B-1B7CAE4A519E}" presName="linNode" presStyleCnt="0"/>
      <dgm:spPr/>
    </dgm:pt>
    <dgm:pt modelId="{E192A2F3-7062-43B0-B849-36C4989D0B62}" type="pres">
      <dgm:prSet presAssocID="{24D26040-8F49-45EC-B51B-1B7CAE4A519E}" presName="parentText" presStyleLbl="node1" presStyleIdx="1" presStyleCnt="4">
        <dgm:presLayoutVars>
          <dgm:chMax val="1"/>
          <dgm:bulletEnabled val="1"/>
        </dgm:presLayoutVars>
      </dgm:prSet>
      <dgm:spPr/>
    </dgm:pt>
    <dgm:pt modelId="{5822CFBB-8D35-4D34-9223-38ED734F2123}" type="pres">
      <dgm:prSet presAssocID="{24D26040-8F49-45EC-B51B-1B7CAE4A519E}" presName="descendantText" presStyleLbl="alignAccFollowNode1" presStyleIdx="1" presStyleCnt="4" custLinFactNeighborX="-822" custLinFactNeighborY="0">
        <dgm:presLayoutVars>
          <dgm:bulletEnabled val="1"/>
        </dgm:presLayoutVars>
      </dgm:prSet>
      <dgm:spPr/>
    </dgm:pt>
    <dgm:pt modelId="{65BA536A-D55C-420F-AC06-EE0584395A12}" type="pres">
      <dgm:prSet presAssocID="{CF64D240-9F86-451E-B707-BBB693F05CE6}" presName="sp" presStyleCnt="0"/>
      <dgm:spPr/>
    </dgm:pt>
    <dgm:pt modelId="{D4146CB1-D87B-45D5-8BEB-F1CE813733A8}" type="pres">
      <dgm:prSet presAssocID="{588AE4B0-0851-4F7B-9969-BA9ADCCC0220}" presName="linNode" presStyleCnt="0"/>
      <dgm:spPr/>
    </dgm:pt>
    <dgm:pt modelId="{213EE9DB-A99F-4C75-9D86-676C05510BBD}" type="pres">
      <dgm:prSet presAssocID="{588AE4B0-0851-4F7B-9969-BA9ADCCC0220}" presName="parentText" presStyleLbl="node1" presStyleIdx="2" presStyleCnt="4">
        <dgm:presLayoutVars>
          <dgm:chMax val="1"/>
          <dgm:bulletEnabled val="1"/>
        </dgm:presLayoutVars>
      </dgm:prSet>
      <dgm:spPr/>
    </dgm:pt>
    <dgm:pt modelId="{B8247B09-E638-4580-BCE6-1A71E4551CD8}" type="pres">
      <dgm:prSet presAssocID="{588AE4B0-0851-4F7B-9969-BA9ADCCC0220}" presName="descendantText" presStyleLbl="alignAccFollowNode1" presStyleIdx="2" presStyleCnt="4">
        <dgm:presLayoutVars>
          <dgm:bulletEnabled val="1"/>
        </dgm:presLayoutVars>
      </dgm:prSet>
      <dgm:spPr/>
    </dgm:pt>
    <dgm:pt modelId="{8E2BD534-1132-40CD-ABF5-395D8B5575F4}" type="pres">
      <dgm:prSet presAssocID="{DE452A02-B220-49F4-8494-499A35A8BC59}" presName="sp" presStyleCnt="0"/>
      <dgm:spPr/>
    </dgm:pt>
    <dgm:pt modelId="{F415ECD8-D421-4F19-B285-41CA6785EBDF}" type="pres">
      <dgm:prSet presAssocID="{DCA40B36-58A1-42CE-AA94-473A92489042}" presName="linNode" presStyleCnt="0"/>
      <dgm:spPr/>
    </dgm:pt>
    <dgm:pt modelId="{372911A9-4B1B-441E-A0E7-4B8EB43245DF}" type="pres">
      <dgm:prSet presAssocID="{DCA40B36-58A1-42CE-AA94-473A92489042}" presName="parentText" presStyleLbl="node1" presStyleIdx="3" presStyleCnt="4">
        <dgm:presLayoutVars>
          <dgm:chMax val="1"/>
          <dgm:bulletEnabled val="1"/>
        </dgm:presLayoutVars>
      </dgm:prSet>
      <dgm:spPr/>
    </dgm:pt>
    <dgm:pt modelId="{07FCD6B8-B206-4707-8B07-790FCD92F1F6}" type="pres">
      <dgm:prSet presAssocID="{DCA40B36-58A1-42CE-AA94-473A92489042}" presName="descendantText" presStyleLbl="alignAccFollowNode1" presStyleIdx="3" presStyleCnt="4">
        <dgm:presLayoutVars>
          <dgm:bulletEnabled val="1"/>
        </dgm:presLayoutVars>
      </dgm:prSet>
      <dgm:spPr/>
    </dgm:pt>
  </dgm:ptLst>
  <dgm:cxnLst>
    <dgm:cxn modelId="{BE911A0D-256A-48FA-9DD3-9D355067F6C4}" srcId="{DCA40B36-58A1-42CE-AA94-473A92489042}" destId="{0E975F9B-2DBE-4299-9DB8-4D28EDBD5994}" srcOrd="0" destOrd="0" parTransId="{0AF97C5F-2C54-46F3-B651-D22AE173148C}" sibTransId="{DD0B5501-CB2D-4094-89AF-81410246E019}"/>
    <dgm:cxn modelId="{4A44A215-72F0-4E3D-A6FF-F859794ECAE2}" srcId="{24D26040-8F49-45EC-B51B-1B7CAE4A519E}" destId="{45563957-D794-45F0-AA4A-F08FA04E2DCB}" srcOrd="1" destOrd="0" parTransId="{0ACB52F2-9AE5-46BF-867D-BC3B77BE8CEB}" sibTransId="{F80A7DB1-EAFB-4185-A2F8-7E722B7B64D6}"/>
    <dgm:cxn modelId="{90363C23-4CC6-4DD5-AF21-B0CA0FFD5EC0}" srcId="{22C5DFA4-ED7B-4C04-88BC-ABD4D2FD95E7}" destId="{FF30C49D-0962-4298-9700-248383EC1DA2}" srcOrd="0" destOrd="0" parTransId="{A9939946-D4B6-4760-BEFF-0D8B03EB5699}" sibTransId="{60214B19-A013-48D6-AADF-E1B667B04F1E}"/>
    <dgm:cxn modelId="{2E4AC127-0333-43E1-ABB2-C8A1DC219A25}" srcId="{22C5DFA4-ED7B-4C04-88BC-ABD4D2FD95E7}" destId="{DCA40B36-58A1-42CE-AA94-473A92489042}" srcOrd="3" destOrd="0" parTransId="{A749B417-46F5-40CB-BDD4-E0FC7F3A944E}" sibTransId="{CFCF54CB-8CB5-43CB-9C75-7916B27CD267}"/>
    <dgm:cxn modelId="{AA869728-E85C-4FD0-BA99-BA51A59F60BA}" type="presOf" srcId="{DCA40B36-58A1-42CE-AA94-473A92489042}" destId="{372911A9-4B1B-441E-A0E7-4B8EB43245DF}" srcOrd="0" destOrd="0" presId="urn:microsoft.com/office/officeart/2005/8/layout/vList5"/>
    <dgm:cxn modelId="{2E00C128-3D32-40F8-BADA-600EED507D25}" type="presOf" srcId="{7E963B29-084D-4B97-AC2F-A901CC064E5C}" destId="{5822CFBB-8D35-4D34-9223-38ED734F2123}" srcOrd="0" destOrd="0" presId="urn:microsoft.com/office/officeart/2005/8/layout/vList5"/>
    <dgm:cxn modelId="{E502F62E-18A7-4373-8E3F-0D1F0D02F6C3}" srcId="{FF30C49D-0962-4298-9700-248383EC1DA2}" destId="{9BB53ED3-C846-49BD-9160-D9FC8BA77CDE}" srcOrd="0" destOrd="0" parTransId="{7DA3E9DF-BA6B-4741-8093-020A70F09A88}" sibTransId="{85279933-9082-4FCD-B70A-8BE4C87E1F52}"/>
    <dgm:cxn modelId="{52994A35-9EC2-4007-8106-059ADEC0064B}" srcId="{FF30C49D-0962-4298-9700-248383EC1DA2}" destId="{5080F913-0EBB-44C8-AF0A-1E2332E40B9A}" srcOrd="1" destOrd="0" parTransId="{B25F37BB-3914-4A36-8138-C8AAF7D06639}" sibTransId="{B47DD85C-087E-46EC-8B75-072664347A7A}"/>
    <dgm:cxn modelId="{1C323639-914C-4C56-BFC9-9C18FC598A11}" srcId="{588AE4B0-0851-4F7B-9969-BA9ADCCC0220}" destId="{735F2C79-9D48-40D8-ABE0-DC2DA02A05D0}" srcOrd="0" destOrd="0" parTransId="{A6639ADE-B296-4AD9-838B-E18576D8977D}" sibTransId="{A4A4E2F1-A584-4E52-B5AA-566DA20FB1EB}"/>
    <dgm:cxn modelId="{16F16953-B159-4607-AAB8-0D87C7A6B680}" type="presOf" srcId="{735F2C79-9D48-40D8-ABE0-DC2DA02A05D0}" destId="{B8247B09-E638-4580-BCE6-1A71E4551CD8}" srcOrd="0" destOrd="0" presId="urn:microsoft.com/office/officeart/2005/8/layout/vList5"/>
    <dgm:cxn modelId="{0DB5EE59-C004-4B55-95C0-B7C4FF5448D3}" type="presOf" srcId="{22C5DFA4-ED7B-4C04-88BC-ABD4D2FD95E7}" destId="{D69C6E8A-7306-4A76-A196-8C891F18E961}" srcOrd="0" destOrd="0" presId="urn:microsoft.com/office/officeart/2005/8/layout/vList5"/>
    <dgm:cxn modelId="{8CEB387B-E458-4A1A-BFCA-D24CC0649185}" type="presOf" srcId="{45563957-D794-45F0-AA4A-F08FA04E2DCB}" destId="{5822CFBB-8D35-4D34-9223-38ED734F2123}" srcOrd="0" destOrd="1" presId="urn:microsoft.com/office/officeart/2005/8/layout/vList5"/>
    <dgm:cxn modelId="{432D6B82-3288-4A89-B5E0-13F4BF01A8E1}" srcId="{22C5DFA4-ED7B-4C04-88BC-ABD4D2FD95E7}" destId="{24D26040-8F49-45EC-B51B-1B7CAE4A519E}" srcOrd="1" destOrd="0" parTransId="{0D5DD8B7-68A8-4342-BA70-58DCD14B7043}" sibTransId="{CF64D240-9F86-451E-B707-BBB693F05CE6}"/>
    <dgm:cxn modelId="{66687090-71C0-4449-9A6D-0BF41ADB9EFF}" type="presOf" srcId="{9BB53ED3-C846-49BD-9160-D9FC8BA77CDE}" destId="{59334AC8-CF18-4D9E-9877-B7512B2EF4A8}" srcOrd="0" destOrd="0" presId="urn:microsoft.com/office/officeart/2005/8/layout/vList5"/>
    <dgm:cxn modelId="{31648690-33AB-4453-923B-22B821CFEC2B}" srcId="{24D26040-8F49-45EC-B51B-1B7CAE4A519E}" destId="{7E963B29-084D-4B97-AC2F-A901CC064E5C}" srcOrd="0" destOrd="0" parTransId="{DA1CD97D-718D-4B4B-80DE-82183C25DAB3}" sibTransId="{3892A760-E77B-4A3C-8018-CE2F3EA124F8}"/>
    <dgm:cxn modelId="{6A977AA2-EE6D-402B-87FA-3422259CCF3B}" type="presOf" srcId="{FF30C49D-0962-4298-9700-248383EC1DA2}" destId="{FEDADBAC-82B3-4694-B907-348AFFAB5076}" srcOrd="0" destOrd="0" presId="urn:microsoft.com/office/officeart/2005/8/layout/vList5"/>
    <dgm:cxn modelId="{237789A8-2206-4DC7-81B9-43955F1C296E}" type="presOf" srcId="{70358421-E6CB-492B-AD27-92F86ECCD3B5}" destId="{B8247B09-E638-4580-BCE6-1A71E4551CD8}" srcOrd="0" destOrd="1" presId="urn:microsoft.com/office/officeart/2005/8/layout/vList5"/>
    <dgm:cxn modelId="{91CF90C5-342F-4A30-98FE-49068F4CA3E7}" type="presOf" srcId="{0E975F9B-2DBE-4299-9DB8-4D28EDBD5994}" destId="{07FCD6B8-B206-4707-8B07-790FCD92F1F6}" srcOrd="0" destOrd="0" presId="urn:microsoft.com/office/officeart/2005/8/layout/vList5"/>
    <dgm:cxn modelId="{1DDF03CD-D997-46D1-89A2-3153A467A7F4}" type="presOf" srcId="{24D26040-8F49-45EC-B51B-1B7CAE4A519E}" destId="{E192A2F3-7062-43B0-B849-36C4989D0B62}" srcOrd="0" destOrd="0" presId="urn:microsoft.com/office/officeart/2005/8/layout/vList5"/>
    <dgm:cxn modelId="{996A1FD7-BCE3-4BA3-AA8A-7C038FE938D2}" srcId="{588AE4B0-0851-4F7B-9969-BA9ADCCC0220}" destId="{70358421-E6CB-492B-AD27-92F86ECCD3B5}" srcOrd="1" destOrd="0" parTransId="{F5B2C479-3FD0-4839-A67B-E6DE379FD480}" sibTransId="{062C627A-835B-48E5-B6BB-BA76F79CE4E0}"/>
    <dgm:cxn modelId="{2E2DD7D9-23C6-4962-9A56-429F442F1FB6}" srcId="{22C5DFA4-ED7B-4C04-88BC-ABD4D2FD95E7}" destId="{588AE4B0-0851-4F7B-9969-BA9ADCCC0220}" srcOrd="2" destOrd="0" parTransId="{365BC8DF-C9FF-4E49-96C7-93AC23DE15B7}" sibTransId="{DE452A02-B220-49F4-8494-499A35A8BC59}"/>
    <dgm:cxn modelId="{E0E376F1-3D2E-43A2-A739-13AC680CD956}" type="presOf" srcId="{5080F913-0EBB-44C8-AF0A-1E2332E40B9A}" destId="{59334AC8-CF18-4D9E-9877-B7512B2EF4A8}" srcOrd="0" destOrd="1" presId="urn:microsoft.com/office/officeart/2005/8/layout/vList5"/>
    <dgm:cxn modelId="{1304EFFD-033C-40C6-AF16-0720A65DB020}" type="presOf" srcId="{588AE4B0-0851-4F7B-9969-BA9ADCCC0220}" destId="{213EE9DB-A99F-4C75-9D86-676C05510BBD}" srcOrd="0" destOrd="0" presId="urn:microsoft.com/office/officeart/2005/8/layout/vList5"/>
    <dgm:cxn modelId="{28BCD05B-C40E-4E87-A7CB-45D38737889C}" type="presParOf" srcId="{D69C6E8A-7306-4A76-A196-8C891F18E961}" destId="{BC05AC00-003D-4F2A-B24D-54A98D232339}" srcOrd="0" destOrd="0" presId="urn:microsoft.com/office/officeart/2005/8/layout/vList5"/>
    <dgm:cxn modelId="{C7C2AC02-E758-4E70-BBCF-9AE1EBFF479D}" type="presParOf" srcId="{BC05AC00-003D-4F2A-B24D-54A98D232339}" destId="{FEDADBAC-82B3-4694-B907-348AFFAB5076}" srcOrd="0" destOrd="0" presId="urn:microsoft.com/office/officeart/2005/8/layout/vList5"/>
    <dgm:cxn modelId="{31416196-CFE7-404C-95BD-D9573804A3DD}" type="presParOf" srcId="{BC05AC00-003D-4F2A-B24D-54A98D232339}" destId="{59334AC8-CF18-4D9E-9877-B7512B2EF4A8}" srcOrd="1" destOrd="0" presId="urn:microsoft.com/office/officeart/2005/8/layout/vList5"/>
    <dgm:cxn modelId="{95EC51DA-F715-4AA3-A6F3-0179D98A1153}" type="presParOf" srcId="{D69C6E8A-7306-4A76-A196-8C891F18E961}" destId="{E42D15D6-ED2E-4BA0-93EC-237F925F2BE7}" srcOrd="1" destOrd="0" presId="urn:microsoft.com/office/officeart/2005/8/layout/vList5"/>
    <dgm:cxn modelId="{34F7E0E7-BCD5-4752-8F9F-610ED7408DD6}" type="presParOf" srcId="{D69C6E8A-7306-4A76-A196-8C891F18E961}" destId="{63F77796-ED88-4B90-9606-2C23050D1744}" srcOrd="2" destOrd="0" presId="urn:microsoft.com/office/officeart/2005/8/layout/vList5"/>
    <dgm:cxn modelId="{106D86DD-209E-4D83-A74F-6D82B5C7EF95}" type="presParOf" srcId="{63F77796-ED88-4B90-9606-2C23050D1744}" destId="{E192A2F3-7062-43B0-B849-36C4989D0B62}" srcOrd="0" destOrd="0" presId="urn:microsoft.com/office/officeart/2005/8/layout/vList5"/>
    <dgm:cxn modelId="{EE999BB3-9A6F-4FA7-BDE9-719957FFE30C}" type="presParOf" srcId="{63F77796-ED88-4B90-9606-2C23050D1744}" destId="{5822CFBB-8D35-4D34-9223-38ED734F2123}" srcOrd="1" destOrd="0" presId="urn:microsoft.com/office/officeart/2005/8/layout/vList5"/>
    <dgm:cxn modelId="{F8D30C15-6C40-44E8-8A1C-080C66DF977D}" type="presParOf" srcId="{D69C6E8A-7306-4A76-A196-8C891F18E961}" destId="{65BA536A-D55C-420F-AC06-EE0584395A12}" srcOrd="3" destOrd="0" presId="urn:microsoft.com/office/officeart/2005/8/layout/vList5"/>
    <dgm:cxn modelId="{3BCDDD23-1014-4E90-A503-AEF2DD5DF32E}" type="presParOf" srcId="{D69C6E8A-7306-4A76-A196-8C891F18E961}" destId="{D4146CB1-D87B-45D5-8BEB-F1CE813733A8}" srcOrd="4" destOrd="0" presId="urn:microsoft.com/office/officeart/2005/8/layout/vList5"/>
    <dgm:cxn modelId="{D31E87F6-9C84-4C76-BB8C-905E69AA93CA}" type="presParOf" srcId="{D4146CB1-D87B-45D5-8BEB-F1CE813733A8}" destId="{213EE9DB-A99F-4C75-9D86-676C05510BBD}" srcOrd="0" destOrd="0" presId="urn:microsoft.com/office/officeart/2005/8/layout/vList5"/>
    <dgm:cxn modelId="{00946644-A14A-4D3C-836F-C75D83B7D685}" type="presParOf" srcId="{D4146CB1-D87B-45D5-8BEB-F1CE813733A8}" destId="{B8247B09-E638-4580-BCE6-1A71E4551CD8}" srcOrd="1" destOrd="0" presId="urn:microsoft.com/office/officeart/2005/8/layout/vList5"/>
    <dgm:cxn modelId="{ACF112D3-CB56-4D72-AE25-832600B34F84}" type="presParOf" srcId="{D69C6E8A-7306-4A76-A196-8C891F18E961}" destId="{8E2BD534-1132-40CD-ABF5-395D8B5575F4}" srcOrd="5" destOrd="0" presId="urn:microsoft.com/office/officeart/2005/8/layout/vList5"/>
    <dgm:cxn modelId="{8AEA4AE2-A81A-40A0-8498-71419F88736B}" type="presParOf" srcId="{D69C6E8A-7306-4A76-A196-8C891F18E961}" destId="{F415ECD8-D421-4F19-B285-41CA6785EBDF}" srcOrd="6" destOrd="0" presId="urn:microsoft.com/office/officeart/2005/8/layout/vList5"/>
    <dgm:cxn modelId="{0B55655D-5556-4E91-85CC-62B27CCBC2CA}" type="presParOf" srcId="{F415ECD8-D421-4F19-B285-41CA6785EBDF}" destId="{372911A9-4B1B-441E-A0E7-4B8EB43245DF}" srcOrd="0" destOrd="0" presId="urn:microsoft.com/office/officeart/2005/8/layout/vList5"/>
    <dgm:cxn modelId="{D424CF1D-7D6F-48F3-847B-02D5F1DA03DF}" type="presParOf" srcId="{F415ECD8-D421-4F19-B285-41CA6785EBDF}" destId="{07FCD6B8-B206-4707-8B07-790FCD92F1F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D7ED02-A0A9-4141-883B-D87AC3FA42A9}" type="doc">
      <dgm:prSet loTypeId="urn:microsoft.com/office/officeart/2008/layout/TitledPictureBlocks" loCatId="picture" qsTypeId="urn:microsoft.com/office/officeart/2005/8/quickstyle/simple1" qsCatId="simple" csTypeId="urn:microsoft.com/office/officeart/2005/8/colors/accent1_2" csCatId="accent1" phldr="1"/>
      <dgm:spPr/>
    </dgm:pt>
    <dgm:pt modelId="{ED81E11F-982A-4BF2-A0A1-5B16BA8C1AA9}">
      <dgm:prSet phldrT="[Text]" custT="1"/>
      <dgm:spPr>
        <a:solidFill>
          <a:srgbClr val="002060"/>
        </a:solidFill>
        <a:ln>
          <a:solidFill>
            <a:srgbClr val="002060"/>
          </a:solidFill>
        </a:ln>
      </dgm:spPr>
      <dgm:t>
        <a:bodyPr/>
        <a:lstStyle/>
        <a:p>
          <a:r>
            <a:rPr lang="en-US" sz="1600" dirty="0">
              <a:latin typeface="Arial" panose="020B0604020202020204" pitchFamily="34" charset="0"/>
              <a:cs typeface="Arial" panose="020B0604020202020204" pitchFamily="34" charset="0"/>
            </a:rPr>
            <a:t>8 WTO Elite Male Category Wins</a:t>
          </a:r>
        </a:p>
      </dgm:t>
    </dgm:pt>
    <dgm:pt modelId="{EB3074F7-9DB1-41E3-A099-0E1BFDED3428}" type="parTrans" cxnId="{A773CE39-1943-4E04-AB45-166E5E44A01D}">
      <dgm:prSet/>
      <dgm:spPr/>
      <dgm:t>
        <a:bodyPr/>
        <a:lstStyle/>
        <a:p>
          <a:endParaRPr lang="en-US"/>
        </a:p>
      </dgm:t>
    </dgm:pt>
    <dgm:pt modelId="{34A00F6A-9D86-4E51-93E1-A2EDB230F294}" type="sibTrans" cxnId="{A773CE39-1943-4E04-AB45-166E5E44A01D}">
      <dgm:prSet/>
      <dgm:spPr/>
      <dgm:t>
        <a:bodyPr/>
        <a:lstStyle/>
        <a:p>
          <a:endParaRPr lang="en-US"/>
        </a:p>
      </dgm:t>
    </dgm:pt>
    <dgm:pt modelId="{3973145F-192B-4A42-B70B-635C75FDC831}">
      <dgm:prSet phldrT="[Text]" custT="1"/>
      <dgm:spPr>
        <a:solidFill>
          <a:srgbClr val="002060"/>
        </a:solidFill>
        <a:ln>
          <a:solidFill>
            <a:srgbClr val="002060"/>
          </a:solidFill>
        </a:ln>
      </dgm:spPr>
      <dgm:t>
        <a:bodyPr/>
        <a:lstStyle/>
        <a:p>
          <a:r>
            <a:rPr lang="en-US" sz="1600" dirty="0">
              <a:latin typeface="Arial" panose="020B0604020202020204" pitchFamily="34" charset="0"/>
              <a:cs typeface="Arial" panose="020B0604020202020204" pitchFamily="34" charset="0"/>
            </a:rPr>
            <a:t>15 WTO Elite Male Podiums</a:t>
          </a:r>
        </a:p>
      </dgm:t>
    </dgm:pt>
    <dgm:pt modelId="{03C9690B-3D60-4A61-884F-A1C1E282B992}" type="parTrans" cxnId="{DA1D8511-EFE6-484A-A5D8-0EE6D568E154}">
      <dgm:prSet/>
      <dgm:spPr/>
      <dgm:t>
        <a:bodyPr/>
        <a:lstStyle/>
        <a:p>
          <a:endParaRPr lang="en-US"/>
        </a:p>
      </dgm:t>
    </dgm:pt>
    <dgm:pt modelId="{E446EFD6-02A1-42DB-BE03-23A4B9480840}" type="sibTrans" cxnId="{DA1D8511-EFE6-484A-A5D8-0EE6D568E154}">
      <dgm:prSet/>
      <dgm:spPr/>
      <dgm:t>
        <a:bodyPr/>
        <a:lstStyle/>
        <a:p>
          <a:endParaRPr lang="en-US"/>
        </a:p>
      </dgm:t>
    </dgm:pt>
    <dgm:pt modelId="{CB3CF48D-146D-4BB2-AEC5-C92A32D18433}">
      <dgm:prSet phldrT="[Text]" custT="1"/>
      <dgm:spPr>
        <a:solidFill>
          <a:srgbClr val="002060"/>
        </a:solidFill>
        <a:ln>
          <a:solidFill>
            <a:srgbClr val="002060"/>
          </a:solidFill>
        </a:ln>
      </dgm:spPr>
      <dgm:t>
        <a:bodyPr/>
        <a:lstStyle/>
        <a:p>
          <a:r>
            <a:rPr lang="en-US" sz="1600" dirty="0">
              <a:latin typeface="Arial" panose="020B0604020202020204" pitchFamily="34" charset="0"/>
              <a:cs typeface="Arial" panose="020B0604020202020204" pitchFamily="34" charset="0"/>
            </a:rPr>
            <a:t>USA Junior National Champion</a:t>
          </a:r>
        </a:p>
      </dgm:t>
    </dgm:pt>
    <dgm:pt modelId="{7FE5C384-A055-4DE9-8899-6FB2E30FDA65}" type="parTrans" cxnId="{B5B68BCD-BF87-4089-9EF1-C157BA7E14A3}">
      <dgm:prSet/>
      <dgm:spPr/>
      <dgm:t>
        <a:bodyPr/>
        <a:lstStyle/>
        <a:p>
          <a:endParaRPr lang="en-US"/>
        </a:p>
      </dgm:t>
    </dgm:pt>
    <dgm:pt modelId="{5F0C731D-23B7-47FD-B248-FC15078BB656}" type="sibTrans" cxnId="{B5B68BCD-BF87-4089-9EF1-C157BA7E14A3}">
      <dgm:prSet/>
      <dgm:spPr/>
      <dgm:t>
        <a:bodyPr/>
        <a:lstStyle/>
        <a:p>
          <a:endParaRPr lang="en-US"/>
        </a:p>
      </dgm:t>
    </dgm:pt>
    <dgm:pt modelId="{980CCE15-95B5-4879-A754-35FF7FC4F1E3}">
      <dgm:prSet phldrT="[Text]" custT="1"/>
      <dgm:spPr>
        <a:solidFill>
          <a:srgbClr val="002060"/>
        </a:solidFill>
        <a:ln>
          <a:solidFill>
            <a:srgbClr val="002060"/>
          </a:solidFill>
        </a:ln>
      </dgm:spPr>
      <dgm:t>
        <a:bodyPr/>
        <a:lstStyle/>
        <a:p>
          <a:r>
            <a:rPr lang="en-US" sz="1600" dirty="0">
              <a:latin typeface="Arial" panose="020B0604020202020204" pitchFamily="34" charset="0"/>
              <a:cs typeface="Arial" panose="020B0604020202020204" pitchFamily="34" charset="0"/>
            </a:rPr>
            <a:t>26 Podiums across Mixed Relay, Xterra, and other races</a:t>
          </a:r>
        </a:p>
      </dgm:t>
    </dgm:pt>
    <dgm:pt modelId="{E96F209F-34B4-43C2-94B2-E334928B195C}" type="parTrans" cxnId="{A8446204-1A84-471F-891E-FCBBDA5F13E0}">
      <dgm:prSet/>
      <dgm:spPr/>
      <dgm:t>
        <a:bodyPr/>
        <a:lstStyle/>
        <a:p>
          <a:endParaRPr lang="en-US"/>
        </a:p>
      </dgm:t>
    </dgm:pt>
    <dgm:pt modelId="{9E7B429F-A477-4436-80C8-1C1B7F3917D5}" type="sibTrans" cxnId="{A8446204-1A84-471F-891E-FCBBDA5F13E0}">
      <dgm:prSet/>
      <dgm:spPr/>
      <dgm:t>
        <a:bodyPr/>
        <a:lstStyle/>
        <a:p>
          <a:endParaRPr lang="en-US"/>
        </a:p>
      </dgm:t>
    </dgm:pt>
    <dgm:pt modelId="{A35587C5-EF04-4F8F-9AB0-79810E8583E4}" type="pres">
      <dgm:prSet presAssocID="{6CD7ED02-A0A9-4141-883B-D87AC3FA42A9}" presName="rootNode" presStyleCnt="0">
        <dgm:presLayoutVars>
          <dgm:chMax/>
          <dgm:chPref/>
          <dgm:dir/>
          <dgm:animLvl val="lvl"/>
        </dgm:presLayoutVars>
      </dgm:prSet>
      <dgm:spPr/>
    </dgm:pt>
    <dgm:pt modelId="{AC0011A5-9FCE-41DD-8E88-3A55AA43BCD6}" type="pres">
      <dgm:prSet presAssocID="{ED81E11F-982A-4BF2-A0A1-5B16BA8C1AA9}" presName="composite" presStyleCnt="0"/>
      <dgm:spPr/>
    </dgm:pt>
    <dgm:pt modelId="{30207025-2418-4269-949F-F029307229F0}" type="pres">
      <dgm:prSet presAssocID="{ED81E11F-982A-4BF2-A0A1-5B16BA8C1AA9}" presName="ParentText" presStyleLbl="node1" presStyleIdx="0" presStyleCnt="4" custScaleX="163088" custScaleY="555991" custLinFactY="-363338" custLinFactNeighborY="-400000">
        <dgm:presLayoutVars>
          <dgm:chMax val="1"/>
          <dgm:chPref val="1"/>
          <dgm:bulletEnabled val="1"/>
        </dgm:presLayoutVars>
      </dgm:prSet>
      <dgm:spPr/>
    </dgm:pt>
    <dgm:pt modelId="{722EEB7D-7FC0-437C-9D4F-279CB144B5DD}" type="pres">
      <dgm:prSet presAssocID="{ED81E11F-982A-4BF2-A0A1-5B16BA8C1AA9}" presName="Image" presStyleLbl="bgImgPlace1" presStyleIdx="0" presStyleCnt="4" custScaleX="161051" custScaleY="278084" custLinFactNeighborY="3952"/>
      <dgm:spPr>
        <a:blipFill>
          <a:blip xmlns:r="http://schemas.openxmlformats.org/officeDocument/2006/relationships" r:embed="rId1"/>
          <a:srcRect/>
          <a:stretch>
            <a:fillRect t="-10000" b="-10000"/>
          </a:stretch>
        </a:blipFill>
      </dgm:spPr>
    </dgm:pt>
    <dgm:pt modelId="{5E6500E5-3ABE-42C0-8532-3FFAC1BBBD1A}" type="pres">
      <dgm:prSet presAssocID="{ED81E11F-982A-4BF2-A0A1-5B16BA8C1AA9}" presName="ChildText" presStyleLbl="fgAcc1" presStyleIdx="0" presStyleCnt="0">
        <dgm:presLayoutVars>
          <dgm:chMax val="0"/>
          <dgm:chPref val="0"/>
          <dgm:bulletEnabled val="1"/>
        </dgm:presLayoutVars>
      </dgm:prSet>
      <dgm:spPr/>
    </dgm:pt>
    <dgm:pt modelId="{B8702311-37BC-48CA-B349-379B023FDA4F}" type="pres">
      <dgm:prSet presAssocID="{34A00F6A-9D86-4E51-93E1-A2EDB230F294}" presName="sibTrans" presStyleCnt="0"/>
      <dgm:spPr/>
    </dgm:pt>
    <dgm:pt modelId="{4D0D41D5-8B92-4991-8D33-53E189BF121F}" type="pres">
      <dgm:prSet presAssocID="{3973145F-192B-4A42-B70B-635C75FDC831}" presName="composite" presStyleCnt="0"/>
      <dgm:spPr/>
    </dgm:pt>
    <dgm:pt modelId="{4F0F0489-E751-405C-AC0C-12DB2CB4F4FE}" type="pres">
      <dgm:prSet presAssocID="{3973145F-192B-4A42-B70B-635C75FDC831}" presName="ParentText" presStyleLbl="node1" presStyleIdx="1" presStyleCnt="4" custScaleX="163088" custScaleY="555991" custLinFactY="-363338" custLinFactNeighborY="-400000">
        <dgm:presLayoutVars>
          <dgm:chMax val="1"/>
          <dgm:chPref val="1"/>
          <dgm:bulletEnabled val="1"/>
        </dgm:presLayoutVars>
      </dgm:prSet>
      <dgm:spPr/>
    </dgm:pt>
    <dgm:pt modelId="{552C1D40-BF3F-40BD-96BE-79ADB3C0B184}" type="pres">
      <dgm:prSet presAssocID="{3973145F-192B-4A42-B70B-635C75FDC831}" presName="Image" presStyleLbl="bgImgPlace1" presStyleIdx="1" presStyleCnt="4" custScaleX="161051" custScaleY="278084" custLinFactNeighborY="3952"/>
      <dgm:spPr>
        <a:blipFill>
          <a:blip xmlns:r="http://schemas.openxmlformats.org/officeDocument/2006/relationships" r:embed="rId2"/>
          <a:srcRect/>
          <a:stretch>
            <a:fillRect t="-23000" b="-23000"/>
          </a:stretch>
        </a:blipFill>
      </dgm:spPr>
    </dgm:pt>
    <dgm:pt modelId="{4BD829B5-903B-4A73-BAD9-B9C8813FCD4A}" type="pres">
      <dgm:prSet presAssocID="{3973145F-192B-4A42-B70B-635C75FDC831}" presName="ChildText" presStyleLbl="fgAcc1" presStyleIdx="0" presStyleCnt="0">
        <dgm:presLayoutVars>
          <dgm:chMax val="0"/>
          <dgm:chPref val="0"/>
          <dgm:bulletEnabled val="1"/>
        </dgm:presLayoutVars>
      </dgm:prSet>
      <dgm:spPr/>
    </dgm:pt>
    <dgm:pt modelId="{E0A5E4ED-D0E9-4991-8544-E23B61575B53}" type="pres">
      <dgm:prSet presAssocID="{E446EFD6-02A1-42DB-BE03-23A4B9480840}" presName="sibTrans" presStyleCnt="0"/>
      <dgm:spPr/>
    </dgm:pt>
    <dgm:pt modelId="{A1860014-4168-4C5A-88DE-0322D3D0FA23}" type="pres">
      <dgm:prSet presAssocID="{CB3CF48D-146D-4BB2-AEC5-C92A32D18433}" presName="composite" presStyleCnt="0"/>
      <dgm:spPr/>
    </dgm:pt>
    <dgm:pt modelId="{939182D3-E509-42B6-9991-DC57B02958BC}" type="pres">
      <dgm:prSet presAssocID="{CB3CF48D-146D-4BB2-AEC5-C92A32D18433}" presName="ParentText" presStyleLbl="node1" presStyleIdx="2" presStyleCnt="4" custScaleX="163088" custScaleY="555991" custLinFactY="-363338" custLinFactNeighborY="-400000">
        <dgm:presLayoutVars>
          <dgm:chMax val="1"/>
          <dgm:chPref val="1"/>
          <dgm:bulletEnabled val="1"/>
        </dgm:presLayoutVars>
      </dgm:prSet>
      <dgm:spPr/>
    </dgm:pt>
    <dgm:pt modelId="{5EDF1B98-7316-484F-9302-257CB2224FEB}" type="pres">
      <dgm:prSet presAssocID="{CB3CF48D-146D-4BB2-AEC5-C92A32D18433}" presName="Image" presStyleLbl="bgImgPlace1" presStyleIdx="2" presStyleCnt="4" custScaleX="161051" custScaleY="278084" custLinFactNeighborY="3952"/>
      <dgm:spPr>
        <a:blipFill>
          <a:blip xmlns:r="http://schemas.openxmlformats.org/officeDocument/2006/relationships" r:embed="rId3"/>
          <a:srcRect/>
          <a:stretch>
            <a:fillRect t="-25000" b="-25000"/>
          </a:stretch>
        </a:blipFill>
      </dgm:spPr>
    </dgm:pt>
    <dgm:pt modelId="{7DC2198E-7133-4521-A99B-9F8379C50A6C}" type="pres">
      <dgm:prSet presAssocID="{CB3CF48D-146D-4BB2-AEC5-C92A32D18433}" presName="ChildText" presStyleLbl="fgAcc1" presStyleIdx="0" presStyleCnt="0">
        <dgm:presLayoutVars>
          <dgm:chMax val="0"/>
          <dgm:chPref val="0"/>
          <dgm:bulletEnabled val="1"/>
        </dgm:presLayoutVars>
      </dgm:prSet>
      <dgm:spPr/>
    </dgm:pt>
    <dgm:pt modelId="{A6713FF6-3002-4345-95FE-F2015818CA51}" type="pres">
      <dgm:prSet presAssocID="{5F0C731D-23B7-47FD-B248-FC15078BB656}" presName="sibTrans" presStyleCnt="0"/>
      <dgm:spPr/>
    </dgm:pt>
    <dgm:pt modelId="{0BF4BD77-5B73-466E-88E8-7B05C33F52E1}" type="pres">
      <dgm:prSet presAssocID="{980CCE15-95B5-4879-A754-35FF7FC4F1E3}" presName="composite" presStyleCnt="0"/>
      <dgm:spPr/>
    </dgm:pt>
    <dgm:pt modelId="{FDCBC549-9C36-4F51-9012-009EBFAEC8ED}" type="pres">
      <dgm:prSet presAssocID="{980CCE15-95B5-4879-A754-35FF7FC4F1E3}" presName="ParentText" presStyleLbl="node1" presStyleIdx="3" presStyleCnt="4" custScaleX="163088" custScaleY="555991" custLinFactY="-363338" custLinFactNeighborY="-400000">
        <dgm:presLayoutVars>
          <dgm:chMax val="1"/>
          <dgm:chPref val="1"/>
          <dgm:bulletEnabled val="1"/>
        </dgm:presLayoutVars>
      </dgm:prSet>
      <dgm:spPr/>
    </dgm:pt>
    <dgm:pt modelId="{85878698-E9CE-4CF1-ACE2-6CAD2E88C6F7}" type="pres">
      <dgm:prSet presAssocID="{980CCE15-95B5-4879-A754-35FF7FC4F1E3}" presName="Image" presStyleLbl="bgImgPlace1" presStyleIdx="3" presStyleCnt="4" custScaleX="161051" custScaleY="278084" custLinFactNeighborY="3952"/>
      <dgm:spPr>
        <a:blipFill>
          <a:blip xmlns:r="http://schemas.openxmlformats.org/officeDocument/2006/relationships" r:embed="rId4"/>
          <a:srcRect/>
          <a:stretch>
            <a:fillRect t="-22000" b="-22000"/>
          </a:stretch>
        </a:blipFill>
      </dgm:spPr>
    </dgm:pt>
    <dgm:pt modelId="{2879C213-20F2-45C1-A32B-2E39E695205D}" type="pres">
      <dgm:prSet presAssocID="{980CCE15-95B5-4879-A754-35FF7FC4F1E3}" presName="ChildText" presStyleLbl="fgAcc1" presStyleIdx="0" presStyleCnt="0">
        <dgm:presLayoutVars>
          <dgm:chMax val="0"/>
          <dgm:chPref val="0"/>
          <dgm:bulletEnabled val="1"/>
        </dgm:presLayoutVars>
      </dgm:prSet>
      <dgm:spPr/>
    </dgm:pt>
  </dgm:ptLst>
  <dgm:cxnLst>
    <dgm:cxn modelId="{A8446204-1A84-471F-891E-FCBBDA5F13E0}" srcId="{6CD7ED02-A0A9-4141-883B-D87AC3FA42A9}" destId="{980CCE15-95B5-4879-A754-35FF7FC4F1E3}" srcOrd="3" destOrd="0" parTransId="{E96F209F-34B4-43C2-94B2-E334928B195C}" sibTransId="{9E7B429F-A477-4436-80C8-1C1B7F3917D5}"/>
    <dgm:cxn modelId="{A616E00F-92E1-4038-AD0A-3159260F0BBB}" type="presOf" srcId="{980CCE15-95B5-4879-A754-35FF7FC4F1E3}" destId="{FDCBC549-9C36-4F51-9012-009EBFAEC8ED}" srcOrd="0" destOrd="0" presId="urn:microsoft.com/office/officeart/2008/layout/TitledPictureBlocks"/>
    <dgm:cxn modelId="{DA1D8511-EFE6-484A-A5D8-0EE6D568E154}" srcId="{6CD7ED02-A0A9-4141-883B-D87AC3FA42A9}" destId="{3973145F-192B-4A42-B70B-635C75FDC831}" srcOrd="1" destOrd="0" parTransId="{03C9690B-3D60-4A61-884F-A1C1E282B992}" sibTransId="{E446EFD6-02A1-42DB-BE03-23A4B9480840}"/>
    <dgm:cxn modelId="{A773CE39-1943-4E04-AB45-166E5E44A01D}" srcId="{6CD7ED02-A0A9-4141-883B-D87AC3FA42A9}" destId="{ED81E11F-982A-4BF2-A0A1-5B16BA8C1AA9}" srcOrd="0" destOrd="0" parTransId="{EB3074F7-9DB1-41E3-A099-0E1BFDED3428}" sibTransId="{34A00F6A-9D86-4E51-93E1-A2EDB230F294}"/>
    <dgm:cxn modelId="{C3F1684E-9C7F-4C4E-8A65-B01F5773EC97}" type="presOf" srcId="{ED81E11F-982A-4BF2-A0A1-5B16BA8C1AA9}" destId="{30207025-2418-4269-949F-F029307229F0}" srcOrd="0" destOrd="0" presId="urn:microsoft.com/office/officeart/2008/layout/TitledPictureBlocks"/>
    <dgm:cxn modelId="{2FB2687C-22BB-4989-82AE-8FC2EC725BCC}" type="presOf" srcId="{6CD7ED02-A0A9-4141-883B-D87AC3FA42A9}" destId="{A35587C5-EF04-4F8F-9AB0-79810E8583E4}" srcOrd="0" destOrd="0" presId="urn:microsoft.com/office/officeart/2008/layout/TitledPictureBlocks"/>
    <dgm:cxn modelId="{FEFBC893-4EC7-4454-A7A1-CB8FB5E04803}" type="presOf" srcId="{CB3CF48D-146D-4BB2-AEC5-C92A32D18433}" destId="{939182D3-E509-42B6-9991-DC57B02958BC}" srcOrd="0" destOrd="0" presId="urn:microsoft.com/office/officeart/2008/layout/TitledPictureBlocks"/>
    <dgm:cxn modelId="{D56D4CC1-0FF2-4129-A830-9C5A265E7C90}" type="presOf" srcId="{3973145F-192B-4A42-B70B-635C75FDC831}" destId="{4F0F0489-E751-405C-AC0C-12DB2CB4F4FE}" srcOrd="0" destOrd="0" presId="urn:microsoft.com/office/officeart/2008/layout/TitledPictureBlocks"/>
    <dgm:cxn modelId="{B5B68BCD-BF87-4089-9EF1-C157BA7E14A3}" srcId="{6CD7ED02-A0A9-4141-883B-D87AC3FA42A9}" destId="{CB3CF48D-146D-4BB2-AEC5-C92A32D18433}" srcOrd="2" destOrd="0" parTransId="{7FE5C384-A055-4DE9-8899-6FB2E30FDA65}" sibTransId="{5F0C731D-23B7-47FD-B248-FC15078BB656}"/>
    <dgm:cxn modelId="{808BE5A9-94D8-4677-8690-9456ED693D16}" type="presParOf" srcId="{A35587C5-EF04-4F8F-9AB0-79810E8583E4}" destId="{AC0011A5-9FCE-41DD-8E88-3A55AA43BCD6}" srcOrd="0" destOrd="0" presId="urn:microsoft.com/office/officeart/2008/layout/TitledPictureBlocks"/>
    <dgm:cxn modelId="{0503A0D0-4A94-4F8E-BA9C-BA15818D0C12}" type="presParOf" srcId="{AC0011A5-9FCE-41DD-8E88-3A55AA43BCD6}" destId="{30207025-2418-4269-949F-F029307229F0}" srcOrd="0" destOrd="0" presId="urn:microsoft.com/office/officeart/2008/layout/TitledPictureBlocks"/>
    <dgm:cxn modelId="{5DFA3F06-2C22-4A8C-95DA-D1AB6C0DE54E}" type="presParOf" srcId="{AC0011A5-9FCE-41DD-8E88-3A55AA43BCD6}" destId="{722EEB7D-7FC0-437C-9D4F-279CB144B5DD}" srcOrd="1" destOrd="0" presId="urn:microsoft.com/office/officeart/2008/layout/TitledPictureBlocks"/>
    <dgm:cxn modelId="{A8A42E99-E0C0-47E4-A41E-7CEAEA66A1DF}" type="presParOf" srcId="{AC0011A5-9FCE-41DD-8E88-3A55AA43BCD6}" destId="{5E6500E5-3ABE-42C0-8532-3FFAC1BBBD1A}" srcOrd="2" destOrd="0" presId="urn:microsoft.com/office/officeart/2008/layout/TitledPictureBlocks"/>
    <dgm:cxn modelId="{C02456D4-ED04-43D7-810C-EB2635C0DE84}" type="presParOf" srcId="{A35587C5-EF04-4F8F-9AB0-79810E8583E4}" destId="{B8702311-37BC-48CA-B349-379B023FDA4F}" srcOrd="1" destOrd="0" presId="urn:microsoft.com/office/officeart/2008/layout/TitledPictureBlocks"/>
    <dgm:cxn modelId="{7B331466-006A-4D75-99DD-271EF250F3B0}" type="presParOf" srcId="{A35587C5-EF04-4F8F-9AB0-79810E8583E4}" destId="{4D0D41D5-8B92-4991-8D33-53E189BF121F}" srcOrd="2" destOrd="0" presId="urn:microsoft.com/office/officeart/2008/layout/TitledPictureBlocks"/>
    <dgm:cxn modelId="{56192141-BF0C-4722-AD5C-CD9E90AEF227}" type="presParOf" srcId="{4D0D41D5-8B92-4991-8D33-53E189BF121F}" destId="{4F0F0489-E751-405C-AC0C-12DB2CB4F4FE}" srcOrd="0" destOrd="0" presId="urn:microsoft.com/office/officeart/2008/layout/TitledPictureBlocks"/>
    <dgm:cxn modelId="{BB75193D-A279-4323-83A0-040509DB2B80}" type="presParOf" srcId="{4D0D41D5-8B92-4991-8D33-53E189BF121F}" destId="{552C1D40-BF3F-40BD-96BE-79ADB3C0B184}" srcOrd="1" destOrd="0" presId="urn:microsoft.com/office/officeart/2008/layout/TitledPictureBlocks"/>
    <dgm:cxn modelId="{B5DE8D21-F160-4B40-9DF6-CD57F2118D41}" type="presParOf" srcId="{4D0D41D5-8B92-4991-8D33-53E189BF121F}" destId="{4BD829B5-903B-4A73-BAD9-B9C8813FCD4A}" srcOrd="2" destOrd="0" presId="urn:microsoft.com/office/officeart/2008/layout/TitledPictureBlocks"/>
    <dgm:cxn modelId="{D4FD7966-DFCB-478C-AF60-BA05AFB1C4D9}" type="presParOf" srcId="{A35587C5-EF04-4F8F-9AB0-79810E8583E4}" destId="{E0A5E4ED-D0E9-4991-8544-E23B61575B53}" srcOrd="3" destOrd="0" presId="urn:microsoft.com/office/officeart/2008/layout/TitledPictureBlocks"/>
    <dgm:cxn modelId="{4EFBCCDF-0356-4C5F-9DDE-3BB358BF666A}" type="presParOf" srcId="{A35587C5-EF04-4F8F-9AB0-79810E8583E4}" destId="{A1860014-4168-4C5A-88DE-0322D3D0FA23}" srcOrd="4" destOrd="0" presId="urn:microsoft.com/office/officeart/2008/layout/TitledPictureBlocks"/>
    <dgm:cxn modelId="{04B06404-AADB-4DAA-A10B-74FBA87BF846}" type="presParOf" srcId="{A1860014-4168-4C5A-88DE-0322D3D0FA23}" destId="{939182D3-E509-42B6-9991-DC57B02958BC}" srcOrd="0" destOrd="0" presId="urn:microsoft.com/office/officeart/2008/layout/TitledPictureBlocks"/>
    <dgm:cxn modelId="{CECCFD06-F12E-48B3-9B9F-25AB3A91A655}" type="presParOf" srcId="{A1860014-4168-4C5A-88DE-0322D3D0FA23}" destId="{5EDF1B98-7316-484F-9302-257CB2224FEB}" srcOrd="1" destOrd="0" presId="urn:microsoft.com/office/officeart/2008/layout/TitledPictureBlocks"/>
    <dgm:cxn modelId="{F22007CF-21B5-4890-8E49-CAF3CF5AF50C}" type="presParOf" srcId="{A1860014-4168-4C5A-88DE-0322D3D0FA23}" destId="{7DC2198E-7133-4521-A99B-9F8379C50A6C}" srcOrd="2" destOrd="0" presId="urn:microsoft.com/office/officeart/2008/layout/TitledPictureBlocks"/>
    <dgm:cxn modelId="{C8CC3056-320A-4983-B9F2-3A50B510F683}" type="presParOf" srcId="{A35587C5-EF04-4F8F-9AB0-79810E8583E4}" destId="{A6713FF6-3002-4345-95FE-F2015818CA51}" srcOrd="5" destOrd="0" presId="urn:microsoft.com/office/officeart/2008/layout/TitledPictureBlocks"/>
    <dgm:cxn modelId="{1210EE60-971E-4F49-A61A-D38FF31B9BD4}" type="presParOf" srcId="{A35587C5-EF04-4F8F-9AB0-79810E8583E4}" destId="{0BF4BD77-5B73-466E-88E8-7B05C33F52E1}" srcOrd="6" destOrd="0" presId="urn:microsoft.com/office/officeart/2008/layout/TitledPictureBlocks"/>
    <dgm:cxn modelId="{6546348F-3C83-44D4-B47B-A71DE39862E6}" type="presParOf" srcId="{0BF4BD77-5B73-466E-88E8-7B05C33F52E1}" destId="{FDCBC549-9C36-4F51-9012-009EBFAEC8ED}" srcOrd="0" destOrd="0" presId="urn:microsoft.com/office/officeart/2008/layout/TitledPictureBlocks"/>
    <dgm:cxn modelId="{C6EF418A-D714-4804-A7F0-2AE0CBB66FE0}" type="presParOf" srcId="{0BF4BD77-5B73-466E-88E8-7B05C33F52E1}" destId="{85878698-E9CE-4CF1-ACE2-6CAD2E88C6F7}" srcOrd="1" destOrd="0" presId="urn:microsoft.com/office/officeart/2008/layout/TitledPictureBlocks"/>
    <dgm:cxn modelId="{17DA78D0-58D4-4978-ACFF-6FC500BD229C}" type="presParOf" srcId="{0BF4BD77-5B73-466E-88E8-7B05C33F52E1}" destId="{2879C213-20F2-45C1-A32B-2E39E695205D}" srcOrd="2" destOrd="0" presId="urn:microsoft.com/office/officeart/2008/layout/Titled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34AC8-CF18-4D9E-9877-B7512B2EF4A8}">
      <dsp:nvSpPr>
        <dsp:cNvPr id="0" name=""/>
        <dsp:cNvSpPr/>
      </dsp:nvSpPr>
      <dsp:spPr>
        <a:xfrm rot="5400000">
          <a:off x="3954656" y="-1418364"/>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Three Project Podium Athletes competed at the WTCS Yokohama – Braxton Legg, Blake Bullard, Reese Vannerson</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These athletes have similar metabolic profiles; however historically Reese Vannerson has been the top runner</a:t>
          </a:r>
          <a:endParaRPr lang="en-US" sz="1100" kern="1200" dirty="0"/>
        </a:p>
      </dsp:txBody>
      <dsp:txXfrm rot="-5400000">
        <a:off x="2392318" y="199055"/>
        <a:ext cx="4197928" cy="1018170"/>
      </dsp:txXfrm>
    </dsp:sp>
    <dsp:sp modelId="{FEDADBAC-82B3-4694-B907-348AFFAB5076}">
      <dsp:nvSpPr>
        <dsp:cNvPr id="0" name=""/>
        <dsp:cNvSpPr/>
      </dsp:nvSpPr>
      <dsp:spPr>
        <a:xfrm>
          <a:off x="0" y="293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WHO</a:t>
          </a:r>
        </a:p>
      </dsp:txBody>
      <dsp:txXfrm>
        <a:off x="68851" y="71783"/>
        <a:ext cx="2254616" cy="1272713"/>
      </dsp:txXfrm>
    </dsp:sp>
    <dsp:sp modelId="{5822CFBB-8D35-4D34-9223-38ED734F2123}">
      <dsp:nvSpPr>
        <dsp:cNvPr id="0" name=""/>
        <dsp:cNvSpPr/>
      </dsp:nvSpPr>
      <dsp:spPr>
        <a:xfrm rot="5400000">
          <a:off x="3934991" y="62572"/>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Reese was most likely to have the best performance</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Yet, he struggled on the run and finished 3</a:t>
          </a:r>
          <a:r>
            <a:rPr lang="en-US" sz="1100" kern="1200" baseline="30000" dirty="0">
              <a:solidFill>
                <a:schemeClr val="accent4">
                  <a:lumMod val="50000"/>
                </a:schemeClr>
              </a:solidFill>
              <a:latin typeface="Arial" panose="020B0604020202020204" pitchFamily="34" charset="0"/>
              <a:cs typeface="Arial" panose="020B0604020202020204" pitchFamily="34" charset="0"/>
            </a:rPr>
            <a:t>rd</a:t>
          </a:r>
          <a:r>
            <a:rPr lang="en-US" sz="1100" kern="1200" dirty="0">
              <a:solidFill>
                <a:schemeClr val="accent4">
                  <a:lumMod val="50000"/>
                </a:schemeClr>
              </a:solidFill>
              <a:latin typeface="Arial" panose="020B0604020202020204" pitchFamily="34" charset="0"/>
              <a:cs typeface="Arial" panose="020B0604020202020204" pitchFamily="34" charset="0"/>
            </a:rPr>
            <a:t> among the group</a:t>
          </a:r>
          <a:r>
            <a:rPr lang="en-US" sz="1100" kern="1200" dirty="0"/>
            <a:t> </a:t>
          </a:r>
        </a:p>
      </dsp:txBody>
      <dsp:txXfrm rot="-5400000">
        <a:off x="2372653" y="1679992"/>
        <a:ext cx="4197928" cy="1018170"/>
      </dsp:txXfrm>
    </dsp:sp>
    <dsp:sp modelId="{E192A2F3-7062-43B0-B849-36C4989D0B62}">
      <dsp:nvSpPr>
        <dsp:cNvPr id="0" name=""/>
        <dsp:cNvSpPr/>
      </dsp:nvSpPr>
      <dsp:spPr>
        <a:xfrm>
          <a:off x="0" y="1483869"/>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WHAT</a:t>
          </a:r>
        </a:p>
      </dsp:txBody>
      <dsp:txXfrm>
        <a:off x="68851" y="1552720"/>
        <a:ext cx="2254616" cy="1272713"/>
      </dsp:txXfrm>
    </dsp:sp>
    <dsp:sp modelId="{B8247B09-E638-4580-BCE6-1A71E4551CD8}">
      <dsp:nvSpPr>
        <dsp:cNvPr id="0" name=""/>
        <dsp:cNvSpPr/>
      </dsp:nvSpPr>
      <dsp:spPr>
        <a:xfrm rot="5400000">
          <a:off x="3954656" y="1543508"/>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When analyzing the athletes bike data, Reese’s file in terms of average power looks very similar to Blake’s and Braxton’s. </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However, using advanced simulation techniques we model out Reese’s Blood Lactate levels and see that he finished the bike far above his threshold. This led to poor run performance</a:t>
          </a:r>
          <a:endParaRPr lang="en-US" sz="1100" kern="1200" dirty="0"/>
        </a:p>
      </dsp:txBody>
      <dsp:txXfrm rot="-5400000">
        <a:off x="2392318" y="3160928"/>
        <a:ext cx="4197928" cy="1018170"/>
      </dsp:txXfrm>
    </dsp:sp>
    <dsp:sp modelId="{213EE9DB-A99F-4C75-9D86-676C05510BBD}">
      <dsp:nvSpPr>
        <dsp:cNvPr id="0" name=""/>
        <dsp:cNvSpPr/>
      </dsp:nvSpPr>
      <dsp:spPr>
        <a:xfrm>
          <a:off x="0" y="2964805"/>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HOW</a:t>
          </a:r>
        </a:p>
      </dsp:txBody>
      <dsp:txXfrm>
        <a:off x="68851" y="3033656"/>
        <a:ext cx="2254616" cy="1272713"/>
      </dsp:txXfrm>
    </dsp:sp>
    <dsp:sp modelId="{07FCD6B8-B206-4707-8B07-790FCD92F1F6}">
      <dsp:nvSpPr>
        <dsp:cNvPr id="0" name=""/>
        <dsp:cNvSpPr/>
      </dsp:nvSpPr>
      <dsp:spPr>
        <a:xfrm rot="5400000">
          <a:off x="3954656" y="3024445"/>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This is important because without this data we might have believed Reese to have lost significant run fitness, whereas he spiked his lactate by surging over 600W several times due to pack positioning</a:t>
          </a:r>
          <a:endParaRPr lang="en-US" sz="1100" kern="1200" dirty="0"/>
        </a:p>
      </dsp:txBody>
      <dsp:txXfrm rot="-5400000">
        <a:off x="2392318" y="4641865"/>
        <a:ext cx="4197928" cy="1018170"/>
      </dsp:txXfrm>
    </dsp:sp>
    <dsp:sp modelId="{372911A9-4B1B-441E-A0E7-4B8EB43245DF}">
      <dsp:nvSpPr>
        <dsp:cNvPr id="0" name=""/>
        <dsp:cNvSpPr/>
      </dsp:nvSpPr>
      <dsp:spPr>
        <a:xfrm>
          <a:off x="0" y="444574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WHY</a:t>
          </a:r>
        </a:p>
      </dsp:txBody>
      <dsp:txXfrm>
        <a:off x="68851" y="4514593"/>
        <a:ext cx="2254616" cy="12727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EEB7D-7FC0-437C-9D4F-279CB144B5DD}">
      <dsp:nvSpPr>
        <dsp:cNvPr id="0" name=""/>
        <dsp:cNvSpPr/>
      </dsp:nvSpPr>
      <dsp:spPr>
        <a:xfrm>
          <a:off x="13979" y="1116799"/>
          <a:ext cx="1999366" cy="2925089"/>
        </a:xfrm>
        <a:prstGeom prst="rect">
          <a:avLst/>
        </a:prstGeom>
        <a:blipFill>
          <a:blip xmlns:r="http://schemas.openxmlformats.org/officeDocument/2006/relationships" r:embed="rId1"/>
          <a:srcRect/>
          <a:stretch>
            <a:fillRect t="-10000" b="-1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207025-2418-4269-949F-F029307229F0}">
      <dsp:nvSpPr>
        <dsp:cNvPr id="0" name=""/>
        <dsp:cNvSpPr/>
      </dsp:nvSpPr>
      <dsp:spPr>
        <a:xfrm>
          <a:off x="1335" y="15682"/>
          <a:ext cx="2024655" cy="1007057"/>
        </a:xfrm>
        <a:prstGeom prst="rect">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8 WTO Elite Male Category Wins</a:t>
          </a:r>
        </a:p>
      </dsp:txBody>
      <dsp:txXfrm>
        <a:off x="1335" y="15682"/>
        <a:ext cx="2024655" cy="1007057"/>
      </dsp:txXfrm>
    </dsp:sp>
    <dsp:sp modelId="{552C1D40-BF3F-40BD-96BE-79ADB3C0B184}">
      <dsp:nvSpPr>
        <dsp:cNvPr id="0" name=""/>
        <dsp:cNvSpPr/>
      </dsp:nvSpPr>
      <dsp:spPr>
        <a:xfrm>
          <a:off x="2291372" y="1116799"/>
          <a:ext cx="1999366" cy="2925089"/>
        </a:xfrm>
        <a:prstGeom prst="rect">
          <a:avLst/>
        </a:prstGeom>
        <a:blipFill>
          <a:blip xmlns:r="http://schemas.openxmlformats.org/officeDocument/2006/relationships" r:embed="rId2"/>
          <a:srcRect/>
          <a:stretch>
            <a:fillRect t="-23000" b="-2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0F0489-E751-405C-AC0C-12DB2CB4F4FE}">
      <dsp:nvSpPr>
        <dsp:cNvPr id="0" name=""/>
        <dsp:cNvSpPr/>
      </dsp:nvSpPr>
      <dsp:spPr>
        <a:xfrm>
          <a:off x="2278728" y="15682"/>
          <a:ext cx="2024655" cy="1007057"/>
        </a:xfrm>
        <a:prstGeom prst="rect">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15 WTO Elite Male Podiums</a:t>
          </a:r>
        </a:p>
      </dsp:txBody>
      <dsp:txXfrm>
        <a:off x="2278728" y="15682"/>
        <a:ext cx="2024655" cy="1007057"/>
      </dsp:txXfrm>
    </dsp:sp>
    <dsp:sp modelId="{5EDF1B98-7316-484F-9302-257CB2224FEB}">
      <dsp:nvSpPr>
        <dsp:cNvPr id="0" name=""/>
        <dsp:cNvSpPr/>
      </dsp:nvSpPr>
      <dsp:spPr>
        <a:xfrm>
          <a:off x="4568765" y="1116799"/>
          <a:ext cx="1999366" cy="2925089"/>
        </a:xfrm>
        <a:prstGeom prst="rect">
          <a:avLst/>
        </a:prstGeom>
        <a:blipFill>
          <a:blip xmlns:r="http://schemas.openxmlformats.org/officeDocument/2006/relationships" r:embed="rId3"/>
          <a:srcRect/>
          <a:stretch>
            <a:fillRect t="-25000" b="-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9182D3-E509-42B6-9991-DC57B02958BC}">
      <dsp:nvSpPr>
        <dsp:cNvPr id="0" name=""/>
        <dsp:cNvSpPr/>
      </dsp:nvSpPr>
      <dsp:spPr>
        <a:xfrm>
          <a:off x="4556121" y="15682"/>
          <a:ext cx="2024655" cy="1007057"/>
        </a:xfrm>
        <a:prstGeom prst="rect">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USA Junior National Champion</a:t>
          </a:r>
        </a:p>
      </dsp:txBody>
      <dsp:txXfrm>
        <a:off x="4556121" y="15682"/>
        <a:ext cx="2024655" cy="1007057"/>
      </dsp:txXfrm>
    </dsp:sp>
    <dsp:sp modelId="{85878698-E9CE-4CF1-ACE2-6CAD2E88C6F7}">
      <dsp:nvSpPr>
        <dsp:cNvPr id="0" name=""/>
        <dsp:cNvSpPr/>
      </dsp:nvSpPr>
      <dsp:spPr>
        <a:xfrm>
          <a:off x="6846158" y="1116799"/>
          <a:ext cx="1999366" cy="2925089"/>
        </a:xfrm>
        <a:prstGeom prst="rect">
          <a:avLst/>
        </a:prstGeom>
        <a:blipFill>
          <a:blip xmlns:r="http://schemas.openxmlformats.org/officeDocument/2006/relationships" r:embed="rId4"/>
          <a:srcRect/>
          <a:stretch>
            <a:fillRect t="-22000" b="-2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CBC549-9C36-4F51-9012-009EBFAEC8ED}">
      <dsp:nvSpPr>
        <dsp:cNvPr id="0" name=""/>
        <dsp:cNvSpPr/>
      </dsp:nvSpPr>
      <dsp:spPr>
        <a:xfrm>
          <a:off x="6833514" y="15682"/>
          <a:ext cx="2024655" cy="1007057"/>
        </a:xfrm>
        <a:prstGeom prst="rect">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26 Podiums across Mixed Relay, Xterra, and other races</a:t>
          </a:r>
        </a:p>
      </dsp:txBody>
      <dsp:txXfrm>
        <a:off x="6833514" y="15682"/>
        <a:ext cx="2024655" cy="100705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EDAD5-609F-49FF-859D-24DC1582056E}" type="datetimeFigureOut">
              <a:rPr lang="en-CA" smtClean="0"/>
              <a:t>2026-05-26</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A43EB-A245-42F8-820A-48FEEBF7DDD5}" type="slidenum">
              <a:rPr lang="en-CA" smtClean="0"/>
              <a:t>‹#›</a:t>
            </a:fld>
            <a:endParaRPr lang="en-CA"/>
          </a:p>
        </p:txBody>
      </p:sp>
    </p:spTree>
    <p:extLst>
      <p:ext uri="{BB962C8B-B14F-4D97-AF65-F5344CB8AC3E}">
        <p14:creationId xmlns:p14="http://schemas.microsoft.com/office/powerpoint/2010/main" val="134969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A43EB-A245-42F8-820A-48FEEBF7DDD5}" type="slidenum">
              <a:rPr lang="en-CA" smtClean="0"/>
              <a:t>4</a:t>
            </a:fld>
            <a:endParaRPr lang="en-CA"/>
          </a:p>
        </p:txBody>
      </p:sp>
    </p:spTree>
    <p:extLst>
      <p:ext uri="{BB962C8B-B14F-4D97-AF65-F5344CB8AC3E}">
        <p14:creationId xmlns:p14="http://schemas.microsoft.com/office/powerpoint/2010/main" val="3349489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54800-43E2-5321-214A-026D9F2DC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9DFB1-4680-9800-85A7-F25A92DBC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304BC-1228-50F6-EF33-D57DC7BC7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4E32D-91AA-225C-00E8-C453C8DC3115}"/>
              </a:ext>
            </a:extLst>
          </p:cNvPr>
          <p:cNvSpPr>
            <a:spLocks noGrp="1"/>
          </p:cNvSpPr>
          <p:nvPr>
            <p:ph type="sldNum" sz="quarter" idx="5"/>
          </p:nvPr>
        </p:nvSpPr>
        <p:spPr/>
        <p:txBody>
          <a:bodyPr/>
          <a:lstStyle/>
          <a:p>
            <a:fld id="{9A7A43EB-A245-42F8-820A-48FEEBF7DDD5}" type="slidenum">
              <a:rPr lang="en-CA" smtClean="0"/>
              <a:t>5</a:t>
            </a:fld>
            <a:endParaRPr lang="en-CA"/>
          </a:p>
        </p:txBody>
      </p:sp>
    </p:spTree>
    <p:extLst>
      <p:ext uri="{BB962C8B-B14F-4D97-AF65-F5344CB8AC3E}">
        <p14:creationId xmlns:p14="http://schemas.microsoft.com/office/powerpoint/2010/main" val="1993348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E904-5B45-27C9-7AD3-D722E47C4A7D}"/>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865DB9F-471B-8763-D444-21765715DA0F}"/>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01953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2714-E9C5-547A-05E2-3B945C5B20E1}"/>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C5CC19C3-9BA9-91CA-CC4A-9FCF684CCB3C}"/>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612489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511B-4E52-DF2D-A137-E5FFA1D944BB}"/>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D45C768-E40E-907E-6244-277C573EED8B}"/>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433887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44DE-948C-D838-9EB3-7B22A56FB7A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08EB7A28-FF1D-3BB1-550B-AC93F95D51C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081821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D48-B980-5F1F-273E-CB3F80ABA5A2}"/>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BCEABF7-C077-C0F0-0110-A9688B1A969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99881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85C5-ED44-91D3-0E98-6DD6F0683E43}"/>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555605E4-7B88-5947-3109-A4ACBD26BA8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871697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DB66-FCDE-63F5-00BD-F5E9278AA43A}"/>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E2C05A5A-634F-75CE-BEFA-3BC3BA639B49}"/>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525382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Event Information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Fastest Swim</a:t>
            </a:r>
            <a:endParaRPr dirty="0"/>
          </a:p>
          <a:p>
            <a:r>
              <a:rPr b="0" dirty="0"/>
              <a:t>No alt text provided</a:t>
            </a:r>
            <a:endParaRPr dirty="0"/>
          </a:p>
          <a:p>
            <a:endParaRPr dirty="0"/>
          </a:p>
          <a:p>
            <a:r>
              <a:rPr b="1" dirty="0"/>
              <a:t>Fastest Bike</a:t>
            </a:r>
            <a:endParaRPr dirty="0"/>
          </a:p>
          <a:p>
            <a:r>
              <a:rPr b="0" dirty="0"/>
              <a:t>No alt text provided</a:t>
            </a:r>
            <a:endParaRPr dirty="0"/>
          </a:p>
          <a:p>
            <a:endParaRPr dirty="0"/>
          </a:p>
          <a:p>
            <a:r>
              <a:rPr b="1" dirty="0"/>
              <a:t>Fastest Run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Event Recap</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Filter U.S. Athletes</a:t>
            </a:r>
            <a:endParaRPr dirty="0"/>
          </a:p>
          <a:p>
            <a:r>
              <a:rPr b="0" dirty="0"/>
              <a:t>No alt text provided</a:t>
            </a:r>
            <a:endParaRPr dirty="0"/>
          </a:p>
          <a:p>
            <a:endParaRPr dirty="0"/>
          </a:p>
          <a:p>
            <a:r>
              <a:rPr b="1" dirty="0"/>
              <a:t>Event Recap</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BF372733-41A3-9E6B-765A-CED336BD46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9C3DD-8726-46CF-BEB8-0FB1D9C8C706}" type="datetime1">
              <a:rPr lang="en-CA" smtClean="0"/>
              <a:t>2026-05-26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261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42990C6-0DDB-9998-E9D4-CF14E61FF14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C8BB7-DCB2-4DDB-A949-F2F554D34B1D}" type="datetime1">
              <a:rPr lang="en-CA" smtClean="0"/>
              <a:t>2026-05-26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0403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FF912-3BDC-4F82-8FD5-4FE2801AFABF}" type="datetime1">
              <a:rPr lang="en-CA" smtClean="0"/>
              <a:t>2026-05-26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54009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54909DA6-EF88-CDCF-EB14-34EF58AEE82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FC10B6-B2C5-4354-B1ED-C9074EA88358}" type="datetime1">
              <a:rPr lang="en-CA" smtClean="0"/>
              <a:t>2026-05-26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66713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959A0C-18F4-42FF-9648-AEA0A68C7E02}" type="datetime1">
              <a:rPr lang="en-CA" smtClean="0"/>
              <a:t>2026-05-26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2010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86E8FD-5A99-478C-B897-EE2D0C6AED64}" type="datetime1">
              <a:rPr lang="en-CA" smtClean="0"/>
              <a:t>2026-05-26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13112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D4E6-04C1-47B5-A23B-0E151E8A7E0C}" type="datetime1">
              <a:rPr lang="en-CA" smtClean="0"/>
              <a:t>2026-05-26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20563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FA398E88-1DAB-0F63-CD0A-F83AADFB66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6729E5-B83D-4A2E-B86D-A4A8DD2FFE07}" type="datetime1">
              <a:rPr lang="en-CA" smtClean="0"/>
              <a:t>2026-05-26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8338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3E41A-3B8B-4058-9731-C9545E54075F}" type="datetime1">
              <a:rPr lang="en-CA" smtClean="0"/>
              <a:t>2026-05-26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83470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45F5F-71A2-484B-80AA-BDCBDE17A74B}" type="datetime1">
              <a:rPr lang="en-CA" smtClean="0"/>
              <a:t>2026-05-26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643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66F92-05FA-41AF-8A35-6EB9A4FE0225}" type="datetime1">
              <a:rPr lang="en-CA" smtClean="0"/>
              <a:t>2026-05-26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04071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A28DC-B6C5-437E-A6CC-233C4E229912}" type="datetime1">
              <a:rPr lang="en-CA" smtClean="0"/>
              <a:t>2026-05-26</a:t>
            </a:fld>
            <a:endParaRPr lang="en-CA"/>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2F2BE-D098-4625-80FE-951C76436E4E}" type="slidenum">
              <a:rPr lang="en-CA" smtClean="0"/>
              <a:t>‹#›</a:t>
            </a:fld>
            <a:endParaRPr lang="en-CA"/>
          </a:p>
        </p:txBody>
      </p:sp>
    </p:spTree>
    <p:extLst>
      <p:ext uri="{BB962C8B-B14F-4D97-AF65-F5344CB8AC3E}">
        <p14:creationId xmlns:p14="http://schemas.microsoft.com/office/powerpoint/2010/main" val="3437769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7.png"/><Relationship Id="rId4" Type="http://schemas.openxmlformats.org/officeDocument/2006/relationships/diagramLayout" Target="../diagrams/layout1.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8A49-7EDD-4219-8A92-0D31288F49C0}"/>
              </a:ext>
            </a:extLst>
          </p:cNvPr>
          <p:cNvSpPr>
            <a:spLocks noGrp="1"/>
          </p:cNvSpPr>
          <p:nvPr>
            <p:ph type="ctrTitle"/>
          </p:nvPr>
        </p:nvSpPr>
        <p:spPr>
          <a:xfrm>
            <a:off x="360002" y="4426566"/>
            <a:ext cx="8423998" cy="2088533"/>
          </a:xfrm>
        </p:spPr>
        <p:txBody>
          <a:bodyPr anchor="t">
            <a:normAutofit fontScale="90000"/>
          </a:bodyPr>
          <a:lstStyle/>
          <a:p>
            <a:pPr algn="l">
              <a:lnSpc>
                <a:spcPct val="100000"/>
              </a:lnSpc>
            </a:pPr>
            <a:r>
              <a:rPr lang="en-US" sz="5000" b="1" dirty="0">
                <a:solidFill>
                  <a:srgbClr val="002868"/>
                </a:solidFill>
                <a:latin typeface="Arial" panose="020B0604020202020204" pitchFamily="34" charset="0"/>
                <a:cs typeface="Arial" panose="020B0604020202020204" pitchFamily="34" charset="0"/>
              </a:rPr>
              <a:t>USAT Project Podium</a:t>
            </a:r>
            <a:br>
              <a:rPr lang="en-US" sz="5000" b="1" dirty="0">
                <a:solidFill>
                  <a:srgbClr val="002868"/>
                </a:solidFill>
                <a:latin typeface="Arial" panose="020B0604020202020204" pitchFamily="34" charset="0"/>
                <a:cs typeface="Arial" panose="020B0604020202020204" pitchFamily="34" charset="0"/>
              </a:rPr>
            </a:br>
            <a:br>
              <a:rPr lang="en-US" sz="3200" b="1" dirty="0">
                <a:solidFill>
                  <a:srgbClr val="002868"/>
                </a:solidFill>
                <a:latin typeface="Arial" panose="020B0604020202020204" pitchFamily="34" charset="0"/>
                <a:cs typeface="Arial" panose="020B0604020202020204" pitchFamily="34" charset="0"/>
              </a:rPr>
            </a:br>
            <a:r>
              <a:rPr lang="en-US" sz="3200" dirty="0">
                <a:solidFill>
                  <a:srgbClr val="002868"/>
                </a:solidFill>
                <a:latin typeface="Arial" panose="020B0604020202020204" pitchFamily="34" charset="0"/>
                <a:cs typeface="Arial" panose="020B0604020202020204" pitchFamily="34" charset="0"/>
              </a:rPr>
              <a:t>Metabolic Testing and Data Analysis Update</a:t>
            </a: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endParaRPr lang="en-CA" sz="5000" b="1"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95E83A8C-4885-498B-BCF7-8E72B5274EF2}"/>
              </a:ext>
            </a:extLst>
          </p:cNvPr>
          <p:cNvSpPr/>
          <p:nvPr/>
        </p:nvSpPr>
        <p:spPr>
          <a:xfrm>
            <a:off x="8784000"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descr="A logo with red and blue text&#10;&#10;AI-generated content may be incorrect.">
            <a:extLst>
              <a:ext uri="{FF2B5EF4-FFF2-40B4-BE49-F238E27FC236}">
                <a16:creationId xmlns:a16="http://schemas.microsoft.com/office/drawing/2014/main" id="{D41DF0EF-F376-4AC2-AB61-3B8AE08E4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363" y="56839"/>
            <a:ext cx="5493124" cy="4276293"/>
          </a:xfrm>
          <a:prstGeom prst="rect">
            <a:avLst/>
          </a:prstGeom>
        </p:spPr>
      </p:pic>
    </p:spTree>
    <p:extLst>
      <p:ext uri="{BB962C8B-B14F-4D97-AF65-F5344CB8AC3E}">
        <p14:creationId xmlns:p14="http://schemas.microsoft.com/office/powerpoint/2010/main" val="57707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7F6A2-2983-4E93-3F75-808D13A8586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F2E4DA5-F3AF-1B5E-C648-68C6002F4086}"/>
              </a:ext>
            </a:extLst>
          </p:cNvPr>
          <p:cNvSpPr txBox="1"/>
          <p:nvPr/>
        </p:nvSpPr>
        <p:spPr>
          <a:xfrm>
            <a:off x="1882139" y="1124459"/>
            <a:ext cx="5599315"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Project Podium Overview</a:t>
            </a:r>
          </a:p>
        </p:txBody>
      </p:sp>
      <p:sp>
        <p:nvSpPr>
          <p:cNvPr id="18" name="Rectangle 17">
            <a:extLst>
              <a:ext uri="{FF2B5EF4-FFF2-40B4-BE49-F238E27FC236}">
                <a16:creationId xmlns:a16="http://schemas.microsoft.com/office/drawing/2014/main" id="{4B8A79BB-D129-995C-390F-5DC5039C895F}"/>
              </a:ext>
            </a:extLst>
          </p:cNvPr>
          <p:cNvSpPr/>
          <p:nvPr/>
        </p:nvSpPr>
        <p:spPr>
          <a:xfrm>
            <a:off x="8783998"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10" name="Table 9">
            <a:extLst>
              <a:ext uri="{FF2B5EF4-FFF2-40B4-BE49-F238E27FC236}">
                <a16:creationId xmlns:a16="http://schemas.microsoft.com/office/drawing/2014/main" id="{B447DB64-3479-C7BC-B62A-5AAC73EA1808}"/>
              </a:ext>
            </a:extLst>
          </p:cNvPr>
          <p:cNvGraphicFramePr>
            <a:graphicFrameLocks noGrp="1"/>
          </p:cNvGraphicFramePr>
          <p:nvPr>
            <p:extLst>
              <p:ext uri="{D42A27DB-BD31-4B8C-83A1-F6EECF244321}">
                <p14:modId xmlns:p14="http://schemas.microsoft.com/office/powerpoint/2010/main" val="2985497566"/>
              </p:ext>
            </p:extLst>
          </p:nvPr>
        </p:nvGraphicFramePr>
        <p:xfrm>
          <a:off x="180000" y="179999"/>
          <a:ext cx="8784000" cy="77724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4500" b="0" kern="1200" dirty="0">
                          <a:solidFill>
                            <a:srgbClr val="002868"/>
                          </a:solidFill>
                          <a:latin typeface="Arial" panose="020B0604020202020204" pitchFamily="34" charset="0"/>
                          <a:ea typeface="+mj-ea"/>
                          <a:cs typeface="Arial" panose="020B0604020202020204" pitchFamily="34" charset="0"/>
                        </a:rPr>
                        <a:t>Table of Contents</a:t>
                      </a:r>
                      <a:endParaRPr lang="en-CA" sz="4500" b="0"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2" name="TextBox 1">
            <a:extLst>
              <a:ext uri="{FF2B5EF4-FFF2-40B4-BE49-F238E27FC236}">
                <a16:creationId xmlns:a16="http://schemas.microsoft.com/office/drawing/2014/main" id="{A2D4EC77-C1B7-B129-9A92-64D87125C4D4}"/>
              </a:ext>
            </a:extLst>
          </p:cNvPr>
          <p:cNvSpPr txBox="1"/>
          <p:nvPr/>
        </p:nvSpPr>
        <p:spPr>
          <a:xfrm>
            <a:off x="1882140" y="1827749"/>
            <a:ext cx="5243874"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Case Study</a:t>
            </a:r>
          </a:p>
        </p:txBody>
      </p:sp>
      <p:sp>
        <p:nvSpPr>
          <p:cNvPr id="3" name="TextBox 2">
            <a:extLst>
              <a:ext uri="{FF2B5EF4-FFF2-40B4-BE49-F238E27FC236}">
                <a16:creationId xmlns:a16="http://schemas.microsoft.com/office/drawing/2014/main" id="{08372C2B-0F44-39E1-628C-619F99AB3522}"/>
              </a:ext>
            </a:extLst>
          </p:cNvPr>
          <p:cNvSpPr txBox="1"/>
          <p:nvPr/>
        </p:nvSpPr>
        <p:spPr>
          <a:xfrm>
            <a:off x="360000" y="1124459"/>
            <a:ext cx="1148760"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Pg. 3</a:t>
            </a:r>
          </a:p>
        </p:txBody>
      </p:sp>
      <p:sp>
        <p:nvSpPr>
          <p:cNvPr id="4" name="TextBox 3">
            <a:extLst>
              <a:ext uri="{FF2B5EF4-FFF2-40B4-BE49-F238E27FC236}">
                <a16:creationId xmlns:a16="http://schemas.microsoft.com/office/drawing/2014/main" id="{DD89A961-AC0F-3E2F-D33D-2E9851CA8F0E}"/>
              </a:ext>
            </a:extLst>
          </p:cNvPr>
          <p:cNvSpPr txBox="1"/>
          <p:nvPr/>
        </p:nvSpPr>
        <p:spPr>
          <a:xfrm>
            <a:off x="360000" y="1827749"/>
            <a:ext cx="1316400"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Pg. 7</a:t>
            </a:r>
          </a:p>
        </p:txBody>
      </p:sp>
      <p:pic>
        <p:nvPicPr>
          <p:cNvPr id="9" name="Picture 8" descr="A logo with red and blue text&#10;&#10;AI-generated content may be incorrect.">
            <a:extLst>
              <a:ext uri="{FF2B5EF4-FFF2-40B4-BE49-F238E27FC236}">
                <a16:creationId xmlns:a16="http://schemas.microsoft.com/office/drawing/2014/main" id="{02155B18-6CEB-2DF6-AB95-F7E8927D7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302" y="4984134"/>
            <a:ext cx="1925306" cy="1498814"/>
          </a:xfrm>
          <a:prstGeom prst="rect">
            <a:avLst/>
          </a:prstGeom>
        </p:spPr>
      </p:pic>
      <p:sp>
        <p:nvSpPr>
          <p:cNvPr id="5" name="Slide Number Placeholder 3">
            <a:extLst>
              <a:ext uri="{FF2B5EF4-FFF2-40B4-BE49-F238E27FC236}">
                <a16:creationId xmlns:a16="http://schemas.microsoft.com/office/drawing/2014/main" id="{127D7FCC-CF5B-AA7F-37EE-782EA7861CB9}"/>
              </a:ext>
            </a:extLst>
          </p:cNvPr>
          <p:cNvSpPr>
            <a:spLocks noGrp="1"/>
          </p:cNvSpPr>
          <p:nvPr>
            <p:ph type="sldNum" sz="quarter" idx="12"/>
          </p:nvPr>
        </p:nvSpPr>
        <p:spPr>
          <a:xfrm>
            <a:off x="6692195"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2</a:t>
            </a:fld>
            <a:endParaRPr lang="en-CA"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503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F624EE-27D9-41E8-9495-8D91D91AE4A5}"/>
              </a:ext>
            </a:extLst>
          </p:cNvPr>
          <p:cNvSpPr>
            <a:spLocks noGrp="1"/>
          </p:cNvSpPr>
          <p:nvPr>
            <p:ph type="sldNum" sz="quarter" idx="12"/>
          </p:nvPr>
        </p:nvSpPr>
        <p:spPr>
          <a:xfrm>
            <a:off x="6902400"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3</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7BC9452D-8C9A-4844-BE21-7FF2B5FE5651}"/>
              </a:ext>
            </a:extLst>
          </p:cNvPr>
          <p:cNvGraphicFramePr>
            <a:graphicFrameLocks noGrp="1"/>
          </p:cNvGraphicFramePr>
          <p:nvPr>
            <p:extLst>
              <p:ext uri="{D42A27DB-BD31-4B8C-83A1-F6EECF244321}">
                <p14:modId xmlns:p14="http://schemas.microsoft.com/office/powerpoint/2010/main" val="3069237364"/>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2600" b="1" kern="1200" dirty="0">
                          <a:solidFill>
                            <a:srgbClr val="002868"/>
                          </a:solidFill>
                          <a:latin typeface="Arial" panose="020B0604020202020204" pitchFamily="34" charset="0"/>
                          <a:ea typeface="+mj-ea"/>
                          <a:cs typeface="Arial" panose="020B0604020202020204" pitchFamily="34" charset="0"/>
                        </a:rPr>
                        <a:t>Project Podium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766794E0-3F68-44F1-A6FB-97C8D263475B}"/>
              </a:ext>
            </a:extLst>
          </p:cNvPr>
          <p:cNvGraphicFramePr>
            <a:graphicFrameLocks noGrp="1"/>
          </p:cNvGraphicFramePr>
          <p:nvPr>
            <p:extLst>
              <p:ext uri="{D42A27DB-BD31-4B8C-83A1-F6EECF244321}">
                <p14:modId xmlns:p14="http://schemas.microsoft.com/office/powerpoint/2010/main" val="1314160271"/>
              </p:ext>
            </p:extLst>
          </p:nvPr>
        </p:nvGraphicFramePr>
        <p:xfrm>
          <a:off x="180000" y="899998"/>
          <a:ext cx="8784000" cy="53280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396165715"/>
                    </a:ext>
                  </a:extLst>
                </a:gridCol>
                <a:gridCol w="6984000">
                  <a:extLst>
                    <a:ext uri="{9D8B030D-6E8A-4147-A177-3AD203B41FA5}">
                      <a16:colId xmlns:a16="http://schemas.microsoft.com/office/drawing/2014/main" val="2583953346"/>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Strength</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lgn="l">
                        <a:buFont typeface="Arial" panose="020B0604020202020204" pitchFamily="34" charset="0"/>
                        <a:buNone/>
                      </a:pPr>
                      <a:r>
                        <a:rPr lang="en-US" sz="1200" b="1" dirty="0">
                          <a:solidFill>
                            <a:schemeClr val="bg1"/>
                          </a:solidFill>
                          <a:latin typeface="Arial" panose="020B0604020202020204" pitchFamily="34" charset="0"/>
                          <a:cs typeface="Arial" panose="020B0604020202020204" pitchFamily="34" charset="0"/>
                        </a:rPr>
                        <a:t>Description</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900958800"/>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Daily Training Environment</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Immersive, year-round environment integrating swim, bike, and run sessions with strength, recovery, and tactical skills work.</a:t>
                      </a:r>
                    </a:p>
                    <a:p>
                      <a:pPr marL="171450" indent="-171450">
                        <a:buFont typeface="Arial" panose="020B0604020202020204" pitchFamily="34" charset="0"/>
                        <a:buChar char="•"/>
                      </a:pPr>
                      <a:r>
                        <a:rPr lang="en-US" sz="1200" dirty="0"/>
                        <a:t>Small, focused athlete group allows for individualized programming and daily coach–athlete interaction.</a:t>
                      </a:r>
                    </a:p>
                    <a:p>
                      <a:pPr marL="171450" indent="-171450">
                        <a:buFont typeface="Arial" panose="020B0604020202020204" pitchFamily="34" charset="0"/>
                        <a:buChar char="•"/>
                      </a:pPr>
                      <a:r>
                        <a:rPr lang="en-US" sz="1200" dirty="0"/>
                        <a:t>Emphasis on fostering a competitive yet collaborative training culture that prepares athletes for the demands of the World Triathlon circuit.</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41209383"/>
                  </a:ext>
                </a:extLst>
              </a:tr>
              <a:tr h="1260000">
                <a:tc>
                  <a:txBody>
                    <a:bodyPr/>
                    <a:lstStyle/>
                    <a:p>
                      <a:pPr algn="ctr"/>
                      <a:r>
                        <a:rPr lang="en-CA" sz="1200" b="1" dirty="0">
                          <a:solidFill>
                            <a:schemeClr val="bg1"/>
                          </a:solidFill>
                          <a:latin typeface="Arial" panose="020B0604020202020204" pitchFamily="34" charset="0"/>
                          <a:cs typeface="Arial" panose="020B0604020202020204" pitchFamily="34" charset="0"/>
                        </a:rPr>
                        <a:t>Supreme Supporting Partners</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Backed by world-class equipment, apparel, and nutrition sponsors, ensuring athletes have the same tools as Olympic medal contenders.</a:t>
                      </a:r>
                    </a:p>
                    <a:p>
                      <a:pPr marL="171450" indent="-171450">
                        <a:buFont typeface="Arial" panose="020B0604020202020204" pitchFamily="34" charset="0"/>
                        <a:buChar char="•"/>
                      </a:pPr>
                      <a:r>
                        <a:rPr lang="en-US" sz="1200" dirty="0"/>
                        <a:t>Access to cutting-edge sport science through USOPC, university partners, and technology providers for performance testing, biomechanics, and data analysis.</a:t>
                      </a:r>
                    </a:p>
                    <a:p>
                      <a:pPr marL="171450" indent="-171450">
                        <a:buFont typeface="Arial" panose="020B0604020202020204" pitchFamily="34" charset="0"/>
                        <a:buChar char="•"/>
                      </a:pPr>
                      <a:r>
                        <a:rPr lang="en-US" sz="1200" dirty="0"/>
                        <a:t>Integrated support team including physiotherapists, nutritionists, sport psychologists, and bike mechanics.</a:t>
                      </a:r>
                    </a:p>
                    <a:p>
                      <a:pPr marL="171450" indent="-171450">
                        <a:buFont typeface="Arial" panose="020B0604020202020204" pitchFamily="34" charset="0"/>
                        <a:buChar char="•"/>
                      </a:pPr>
                      <a:r>
                        <a:rPr lang="en-US" sz="1200" dirty="0"/>
                        <a:t>Partnerships that offer mentorship, networking, gear, and professional development opportunities.</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12009687"/>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Scholarships and Support</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Partnership with Arizona State University provides tuition assistance, enabling athletes to pursue degrees while training and competing.</a:t>
                      </a:r>
                    </a:p>
                    <a:p>
                      <a:pPr marL="171450" indent="-171450">
                        <a:buFont typeface="Arial" panose="020B0604020202020204" pitchFamily="34" charset="0"/>
                        <a:buChar char="•"/>
                      </a:pPr>
                      <a:r>
                        <a:rPr lang="en-US" sz="1200" dirty="0"/>
                        <a:t>Academic advising and flexible class scheduling tailored to elite race calendars.</a:t>
                      </a:r>
                    </a:p>
                    <a:p>
                      <a:pPr marL="171450" indent="-171450">
                        <a:buFont typeface="Arial" panose="020B0604020202020204" pitchFamily="34" charset="0"/>
                        <a:buChar char="•"/>
                      </a:pPr>
                      <a:r>
                        <a:rPr lang="en-US" sz="1200" dirty="0"/>
                        <a:t>Life skills and career development workshops to prepare athletes for post-sport careers.</a:t>
                      </a:r>
                    </a:p>
                    <a:p>
                      <a:pPr marL="171450" indent="-171450">
                        <a:buFont typeface="Arial" panose="020B0604020202020204" pitchFamily="34" charset="0"/>
                        <a:buChar char="•"/>
                      </a:pPr>
                      <a:r>
                        <a:rPr lang="en-US" sz="1200" dirty="0"/>
                        <a:t>Proven track record of producing graduates who excel both in sport and in professional pathways.</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2573480"/>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Facilities and Resources</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Access to world-class training venues in Tempe, AZ, and Park City, UT: Elite Pools, private open water swimming areas, indoor/outdoor tracks, dedicated cycling routes, and altitude training opportunities.</a:t>
                      </a:r>
                    </a:p>
                    <a:p>
                      <a:pPr marL="171450" indent="-171450">
                        <a:buFont typeface="Arial" panose="020B0604020202020204" pitchFamily="34" charset="0"/>
                        <a:buChar char="•"/>
                      </a:pPr>
                      <a:r>
                        <a:rPr lang="en-US" sz="1200" dirty="0"/>
                        <a:t>On-site recovery and rehabilitation facilities, including ice baths, compression therapy, and sports massage.</a:t>
                      </a:r>
                    </a:p>
                    <a:p>
                      <a:pPr marL="171450" indent="-171450">
                        <a:buFont typeface="Arial" panose="020B0604020202020204" pitchFamily="34" charset="0"/>
                        <a:buChar char="•"/>
                      </a:pPr>
                      <a:r>
                        <a:rPr lang="en-US" sz="1200" dirty="0"/>
                        <a:t>High-tech performance lab for physiological testing, lactate analysis, and power/HR monitoring.</a:t>
                      </a:r>
                    </a:p>
                    <a:p>
                      <a:pPr marL="171450" indent="-171450">
                        <a:buFont typeface="Arial" panose="020B0604020202020204" pitchFamily="34" charset="0"/>
                        <a:buChar char="•"/>
                      </a:pPr>
                      <a:r>
                        <a:rPr lang="en-US" sz="1200" dirty="0"/>
                        <a:t>Year-round training in an optimal climate that supports consistent outdoor swimming, cycling, and running.</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02361399"/>
                  </a:ext>
                </a:extLst>
              </a:tr>
            </a:tbl>
          </a:graphicData>
        </a:graphic>
      </p:graphicFrame>
      <p:pic>
        <p:nvPicPr>
          <p:cNvPr id="7" name="Picture 6" descr="A logo with red and blue text&#10;&#10;AI-generated content may be incorrect.">
            <a:extLst>
              <a:ext uri="{FF2B5EF4-FFF2-40B4-BE49-F238E27FC236}">
                <a16:creationId xmlns:a16="http://schemas.microsoft.com/office/drawing/2014/main" id="{7BE5EC9B-BD01-0029-4BE5-0DC74AF4F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spTree>
    <p:extLst>
      <p:ext uri="{BB962C8B-B14F-4D97-AF65-F5344CB8AC3E}">
        <p14:creationId xmlns:p14="http://schemas.microsoft.com/office/powerpoint/2010/main" val="354171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F624EE-27D9-41E8-9495-8D91D91AE4A5}"/>
              </a:ext>
            </a:extLst>
          </p:cNvPr>
          <p:cNvSpPr>
            <a:spLocks noGrp="1"/>
          </p:cNvSpPr>
          <p:nvPr>
            <p:ph type="sldNum" sz="quarter" idx="12"/>
          </p:nvPr>
        </p:nvSpPr>
        <p:spPr>
          <a:xfrm>
            <a:off x="6902400" y="649800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4</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7BC9452D-8C9A-4844-BE21-7FF2B5FE5651}"/>
              </a:ext>
            </a:extLst>
          </p:cNvPr>
          <p:cNvGraphicFramePr>
            <a:graphicFrameLocks noGrp="1"/>
          </p:cNvGraphicFramePr>
          <p:nvPr>
            <p:extLst>
              <p:ext uri="{D42A27DB-BD31-4B8C-83A1-F6EECF244321}">
                <p14:modId xmlns:p14="http://schemas.microsoft.com/office/powerpoint/2010/main" val="1816536672"/>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marL="0" algn="l" defTabSz="914400" rtl="0" eaLnBrk="1" latinLnBrk="0" hangingPunct="1"/>
                      <a:r>
                        <a:rPr lang="en-US" sz="2600" b="1" kern="1200" dirty="0">
                          <a:solidFill>
                            <a:srgbClr val="002868"/>
                          </a:solidFill>
                          <a:latin typeface="Arial" panose="020B0604020202020204" pitchFamily="34" charset="0"/>
                          <a:ea typeface="+mj-ea"/>
                          <a:cs typeface="Arial" panose="020B0604020202020204" pitchFamily="34" charset="0"/>
                        </a:rPr>
                        <a:t>Competition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766794E0-3F68-44F1-A6FB-97C8D263475B}"/>
              </a:ext>
            </a:extLst>
          </p:cNvPr>
          <p:cNvGraphicFramePr>
            <a:graphicFrameLocks noGrp="1"/>
          </p:cNvGraphicFramePr>
          <p:nvPr>
            <p:extLst>
              <p:ext uri="{D42A27DB-BD31-4B8C-83A1-F6EECF244321}">
                <p14:modId xmlns:p14="http://schemas.microsoft.com/office/powerpoint/2010/main" val="1715129092"/>
              </p:ext>
            </p:extLst>
          </p:nvPr>
        </p:nvGraphicFramePr>
        <p:xfrm>
          <a:off x="180001" y="1572659"/>
          <a:ext cx="2741876" cy="579120"/>
        </p:xfrm>
        <a:graphic>
          <a:graphicData uri="http://schemas.openxmlformats.org/drawingml/2006/table">
            <a:tbl>
              <a:tblPr firstRow="1" bandRow="1">
                <a:tableStyleId>{5C22544A-7EE6-4342-B048-85BDC9FD1C3A}</a:tableStyleId>
              </a:tblPr>
              <a:tblGrid>
                <a:gridCol w="2741876">
                  <a:extLst>
                    <a:ext uri="{9D8B030D-6E8A-4147-A177-3AD203B41FA5}">
                      <a16:colId xmlns:a16="http://schemas.microsoft.com/office/drawing/2014/main" val="3396165715"/>
                    </a:ext>
                  </a:extLst>
                </a:gridCol>
              </a:tblGrid>
              <a:tr h="288000">
                <a:tc>
                  <a:txBody>
                    <a:bodyPr/>
                    <a:lstStyle/>
                    <a:p>
                      <a:pPr algn="ctr"/>
                      <a:r>
                        <a:rPr lang="en-US" sz="1600" b="1" dirty="0">
                          <a:solidFill>
                            <a:schemeClr val="bg1"/>
                          </a:solidFill>
                          <a:latin typeface="Arial" panose="020B0604020202020204" pitchFamily="34" charset="0"/>
                          <a:cs typeface="Arial" panose="020B0604020202020204" pitchFamily="34" charset="0"/>
                        </a:rPr>
                        <a:t>Domestic and Regional Competition</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7" name="Table 6">
            <a:extLst>
              <a:ext uri="{FF2B5EF4-FFF2-40B4-BE49-F238E27FC236}">
                <a16:creationId xmlns:a16="http://schemas.microsoft.com/office/drawing/2014/main" id="{283787D5-B747-44CD-B650-BAE9B4F2DC3C}"/>
              </a:ext>
            </a:extLst>
          </p:cNvPr>
          <p:cNvGraphicFramePr>
            <a:graphicFrameLocks noGrp="1"/>
          </p:cNvGraphicFramePr>
          <p:nvPr>
            <p:extLst>
              <p:ext uri="{D42A27DB-BD31-4B8C-83A1-F6EECF244321}">
                <p14:modId xmlns:p14="http://schemas.microsoft.com/office/powerpoint/2010/main" val="3998283140"/>
              </p:ext>
            </p:extLst>
          </p:nvPr>
        </p:nvGraphicFramePr>
        <p:xfrm>
          <a:off x="3070346" y="1572659"/>
          <a:ext cx="2962593" cy="579120"/>
        </p:xfrm>
        <a:graphic>
          <a:graphicData uri="http://schemas.openxmlformats.org/drawingml/2006/table">
            <a:tbl>
              <a:tblPr firstRow="1" bandRow="1">
                <a:tableStyleId>{5C22544A-7EE6-4342-B048-85BDC9FD1C3A}</a:tableStyleId>
              </a:tblPr>
              <a:tblGrid>
                <a:gridCol w="2962593">
                  <a:extLst>
                    <a:ext uri="{9D8B030D-6E8A-4147-A177-3AD203B41FA5}">
                      <a16:colId xmlns:a16="http://schemas.microsoft.com/office/drawing/2014/main" val="3396165715"/>
                    </a:ext>
                  </a:extLst>
                </a:gridCol>
              </a:tblGrid>
              <a:tr h="121499">
                <a:tc>
                  <a:txBody>
                    <a:bodyPr/>
                    <a:lstStyle/>
                    <a:p>
                      <a:pPr algn="ctr"/>
                      <a:r>
                        <a:rPr lang="en-US" sz="1600" b="1" dirty="0">
                          <a:solidFill>
                            <a:schemeClr val="bg1"/>
                          </a:solidFill>
                          <a:latin typeface="Arial" panose="020B0604020202020204" pitchFamily="34" charset="0"/>
                          <a:cs typeface="Arial" panose="020B0604020202020204" pitchFamily="34" charset="0"/>
                        </a:rPr>
                        <a:t>World Triathlon Hosted Events</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4" name="TextBox 13">
            <a:extLst>
              <a:ext uri="{FF2B5EF4-FFF2-40B4-BE49-F238E27FC236}">
                <a16:creationId xmlns:a16="http://schemas.microsoft.com/office/drawing/2014/main" id="{3B13F76C-8A52-A781-15BC-04886F4EFC29}"/>
              </a:ext>
            </a:extLst>
          </p:cNvPr>
          <p:cNvSpPr txBox="1"/>
          <p:nvPr/>
        </p:nvSpPr>
        <p:spPr>
          <a:xfrm>
            <a:off x="328470" y="4083981"/>
            <a:ext cx="2741876" cy="2414019"/>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USAT National Championships – </a:t>
            </a:r>
            <a:r>
              <a:rPr lang="en-US" sz="1200" dirty="0">
                <a:latin typeface="Arial" panose="020B0604020202020204" pitchFamily="34" charset="0"/>
                <a:cs typeface="Arial" panose="020B0604020202020204" pitchFamily="34" charset="0"/>
              </a:rPr>
              <a:t>Project Podium athletes have excelled at the junior national level, winning the last 5 USA National Championships</a:t>
            </a:r>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Development Pipeline – </a:t>
            </a:r>
            <a:r>
              <a:rPr lang="en-US" sz="1200" dirty="0">
                <a:latin typeface="Arial" panose="020B0604020202020204" pitchFamily="34" charset="0"/>
                <a:cs typeface="Arial" panose="020B0604020202020204" pitchFamily="34" charset="0"/>
              </a:rPr>
              <a:t>Provides race opportunities for younger athletes to build skills, confidence, and readiness for international racing</a:t>
            </a:r>
          </a:p>
        </p:txBody>
      </p:sp>
      <p:pic>
        <p:nvPicPr>
          <p:cNvPr id="9" name="Picture 8" descr="A blue background with white text&#10;&#10;AI-generated content may be incorrect.">
            <a:extLst>
              <a:ext uri="{FF2B5EF4-FFF2-40B4-BE49-F238E27FC236}">
                <a16:creationId xmlns:a16="http://schemas.microsoft.com/office/drawing/2014/main" id="{A321A8DF-7B85-DB6F-CDA7-8A96FDC6630B}"/>
              </a:ext>
            </a:extLst>
          </p:cNvPr>
          <p:cNvPicPr>
            <a:picLocks noChangeAspect="1"/>
          </p:cNvPicPr>
          <p:nvPr/>
        </p:nvPicPr>
        <p:blipFill>
          <a:blip r:embed="rId3">
            <a:extLst>
              <a:ext uri="{28A0092B-C50C-407E-A947-70E740481C1C}">
                <a14:useLocalDpi xmlns:a14="http://schemas.microsoft.com/office/drawing/2010/main" val="0"/>
              </a:ext>
            </a:extLst>
          </a:blip>
          <a:srcRect l="21223" t="25886" r="20886" b="23450"/>
          <a:stretch>
            <a:fillRect/>
          </a:stretch>
        </p:blipFill>
        <p:spPr>
          <a:xfrm>
            <a:off x="3090702" y="2315225"/>
            <a:ext cx="2962593" cy="1653325"/>
          </a:xfrm>
          <a:prstGeom prst="rect">
            <a:avLst/>
          </a:prstGeom>
        </p:spPr>
      </p:pic>
      <p:pic>
        <p:nvPicPr>
          <p:cNvPr id="16" name="Picture 15" descr="A logo for a sports team&#10;&#10;AI-generated content may be incorrect.">
            <a:extLst>
              <a:ext uri="{FF2B5EF4-FFF2-40B4-BE49-F238E27FC236}">
                <a16:creationId xmlns:a16="http://schemas.microsoft.com/office/drawing/2014/main" id="{9961E0CC-1981-CCEE-BC42-0F20BB4C635B}"/>
              </a:ext>
            </a:extLst>
          </p:cNvPr>
          <p:cNvPicPr>
            <a:picLocks noChangeAspect="1"/>
          </p:cNvPicPr>
          <p:nvPr/>
        </p:nvPicPr>
        <p:blipFill>
          <a:blip r:embed="rId4">
            <a:extLst>
              <a:ext uri="{28A0092B-C50C-407E-A947-70E740481C1C}">
                <a14:useLocalDpi xmlns:a14="http://schemas.microsoft.com/office/drawing/2010/main" val="0"/>
              </a:ext>
            </a:extLst>
          </a:blip>
          <a:srcRect l="6948" t="4930" r="5523" b="6848"/>
          <a:stretch>
            <a:fillRect/>
          </a:stretch>
        </p:blipFill>
        <p:spPr>
          <a:xfrm>
            <a:off x="440322" y="2331778"/>
            <a:ext cx="2221231" cy="1636772"/>
          </a:xfrm>
          <a:prstGeom prst="rect">
            <a:avLst/>
          </a:prstGeom>
        </p:spPr>
      </p:pic>
      <p:pic>
        <p:nvPicPr>
          <p:cNvPr id="18" name="Picture 17" descr="A yellow text on a black background&#10;&#10;AI-generated content may be incorrect.">
            <a:extLst>
              <a:ext uri="{FF2B5EF4-FFF2-40B4-BE49-F238E27FC236}">
                <a16:creationId xmlns:a16="http://schemas.microsoft.com/office/drawing/2014/main" id="{8A51B8F2-7162-E1CA-D960-96C2059FD949}"/>
              </a:ext>
            </a:extLst>
          </p:cNvPr>
          <p:cNvPicPr>
            <a:picLocks noChangeAspect="1"/>
          </p:cNvPicPr>
          <p:nvPr/>
        </p:nvPicPr>
        <p:blipFill>
          <a:blip r:embed="rId5">
            <a:extLst>
              <a:ext uri="{28A0092B-C50C-407E-A947-70E740481C1C}">
                <a14:useLocalDpi xmlns:a14="http://schemas.microsoft.com/office/drawing/2010/main" val="0"/>
              </a:ext>
            </a:extLst>
          </a:blip>
          <a:srcRect l="10556" t="16875" r="9391" b="8195"/>
          <a:stretch>
            <a:fillRect/>
          </a:stretch>
        </p:blipFill>
        <p:spPr>
          <a:xfrm>
            <a:off x="6181408" y="2331778"/>
            <a:ext cx="2741876" cy="1636772"/>
          </a:xfrm>
          <a:prstGeom prst="rect">
            <a:avLst/>
          </a:prstGeom>
        </p:spPr>
      </p:pic>
      <p:graphicFrame>
        <p:nvGraphicFramePr>
          <p:cNvPr id="20" name="Table 19">
            <a:extLst>
              <a:ext uri="{FF2B5EF4-FFF2-40B4-BE49-F238E27FC236}">
                <a16:creationId xmlns:a16="http://schemas.microsoft.com/office/drawing/2014/main" id="{80A3CA89-BAF4-EAD6-4F30-ABB7A2EB47D7}"/>
              </a:ext>
            </a:extLst>
          </p:cNvPr>
          <p:cNvGraphicFramePr>
            <a:graphicFrameLocks noGrp="1"/>
          </p:cNvGraphicFramePr>
          <p:nvPr>
            <p:extLst>
              <p:ext uri="{D42A27DB-BD31-4B8C-83A1-F6EECF244321}">
                <p14:modId xmlns:p14="http://schemas.microsoft.com/office/powerpoint/2010/main" val="3326362817"/>
              </p:ext>
            </p:extLst>
          </p:nvPr>
        </p:nvGraphicFramePr>
        <p:xfrm>
          <a:off x="6181408" y="1572659"/>
          <a:ext cx="2741876" cy="599677"/>
        </p:xfrm>
        <a:graphic>
          <a:graphicData uri="http://schemas.openxmlformats.org/drawingml/2006/table">
            <a:tbl>
              <a:tblPr firstRow="1" bandRow="1">
                <a:tableStyleId>{5C22544A-7EE6-4342-B048-85BDC9FD1C3A}</a:tableStyleId>
              </a:tblPr>
              <a:tblGrid>
                <a:gridCol w="2741876">
                  <a:extLst>
                    <a:ext uri="{9D8B030D-6E8A-4147-A177-3AD203B41FA5}">
                      <a16:colId xmlns:a16="http://schemas.microsoft.com/office/drawing/2014/main" val="3396165715"/>
                    </a:ext>
                  </a:extLst>
                </a:gridCol>
              </a:tblGrid>
              <a:tr h="599677">
                <a:tc>
                  <a:txBody>
                    <a:bodyPr/>
                    <a:lstStyle/>
                    <a:p>
                      <a:pPr algn="ctr"/>
                      <a:r>
                        <a:rPr lang="en-US" sz="1600" b="1" dirty="0" err="1">
                          <a:solidFill>
                            <a:schemeClr val="bg1"/>
                          </a:solidFill>
                          <a:latin typeface="Arial" panose="020B0604020202020204" pitchFamily="34" charset="0"/>
                          <a:cs typeface="Arial" panose="020B0604020202020204" pitchFamily="34" charset="0"/>
                        </a:rPr>
                        <a:t>Supertri</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21" name="TextBox 20">
            <a:extLst>
              <a:ext uri="{FF2B5EF4-FFF2-40B4-BE49-F238E27FC236}">
                <a16:creationId xmlns:a16="http://schemas.microsoft.com/office/drawing/2014/main" id="{24F56777-2B0C-8B59-E584-6680C332C9DF}"/>
              </a:ext>
            </a:extLst>
          </p:cNvPr>
          <p:cNvSpPr txBox="1"/>
          <p:nvPr/>
        </p:nvSpPr>
        <p:spPr>
          <a:xfrm>
            <a:off x="3090702" y="4131996"/>
            <a:ext cx="308677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Continental Cups – </a:t>
            </a:r>
            <a:r>
              <a:rPr lang="en-US" sz="1200" dirty="0">
                <a:latin typeface="Arial" panose="020B0604020202020204" pitchFamily="34" charset="0"/>
                <a:cs typeface="Arial" panose="020B0604020202020204" pitchFamily="34" charset="0"/>
              </a:rPr>
              <a:t>Foundation of senior elite international racing, giving athletes the chance to earn valuable World Triathlon ranking points and gain high-level race experience</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Cups – </a:t>
            </a:r>
            <a:r>
              <a:rPr lang="en-US" sz="1200" dirty="0">
                <a:latin typeface="Arial" panose="020B0604020202020204" pitchFamily="34" charset="0"/>
                <a:cs typeface="Arial" panose="020B0604020202020204" pitchFamily="34" charset="0"/>
              </a:rPr>
              <a:t>Global-level elite races attracting strong international fields, offering higher points and exposure</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Triathlon Championship Series (WTCS) – </a:t>
            </a:r>
            <a:r>
              <a:rPr lang="en-US" sz="1200" dirty="0">
                <a:latin typeface="Arial" panose="020B0604020202020204" pitchFamily="34" charset="0"/>
                <a:cs typeface="Arial" panose="020B0604020202020204" pitchFamily="34" charset="0"/>
              </a:rPr>
              <a:t>Premier annual series featuring the world’s top athletes, awarding maximum points outside the Olympics</a:t>
            </a:r>
          </a:p>
        </p:txBody>
      </p:sp>
      <p:sp>
        <p:nvSpPr>
          <p:cNvPr id="22" name="TextBox 21">
            <a:extLst>
              <a:ext uri="{FF2B5EF4-FFF2-40B4-BE49-F238E27FC236}">
                <a16:creationId xmlns:a16="http://schemas.microsoft.com/office/drawing/2014/main" id="{482B32D6-F03D-6E9D-5A81-913712CB8567}"/>
              </a:ext>
            </a:extLst>
          </p:cNvPr>
          <p:cNvSpPr txBox="1"/>
          <p:nvPr/>
        </p:nvSpPr>
        <p:spPr>
          <a:xfrm>
            <a:off x="6053295" y="4131996"/>
            <a:ext cx="290650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Stars and Stripes Racing – </a:t>
            </a:r>
            <a:r>
              <a:rPr lang="en-US" sz="1200" dirty="0">
                <a:latin typeface="Arial" panose="020B0604020202020204" pitchFamily="34" charset="0"/>
                <a:cs typeface="Arial" panose="020B0604020202020204" pitchFamily="34" charset="0"/>
              </a:rPr>
              <a:t>Professional short-course triathlon team coached by Project Podium Head Coach Parker Spencer, providing athletes with a supportive, high-performance team environment</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New Short-Course Competition – </a:t>
            </a:r>
            <a:r>
              <a:rPr lang="en-US" sz="1200" dirty="0">
                <a:latin typeface="Arial" panose="020B0604020202020204" pitchFamily="34" charset="0"/>
                <a:cs typeface="Arial" panose="020B0604020202020204" pitchFamily="34" charset="0"/>
              </a:rPr>
              <a:t>Innovative race formats that emphasize speed, tactical racing, and global exposure, giving athletes additional opportunities to compete against world-class fields.</a:t>
            </a:r>
          </a:p>
        </p:txBody>
      </p:sp>
      <p:sp>
        <p:nvSpPr>
          <p:cNvPr id="26" name="TextBox 25">
            <a:extLst>
              <a:ext uri="{FF2B5EF4-FFF2-40B4-BE49-F238E27FC236}">
                <a16:creationId xmlns:a16="http://schemas.microsoft.com/office/drawing/2014/main" id="{F92AED98-BE9D-2DF4-62B7-9F4044D7AFA5}"/>
              </a:ext>
            </a:extLst>
          </p:cNvPr>
          <p:cNvSpPr txBox="1"/>
          <p:nvPr/>
        </p:nvSpPr>
        <p:spPr>
          <a:xfrm>
            <a:off x="180000" y="659624"/>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Project Podium athletes benefit from unique competitive opportunities spanning domestic, regional, and international levels, enabling them to gain experience, earn ranking points, and develop toward the world stage.</a:t>
            </a:r>
          </a:p>
        </p:txBody>
      </p:sp>
      <p:pic>
        <p:nvPicPr>
          <p:cNvPr id="8" name="Picture 7" descr="A logo with red and blue text&#10;&#10;AI-generated content may be incorrect.">
            <a:extLst>
              <a:ext uri="{FF2B5EF4-FFF2-40B4-BE49-F238E27FC236}">
                <a16:creationId xmlns:a16="http://schemas.microsoft.com/office/drawing/2014/main" id="{FDDD0472-B7D7-1BF2-104C-25B780B144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spTree>
    <p:extLst>
      <p:ext uri="{BB962C8B-B14F-4D97-AF65-F5344CB8AC3E}">
        <p14:creationId xmlns:p14="http://schemas.microsoft.com/office/powerpoint/2010/main" val="1899921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86876-340B-1E43-D486-20211F629B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16F2F3-164D-A646-8B0C-210F1D2C74C4}"/>
              </a:ext>
            </a:extLst>
          </p:cNvPr>
          <p:cNvSpPr>
            <a:spLocks noGrp="1"/>
          </p:cNvSpPr>
          <p:nvPr>
            <p:ph type="sldNum" sz="quarter" idx="12"/>
          </p:nvPr>
        </p:nvSpPr>
        <p:spPr>
          <a:xfrm>
            <a:off x="6902400" y="649800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5</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8CC25467-3083-5BAC-7892-D57A4392B899}"/>
              </a:ext>
            </a:extLst>
          </p:cNvPr>
          <p:cNvGraphicFramePr>
            <a:graphicFrameLocks noGrp="1"/>
          </p:cNvGraphicFramePr>
          <p:nvPr>
            <p:extLst>
              <p:ext uri="{D42A27DB-BD31-4B8C-83A1-F6EECF244321}">
                <p14:modId xmlns:p14="http://schemas.microsoft.com/office/powerpoint/2010/main" val="1421448708"/>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marL="0" algn="l" defTabSz="914400" rtl="0" eaLnBrk="1" latinLnBrk="0" hangingPunct="1"/>
                      <a:r>
                        <a:rPr lang="en-US" sz="2600" b="1" kern="1200" dirty="0">
                          <a:solidFill>
                            <a:srgbClr val="002868"/>
                          </a:solidFill>
                          <a:latin typeface="Arial" panose="020B0604020202020204" pitchFamily="34" charset="0"/>
                          <a:ea typeface="+mj-ea"/>
                          <a:cs typeface="Arial" panose="020B0604020202020204" pitchFamily="34" charset="0"/>
                        </a:rPr>
                        <a:t>Data Analysis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BA1FDB95-E49B-00D8-86B4-5FD8BAFFCF4A}"/>
              </a:ext>
            </a:extLst>
          </p:cNvPr>
          <p:cNvGraphicFramePr>
            <a:graphicFrameLocks noGrp="1"/>
          </p:cNvGraphicFramePr>
          <p:nvPr/>
        </p:nvGraphicFramePr>
        <p:xfrm>
          <a:off x="180001" y="1572659"/>
          <a:ext cx="2741876" cy="579120"/>
        </p:xfrm>
        <a:graphic>
          <a:graphicData uri="http://schemas.openxmlformats.org/drawingml/2006/table">
            <a:tbl>
              <a:tblPr firstRow="1" bandRow="1">
                <a:tableStyleId>{5C22544A-7EE6-4342-B048-85BDC9FD1C3A}</a:tableStyleId>
              </a:tblPr>
              <a:tblGrid>
                <a:gridCol w="2741876">
                  <a:extLst>
                    <a:ext uri="{9D8B030D-6E8A-4147-A177-3AD203B41FA5}">
                      <a16:colId xmlns:a16="http://schemas.microsoft.com/office/drawing/2014/main" val="3396165715"/>
                    </a:ext>
                  </a:extLst>
                </a:gridCol>
              </a:tblGrid>
              <a:tr h="288000">
                <a:tc>
                  <a:txBody>
                    <a:bodyPr/>
                    <a:lstStyle/>
                    <a:p>
                      <a:pPr algn="ctr"/>
                      <a:r>
                        <a:rPr lang="en-US" sz="1600" b="1" dirty="0">
                          <a:solidFill>
                            <a:schemeClr val="bg1"/>
                          </a:solidFill>
                          <a:latin typeface="Arial" panose="020B0604020202020204" pitchFamily="34" charset="0"/>
                          <a:cs typeface="Arial" panose="020B0604020202020204" pitchFamily="34" charset="0"/>
                        </a:rPr>
                        <a:t>Domestic and Regional Competition</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7" name="Table 6">
            <a:extLst>
              <a:ext uri="{FF2B5EF4-FFF2-40B4-BE49-F238E27FC236}">
                <a16:creationId xmlns:a16="http://schemas.microsoft.com/office/drawing/2014/main" id="{5D89AA0A-E9F5-86AD-3C2A-16B1BA519213}"/>
              </a:ext>
            </a:extLst>
          </p:cNvPr>
          <p:cNvGraphicFramePr>
            <a:graphicFrameLocks noGrp="1"/>
          </p:cNvGraphicFramePr>
          <p:nvPr/>
        </p:nvGraphicFramePr>
        <p:xfrm>
          <a:off x="3070346" y="1572659"/>
          <a:ext cx="2962593" cy="579120"/>
        </p:xfrm>
        <a:graphic>
          <a:graphicData uri="http://schemas.openxmlformats.org/drawingml/2006/table">
            <a:tbl>
              <a:tblPr firstRow="1" bandRow="1">
                <a:tableStyleId>{5C22544A-7EE6-4342-B048-85BDC9FD1C3A}</a:tableStyleId>
              </a:tblPr>
              <a:tblGrid>
                <a:gridCol w="2962593">
                  <a:extLst>
                    <a:ext uri="{9D8B030D-6E8A-4147-A177-3AD203B41FA5}">
                      <a16:colId xmlns:a16="http://schemas.microsoft.com/office/drawing/2014/main" val="3396165715"/>
                    </a:ext>
                  </a:extLst>
                </a:gridCol>
              </a:tblGrid>
              <a:tr h="121499">
                <a:tc>
                  <a:txBody>
                    <a:bodyPr/>
                    <a:lstStyle/>
                    <a:p>
                      <a:pPr algn="ctr"/>
                      <a:r>
                        <a:rPr lang="en-US" sz="1600" b="1" dirty="0">
                          <a:solidFill>
                            <a:schemeClr val="bg1"/>
                          </a:solidFill>
                          <a:latin typeface="Arial" panose="020B0604020202020204" pitchFamily="34" charset="0"/>
                          <a:cs typeface="Arial" panose="020B0604020202020204" pitchFamily="34" charset="0"/>
                        </a:rPr>
                        <a:t>World Triathlon Hosted Events</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4" name="TextBox 13">
            <a:extLst>
              <a:ext uri="{FF2B5EF4-FFF2-40B4-BE49-F238E27FC236}">
                <a16:creationId xmlns:a16="http://schemas.microsoft.com/office/drawing/2014/main" id="{CA0D63C3-8A94-5ECF-0F5B-28E9CF206B9D}"/>
              </a:ext>
            </a:extLst>
          </p:cNvPr>
          <p:cNvSpPr txBox="1"/>
          <p:nvPr/>
        </p:nvSpPr>
        <p:spPr>
          <a:xfrm>
            <a:off x="328470" y="4083981"/>
            <a:ext cx="2741876" cy="2414019"/>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USAT National Championships – </a:t>
            </a:r>
            <a:r>
              <a:rPr lang="en-US" sz="1200" dirty="0">
                <a:latin typeface="Arial" panose="020B0604020202020204" pitchFamily="34" charset="0"/>
                <a:cs typeface="Arial" panose="020B0604020202020204" pitchFamily="34" charset="0"/>
              </a:rPr>
              <a:t>Project Podium athletes have excelled at the junior national level, winning the last 5 USA National Championships</a:t>
            </a:r>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Development Pipeline – </a:t>
            </a:r>
            <a:r>
              <a:rPr lang="en-US" sz="1200" dirty="0">
                <a:latin typeface="Arial" panose="020B0604020202020204" pitchFamily="34" charset="0"/>
                <a:cs typeface="Arial" panose="020B0604020202020204" pitchFamily="34" charset="0"/>
              </a:rPr>
              <a:t>Provides race opportunities for younger athletes to build skills, confidence, and readiness for international racing</a:t>
            </a:r>
          </a:p>
        </p:txBody>
      </p:sp>
      <p:pic>
        <p:nvPicPr>
          <p:cNvPr id="9" name="Picture 8" descr="A blue background with white text&#10;&#10;AI-generated content may be incorrect.">
            <a:extLst>
              <a:ext uri="{FF2B5EF4-FFF2-40B4-BE49-F238E27FC236}">
                <a16:creationId xmlns:a16="http://schemas.microsoft.com/office/drawing/2014/main" id="{77C2574D-C9BF-8EE9-C9BA-23EA8D1CCD0B}"/>
              </a:ext>
            </a:extLst>
          </p:cNvPr>
          <p:cNvPicPr>
            <a:picLocks noChangeAspect="1"/>
          </p:cNvPicPr>
          <p:nvPr/>
        </p:nvPicPr>
        <p:blipFill>
          <a:blip r:embed="rId3">
            <a:extLst>
              <a:ext uri="{28A0092B-C50C-407E-A947-70E740481C1C}">
                <a14:useLocalDpi xmlns:a14="http://schemas.microsoft.com/office/drawing/2010/main" val="0"/>
              </a:ext>
            </a:extLst>
          </a:blip>
          <a:srcRect l="21223" t="25886" r="20886" b="23450"/>
          <a:stretch>
            <a:fillRect/>
          </a:stretch>
        </p:blipFill>
        <p:spPr>
          <a:xfrm>
            <a:off x="3090702" y="2315225"/>
            <a:ext cx="2962593" cy="1653325"/>
          </a:xfrm>
          <a:prstGeom prst="rect">
            <a:avLst/>
          </a:prstGeom>
        </p:spPr>
      </p:pic>
      <p:pic>
        <p:nvPicPr>
          <p:cNvPr id="16" name="Picture 15" descr="A logo for a sports team&#10;&#10;AI-generated content may be incorrect.">
            <a:extLst>
              <a:ext uri="{FF2B5EF4-FFF2-40B4-BE49-F238E27FC236}">
                <a16:creationId xmlns:a16="http://schemas.microsoft.com/office/drawing/2014/main" id="{59266E2E-27FA-007C-8D5B-08ABEFAB710A}"/>
              </a:ext>
            </a:extLst>
          </p:cNvPr>
          <p:cNvPicPr>
            <a:picLocks noChangeAspect="1"/>
          </p:cNvPicPr>
          <p:nvPr/>
        </p:nvPicPr>
        <p:blipFill>
          <a:blip r:embed="rId4">
            <a:extLst>
              <a:ext uri="{28A0092B-C50C-407E-A947-70E740481C1C}">
                <a14:useLocalDpi xmlns:a14="http://schemas.microsoft.com/office/drawing/2010/main" val="0"/>
              </a:ext>
            </a:extLst>
          </a:blip>
          <a:srcRect l="6948" t="4930" r="5523" b="6848"/>
          <a:stretch>
            <a:fillRect/>
          </a:stretch>
        </p:blipFill>
        <p:spPr>
          <a:xfrm>
            <a:off x="440322" y="2331778"/>
            <a:ext cx="2221231" cy="1636772"/>
          </a:xfrm>
          <a:prstGeom prst="rect">
            <a:avLst/>
          </a:prstGeom>
        </p:spPr>
      </p:pic>
      <p:sp>
        <p:nvSpPr>
          <p:cNvPr id="21" name="TextBox 20">
            <a:extLst>
              <a:ext uri="{FF2B5EF4-FFF2-40B4-BE49-F238E27FC236}">
                <a16:creationId xmlns:a16="http://schemas.microsoft.com/office/drawing/2014/main" id="{6F824F44-E961-BB51-04D1-99C845BC7DCC}"/>
              </a:ext>
            </a:extLst>
          </p:cNvPr>
          <p:cNvSpPr txBox="1"/>
          <p:nvPr/>
        </p:nvSpPr>
        <p:spPr>
          <a:xfrm>
            <a:off x="3090702" y="4131996"/>
            <a:ext cx="308677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Continental Cups – </a:t>
            </a:r>
            <a:r>
              <a:rPr lang="en-US" sz="1200" dirty="0">
                <a:latin typeface="Arial" panose="020B0604020202020204" pitchFamily="34" charset="0"/>
                <a:cs typeface="Arial" panose="020B0604020202020204" pitchFamily="34" charset="0"/>
              </a:rPr>
              <a:t>Foundation of senior elite international racing, giving athletes the chance to earn valuable World Triathlon ranking points and gain high-level race experience</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Cups – </a:t>
            </a:r>
            <a:r>
              <a:rPr lang="en-US" sz="1200" dirty="0">
                <a:latin typeface="Arial" panose="020B0604020202020204" pitchFamily="34" charset="0"/>
                <a:cs typeface="Arial" panose="020B0604020202020204" pitchFamily="34" charset="0"/>
              </a:rPr>
              <a:t>Global-level elite races attracting strong international fields, offering higher points and exposure</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Triathlon Championship Series (WTCS) – </a:t>
            </a:r>
            <a:r>
              <a:rPr lang="en-US" sz="1200" dirty="0">
                <a:latin typeface="Arial" panose="020B0604020202020204" pitchFamily="34" charset="0"/>
                <a:cs typeface="Arial" panose="020B0604020202020204" pitchFamily="34" charset="0"/>
              </a:rPr>
              <a:t>Premier annual series featuring the world’s top athletes, awarding maximum points outside the Olympics</a:t>
            </a:r>
          </a:p>
        </p:txBody>
      </p:sp>
      <p:sp>
        <p:nvSpPr>
          <p:cNvPr id="26" name="TextBox 25">
            <a:extLst>
              <a:ext uri="{FF2B5EF4-FFF2-40B4-BE49-F238E27FC236}">
                <a16:creationId xmlns:a16="http://schemas.microsoft.com/office/drawing/2014/main" id="{F379D14A-CE9E-CE98-8B61-A788825412DB}"/>
              </a:ext>
            </a:extLst>
          </p:cNvPr>
          <p:cNvSpPr txBox="1"/>
          <p:nvPr/>
        </p:nvSpPr>
        <p:spPr>
          <a:xfrm>
            <a:off x="107811" y="168230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xx</a:t>
            </a:r>
          </a:p>
        </p:txBody>
      </p:sp>
      <p:pic>
        <p:nvPicPr>
          <p:cNvPr id="8" name="Picture 7" descr="A logo with red and blue text&#10;&#10;AI-generated content may be incorrect.">
            <a:extLst>
              <a:ext uri="{FF2B5EF4-FFF2-40B4-BE49-F238E27FC236}">
                <a16:creationId xmlns:a16="http://schemas.microsoft.com/office/drawing/2014/main" id="{3114D215-45BE-A99F-C522-7676E1DE49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graphicFrame>
        <p:nvGraphicFramePr>
          <p:cNvPr id="20" name="Table 19">
            <a:extLst>
              <a:ext uri="{FF2B5EF4-FFF2-40B4-BE49-F238E27FC236}">
                <a16:creationId xmlns:a16="http://schemas.microsoft.com/office/drawing/2014/main" id="{8DB76E9F-22AE-C03B-F8BF-8976BD69100C}"/>
              </a:ext>
            </a:extLst>
          </p:cNvPr>
          <p:cNvGraphicFramePr>
            <a:graphicFrameLocks noGrp="1"/>
          </p:cNvGraphicFramePr>
          <p:nvPr>
            <p:extLst>
              <p:ext uri="{D42A27DB-BD31-4B8C-83A1-F6EECF244321}">
                <p14:modId xmlns:p14="http://schemas.microsoft.com/office/powerpoint/2010/main" val="132657095"/>
              </p:ext>
            </p:extLst>
          </p:nvPr>
        </p:nvGraphicFramePr>
        <p:xfrm>
          <a:off x="786577" y="1282158"/>
          <a:ext cx="7684031" cy="4653683"/>
        </p:xfrm>
        <a:graphic>
          <a:graphicData uri="http://schemas.openxmlformats.org/drawingml/2006/table">
            <a:tbl>
              <a:tblPr firstRow="1" bandRow="1">
                <a:tableStyleId>{5C22544A-7EE6-4342-B048-85BDC9FD1C3A}</a:tableStyleId>
              </a:tblPr>
              <a:tblGrid>
                <a:gridCol w="7684031">
                  <a:extLst>
                    <a:ext uri="{9D8B030D-6E8A-4147-A177-3AD203B41FA5}">
                      <a16:colId xmlns:a16="http://schemas.microsoft.com/office/drawing/2014/main" val="3396165715"/>
                    </a:ext>
                  </a:extLst>
                </a:gridCol>
              </a:tblGrid>
              <a:tr h="4653683">
                <a:tc>
                  <a:txBody>
                    <a:bodyPr/>
                    <a:lstStyle/>
                    <a:p>
                      <a:pPr algn="ctr"/>
                      <a:r>
                        <a:rPr lang="en-CA" sz="8000" b="1" dirty="0">
                          <a:solidFill>
                            <a:schemeClr val="bg1"/>
                          </a:solidFill>
                          <a:latin typeface="Arial" panose="020B0604020202020204" pitchFamily="34" charset="0"/>
                          <a:cs typeface="Arial" panose="020B0604020202020204" pitchFamily="34" charset="0"/>
                        </a:rPr>
                        <a:t>TBD</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Tree>
    <p:extLst>
      <p:ext uri="{BB962C8B-B14F-4D97-AF65-F5344CB8AC3E}">
        <p14:creationId xmlns:p14="http://schemas.microsoft.com/office/powerpoint/2010/main" val="2634773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D26C-4670-5A89-BF4C-50F1DECA3AFC}"/>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97C5B06-A938-BD6C-B800-78E11B63BCC0}"/>
              </a:ext>
            </a:extLst>
          </p:cNvPr>
          <p:cNvSpPr txBox="1"/>
          <p:nvPr/>
        </p:nvSpPr>
        <p:spPr>
          <a:xfrm>
            <a:off x="1882139" y="1124459"/>
            <a:ext cx="5599315"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Project Podium Overview</a:t>
            </a:r>
          </a:p>
        </p:txBody>
      </p:sp>
      <p:sp>
        <p:nvSpPr>
          <p:cNvPr id="18" name="Rectangle 17">
            <a:extLst>
              <a:ext uri="{FF2B5EF4-FFF2-40B4-BE49-F238E27FC236}">
                <a16:creationId xmlns:a16="http://schemas.microsoft.com/office/drawing/2014/main" id="{E75251F4-BDB8-5BF7-87F9-90F185492ED8}"/>
              </a:ext>
            </a:extLst>
          </p:cNvPr>
          <p:cNvSpPr/>
          <p:nvPr/>
        </p:nvSpPr>
        <p:spPr>
          <a:xfrm>
            <a:off x="8783998"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10" name="Table 9">
            <a:extLst>
              <a:ext uri="{FF2B5EF4-FFF2-40B4-BE49-F238E27FC236}">
                <a16:creationId xmlns:a16="http://schemas.microsoft.com/office/drawing/2014/main" id="{C524E7F0-D811-7AE2-13DB-E96E1CF99AC3}"/>
              </a:ext>
            </a:extLst>
          </p:cNvPr>
          <p:cNvGraphicFramePr>
            <a:graphicFrameLocks noGrp="1"/>
          </p:cNvGraphicFramePr>
          <p:nvPr/>
        </p:nvGraphicFramePr>
        <p:xfrm>
          <a:off x="180000" y="179999"/>
          <a:ext cx="8784000" cy="77724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4500" b="0" kern="1200" dirty="0">
                          <a:solidFill>
                            <a:srgbClr val="002868"/>
                          </a:solidFill>
                          <a:latin typeface="Arial" panose="020B0604020202020204" pitchFamily="34" charset="0"/>
                          <a:ea typeface="+mj-ea"/>
                          <a:cs typeface="Arial" panose="020B0604020202020204" pitchFamily="34" charset="0"/>
                        </a:rPr>
                        <a:t>Table of Contents</a:t>
                      </a:r>
                      <a:endParaRPr lang="en-CA" sz="4500" b="0"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2" name="TextBox 1">
            <a:extLst>
              <a:ext uri="{FF2B5EF4-FFF2-40B4-BE49-F238E27FC236}">
                <a16:creationId xmlns:a16="http://schemas.microsoft.com/office/drawing/2014/main" id="{BAD85A23-7782-23AE-ABE5-36976CC3BD97}"/>
              </a:ext>
            </a:extLst>
          </p:cNvPr>
          <p:cNvSpPr txBox="1"/>
          <p:nvPr/>
        </p:nvSpPr>
        <p:spPr>
          <a:xfrm>
            <a:off x="1882139" y="1827749"/>
            <a:ext cx="5818071"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Case Study</a:t>
            </a:r>
          </a:p>
        </p:txBody>
      </p:sp>
      <p:sp>
        <p:nvSpPr>
          <p:cNvPr id="3" name="TextBox 2">
            <a:extLst>
              <a:ext uri="{FF2B5EF4-FFF2-40B4-BE49-F238E27FC236}">
                <a16:creationId xmlns:a16="http://schemas.microsoft.com/office/drawing/2014/main" id="{1777F804-1495-A6F6-E951-C7159BE078AF}"/>
              </a:ext>
            </a:extLst>
          </p:cNvPr>
          <p:cNvSpPr txBox="1"/>
          <p:nvPr/>
        </p:nvSpPr>
        <p:spPr>
          <a:xfrm>
            <a:off x="360000" y="1124459"/>
            <a:ext cx="1148760"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Pg. 3</a:t>
            </a:r>
          </a:p>
        </p:txBody>
      </p:sp>
      <p:sp>
        <p:nvSpPr>
          <p:cNvPr id="4" name="TextBox 3">
            <a:extLst>
              <a:ext uri="{FF2B5EF4-FFF2-40B4-BE49-F238E27FC236}">
                <a16:creationId xmlns:a16="http://schemas.microsoft.com/office/drawing/2014/main" id="{34690BB6-2DD2-A04B-58BB-C369490C96D5}"/>
              </a:ext>
            </a:extLst>
          </p:cNvPr>
          <p:cNvSpPr txBox="1"/>
          <p:nvPr/>
        </p:nvSpPr>
        <p:spPr>
          <a:xfrm>
            <a:off x="360000" y="1827749"/>
            <a:ext cx="1316400"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Pg. 7</a:t>
            </a:r>
          </a:p>
        </p:txBody>
      </p:sp>
      <p:pic>
        <p:nvPicPr>
          <p:cNvPr id="9" name="Picture 8" descr="A logo with red and blue text&#10;&#10;AI-generated content may be incorrect.">
            <a:extLst>
              <a:ext uri="{FF2B5EF4-FFF2-40B4-BE49-F238E27FC236}">
                <a16:creationId xmlns:a16="http://schemas.microsoft.com/office/drawing/2014/main" id="{D6E11B75-07CA-238D-D419-0B16331A54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302" y="4984134"/>
            <a:ext cx="1925306" cy="1498814"/>
          </a:xfrm>
          <a:prstGeom prst="rect">
            <a:avLst/>
          </a:prstGeom>
        </p:spPr>
      </p:pic>
      <p:sp>
        <p:nvSpPr>
          <p:cNvPr id="5" name="Slide Number Placeholder 3">
            <a:extLst>
              <a:ext uri="{FF2B5EF4-FFF2-40B4-BE49-F238E27FC236}">
                <a16:creationId xmlns:a16="http://schemas.microsoft.com/office/drawing/2014/main" id="{7F22BDF0-AC73-A46E-7F18-61D7A52951C6}"/>
              </a:ext>
            </a:extLst>
          </p:cNvPr>
          <p:cNvSpPr>
            <a:spLocks noGrp="1"/>
          </p:cNvSpPr>
          <p:nvPr>
            <p:ph type="sldNum" sz="quarter" idx="12"/>
          </p:nvPr>
        </p:nvSpPr>
        <p:spPr>
          <a:xfrm>
            <a:off x="6692195"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6</a:t>
            </a:fld>
            <a:endParaRPr lang="en-CA"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86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93F34-EB50-A1E2-D969-40EC2A7CC3C4}"/>
            </a:ext>
          </a:extLst>
        </p:cNvPr>
        <p:cNvGrpSpPr/>
        <p:nvPr/>
      </p:nvGrpSpPr>
      <p:grpSpPr>
        <a:xfrm>
          <a:off x="0" y="0"/>
          <a:ext cx="0" cy="0"/>
          <a:chOff x="0" y="0"/>
          <a:chExt cx="0" cy="0"/>
        </a:xfrm>
      </p:grpSpPr>
      <p:graphicFrame>
        <p:nvGraphicFramePr>
          <p:cNvPr id="27" name="Diagram 26">
            <a:extLst>
              <a:ext uri="{FF2B5EF4-FFF2-40B4-BE49-F238E27FC236}">
                <a16:creationId xmlns:a16="http://schemas.microsoft.com/office/drawing/2014/main" id="{B509D418-5F06-42FC-6245-26FD1AD13876}"/>
              </a:ext>
            </a:extLst>
          </p:cNvPr>
          <p:cNvGraphicFramePr/>
          <p:nvPr>
            <p:extLst>
              <p:ext uri="{D42A27DB-BD31-4B8C-83A1-F6EECF244321}">
                <p14:modId xmlns:p14="http://schemas.microsoft.com/office/powerpoint/2010/main" val="1288705577"/>
              </p:ext>
            </p:extLst>
          </p:nvPr>
        </p:nvGraphicFramePr>
        <p:xfrm>
          <a:off x="180000" y="640870"/>
          <a:ext cx="6645328" cy="5859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hidden="1">
            <a:extLst>
              <a:ext uri="{FF2B5EF4-FFF2-40B4-BE49-F238E27FC236}">
                <a16:creationId xmlns:a16="http://schemas.microsoft.com/office/drawing/2014/main" id="{497D3A28-45D6-8043-D1FF-74F444CA3F0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DA1C6702-BFB3-1B1A-D462-5DB942C5784C}"/>
              </a:ext>
            </a:extLst>
          </p:cNvPr>
          <p:cNvGraphicFramePr>
            <a:graphicFrameLocks noGrp="1"/>
          </p:cNvGraphicFramePr>
          <p:nvPr>
            <p:extLst>
              <p:ext uri="{D42A27DB-BD31-4B8C-83A1-F6EECF244321}">
                <p14:modId xmlns:p14="http://schemas.microsoft.com/office/powerpoint/2010/main" val="207057482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Race Overview – WTCS Yokohama</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9" name="Slide Number Placeholder 3">
            <a:extLst>
              <a:ext uri="{FF2B5EF4-FFF2-40B4-BE49-F238E27FC236}">
                <a16:creationId xmlns:a16="http://schemas.microsoft.com/office/drawing/2014/main" id="{A7FCD17B-D127-E800-50B7-7FA9065D83C8}"/>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7</a:t>
            </a:fld>
            <a:endParaRPr lang="en-CA" b="1" dirty="0">
              <a:solidFill>
                <a:schemeClr val="tx1"/>
              </a:solidFill>
              <a:latin typeface="Arial" panose="020B0604020202020204" pitchFamily="34" charset="0"/>
              <a:cs typeface="Arial" panose="020B0604020202020204" pitchFamily="34" charset="0"/>
            </a:endParaRPr>
          </a:p>
        </p:txBody>
      </p:sp>
      <p:sp>
        <p:nvSpPr>
          <p:cNvPr id="5" name="Arrow: Right 4">
            <a:extLst>
              <a:ext uri="{FF2B5EF4-FFF2-40B4-BE49-F238E27FC236}">
                <a16:creationId xmlns:a16="http://schemas.microsoft.com/office/drawing/2014/main" id="{3D901ECE-851A-E514-4A12-6C8AD6466314}"/>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1026" name="Picture 2">
            <a:extLst>
              <a:ext uri="{FF2B5EF4-FFF2-40B4-BE49-F238E27FC236}">
                <a16:creationId xmlns:a16="http://schemas.microsoft.com/office/drawing/2014/main" id="{1DC3BCD6-2458-56BA-C040-3A96C3E01F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7350" y="640870"/>
            <a:ext cx="1718276" cy="17182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7B93435-932E-996D-4052-0A56183587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7348" y="2753222"/>
            <a:ext cx="1805925" cy="18059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B91E9EC-CC36-DE9B-7D49-7D64F8A8D1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6105" y="4953224"/>
            <a:ext cx="1708413" cy="17084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0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9D653-94EC-284B-C527-9BD81B4D448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F2C03EB-C196-DF3D-B3CD-5AA96CAFEB0F}"/>
              </a:ext>
            </a:extLst>
          </p:cNvPr>
          <p:cNvPicPr>
            <a:picLocks noChangeAspect="1"/>
          </p:cNvPicPr>
          <p:nvPr/>
        </p:nvPicPr>
        <p:blipFill>
          <a:blip r:embed="rId3"/>
          <a:srcRect r="5341"/>
          <a:stretch>
            <a:fillRect/>
          </a:stretch>
        </p:blipFill>
        <p:spPr>
          <a:xfrm>
            <a:off x="243184" y="1564751"/>
            <a:ext cx="8716615" cy="2331720"/>
          </a:xfrm>
          <a:prstGeom prst="rect">
            <a:avLst/>
          </a:prstGeom>
        </p:spPr>
      </p:pic>
      <p:sp>
        <p:nvSpPr>
          <p:cNvPr id="4" name="Title" hidden="1">
            <a:extLst>
              <a:ext uri="{FF2B5EF4-FFF2-40B4-BE49-F238E27FC236}">
                <a16:creationId xmlns:a16="http://schemas.microsoft.com/office/drawing/2014/main" id="{17770509-D174-AC5A-12FF-CBF6441ADF1D}"/>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9B1CFEAC-D881-0C82-09E6-6559D6024AD0}"/>
              </a:ext>
            </a:extLst>
          </p:cNvPr>
          <p:cNvGraphicFramePr>
            <a:graphicFrameLocks noGrp="1"/>
          </p:cNvGraphicFramePr>
          <p:nvPr>
            <p:extLst>
              <p:ext uri="{D42A27DB-BD31-4B8C-83A1-F6EECF244321}">
                <p14:modId xmlns:p14="http://schemas.microsoft.com/office/powerpoint/2010/main" val="87285549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CBD82FDE-34AD-F0AE-1EC3-EB35BEA8090D}"/>
              </a:ext>
            </a:extLst>
          </p:cNvPr>
          <p:cNvSpPr txBox="1"/>
          <p:nvPr/>
        </p:nvSpPr>
        <p:spPr>
          <a:xfrm>
            <a:off x="179999" y="461048"/>
            <a:ext cx="8779799"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being in the breakaway, Blake minimized his surges over 600W once. Then when falling back into the main chase, Blake rode mostly around a medio effort keeping lactate below 4 mmol/kg</a:t>
            </a:r>
          </a:p>
        </p:txBody>
      </p:sp>
      <p:sp>
        <p:nvSpPr>
          <p:cNvPr id="19" name="Slide Number Placeholder 3">
            <a:extLst>
              <a:ext uri="{FF2B5EF4-FFF2-40B4-BE49-F238E27FC236}">
                <a16:creationId xmlns:a16="http://schemas.microsoft.com/office/drawing/2014/main" id="{EF80D034-F17B-612D-D0C3-7EBB026FC0F7}"/>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8</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7C0AE-FFEB-AC27-A9A0-9ED9F920D146}"/>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B895DD2D-CE19-6082-3410-6426648F1EF7}"/>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3EE53276-530A-60A0-1E94-EED65989E79D}"/>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C20C08CE-47B5-5EEE-97A1-3F3D8C2A123D}"/>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015A7290-7D6F-1261-83B4-FFC458E9B1CC}"/>
              </a:ext>
            </a:extLst>
          </p:cNvPr>
          <p:cNvSpPr/>
          <p:nvPr/>
        </p:nvSpPr>
        <p:spPr>
          <a:xfrm>
            <a:off x="745958" y="1569986"/>
            <a:ext cx="8184350" cy="24678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7" name="Chart 6">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95993898"/>
              </p:ext>
            </p:extLst>
          </p:nvPr>
        </p:nvGraphicFramePr>
        <p:xfrm>
          <a:off x="107810" y="4235563"/>
          <a:ext cx="8970015" cy="239196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63121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B627-D256-906E-67DA-4AF62892D3CE}"/>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3C27A906-FEBF-2A89-F049-0E9FA3A6FB9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E9127BE-62E0-BF42-DCCF-1C67A83FFCDE}"/>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6E393FD1-736B-E711-7CD2-C428B535A767}"/>
              </a:ext>
            </a:extLst>
          </p:cNvPr>
          <p:cNvSpPr txBox="1"/>
          <p:nvPr/>
        </p:nvSpPr>
        <p:spPr>
          <a:xfrm>
            <a:off x="180000" y="461048"/>
            <a:ext cx="8524898" cy="1024896"/>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began the bike in a small 7-man breakaway coming out of the water yet had his highest spikes in lactate once he had been dropped and settled into the main chase group. This suggests that Blake needs to continue working on bike skills rather than pure power numbers</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relatively even pacing resulted in a VI of 1.08, always keeping lactate below 4 mmol/kg and even dropped it all the way below 2 mmol/kg before starting the run</a:t>
            </a:r>
          </a:p>
        </p:txBody>
      </p:sp>
      <p:sp>
        <p:nvSpPr>
          <p:cNvPr id="19" name="Slide Number Placeholder 3">
            <a:extLst>
              <a:ext uri="{FF2B5EF4-FFF2-40B4-BE49-F238E27FC236}">
                <a16:creationId xmlns:a16="http://schemas.microsoft.com/office/drawing/2014/main" id="{13A05E52-0CDD-7382-F92D-9723B99992DB}"/>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9</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F233B115-4BBE-64BD-FED1-651B4F93045A}"/>
              </a:ext>
            </a:extLst>
          </p:cNvPr>
          <p:cNvGraphicFramePr>
            <a:graphicFrameLocks noGrp="1"/>
          </p:cNvGraphicFramePr>
          <p:nvPr>
            <p:extLst>
              <p:ext uri="{D42A27DB-BD31-4B8C-83A1-F6EECF244321}">
                <p14:modId xmlns:p14="http://schemas.microsoft.com/office/powerpoint/2010/main" val="244810891"/>
              </p:ext>
            </p:extLst>
          </p:nvPr>
        </p:nvGraphicFramePr>
        <p:xfrm>
          <a:off x="348341" y="2047632"/>
          <a:ext cx="6021979" cy="423024"/>
        </p:xfrm>
        <a:graphic>
          <a:graphicData uri="http://schemas.openxmlformats.org/drawingml/2006/table">
            <a:tbl>
              <a:tblPr firstRow="1" bandRow="1">
                <a:tableStyleId>{5C22544A-7EE6-4342-B048-85BDC9FD1C3A}</a:tableStyleId>
              </a:tblPr>
              <a:tblGrid>
                <a:gridCol w="6021979">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B50C7879-41EF-31C0-78BF-D5D19AF0DF50}"/>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9" name="Chart 8">
            <a:extLst>
              <a:ext uri="{FF2B5EF4-FFF2-40B4-BE49-F238E27FC236}">
                <a16:creationId xmlns:a16="http://schemas.microsoft.com/office/drawing/2014/main" id="{185299B2-0E13-978F-C3F5-9EF014C9C8CF}"/>
              </a:ext>
            </a:extLst>
          </p:cNvPr>
          <p:cNvGraphicFramePr>
            <a:graphicFrameLocks/>
          </p:cNvGraphicFramePr>
          <p:nvPr/>
        </p:nvGraphicFramePr>
        <p:xfrm>
          <a:off x="180000" y="2583088"/>
          <a:ext cx="6323068" cy="39464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C58EF821-FA82-92A8-8A70-7B3AC616D01E}"/>
              </a:ext>
            </a:extLst>
          </p:cNvPr>
          <p:cNvGraphicFramePr>
            <a:graphicFrameLocks noGrp="1"/>
          </p:cNvGraphicFramePr>
          <p:nvPr>
            <p:extLst>
              <p:ext uri="{D42A27DB-BD31-4B8C-83A1-F6EECF244321}">
                <p14:modId xmlns:p14="http://schemas.microsoft.com/office/powerpoint/2010/main" val="3578850084"/>
              </p:ext>
            </p:extLst>
          </p:nvPr>
        </p:nvGraphicFramePr>
        <p:xfrm>
          <a:off x="6503068" y="2583088"/>
          <a:ext cx="2524534" cy="2788968"/>
        </p:xfrm>
        <a:graphic>
          <a:graphicData uri="http://schemas.openxmlformats.org/drawingml/2006/table">
            <a:tbl>
              <a:tblPr firstRow="1" bandRow="1">
                <a:tableStyleId>{69CF1AB2-1976-4502-BF36-3FF5EA218861}</a:tableStyleId>
              </a:tblPr>
              <a:tblGrid>
                <a:gridCol w="1579772">
                  <a:extLst>
                    <a:ext uri="{9D8B030D-6E8A-4147-A177-3AD203B41FA5}">
                      <a16:colId xmlns:a16="http://schemas.microsoft.com/office/drawing/2014/main" val="1262563088"/>
                    </a:ext>
                  </a:extLst>
                </a:gridCol>
                <a:gridCol w="944762">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259 W</a:t>
                      </a:r>
                    </a:p>
                  </a:txBody>
                  <a:tcPr/>
                </a:tc>
                <a:extLst>
                  <a:ext uri="{0D108BD9-81ED-4DB2-BD59-A6C34878D82A}">
                    <a16:rowId xmlns:a16="http://schemas.microsoft.com/office/drawing/2014/main" val="3959205401"/>
                  </a:ext>
                </a:extLst>
              </a:tr>
              <a:tr h="697242">
                <a:tc>
                  <a:txBody>
                    <a:bodyPr/>
                    <a:lstStyle/>
                    <a:p>
                      <a:r>
                        <a:rPr lang="en-US" b="1" dirty="0"/>
                        <a:t>Average Power w/o 0’s</a:t>
                      </a:r>
                    </a:p>
                  </a:txBody>
                  <a:tcPr/>
                </a:tc>
                <a:tc>
                  <a:txBody>
                    <a:bodyPr/>
                    <a:lstStyle/>
                    <a:p>
                      <a:pPr algn="ctr"/>
                      <a:r>
                        <a:rPr lang="en-US" b="1" dirty="0"/>
                        <a:t>290 W</a:t>
                      </a:r>
                    </a:p>
                  </a:txBody>
                  <a:tcPr/>
                </a:tc>
                <a:extLst>
                  <a:ext uri="{0D108BD9-81ED-4DB2-BD59-A6C34878D82A}">
                    <a16:rowId xmlns:a16="http://schemas.microsoft.com/office/drawing/2014/main" val="3030524825"/>
                  </a:ext>
                </a:extLst>
              </a:tr>
              <a:tr h="697242">
                <a:tc>
                  <a:txBody>
                    <a:bodyPr/>
                    <a:lstStyle/>
                    <a:p>
                      <a:r>
                        <a:rPr lang="en-US" b="1" dirty="0"/>
                        <a:t>Normalized Power</a:t>
                      </a:r>
                    </a:p>
                  </a:txBody>
                  <a:tcPr/>
                </a:tc>
                <a:tc>
                  <a:txBody>
                    <a:bodyPr/>
                    <a:lstStyle/>
                    <a:p>
                      <a:pPr algn="ctr"/>
                      <a:r>
                        <a:rPr lang="en-US" b="1" dirty="0"/>
                        <a:t>279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1.08</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4802501F-00E1-28BB-6CA7-2232AB597CF6}"/>
              </a:ext>
            </a:extLst>
          </p:cNvPr>
          <p:cNvGraphicFramePr>
            <a:graphicFrameLocks noGrp="1"/>
          </p:cNvGraphicFramePr>
          <p:nvPr>
            <p:extLst>
              <p:ext uri="{D42A27DB-BD31-4B8C-83A1-F6EECF244321}">
                <p14:modId xmlns:p14="http://schemas.microsoft.com/office/powerpoint/2010/main" val="3792509674"/>
              </p:ext>
            </p:extLst>
          </p:nvPr>
        </p:nvGraphicFramePr>
        <p:xfrm>
          <a:off x="6497118" y="2047632"/>
          <a:ext cx="2524534" cy="423024"/>
        </p:xfrm>
        <a:graphic>
          <a:graphicData uri="http://schemas.openxmlformats.org/drawingml/2006/table">
            <a:tbl>
              <a:tblPr firstRow="1" bandRow="1">
                <a:tableStyleId>{5C22544A-7EE6-4342-B048-85BDC9FD1C3A}</a:tableStyleId>
              </a:tblPr>
              <a:tblGrid>
                <a:gridCol w="2524534">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5" name="Speech Bubble: Rectangle 14">
            <a:extLst>
              <a:ext uri="{FF2B5EF4-FFF2-40B4-BE49-F238E27FC236}">
                <a16:creationId xmlns:a16="http://schemas.microsoft.com/office/drawing/2014/main" id="{D8577322-2F7F-D30C-B123-EFC6C93804D6}"/>
              </a:ext>
            </a:extLst>
          </p:cNvPr>
          <p:cNvSpPr/>
          <p:nvPr/>
        </p:nvSpPr>
        <p:spPr>
          <a:xfrm>
            <a:off x="4880381" y="6090628"/>
            <a:ext cx="1743003" cy="612648"/>
          </a:xfrm>
          <a:prstGeom prst="wedgeRectCallout">
            <a:avLst>
              <a:gd name="adj1" fmla="val 15193"/>
              <a:gd name="adj2" fmla="val -1368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1.3</a:t>
            </a:r>
          </a:p>
        </p:txBody>
      </p:sp>
    </p:spTree>
    <p:extLst>
      <p:ext uri="{BB962C8B-B14F-4D97-AF65-F5344CB8AC3E}">
        <p14:creationId xmlns:p14="http://schemas.microsoft.com/office/powerpoint/2010/main" val="358485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AE6E-81D3-ABA9-AC81-DC38200FEA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60C043D-70B3-7F25-236B-4957A472DD90}"/>
              </a:ext>
            </a:extLst>
          </p:cNvPr>
          <p:cNvPicPr>
            <a:picLocks noChangeAspect="1"/>
          </p:cNvPicPr>
          <p:nvPr/>
        </p:nvPicPr>
        <p:blipFill>
          <a:blip r:embed="rId3"/>
          <a:srcRect r="4802" b="-785"/>
          <a:stretch>
            <a:fillRect/>
          </a:stretch>
        </p:blipFill>
        <p:spPr>
          <a:xfrm>
            <a:off x="305492" y="1560129"/>
            <a:ext cx="8399405" cy="2350023"/>
          </a:xfrm>
          <a:prstGeom prst="rect">
            <a:avLst/>
          </a:prstGeom>
        </p:spPr>
      </p:pic>
      <p:sp>
        <p:nvSpPr>
          <p:cNvPr id="4" name="Title" hidden="1">
            <a:extLst>
              <a:ext uri="{FF2B5EF4-FFF2-40B4-BE49-F238E27FC236}">
                <a16:creationId xmlns:a16="http://schemas.microsoft.com/office/drawing/2014/main" id="{E36242FD-7DBA-2695-2BC1-17E7F567EE21}"/>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F638F977-437B-2AB6-8201-07B9D0761394}"/>
              </a:ext>
            </a:extLst>
          </p:cNvPr>
          <p:cNvGraphicFramePr>
            <a:graphicFrameLocks noGrp="1"/>
          </p:cNvGraphicFramePr>
          <p:nvPr>
            <p:extLst>
              <p:ext uri="{D42A27DB-BD31-4B8C-83A1-F6EECF244321}">
                <p14:modId xmlns:p14="http://schemas.microsoft.com/office/powerpoint/2010/main" val="257619859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90B1A0E4-2E1E-59CE-9720-5A36876C83A5}"/>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As a taller athlete, Braxton is a bit heavier, but also has the highest threshold among the three. Despite an ability to hold higher power, Braxton minimized his surges over 600W to only 3 times during the ride. This kept his lactate below 4 mmol/kg for the whole effort.</a:t>
            </a:r>
          </a:p>
        </p:txBody>
      </p:sp>
      <p:sp>
        <p:nvSpPr>
          <p:cNvPr id="19" name="Slide Number Placeholder 3">
            <a:extLst>
              <a:ext uri="{FF2B5EF4-FFF2-40B4-BE49-F238E27FC236}">
                <a16:creationId xmlns:a16="http://schemas.microsoft.com/office/drawing/2014/main" id="{1B43CB00-3167-66FA-34FB-3BD9288E7535}"/>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10</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0F3812B-F781-B05D-FF11-5D0CD749C94F}"/>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074916CD-E748-CB72-2419-011C1754F96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E89F6991-7B08-FC6E-BA84-3E5650FDF2A7}"/>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0AE6EDCE-432C-DA19-2A1F-E9B6239A5A76}"/>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FEF0DA39-1CE8-9C27-9F6E-E3FFB365CCB3}"/>
              </a:ext>
            </a:extLst>
          </p:cNvPr>
          <p:cNvSpPr/>
          <p:nvPr/>
        </p:nvSpPr>
        <p:spPr>
          <a:xfrm>
            <a:off x="782053" y="1569986"/>
            <a:ext cx="7922844" cy="30092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10" name="Chart 9">
            <a:extLst>
              <a:ext uri="{FF2B5EF4-FFF2-40B4-BE49-F238E27FC236}">
                <a16:creationId xmlns:a16="http://schemas.microsoft.com/office/drawing/2014/main" id="{F7B82684-7917-E559-81BC-A45C24B5FFF1}"/>
              </a:ext>
            </a:extLst>
          </p:cNvPr>
          <p:cNvGraphicFramePr>
            <a:graphicFrameLocks/>
          </p:cNvGraphicFramePr>
          <p:nvPr>
            <p:extLst>
              <p:ext uri="{D42A27DB-BD31-4B8C-83A1-F6EECF244321}">
                <p14:modId xmlns:p14="http://schemas.microsoft.com/office/powerpoint/2010/main" val="3164929523"/>
              </p:ext>
            </p:extLst>
          </p:nvPr>
        </p:nvGraphicFramePr>
        <p:xfrm>
          <a:off x="0" y="4250039"/>
          <a:ext cx="8959800" cy="24160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39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3D9A-114E-AFDB-E370-20CFD2979EB7}"/>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ED8095AF-3183-C6FF-E2B7-31414F912CEE}"/>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089C604-5534-5C62-210E-DB67BE6F9DE7}"/>
              </a:ext>
            </a:extLst>
          </p:cNvPr>
          <p:cNvGraphicFramePr>
            <a:graphicFrameLocks noGrp="1"/>
          </p:cNvGraphicFramePr>
          <p:nvPr>
            <p:extLst>
              <p:ext uri="{D42A27DB-BD31-4B8C-83A1-F6EECF244321}">
                <p14:modId xmlns:p14="http://schemas.microsoft.com/office/powerpoint/2010/main" val="2324954067"/>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52181E8F-4698-59A3-3272-DEEF8F970F23}"/>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Braxton also rode a mostly consistent effort with a VI of 1.09, keeping any surges to a minimum and riding a large portion of the ride near his maximum lactate clearance zone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He finished the ride with lactate concentration of 2.06 and went on for his best run performance to date</a:t>
            </a:r>
          </a:p>
        </p:txBody>
      </p:sp>
      <p:sp>
        <p:nvSpPr>
          <p:cNvPr id="19" name="Slide Number Placeholder 3">
            <a:extLst>
              <a:ext uri="{FF2B5EF4-FFF2-40B4-BE49-F238E27FC236}">
                <a16:creationId xmlns:a16="http://schemas.microsoft.com/office/drawing/2014/main" id="{24F15837-03BE-359D-D59B-4E26A3EDE4FE}"/>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11</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E1632CD6-838A-8D78-1CDD-453FEE0195C6}"/>
              </a:ext>
            </a:extLst>
          </p:cNvPr>
          <p:cNvGraphicFramePr>
            <a:graphicFrameLocks noGrp="1"/>
          </p:cNvGraphicFramePr>
          <p:nvPr>
            <p:extLst>
              <p:ext uri="{D42A27DB-BD31-4B8C-83A1-F6EECF244321}">
                <p14:modId xmlns:p14="http://schemas.microsoft.com/office/powerpoint/2010/main" val="3821755267"/>
              </p:ext>
            </p:extLst>
          </p:nvPr>
        </p:nvGraphicFramePr>
        <p:xfrm>
          <a:off x="348342" y="1957394"/>
          <a:ext cx="5865970" cy="423024"/>
        </p:xfrm>
        <a:graphic>
          <a:graphicData uri="http://schemas.openxmlformats.org/drawingml/2006/table">
            <a:tbl>
              <a:tblPr firstRow="1" bandRow="1">
                <a:tableStyleId>{5C22544A-7EE6-4342-B048-85BDC9FD1C3A}</a:tableStyleId>
              </a:tblPr>
              <a:tblGrid>
                <a:gridCol w="586597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19120802-2ED2-45E7-4EC6-0AF0F992E6B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2687C7AE-D3D8-8F1C-4C36-A2137937C48E}"/>
              </a:ext>
            </a:extLst>
          </p:cNvPr>
          <p:cNvGraphicFramePr>
            <a:graphicFrameLocks noGrp="1"/>
          </p:cNvGraphicFramePr>
          <p:nvPr>
            <p:extLst>
              <p:ext uri="{D42A27DB-BD31-4B8C-83A1-F6EECF244321}">
                <p14:modId xmlns:p14="http://schemas.microsoft.com/office/powerpoint/2010/main" val="3114059400"/>
              </p:ext>
            </p:extLst>
          </p:nvPr>
        </p:nvGraphicFramePr>
        <p:xfrm>
          <a:off x="6491037" y="2583088"/>
          <a:ext cx="2536565" cy="2788968"/>
        </p:xfrm>
        <a:graphic>
          <a:graphicData uri="http://schemas.openxmlformats.org/drawingml/2006/table">
            <a:tbl>
              <a:tblPr firstRow="1" bandRow="1">
                <a:tableStyleId>{69CF1AB2-1976-4502-BF36-3FF5EA218861}</a:tableStyleId>
              </a:tblPr>
              <a:tblGrid>
                <a:gridCol w="1587300">
                  <a:extLst>
                    <a:ext uri="{9D8B030D-6E8A-4147-A177-3AD203B41FA5}">
                      <a16:colId xmlns:a16="http://schemas.microsoft.com/office/drawing/2014/main" val="1262563088"/>
                    </a:ext>
                  </a:extLst>
                </a:gridCol>
                <a:gridCol w="949265">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267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307 W</a:t>
                      </a:r>
                    </a:p>
                  </a:txBody>
                  <a:tcPr/>
                </a:tc>
                <a:extLst>
                  <a:ext uri="{0D108BD9-81ED-4DB2-BD59-A6C34878D82A}">
                    <a16:rowId xmlns:a16="http://schemas.microsoft.com/office/drawing/2014/main" val="2527663783"/>
                  </a:ext>
                </a:extLst>
              </a:tr>
              <a:tr h="697242">
                <a:tc>
                  <a:txBody>
                    <a:bodyPr/>
                    <a:lstStyle/>
                    <a:p>
                      <a:r>
                        <a:rPr lang="en-US" b="1" dirty="0"/>
                        <a:t>Normalized Power</a:t>
                      </a:r>
                    </a:p>
                  </a:txBody>
                  <a:tcPr/>
                </a:tc>
                <a:tc>
                  <a:txBody>
                    <a:bodyPr/>
                    <a:lstStyle/>
                    <a:p>
                      <a:pPr algn="ctr"/>
                      <a:r>
                        <a:rPr lang="en-US" b="1" dirty="0"/>
                        <a:t>289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1.09</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FCEFBED1-186E-6737-76FD-7EA29D8705B0}"/>
              </a:ext>
            </a:extLst>
          </p:cNvPr>
          <p:cNvGraphicFramePr>
            <a:graphicFrameLocks noGrp="1"/>
          </p:cNvGraphicFramePr>
          <p:nvPr>
            <p:extLst>
              <p:ext uri="{D42A27DB-BD31-4B8C-83A1-F6EECF244321}">
                <p14:modId xmlns:p14="http://schemas.microsoft.com/office/powerpoint/2010/main" val="1405265567"/>
              </p:ext>
            </p:extLst>
          </p:nvPr>
        </p:nvGraphicFramePr>
        <p:xfrm>
          <a:off x="6485087" y="1957394"/>
          <a:ext cx="2536565" cy="423024"/>
        </p:xfrm>
        <a:graphic>
          <a:graphicData uri="http://schemas.openxmlformats.org/drawingml/2006/table">
            <a:tbl>
              <a:tblPr firstRow="1" bandRow="1">
                <a:tableStyleId>{5C22544A-7EE6-4342-B048-85BDC9FD1C3A}</a:tableStyleId>
              </a:tblPr>
              <a:tblGrid>
                <a:gridCol w="2536565">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Chart 5">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2872248300"/>
              </p:ext>
            </p:extLst>
          </p:nvPr>
        </p:nvGraphicFramePr>
        <p:xfrm>
          <a:off x="180000" y="2583088"/>
          <a:ext cx="6190320" cy="3946444"/>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DAD6F4EA-6A16-9045-84D6-F17DA6AAF0CD}"/>
              </a:ext>
            </a:extLst>
          </p:cNvPr>
          <p:cNvSpPr/>
          <p:nvPr/>
        </p:nvSpPr>
        <p:spPr>
          <a:xfrm>
            <a:off x="4957010" y="6096883"/>
            <a:ext cx="2310894" cy="612648"/>
          </a:xfrm>
          <a:prstGeom prst="wedgeRectCallout">
            <a:avLst>
              <a:gd name="adj1" fmla="val -5598"/>
              <a:gd name="adj2" fmla="val -1829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2.06</a:t>
            </a:r>
          </a:p>
        </p:txBody>
      </p:sp>
    </p:spTree>
    <p:extLst>
      <p:ext uri="{BB962C8B-B14F-4D97-AF65-F5344CB8AC3E}">
        <p14:creationId xmlns:p14="http://schemas.microsoft.com/office/powerpoint/2010/main" val="401473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B82B-02B6-A3EE-F6AD-B6BF18B19223}"/>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9864CB97-76B7-F2A1-6A7A-672B3EBFD924}"/>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61576454-DEEA-8B51-6F2E-409D5D74CE45}"/>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D1BA8D3-D30A-2C3C-9ED4-8C067BCB49B1}"/>
              </a:ext>
            </a:extLst>
          </p:cNvPr>
          <p:cNvSpPr txBox="1"/>
          <p:nvPr/>
        </p:nvSpPr>
        <p:spPr>
          <a:xfrm>
            <a:off x="180000" y="393656"/>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Reese spent significant time over 600 watts with several surges ~800 watts. This caused his lactate to rise significantly above threshold. Additionally, his bike positioning kept him from being able to ride his maximum lactate clearance wattage, keeping lactate high</a:t>
            </a:r>
          </a:p>
        </p:txBody>
      </p:sp>
      <p:sp>
        <p:nvSpPr>
          <p:cNvPr id="19" name="Slide Number Placeholder 3">
            <a:extLst>
              <a:ext uri="{FF2B5EF4-FFF2-40B4-BE49-F238E27FC236}">
                <a16:creationId xmlns:a16="http://schemas.microsoft.com/office/drawing/2014/main" id="{3A5A4D64-D6FE-1173-3B9B-2C3C51380DAD}"/>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12</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702637A-AF03-0054-B5AB-149283C2252E}"/>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914AB44F-2A5A-3090-2A7B-7E71C0B23ED9}"/>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F2D9EB21-DE24-0596-D155-1DAFA3C6ACA8}"/>
              </a:ext>
            </a:extLst>
          </p:cNvPr>
          <p:cNvGraphicFramePr>
            <a:graphicFrameLocks noGrp="1"/>
          </p:cNvGraphicFramePr>
          <p:nvPr>
            <p:extLst>
              <p:ext uri="{D42A27DB-BD31-4B8C-83A1-F6EECF244321}">
                <p14:modId xmlns:p14="http://schemas.microsoft.com/office/powerpoint/2010/main" val="1412549917"/>
              </p:ext>
            </p:extLst>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612ABB2D-B492-053D-ADA7-436B16EFA85B}"/>
              </a:ext>
            </a:extLst>
          </p:cNvPr>
          <p:cNvGraphicFramePr>
            <a:graphicFrameLocks/>
          </p:cNvGraphicFramePr>
          <p:nvPr>
            <p:extLst>
              <p:ext uri="{D42A27DB-BD31-4B8C-83A1-F6EECF244321}">
                <p14:modId xmlns:p14="http://schemas.microsoft.com/office/powerpoint/2010/main" val="851379952"/>
              </p:ext>
            </p:extLst>
          </p:nvPr>
        </p:nvGraphicFramePr>
        <p:xfrm>
          <a:off x="147098" y="4221881"/>
          <a:ext cx="8783210" cy="2551852"/>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6">
            <a:extLst>
              <a:ext uri="{FF2B5EF4-FFF2-40B4-BE49-F238E27FC236}">
                <a16:creationId xmlns:a16="http://schemas.microsoft.com/office/drawing/2014/main" id="{B6C1B2DE-E391-6FE8-E9D4-CD0AD3A8112F}"/>
              </a:ext>
            </a:extLst>
          </p:cNvPr>
          <p:cNvPicPr>
            <a:picLocks noChangeAspect="1"/>
          </p:cNvPicPr>
          <p:nvPr/>
        </p:nvPicPr>
        <p:blipFill>
          <a:blip r:embed="rId4"/>
          <a:srcRect r="4706"/>
          <a:stretch>
            <a:fillRect/>
          </a:stretch>
        </p:blipFill>
        <p:spPr>
          <a:xfrm>
            <a:off x="389266" y="1560325"/>
            <a:ext cx="7810255" cy="2331331"/>
          </a:xfrm>
          <a:prstGeom prst="rect">
            <a:avLst/>
          </a:prstGeom>
        </p:spPr>
      </p:pic>
      <p:graphicFrame>
        <p:nvGraphicFramePr>
          <p:cNvPr id="6" name="Table 5">
            <a:extLst>
              <a:ext uri="{FF2B5EF4-FFF2-40B4-BE49-F238E27FC236}">
                <a16:creationId xmlns:a16="http://schemas.microsoft.com/office/drawing/2014/main" id="{90B45CC8-430B-04A4-234B-FA732D3698F1}"/>
              </a:ext>
            </a:extLst>
          </p:cNvPr>
          <p:cNvGraphicFramePr>
            <a:graphicFrameLocks noGrp="1"/>
          </p:cNvGraphicFramePr>
          <p:nvPr>
            <p:extLst>
              <p:ext uri="{D42A27DB-BD31-4B8C-83A1-F6EECF244321}">
                <p14:modId xmlns:p14="http://schemas.microsoft.com/office/powerpoint/2010/main" val="3133690327"/>
              </p:ext>
            </p:extLst>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28D168D9-DDDF-AA4A-DB82-1CB9A3C84168}"/>
              </a:ext>
            </a:extLst>
          </p:cNvPr>
          <p:cNvSpPr/>
          <p:nvPr/>
        </p:nvSpPr>
        <p:spPr>
          <a:xfrm>
            <a:off x="794085" y="1702468"/>
            <a:ext cx="7405436" cy="51977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472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B9856-59A2-1C19-209D-7418CDACF94C}"/>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8591AC25-9E21-CF2C-F8A7-24A6ACFAC76B}"/>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E64DD948-A792-E6D7-6277-77D256FFE20C}"/>
              </a:ext>
            </a:extLst>
          </p:cNvPr>
          <p:cNvGraphicFramePr>
            <a:graphicFrameLocks noGrp="1"/>
          </p:cNvGraphicFramePr>
          <p:nvPr>
            <p:extLst>
              <p:ext uri="{D42A27DB-BD31-4B8C-83A1-F6EECF244321}">
                <p14:modId xmlns:p14="http://schemas.microsoft.com/office/powerpoint/2010/main" val="18901364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98A5F01-193F-C566-BE7C-57B984675A42}"/>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a similar average power as Blake and Braxton, Reese had a higher Variability Index of 1.14 demonstrating the surges within his ride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With an ending blood lactate value of 8.21, Reese was significantly over threshold beginning the run</a:t>
            </a:r>
          </a:p>
        </p:txBody>
      </p:sp>
      <p:sp>
        <p:nvSpPr>
          <p:cNvPr id="19" name="Slide Number Placeholder 3">
            <a:extLst>
              <a:ext uri="{FF2B5EF4-FFF2-40B4-BE49-F238E27FC236}">
                <a16:creationId xmlns:a16="http://schemas.microsoft.com/office/drawing/2014/main" id="{08AAD7A8-E360-B50B-0D05-7B53630BD710}"/>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13</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9CC52F6D-C664-B2A0-6AAA-4AC984DF3CA2}"/>
              </a:ext>
            </a:extLst>
          </p:cNvPr>
          <p:cNvGraphicFramePr>
            <a:graphicFrameLocks noGrp="1"/>
          </p:cNvGraphicFramePr>
          <p:nvPr>
            <p:extLst>
              <p:ext uri="{D42A27DB-BD31-4B8C-83A1-F6EECF244321}">
                <p14:modId xmlns:p14="http://schemas.microsoft.com/office/powerpoint/2010/main" val="3413911387"/>
              </p:ext>
            </p:extLst>
          </p:nvPr>
        </p:nvGraphicFramePr>
        <p:xfrm>
          <a:off x="348342" y="1957394"/>
          <a:ext cx="5908080" cy="423024"/>
        </p:xfrm>
        <a:graphic>
          <a:graphicData uri="http://schemas.openxmlformats.org/drawingml/2006/table">
            <a:tbl>
              <a:tblPr firstRow="1" bandRow="1">
                <a:tableStyleId>{5C22544A-7EE6-4342-B048-85BDC9FD1C3A}</a:tableStyleId>
              </a:tblPr>
              <a:tblGrid>
                <a:gridCol w="590808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CC176E2D-8D10-8058-8A59-6B76A88B955A}"/>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62FFDB7A-A146-0B75-3A90-21848AFCF464}"/>
              </a:ext>
            </a:extLst>
          </p:cNvPr>
          <p:cNvGraphicFramePr>
            <a:graphicFrameLocks noGrp="1"/>
          </p:cNvGraphicFramePr>
          <p:nvPr>
            <p:extLst>
              <p:ext uri="{D42A27DB-BD31-4B8C-83A1-F6EECF244321}">
                <p14:modId xmlns:p14="http://schemas.microsoft.com/office/powerpoint/2010/main" val="4055735017"/>
              </p:ext>
            </p:extLst>
          </p:nvPr>
        </p:nvGraphicFramePr>
        <p:xfrm>
          <a:off x="6509084" y="2583088"/>
          <a:ext cx="2518518" cy="2788968"/>
        </p:xfrm>
        <a:graphic>
          <a:graphicData uri="http://schemas.openxmlformats.org/drawingml/2006/table">
            <a:tbl>
              <a:tblPr firstRow="1" bandRow="1">
                <a:tableStyleId>{69CF1AB2-1976-4502-BF36-3FF5EA218861}</a:tableStyleId>
              </a:tblPr>
              <a:tblGrid>
                <a:gridCol w="1576007">
                  <a:extLst>
                    <a:ext uri="{9D8B030D-6E8A-4147-A177-3AD203B41FA5}">
                      <a16:colId xmlns:a16="http://schemas.microsoft.com/office/drawing/2014/main" val="1262563088"/>
                    </a:ext>
                  </a:extLst>
                </a:gridCol>
                <a:gridCol w="942511">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274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314 W</a:t>
                      </a:r>
                    </a:p>
                  </a:txBody>
                  <a:tcPr/>
                </a:tc>
                <a:extLst>
                  <a:ext uri="{0D108BD9-81ED-4DB2-BD59-A6C34878D82A}">
                    <a16:rowId xmlns:a16="http://schemas.microsoft.com/office/drawing/2014/main" val="1629680562"/>
                  </a:ext>
                </a:extLst>
              </a:tr>
              <a:tr h="697242">
                <a:tc>
                  <a:txBody>
                    <a:bodyPr/>
                    <a:lstStyle/>
                    <a:p>
                      <a:r>
                        <a:rPr lang="en-US" b="1" dirty="0"/>
                        <a:t>Normalized Power</a:t>
                      </a:r>
                    </a:p>
                  </a:txBody>
                  <a:tcPr/>
                </a:tc>
                <a:tc>
                  <a:txBody>
                    <a:bodyPr/>
                    <a:lstStyle/>
                    <a:p>
                      <a:pPr algn="ctr"/>
                      <a:r>
                        <a:rPr lang="en-US" b="1" dirty="0"/>
                        <a:t>312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1.14</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5F6332AF-DCD1-E4DA-86CF-04641A2B974D}"/>
              </a:ext>
            </a:extLst>
          </p:cNvPr>
          <p:cNvGraphicFramePr>
            <a:graphicFrameLocks noGrp="1"/>
          </p:cNvGraphicFramePr>
          <p:nvPr>
            <p:extLst>
              <p:ext uri="{D42A27DB-BD31-4B8C-83A1-F6EECF244321}">
                <p14:modId xmlns:p14="http://schemas.microsoft.com/office/powerpoint/2010/main" val="2907346598"/>
              </p:ext>
            </p:extLst>
          </p:nvPr>
        </p:nvGraphicFramePr>
        <p:xfrm>
          <a:off x="6503134" y="1957394"/>
          <a:ext cx="2518518" cy="423024"/>
        </p:xfrm>
        <a:graphic>
          <a:graphicData uri="http://schemas.openxmlformats.org/drawingml/2006/table">
            <a:tbl>
              <a:tblPr firstRow="1" bandRow="1">
                <a:tableStyleId>{5C22544A-7EE6-4342-B048-85BDC9FD1C3A}</a:tableStyleId>
              </a:tblPr>
              <a:tblGrid>
                <a:gridCol w="2518518">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170910233"/>
              </p:ext>
            </p:extLst>
          </p:nvPr>
        </p:nvGraphicFramePr>
        <p:xfrm>
          <a:off x="179999" y="2583088"/>
          <a:ext cx="6190321" cy="3946443"/>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A2E83028-DDFF-4E2A-4596-B6BCAE6D59BC}"/>
              </a:ext>
            </a:extLst>
          </p:cNvPr>
          <p:cNvSpPr/>
          <p:nvPr/>
        </p:nvSpPr>
        <p:spPr>
          <a:xfrm>
            <a:off x="4514650" y="5916883"/>
            <a:ext cx="1910213" cy="612648"/>
          </a:xfrm>
          <a:prstGeom prst="wedgeRectCallout">
            <a:avLst>
              <a:gd name="adj1" fmla="val -556"/>
              <a:gd name="adj2" fmla="val -3469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8.21</a:t>
            </a:r>
          </a:p>
        </p:txBody>
      </p:sp>
    </p:spTree>
    <p:extLst>
      <p:ext uri="{BB962C8B-B14F-4D97-AF65-F5344CB8AC3E}">
        <p14:creationId xmlns:p14="http://schemas.microsoft.com/office/powerpoint/2010/main" val="1474015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Overview</a:t>
            </a:r>
          </a:p>
        </p:txBody>
      </p:sp>
      <p:graphicFrame>
        <p:nvGraphicFramePr>
          <p:cNvPr id="5" name="Table 4">
            <a:extLst>
              <a:ext uri="{FF2B5EF4-FFF2-40B4-BE49-F238E27FC236}">
                <a16:creationId xmlns:a16="http://schemas.microsoft.com/office/drawing/2014/main" id="{CDF8FDBE-3C89-C382-E13A-AFE2D4DEC951}"/>
              </a:ext>
            </a:extLst>
          </p:cNvPr>
          <p:cNvGraphicFramePr>
            <a:graphicFrameLocks noGrp="1"/>
          </p:cNvGraphicFramePr>
          <p:nvPr>
            <p:extLst>
              <p:ext uri="{D42A27DB-BD31-4B8C-83A1-F6EECF244321}">
                <p14:modId xmlns:p14="http://schemas.microsoft.com/office/powerpoint/2010/main" val="3753536906"/>
              </p:ext>
            </p:extLst>
          </p:nvPr>
        </p:nvGraphicFramePr>
        <p:xfrm>
          <a:off x="180000" y="179999"/>
          <a:ext cx="8784000" cy="48768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456183">
                <a:tc>
                  <a:txBody>
                    <a:bodyPr/>
                    <a:lstStyle/>
                    <a:p>
                      <a:pPr algn="l"/>
                      <a:r>
                        <a:rPr lang="en-US" sz="2600" b="1" kern="1200" dirty="0">
                          <a:solidFill>
                            <a:srgbClr val="002868"/>
                          </a:solidFill>
                          <a:latin typeface="Arial" panose="020B0604020202020204" pitchFamily="34" charset="0"/>
                          <a:ea typeface="+mj-ea"/>
                          <a:cs typeface="Arial" panose="020B0604020202020204" pitchFamily="34" charset="0"/>
                        </a:rPr>
                        <a:t>2025 Performance Update</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6" name="TextBox 5">
            <a:extLst>
              <a:ext uri="{FF2B5EF4-FFF2-40B4-BE49-F238E27FC236}">
                <a16:creationId xmlns:a16="http://schemas.microsoft.com/office/drawing/2014/main" id="{9157308C-FB1D-1C34-081F-5DB3608E2AB6}"/>
              </a:ext>
            </a:extLst>
          </p:cNvPr>
          <p:cNvSpPr txBox="1"/>
          <p:nvPr/>
        </p:nvSpPr>
        <p:spPr>
          <a:xfrm>
            <a:off x="180000" y="623751"/>
            <a:ext cx="8524898" cy="956278"/>
          </a:xfrm>
          <a:prstGeom prst="rect">
            <a:avLst/>
          </a:prstGeom>
          <a:noFill/>
          <a:ln>
            <a:noFill/>
          </a:ln>
        </p:spPr>
        <p:txBody>
          <a:bodyPr wrap="square" rtlCol="0">
            <a:noAutofit/>
          </a:bodyPr>
          <a:lstStyle/>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p:txBody>
      </p:sp>
      <p:sp>
        <p:nvSpPr>
          <p:cNvPr id="2" name="Slide Number Placeholder 3">
            <a:extLst>
              <a:ext uri="{FF2B5EF4-FFF2-40B4-BE49-F238E27FC236}">
                <a16:creationId xmlns:a16="http://schemas.microsoft.com/office/drawing/2014/main" id="{A59A1FFC-E827-5A5D-EBE3-064B58FF1EAC}"/>
              </a:ext>
            </a:extLst>
          </p:cNvPr>
          <p:cNvSpPr>
            <a:spLocks noGrp="1"/>
          </p:cNvSpPr>
          <p:nvPr>
            <p:ph type="sldNum" sz="quarter" idx="12"/>
          </p:nvPr>
        </p:nvSpPr>
        <p:spPr>
          <a:xfrm>
            <a:off x="6902400" y="650851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14</a:t>
            </a:fld>
            <a:endParaRPr lang="en-CA" b="1"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92B3C37-E4C1-5CF4-8498-52B932F6D88A}"/>
              </a:ext>
            </a:extLst>
          </p:cNvPr>
          <p:cNvSpPr txBox="1"/>
          <p:nvPr/>
        </p:nvSpPr>
        <p:spPr>
          <a:xfrm>
            <a:off x="180000" y="659624"/>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Project Podium athletes are delivering a landmark 2025 season, capturing multiple international wins, frequent podiums, and breakthrough performances on the world stage</a:t>
            </a:r>
          </a:p>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The Program’s depth is evident, with six different athletes contributing to the eight international wins and eight athletes combining for the 15 international podium finishes</a:t>
            </a:r>
          </a:p>
        </p:txBody>
      </p:sp>
      <p:graphicFrame>
        <p:nvGraphicFramePr>
          <p:cNvPr id="13" name="Diagram 12">
            <a:extLst>
              <a:ext uri="{FF2B5EF4-FFF2-40B4-BE49-F238E27FC236}">
                <a16:creationId xmlns:a16="http://schemas.microsoft.com/office/drawing/2014/main" id="{CC16D147-AC9B-1866-68EE-BD063B1F62E3}"/>
              </a:ext>
            </a:extLst>
          </p:cNvPr>
          <p:cNvGraphicFramePr/>
          <p:nvPr>
            <p:extLst>
              <p:ext uri="{D42A27DB-BD31-4B8C-83A1-F6EECF244321}">
                <p14:modId xmlns:p14="http://schemas.microsoft.com/office/powerpoint/2010/main" val="95175534"/>
              </p:ext>
            </p:extLst>
          </p:nvPr>
        </p:nvGraphicFramePr>
        <p:xfrm>
          <a:off x="180000" y="2443278"/>
          <a:ext cx="8891264" cy="5075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descr="A logo with red and blue text&#10;&#10;AI-generated content may be incorrect.">
            <a:extLst>
              <a:ext uri="{FF2B5EF4-FFF2-40B4-BE49-F238E27FC236}">
                <a16:creationId xmlns:a16="http://schemas.microsoft.com/office/drawing/2014/main" id="{8639B7F1-E287-6E2C-AAB7-0B816858D4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13961</TotalTime>
  <Words>2116</Words>
  <Application>Microsoft Office PowerPoint</Application>
  <PresentationFormat>Letter Paper (8.5x11 in)</PresentationFormat>
  <Paragraphs>480</Paragraphs>
  <Slides>14</Slides>
  <Notes>10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USAT Project Podium  Metabolic Testing and Data Analysis Update   </vt:lpstr>
      <vt:lpstr>PowerPoint Presentation</vt:lpstr>
      <vt:lpstr>PowerPoint Presentation</vt:lpstr>
      <vt:lpstr>PowerPoint Presentation</vt:lpstr>
      <vt:lpstr>PowerPoint Presentation</vt:lpstr>
      <vt:lpstr>PowerPoint Presentation</vt:lpstr>
      <vt:lpstr>Individual Focus</vt:lpstr>
      <vt:lpstr>Individual Focus</vt:lpstr>
      <vt:lpstr>Individual Focus</vt:lpstr>
      <vt:lpstr>Individual Focus</vt:lpstr>
      <vt:lpstr>Individual Focus</vt:lpstr>
      <vt:lpstr>Individual Focus</vt:lpstr>
      <vt:lpstr>Individual Focus</vt:lpstr>
      <vt:lpstr>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Dobson</dc:creator>
  <cp:lastModifiedBy>John High</cp:lastModifiedBy>
  <cp:revision>561</cp:revision>
  <dcterms:created xsi:type="dcterms:W3CDTF">2019-09-10T02:44:44Z</dcterms:created>
  <dcterms:modified xsi:type="dcterms:W3CDTF">2026-05-27T03:22:37Z</dcterms:modified>
</cp:coreProperties>
</file>