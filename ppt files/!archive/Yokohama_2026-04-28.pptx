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78" r:id="rId6"/>
    <p:sldId id="260" r:id="rId7"/>
    <p:sldId id="276" r:id="rId8"/>
    <p:sldId id="262" r:id="rId9"/>
    <p:sldId id="263" r:id="rId10"/>
    <p:sldId id="264" r:id="rId11"/>
    <p:sldId id="265" r:id="rId12"/>
    <p:sldId id="266" r:id="rId13"/>
    <p:sldId id="267" r:id="rId14"/>
    <p:sldId id="268" r:id="rId15"/>
    <p:sldId id="277" r:id="rId16"/>
    <p:sldId id="270" r:id="rId17"/>
    <p:sldId id="271" r:id="rId18"/>
    <p:sldId id="272" r:id="rId19"/>
    <p:sldId id="273" r:id="rId20"/>
    <p:sldId id="274" r:id="rId21"/>
    <p:sldId id="275" r:id="rId2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20" autoAdjust="0"/>
    <p:restoredTop sz="94660"/>
  </p:normalViewPr>
  <p:slideViewPr>
    <p:cSldViewPr snapToGrid="0" snapToObjects="1">
      <p:cViewPr varScale="1">
        <p:scale>
          <a:sx n="142" d="100"/>
          <a:sy n="142" d="100"/>
        </p:scale>
        <p:origin x="138" y="3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events.triathlon.org/2026-wtcs-yokohama/race-info" TargetMode="Externa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hyperlink" Target="https://events.triathlon.org/2025-world-triathlon-championship-series-yokohama/results"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events.triathlon.org/2026-wtcs-yokohama/race-info" TargetMode="Externa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3.jpg"/><Relationship Id="rId5" Type="http://schemas.openxmlformats.org/officeDocument/2006/relationships/image" Target="../media/image2.jpg"/><Relationship Id="rId4" Type="http://schemas.openxmlformats.org/officeDocument/2006/relationships/hyperlink" Target="https://www.kn-tu.or.jp/wordpress/wp-content/uploads/2025/05/17987fefa545139ec299d3ab9c9d7cc7.pdf"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430000" y="0"/>
            <a:ext cx="758952"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3749039"/>
            <a:ext cx="1078992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USA_Triathlon_Logo.jpg"/>
          <p:cNvPicPr>
            <a:picLocks noChangeAspect="1"/>
          </p:cNvPicPr>
          <p:nvPr/>
        </p:nvPicPr>
        <p:blipFill>
          <a:blip r:embed="rId2"/>
          <a:stretch>
            <a:fillRect/>
          </a:stretch>
        </p:blipFill>
        <p:spPr>
          <a:xfrm>
            <a:off x="548640" y="365760"/>
            <a:ext cx="1920240" cy="1463040"/>
          </a:xfrm>
          <a:prstGeom prst="rect">
            <a:avLst/>
          </a:prstGeom>
        </p:spPr>
      </p:pic>
      <p:sp>
        <p:nvSpPr>
          <p:cNvPr id="6" name="TextBox 5"/>
          <p:cNvSpPr txBox="1"/>
          <p:nvPr/>
        </p:nvSpPr>
        <p:spPr>
          <a:xfrm>
            <a:off x="457200" y="1828800"/>
            <a:ext cx="10789920" cy="1280160"/>
          </a:xfrm>
          <a:prstGeom prst="rect">
            <a:avLst/>
          </a:prstGeom>
          <a:noFill/>
        </p:spPr>
        <p:txBody>
          <a:bodyPr wrap="square">
            <a:spAutoFit/>
          </a:bodyPr>
          <a:lstStyle/>
          <a:p>
            <a:pPr algn="ctr"/>
            <a:r>
              <a:rPr sz="5400" b="1" i="0">
                <a:solidFill>
                  <a:srgbClr val="FFFFFF"/>
                </a:solidFill>
                <a:latin typeface="Arial"/>
              </a:rPr>
              <a:t>YOKOHAMA RACE HISTORY</a:t>
            </a:r>
          </a:p>
        </p:txBody>
      </p:sp>
      <p:sp>
        <p:nvSpPr>
          <p:cNvPr id="7" name="TextBox 6"/>
          <p:cNvSpPr txBox="1"/>
          <p:nvPr/>
        </p:nvSpPr>
        <p:spPr>
          <a:xfrm>
            <a:off x="457200" y="3931920"/>
            <a:ext cx="10789920" cy="548640"/>
          </a:xfrm>
          <a:prstGeom prst="rect">
            <a:avLst/>
          </a:prstGeom>
          <a:noFill/>
        </p:spPr>
        <p:txBody>
          <a:bodyPr wrap="square">
            <a:spAutoFit/>
          </a:bodyPr>
          <a:lstStyle/>
          <a:p>
            <a:pPr algn="ctr"/>
            <a:r>
              <a:rPr sz="1800" b="0" i="0">
                <a:solidFill>
                  <a:srgbClr val="AABBDD"/>
                </a:solidFill>
                <a:latin typeface="Arial"/>
              </a:rPr>
              <a:t>Elite Analysis  ·  Past 8 Years  ·  April 2026</a:t>
            </a:r>
          </a:p>
        </p:txBody>
      </p:sp>
      <p:sp>
        <p:nvSpPr>
          <p:cNvPr id="8" name="TextBox 7"/>
          <p:cNvSpPr txBox="1"/>
          <p:nvPr/>
        </p:nvSpPr>
        <p:spPr>
          <a:xfrm>
            <a:off x="457200" y="4572000"/>
            <a:ext cx="10789920" cy="457200"/>
          </a:xfrm>
          <a:prstGeom prst="rect">
            <a:avLst/>
          </a:prstGeom>
          <a:noFill/>
        </p:spPr>
        <p:txBody>
          <a:bodyPr wrap="square">
            <a:spAutoFit/>
          </a:bodyPr>
          <a:lstStyle/>
          <a:p>
            <a:pPr algn="ctr"/>
            <a:r>
              <a:rPr sz="1400" b="0" i="0">
                <a:solidFill>
                  <a:srgbClr val="8090B0"/>
                </a:solidFill>
                <a:latin typeface="Arial"/>
              </a:rPr>
              <a:t>USA Triathlon High Performance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Course Differentiators</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Yokohama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97280"/>
            <a:ext cx="6035040" cy="502920"/>
          </a:xfrm>
          <a:prstGeom prst="rect">
            <a:avLst/>
          </a:prstGeom>
          <a:noFill/>
        </p:spPr>
        <p:txBody>
          <a:bodyPr wrap="square">
            <a:spAutoFit/>
          </a:bodyPr>
          <a:lstStyle/>
          <a:p>
            <a:pPr algn="l"/>
            <a:r>
              <a:rPr sz="2000" b="1" i="0">
                <a:solidFill>
                  <a:srgbClr val="002868"/>
                </a:solidFill>
                <a:latin typeface="Arial"/>
              </a:rPr>
              <a:t>YOKOHAMA</a:t>
            </a:r>
          </a:p>
        </p:txBody>
      </p:sp>
      <p:sp>
        <p:nvSpPr>
          <p:cNvPr id="9" name="TextBox 8"/>
          <p:cNvSpPr txBox="1"/>
          <p:nvPr/>
        </p:nvSpPr>
        <p:spPr>
          <a:xfrm>
            <a:off x="274320" y="1627632"/>
            <a:ext cx="6035040" cy="1234440"/>
          </a:xfrm>
          <a:prstGeom prst="rect">
            <a:avLst/>
          </a:prstGeom>
          <a:noFill/>
        </p:spPr>
        <p:txBody>
          <a:bodyPr wrap="square">
            <a:spAutoFit/>
          </a:bodyPr>
          <a:lstStyle/>
          <a:p>
            <a:pPr algn="l"/>
            <a:r>
              <a:rPr sz="1250" b="0" i="0">
                <a:solidFill>
                  <a:srgbClr val="232323"/>
                </a:solidFill>
                <a:latin typeface="Arial"/>
              </a:rPr>
              <a:t>Set on Yokohama’s waterfront around Yamashita Park, this course is flat, fast, and exposed to coastal weather. The race is usually less about elevation and more about making the right group, staying safe on wet roads, and arriving at T2 ready to run.</a:t>
            </a:r>
          </a:p>
        </p:txBody>
      </p:sp>
      <p:sp>
        <p:nvSpPr>
          <p:cNvPr id="10" name="Rectangle 9"/>
          <p:cNvSpPr/>
          <p:nvPr/>
        </p:nvSpPr>
        <p:spPr>
          <a:xfrm>
            <a:off x="274320" y="2971800"/>
            <a:ext cx="603504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2990088"/>
            <a:ext cx="5669280" cy="274320"/>
          </a:xfrm>
          <a:prstGeom prst="rect">
            <a:avLst/>
          </a:prstGeom>
          <a:noFill/>
        </p:spPr>
        <p:txBody>
          <a:bodyPr wrap="square">
            <a:spAutoFit/>
          </a:bodyPr>
          <a:lstStyle/>
          <a:p>
            <a:pPr algn="l"/>
            <a:r>
              <a:rPr sz="1200" b="1" i="0">
                <a:solidFill>
                  <a:srgbClr val="FFFFFF"/>
                </a:solidFill>
                <a:latin typeface="Arial"/>
              </a:rPr>
              <a:t>COURSE FEATURES</a:t>
            </a:r>
          </a:p>
        </p:txBody>
      </p:sp>
      <p:sp>
        <p:nvSpPr>
          <p:cNvPr id="12" name="TextBox 11"/>
          <p:cNvSpPr txBox="1"/>
          <p:nvPr/>
        </p:nvSpPr>
        <p:spPr>
          <a:xfrm>
            <a:off x="365760" y="3383280"/>
            <a:ext cx="5852160" cy="584775"/>
          </a:xfrm>
          <a:prstGeom prst="rect">
            <a:avLst/>
          </a:prstGeom>
          <a:noFill/>
        </p:spPr>
        <p:txBody>
          <a:bodyPr wrap="square">
            <a:spAutoFit/>
          </a:bodyPr>
          <a:lstStyle/>
          <a:p>
            <a:pPr algn="l"/>
            <a:r>
              <a:rPr lang="en-US" sz="1600" b="0" i="0" dirty="0">
                <a:solidFill>
                  <a:srgbClr val="232323"/>
                </a:solidFill>
                <a:latin typeface="Arial"/>
              </a:rPr>
              <a:t>• </a:t>
            </a:r>
            <a:r>
              <a:rPr sz="1600" b="0" i="0" dirty="0">
                <a:solidFill>
                  <a:srgbClr val="232323"/>
                </a:solidFill>
                <a:latin typeface="Arial"/>
              </a:rPr>
              <a:t>Sea swim from a pontoon start on the Yokohama waterfront.</a:t>
            </a:r>
            <a:endParaRPr lang="en-US" sz="1600" b="0" i="0" dirty="0">
              <a:solidFill>
                <a:srgbClr val="232323"/>
              </a:solidFill>
              <a:latin typeface="Arial"/>
            </a:endParaRPr>
          </a:p>
          <a:p>
            <a:pPr algn="l"/>
            <a:endParaRPr lang="en-US" sz="1600" b="0" i="0" dirty="0">
              <a:solidFill>
                <a:srgbClr val="232323"/>
              </a:solidFill>
              <a:latin typeface="Arial"/>
            </a:endParaRPr>
          </a:p>
        </p:txBody>
      </p:sp>
      <p:sp>
        <p:nvSpPr>
          <p:cNvPr id="13" name="TextBox 12"/>
          <p:cNvSpPr txBox="1"/>
          <p:nvPr/>
        </p:nvSpPr>
        <p:spPr>
          <a:xfrm>
            <a:off x="365760" y="3879481"/>
            <a:ext cx="5852160" cy="584775"/>
          </a:xfrm>
          <a:prstGeom prst="rect">
            <a:avLst/>
          </a:prstGeom>
          <a:noFill/>
        </p:spPr>
        <p:txBody>
          <a:bodyPr wrap="square">
            <a:spAutoFit/>
          </a:bodyPr>
          <a:lstStyle/>
          <a:p>
            <a:pPr algn="l"/>
            <a:r>
              <a:rPr lang="en-US" sz="1600" b="0" i="0" dirty="0">
                <a:solidFill>
                  <a:srgbClr val="232323"/>
                </a:solidFill>
                <a:latin typeface="Arial"/>
              </a:rPr>
              <a:t>• Flat urban multi-lap bike course. Positioning and handling are key with likelihood of rain and wind. </a:t>
            </a:r>
          </a:p>
        </p:txBody>
      </p:sp>
      <p:sp>
        <p:nvSpPr>
          <p:cNvPr id="14" name="TextBox 13"/>
          <p:cNvSpPr txBox="1"/>
          <p:nvPr/>
        </p:nvSpPr>
        <p:spPr>
          <a:xfrm>
            <a:off x="365760" y="4624985"/>
            <a:ext cx="5852160" cy="594360"/>
          </a:xfrm>
          <a:prstGeom prst="rect">
            <a:avLst/>
          </a:prstGeom>
          <a:noFill/>
        </p:spPr>
        <p:txBody>
          <a:bodyPr wrap="square">
            <a:spAutoFit/>
          </a:bodyPr>
          <a:lstStyle/>
          <a:p>
            <a:pPr algn="l"/>
            <a:r>
              <a:rPr sz="1600" b="0" i="0" dirty="0">
                <a:solidFill>
                  <a:srgbClr val="232323"/>
                </a:solidFill>
                <a:latin typeface="Arial"/>
              </a:rPr>
              <a:t>• Flat 10 km run where podium decisions usually come down to </a:t>
            </a:r>
            <a:r>
              <a:rPr lang="en-US" sz="1600" b="0" i="0" dirty="0">
                <a:solidFill>
                  <a:srgbClr val="232323"/>
                </a:solidFill>
                <a:latin typeface="Arial"/>
              </a:rPr>
              <a:t>a large group starting the run together off the bike</a:t>
            </a:r>
            <a:endParaRPr sz="1600" b="0" i="0" dirty="0">
              <a:solidFill>
                <a:srgbClr val="232323"/>
              </a:solidFill>
              <a:latin typeface="Arial"/>
            </a:endParaRPr>
          </a:p>
        </p:txBody>
      </p:sp>
      <p:sp>
        <p:nvSpPr>
          <p:cNvPr id="15" name="TextBox 14"/>
          <p:cNvSpPr txBox="1"/>
          <p:nvPr/>
        </p:nvSpPr>
        <p:spPr>
          <a:xfrm>
            <a:off x="365760" y="5358384"/>
            <a:ext cx="5852160" cy="594360"/>
          </a:xfrm>
          <a:prstGeom prst="rect">
            <a:avLst/>
          </a:prstGeom>
          <a:noFill/>
        </p:spPr>
        <p:txBody>
          <a:bodyPr wrap="square">
            <a:spAutoFit/>
          </a:bodyPr>
          <a:lstStyle/>
          <a:p>
            <a:pPr algn="l"/>
            <a:r>
              <a:rPr sz="1600" b="0" i="0" dirty="0">
                <a:solidFill>
                  <a:srgbClr val="232323"/>
                </a:solidFill>
                <a:latin typeface="Arial"/>
              </a:rPr>
              <a:t>• Rain and wind are recurring variables; 2025 bike result was shortened to 37.2 km.</a:t>
            </a:r>
          </a:p>
        </p:txBody>
      </p:sp>
      <p:sp>
        <p:nvSpPr>
          <p:cNvPr id="16" name="Rectangle 15"/>
          <p:cNvSpPr/>
          <p:nvPr/>
        </p:nvSpPr>
        <p:spPr>
          <a:xfrm>
            <a:off x="6583680" y="109728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29400" y="1115568"/>
            <a:ext cx="4937760" cy="274320"/>
          </a:xfrm>
          <a:prstGeom prst="rect">
            <a:avLst/>
          </a:prstGeom>
          <a:noFill/>
        </p:spPr>
        <p:txBody>
          <a:bodyPr wrap="square">
            <a:spAutoFit/>
          </a:bodyPr>
          <a:lstStyle/>
          <a:p>
            <a:pPr algn="l"/>
            <a:r>
              <a:rPr sz="1200" b="1" i="0">
                <a:solidFill>
                  <a:srgbClr val="FFFFFF"/>
                </a:solidFill>
                <a:latin typeface="Arial"/>
              </a:rPr>
              <a:t>COURSE AT A GLANCE</a:t>
            </a:r>
          </a:p>
        </p:txBody>
      </p:sp>
      <p:sp>
        <p:nvSpPr>
          <p:cNvPr id="18" name="TextBox 17"/>
          <p:cNvSpPr txBox="1"/>
          <p:nvPr/>
        </p:nvSpPr>
        <p:spPr>
          <a:xfrm>
            <a:off x="6675120" y="1508760"/>
            <a:ext cx="1828800" cy="320040"/>
          </a:xfrm>
          <a:prstGeom prst="rect">
            <a:avLst/>
          </a:prstGeom>
          <a:noFill/>
        </p:spPr>
        <p:txBody>
          <a:bodyPr wrap="square">
            <a:spAutoFit/>
          </a:bodyPr>
          <a:lstStyle/>
          <a:p>
            <a:pPr algn="l"/>
            <a:r>
              <a:rPr sz="1200" b="1" i="0">
                <a:solidFill>
                  <a:srgbClr val="002060"/>
                </a:solidFill>
                <a:latin typeface="Arial"/>
              </a:rPr>
              <a:t>Swim:</a:t>
            </a:r>
          </a:p>
        </p:txBody>
      </p:sp>
      <p:sp>
        <p:nvSpPr>
          <p:cNvPr id="19" name="TextBox 18"/>
          <p:cNvSpPr txBox="1"/>
          <p:nvPr/>
        </p:nvSpPr>
        <p:spPr>
          <a:xfrm>
            <a:off x="8595360" y="1508760"/>
            <a:ext cx="3200400" cy="320040"/>
          </a:xfrm>
          <a:prstGeom prst="rect">
            <a:avLst/>
          </a:prstGeom>
          <a:noFill/>
        </p:spPr>
        <p:txBody>
          <a:bodyPr wrap="square">
            <a:spAutoFit/>
          </a:bodyPr>
          <a:lstStyle/>
          <a:p>
            <a:pPr algn="l"/>
            <a:r>
              <a:rPr sz="1240" b="0" i="0">
                <a:solidFill>
                  <a:srgbClr val="232323"/>
                </a:solidFill>
                <a:latin typeface="Arial"/>
              </a:rPr>
              <a:t>1.5 km</a:t>
            </a:r>
          </a:p>
        </p:txBody>
      </p:sp>
      <p:sp>
        <p:nvSpPr>
          <p:cNvPr id="20" name="TextBox 19"/>
          <p:cNvSpPr txBox="1"/>
          <p:nvPr/>
        </p:nvSpPr>
        <p:spPr>
          <a:xfrm>
            <a:off x="6675120" y="1847088"/>
            <a:ext cx="1828800" cy="320040"/>
          </a:xfrm>
          <a:prstGeom prst="rect">
            <a:avLst/>
          </a:prstGeom>
          <a:noFill/>
        </p:spPr>
        <p:txBody>
          <a:bodyPr wrap="square">
            <a:spAutoFit/>
          </a:bodyPr>
          <a:lstStyle/>
          <a:p>
            <a:pPr algn="l"/>
            <a:r>
              <a:rPr sz="1200" b="1" i="0">
                <a:solidFill>
                  <a:srgbClr val="002060"/>
                </a:solidFill>
                <a:latin typeface="Arial"/>
              </a:rPr>
              <a:t>Bike:</a:t>
            </a:r>
          </a:p>
        </p:txBody>
      </p:sp>
      <p:sp>
        <p:nvSpPr>
          <p:cNvPr id="21" name="TextBox 20"/>
          <p:cNvSpPr txBox="1"/>
          <p:nvPr/>
        </p:nvSpPr>
        <p:spPr>
          <a:xfrm>
            <a:off x="8595360" y="1847088"/>
            <a:ext cx="3200400" cy="320040"/>
          </a:xfrm>
          <a:prstGeom prst="rect">
            <a:avLst/>
          </a:prstGeom>
          <a:noFill/>
        </p:spPr>
        <p:txBody>
          <a:bodyPr wrap="square">
            <a:spAutoFit/>
          </a:bodyPr>
          <a:lstStyle/>
          <a:p>
            <a:pPr algn="l"/>
            <a:r>
              <a:rPr sz="1240" b="0" i="0">
                <a:solidFill>
                  <a:srgbClr val="232323"/>
                </a:solidFill>
                <a:latin typeface="Arial"/>
              </a:rPr>
              <a:t>40.0 km (2026)</a:t>
            </a:r>
          </a:p>
        </p:txBody>
      </p:sp>
      <p:sp>
        <p:nvSpPr>
          <p:cNvPr id="22" name="TextBox 21"/>
          <p:cNvSpPr txBox="1"/>
          <p:nvPr/>
        </p:nvSpPr>
        <p:spPr>
          <a:xfrm>
            <a:off x="6675120" y="2185415"/>
            <a:ext cx="1828800" cy="320040"/>
          </a:xfrm>
          <a:prstGeom prst="rect">
            <a:avLst/>
          </a:prstGeom>
          <a:noFill/>
        </p:spPr>
        <p:txBody>
          <a:bodyPr wrap="square">
            <a:spAutoFit/>
          </a:bodyPr>
          <a:lstStyle/>
          <a:p>
            <a:pPr algn="l"/>
            <a:r>
              <a:rPr sz="1200" b="1" i="0">
                <a:solidFill>
                  <a:srgbClr val="002060"/>
                </a:solidFill>
                <a:latin typeface="Arial"/>
              </a:rPr>
              <a:t>Run:</a:t>
            </a:r>
          </a:p>
        </p:txBody>
      </p:sp>
      <p:sp>
        <p:nvSpPr>
          <p:cNvPr id="23" name="TextBox 22"/>
          <p:cNvSpPr txBox="1"/>
          <p:nvPr/>
        </p:nvSpPr>
        <p:spPr>
          <a:xfrm>
            <a:off x="8595360" y="2185415"/>
            <a:ext cx="3200400" cy="320040"/>
          </a:xfrm>
          <a:prstGeom prst="rect">
            <a:avLst/>
          </a:prstGeom>
          <a:noFill/>
        </p:spPr>
        <p:txBody>
          <a:bodyPr wrap="square">
            <a:spAutoFit/>
          </a:bodyPr>
          <a:lstStyle/>
          <a:p>
            <a:pPr algn="l"/>
            <a:r>
              <a:rPr sz="1240" b="0" i="0">
                <a:solidFill>
                  <a:srgbClr val="232323"/>
                </a:solidFill>
                <a:latin typeface="Arial"/>
              </a:rPr>
              <a:t>10.0 km</a:t>
            </a:r>
          </a:p>
        </p:txBody>
      </p:sp>
      <p:sp>
        <p:nvSpPr>
          <p:cNvPr id="24" name="TextBox 23"/>
          <p:cNvSpPr txBox="1"/>
          <p:nvPr/>
        </p:nvSpPr>
        <p:spPr>
          <a:xfrm>
            <a:off x="6675120" y="2523744"/>
            <a:ext cx="1828800" cy="320040"/>
          </a:xfrm>
          <a:prstGeom prst="rect">
            <a:avLst/>
          </a:prstGeom>
          <a:noFill/>
        </p:spPr>
        <p:txBody>
          <a:bodyPr wrap="square">
            <a:spAutoFit/>
          </a:bodyPr>
          <a:lstStyle/>
          <a:p>
            <a:pPr algn="l"/>
            <a:r>
              <a:rPr sz="1200" b="1" i="0">
                <a:solidFill>
                  <a:srgbClr val="002060"/>
                </a:solidFill>
                <a:latin typeface="Arial"/>
              </a:rPr>
              <a:t>Format:</a:t>
            </a:r>
          </a:p>
        </p:txBody>
      </p:sp>
      <p:sp>
        <p:nvSpPr>
          <p:cNvPr id="25" name="TextBox 24"/>
          <p:cNvSpPr txBox="1"/>
          <p:nvPr/>
        </p:nvSpPr>
        <p:spPr>
          <a:xfrm>
            <a:off x="8595360" y="2523744"/>
            <a:ext cx="3200400" cy="320040"/>
          </a:xfrm>
          <a:prstGeom prst="rect">
            <a:avLst/>
          </a:prstGeom>
          <a:noFill/>
        </p:spPr>
        <p:txBody>
          <a:bodyPr wrap="square">
            <a:spAutoFit/>
          </a:bodyPr>
          <a:lstStyle/>
          <a:p>
            <a:pPr algn="l"/>
            <a:r>
              <a:rPr sz="1240" b="0" i="0" dirty="0">
                <a:solidFill>
                  <a:srgbClr val="232323"/>
                </a:solidFill>
                <a:latin typeface="Arial"/>
              </a:rPr>
              <a:t>Standard Triathlon</a:t>
            </a:r>
          </a:p>
        </p:txBody>
      </p:sp>
      <p:sp>
        <p:nvSpPr>
          <p:cNvPr id="26" name="TextBox 25"/>
          <p:cNvSpPr txBox="1"/>
          <p:nvPr/>
        </p:nvSpPr>
        <p:spPr>
          <a:xfrm>
            <a:off x="6675120" y="2862072"/>
            <a:ext cx="1828800" cy="320040"/>
          </a:xfrm>
          <a:prstGeom prst="rect">
            <a:avLst/>
          </a:prstGeom>
          <a:noFill/>
        </p:spPr>
        <p:txBody>
          <a:bodyPr wrap="square">
            <a:spAutoFit/>
          </a:bodyPr>
          <a:lstStyle/>
          <a:p>
            <a:pPr algn="l"/>
            <a:r>
              <a:rPr sz="1200" b="1" i="0">
                <a:solidFill>
                  <a:srgbClr val="002060"/>
                </a:solidFill>
                <a:latin typeface="Arial"/>
              </a:rPr>
              <a:t>Bike Laps:</a:t>
            </a:r>
          </a:p>
        </p:txBody>
      </p:sp>
      <p:sp>
        <p:nvSpPr>
          <p:cNvPr id="27" name="TextBox 26"/>
          <p:cNvSpPr txBox="1"/>
          <p:nvPr/>
        </p:nvSpPr>
        <p:spPr>
          <a:xfrm>
            <a:off x="8595360" y="2862072"/>
            <a:ext cx="3200400" cy="283154"/>
          </a:xfrm>
          <a:prstGeom prst="rect">
            <a:avLst/>
          </a:prstGeom>
          <a:noFill/>
        </p:spPr>
        <p:txBody>
          <a:bodyPr wrap="square">
            <a:spAutoFit/>
          </a:bodyPr>
          <a:lstStyle/>
          <a:p>
            <a:pPr algn="l"/>
            <a:r>
              <a:rPr sz="1240" dirty="0">
                <a:solidFill>
                  <a:srgbClr val="232323"/>
                </a:solidFill>
                <a:latin typeface="Arial"/>
              </a:rPr>
              <a:t>10 (~16 key turns/lap est.)</a:t>
            </a:r>
          </a:p>
        </p:txBody>
      </p:sp>
      <p:sp>
        <p:nvSpPr>
          <p:cNvPr id="28" name="TextBox 27"/>
          <p:cNvSpPr txBox="1"/>
          <p:nvPr/>
        </p:nvSpPr>
        <p:spPr>
          <a:xfrm>
            <a:off x="6675120" y="3200400"/>
            <a:ext cx="1828800" cy="320040"/>
          </a:xfrm>
          <a:prstGeom prst="rect">
            <a:avLst/>
          </a:prstGeom>
          <a:noFill/>
        </p:spPr>
        <p:txBody>
          <a:bodyPr wrap="square">
            <a:spAutoFit/>
          </a:bodyPr>
          <a:lstStyle/>
          <a:p>
            <a:pPr algn="l"/>
            <a:r>
              <a:rPr sz="1200" b="1" i="0">
                <a:solidFill>
                  <a:srgbClr val="002060"/>
                </a:solidFill>
                <a:latin typeface="Arial"/>
              </a:rPr>
              <a:t>Run Laps:</a:t>
            </a:r>
          </a:p>
        </p:txBody>
      </p:sp>
      <p:sp>
        <p:nvSpPr>
          <p:cNvPr id="29" name="TextBox 28"/>
          <p:cNvSpPr txBox="1"/>
          <p:nvPr/>
        </p:nvSpPr>
        <p:spPr>
          <a:xfrm>
            <a:off x="8595360" y="3200400"/>
            <a:ext cx="3200400" cy="283154"/>
          </a:xfrm>
          <a:prstGeom prst="rect">
            <a:avLst/>
          </a:prstGeom>
          <a:noFill/>
        </p:spPr>
        <p:txBody>
          <a:bodyPr wrap="square">
            <a:spAutoFit/>
          </a:bodyPr>
          <a:lstStyle/>
          <a:p>
            <a:pPr algn="l"/>
            <a:r>
              <a:rPr sz="1240" b="0" i="0" dirty="0">
                <a:solidFill>
                  <a:srgbClr val="232323"/>
                </a:solidFill>
                <a:latin typeface="Arial"/>
              </a:rPr>
              <a:t>4</a:t>
            </a:r>
            <a:r>
              <a:rPr lang="en-US" sz="1240" b="0" i="0" dirty="0">
                <a:solidFill>
                  <a:srgbClr val="232323"/>
                </a:solidFill>
                <a:latin typeface="Arial"/>
              </a:rPr>
              <a:t> (Surface likely pavement)</a:t>
            </a:r>
            <a:endParaRPr sz="1240" b="0" i="0" dirty="0">
              <a:solidFill>
                <a:srgbClr val="232323"/>
              </a:solidFill>
              <a:latin typeface="Arial"/>
            </a:endParaRPr>
          </a:p>
        </p:txBody>
      </p:sp>
      <p:sp>
        <p:nvSpPr>
          <p:cNvPr id="30" name="Rectangle 29"/>
          <p:cNvSpPr/>
          <p:nvPr/>
        </p:nvSpPr>
        <p:spPr>
          <a:xfrm>
            <a:off x="6583680" y="365760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29400" y="3675887"/>
            <a:ext cx="4937760" cy="274320"/>
          </a:xfrm>
          <a:prstGeom prst="rect">
            <a:avLst/>
          </a:prstGeom>
          <a:noFill/>
        </p:spPr>
        <p:txBody>
          <a:bodyPr wrap="square">
            <a:spAutoFit/>
          </a:bodyPr>
          <a:lstStyle/>
          <a:p>
            <a:pPr algn="l"/>
            <a:r>
              <a:rPr sz="1200" b="1" i="0">
                <a:solidFill>
                  <a:srgbClr val="FFFFFF"/>
                </a:solidFill>
                <a:latin typeface="Arial"/>
              </a:rPr>
              <a:t>QUICK LINKS</a:t>
            </a:r>
          </a:p>
        </p:txBody>
      </p:sp>
      <p:sp>
        <p:nvSpPr>
          <p:cNvPr id="32" name="TextBox 31"/>
          <p:cNvSpPr txBox="1"/>
          <p:nvPr/>
        </p:nvSpPr>
        <p:spPr>
          <a:xfrm>
            <a:off x="6675120" y="4069080"/>
            <a:ext cx="5120640" cy="274320"/>
          </a:xfrm>
          <a:prstGeom prst="rect">
            <a:avLst/>
          </a:prstGeom>
          <a:noFill/>
        </p:spPr>
        <p:txBody>
          <a:bodyPr wrap="square">
            <a:spAutoFit/>
          </a:bodyPr>
          <a:lstStyle/>
          <a:p>
            <a:pPr algn="l"/>
            <a:r>
              <a:rPr sz="1100" b="1" i="0">
                <a:solidFill>
                  <a:srgbClr val="002060"/>
                </a:solidFill>
                <a:latin typeface="Arial"/>
              </a:rPr>
              <a:t>Current Race Info:</a:t>
            </a:r>
          </a:p>
        </p:txBody>
      </p:sp>
      <p:sp>
        <p:nvSpPr>
          <p:cNvPr id="33" name="TextBox 32"/>
          <p:cNvSpPr txBox="1"/>
          <p:nvPr/>
        </p:nvSpPr>
        <p:spPr>
          <a:xfrm>
            <a:off x="6675120" y="4370832"/>
            <a:ext cx="5120640" cy="384048"/>
          </a:xfrm>
          <a:prstGeom prst="rect">
            <a:avLst/>
          </a:prstGeom>
          <a:noFill/>
        </p:spPr>
        <p:txBody>
          <a:bodyPr wrap="square">
            <a:spAutoFit/>
          </a:bodyPr>
          <a:lstStyle/>
          <a:p>
            <a:pPr algn="l"/>
            <a:r>
              <a:rPr sz="1019" b="1" u="sng">
                <a:solidFill>
                  <a:srgbClr val="0058AF"/>
                </a:solidFill>
                <a:latin typeface="Arial"/>
                <a:hlinkClick r:id="rId3"/>
              </a:rPr>
              <a:t>2026 World Triathlon race info</a:t>
            </a:r>
          </a:p>
        </p:txBody>
      </p:sp>
      <p:sp>
        <p:nvSpPr>
          <p:cNvPr id="34" name="TextBox 33"/>
          <p:cNvSpPr txBox="1"/>
          <p:nvPr/>
        </p:nvSpPr>
        <p:spPr>
          <a:xfrm>
            <a:off x="6675120" y="4846320"/>
            <a:ext cx="5120640" cy="274320"/>
          </a:xfrm>
          <a:prstGeom prst="rect">
            <a:avLst/>
          </a:prstGeom>
          <a:noFill/>
        </p:spPr>
        <p:txBody>
          <a:bodyPr wrap="square">
            <a:spAutoFit/>
          </a:bodyPr>
          <a:lstStyle/>
          <a:p>
            <a:pPr algn="l"/>
            <a:r>
              <a:rPr sz="1100" b="1" i="0">
                <a:solidFill>
                  <a:srgbClr val="002060"/>
                </a:solidFill>
                <a:latin typeface="Arial"/>
              </a:rPr>
              <a:t>Last Year's Results:</a:t>
            </a:r>
          </a:p>
        </p:txBody>
      </p:sp>
      <p:sp>
        <p:nvSpPr>
          <p:cNvPr id="35" name="TextBox 34"/>
          <p:cNvSpPr txBox="1"/>
          <p:nvPr/>
        </p:nvSpPr>
        <p:spPr>
          <a:xfrm>
            <a:off x="6675120" y="5148072"/>
            <a:ext cx="5120640" cy="384048"/>
          </a:xfrm>
          <a:prstGeom prst="rect">
            <a:avLst/>
          </a:prstGeom>
          <a:noFill/>
        </p:spPr>
        <p:txBody>
          <a:bodyPr wrap="square">
            <a:spAutoFit/>
          </a:bodyPr>
          <a:lstStyle/>
          <a:p>
            <a:pPr algn="l"/>
            <a:r>
              <a:rPr sz="1019" b="1" u="sng">
                <a:solidFill>
                  <a:srgbClr val="0058AF"/>
                </a:solidFill>
                <a:latin typeface="Arial"/>
                <a:hlinkClick r:id="rId4"/>
              </a:rPr>
              <a:t>2025 Yokohama results</a:t>
            </a:r>
          </a:p>
        </p:txBody>
      </p:sp>
      <p:sp>
        <p:nvSpPr>
          <p:cNvPr id="36" name="TextBox 35"/>
          <p:cNvSpPr txBox="1"/>
          <p:nvPr/>
        </p:nvSpPr>
        <p:spPr>
          <a:xfrm>
            <a:off x="6675120" y="5623560"/>
            <a:ext cx="5120640" cy="274320"/>
          </a:xfrm>
          <a:prstGeom prst="rect">
            <a:avLst/>
          </a:prstGeom>
          <a:noFill/>
        </p:spPr>
        <p:txBody>
          <a:bodyPr wrap="square">
            <a:spAutoFit/>
          </a:bodyPr>
          <a:lstStyle/>
          <a:p>
            <a:pPr algn="l"/>
            <a:r>
              <a:rPr sz="1100" b="1" i="0">
                <a:solidFill>
                  <a:srgbClr val="002060"/>
                </a:solidFill>
                <a:latin typeface="Arial"/>
              </a:rPr>
              <a:t>Race Replay:</a:t>
            </a:r>
          </a:p>
        </p:txBody>
      </p:sp>
      <p:sp>
        <p:nvSpPr>
          <p:cNvPr id="37" name="TextBox 36"/>
          <p:cNvSpPr txBox="1"/>
          <p:nvPr/>
        </p:nvSpPr>
        <p:spPr>
          <a:xfrm>
            <a:off x="6675120" y="5925312"/>
            <a:ext cx="5120640" cy="384048"/>
          </a:xfrm>
          <a:prstGeom prst="rect">
            <a:avLst/>
          </a:prstGeom>
          <a:noFill/>
        </p:spPr>
        <p:txBody>
          <a:bodyPr wrap="square">
            <a:spAutoFit/>
          </a:bodyPr>
          <a:lstStyle/>
          <a:p>
            <a:pPr algn="l"/>
            <a:r>
              <a:rPr sz="1019" b="1" u="sng">
                <a:solidFill>
                  <a:srgbClr val="0058AF"/>
                </a:solidFill>
                <a:latin typeface="Arial"/>
                <a:hlinkClick r:id="rId4"/>
              </a:rPr>
              <a:t>2025 results + TriathlonLIVE replays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Course Profile &amp; Map</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Yokohama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15568"/>
            <a:ext cx="5669280" cy="333756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4507992"/>
            <a:ext cx="5669280" cy="274320"/>
          </a:xfrm>
          <a:prstGeom prst="rect">
            <a:avLst/>
          </a:prstGeom>
          <a:noFill/>
        </p:spPr>
        <p:txBody>
          <a:bodyPr wrap="square">
            <a:spAutoFit/>
          </a:bodyPr>
          <a:lstStyle/>
          <a:p>
            <a:pPr algn="ctr"/>
            <a:r>
              <a:rPr sz="1250" b="1" i="0">
                <a:solidFill>
                  <a:srgbClr val="002868"/>
                </a:solidFill>
                <a:latin typeface="Arial"/>
              </a:rPr>
              <a:t>2026 Course</a:t>
            </a:r>
          </a:p>
        </p:txBody>
      </p:sp>
      <p:sp>
        <p:nvSpPr>
          <p:cNvPr id="11" name="TextBox 10"/>
          <p:cNvSpPr txBox="1"/>
          <p:nvPr/>
        </p:nvSpPr>
        <p:spPr>
          <a:xfrm>
            <a:off x="274320" y="4773168"/>
            <a:ext cx="5669280" cy="246888"/>
          </a:xfrm>
          <a:prstGeom prst="rect">
            <a:avLst/>
          </a:prstGeom>
          <a:noFill/>
        </p:spPr>
        <p:txBody>
          <a:bodyPr wrap="square">
            <a:spAutoFit/>
          </a:bodyPr>
          <a:lstStyle/>
          <a:p>
            <a:pPr algn="ctr"/>
            <a:r>
              <a:rPr sz="869" b="1" u="sng" dirty="0">
                <a:solidFill>
                  <a:srgbClr val="0058AF"/>
                </a:solidFill>
                <a:latin typeface="Arial"/>
                <a:hlinkClick r:id="rId3"/>
              </a:rPr>
              <a:t>Source: 2026 World Triathlon race info / course map</a:t>
            </a:r>
          </a:p>
        </p:txBody>
      </p:sp>
      <p:sp>
        <p:nvSpPr>
          <p:cNvPr id="12" name="Rectangle 11"/>
          <p:cNvSpPr/>
          <p:nvPr/>
        </p:nvSpPr>
        <p:spPr>
          <a:xfrm>
            <a:off x="6263640" y="1115568"/>
            <a:ext cx="5669280" cy="333756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3640" y="4507992"/>
            <a:ext cx="5669280" cy="274320"/>
          </a:xfrm>
          <a:prstGeom prst="rect">
            <a:avLst/>
          </a:prstGeom>
          <a:noFill/>
        </p:spPr>
        <p:txBody>
          <a:bodyPr wrap="square">
            <a:spAutoFit/>
          </a:bodyPr>
          <a:lstStyle/>
          <a:p>
            <a:pPr algn="ctr"/>
            <a:r>
              <a:rPr sz="1250" b="1" i="0">
                <a:solidFill>
                  <a:srgbClr val="002868"/>
                </a:solidFill>
                <a:latin typeface="Arial"/>
              </a:rPr>
              <a:t>2025 Course</a:t>
            </a:r>
          </a:p>
        </p:txBody>
      </p:sp>
      <p:sp>
        <p:nvSpPr>
          <p:cNvPr id="15" name="TextBox 14"/>
          <p:cNvSpPr txBox="1"/>
          <p:nvPr/>
        </p:nvSpPr>
        <p:spPr>
          <a:xfrm>
            <a:off x="6263640" y="4773168"/>
            <a:ext cx="5669280" cy="246888"/>
          </a:xfrm>
          <a:prstGeom prst="rect">
            <a:avLst/>
          </a:prstGeom>
          <a:noFill/>
        </p:spPr>
        <p:txBody>
          <a:bodyPr wrap="square">
            <a:spAutoFit/>
          </a:bodyPr>
          <a:lstStyle/>
          <a:p>
            <a:pPr algn="ctr"/>
            <a:r>
              <a:rPr sz="869" b="1" u="sng">
                <a:solidFill>
                  <a:srgbClr val="0058AF"/>
                </a:solidFill>
                <a:latin typeface="Arial"/>
                <a:hlinkClick r:id="rId4"/>
              </a:rPr>
              <a:t>Source: 2025 Yokohama course map PDF</a:t>
            </a:r>
          </a:p>
        </p:txBody>
      </p:sp>
      <p:graphicFrame>
        <p:nvGraphicFramePr>
          <p:cNvPr id="16" name="Table 15"/>
          <p:cNvGraphicFramePr>
            <a:graphicFrameLocks noGrp="1"/>
          </p:cNvGraphicFramePr>
          <p:nvPr>
            <p:extLst>
              <p:ext uri="{D42A27DB-BD31-4B8C-83A1-F6EECF244321}">
                <p14:modId xmlns:p14="http://schemas.microsoft.com/office/powerpoint/2010/main" val="1566644102"/>
              </p:ext>
            </p:extLst>
          </p:nvPr>
        </p:nvGraphicFramePr>
        <p:xfrm>
          <a:off x="274320" y="4956048"/>
          <a:ext cx="11640312" cy="164592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708392">
                  <a:extLst>
                    <a:ext uri="{9D8B030D-6E8A-4147-A177-3AD203B41FA5}">
                      <a16:colId xmlns:a16="http://schemas.microsoft.com/office/drawing/2014/main" val="20003"/>
                    </a:ext>
                  </a:extLst>
                </a:gridCol>
              </a:tblGrid>
              <a:tr h="411480">
                <a:tc>
                  <a:txBody>
                    <a:bodyPr/>
                    <a:lstStyle/>
                    <a:p>
                      <a:pPr algn="ctr"/>
                      <a:r>
                        <a:rPr sz="1050" b="1">
                          <a:solidFill>
                            <a:srgbClr val="FFFFFF"/>
                          </a:solidFill>
                          <a:latin typeface="Arial"/>
                        </a:rPr>
                        <a:t>Discipline</a:t>
                      </a:r>
                    </a:p>
                  </a:txBody>
                  <a:tcPr>
                    <a:solidFill>
                      <a:srgbClr val="002868"/>
                    </a:solidFill>
                  </a:tcPr>
                </a:tc>
                <a:tc>
                  <a:txBody>
                    <a:bodyPr/>
                    <a:lstStyle/>
                    <a:p>
                      <a:pPr algn="ctr"/>
                      <a:r>
                        <a:rPr sz="1050" b="1" dirty="0">
                          <a:solidFill>
                            <a:srgbClr val="FFFFFF"/>
                          </a:solidFill>
                          <a:latin typeface="Arial"/>
                        </a:rPr>
                        <a:t>Distance</a:t>
                      </a:r>
                    </a:p>
                  </a:txBody>
                  <a:tcPr>
                    <a:solidFill>
                      <a:srgbClr val="002868"/>
                    </a:solidFill>
                  </a:tcPr>
                </a:tc>
                <a:tc>
                  <a:txBody>
                    <a:bodyPr/>
                    <a:lstStyle/>
                    <a:p>
                      <a:pPr algn="ctr"/>
                      <a:r>
                        <a:rPr sz="1050" b="1">
                          <a:solidFill>
                            <a:srgbClr val="FFFFFF"/>
                          </a:solidFill>
                          <a:latin typeface="Arial"/>
                        </a:rPr>
                        <a:t>Laps</a:t>
                      </a:r>
                    </a:p>
                  </a:txBody>
                  <a:tcPr>
                    <a:solidFill>
                      <a:srgbClr val="002868"/>
                    </a:solidFill>
                  </a:tcPr>
                </a:tc>
                <a:tc>
                  <a:txBody>
                    <a:bodyPr/>
                    <a:lstStyle/>
                    <a:p>
                      <a:pPr algn="l"/>
                      <a:r>
                        <a:rPr sz="1050" b="1">
                          <a:solidFill>
                            <a:srgbClr val="FFFFFF"/>
                          </a:solidFill>
                          <a:latin typeface="Arial"/>
                        </a:rPr>
                        <a:t>Terrain / Notes</a:t>
                      </a:r>
                    </a:p>
                  </a:txBody>
                  <a:tcPr>
                    <a:solidFill>
                      <a:srgbClr val="002868"/>
                    </a:solidFill>
                  </a:tcPr>
                </a:tc>
                <a:extLst>
                  <a:ext uri="{0D108BD9-81ED-4DB2-BD59-A6C34878D82A}">
                    <a16:rowId xmlns:a16="http://schemas.microsoft.com/office/drawing/2014/main" val="10000"/>
                  </a:ext>
                </a:extLst>
              </a:tr>
              <a:tr h="411480">
                <a:tc>
                  <a:txBody>
                    <a:bodyPr/>
                    <a:lstStyle/>
                    <a:p>
                      <a:pPr algn="ctr"/>
                      <a:r>
                        <a:rPr sz="930" b="0">
                          <a:solidFill>
                            <a:srgbClr val="232323"/>
                          </a:solidFill>
                          <a:latin typeface="Arial"/>
                        </a:rPr>
                        <a:t>Swim</a:t>
                      </a:r>
                    </a:p>
                  </a:txBody>
                  <a:tcPr>
                    <a:solidFill>
                      <a:srgbClr val="FFFFFF"/>
                    </a:solidFill>
                  </a:tcPr>
                </a:tc>
                <a:tc>
                  <a:txBody>
                    <a:bodyPr/>
                    <a:lstStyle/>
                    <a:p>
                      <a:pPr algn="ctr"/>
                      <a:r>
                        <a:rPr sz="930" b="0">
                          <a:solidFill>
                            <a:srgbClr val="232323"/>
                          </a:solidFill>
                          <a:latin typeface="Arial"/>
                        </a:rPr>
                        <a:t>1.5 km</a:t>
                      </a:r>
                    </a:p>
                  </a:txBody>
                  <a:tcPr>
                    <a:solidFill>
                      <a:srgbClr val="FFFFFF"/>
                    </a:solidFill>
                  </a:tcPr>
                </a:tc>
                <a:tc>
                  <a:txBody>
                    <a:bodyPr/>
                    <a:lstStyle/>
                    <a:p>
                      <a:pPr algn="ctr"/>
                      <a:r>
                        <a:rPr sz="930" b="0">
                          <a:solidFill>
                            <a:srgbClr val="232323"/>
                          </a:solidFill>
                          <a:latin typeface="Arial"/>
                        </a:rPr>
                        <a:t>2</a:t>
                      </a:r>
                    </a:p>
                  </a:txBody>
                  <a:tcPr>
                    <a:solidFill>
                      <a:srgbClr val="FFFFFF"/>
                    </a:solidFill>
                  </a:tcPr>
                </a:tc>
                <a:tc>
                  <a:txBody>
                    <a:bodyPr/>
                    <a:lstStyle/>
                    <a:p>
                      <a:pPr algn="l"/>
                      <a:r>
                        <a:rPr sz="930" b="0">
                          <a:solidFill>
                            <a:srgbClr val="232323"/>
                          </a:solidFill>
                          <a:latin typeface="Arial"/>
                        </a:rPr>
                        <a:t>Sea swim from pontoon on Yokohama waterfront</a:t>
                      </a:r>
                    </a:p>
                  </a:txBody>
                  <a:tcPr>
                    <a:solidFill>
                      <a:srgbClr val="FFFFFF"/>
                    </a:solidFill>
                  </a:tcPr>
                </a:tc>
                <a:extLst>
                  <a:ext uri="{0D108BD9-81ED-4DB2-BD59-A6C34878D82A}">
                    <a16:rowId xmlns:a16="http://schemas.microsoft.com/office/drawing/2014/main" val="10001"/>
                  </a:ext>
                </a:extLst>
              </a:tr>
              <a:tr h="411480">
                <a:tc>
                  <a:txBody>
                    <a:bodyPr/>
                    <a:lstStyle/>
                    <a:p>
                      <a:pPr algn="ctr"/>
                      <a:r>
                        <a:rPr sz="930" b="0">
                          <a:solidFill>
                            <a:srgbClr val="232323"/>
                          </a:solidFill>
                          <a:latin typeface="Arial"/>
                        </a:rPr>
                        <a:t>Bike</a:t>
                      </a:r>
                    </a:p>
                  </a:txBody>
                  <a:tcPr>
                    <a:solidFill>
                      <a:srgbClr val="F2F2F2"/>
                    </a:solidFill>
                  </a:tcPr>
                </a:tc>
                <a:tc>
                  <a:txBody>
                    <a:bodyPr/>
                    <a:lstStyle/>
                    <a:p>
                      <a:pPr algn="l"/>
                      <a:r>
                        <a:rPr sz="930" b="0">
                          <a:solidFill>
                            <a:srgbClr val="232323"/>
                          </a:solidFill>
                          <a:latin typeface="Arial"/>
                        </a:rPr>
                        <a:t>40.0 km (2026)</a:t>
                      </a:r>
                    </a:p>
                    <a:p>
                      <a:pPr algn="l"/>
                      <a:r>
                        <a:rPr sz="930" b="0">
                          <a:solidFill>
                            <a:srgbClr val="232323"/>
                          </a:solidFill>
                          <a:latin typeface="Arial"/>
                        </a:rPr>
                        <a:t>37.2 km (2025)</a:t>
                      </a:r>
                    </a:p>
                  </a:txBody>
                  <a:tcPr>
                    <a:solidFill>
                      <a:srgbClr val="F2F2F2"/>
                    </a:solidFill>
                  </a:tcPr>
                </a:tc>
                <a:tc>
                  <a:txBody>
                    <a:bodyPr/>
                    <a:lstStyle/>
                    <a:p>
                      <a:pPr algn="ctr"/>
                      <a:r>
                        <a:rPr sz="930" b="0">
                          <a:solidFill>
                            <a:srgbClr val="232323"/>
                          </a:solidFill>
                          <a:latin typeface="Arial"/>
                        </a:rPr>
                        <a:t>10</a:t>
                      </a:r>
                    </a:p>
                  </a:txBody>
                  <a:tcPr>
                    <a:solidFill>
                      <a:srgbClr val="F2F2F2"/>
                    </a:solidFill>
                  </a:tcPr>
                </a:tc>
                <a:tc>
                  <a:txBody>
                    <a:bodyPr/>
                    <a:lstStyle/>
                    <a:p>
                      <a:pPr algn="l"/>
                      <a:r>
                        <a:rPr sz="930" b="0">
                          <a:solidFill>
                            <a:srgbClr val="232323"/>
                          </a:solidFill>
                          <a:latin typeface="Arial"/>
                        </a:rPr>
                        <a:t>Flat urban multi-lap course; 2025 result shortened by conditions</a:t>
                      </a:r>
                    </a:p>
                  </a:txBody>
                  <a:tcPr>
                    <a:solidFill>
                      <a:srgbClr val="F2F2F2"/>
                    </a:solidFill>
                  </a:tcPr>
                </a:tc>
                <a:extLst>
                  <a:ext uri="{0D108BD9-81ED-4DB2-BD59-A6C34878D82A}">
                    <a16:rowId xmlns:a16="http://schemas.microsoft.com/office/drawing/2014/main" val="10002"/>
                  </a:ext>
                </a:extLst>
              </a:tr>
              <a:tr h="411480">
                <a:tc>
                  <a:txBody>
                    <a:bodyPr/>
                    <a:lstStyle/>
                    <a:p>
                      <a:pPr algn="ctr"/>
                      <a:r>
                        <a:rPr sz="930" b="0">
                          <a:solidFill>
                            <a:srgbClr val="232323"/>
                          </a:solidFill>
                          <a:latin typeface="Arial"/>
                        </a:rPr>
                        <a:t>Run</a:t>
                      </a:r>
                    </a:p>
                  </a:txBody>
                  <a:tcPr>
                    <a:solidFill>
                      <a:srgbClr val="FFFFFF"/>
                    </a:solidFill>
                  </a:tcPr>
                </a:tc>
                <a:tc>
                  <a:txBody>
                    <a:bodyPr/>
                    <a:lstStyle/>
                    <a:p>
                      <a:pPr algn="ctr"/>
                      <a:r>
                        <a:rPr sz="930" b="0" dirty="0">
                          <a:solidFill>
                            <a:srgbClr val="232323"/>
                          </a:solidFill>
                          <a:latin typeface="Arial"/>
                        </a:rPr>
                        <a:t>10.0 km</a:t>
                      </a:r>
                    </a:p>
                  </a:txBody>
                  <a:tcPr>
                    <a:solidFill>
                      <a:srgbClr val="FFFFFF"/>
                    </a:solidFill>
                  </a:tcPr>
                </a:tc>
                <a:tc>
                  <a:txBody>
                    <a:bodyPr/>
                    <a:lstStyle/>
                    <a:p>
                      <a:pPr algn="ctr"/>
                      <a:r>
                        <a:rPr sz="930" b="0" dirty="0">
                          <a:solidFill>
                            <a:srgbClr val="232323"/>
                          </a:solidFill>
                          <a:latin typeface="Arial"/>
                        </a:rPr>
                        <a:t>4</a:t>
                      </a:r>
                    </a:p>
                  </a:txBody>
                  <a:tcPr>
                    <a:solidFill>
                      <a:srgbClr val="FFFFFF"/>
                    </a:solidFill>
                  </a:tcPr>
                </a:tc>
                <a:tc>
                  <a:txBody>
                    <a:bodyPr/>
                    <a:lstStyle/>
                    <a:p>
                      <a:pPr algn="l"/>
                      <a:r>
                        <a:rPr sz="930" b="0" dirty="0">
                          <a:solidFill>
                            <a:srgbClr val="232323"/>
                          </a:solidFill>
                          <a:latin typeface="Arial"/>
                        </a:rPr>
                        <a:t>Flat multi-lap run; </a:t>
                      </a:r>
                      <a:r>
                        <a:rPr lang="en-US" sz="930" b="0" dirty="0">
                          <a:solidFill>
                            <a:srgbClr val="232323"/>
                          </a:solidFill>
                          <a:latin typeface="Arial"/>
                        </a:rPr>
                        <a:t>Surface likely pavement/concrete</a:t>
                      </a:r>
                      <a:endParaRPr sz="930" b="0" dirty="0">
                        <a:solidFill>
                          <a:srgbClr val="232323"/>
                        </a:solidFill>
                        <a:latin typeface="Arial"/>
                      </a:endParaRPr>
                    </a:p>
                  </a:txBody>
                  <a:tcPr>
                    <a:solidFill>
                      <a:srgbClr val="FFFFFF"/>
                    </a:solidFill>
                  </a:tcPr>
                </a:tc>
                <a:extLst>
                  <a:ext uri="{0D108BD9-81ED-4DB2-BD59-A6C34878D82A}">
                    <a16:rowId xmlns:a16="http://schemas.microsoft.com/office/drawing/2014/main" val="10003"/>
                  </a:ext>
                </a:extLst>
              </a:tr>
            </a:tbl>
          </a:graphicData>
        </a:graphic>
      </p:graphicFrame>
      <p:pic>
        <p:nvPicPr>
          <p:cNvPr id="17" name="Picture 16" descr="course_2026_crop.jpg"/>
          <p:cNvPicPr>
            <a:picLocks noChangeAspect="1"/>
          </p:cNvPicPr>
          <p:nvPr/>
        </p:nvPicPr>
        <p:blipFill>
          <a:blip r:embed="rId5"/>
          <a:stretch>
            <a:fillRect/>
          </a:stretch>
        </p:blipFill>
        <p:spPr>
          <a:xfrm>
            <a:off x="364320" y="1205568"/>
            <a:ext cx="5489280" cy="3157560"/>
          </a:xfrm>
          <a:prstGeom prst="rect">
            <a:avLst/>
          </a:prstGeom>
        </p:spPr>
      </p:pic>
      <p:pic>
        <p:nvPicPr>
          <p:cNvPr id="18" name="Picture 17" descr="course_2025_crop.jpg"/>
          <p:cNvPicPr>
            <a:picLocks noChangeAspect="1"/>
          </p:cNvPicPr>
          <p:nvPr/>
        </p:nvPicPr>
        <p:blipFill>
          <a:blip r:embed="rId6"/>
          <a:stretch>
            <a:fillRect/>
          </a:stretch>
        </p:blipFill>
        <p:spPr>
          <a:xfrm>
            <a:off x="6353640" y="1205568"/>
            <a:ext cx="5489280" cy="3157560"/>
          </a:xfrm>
          <a:prstGeom prst="rect">
            <a:avLst/>
          </a:prstGeom>
        </p:spPr>
      </p:pic>
      <p:sp>
        <p:nvSpPr>
          <p:cNvPr id="13" name="Rectangle 12">
            <a:extLst>
              <a:ext uri="{FF2B5EF4-FFF2-40B4-BE49-F238E27FC236}">
                <a16:creationId xmlns:a16="http://schemas.microsoft.com/office/drawing/2014/main" id="{685BA3F2-637C-58D7-EB7A-ACB685F2E9D2}"/>
              </a:ext>
            </a:extLst>
          </p:cNvPr>
          <p:cNvSpPr/>
          <p:nvPr/>
        </p:nvSpPr>
        <p:spPr>
          <a:xfrm>
            <a:off x="1981200" y="2340865"/>
            <a:ext cx="1176440" cy="621792"/>
          </a:xfrm>
          <a:prstGeom prst="rect">
            <a:avLst/>
          </a:prstGeom>
          <a:noFill/>
          <a:ln w="38100">
            <a:solidFill>
              <a:srgbClr val="FF0000"/>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A963077-3956-768F-5F3A-781FC76D9D63}"/>
              </a:ext>
            </a:extLst>
          </p:cNvPr>
          <p:cNvSpPr/>
          <p:nvPr/>
        </p:nvSpPr>
        <p:spPr>
          <a:xfrm>
            <a:off x="3308943" y="5742432"/>
            <a:ext cx="874929" cy="382941"/>
          </a:xfrm>
          <a:prstGeom prst="rect">
            <a:avLst/>
          </a:prstGeom>
          <a:noFill/>
          <a:ln w="38100">
            <a:solidFill>
              <a:srgbClr val="FF0000"/>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Environmental Risk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Yokohama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4006933362"/>
              </p:ext>
            </p:extLst>
          </p:nvPr>
        </p:nvGraphicFramePr>
        <p:xfrm>
          <a:off x="274320" y="1325880"/>
          <a:ext cx="4709158" cy="2425155"/>
        </p:xfrm>
        <a:graphic>
          <a:graphicData uri="http://schemas.openxmlformats.org/drawingml/2006/table">
            <a:tbl>
              <a:tblPr firstRow="1" bandRow="1">
                <a:tableStyleId>{5C22544A-7EE6-4342-B048-85BDC9FD1C3A}</a:tableStyleId>
              </a:tblPr>
              <a:tblGrid>
                <a:gridCol w="612190">
                  <a:extLst>
                    <a:ext uri="{9D8B030D-6E8A-4147-A177-3AD203B41FA5}">
                      <a16:colId xmlns:a16="http://schemas.microsoft.com/office/drawing/2014/main" val="20000"/>
                    </a:ext>
                  </a:extLst>
                </a:gridCol>
                <a:gridCol w="800557">
                  <a:extLst>
                    <a:ext uri="{9D8B030D-6E8A-4147-A177-3AD203B41FA5}">
                      <a16:colId xmlns:a16="http://schemas.microsoft.com/office/drawing/2014/main" val="20001"/>
                    </a:ext>
                  </a:extLst>
                </a:gridCol>
                <a:gridCol w="894740">
                  <a:extLst>
                    <a:ext uri="{9D8B030D-6E8A-4147-A177-3AD203B41FA5}">
                      <a16:colId xmlns:a16="http://schemas.microsoft.com/office/drawing/2014/main" val="20002"/>
                    </a:ext>
                  </a:extLst>
                </a:gridCol>
                <a:gridCol w="800557">
                  <a:extLst>
                    <a:ext uri="{9D8B030D-6E8A-4147-A177-3AD203B41FA5}">
                      <a16:colId xmlns:a16="http://schemas.microsoft.com/office/drawing/2014/main" val="20003"/>
                    </a:ext>
                  </a:extLst>
                </a:gridCol>
                <a:gridCol w="800557">
                  <a:extLst>
                    <a:ext uri="{9D8B030D-6E8A-4147-A177-3AD203B41FA5}">
                      <a16:colId xmlns:a16="http://schemas.microsoft.com/office/drawing/2014/main" val="20004"/>
                    </a:ext>
                  </a:extLst>
                </a:gridCol>
                <a:gridCol w="800557">
                  <a:extLst>
                    <a:ext uri="{9D8B030D-6E8A-4147-A177-3AD203B41FA5}">
                      <a16:colId xmlns:a16="http://schemas.microsoft.com/office/drawing/2014/main" val="20005"/>
                    </a:ext>
                  </a:extLst>
                </a:gridCol>
              </a:tblGrid>
              <a:tr h="372147">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Date</a:t>
                      </a:r>
                    </a:p>
                  </a:txBody>
                  <a:tcPr>
                    <a:solidFill>
                      <a:srgbClr val="002060"/>
                    </a:solidFill>
                  </a:tcPr>
                </a:tc>
                <a:tc>
                  <a:txBody>
                    <a:bodyPr/>
                    <a:lstStyle/>
                    <a:p>
                      <a:pPr algn="ctr"/>
                      <a:r>
                        <a:rPr sz="1000" b="1" i="0">
                          <a:solidFill>
                            <a:srgbClr val="FFFFFF"/>
                          </a:solidFill>
                          <a:latin typeface="Arial"/>
                        </a:rPr>
                        <a:t>Air Temp</a:t>
                      </a:r>
                    </a:p>
                  </a:txBody>
                  <a:tcPr>
                    <a:solidFill>
                      <a:srgbClr val="002060"/>
                    </a:solidFill>
                  </a:tcPr>
                </a:tc>
                <a:tc>
                  <a:txBody>
                    <a:bodyPr/>
                    <a:lstStyle/>
                    <a:p>
                      <a:pPr algn="ctr"/>
                      <a:r>
                        <a:rPr sz="1000" b="1" i="0">
                          <a:solidFill>
                            <a:srgbClr val="FFFFFF"/>
                          </a:solidFill>
                          <a:latin typeface="Arial"/>
                        </a:rPr>
                        <a:t>Humidity</a:t>
                      </a:r>
                    </a:p>
                  </a:txBody>
                  <a:tcPr>
                    <a:solidFill>
                      <a:srgbClr val="002060"/>
                    </a:solidFill>
                  </a:tcPr>
                </a:tc>
                <a:tc>
                  <a:txBody>
                    <a:bodyPr/>
                    <a:lstStyle/>
                    <a:p>
                      <a:pPr algn="ctr"/>
                      <a:r>
                        <a:rPr sz="1000" b="1" i="0">
                          <a:solidFill>
                            <a:srgbClr val="FFFFFF"/>
                          </a:solidFill>
                          <a:latin typeface="Arial"/>
                        </a:rPr>
                        <a:t>Wind km/h</a:t>
                      </a:r>
                    </a:p>
                  </a:txBody>
                  <a:tcPr>
                    <a:solidFill>
                      <a:srgbClr val="002060"/>
                    </a:solidFill>
                  </a:tcPr>
                </a:tc>
                <a:tc>
                  <a:txBody>
                    <a:bodyPr/>
                    <a:lstStyle/>
                    <a:p>
                      <a:pPr algn="ctr"/>
                      <a:r>
                        <a:rPr sz="1000" b="1" i="0">
                          <a:solidFill>
                            <a:srgbClr val="FFFFFF"/>
                          </a:solidFill>
                          <a:latin typeface="Arial"/>
                        </a:rPr>
                        <a:t>Precip mm</a:t>
                      </a:r>
                    </a:p>
                  </a:txBody>
                  <a:tcPr>
                    <a:solidFill>
                      <a:srgbClr val="002060"/>
                    </a:solidFill>
                  </a:tcPr>
                </a:tc>
                <a:extLst>
                  <a:ext uri="{0D108BD9-81ED-4DB2-BD59-A6C34878D82A}">
                    <a16:rowId xmlns:a16="http://schemas.microsoft.com/office/drawing/2014/main" val="10000"/>
                  </a:ext>
                </a:extLst>
              </a:tr>
              <a:tr h="289845">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May 12</a:t>
                      </a:r>
                    </a:p>
                  </a:txBody>
                  <a:tcPr>
                    <a:solidFill>
                      <a:srgbClr val="FFFFFF"/>
                    </a:solidFill>
                  </a:tcPr>
                </a:tc>
                <a:tc>
                  <a:txBody>
                    <a:bodyPr/>
                    <a:lstStyle/>
                    <a:p>
                      <a:pPr algn="ctr"/>
                      <a:r>
                        <a:rPr sz="1000" b="0" i="0">
                          <a:solidFill>
                            <a:srgbClr val="262626"/>
                          </a:solidFill>
                          <a:latin typeface="Arial"/>
                        </a:rPr>
                        <a:t>20.1</a:t>
                      </a:r>
                    </a:p>
                  </a:txBody>
                  <a:tcPr>
                    <a:solidFill>
                      <a:srgbClr val="FFFFFF"/>
                    </a:solidFill>
                  </a:tcPr>
                </a:tc>
                <a:tc>
                  <a:txBody>
                    <a:bodyPr/>
                    <a:lstStyle/>
                    <a:p>
                      <a:pPr algn="ctr"/>
                      <a:r>
                        <a:rPr sz="1000" b="0" i="0">
                          <a:solidFill>
                            <a:srgbClr val="262626"/>
                          </a:solidFill>
                          <a:latin typeface="Arial"/>
                        </a:rPr>
                        <a:t>64%</a:t>
                      </a:r>
                    </a:p>
                  </a:txBody>
                  <a:tcPr>
                    <a:solidFill>
                      <a:srgbClr val="FFFFFF"/>
                    </a:solidFill>
                  </a:tcPr>
                </a:tc>
                <a:tc>
                  <a:txBody>
                    <a:bodyPr/>
                    <a:lstStyle/>
                    <a:p>
                      <a:pPr algn="ctr"/>
                      <a:r>
                        <a:rPr sz="1000" b="0" i="0">
                          <a:solidFill>
                            <a:srgbClr val="262626"/>
                          </a:solidFill>
                          <a:latin typeface="Arial"/>
                        </a:rPr>
                        <a:t>9</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extLst>
                  <a:ext uri="{0D108BD9-81ED-4DB2-BD59-A6C34878D82A}">
                    <a16:rowId xmlns:a16="http://schemas.microsoft.com/office/drawing/2014/main" val="10001"/>
                  </a:ext>
                </a:extLst>
              </a:tr>
              <a:tr h="289845">
                <a:tc>
                  <a:txBody>
                    <a:bodyPr/>
                    <a:lstStyle/>
                    <a:p>
                      <a:pPr algn="ctr"/>
                      <a:r>
                        <a:rPr sz="1000" b="0" i="0" dirty="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May 18</a:t>
                      </a:r>
                    </a:p>
                  </a:txBody>
                  <a:tcPr>
                    <a:solidFill>
                      <a:srgbClr val="F2F2F2"/>
                    </a:solidFill>
                  </a:tcPr>
                </a:tc>
                <a:tc>
                  <a:txBody>
                    <a:bodyPr/>
                    <a:lstStyle/>
                    <a:p>
                      <a:pPr algn="ctr"/>
                      <a:r>
                        <a:rPr sz="1000" b="0" i="0">
                          <a:solidFill>
                            <a:srgbClr val="262626"/>
                          </a:solidFill>
                          <a:latin typeface="Arial"/>
                        </a:rPr>
                        <a:t>19.7</a:t>
                      </a:r>
                    </a:p>
                  </a:txBody>
                  <a:tcPr>
                    <a:solidFill>
                      <a:srgbClr val="F2F2F2"/>
                    </a:solidFill>
                  </a:tcPr>
                </a:tc>
                <a:tc>
                  <a:txBody>
                    <a:bodyPr/>
                    <a:lstStyle/>
                    <a:p>
                      <a:pPr algn="ctr"/>
                      <a:r>
                        <a:rPr sz="1000" b="0" i="0">
                          <a:solidFill>
                            <a:srgbClr val="262626"/>
                          </a:solidFill>
                          <a:latin typeface="Arial"/>
                        </a:rPr>
                        <a:t>62%</a:t>
                      </a:r>
                    </a:p>
                  </a:txBody>
                  <a:tcPr>
                    <a:solidFill>
                      <a:srgbClr val="F2F2F2"/>
                    </a:solidFill>
                  </a:tcPr>
                </a:tc>
                <a:tc>
                  <a:txBody>
                    <a:bodyPr/>
                    <a:lstStyle/>
                    <a:p>
                      <a:pPr algn="ctr"/>
                      <a:r>
                        <a:rPr sz="1000" b="0" i="0">
                          <a:solidFill>
                            <a:srgbClr val="262626"/>
                          </a:solidFill>
                          <a:latin typeface="Arial"/>
                        </a:rPr>
                        <a:t>21</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extLst>
                  <a:ext uri="{0D108BD9-81ED-4DB2-BD59-A6C34878D82A}">
                    <a16:rowId xmlns:a16="http://schemas.microsoft.com/office/drawing/2014/main" val="10002"/>
                  </a:ext>
                </a:extLst>
              </a:tr>
              <a:tr h="289845">
                <a:tc>
                  <a:txBody>
                    <a:bodyPr/>
                    <a:lstStyle/>
                    <a:p>
                      <a:pPr algn="ctr"/>
                      <a:r>
                        <a:rPr sz="1000" b="0" i="0">
                          <a:solidFill>
                            <a:srgbClr val="262626"/>
                          </a:solidFill>
                          <a:latin typeface="Arial"/>
                        </a:rPr>
                        <a:t>2021</a:t>
                      </a:r>
                    </a:p>
                  </a:txBody>
                  <a:tcPr>
                    <a:solidFill>
                      <a:srgbClr val="FFFFFF"/>
                    </a:solidFill>
                  </a:tcPr>
                </a:tc>
                <a:tc>
                  <a:txBody>
                    <a:bodyPr/>
                    <a:lstStyle/>
                    <a:p>
                      <a:pPr algn="ctr"/>
                      <a:r>
                        <a:rPr sz="1000" b="0" i="0">
                          <a:solidFill>
                            <a:srgbClr val="262626"/>
                          </a:solidFill>
                          <a:latin typeface="Arial"/>
                        </a:rPr>
                        <a:t>May 15</a:t>
                      </a:r>
                    </a:p>
                  </a:txBody>
                  <a:tcPr>
                    <a:solidFill>
                      <a:srgbClr val="FFFFFF"/>
                    </a:solidFill>
                  </a:tcPr>
                </a:tc>
                <a:tc>
                  <a:txBody>
                    <a:bodyPr/>
                    <a:lstStyle/>
                    <a:p>
                      <a:pPr algn="ctr"/>
                      <a:r>
                        <a:rPr sz="1000" b="0" i="0">
                          <a:solidFill>
                            <a:srgbClr val="262626"/>
                          </a:solidFill>
                          <a:latin typeface="Arial"/>
                        </a:rPr>
                        <a:t>22.1</a:t>
                      </a:r>
                    </a:p>
                  </a:txBody>
                  <a:tcPr>
                    <a:solidFill>
                      <a:srgbClr val="FFFFFF"/>
                    </a:solidFill>
                  </a:tcPr>
                </a:tc>
                <a:tc>
                  <a:txBody>
                    <a:bodyPr/>
                    <a:lstStyle/>
                    <a:p>
                      <a:pPr algn="ctr"/>
                      <a:r>
                        <a:rPr sz="1000" b="0" i="0">
                          <a:solidFill>
                            <a:srgbClr val="262626"/>
                          </a:solidFill>
                          <a:latin typeface="Arial"/>
                        </a:rPr>
                        <a:t>70%</a:t>
                      </a:r>
                    </a:p>
                  </a:txBody>
                  <a:tcPr>
                    <a:solidFill>
                      <a:srgbClr val="FFFFFF"/>
                    </a:solidFill>
                  </a:tcPr>
                </a:tc>
                <a:tc>
                  <a:txBody>
                    <a:bodyPr/>
                    <a:lstStyle/>
                    <a:p>
                      <a:pPr algn="ctr"/>
                      <a:r>
                        <a:rPr sz="1000" b="0" i="0">
                          <a:solidFill>
                            <a:srgbClr val="262626"/>
                          </a:solidFill>
                          <a:latin typeface="Arial"/>
                        </a:rPr>
                        <a:t>6</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extLst>
                  <a:ext uri="{0D108BD9-81ED-4DB2-BD59-A6C34878D82A}">
                    <a16:rowId xmlns:a16="http://schemas.microsoft.com/office/drawing/2014/main" val="10003"/>
                  </a:ext>
                </a:extLst>
              </a:tr>
              <a:tr h="289845">
                <a:tc>
                  <a:txBody>
                    <a:bodyPr/>
                    <a:lstStyle/>
                    <a:p>
                      <a:pPr algn="ctr"/>
                      <a:r>
                        <a:rPr sz="1000" b="0" i="0">
                          <a:solidFill>
                            <a:srgbClr val="262626"/>
                          </a:solidFill>
                          <a:latin typeface="Arial"/>
                        </a:rPr>
                        <a:t>2022</a:t>
                      </a:r>
                    </a:p>
                  </a:txBody>
                  <a:tcPr>
                    <a:solidFill>
                      <a:srgbClr val="F2F2F2"/>
                    </a:solidFill>
                  </a:tcPr>
                </a:tc>
                <a:tc>
                  <a:txBody>
                    <a:bodyPr/>
                    <a:lstStyle/>
                    <a:p>
                      <a:pPr algn="ctr"/>
                      <a:r>
                        <a:rPr sz="1000" b="0" i="0">
                          <a:solidFill>
                            <a:srgbClr val="262626"/>
                          </a:solidFill>
                          <a:latin typeface="Arial"/>
                        </a:rPr>
                        <a:t>May 14</a:t>
                      </a:r>
                    </a:p>
                  </a:txBody>
                  <a:tcPr>
                    <a:solidFill>
                      <a:srgbClr val="F2F2F2"/>
                    </a:solidFill>
                  </a:tcPr>
                </a:tc>
                <a:tc>
                  <a:txBody>
                    <a:bodyPr/>
                    <a:lstStyle/>
                    <a:p>
                      <a:pPr algn="ctr"/>
                      <a:r>
                        <a:rPr sz="1000" b="0" i="0">
                          <a:solidFill>
                            <a:srgbClr val="262626"/>
                          </a:solidFill>
                          <a:latin typeface="Arial"/>
                        </a:rPr>
                        <a:t>22.0</a:t>
                      </a:r>
                    </a:p>
                  </a:txBody>
                  <a:tcPr>
                    <a:solidFill>
                      <a:srgbClr val="F2F2F2"/>
                    </a:solidFill>
                  </a:tcPr>
                </a:tc>
                <a:tc>
                  <a:txBody>
                    <a:bodyPr/>
                    <a:lstStyle/>
                    <a:p>
                      <a:pPr algn="ctr"/>
                      <a:r>
                        <a:rPr sz="1000" b="0" i="0">
                          <a:solidFill>
                            <a:srgbClr val="262626"/>
                          </a:solidFill>
                          <a:latin typeface="Arial"/>
                        </a:rPr>
                        <a:t>93%</a:t>
                      </a:r>
                    </a:p>
                  </a:txBody>
                  <a:tcPr>
                    <a:solidFill>
                      <a:srgbClr val="F2F2F2"/>
                    </a:solidFill>
                  </a:tcPr>
                </a:tc>
                <a:tc>
                  <a:txBody>
                    <a:bodyPr/>
                    <a:lstStyle/>
                    <a:p>
                      <a:pPr algn="ctr"/>
                      <a:r>
                        <a:rPr sz="1000" b="0" i="0">
                          <a:solidFill>
                            <a:srgbClr val="262626"/>
                          </a:solidFill>
                          <a:latin typeface="Arial"/>
                        </a:rPr>
                        <a:t>15</a:t>
                      </a:r>
                    </a:p>
                  </a:txBody>
                  <a:tcPr>
                    <a:solidFill>
                      <a:srgbClr val="F2F2F2"/>
                    </a:solidFill>
                  </a:tcPr>
                </a:tc>
                <a:tc>
                  <a:txBody>
                    <a:bodyPr/>
                    <a:lstStyle/>
                    <a:p>
                      <a:pPr algn="ctr"/>
                      <a:r>
                        <a:rPr sz="1000" b="0" i="0">
                          <a:solidFill>
                            <a:srgbClr val="262626"/>
                          </a:solidFill>
                          <a:latin typeface="Arial"/>
                        </a:rPr>
                        <a:t>8.8</a:t>
                      </a:r>
                    </a:p>
                  </a:txBody>
                  <a:tcPr>
                    <a:solidFill>
                      <a:srgbClr val="F2F2F2"/>
                    </a:solidFill>
                  </a:tcPr>
                </a:tc>
                <a:extLst>
                  <a:ext uri="{0D108BD9-81ED-4DB2-BD59-A6C34878D82A}">
                    <a16:rowId xmlns:a16="http://schemas.microsoft.com/office/drawing/2014/main" val="10004"/>
                  </a:ext>
                </a:extLst>
              </a:tr>
              <a:tr h="289845">
                <a:tc>
                  <a:txBody>
                    <a:bodyPr/>
                    <a:lstStyle/>
                    <a:p>
                      <a:pPr algn="ctr"/>
                      <a:r>
                        <a:rPr sz="1000" b="0" i="0">
                          <a:solidFill>
                            <a:srgbClr val="262626"/>
                          </a:solidFill>
                          <a:latin typeface="Arial"/>
                        </a:rPr>
                        <a:t>2023</a:t>
                      </a:r>
                    </a:p>
                  </a:txBody>
                  <a:tcPr>
                    <a:solidFill>
                      <a:srgbClr val="FFFFFF"/>
                    </a:solidFill>
                  </a:tcPr>
                </a:tc>
                <a:tc>
                  <a:txBody>
                    <a:bodyPr/>
                    <a:lstStyle/>
                    <a:p>
                      <a:pPr algn="ctr"/>
                      <a:r>
                        <a:rPr sz="1000" b="0" i="0">
                          <a:solidFill>
                            <a:srgbClr val="262626"/>
                          </a:solidFill>
                          <a:latin typeface="Arial"/>
                        </a:rPr>
                        <a:t>May 13</a:t>
                      </a:r>
                    </a:p>
                  </a:txBody>
                  <a:tcPr>
                    <a:solidFill>
                      <a:srgbClr val="FFFFFF"/>
                    </a:solidFill>
                  </a:tcPr>
                </a:tc>
                <a:tc>
                  <a:txBody>
                    <a:bodyPr/>
                    <a:lstStyle/>
                    <a:p>
                      <a:pPr algn="ctr"/>
                      <a:r>
                        <a:rPr sz="1000" b="0" i="0">
                          <a:solidFill>
                            <a:srgbClr val="262626"/>
                          </a:solidFill>
                          <a:latin typeface="Arial"/>
                        </a:rPr>
                        <a:t>17.1</a:t>
                      </a:r>
                    </a:p>
                  </a:txBody>
                  <a:tcPr>
                    <a:solidFill>
                      <a:srgbClr val="FFFFFF"/>
                    </a:solidFill>
                  </a:tcPr>
                </a:tc>
                <a:tc>
                  <a:txBody>
                    <a:bodyPr/>
                    <a:lstStyle/>
                    <a:p>
                      <a:pPr algn="ctr"/>
                      <a:r>
                        <a:rPr sz="1000" b="0" i="0">
                          <a:solidFill>
                            <a:srgbClr val="262626"/>
                          </a:solidFill>
                          <a:latin typeface="Arial"/>
                        </a:rPr>
                        <a:t>78%</a:t>
                      </a:r>
                    </a:p>
                  </a:txBody>
                  <a:tcPr>
                    <a:solidFill>
                      <a:srgbClr val="FFFFFF"/>
                    </a:solidFill>
                  </a:tcPr>
                </a:tc>
                <a:tc>
                  <a:txBody>
                    <a:bodyPr/>
                    <a:lstStyle/>
                    <a:p>
                      <a:pPr algn="ctr"/>
                      <a:r>
                        <a:rPr sz="1000" b="0" i="0">
                          <a:solidFill>
                            <a:srgbClr val="262626"/>
                          </a:solidFill>
                          <a:latin typeface="Arial"/>
                        </a:rPr>
                        <a:t>12</a:t>
                      </a:r>
                    </a:p>
                  </a:txBody>
                  <a:tcPr>
                    <a:solidFill>
                      <a:srgbClr val="FFFFFF"/>
                    </a:solidFill>
                  </a:tcPr>
                </a:tc>
                <a:tc>
                  <a:txBody>
                    <a:bodyPr/>
                    <a:lstStyle/>
                    <a:p>
                      <a:pPr algn="ctr"/>
                      <a:r>
                        <a:rPr sz="1000" b="0" i="0">
                          <a:solidFill>
                            <a:srgbClr val="262626"/>
                          </a:solidFill>
                          <a:latin typeface="Arial"/>
                        </a:rPr>
                        <a:t>0.4</a:t>
                      </a:r>
                    </a:p>
                  </a:txBody>
                  <a:tcPr>
                    <a:solidFill>
                      <a:srgbClr val="FFFFFF"/>
                    </a:solidFill>
                  </a:tcPr>
                </a:tc>
                <a:extLst>
                  <a:ext uri="{0D108BD9-81ED-4DB2-BD59-A6C34878D82A}">
                    <a16:rowId xmlns:a16="http://schemas.microsoft.com/office/drawing/2014/main" val="10005"/>
                  </a:ext>
                </a:extLst>
              </a:tr>
              <a:tr h="289845">
                <a:tc>
                  <a:txBody>
                    <a:bodyPr/>
                    <a:lstStyle/>
                    <a:p>
                      <a:pPr algn="ctr"/>
                      <a:r>
                        <a:rPr sz="1000" b="0" i="0">
                          <a:solidFill>
                            <a:srgbClr val="262626"/>
                          </a:solidFill>
                          <a:latin typeface="Arial"/>
                        </a:rPr>
                        <a:t>2024</a:t>
                      </a:r>
                    </a:p>
                  </a:txBody>
                  <a:tcPr>
                    <a:solidFill>
                      <a:srgbClr val="F2F2F2"/>
                    </a:solidFill>
                  </a:tcPr>
                </a:tc>
                <a:tc>
                  <a:txBody>
                    <a:bodyPr/>
                    <a:lstStyle/>
                    <a:p>
                      <a:pPr algn="ctr"/>
                      <a:r>
                        <a:rPr sz="1000" b="0" i="0">
                          <a:solidFill>
                            <a:srgbClr val="262626"/>
                          </a:solidFill>
                          <a:latin typeface="Arial"/>
                        </a:rPr>
                        <a:t>May 11</a:t>
                      </a:r>
                    </a:p>
                  </a:txBody>
                  <a:tcPr>
                    <a:solidFill>
                      <a:srgbClr val="F2F2F2"/>
                    </a:solidFill>
                  </a:tcPr>
                </a:tc>
                <a:tc>
                  <a:txBody>
                    <a:bodyPr/>
                    <a:lstStyle/>
                    <a:p>
                      <a:pPr algn="ctr"/>
                      <a:r>
                        <a:rPr sz="1000" b="0" i="0">
                          <a:solidFill>
                            <a:srgbClr val="262626"/>
                          </a:solidFill>
                          <a:latin typeface="Arial"/>
                        </a:rPr>
                        <a:t>20.9</a:t>
                      </a:r>
                    </a:p>
                  </a:txBody>
                  <a:tcPr>
                    <a:solidFill>
                      <a:srgbClr val="F2F2F2"/>
                    </a:solidFill>
                  </a:tcPr>
                </a:tc>
                <a:tc>
                  <a:txBody>
                    <a:bodyPr/>
                    <a:lstStyle/>
                    <a:p>
                      <a:pPr algn="ctr"/>
                      <a:r>
                        <a:rPr sz="1000" b="0" i="0">
                          <a:solidFill>
                            <a:srgbClr val="262626"/>
                          </a:solidFill>
                          <a:latin typeface="Arial"/>
                        </a:rPr>
                        <a:t>56%</a:t>
                      </a:r>
                    </a:p>
                  </a:txBody>
                  <a:tcPr>
                    <a:solidFill>
                      <a:srgbClr val="F2F2F2"/>
                    </a:solidFill>
                  </a:tcPr>
                </a:tc>
                <a:tc>
                  <a:txBody>
                    <a:bodyPr/>
                    <a:lstStyle/>
                    <a:p>
                      <a:pPr algn="ctr"/>
                      <a:r>
                        <a:rPr sz="1000" b="0" i="0">
                          <a:solidFill>
                            <a:srgbClr val="262626"/>
                          </a:solidFill>
                          <a:latin typeface="Arial"/>
                        </a:rPr>
                        <a:t>28</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extLst>
                  <a:ext uri="{0D108BD9-81ED-4DB2-BD59-A6C34878D82A}">
                    <a16:rowId xmlns:a16="http://schemas.microsoft.com/office/drawing/2014/main" val="10006"/>
                  </a:ext>
                </a:extLst>
              </a:tr>
              <a:tr h="289845">
                <a:tc>
                  <a:txBody>
                    <a:bodyPr/>
                    <a:lstStyle/>
                    <a:p>
                      <a:pPr algn="ctr"/>
                      <a:r>
                        <a:rPr sz="1000" b="0" i="0">
                          <a:solidFill>
                            <a:srgbClr val="262626"/>
                          </a:solidFill>
                          <a:latin typeface="Arial"/>
                        </a:rPr>
                        <a:t>2025</a:t>
                      </a:r>
                    </a:p>
                  </a:txBody>
                  <a:tcPr>
                    <a:solidFill>
                      <a:srgbClr val="FFFFFF"/>
                    </a:solidFill>
                  </a:tcPr>
                </a:tc>
                <a:tc>
                  <a:txBody>
                    <a:bodyPr/>
                    <a:lstStyle/>
                    <a:p>
                      <a:pPr algn="ctr"/>
                      <a:r>
                        <a:rPr sz="1000" b="0" i="0">
                          <a:solidFill>
                            <a:srgbClr val="262626"/>
                          </a:solidFill>
                          <a:latin typeface="Arial"/>
                        </a:rPr>
                        <a:t>May 17</a:t>
                      </a:r>
                    </a:p>
                  </a:txBody>
                  <a:tcPr>
                    <a:solidFill>
                      <a:srgbClr val="FFFFFF"/>
                    </a:solidFill>
                  </a:tcPr>
                </a:tc>
                <a:tc>
                  <a:txBody>
                    <a:bodyPr/>
                    <a:lstStyle/>
                    <a:p>
                      <a:pPr algn="ctr"/>
                      <a:r>
                        <a:rPr sz="1000" b="0" i="0">
                          <a:solidFill>
                            <a:srgbClr val="262626"/>
                          </a:solidFill>
                          <a:latin typeface="Arial"/>
                        </a:rPr>
                        <a:t>21.6</a:t>
                      </a:r>
                    </a:p>
                  </a:txBody>
                  <a:tcPr>
                    <a:solidFill>
                      <a:srgbClr val="FFFFFF"/>
                    </a:solidFill>
                  </a:tcPr>
                </a:tc>
                <a:tc>
                  <a:txBody>
                    <a:bodyPr/>
                    <a:lstStyle/>
                    <a:p>
                      <a:pPr algn="ctr"/>
                      <a:r>
                        <a:rPr sz="1000" b="0" i="0">
                          <a:solidFill>
                            <a:srgbClr val="262626"/>
                          </a:solidFill>
                          <a:latin typeface="Arial"/>
                        </a:rPr>
                        <a:t>93%</a:t>
                      </a:r>
                    </a:p>
                  </a:txBody>
                  <a:tcPr>
                    <a:solidFill>
                      <a:srgbClr val="FFFFFF"/>
                    </a:solidFill>
                  </a:tcPr>
                </a:tc>
                <a:tc>
                  <a:txBody>
                    <a:bodyPr/>
                    <a:lstStyle/>
                    <a:p>
                      <a:pPr algn="ctr"/>
                      <a:r>
                        <a:rPr sz="1000" b="0" i="0">
                          <a:solidFill>
                            <a:srgbClr val="262626"/>
                          </a:solidFill>
                          <a:latin typeface="Arial"/>
                        </a:rPr>
                        <a:t>23</a:t>
                      </a:r>
                    </a:p>
                  </a:txBody>
                  <a:tcPr>
                    <a:solidFill>
                      <a:srgbClr val="FFFFFF"/>
                    </a:solidFill>
                  </a:tcPr>
                </a:tc>
                <a:tc>
                  <a:txBody>
                    <a:bodyPr/>
                    <a:lstStyle/>
                    <a:p>
                      <a:pPr algn="ctr"/>
                      <a:r>
                        <a:rPr sz="1000" b="0" i="0" dirty="0">
                          <a:solidFill>
                            <a:srgbClr val="262626"/>
                          </a:solidFill>
                          <a:latin typeface="Arial"/>
                        </a:rPr>
                        <a:t>1.5</a:t>
                      </a:r>
                    </a:p>
                  </a:txBody>
                  <a:tcPr>
                    <a:solidFill>
                      <a:srgbClr val="FFFFFF"/>
                    </a:solidFill>
                  </a:tcPr>
                </a:tc>
                <a:extLst>
                  <a:ext uri="{0D108BD9-81ED-4DB2-BD59-A6C34878D82A}">
                    <a16:rowId xmlns:a16="http://schemas.microsoft.com/office/drawing/2014/main" val="10007"/>
                  </a:ext>
                </a:extLst>
              </a:tr>
            </a:tbl>
          </a:graphicData>
        </a:graphic>
      </p:graphicFrame>
      <p:sp>
        <p:nvSpPr>
          <p:cNvPr id="10" name="TextBox 9"/>
          <p:cNvSpPr txBox="1"/>
          <p:nvPr/>
        </p:nvSpPr>
        <p:spPr>
          <a:xfrm>
            <a:off x="320040" y="1088136"/>
            <a:ext cx="4572000" cy="91440"/>
          </a:xfrm>
          <a:prstGeom prst="rect">
            <a:avLst/>
          </a:prstGeom>
          <a:noFill/>
        </p:spPr>
        <p:txBody>
          <a:bodyPr wrap="square">
            <a:spAutoFit/>
          </a:bodyPr>
          <a:lstStyle/>
          <a:p>
            <a:pPr algn="l"/>
            <a:r>
              <a:rPr sz="950" b="1" i="0">
                <a:solidFill>
                  <a:srgbClr val="002060"/>
                </a:solidFill>
                <a:latin typeface="Arial"/>
              </a:rPr>
              <a:t>RACE-DAY WEATHER (08:00–11:00 local)</a:t>
            </a:r>
          </a:p>
        </p:txBody>
      </p:sp>
      <p:graphicFrame>
        <p:nvGraphicFramePr>
          <p:cNvPr id="11" name="Table 10"/>
          <p:cNvGraphicFramePr>
            <a:graphicFrameLocks noGrp="1"/>
          </p:cNvGraphicFramePr>
          <p:nvPr>
            <p:extLst>
              <p:ext uri="{D42A27DB-BD31-4B8C-83A1-F6EECF244321}">
                <p14:modId xmlns:p14="http://schemas.microsoft.com/office/powerpoint/2010/main" val="3265639770"/>
              </p:ext>
            </p:extLst>
          </p:nvPr>
        </p:nvGraphicFramePr>
        <p:xfrm>
          <a:off x="5166360" y="1325879"/>
          <a:ext cx="4069078" cy="2425152"/>
        </p:xfrm>
        <a:graphic>
          <a:graphicData uri="http://schemas.openxmlformats.org/drawingml/2006/table">
            <a:tbl>
              <a:tblPr firstRow="1" bandRow="1">
                <a:tableStyleId>{5C22544A-7EE6-4342-B048-85BDC9FD1C3A}</a:tableStyleId>
              </a:tblPr>
              <a:tblGrid>
                <a:gridCol w="629738">
                  <a:extLst>
                    <a:ext uri="{9D8B030D-6E8A-4147-A177-3AD203B41FA5}">
                      <a16:colId xmlns:a16="http://schemas.microsoft.com/office/drawing/2014/main" val="20000"/>
                    </a:ext>
                  </a:extLst>
                </a:gridCol>
                <a:gridCol w="823504">
                  <a:extLst>
                    <a:ext uri="{9D8B030D-6E8A-4147-A177-3AD203B41FA5}">
                      <a16:colId xmlns:a16="http://schemas.microsoft.com/office/drawing/2014/main" val="20001"/>
                    </a:ext>
                  </a:extLst>
                </a:gridCol>
                <a:gridCol w="726621">
                  <a:extLst>
                    <a:ext uri="{9D8B030D-6E8A-4147-A177-3AD203B41FA5}">
                      <a16:colId xmlns:a16="http://schemas.microsoft.com/office/drawing/2014/main" val="20002"/>
                    </a:ext>
                  </a:extLst>
                </a:gridCol>
                <a:gridCol w="823504">
                  <a:extLst>
                    <a:ext uri="{9D8B030D-6E8A-4147-A177-3AD203B41FA5}">
                      <a16:colId xmlns:a16="http://schemas.microsoft.com/office/drawing/2014/main" val="20003"/>
                    </a:ext>
                  </a:extLst>
                </a:gridCol>
                <a:gridCol w="1065711">
                  <a:extLst>
                    <a:ext uri="{9D8B030D-6E8A-4147-A177-3AD203B41FA5}">
                      <a16:colId xmlns:a16="http://schemas.microsoft.com/office/drawing/2014/main" val="20004"/>
                    </a:ext>
                  </a:extLst>
                </a:gridCol>
              </a:tblGrid>
              <a:tr h="303144">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PM2.5</a:t>
                      </a:r>
                    </a:p>
                  </a:txBody>
                  <a:tcPr>
                    <a:solidFill>
                      <a:srgbClr val="002060"/>
                    </a:solidFill>
                  </a:tcPr>
                </a:tc>
                <a:tc>
                  <a:txBody>
                    <a:bodyPr/>
                    <a:lstStyle/>
                    <a:p>
                      <a:pPr algn="ctr"/>
                      <a:r>
                        <a:rPr sz="1000" b="1" i="0">
                          <a:solidFill>
                            <a:srgbClr val="FFFFFF"/>
                          </a:solidFill>
                          <a:latin typeface="Arial"/>
                        </a:rPr>
                        <a:t>EU AQI</a:t>
                      </a:r>
                    </a:p>
                  </a:txBody>
                  <a:tcPr>
                    <a:solidFill>
                      <a:srgbClr val="002060"/>
                    </a:solidFill>
                  </a:tcPr>
                </a:tc>
                <a:tc>
                  <a:txBody>
                    <a:bodyPr/>
                    <a:lstStyle/>
                    <a:p>
                      <a:pPr algn="ctr"/>
                      <a:r>
                        <a:rPr sz="1000" b="1" i="0">
                          <a:solidFill>
                            <a:srgbClr val="FFFFFF"/>
                          </a:solidFill>
                          <a:latin typeface="Arial"/>
                        </a:rPr>
                        <a:t>UV Index</a:t>
                      </a:r>
                    </a:p>
                  </a:txBody>
                  <a:tcPr>
                    <a:solidFill>
                      <a:srgbClr val="002060"/>
                    </a:solidFill>
                  </a:tcPr>
                </a:tc>
                <a:tc>
                  <a:txBody>
                    <a:bodyPr/>
                    <a:lstStyle/>
                    <a:p>
                      <a:pPr algn="ctr"/>
                      <a:r>
                        <a:rPr sz="1000" b="1" i="0">
                          <a:solidFill>
                            <a:srgbClr val="FFFFFF"/>
                          </a:solidFill>
                          <a:latin typeface="Arial"/>
                        </a:rPr>
                        <a:t>Risk</a:t>
                      </a:r>
                    </a:p>
                  </a:txBody>
                  <a:tcPr>
                    <a:solidFill>
                      <a:srgbClr val="002060"/>
                    </a:solidFill>
                  </a:tcPr>
                </a:tc>
                <a:extLst>
                  <a:ext uri="{0D108BD9-81ED-4DB2-BD59-A6C34878D82A}">
                    <a16:rowId xmlns:a16="http://schemas.microsoft.com/office/drawing/2014/main" val="10000"/>
                  </a:ext>
                </a:extLst>
              </a:tr>
              <a:tr h="303144">
                <a:tc>
                  <a:txBody>
                    <a:bodyPr/>
                    <a:lstStyle/>
                    <a:p>
                      <a:pPr algn="ctr"/>
                      <a:r>
                        <a:rPr sz="1000" b="0" i="0" dirty="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303144">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303144">
                <a:tc>
                  <a:txBody>
                    <a:bodyPr/>
                    <a:lstStyle/>
                    <a:p>
                      <a:pPr algn="ctr"/>
                      <a:r>
                        <a:rPr sz="1000" b="0" i="0">
                          <a:solidFill>
                            <a:srgbClr val="262626"/>
                          </a:solidFill>
                          <a:latin typeface="Arial"/>
                        </a:rPr>
                        <a:t>2021</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303144">
                <a:tc>
                  <a:txBody>
                    <a:bodyPr/>
                    <a:lstStyle/>
                    <a:p>
                      <a:pPr algn="ctr"/>
                      <a:r>
                        <a:rPr sz="1000" b="0" i="0">
                          <a:solidFill>
                            <a:srgbClr val="262626"/>
                          </a:solidFill>
                          <a:latin typeface="Arial"/>
                        </a:rPr>
                        <a:t>2022</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303144">
                <a:tc>
                  <a:txBody>
                    <a:bodyPr/>
                    <a:lstStyle/>
                    <a:p>
                      <a:pPr algn="ctr"/>
                      <a:r>
                        <a:rPr sz="1000" b="0" i="0">
                          <a:solidFill>
                            <a:srgbClr val="262626"/>
                          </a:solidFill>
                          <a:latin typeface="Arial"/>
                        </a:rPr>
                        <a:t>2023</a:t>
                      </a:r>
                    </a:p>
                  </a:txBody>
                  <a:tcPr>
                    <a:solidFill>
                      <a:srgbClr val="FFFFFF"/>
                    </a:solidFill>
                  </a:tcPr>
                </a:tc>
                <a:tc>
                  <a:txBody>
                    <a:bodyPr/>
                    <a:lstStyle/>
                    <a:p>
                      <a:pPr algn="ctr"/>
                      <a:r>
                        <a:rPr sz="1000" b="0" i="0">
                          <a:solidFill>
                            <a:srgbClr val="262626"/>
                          </a:solidFill>
                          <a:latin typeface="Arial"/>
                        </a:rPr>
                        <a:t>21.1</a:t>
                      </a:r>
                    </a:p>
                  </a:txBody>
                  <a:tcPr>
                    <a:solidFill>
                      <a:srgbClr val="FFFFFF"/>
                    </a:solidFill>
                  </a:tcPr>
                </a:tc>
                <a:tc>
                  <a:txBody>
                    <a:bodyPr/>
                    <a:lstStyle/>
                    <a:p>
                      <a:pPr algn="ctr"/>
                      <a:r>
                        <a:rPr sz="1000" b="0" i="0">
                          <a:solidFill>
                            <a:srgbClr val="262626"/>
                          </a:solidFill>
                          <a:latin typeface="Arial"/>
                        </a:rPr>
                        <a:t>37</a:t>
                      </a:r>
                    </a:p>
                  </a:txBody>
                  <a:tcPr>
                    <a:solidFill>
                      <a:srgbClr val="FFFFFF"/>
                    </a:solidFill>
                  </a:tcPr>
                </a:tc>
                <a:tc>
                  <a:txBody>
                    <a:bodyPr/>
                    <a:lstStyle/>
                    <a:p>
                      <a:pPr algn="ctr"/>
                      <a:r>
                        <a:rPr sz="1000" b="0" i="0">
                          <a:solidFill>
                            <a:srgbClr val="262626"/>
                          </a:solidFill>
                          <a:latin typeface="Arial"/>
                        </a:rPr>
                        <a:t>3.1</a:t>
                      </a:r>
                    </a:p>
                  </a:txBody>
                  <a:tcPr>
                    <a:solidFill>
                      <a:srgbClr val="FFFFFF"/>
                    </a:solidFill>
                  </a:tcPr>
                </a:tc>
                <a:tc>
                  <a:txBody>
                    <a:bodyPr/>
                    <a:lstStyle/>
                    <a:p>
                      <a:pPr algn="ctr"/>
                      <a:r>
                        <a:rPr sz="1000" b="0" i="0">
                          <a:solidFill>
                            <a:srgbClr val="262626"/>
                          </a:solidFill>
                          <a:latin typeface="Arial"/>
                        </a:rPr>
                        <a:t>Fair</a:t>
                      </a:r>
                    </a:p>
                  </a:txBody>
                  <a:tcPr>
                    <a:solidFill>
                      <a:srgbClr val="FFFFFF"/>
                    </a:solidFill>
                  </a:tcPr>
                </a:tc>
                <a:extLst>
                  <a:ext uri="{0D108BD9-81ED-4DB2-BD59-A6C34878D82A}">
                    <a16:rowId xmlns:a16="http://schemas.microsoft.com/office/drawing/2014/main" val="10005"/>
                  </a:ext>
                </a:extLst>
              </a:tr>
              <a:tr h="303144">
                <a:tc>
                  <a:txBody>
                    <a:bodyPr/>
                    <a:lstStyle/>
                    <a:p>
                      <a:pPr algn="ctr"/>
                      <a:r>
                        <a:rPr sz="1000" b="0" i="0">
                          <a:solidFill>
                            <a:srgbClr val="262626"/>
                          </a:solidFill>
                          <a:latin typeface="Arial"/>
                        </a:rPr>
                        <a:t>2024</a:t>
                      </a:r>
                    </a:p>
                  </a:txBody>
                  <a:tcPr>
                    <a:solidFill>
                      <a:srgbClr val="F2F2F2"/>
                    </a:solidFill>
                  </a:tcPr>
                </a:tc>
                <a:tc>
                  <a:txBody>
                    <a:bodyPr/>
                    <a:lstStyle/>
                    <a:p>
                      <a:pPr algn="ctr"/>
                      <a:r>
                        <a:rPr sz="1000" b="0" i="0">
                          <a:solidFill>
                            <a:srgbClr val="262626"/>
                          </a:solidFill>
                          <a:latin typeface="Arial"/>
                        </a:rPr>
                        <a:t>15.8</a:t>
                      </a:r>
                    </a:p>
                  </a:txBody>
                  <a:tcPr>
                    <a:solidFill>
                      <a:srgbClr val="F2F2F2"/>
                    </a:solidFill>
                  </a:tcPr>
                </a:tc>
                <a:tc>
                  <a:txBody>
                    <a:bodyPr/>
                    <a:lstStyle/>
                    <a:p>
                      <a:pPr algn="ctr"/>
                      <a:r>
                        <a:rPr sz="1000" b="0" i="0">
                          <a:solidFill>
                            <a:srgbClr val="262626"/>
                          </a:solidFill>
                          <a:latin typeface="Arial"/>
                        </a:rPr>
                        <a:t>43</a:t>
                      </a:r>
                    </a:p>
                  </a:txBody>
                  <a:tcPr>
                    <a:solidFill>
                      <a:srgbClr val="F2F2F2"/>
                    </a:solidFill>
                  </a:tcPr>
                </a:tc>
                <a:tc>
                  <a:txBody>
                    <a:bodyPr/>
                    <a:lstStyle/>
                    <a:p>
                      <a:pPr algn="ctr"/>
                      <a:r>
                        <a:rPr sz="1000" b="0" i="0">
                          <a:solidFill>
                            <a:srgbClr val="262626"/>
                          </a:solidFill>
                          <a:latin typeface="Arial"/>
                        </a:rPr>
                        <a:t>5.8</a:t>
                      </a:r>
                    </a:p>
                  </a:txBody>
                  <a:tcPr>
                    <a:solidFill>
                      <a:srgbClr val="F2F2F2"/>
                    </a:solidFill>
                  </a:tcPr>
                </a:tc>
                <a:tc>
                  <a:txBody>
                    <a:bodyPr/>
                    <a:lstStyle/>
                    <a:p>
                      <a:pPr algn="ctr"/>
                      <a:r>
                        <a:rPr sz="1000" b="0" i="0">
                          <a:solidFill>
                            <a:srgbClr val="262626"/>
                          </a:solidFill>
                          <a:latin typeface="Arial"/>
                        </a:rPr>
                        <a:t>Moderate</a:t>
                      </a:r>
                    </a:p>
                  </a:txBody>
                  <a:tcPr>
                    <a:solidFill>
                      <a:srgbClr val="F2F2F2"/>
                    </a:solidFill>
                  </a:tcPr>
                </a:tc>
                <a:extLst>
                  <a:ext uri="{0D108BD9-81ED-4DB2-BD59-A6C34878D82A}">
                    <a16:rowId xmlns:a16="http://schemas.microsoft.com/office/drawing/2014/main" val="10006"/>
                  </a:ext>
                </a:extLst>
              </a:tr>
              <a:tr h="303144">
                <a:tc>
                  <a:txBody>
                    <a:bodyPr/>
                    <a:lstStyle/>
                    <a:p>
                      <a:pPr algn="ctr"/>
                      <a:r>
                        <a:rPr sz="1000" b="0" i="0">
                          <a:solidFill>
                            <a:srgbClr val="262626"/>
                          </a:solidFill>
                          <a:latin typeface="Arial"/>
                        </a:rPr>
                        <a:t>2025</a:t>
                      </a:r>
                    </a:p>
                  </a:txBody>
                  <a:tcPr>
                    <a:solidFill>
                      <a:srgbClr val="FFFFFF"/>
                    </a:solidFill>
                  </a:tcPr>
                </a:tc>
                <a:tc>
                  <a:txBody>
                    <a:bodyPr/>
                    <a:lstStyle/>
                    <a:p>
                      <a:pPr algn="ctr"/>
                      <a:r>
                        <a:rPr sz="1000" b="0" i="0">
                          <a:solidFill>
                            <a:srgbClr val="262626"/>
                          </a:solidFill>
                          <a:latin typeface="Arial"/>
                        </a:rPr>
                        <a:t>12.7</a:t>
                      </a:r>
                    </a:p>
                  </a:txBody>
                  <a:tcPr>
                    <a:solidFill>
                      <a:srgbClr val="FFFFFF"/>
                    </a:solidFill>
                  </a:tcPr>
                </a:tc>
                <a:tc>
                  <a:txBody>
                    <a:bodyPr/>
                    <a:lstStyle/>
                    <a:p>
                      <a:pPr algn="ctr"/>
                      <a:r>
                        <a:rPr sz="1000" b="0" i="0">
                          <a:solidFill>
                            <a:srgbClr val="262626"/>
                          </a:solidFill>
                          <a:latin typeface="Arial"/>
                        </a:rPr>
                        <a:t>35</a:t>
                      </a:r>
                    </a:p>
                  </a:txBody>
                  <a:tcPr>
                    <a:solidFill>
                      <a:srgbClr val="FFFFFF"/>
                    </a:solidFill>
                  </a:tcPr>
                </a:tc>
                <a:tc>
                  <a:txBody>
                    <a:bodyPr/>
                    <a:lstStyle/>
                    <a:p>
                      <a:pPr algn="ctr"/>
                      <a:r>
                        <a:rPr sz="1000" b="0" i="0">
                          <a:solidFill>
                            <a:srgbClr val="262626"/>
                          </a:solidFill>
                          <a:latin typeface="Arial"/>
                        </a:rPr>
                        <a:t>1.6</a:t>
                      </a:r>
                    </a:p>
                  </a:txBody>
                  <a:tcPr>
                    <a:solidFill>
                      <a:srgbClr val="FFFFFF"/>
                    </a:solidFill>
                  </a:tcPr>
                </a:tc>
                <a:tc>
                  <a:txBody>
                    <a:bodyPr/>
                    <a:lstStyle/>
                    <a:p>
                      <a:pPr algn="ctr"/>
                      <a:r>
                        <a:rPr sz="1000" b="0" i="0" dirty="0">
                          <a:solidFill>
                            <a:srgbClr val="262626"/>
                          </a:solidFill>
                          <a:latin typeface="Arial"/>
                        </a:rPr>
                        <a:t>Fair</a:t>
                      </a:r>
                    </a:p>
                  </a:txBody>
                  <a:tcPr>
                    <a:solidFill>
                      <a:srgbClr val="FFFFFF"/>
                    </a:solidFill>
                  </a:tcPr>
                </a:tc>
                <a:extLst>
                  <a:ext uri="{0D108BD9-81ED-4DB2-BD59-A6C34878D82A}">
                    <a16:rowId xmlns:a16="http://schemas.microsoft.com/office/drawing/2014/main" val="10007"/>
                  </a:ext>
                </a:extLst>
              </a:tr>
            </a:tbl>
          </a:graphicData>
        </a:graphic>
      </p:graphicFrame>
      <p:sp>
        <p:nvSpPr>
          <p:cNvPr id="12" name="TextBox 11"/>
          <p:cNvSpPr txBox="1"/>
          <p:nvPr/>
        </p:nvSpPr>
        <p:spPr>
          <a:xfrm>
            <a:off x="5212080" y="1088136"/>
            <a:ext cx="3931920" cy="91440"/>
          </a:xfrm>
          <a:prstGeom prst="rect">
            <a:avLst/>
          </a:prstGeom>
          <a:noFill/>
        </p:spPr>
        <p:txBody>
          <a:bodyPr wrap="square">
            <a:spAutoFit/>
          </a:bodyPr>
          <a:lstStyle/>
          <a:p>
            <a:pPr algn="l"/>
            <a:r>
              <a:rPr sz="950" b="1" i="0">
                <a:solidFill>
                  <a:srgbClr val="002060"/>
                </a:solidFill>
                <a:latin typeface="Arial"/>
              </a:rPr>
              <a:t>AIR QUALITY (Open-Meteo archive)</a:t>
            </a:r>
          </a:p>
        </p:txBody>
      </p:sp>
      <p:sp>
        <p:nvSpPr>
          <p:cNvPr id="13" name="Rectangle 12"/>
          <p:cNvSpPr/>
          <p:nvPr/>
        </p:nvSpPr>
        <p:spPr>
          <a:xfrm>
            <a:off x="274320" y="3867912"/>
            <a:ext cx="11640312"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3886200"/>
            <a:ext cx="11155680" cy="274320"/>
          </a:xfrm>
          <a:prstGeom prst="rect">
            <a:avLst/>
          </a:prstGeom>
          <a:noFill/>
        </p:spPr>
        <p:txBody>
          <a:bodyPr wrap="square">
            <a:spAutoFit/>
          </a:bodyPr>
          <a:lstStyle/>
          <a:p>
            <a:pPr algn="l"/>
            <a:r>
              <a:rPr sz="1200" b="1" i="0">
                <a:solidFill>
                  <a:srgbClr val="FFFFFF"/>
                </a:solidFill>
                <a:latin typeface="Arial"/>
              </a:rPr>
              <a:t>HEALTH &amp; WATER QUALITY RISK FACTORS</a:t>
            </a:r>
          </a:p>
        </p:txBody>
      </p:sp>
      <p:sp>
        <p:nvSpPr>
          <p:cNvPr id="15" name="TextBox 14"/>
          <p:cNvSpPr txBox="1"/>
          <p:nvPr/>
        </p:nvSpPr>
        <p:spPr>
          <a:xfrm>
            <a:off x="365760" y="4251960"/>
            <a:ext cx="11430000" cy="261610"/>
          </a:xfrm>
          <a:prstGeom prst="rect">
            <a:avLst/>
          </a:prstGeom>
          <a:noFill/>
        </p:spPr>
        <p:txBody>
          <a:bodyPr wrap="square">
            <a:spAutoFit/>
          </a:bodyPr>
          <a:lstStyle/>
          <a:p>
            <a:pPr algn="l"/>
            <a:r>
              <a:rPr sz="1100" b="1" dirty="0">
                <a:solidFill>
                  <a:srgbClr val="002768"/>
                </a:solidFill>
                <a:latin typeface="Arial" panose="020B0604020202020204" pitchFamily="34" charset="0"/>
                <a:cs typeface="Arial" panose="020B0604020202020204" pitchFamily="34" charset="0"/>
              </a:rPr>
              <a:t>• Water Quality: </a:t>
            </a:r>
            <a:r>
              <a:rPr sz="1100" dirty="0">
                <a:solidFill>
                  <a:srgbClr val="4B5563"/>
                </a:solidFill>
                <a:latin typeface="Arial" panose="020B0604020202020204" pitchFamily="34" charset="0"/>
                <a:cs typeface="Arial" panose="020B0604020202020204" pitchFamily="34" charset="0"/>
              </a:rPr>
              <a:t>No public Yokohama race-week illness cluster or swim cancellation found. </a:t>
            </a:r>
          </a:p>
        </p:txBody>
      </p:sp>
      <p:sp>
        <p:nvSpPr>
          <p:cNvPr id="16" name="TextBox 15"/>
          <p:cNvSpPr txBox="1"/>
          <p:nvPr/>
        </p:nvSpPr>
        <p:spPr>
          <a:xfrm>
            <a:off x="365760" y="4857750"/>
            <a:ext cx="11430000" cy="261610"/>
          </a:xfrm>
          <a:prstGeom prst="rect">
            <a:avLst/>
          </a:prstGeom>
          <a:noFill/>
        </p:spPr>
        <p:txBody>
          <a:bodyPr wrap="square">
            <a:spAutoFit/>
          </a:bodyPr>
          <a:lstStyle/>
          <a:p>
            <a:pPr algn="l"/>
            <a:r>
              <a:rPr sz="1100" b="1" dirty="0">
                <a:solidFill>
                  <a:srgbClr val="002768"/>
                </a:solidFill>
                <a:latin typeface="Arial" panose="020B0604020202020204" pitchFamily="34" charset="0"/>
                <a:cs typeface="Arial" panose="020B0604020202020204" pitchFamily="34" charset="0"/>
              </a:rPr>
              <a:t>• Athlete Health / GI Risk: </a:t>
            </a:r>
            <a:r>
              <a:rPr lang="en-US" sz="1100" dirty="0">
                <a:solidFill>
                  <a:srgbClr val="4B5563"/>
                </a:solidFill>
                <a:latin typeface="Arial" panose="020B0604020202020204" pitchFamily="34" charset="0"/>
                <a:cs typeface="Arial" panose="020B0604020202020204" pitchFamily="34" charset="0"/>
              </a:rPr>
              <a:t>No</a:t>
            </a:r>
            <a:r>
              <a:rPr sz="1100" dirty="0">
                <a:solidFill>
                  <a:srgbClr val="4B5563"/>
                </a:solidFill>
                <a:latin typeface="Arial" panose="020B0604020202020204" pitchFamily="34" charset="0"/>
                <a:cs typeface="Arial" panose="020B0604020202020204" pitchFamily="34" charset="0"/>
              </a:rPr>
              <a:t> known history at Yokohama</a:t>
            </a:r>
          </a:p>
        </p:txBody>
      </p:sp>
      <p:sp>
        <p:nvSpPr>
          <p:cNvPr id="17" name="TextBox 16"/>
          <p:cNvSpPr txBox="1"/>
          <p:nvPr/>
        </p:nvSpPr>
        <p:spPr>
          <a:xfrm>
            <a:off x="365760" y="5463540"/>
            <a:ext cx="11430000" cy="261610"/>
          </a:xfrm>
          <a:prstGeom prst="rect">
            <a:avLst/>
          </a:prstGeom>
          <a:noFill/>
        </p:spPr>
        <p:txBody>
          <a:bodyPr wrap="square">
            <a:spAutoFit/>
          </a:bodyPr>
          <a:lstStyle/>
          <a:p>
            <a:pPr algn="l"/>
            <a:r>
              <a:rPr sz="1100" b="1" dirty="0">
                <a:solidFill>
                  <a:srgbClr val="002768"/>
                </a:solidFill>
                <a:latin typeface="Arial" panose="020B0604020202020204" pitchFamily="34" charset="0"/>
                <a:cs typeface="Arial" panose="020B0604020202020204" pitchFamily="34" charset="0"/>
              </a:rPr>
              <a:t>• Water Temperature: </a:t>
            </a:r>
            <a:r>
              <a:rPr sz="1100" dirty="0">
                <a:solidFill>
                  <a:srgbClr val="4B5563"/>
                </a:solidFill>
                <a:latin typeface="Arial" panose="020B0604020202020204" pitchFamily="34" charset="0"/>
                <a:cs typeface="Arial" panose="020B0604020202020204" pitchFamily="34" charset="0"/>
              </a:rPr>
              <a:t>Historically cool/borderline in May: ~17.5–20.2°C</a:t>
            </a:r>
            <a:r>
              <a:rPr lang="en-US" sz="1100" dirty="0">
                <a:solidFill>
                  <a:srgbClr val="4B5563"/>
                </a:solidFill>
                <a:latin typeface="Arial" panose="020B0604020202020204" pitchFamily="34" charset="0"/>
                <a:cs typeface="Arial" panose="020B0604020202020204" pitchFamily="34" charset="0"/>
              </a:rPr>
              <a:t>. </a:t>
            </a:r>
            <a:r>
              <a:rPr sz="1100" dirty="0">
                <a:solidFill>
                  <a:srgbClr val="4B5563"/>
                </a:solidFill>
                <a:latin typeface="Arial" panose="020B0604020202020204" pitchFamily="34" charset="0"/>
                <a:cs typeface="Arial" panose="020B0604020202020204" pitchFamily="34" charset="0"/>
              </a:rPr>
              <a:t>2024 women: 19.8°C wetsuit allowed; 2025: ~20.1–20.2°C and wetsuit forbidden.</a:t>
            </a:r>
          </a:p>
        </p:txBody>
      </p:sp>
      <p:sp>
        <p:nvSpPr>
          <p:cNvPr id="18" name="TextBox 17"/>
          <p:cNvSpPr txBox="1"/>
          <p:nvPr/>
        </p:nvSpPr>
        <p:spPr>
          <a:xfrm>
            <a:off x="365760" y="6069330"/>
            <a:ext cx="11430000" cy="261610"/>
          </a:xfrm>
          <a:prstGeom prst="rect">
            <a:avLst/>
          </a:prstGeom>
          <a:noFill/>
        </p:spPr>
        <p:txBody>
          <a:bodyPr wrap="square">
            <a:spAutoFit/>
          </a:bodyPr>
          <a:lstStyle/>
          <a:p>
            <a:pPr algn="l"/>
            <a:r>
              <a:rPr sz="1100" b="1" dirty="0">
                <a:solidFill>
                  <a:srgbClr val="002768"/>
                </a:solidFill>
                <a:latin typeface="Arial" panose="020B0604020202020204" pitchFamily="34" charset="0"/>
                <a:cs typeface="Arial" panose="020B0604020202020204" pitchFamily="34" charset="0"/>
              </a:rPr>
              <a:t>• Heat / Humidity: </a:t>
            </a:r>
            <a:r>
              <a:rPr sz="1100" dirty="0">
                <a:solidFill>
                  <a:srgbClr val="4B5563"/>
                </a:solidFill>
                <a:latin typeface="Arial" panose="020B0604020202020204" pitchFamily="34" charset="0"/>
                <a:cs typeface="Arial" panose="020B0604020202020204" pitchFamily="34" charset="0"/>
              </a:rPr>
              <a:t>Air temp is usually moderate (17–22°C), but humidity can spike &gt;90% in wet years. 2024 women had the warmest listed start conditions at 25.4°C.</a:t>
            </a:r>
          </a:p>
        </p:txBody>
      </p:sp>
      <p:sp>
        <p:nvSpPr>
          <p:cNvPr id="19" name="TextBox 18"/>
          <p:cNvSpPr txBox="1"/>
          <p:nvPr/>
        </p:nvSpPr>
        <p:spPr>
          <a:xfrm>
            <a:off x="274320" y="6565392"/>
            <a:ext cx="11640312" cy="201168"/>
          </a:xfrm>
          <a:prstGeom prst="rect">
            <a:avLst/>
          </a:prstGeom>
          <a:noFill/>
        </p:spPr>
        <p:txBody>
          <a:bodyPr wrap="square">
            <a:spAutoFit/>
          </a:bodyPr>
          <a:lstStyle/>
          <a:p>
            <a:pPr algn="l"/>
            <a:r>
              <a:rPr sz="650" b="0">
                <a:solidFill>
                  <a:srgbClr val="4B5563"/>
                </a:solidFill>
              </a:rPr>
              <a:t>Weather/AQ data: Open-Meteo historical archive; water-quality context: Yokohama City sea-area monitoring/restoration pages + World Triathlon water-quality standards. Water-temp values: PPT/WT API where available; * values are estimates.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41832"/>
            <a:ext cx="12188952" cy="64008"/>
          </a:xfrm>
          <a:prstGeom prst="rect">
            <a:avLst/>
          </a:prstGeom>
          <a:solidFill>
            <a:srgbClr val="BE0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73152"/>
            <a:ext cx="9326880" cy="502920"/>
          </a:xfrm>
          <a:prstGeom prst="rect">
            <a:avLst/>
          </a:prstGeom>
          <a:noFill/>
        </p:spPr>
        <p:txBody>
          <a:bodyPr wrap="none" lIns="0" tIns="0" rIns="0" bIns="0">
            <a:spAutoFit/>
          </a:bodyPr>
          <a:lstStyle/>
          <a:p>
            <a:r>
              <a:rPr sz="2700" b="1">
                <a:solidFill>
                  <a:srgbClr val="FFFFFF"/>
                </a:solidFill>
                <a:latin typeface="Arial"/>
              </a:rPr>
              <a:t>Travel &amp; Arrival Load</a:t>
            </a:r>
          </a:p>
        </p:txBody>
      </p:sp>
      <p:sp>
        <p:nvSpPr>
          <p:cNvPr id="5" name="TextBox 4"/>
          <p:cNvSpPr txBox="1"/>
          <p:nvPr/>
        </p:nvSpPr>
        <p:spPr>
          <a:xfrm>
            <a:off x="228600" y="576072"/>
            <a:ext cx="9144000" cy="274320"/>
          </a:xfrm>
          <a:prstGeom prst="rect">
            <a:avLst/>
          </a:prstGeom>
          <a:noFill/>
        </p:spPr>
        <p:txBody>
          <a:bodyPr wrap="none" lIns="0" tIns="0" bIns="0">
            <a:spAutoFit/>
          </a:bodyPr>
          <a:lstStyle/>
          <a:p>
            <a:r>
              <a:rPr sz="1200">
                <a:solidFill>
                  <a:srgbClr val="FFFFFF"/>
                </a:solidFill>
                <a:latin typeface="Arial"/>
              </a:rPr>
              <a:t>Denver, CO → Yokohama race week</a:t>
            </a:r>
          </a:p>
        </p:txBody>
      </p:sp>
      <p:pic>
        <p:nvPicPr>
          <p:cNvPr id="6" name="Picture 5" descr="image.jpg"/>
          <p:cNvPicPr>
            <a:picLocks noChangeAspect="1"/>
          </p:cNvPicPr>
          <p:nvPr/>
        </p:nvPicPr>
        <p:blipFill>
          <a:blip r:embed="rId2"/>
          <a:stretch>
            <a:fillRect/>
          </a:stretch>
        </p:blipFill>
        <p:spPr>
          <a:xfrm>
            <a:off x="10058400" y="45720"/>
            <a:ext cx="1097280" cy="822960"/>
          </a:xfrm>
          <a:prstGeom prst="rect">
            <a:avLst/>
          </a:prstGeom>
        </p:spPr>
      </p:pic>
      <p:sp>
        <p:nvSpPr>
          <p:cNvPr id="7" name="Rectangle 6"/>
          <p:cNvSpPr/>
          <p:nvPr/>
        </p:nvSpPr>
        <p:spPr>
          <a:xfrm>
            <a:off x="0" y="6720840"/>
            <a:ext cx="12188952" cy="137160"/>
          </a:xfrm>
          <a:prstGeom prst="rect">
            <a:avLst/>
          </a:prstGeom>
          <a:solidFill>
            <a:srgbClr val="373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20040" y="1170432"/>
            <a:ext cx="11433810" cy="960120"/>
          </a:xfrm>
          <a:prstGeom prst="roundRect">
            <a:avLst/>
          </a:prstGeom>
          <a:solidFill>
            <a:srgbClr val="EAF2FC"/>
          </a:solidFill>
          <a:ln w="12700">
            <a:solidFill>
              <a:srgbClr val="D2D7E1"/>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r>
              <a:rPr sz="1400" b="1" dirty="0">
                <a:solidFill>
                  <a:srgbClr val="002864"/>
                </a:solidFill>
                <a:latin typeface="Arial"/>
              </a:rPr>
              <a:t>Core travel read</a:t>
            </a:r>
          </a:p>
          <a:p>
            <a:pPr>
              <a:spcBef>
                <a:spcPts val="500"/>
              </a:spcBef>
            </a:pPr>
            <a:r>
              <a:rPr lang="en-US" sz="1000" dirty="0">
                <a:solidFill>
                  <a:srgbClr val="5A6473"/>
                </a:solidFill>
                <a:latin typeface="Arial"/>
              </a:rPr>
              <a:t>Denver to Tokyo (NRT) offers a direct 12h flight helping make this long-haul travel more manageable. With a significant 15-hour time zone shift plan arrival multiple days in advance to help get on a proper schedule b</a:t>
            </a:r>
          </a:p>
          <a:p>
            <a:pPr>
              <a:spcBef>
                <a:spcPts val="500"/>
              </a:spcBef>
            </a:pPr>
            <a:r>
              <a:rPr lang="en-US" sz="1000" dirty="0">
                <a:solidFill>
                  <a:srgbClr val="5A6473"/>
                </a:solidFill>
                <a:latin typeface="Arial"/>
              </a:rPr>
              <a:t>The main performance cost is the 15-hour time-zone shift plus long-haul flight load. If possible, plan arrival 5–7 days before race day so athletes can absorb sleep timing, GI rhythm, and shakeout logistics before course familiarization.</a:t>
            </a:r>
          </a:p>
        </p:txBody>
      </p:sp>
      <p:sp>
        <p:nvSpPr>
          <p:cNvPr id="9" name="Rounded Rectangle 8"/>
          <p:cNvSpPr/>
          <p:nvPr/>
        </p:nvSpPr>
        <p:spPr>
          <a:xfrm>
            <a:off x="320040" y="2331720"/>
            <a:ext cx="1920240" cy="777240"/>
          </a:xfrm>
          <a:prstGeom prst="roundRect">
            <a:avLst/>
          </a:prstGeom>
          <a:solidFill>
            <a:srgbClr val="F5F7FA"/>
          </a:solidFill>
          <a:ln>
            <a:solidFill>
              <a:srgbClr val="D7DCE6"/>
            </a:solidFill>
          </a:ln>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r>
              <a:rPr sz="900" b="1" dirty="0">
                <a:solidFill>
                  <a:srgbClr val="002864"/>
                </a:solidFill>
                <a:latin typeface="Arial"/>
              </a:rPr>
              <a:t>Primary route</a:t>
            </a:r>
          </a:p>
          <a:p>
            <a:pPr algn="ctr">
              <a:spcBef>
                <a:spcPts val="200"/>
              </a:spcBef>
            </a:pPr>
            <a:r>
              <a:rPr sz="1500" b="1" dirty="0">
                <a:solidFill>
                  <a:srgbClr val="232832"/>
                </a:solidFill>
                <a:latin typeface="Arial"/>
              </a:rPr>
              <a:t>DEN → NRT</a:t>
            </a:r>
          </a:p>
          <a:p>
            <a:pPr algn="ctr">
              <a:spcBef>
                <a:spcPts val="200"/>
              </a:spcBef>
            </a:pPr>
            <a:r>
              <a:rPr sz="750" dirty="0">
                <a:solidFill>
                  <a:srgbClr val="5A6473"/>
                </a:solidFill>
                <a:latin typeface="Arial"/>
              </a:rPr>
              <a:t>Nonstop option available</a:t>
            </a:r>
          </a:p>
        </p:txBody>
      </p:sp>
      <p:sp>
        <p:nvSpPr>
          <p:cNvPr id="10" name="Rounded Rectangle 9"/>
          <p:cNvSpPr/>
          <p:nvPr/>
        </p:nvSpPr>
        <p:spPr>
          <a:xfrm>
            <a:off x="2698433" y="2331720"/>
            <a:ext cx="1920240" cy="777240"/>
          </a:xfrm>
          <a:prstGeom prst="roundRect">
            <a:avLst/>
          </a:prstGeom>
          <a:solidFill>
            <a:srgbClr val="F5F7FA"/>
          </a:solidFill>
          <a:ln>
            <a:solidFill>
              <a:srgbClr val="D7DCE6"/>
            </a:solidFill>
          </a:ln>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r>
              <a:rPr sz="900" b="1" dirty="0">
                <a:solidFill>
                  <a:srgbClr val="002864"/>
                </a:solidFill>
                <a:latin typeface="Arial"/>
              </a:rPr>
              <a:t>Flight time</a:t>
            </a:r>
          </a:p>
          <a:p>
            <a:pPr algn="ctr">
              <a:spcBef>
                <a:spcPts val="200"/>
              </a:spcBef>
            </a:pPr>
            <a:r>
              <a:rPr sz="1500" b="1" dirty="0">
                <a:solidFill>
                  <a:srgbClr val="232832"/>
                </a:solidFill>
                <a:latin typeface="Arial"/>
              </a:rPr>
              <a:t>~12h 10m</a:t>
            </a:r>
          </a:p>
          <a:p>
            <a:pPr algn="ctr">
              <a:spcBef>
                <a:spcPts val="200"/>
              </a:spcBef>
            </a:pPr>
            <a:r>
              <a:rPr sz="750" dirty="0">
                <a:solidFill>
                  <a:srgbClr val="5A6473"/>
                </a:solidFill>
                <a:latin typeface="Arial"/>
              </a:rPr>
              <a:t>direct average</a:t>
            </a:r>
          </a:p>
        </p:txBody>
      </p:sp>
      <p:sp>
        <p:nvSpPr>
          <p:cNvPr id="11" name="Rounded Rectangle 10"/>
          <p:cNvSpPr/>
          <p:nvPr/>
        </p:nvSpPr>
        <p:spPr>
          <a:xfrm>
            <a:off x="5076826" y="2331720"/>
            <a:ext cx="1920240" cy="777240"/>
          </a:xfrm>
          <a:prstGeom prst="roundRect">
            <a:avLst/>
          </a:prstGeom>
          <a:solidFill>
            <a:srgbClr val="F5F7FA"/>
          </a:solidFill>
          <a:ln>
            <a:solidFill>
              <a:srgbClr val="D7DCE6"/>
            </a:solidFill>
          </a:ln>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r>
              <a:rPr sz="900" b="1" dirty="0">
                <a:solidFill>
                  <a:srgbClr val="002864"/>
                </a:solidFill>
                <a:latin typeface="Arial"/>
              </a:rPr>
              <a:t>Time zones</a:t>
            </a:r>
          </a:p>
          <a:p>
            <a:pPr algn="ctr">
              <a:spcBef>
                <a:spcPts val="200"/>
              </a:spcBef>
            </a:pPr>
            <a:r>
              <a:rPr sz="1500" b="1" dirty="0">
                <a:solidFill>
                  <a:srgbClr val="232832"/>
                </a:solidFill>
                <a:latin typeface="Arial"/>
              </a:rPr>
              <a:t>+15h</a:t>
            </a:r>
          </a:p>
          <a:p>
            <a:pPr algn="ctr">
              <a:spcBef>
                <a:spcPts val="200"/>
              </a:spcBef>
            </a:pPr>
            <a:r>
              <a:rPr sz="750" dirty="0">
                <a:solidFill>
                  <a:srgbClr val="5A6473"/>
                </a:solidFill>
                <a:latin typeface="Arial"/>
              </a:rPr>
              <a:t>Tokyo ahead of Denver</a:t>
            </a:r>
          </a:p>
        </p:txBody>
      </p:sp>
      <p:sp>
        <p:nvSpPr>
          <p:cNvPr id="12" name="Rounded Rectangle 11"/>
          <p:cNvSpPr/>
          <p:nvPr/>
        </p:nvSpPr>
        <p:spPr>
          <a:xfrm>
            <a:off x="7455219" y="2331720"/>
            <a:ext cx="1920240" cy="777240"/>
          </a:xfrm>
          <a:prstGeom prst="roundRect">
            <a:avLst/>
          </a:prstGeom>
          <a:solidFill>
            <a:srgbClr val="F5F7FA"/>
          </a:solidFill>
          <a:ln>
            <a:solidFill>
              <a:srgbClr val="D7DCE6"/>
            </a:solidFill>
          </a:ln>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r>
              <a:rPr sz="900" b="1" dirty="0">
                <a:solidFill>
                  <a:srgbClr val="002864"/>
                </a:solidFill>
                <a:latin typeface="Arial"/>
              </a:rPr>
              <a:t>HND transfer</a:t>
            </a:r>
          </a:p>
          <a:p>
            <a:pPr algn="ctr">
              <a:spcBef>
                <a:spcPts val="200"/>
              </a:spcBef>
            </a:pPr>
            <a:r>
              <a:rPr sz="1500" b="1" dirty="0">
                <a:solidFill>
                  <a:srgbClr val="232832"/>
                </a:solidFill>
                <a:latin typeface="Arial"/>
              </a:rPr>
              <a:t>22 km</a:t>
            </a:r>
          </a:p>
          <a:p>
            <a:pPr algn="ctr">
              <a:spcBef>
                <a:spcPts val="200"/>
              </a:spcBef>
            </a:pPr>
            <a:r>
              <a:rPr sz="750" dirty="0">
                <a:solidFill>
                  <a:srgbClr val="5A6473"/>
                </a:solidFill>
                <a:latin typeface="Arial"/>
              </a:rPr>
              <a:t>~24–40 min bus</a:t>
            </a:r>
          </a:p>
        </p:txBody>
      </p:sp>
      <p:sp>
        <p:nvSpPr>
          <p:cNvPr id="13" name="Rounded Rectangle 12"/>
          <p:cNvSpPr/>
          <p:nvPr/>
        </p:nvSpPr>
        <p:spPr>
          <a:xfrm>
            <a:off x="9833610" y="2331720"/>
            <a:ext cx="1920240" cy="777240"/>
          </a:xfrm>
          <a:prstGeom prst="roundRect">
            <a:avLst/>
          </a:prstGeom>
          <a:solidFill>
            <a:srgbClr val="F5F7FA"/>
          </a:solidFill>
          <a:ln>
            <a:solidFill>
              <a:srgbClr val="D7DCE6"/>
            </a:solidFill>
          </a:ln>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r>
              <a:rPr sz="900" b="1" dirty="0">
                <a:solidFill>
                  <a:srgbClr val="002864"/>
                </a:solidFill>
                <a:latin typeface="Arial"/>
              </a:rPr>
              <a:t>NRT transfer</a:t>
            </a:r>
          </a:p>
          <a:p>
            <a:pPr algn="ctr">
              <a:spcBef>
                <a:spcPts val="200"/>
              </a:spcBef>
            </a:pPr>
            <a:r>
              <a:rPr sz="1500" b="1" dirty="0">
                <a:solidFill>
                  <a:srgbClr val="232832"/>
                </a:solidFill>
                <a:latin typeface="Arial"/>
              </a:rPr>
              <a:t>96 km</a:t>
            </a:r>
          </a:p>
          <a:p>
            <a:pPr algn="ctr">
              <a:spcBef>
                <a:spcPts val="200"/>
              </a:spcBef>
            </a:pPr>
            <a:r>
              <a:rPr sz="750" dirty="0">
                <a:solidFill>
                  <a:srgbClr val="5A6473"/>
                </a:solidFill>
                <a:latin typeface="Arial"/>
              </a:rPr>
              <a:t>~1h50–2h45</a:t>
            </a:r>
          </a:p>
        </p:txBody>
      </p:sp>
      <p:sp>
        <p:nvSpPr>
          <p:cNvPr id="14" name="Rounded Rectangle 13"/>
          <p:cNvSpPr/>
          <p:nvPr/>
        </p:nvSpPr>
        <p:spPr>
          <a:xfrm>
            <a:off x="320040" y="3401568"/>
            <a:ext cx="5440680" cy="2194560"/>
          </a:xfrm>
          <a:prstGeom prst="roundRect">
            <a:avLst/>
          </a:prstGeom>
          <a:solidFill>
            <a:srgbClr val="FFFFFF"/>
          </a:solidFill>
          <a:ln w="12700">
            <a:solidFill>
              <a:srgbClr val="D2D7E1"/>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r>
              <a:rPr sz="1400" b="1" dirty="0">
                <a:solidFill>
                  <a:srgbClr val="002768"/>
                </a:solidFill>
              </a:rPr>
              <a:t>Host Hotel / Official Accommodation Read</a:t>
            </a:r>
            <a:endParaRPr lang="en-US" sz="1400" b="1" dirty="0">
              <a:solidFill>
                <a:srgbClr val="002768"/>
              </a:solidFill>
            </a:endParaRPr>
          </a:p>
          <a:p>
            <a:pPr algn="ctr"/>
            <a:endParaRPr sz="1000" b="1" dirty="0">
              <a:solidFill>
                <a:srgbClr val="002864"/>
              </a:solidFill>
              <a:latin typeface="Arial"/>
            </a:endParaRPr>
          </a:p>
          <a:p>
            <a:pPr>
              <a:spcAft>
                <a:spcPts val="200"/>
              </a:spcAft>
            </a:pPr>
            <a:r>
              <a:rPr sz="1000" b="0" dirty="0">
                <a:solidFill>
                  <a:srgbClr val="4B5563"/>
                </a:solidFill>
              </a:rPr>
              <a:t>• Official 2026 accommodation link lists four hotels: Rose Hotel Yokohama, Hotel New Grand, THE GATE HOTEL YOKOHAMA by HULIC, and </a:t>
            </a:r>
            <a:r>
              <a:rPr sz="1000" b="0" dirty="0" err="1">
                <a:solidFill>
                  <a:srgbClr val="4B5563"/>
                </a:solidFill>
              </a:rPr>
              <a:t>Citadines</a:t>
            </a:r>
            <a:r>
              <a:rPr sz="1000" b="0" dirty="0">
                <a:solidFill>
                  <a:srgbClr val="4B5563"/>
                </a:solidFill>
              </a:rPr>
              <a:t> Harbour Front Yokohama.</a:t>
            </a:r>
          </a:p>
          <a:p>
            <a:pPr>
              <a:spcAft>
                <a:spcPts val="200"/>
              </a:spcAft>
            </a:pPr>
            <a:r>
              <a:rPr sz="1000" b="0" dirty="0">
                <a:solidFill>
                  <a:srgbClr val="4B5563"/>
                </a:solidFill>
              </a:rPr>
              <a:t>• Best race-logistics read: THE GATE / Hotel New Grand are closest to Yamashita Park; Rose is Chinatown side and walkable; </a:t>
            </a:r>
            <a:r>
              <a:rPr sz="1000" b="0" dirty="0" err="1">
                <a:solidFill>
                  <a:srgbClr val="4B5563"/>
                </a:solidFill>
              </a:rPr>
              <a:t>Citadines</a:t>
            </a:r>
            <a:r>
              <a:rPr sz="1000" b="0" dirty="0">
                <a:solidFill>
                  <a:srgbClr val="4B5563"/>
                </a:solidFill>
              </a:rPr>
              <a:t> is by Nihon-odori with kitchenette / laundry-style athlete value.</a:t>
            </a:r>
          </a:p>
          <a:p>
            <a:pPr>
              <a:spcAft>
                <a:spcPts val="200"/>
              </a:spcAft>
            </a:pPr>
            <a:r>
              <a:rPr sz="1000" b="0" dirty="0">
                <a:solidFill>
                  <a:srgbClr val="4B5563"/>
                </a:solidFill>
              </a:rPr>
              <a:t>• Quality read: THE GATE is newest (opened 2025) and reviewed as clean/modern; New Grand is premium/historic; Rose is convenient but more dated; </a:t>
            </a:r>
            <a:r>
              <a:rPr sz="1000" b="0" dirty="0" err="1">
                <a:solidFill>
                  <a:srgbClr val="4B5563"/>
                </a:solidFill>
              </a:rPr>
              <a:t>Citadines</a:t>
            </a:r>
            <a:r>
              <a:rPr sz="1000" b="0" dirty="0">
                <a:solidFill>
                  <a:srgbClr val="4B5563"/>
                </a:solidFill>
              </a:rPr>
              <a:t> is strongest for longer stays/self-catering.</a:t>
            </a:r>
          </a:p>
          <a:p>
            <a:pPr>
              <a:spcAft>
                <a:spcPts val="200"/>
              </a:spcAft>
            </a:pPr>
            <a:r>
              <a:rPr sz="1000" b="0" dirty="0">
                <a:solidFill>
                  <a:srgbClr val="4B5563"/>
                </a:solidFill>
              </a:rPr>
              <a:t>• Price: public snapshots vary by date; recent OTA examples show THE GATE from ~$120/night and Rose from ~¥22,000 for 2 guests with breakfast. </a:t>
            </a:r>
          </a:p>
        </p:txBody>
      </p:sp>
      <p:sp>
        <p:nvSpPr>
          <p:cNvPr id="16" name="TextBox 15"/>
          <p:cNvSpPr txBox="1"/>
          <p:nvPr/>
        </p:nvSpPr>
        <p:spPr>
          <a:xfrm>
            <a:off x="320040" y="6419088"/>
            <a:ext cx="11155680" cy="115416"/>
          </a:xfrm>
          <a:prstGeom prst="rect">
            <a:avLst/>
          </a:prstGeom>
          <a:noFill/>
        </p:spPr>
        <p:txBody>
          <a:bodyPr wrap="square" lIns="0" tIns="0" rIns="0" bIns="0">
            <a:spAutoFit/>
          </a:bodyPr>
          <a:lstStyle/>
          <a:p>
            <a:r>
              <a:rPr sz="670" b="0">
                <a:solidFill>
                  <a:srgbClr val="4B5563"/>
                </a:solidFill>
              </a:rPr>
              <a:t>Sources: World Triathlon 2026 travel/accommodation link + JTB official hotel list; Yokohama Visitors Guide; Expedia/Hotels.com/Tripadvisor review summaries; Tabelog/Navitime/Motomachi Shopping Street grocery listings.</a:t>
            </a:r>
            <a:endParaRPr sz="750" b="0" dirty="0">
              <a:solidFill>
                <a:srgbClr val="5A6473"/>
              </a:solidFill>
              <a:latin typeface="Arial"/>
            </a:endParaRPr>
          </a:p>
        </p:txBody>
      </p:sp>
      <p:sp>
        <p:nvSpPr>
          <p:cNvPr id="17" name="Rounded Rectangle 13">
            <a:extLst>
              <a:ext uri="{FF2B5EF4-FFF2-40B4-BE49-F238E27FC236}">
                <a16:creationId xmlns:a16="http://schemas.microsoft.com/office/drawing/2014/main" id="{6EB15836-76D2-6B2A-8DA5-E326465A77EE}"/>
              </a:ext>
            </a:extLst>
          </p:cNvPr>
          <p:cNvSpPr/>
          <p:nvPr/>
        </p:nvSpPr>
        <p:spPr>
          <a:xfrm>
            <a:off x="6313170" y="3401568"/>
            <a:ext cx="5440680" cy="2194560"/>
          </a:xfrm>
          <a:prstGeom prst="roundRect">
            <a:avLst/>
          </a:prstGeom>
          <a:solidFill>
            <a:srgbClr val="FFFFFF"/>
          </a:solidFill>
          <a:ln w="12700">
            <a:solidFill>
              <a:srgbClr val="D2D7E1"/>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r>
              <a:rPr sz="1400" b="1" dirty="0">
                <a:solidFill>
                  <a:srgbClr val="002768"/>
                </a:solidFill>
              </a:rPr>
              <a:t>Food / Grocery Options Near Hotel + Venue</a:t>
            </a:r>
            <a:endParaRPr lang="en-US" sz="1400" b="1" dirty="0">
              <a:solidFill>
                <a:srgbClr val="002768"/>
              </a:solidFill>
            </a:endParaRPr>
          </a:p>
          <a:p>
            <a:pPr algn="ctr"/>
            <a:endParaRPr sz="1400" b="1" dirty="0">
              <a:solidFill>
                <a:srgbClr val="002864"/>
              </a:solidFill>
              <a:latin typeface="Arial"/>
            </a:endParaRPr>
          </a:p>
          <a:p>
            <a:pPr>
              <a:spcAft>
                <a:spcPts val="200"/>
              </a:spcAft>
            </a:pPr>
            <a:r>
              <a:rPr sz="1000" b="0" dirty="0">
                <a:solidFill>
                  <a:srgbClr val="4B5563"/>
                </a:solidFill>
              </a:rPr>
              <a:t>• Best grocery targets: </a:t>
            </a:r>
            <a:r>
              <a:rPr sz="1000" b="0" dirty="0" err="1">
                <a:solidFill>
                  <a:srgbClr val="4B5563"/>
                </a:solidFill>
              </a:rPr>
              <a:t>Motomachi</a:t>
            </a:r>
            <a:r>
              <a:rPr sz="1000" b="0" dirty="0">
                <a:solidFill>
                  <a:srgbClr val="4B5563"/>
                </a:solidFill>
              </a:rPr>
              <a:t> Union and Bio c’ Bon in </a:t>
            </a:r>
            <a:r>
              <a:rPr sz="1000" b="0" dirty="0" err="1">
                <a:solidFill>
                  <a:srgbClr val="4B5563"/>
                </a:solidFill>
              </a:rPr>
              <a:t>Motomachi</a:t>
            </a:r>
            <a:r>
              <a:rPr sz="1000" b="0" dirty="0">
                <a:solidFill>
                  <a:srgbClr val="4B5563"/>
                </a:solidFill>
              </a:rPr>
              <a:t> for premium/imported/organic staples; Maruetsu Petit Yamashita Koen and My Basket </a:t>
            </a:r>
            <a:r>
              <a:rPr sz="1000" b="0" dirty="0" err="1">
                <a:solidFill>
                  <a:srgbClr val="4B5563"/>
                </a:solidFill>
              </a:rPr>
              <a:t>Yamashitacho</a:t>
            </a:r>
            <a:r>
              <a:rPr sz="1000" b="0" dirty="0">
                <a:solidFill>
                  <a:srgbClr val="4B5563"/>
                </a:solidFill>
              </a:rPr>
              <a:t> for quick basics near the park.</a:t>
            </a:r>
          </a:p>
          <a:p>
            <a:pPr>
              <a:spcAft>
                <a:spcPts val="200"/>
              </a:spcAft>
            </a:pPr>
            <a:r>
              <a:rPr sz="1000" b="0" dirty="0">
                <a:solidFill>
                  <a:srgbClr val="4B5563"/>
                </a:solidFill>
              </a:rPr>
              <a:t>• Budget/larger stock-up: OK </a:t>
            </a:r>
            <a:r>
              <a:rPr sz="1000" b="0" dirty="0" err="1">
                <a:solidFill>
                  <a:srgbClr val="4B5563"/>
                </a:solidFill>
              </a:rPr>
              <a:t>ShinYamashita</a:t>
            </a:r>
            <a:r>
              <a:rPr sz="1000" b="0" dirty="0">
                <a:solidFill>
                  <a:srgbClr val="4B5563"/>
                </a:solidFill>
              </a:rPr>
              <a:t> is ~900m from </a:t>
            </a:r>
            <a:r>
              <a:rPr sz="1000" b="0" dirty="0" err="1">
                <a:solidFill>
                  <a:srgbClr val="4B5563"/>
                </a:solidFill>
              </a:rPr>
              <a:t>Motomachi-Chukagai</a:t>
            </a:r>
            <a:r>
              <a:rPr sz="1000" b="0" dirty="0">
                <a:solidFill>
                  <a:srgbClr val="4B5563"/>
                </a:solidFill>
              </a:rPr>
              <a:t> and works better for volume groceries, drinks, snacks, and simple room food.</a:t>
            </a:r>
          </a:p>
          <a:p>
            <a:pPr>
              <a:spcAft>
                <a:spcPts val="200"/>
              </a:spcAft>
            </a:pPr>
            <a:r>
              <a:rPr sz="1000" b="0" dirty="0">
                <a:solidFill>
                  <a:srgbClr val="4B5563"/>
                </a:solidFill>
              </a:rPr>
              <a:t>• Convenience backup: FamilyMart / 7-Eleven / Natural Lawson around </a:t>
            </a:r>
            <a:r>
              <a:rPr sz="1000" b="0" dirty="0" err="1">
                <a:solidFill>
                  <a:srgbClr val="4B5563"/>
                </a:solidFill>
              </a:rPr>
              <a:t>Motomachi-Chukagai</a:t>
            </a:r>
            <a:r>
              <a:rPr sz="1000" b="0" dirty="0">
                <a:solidFill>
                  <a:srgbClr val="4B5563"/>
                </a:solidFill>
              </a:rPr>
              <a:t> and </a:t>
            </a:r>
            <a:r>
              <a:rPr sz="1000" b="0" dirty="0" err="1">
                <a:solidFill>
                  <a:srgbClr val="4B5563"/>
                </a:solidFill>
              </a:rPr>
              <a:t>Ishikawacho</a:t>
            </a:r>
            <a:r>
              <a:rPr sz="1000" b="0" dirty="0">
                <a:solidFill>
                  <a:srgbClr val="4B5563"/>
                </a:solidFill>
              </a:rPr>
              <a:t> for water, rice balls, yogurt, coffee, and emergency snacks.</a:t>
            </a:r>
          </a:p>
          <a:p>
            <a:pPr>
              <a:spcAft>
                <a:spcPts val="200"/>
              </a:spcAft>
            </a:pPr>
            <a:r>
              <a:rPr sz="1000" b="0" dirty="0">
                <a:solidFill>
                  <a:srgbClr val="4B5563"/>
                </a:solidFill>
              </a:rPr>
              <a:t>• Food read:</a:t>
            </a:r>
            <a:r>
              <a:rPr lang="en-US" sz="1000" b="0" dirty="0">
                <a:solidFill>
                  <a:srgbClr val="4B5563"/>
                </a:solidFill>
              </a:rPr>
              <a:t> Safe. No major food concern risks for travelers. </a:t>
            </a:r>
            <a:endParaRPr sz="1000" b="0" dirty="0">
              <a:solidFill>
                <a:srgbClr val="4B556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57200"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3840480"/>
            <a:ext cx="105156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103120"/>
            <a:ext cx="10515600" cy="1645920"/>
          </a:xfrm>
          <a:prstGeom prst="rect">
            <a:avLst/>
          </a:prstGeom>
          <a:noFill/>
        </p:spPr>
        <p:txBody>
          <a:bodyPr wrap="square">
            <a:spAutoFit/>
          </a:bodyPr>
          <a:lstStyle/>
          <a:p>
            <a:pPr algn="ctr"/>
            <a:r>
              <a:rPr sz="6000" b="1" i="0">
                <a:solidFill>
                  <a:srgbClr val="FFFFFF"/>
                </a:solidFill>
                <a:latin typeface="Arial"/>
              </a:rPr>
              <a:t>ELITE MEN</a:t>
            </a:r>
          </a:p>
        </p:txBody>
      </p:sp>
      <p:pic>
        <p:nvPicPr>
          <p:cNvPr id="6" name="Picture 5" descr="USA_Triathlon_Logo.jpg"/>
          <p:cNvPicPr>
            <a:picLocks noChangeAspect="1"/>
          </p:cNvPicPr>
          <p:nvPr/>
        </p:nvPicPr>
        <p:blipFill>
          <a:blip r:embed="rId2"/>
          <a:stretch>
            <a:fillRect/>
          </a:stretch>
        </p:blipFill>
        <p:spPr>
          <a:xfrm>
            <a:off x="10058400" y="5760720"/>
            <a:ext cx="1828800" cy="10058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Overview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Yokohama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640080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115568"/>
            <a:ext cx="6035040" cy="274320"/>
          </a:xfrm>
          <a:prstGeom prst="rect">
            <a:avLst/>
          </a:prstGeom>
          <a:noFill/>
        </p:spPr>
        <p:txBody>
          <a:bodyPr wrap="square">
            <a:spAutoFit/>
          </a:bodyPr>
          <a:lstStyle/>
          <a:p>
            <a:pPr algn="l"/>
            <a:r>
              <a:rPr sz="1200" b="1" i="0">
                <a:solidFill>
                  <a:srgbClr val="FFFFFF"/>
                </a:solidFill>
                <a:latin typeface="Arial"/>
              </a:rPr>
              <a:t>RACE HISTORY AT YOKOHAMA</a:t>
            </a:r>
          </a:p>
        </p:txBody>
      </p:sp>
      <p:sp>
        <p:nvSpPr>
          <p:cNvPr id="10" name="TextBox 9"/>
          <p:cNvSpPr txBox="1"/>
          <p:nvPr/>
        </p:nvSpPr>
        <p:spPr>
          <a:xfrm>
            <a:off x="274320" y="1508760"/>
            <a:ext cx="6400800" cy="1169551"/>
          </a:xfrm>
          <a:prstGeom prst="rect">
            <a:avLst/>
          </a:prstGeom>
          <a:noFill/>
        </p:spPr>
        <p:txBody>
          <a:bodyPr wrap="square">
            <a:spAutoFit/>
          </a:bodyPr>
          <a:lstStyle/>
          <a:p>
            <a:pPr algn="l"/>
            <a:r>
              <a:rPr sz="1400" b="0" i="0" dirty="0">
                <a:solidFill>
                  <a:srgbClr val="232323"/>
                </a:solidFill>
                <a:latin typeface="Arial"/>
              </a:rPr>
              <a:t>Yokohama has been a consistently fast Olympic-distance race on the circuit. Swim separation is usually limited, with most years putting 20–35 athletes within 15 seconds of the swim leader. 2019 and 2025 were the exceptions, with smaller groups making the bike more selective. The race is usually decided late, with a low-29-minute 10 km often required to win.</a:t>
            </a:r>
          </a:p>
        </p:txBody>
      </p:sp>
      <p:sp>
        <p:nvSpPr>
          <p:cNvPr id="11" name="Rectangle 10"/>
          <p:cNvSpPr/>
          <p:nvPr/>
        </p:nvSpPr>
        <p:spPr>
          <a:xfrm>
            <a:off x="6903720" y="1097280"/>
            <a:ext cx="4983480"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49440" y="1115568"/>
            <a:ext cx="4663440" cy="274320"/>
          </a:xfrm>
          <a:prstGeom prst="rect">
            <a:avLst/>
          </a:prstGeom>
          <a:noFill/>
        </p:spPr>
        <p:txBody>
          <a:bodyPr wrap="square">
            <a:spAutoFit/>
          </a:bodyPr>
          <a:lstStyle/>
          <a:p>
            <a:pPr algn="l"/>
            <a:r>
              <a:rPr sz="1200" b="1" i="0">
                <a:solidFill>
                  <a:srgbClr val="FFFFFF"/>
                </a:solidFill>
                <a:latin typeface="Arial"/>
              </a:rPr>
              <a:t>3 KEYS TO SUCCESS</a:t>
            </a:r>
          </a:p>
        </p:txBody>
      </p:sp>
      <p:sp>
        <p:nvSpPr>
          <p:cNvPr id="13" name="Rectangle 12"/>
          <p:cNvSpPr/>
          <p:nvPr/>
        </p:nvSpPr>
        <p:spPr>
          <a:xfrm>
            <a:off x="6949440" y="155448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14" name="TextBox 13"/>
          <p:cNvSpPr txBox="1"/>
          <p:nvPr/>
        </p:nvSpPr>
        <p:spPr>
          <a:xfrm>
            <a:off x="7452360" y="1536192"/>
            <a:ext cx="4434840" cy="738664"/>
          </a:xfrm>
          <a:prstGeom prst="rect">
            <a:avLst/>
          </a:prstGeom>
          <a:noFill/>
        </p:spPr>
        <p:txBody>
          <a:bodyPr wrap="square">
            <a:spAutoFit/>
          </a:bodyPr>
          <a:lstStyle/>
          <a:p>
            <a:pPr algn="l"/>
            <a:r>
              <a:rPr sz="1400" b="0" i="0" dirty="0">
                <a:solidFill>
                  <a:srgbClr val="232323"/>
                </a:solidFill>
                <a:latin typeface="Arial"/>
              </a:rPr>
              <a:t>Good but not great swimming. Do what is needed to be in the front pack, but do not expect the swim alone to create a small race-winning group.</a:t>
            </a:r>
          </a:p>
        </p:txBody>
      </p:sp>
      <p:sp>
        <p:nvSpPr>
          <p:cNvPr id="15" name="Rectangle 14"/>
          <p:cNvSpPr/>
          <p:nvPr/>
        </p:nvSpPr>
        <p:spPr>
          <a:xfrm>
            <a:off x="6949440" y="324612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2</a:t>
            </a:r>
          </a:p>
        </p:txBody>
      </p:sp>
      <p:sp>
        <p:nvSpPr>
          <p:cNvPr id="16" name="TextBox 15"/>
          <p:cNvSpPr txBox="1"/>
          <p:nvPr/>
        </p:nvSpPr>
        <p:spPr>
          <a:xfrm>
            <a:off x="7452360" y="3227832"/>
            <a:ext cx="4434840" cy="523220"/>
          </a:xfrm>
          <a:prstGeom prst="rect">
            <a:avLst/>
          </a:prstGeom>
          <a:noFill/>
        </p:spPr>
        <p:txBody>
          <a:bodyPr wrap="square">
            <a:spAutoFit/>
          </a:bodyPr>
          <a:lstStyle/>
          <a:p>
            <a:pPr algn="l"/>
            <a:r>
              <a:rPr lang="en-US" sz="1400" b="0" i="0" dirty="0">
                <a:solidFill>
                  <a:srgbClr val="232323"/>
                </a:solidFill>
                <a:latin typeface="Arial"/>
              </a:rPr>
              <a:t>Expect rain and wet roads. Bike handling, cornering, and staying near the front of the group are critical.</a:t>
            </a:r>
            <a:endParaRPr sz="1400" b="0" i="0" dirty="0">
              <a:solidFill>
                <a:srgbClr val="232323"/>
              </a:solidFill>
              <a:latin typeface="Arial"/>
            </a:endParaRPr>
          </a:p>
        </p:txBody>
      </p:sp>
      <p:sp>
        <p:nvSpPr>
          <p:cNvPr id="17" name="Rectangle 16"/>
          <p:cNvSpPr/>
          <p:nvPr/>
        </p:nvSpPr>
        <p:spPr>
          <a:xfrm>
            <a:off x="6949440" y="493776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3</a:t>
            </a:r>
          </a:p>
        </p:txBody>
      </p:sp>
      <p:sp>
        <p:nvSpPr>
          <p:cNvPr id="18" name="TextBox 17"/>
          <p:cNvSpPr txBox="1"/>
          <p:nvPr/>
        </p:nvSpPr>
        <p:spPr>
          <a:xfrm>
            <a:off x="7452360" y="4919472"/>
            <a:ext cx="4434840" cy="523220"/>
          </a:xfrm>
          <a:prstGeom prst="rect">
            <a:avLst/>
          </a:prstGeom>
          <a:noFill/>
        </p:spPr>
        <p:txBody>
          <a:bodyPr wrap="square">
            <a:spAutoFit/>
          </a:bodyPr>
          <a:lstStyle/>
          <a:p>
            <a:pPr algn="l"/>
            <a:r>
              <a:rPr sz="1400" b="0" i="0" dirty="0">
                <a:solidFill>
                  <a:srgbClr val="232323"/>
                </a:solidFill>
                <a:latin typeface="Arial"/>
              </a:rPr>
              <a:t>Plan for a large group into T2. A ~29-minute 10K is likely needed to fight for the podium.</a:t>
            </a:r>
          </a:p>
        </p:txBody>
      </p:sp>
      <p:pic>
        <p:nvPicPr>
          <p:cNvPr id="19" name="Picture 18" descr="men_overview_crop.jpg"/>
          <p:cNvPicPr>
            <a:picLocks noChangeAspect="1"/>
          </p:cNvPicPr>
          <p:nvPr/>
        </p:nvPicPr>
        <p:blipFill>
          <a:blip r:embed="rId3"/>
          <a:stretch>
            <a:fillRect/>
          </a:stretch>
        </p:blipFill>
        <p:spPr>
          <a:xfrm>
            <a:off x="365760" y="3150000"/>
            <a:ext cx="6035040" cy="260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Results Summary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Yokohama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3066863631"/>
              </p:ext>
            </p:extLst>
          </p:nvPr>
        </p:nvGraphicFramePr>
        <p:xfrm>
          <a:off x="274320" y="1143000"/>
          <a:ext cx="11685242" cy="4096512"/>
        </p:xfrm>
        <a:graphic>
          <a:graphicData uri="http://schemas.openxmlformats.org/drawingml/2006/table">
            <a:tbl>
              <a:tblPr firstRow="1" bandRow="1">
                <a:tableStyleId>{5C22544A-7EE6-4342-B048-85BDC9FD1C3A}</a:tableStyleId>
              </a:tblPr>
              <a:tblGrid>
                <a:gridCol w="1040466">
                  <a:extLst>
                    <a:ext uri="{9D8B030D-6E8A-4147-A177-3AD203B41FA5}">
                      <a16:colId xmlns:a16="http://schemas.microsoft.com/office/drawing/2014/main" val="20000"/>
                    </a:ext>
                  </a:extLst>
                </a:gridCol>
                <a:gridCol w="1520682">
                  <a:extLst>
                    <a:ext uri="{9D8B030D-6E8A-4147-A177-3AD203B41FA5}">
                      <a16:colId xmlns:a16="http://schemas.microsoft.com/office/drawing/2014/main" val="20001"/>
                    </a:ext>
                  </a:extLst>
                </a:gridCol>
                <a:gridCol w="3201437">
                  <a:extLst>
                    <a:ext uri="{9D8B030D-6E8A-4147-A177-3AD203B41FA5}">
                      <a16:colId xmlns:a16="http://schemas.microsoft.com/office/drawing/2014/main" val="20002"/>
                    </a:ext>
                  </a:extLst>
                </a:gridCol>
                <a:gridCol w="960430">
                  <a:extLst>
                    <a:ext uri="{9D8B030D-6E8A-4147-A177-3AD203B41FA5}">
                      <a16:colId xmlns:a16="http://schemas.microsoft.com/office/drawing/2014/main" val="20003"/>
                    </a:ext>
                  </a:extLst>
                </a:gridCol>
                <a:gridCol w="3361508">
                  <a:extLst>
                    <a:ext uri="{9D8B030D-6E8A-4147-A177-3AD203B41FA5}">
                      <a16:colId xmlns:a16="http://schemas.microsoft.com/office/drawing/2014/main" val="20004"/>
                    </a:ext>
                  </a:extLst>
                </a:gridCol>
                <a:gridCol w="1600719">
                  <a:extLst>
                    <a:ext uri="{9D8B030D-6E8A-4147-A177-3AD203B41FA5}">
                      <a16:colId xmlns:a16="http://schemas.microsoft.com/office/drawing/2014/main" val="20005"/>
                    </a:ext>
                  </a:extLst>
                </a:gridCol>
              </a:tblGrid>
              <a:tr h="512064">
                <a:tc>
                  <a:txBody>
                    <a:bodyPr/>
                    <a:lstStyle/>
                    <a:p>
                      <a:pPr algn="ctr"/>
                      <a:r>
                        <a:rPr sz="1400" b="1" i="0">
                          <a:solidFill>
                            <a:srgbClr val="FFFFFF"/>
                          </a:solidFill>
                          <a:latin typeface="Arial"/>
                        </a:rPr>
                        <a:t>Year</a:t>
                      </a:r>
                    </a:p>
                  </a:txBody>
                  <a:tcPr>
                    <a:solidFill>
                      <a:srgbClr val="002060"/>
                    </a:solidFill>
                  </a:tcPr>
                </a:tc>
                <a:tc>
                  <a:txBody>
                    <a:bodyPr/>
                    <a:lstStyle/>
                    <a:p>
                      <a:pPr algn="ctr"/>
                      <a:r>
                        <a:rPr sz="1400" b="1" i="0">
                          <a:solidFill>
                            <a:srgbClr val="FFFFFF"/>
                          </a:solidFill>
                          <a:latin typeface="Arial"/>
                        </a:rPr>
                        <a:t>Date</a:t>
                      </a:r>
                    </a:p>
                  </a:txBody>
                  <a:tcPr>
                    <a:solidFill>
                      <a:srgbClr val="002060"/>
                    </a:solidFill>
                  </a:tcPr>
                </a:tc>
                <a:tc>
                  <a:txBody>
                    <a:bodyPr/>
                    <a:lstStyle/>
                    <a:p>
                      <a:pPr algn="ctr"/>
                      <a:r>
                        <a:rPr sz="1400" b="1" i="0">
                          <a:solidFill>
                            <a:srgbClr val="FFFFFF"/>
                          </a:solidFill>
                          <a:latin typeface="Arial"/>
                        </a:rPr>
                        <a:t>Category</a:t>
                      </a:r>
                    </a:p>
                  </a:txBody>
                  <a:tcPr>
                    <a:solidFill>
                      <a:srgbClr val="002060"/>
                    </a:solidFill>
                  </a:tcPr>
                </a:tc>
                <a:tc>
                  <a:txBody>
                    <a:bodyPr/>
                    <a:lstStyle/>
                    <a:p>
                      <a:pPr algn="ctr"/>
                      <a:r>
                        <a:rPr sz="1400" b="1" i="0">
                          <a:solidFill>
                            <a:srgbClr val="FFFFFF"/>
                          </a:solidFill>
                          <a:latin typeface="Arial"/>
                        </a:rPr>
                        <a:t>Field</a:t>
                      </a:r>
                    </a:p>
                  </a:txBody>
                  <a:tcPr>
                    <a:solidFill>
                      <a:srgbClr val="002060"/>
                    </a:solidFill>
                  </a:tcPr>
                </a:tc>
                <a:tc>
                  <a:txBody>
                    <a:bodyPr/>
                    <a:lstStyle/>
                    <a:p>
                      <a:pPr algn="ctr"/>
                      <a:r>
                        <a:rPr sz="1400" b="1" i="0">
                          <a:solidFill>
                            <a:srgbClr val="FFFFFF"/>
                          </a:solidFill>
                          <a:latin typeface="Arial"/>
                        </a:rPr>
                        <a:t>Winner</a:t>
                      </a:r>
                    </a:p>
                  </a:txBody>
                  <a:tcPr>
                    <a:solidFill>
                      <a:srgbClr val="002060"/>
                    </a:solidFill>
                  </a:tcPr>
                </a:tc>
                <a:tc>
                  <a:txBody>
                    <a:bodyPr/>
                    <a:lstStyle/>
                    <a:p>
                      <a:pPr algn="ctr"/>
                      <a:r>
                        <a:rPr sz="1400" b="1" i="0">
                          <a:solidFill>
                            <a:srgbClr val="FFFFFF"/>
                          </a:solidFill>
                          <a:latin typeface="Arial"/>
                        </a:rPr>
                        <a:t>Winner Time</a:t>
                      </a:r>
                    </a:p>
                  </a:txBody>
                  <a:tcPr>
                    <a:solidFill>
                      <a:srgbClr val="002060"/>
                    </a:solidFill>
                  </a:tcPr>
                </a:tc>
                <a:extLst>
                  <a:ext uri="{0D108BD9-81ED-4DB2-BD59-A6C34878D82A}">
                    <a16:rowId xmlns:a16="http://schemas.microsoft.com/office/drawing/2014/main" val="10000"/>
                  </a:ext>
                </a:extLst>
              </a:tr>
              <a:tr h="512064">
                <a:tc>
                  <a:txBody>
                    <a:bodyPr/>
                    <a:lstStyle/>
                    <a:p>
                      <a:pPr algn="ctr"/>
                      <a:r>
                        <a:rPr sz="1400" b="0" i="0">
                          <a:solidFill>
                            <a:srgbClr val="262626"/>
                          </a:solidFill>
                          <a:latin typeface="Arial"/>
                        </a:rPr>
                        <a:t>2018</a:t>
                      </a:r>
                    </a:p>
                  </a:txBody>
                  <a:tcPr>
                    <a:solidFill>
                      <a:srgbClr val="FFFFFF"/>
                    </a:solidFill>
                  </a:tcPr>
                </a:tc>
                <a:tc>
                  <a:txBody>
                    <a:bodyPr/>
                    <a:lstStyle/>
                    <a:p>
                      <a:pPr algn="ctr"/>
                      <a:r>
                        <a:rPr sz="1400" b="0" i="0">
                          <a:solidFill>
                            <a:srgbClr val="262626"/>
                          </a:solidFill>
                          <a:latin typeface="Arial"/>
                        </a:rPr>
                        <a:t>May 12</a:t>
                      </a:r>
                    </a:p>
                  </a:txBody>
                  <a:tcPr>
                    <a:solidFill>
                      <a:srgbClr val="FFFFFF"/>
                    </a:solidFill>
                  </a:tcPr>
                </a:tc>
                <a:tc>
                  <a:txBody>
                    <a:bodyPr/>
                    <a:lstStyle/>
                    <a:p>
                      <a:pPr algn="l"/>
                      <a:r>
                        <a:rPr sz="1200" b="0" i="0">
                          <a:solidFill>
                            <a:srgbClr val="262626"/>
                          </a:solidFill>
                          <a:latin typeface="Arial"/>
                        </a:rPr>
                        <a:t>World Championship Series</a:t>
                      </a:r>
                    </a:p>
                  </a:txBody>
                  <a:tcPr>
                    <a:solidFill>
                      <a:srgbClr val="FFFFFF"/>
                    </a:solidFill>
                  </a:tcPr>
                </a:tc>
                <a:tc>
                  <a:txBody>
                    <a:bodyPr/>
                    <a:lstStyle/>
                    <a:p>
                      <a:pPr algn="ctr"/>
                      <a:r>
                        <a:rPr sz="1400" b="0" i="0">
                          <a:solidFill>
                            <a:srgbClr val="262626"/>
                          </a:solidFill>
                          <a:latin typeface="Arial"/>
                        </a:rPr>
                        <a:t>48</a:t>
                      </a:r>
                    </a:p>
                  </a:txBody>
                  <a:tcPr>
                    <a:solidFill>
                      <a:srgbClr val="FFFFFF"/>
                    </a:solidFill>
                  </a:tcPr>
                </a:tc>
                <a:tc>
                  <a:txBody>
                    <a:bodyPr/>
                    <a:lstStyle/>
                    <a:p>
                      <a:pPr algn="l"/>
                      <a:r>
                        <a:rPr sz="1400" b="0" i="0">
                          <a:solidFill>
                            <a:srgbClr val="262626"/>
                          </a:solidFill>
                          <a:latin typeface="Arial"/>
                        </a:rPr>
                        <a:t>Mola</a:t>
                      </a:r>
                    </a:p>
                  </a:txBody>
                  <a:tcPr>
                    <a:solidFill>
                      <a:srgbClr val="FFFFFF"/>
                    </a:solidFill>
                  </a:tcPr>
                </a:tc>
                <a:tc>
                  <a:txBody>
                    <a:bodyPr/>
                    <a:lstStyle/>
                    <a:p>
                      <a:pPr algn="ctr"/>
                      <a:r>
                        <a:rPr sz="1400" b="0" i="0">
                          <a:solidFill>
                            <a:srgbClr val="262626"/>
                          </a:solidFill>
                          <a:latin typeface="Arial"/>
                        </a:rPr>
                        <a:t>1:44:59</a:t>
                      </a:r>
                    </a:p>
                  </a:txBody>
                  <a:tcPr>
                    <a:solidFill>
                      <a:srgbClr val="FFFFFF"/>
                    </a:solidFill>
                  </a:tcPr>
                </a:tc>
                <a:extLst>
                  <a:ext uri="{0D108BD9-81ED-4DB2-BD59-A6C34878D82A}">
                    <a16:rowId xmlns:a16="http://schemas.microsoft.com/office/drawing/2014/main" val="10001"/>
                  </a:ext>
                </a:extLst>
              </a:tr>
              <a:tr h="512064">
                <a:tc>
                  <a:txBody>
                    <a:bodyPr/>
                    <a:lstStyle/>
                    <a:p>
                      <a:pPr algn="ctr"/>
                      <a:r>
                        <a:rPr sz="1400" b="0" i="0">
                          <a:solidFill>
                            <a:srgbClr val="262626"/>
                          </a:solidFill>
                          <a:latin typeface="Arial"/>
                        </a:rPr>
                        <a:t>2019</a:t>
                      </a:r>
                    </a:p>
                  </a:txBody>
                  <a:tcPr>
                    <a:solidFill>
                      <a:srgbClr val="F2F2F2"/>
                    </a:solidFill>
                  </a:tcPr>
                </a:tc>
                <a:tc>
                  <a:txBody>
                    <a:bodyPr/>
                    <a:lstStyle/>
                    <a:p>
                      <a:pPr algn="ctr"/>
                      <a:r>
                        <a:rPr sz="1400" b="0" i="0">
                          <a:solidFill>
                            <a:srgbClr val="262626"/>
                          </a:solidFill>
                          <a:latin typeface="Arial"/>
                        </a:rPr>
                        <a:t>May 18</a:t>
                      </a:r>
                    </a:p>
                  </a:txBody>
                  <a:tcPr>
                    <a:solidFill>
                      <a:srgbClr val="F2F2F2"/>
                    </a:solidFill>
                  </a:tcPr>
                </a:tc>
                <a:tc>
                  <a:txBody>
                    <a:bodyPr/>
                    <a:lstStyle/>
                    <a:p>
                      <a:pPr algn="l"/>
                      <a:r>
                        <a:rPr sz="1200" b="0" i="0">
                          <a:solidFill>
                            <a:srgbClr val="262626"/>
                          </a:solidFill>
                          <a:latin typeface="Arial"/>
                        </a:rPr>
                        <a:t>World Championship Series</a:t>
                      </a:r>
                    </a:p>
                  </a:txBody>
                  <a:tcPr>
                    <a:solidFill>
                      <a:srgbClr val="F2F2F2"/>
                    </a:solidFill>
                  </a:tcPr>
                </a:tc>
                <a:tc>
                  <a:txBody>
                    <a:bodyPr/>
                    <a:lstStyle/>
                    <a:p>
                      <a:pPr algn="ctr"/>
                      <a:r>
                        <a:rPr sz="1400" b="0" i="0">
                          <a:solidFill>
                            <a:srgbClr val="262626"/>
                          </a:solidFill>
                          <a:latin typeface="Arial"/>
                        </a:rPr>
                        <a:t>45</a:t>
                      </a:r>
                    </a:p>
                  </a:txBody>
                  <a:tcPr>
                    <a:solidFill>
                      <a:srgbClr val="F2F2F2"/>
                    </a:solidFill>
                  </a:tcPr>
                </a:tc>
                <a:tc>
                  <a:txBody>
                    <a:bodyPr/>
                    <a:lstStyle/>
                    <a:p>
                      <a:pPr algn="l"/>
                      <a:r>
                        <a:rPr sz="1400" b="0" i="0">
                          <a:solidFill>
                            <a:srgbClr val="262626"/>
                          </a:solidFill>
                          <a:latin typeface="Arial"/>
                        </a:rPr>
                        <a:t>Luis</a:t>
                      </a:r>
                    </a:p>
                  </a:txBody>
                  <a:tcPr>
                    <a:solidFill>
                      <a:srgbClr val="F2F2F2"/>
                    </a:solidFill>
                  </a:tcPr>
                </a:tc>
                <a:tc>
                  <a:txBody>
                    <a:bodyPr/>
                    <a:lstStyle/>
                    <a:p>
                      <a:pPr algn="ctr"/>
                      <a:r>
                        <a:rPr sz="1400" b="0" i="0">
                          <a:solidFill>
                            <a:srgbClr val="262626"/>
                          </a:solidFill>
                          <a:latin typeface="Arial"/>
                        </a:rPr>
                        <a:t>1:43:21</a:t>
                      </a:r>
                    </a:p>
                  </a:txBody>
                  <a:tcPr>
                    <a:solidFill>
                      <a:srgbClr val="F2F2F2"/>
                    </a:solidFill>
                  </a:tcPr>
                </a:tc>
                <a:extLst>
                  <a:ext uri="{0D108BD9-81ED-4DB2-BD59-A6C34878D82A}">
                    <a16:rowId xmlns:a16="http://schemas.microsoft.com/office/drawing/2014/main" val="10002"/>
                  </a:ext>
                </a:extLst>
              </a:tr>
              <a:tr h="512064">
                <a:tc>
                  <a:txBody>
                    <a:bodyPr/>
                    <a:lstStyle/>
                    <a:p>
                      <a:pPr algn="ctr"/>
                      <a:r>
                        <a:rPr sz="1400" b="0" i="0">
                          <a:solidFill>
                            <a:srgbClr val="262626"/>
                          </a:solidFill>
                          <a:latin typeface="Arial"/>
                        </a:rPr>
                        <a:t>2021</a:t>
                      </a:r>
                    </a:p>
                  </a:txBody>
                  <a:tcPr>
                    <a:solidFill>
                      <a:srgbClr val="FFFFFF"/>
                    </a:solidFill>
                  </a:tcPr>
                </a:tc>
                <a:tc>
                  <a:txBody>
                    <a:bodyPr/>
                    <a:lstStyle/>
                    <a:p>
                      <a:pPr algn="ctr"/>
                      <a:r>
                        <a:rPr sz="1400" b="0" i="0">
                          <a:solidFill>
                            <a:srgbClr val="262626"/>
                          </a:solidFill>
                          <a:latin typeface="Arial"/>
                        </a:rPr>
                        <a:t>May 15</a:t>
                      </a:r>
                    </a:p>
                  </a:txBody>
                  <a:tcPr>
                    <a:solidFill>
                      <a:srgbClr val="FFFFFF"/>
                    </a:solidFill>
                  </a:tcPr>
                </a:tc>
                <a:tc>
                  <a:txBody>
                    <a:bodyPr/>
                    <a:lstStyle/>
                    <a:p>
                      <a:pPr algn="l"/>
                      <a:r>
                        <a:rPr sz="1200" b="0" i="0">
                          <a:solidFill>
                            <a:srgbClr val="262626"/>
                          </a:solidFill>
                          <a:latin typeface="Arial"/>
                        </a:rPr>
                        <a:t>World Championship Series</a:t>
                      </a:r>
                    </a:p>
                  </a:txBody>
                  <a:tcPr>
                    <a:solidFill>
                      <a:srgbClr val="FFFFFF"/>
                    </a:solidFill>
                  </a:tcPr>
                </a:tc>
                <a:tc>
                  <a:txBody>
                    <a:bodyPr/>
                    <a:lstStyle/>
                    <a:p>
                      <a:pPr algn="ctr"/>
                      <a:r>
                        <a:rPr sz="1400" b="0" i="0">
                          <a:solidFill>
                            <a:srgbClr val="262626"/>
                          </a:solidFill>
                          <a:latin typeface="Arial"/>
                        </a:rPr>
                        <a:t>48</a:t>
                      </a:r>
                    </a:p>
                  </a:txBody>
                  <a:tcPr>
                    <a:solidFill>
                      <a:srgbClr val="FFFFFF"/>
                    </a:solidFill>
                  </a:tcPr>
                </a:tc>
                <a:tc>
                  <a:txBody>
                    <a:bodyPr/>
                    <a:lstStyle/>
                    <a:p>
                      <a:pPr algn="l"/>
                      <a:r>
                        <a:rPr sz="1400" b="0" i="0">
                          <a:solidFill>
                            <a:srgbClr val="262626"/>
                          </a:solidFill>
                          <a:latin typeface="Arial"/>
                        </a:rPr>
                        <a:t>Blummenfelt</a:t>
                      </a:r>
                    </a:p>
                  </a:txBody>
                  <a:tcPr>
                    <a:solidFill>
                      <a:srgbClr val="FFFFFF"/>
                    </a:solidFill>
                  </a:tcPr>
                </a:tc>
                <a:tc>
                  <a:txBody>
                    <a:bodyPr/>
                    <a:lstStyle/>
                    <a:p>
                      <a:pPr algn="ctr"/>
                      <a:r>
                        <a:rPr sz="1400" b="0" i="0">
                          <a:solidFill>
                            <a:srgbClr val="262626"/>
                          </a:solidFill>
                          <a:latin typeface="Arial"/>
                        </a:rPr>
                        <a:t>1:42:55</a:t>
                      </a:r>
                    </a:p>
                  </a:txBody>
                  <a:tcPr>
                    <a:solidFill>
                      <a:srgbClr val="FFFFFF"/>
                    </a:solidFill>
                  </a:tcPr>
                </a:tc>
                <a:extLst>
                  <a:ext uri="{0D108BD9-81ED-4DB2-BD59-A6C34878D82A}">
                    <a16:rowId xmlns:a16="http://schemas.microsoft.com/office/drawing/2014/main" val="10003"/>
                  </a:ext>
                </a:extLst>
              </a:tr>
              <a:tr h="512064">
                <a:tc>
                  <a:txBody>
                    <a:bodyPr/>
                    <a:lstStyle/>
                    <a:p>
                      <a:pPr algn="ctr"/>
                      <a:r>
                        <a:rPr sz="1400" b="0" i="0">
                          <a:solidFill>
                            <a:srgbClr val="262626"/>
                          </a:solidFill>
                          <a:latin typeface="Arial"/>
                        </a:rPr>
                        <a:t>2022</a:t>
                      </a:r>
                    </a:p>
                  </a:txBody>
                  <a:tcPr>
                    <a:solidFill>
                      <a:srgbClr val="F2F2F2"/>
                    </a:solidFill>
                  </a:tcPr>
                </a:tc>
                <a:tc>
                  <a:txBody>
                    <a:bodyPr/>
                    <a:lstStyle/>
                    <a:p>
                      <a:pPr algn="ctr"/>
                      <a:r>
                        <a:rPr sz="1400" b="0" i="0">
                          <a:solidFill>
                            <a:srgbClr val="262626"/>
                          </a:solidFill>
                          <a:latin typeface="Arial"/>
                        </a:rPr>
                        <a:t>May 14</a:t>
                      </a:r>
                    </a:p>
                  </a:txBody>
                  <a:tcPr>
                    <a:solidFill>
                      <a:srgbClr val="F2F2F2"/>
                    </a:solidFill>
                  </a:tcPr>
                </a:tc>
                <a:tc>
                  <a:txBody>
                    <a:bodyPr/>
                    <a:lstStyle/>
                    <a:p>
                      <a:pPr algn="l"/>
                      <a:r>
                        <a:rPr sz="1200" b="0" i="0">
                          <a:solidFill>
                            <a:srgbClr val="262626"/>
                          </a:solidFill>
                          <a:latin typeface="Arial"/>
                        </a:rPr>
                        <a:t>World Championship Series *</a:t>
                      </a:r>
                    </a:p>
                  </a:txBody>
                  <a:tcPr>
                    <a:solidFill>
                      <a:srgbClr val="F2F2F2"/>
                    </a:solidFill>
                  </a:tcPr>
                </a:tc>
                <a:tc>
                  <a:txBody>
                    <a:bodyPr/>
                    <a:lstStyle/>
                    <a:p>
                      <a:pPr algn="ctr"/>
                      <a:r>
                        <a:rPr sz="1400" b="0" i="0">
                          <a:solidFill>
                            <a:srgbClr val="262626"/>
                          </a:solidFill>
                          <a:latin typeface="Arial"/>
                        </a:rPr>
                        <a:t>45</a:t>
                      </a:r>
                    </a:p>
                  </a:txBody>
                  <a:tcPr>
                    <a:solidFill>
                      <a:srgbClr val="F2F2F2"/>
                    </a:solidFill>
                  </a:tcPr>
                </a:tc>
                <a:tc>
                  <a:txBody>
                    <a:bodyPr/>
                    <a:lstStyle/>
                    <a:p>
                      <a:pPr algn="l"/>
                      <a:r>
                        <a:rPr sz="1400" b="0" i="0">
                          <a:solidFill>
                            <a:srgbClr val="262626"/>
                          </a:solidFill>
                          <a:latin typeface="Arial"/>
                        </a:rPr>
                        <a:t>Yee</a:t>
                      </a:r>
                    </a:p>
                  </a:txBody>
                  <a:tcPr>
                    <a:solidFill>
                      <a:srgbClr val="F2F2F2"/>
                    </a:solidFill>
                  </a:tcPr>
                </a:tc>
                <a:tc>
                  <a:txBody>
                    <a:bodyPr/>
                    <a:lstStyle/>
                    <a:p>
                      <a:pPr algn="ctr"/>
                      <a:r>
                        <a:rPr sz="1400" b="0" i="0">
                          <a:solidFill>
                            <a:srgbClr val="262626"/>
                          </a:solidFill>
                          <a:latin typeface="Arial"/>
                        </a:rPr>
                        <a:t>1:43:30</a:t>
                      </a:r>
                    </a:p>
                  </a:txBody>
                  <a:tcPr>
                    <a:solidFill>
                      <a:srgbClr val="F2F2F2"/>
                    </a:solidFill>
                  </a:tcPr>
                </a:tc>
                <a:extLst>
                  <a:ext uri="{0D108BD9-81ED-4DB2-BD59-A6C34878D82A}">
                    <a16:rowId xmlns:a16="http://schemas.microsoft.com/office/drawing/2014/main" val="10004"/>
                  </a:ext>
                </a:extLst>
              </a:tr>
              <a:tr h="512064">
                <a:tc>
                  <a:txBody>
                    <a:bodyPr/>
                    <a:lstStyle/>
                    <a:p>
                      <a:pPr algn="ctr"/>
                      <a:r>
                        <a:rPr sz="1400" b="0" i="0">
                          <a:solidFill>
                            <a:srgbClr val="262626"/>
                          </a:solidFill>
                          <a:latin typeface="Arial"/>
                        </a:rPr>
                        <a:t>2023</a:t>
                      </a:r>
                    </a:p>
                  </a:txBody>
                  <a:tcPr>
                    <a:solidFill>
                      <a:srgbClr val="FFFFFF"/>
                    </a:solidFill>
                  </a:tcPr>
                </a:tc>
                <a:tc>
                  <a:txBody>
                    <a:bodyPr/>
                    <a:lstStyle/>
                    <a:p>
                      <a:pPr algn="ctr"/>
                      <a:r>
                        <a:rPr sz="1400" b="0" i="0">
                          <a:solidFill>
                            <a:srgbClr val="262626"/>
                          </a:solidFill>
                          <a:latin typeface="Arial"/>
                        </a:rPr>
                        <a:t>May 13</a:t>
                      </a:r>
                    </a:p>
                  </a:txBody>
                  <a:tcPr>
                    <a:solidFill>
                      <a:srgbClr val="FFFFFF"/>
                    </a:solidFill>
                  </a:tcPr>
                </a:tc>
                <a:tc>
                  <a:txBody>
                    <a:bodyPr/>
                    <a:lstStyle/>
                    <a:p>
                      <a:pPr algn="l"/>
                      <a:r>
                        <a:rPr sz="1200" b="0" i="0">
                          <a:solidFill>
                            <a:srgbClr val="262626"/>
                          </a:solidFill>
                          <a:latin typeface="Arial"/>
                        </a:rPr>
                        <a:t>World Championship Series *</a:t>
                      </a:r>
                    </a:p>
                  </a:txBody>
                  <a:tcPr>
                    <a:solidFill>
                      <a:srgbClr val="FFFFFF"/>
                    </a:solidFill>
                  </a:tcPr>
                </a:tc>
                <a:tc>
                  <a:txBody>
                    <a:bodyPr/>
                    <a:lstStyle/>
                    <a:p>
                      <a:pPr algn="ctr"/>
                      <a:r>
                        <a:rPr sz="1400" b="0" i="0">
                          <a:solidFill>
                            <a:srgbClr val="262626"/>
                          </a:solidFill>
                          <a:latin typeface="Arial"/>
                        </a:rPr>
                        <a:t>49</a:t>
                      </a:r>
                    </a:p>
                  </a:txBody>
                  <a:tcPr>
                    <a:solidFill>
                      <a:srgbClr val="FFFFFF"/>
                    </a:solidFill>
                  </a:tcPr>
                </a:tc>
                <a:tc>
                  <a:txBody>
                    <a:bodyPr/>
                    <a:lstStyle/>
                    <a:p>
                      <a:pPr algn="l"/>
                      <a:r>
                        <a:rPr sz="1400" b="0" i="0">
                          <a:solidFill>
                            <a:srgbClr val="262626"/>
                          </a:solidFill>
                          <a:latin typeface="Arial"/>
                        </a:rPr>
                        <a:t>Wilde</a:t>
                      </a:r>
                    </a:p>
                  </a:txBody>
                  <a:tcPr>
                    <a:solidFill>
                      <a:srgbClr val="FFFFFF"/>
                    </a:solidFill>
                  </a:tcPr>
                </a:tc>
                <a:tc>
                  <a:txBody>
                    <a:bodyPr/>
                    <a:lstStyle/>
                    <a:p>
                      <a:pPr algn="ctr"/>
                      <a:r>
                        <a:rPr sz="1400" b="0" i="0">
                          <a:solidFill>
                            <a:srgbClr val="262626"/>
                          </a:solidFill>
                          <a:latin typeface="Arial"/>
                        </a:rPr>
                        <a:t>1:42:13</a:t>
                      </a:r>
                    </a:p>
                  </a:txBody>
                  <a:tcPr>
                    <a:solidFill>
                      <a:srgbClr val="FFFFFF"/>
                    </a:solidFill>
                  </a:tcPr>
                </a:tc>
                <a:extLst>
                  <a:ext uri="{0D108BD9-81ED-4DB2-BD59-A6C34878D82A}">
                    <a16:rowId xmlns:a16="http://schemas.microsoft.com/office/drawing/2014/main" val="10005"/>
                  </a:ext>
                </a:extLst>
              </a:tr>
              <a:tr h="512064">
                <a:tc>
                  <a:txBody>
                    <a:bodyPr/>
                    <a:lstStyle/>
                    <a:p>
                      <a:pPr algn="ctr"/>
                      <a:r>
                        <a:rPr sz="1400" b="0" i="0">
                          <a:solidFill>
                            <a:srgbClr val="262626"/>
                          </a:solidFill>
                          <a:latin typeface="Arial"/>
                        </a:rPr>
                        <a:t>2024</a:t>
                      </a:r>
                    </a:p>
                  </a:txBody>
                  <a:tcPr>
                    <a:solidFill>
                      <a:srgbClr val="F2F2F2"/>
                    </a:solidFill>
                  </a:tcPr>
                </a:tc>
                <a:tc>
                  <a:txBody>
                    <a:bodyPr/>
                    <a:lstStyle/>
                    <a:p>
                      <a:pPr algn="ctr"/>
                      <a:r>
                        <a:rPr sz="1400" b="0" i="0">
                          <a:solidFill>
                            <a:srgbClr val="262626"/>
                          </a:solidFill>
                          <a:latin typeface="Arial"/>
                        </a:rPr>
                        <a:t>May 11</a:t>
                      </a:r>
                    </a:p>
                  </a:txBody>
                  <a:tcPr>
                    <a:solidFill>
                      <a:srgbClr val="F2F2F2"/>
                    </a:solidFill>
                  </a:tcPr>
                </a:tc>
                <a:tc>
                  <a:txBody>
                    <a:bodyPr/>
                    <a:lstStyle/>
                    <a:p>
                      <a:pPr algn="l"/>
                      <a:r>
                        <a:rPr sz="1200" b="0" i="0">
                          <a:solidFill>
                            <a:srgbClr val="262626"/>
                          </a:solidFill>
                          <a:latin typeface="Arial"/>
                        </a:rPr>
                        <a:t>World Championship Series</a:t>
                      </a:r>
                    </a:p>
                  </a:txBody>
                  <a:tcPr>
                    <a:solidFill>
                      <a:srgbClr val="F2F2F2"/>
                    </a:solidFill>
                  </a:tcPr>
                </a:tc>
                <a:tc>
                  <a:txBody>
                    <a:bodyPr/>
                    <a:lstStyle/>
                    <a:p>
                      <a:pPr algn="ctr"/>
                      <a:r>
                        <a:rPr sz="1400" b="0" i="0">
                          <a:solidFill>
                            <a:srgbClr val="262626"/>
                          </a:solidFill>
                          <a:latin typeface="Arial"/>
                        </a:rPr>
                        <a:t>47</a:t>
                      </a:r>
                    </a:p>
                  </a:txBody>
                  <a:tcPr>
                    <a:solidFill>
                      <a:srgbClr val="F2F2F2"/>
                    </a:solidFill>
                  </a:tcPr>
                </a:tc>
                <a:tc>
                  <a:txBody>
                    <a:bodyPr/>
                    <a:lstStyle/>
                    <a:p>
                      <a:pPr algn="l"/>
                      <a:r>
                        <a:rPr sz="1400" b="0" i="0">
                          <a:solidFill>
                            <a:srgbClr val="262626"/>
                          </a:solidFill>
                          <a:latin typeface="Arial"/>
                        </a:rPr>
                        <a:t>Pearson</a:t>
                      </a:r>
                    </a:p>
                  </a:txBody>
                  <a:tcPr>
                    <a:solidFill>
                      <a:srgbClr val="F2F2F2"/>
                    </a:solidFill>
                  </a:tcPr>
                </a:tc>
                <a:tc>
                  <a:txBody>
                    <a:bodyPr/>
                    <a:lstStyle/>
                    <a:p>
                      <a:pPr algn="ctr"/>
                      <a:r>
                        <a:rPr sz="1400" b="0" i="0">
                          <a:solidFill>
                            <a:srgbClr val="262626"/>
                          </a:solidFill>
                          <a:latin typeface="Arial"/>
                        </a:rPr>
                        <a:t>1:42:05</a:t>
                      </a:r>
                    </a:p>
                  </a:txBody>
                  <a:tcPr>
                    <a:solidFill>
                      <a:srgbClr val="F2F2F2"/>
                    </a:solidFill>
                  </a:tcPr>
                </a:tc>
                <a:extLst>
                  <a:ext uri="{0D108BD9-81ED-4DB2-BD59-A6C34878D82A}">
                    <a16:rowId xmlns:a16="http://schemas.microsoft.com/office/drawing/2014/main" val="10006"/>
                  </a:ext>
                </a:extLst>
              </a:tr>
              <a:tr h="512064">
                <a:tc>
                  <a:txBody>
                    <a:bodyPr/>
                    <a:lstStyle/>
                    <a:p>
                      <a:pPr algn="ctr"/>
                      <a:r>
                        <a:rPr sz="1400" b="0" i="0">
                          <a:solidFill>
                            <a:srgbClr val="262626"/>
                          </a:solidFill>
                          <a:latin typeface="Arial"/>
                        </a:rPr>
                        <a:t>2025</a:t>
                      </a:r>
                    </a:p>
                  </a:txBody>
                  <a:tcPr>
                    <a:solidFill>
                      <a:srgbClr val="FFFFFF"/>
                    </a:solidFill>
                  </a:tcPr>
                </a:tc>
                <a:tc>
                  <a:txBody>
                    <a:bodyPr/>
                    <a:lstStyle/>
                    <a:p>
                      <a:pPr algn="ctr"/>
                      <a:r>
                        <a:rPr sz="1400" b="0" i="0">
                          <a:solidFill>
                            <a:srgbClr val="262626"/>
                          </a:solidFill>
                          <a:latin typeface="Arial"/>
                        </a:rPr>
                        <a:t>May 17</a:t>
                      </a:r>
                    </a:p>
                  </a:txBody>
                  <a:tcPr>
                    <a:solidFill>
                      <a:srgbClr val="FFFFFF"/>
                    </a:solidFill>
                  </a:tcPr>
                </a:tc>
                <a:tc>
                  <a:txBody>
                    <a:bodyPr/>
                    <a:lstStyle/>
                    <a:p>
                      <a:pPr algn="l"/>
                      <a:r>
                        <a:rPr sz="1200" b="0" i="0">
                          <a:solidFill>
                            <a:srgbClr val="262626"/>
                          </a:solidFill>
                          <a:latin typeface="Arial"/>
                        </a:rPr>
                        <a:t>World Championship Series *</a:t>
                      </a:r>
                    </a:p>
                  </a:txBody>
                  <a:tcPr>
                    <a:solidFill>
                      <a:srgbClr val="FFFFFF"/>
                    </a:solidFill>
                  </a:tcPr>
                </a:tc>
                <a:tc>
                  <a:txBody>
                    <a:bodyPr/>
                    <a:lstStyle/>
                    <a:p>
                      <a:pPr algn="ctr"/>
                      <a:r>
                        <a:rPr sz="1400" b="0" i="0">
                          <a:solidFill>
                            <a:srgbClr val="262626"/>
                          </a:solidFill>
                          <a:latin typeface="Arial"/>
                        </a:rPr>
                        <a:t>42</a:t>
                      </a:r>
                    </a:p>
                  </a:txBody>
                  <a:tcPr>
                    <a:solidFill>
                      <a:srgbClr val="FFFFFF"/>
                    </a:solidFill>
                  </a:tcPr>
                </a:tc>
                <a:tc>
                  <a:txBody>
                    <a:bodyPr/>
                    <a:lstStyle/>
                    <a:p>
                      <a:pPr algn="l"/>
                      <a:r>
                        <a:rPr sz="1400" b="0" i="0">
                          <a:solidFill>
                            <a:srgbClr val="262626"/>
                          </a:solidFill>
                          <a:latin typeface="Arial"/>
                        </a:rPr>
                        <a:t>Hauser</a:t>
                      </a:r>
                    </a:p>
                  </a:txBody>
                  <a:tcPr>
                    <a:solidFill>
                      <a:srgbClr val="FFFFFF"/>
                    </a:solidFill>
                  </a:tcPr>
                </a:tc>
                <a:tc>
                  <a:txBody>
                    <a:bodyPr/>
                    <a:lstStyle/>
                    <a:p>
                      <a:pPr algn="ctr"/>
                      <a:r>
                        <a:rPr sz="1400" b="0" i="0" dirty="0">
                          <a:solidFill>
                            <a:srgbClr val="262626"/>
                          </a:solidFill>
                          <a:latin typeface="Arial"/>
                        </a:rPr>
                        <a:t>1:41:08</a:t>
                      </a:r>
                    </a:p>
                  </a:txBody>
                  <a:tcPr>
                    <a:solidFill>
                      <a:srgbClr val="FFFFFF"/>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274320" y="6492240"/>
            <a:ext cx="5486400" cy="256032"/>
          </a:xfrm>
          <a:prstGeom prst="rect">
            <a:avLst/>
          </a:prstGeom>
          <a:noFill/>
        </p:spPr>
        <p:txBody>
          <a:bodyPr wrap="square">
            <a:spAutoFit/>
          </a:bodyPr>
          <a:lstStyle/>
          <a:p>
            <a:pPr algn="l"/>
            <a:r>
              <a:rPr sz="800" b="0" i="1">
                <a:solidFill>
                  <a:srgbClr val="BFBFBF"/>
                </a:solidFill>
                <a:latin typeface="Arial"/>
              </a:rPr>
              <a:t>* Course distance changed vs. prior year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Exit Dynamics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Yokohama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143000"/>
            <a:ext cx="11640312" cy="53949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Pack Evolution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Yokohama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78992"/>
            <a:ext cx="11640312" cy="347472"/>
          </a:xfrm>
          <a:prstGeom prst="rect">
            <a:avLst/>
          </a:prstGeom>
          <a:noFill/>
        </p:spPr>
        <p:txBody>
          <a:bodyPr wrap="square">
            <a:spAutoFit/>
          </a:bodyPr>
          <a:lstStyle/>
          <a:p>
            <a:pPr algn="ctr"/>
            <a:r>
              <a:rPr sz="1050" b="0" i="1">
                <a:solidFill>
                  <a:srgbClr val="262626"/>
                </a:solidFill>
                <a:latin typeface="Arial"/>
              </a:rPr>
              <a:t>Lead pack = athletes within 15 sec of leader. T1 = lead group entering the bike; T2 = lead group exiting the bike.</a:t>
            </a:r>
          </a:p>
        </p:txBody>
      </p:sp>
      <p:pic>
        <p:nvPicPr>
          <p:cNvPr id="9" name="Picture 8" descr="image.png"/>
          <p:cNvPicPr>
            <a:picLocks noChangeAspect="1"/>
          </p:cNvPicPr>
          <p:nvPr/>
        </p:nvPicPr>
        <p:blipFill>
          <a:blip r:embed="rId3"/>
          <a:stretch>
            <a:fillRect/>
          </a:stretch>
        </p:blipFill>
        <p:spPr>
          <a:xfrm>
            <a:off x="803425" y="1303089"/>
            <a:ext cx="10582102" cy="3408217"/>
          </a:xfrm>
          <a:prstGeom prst="rect">
            <a:avLst/>
          </a:prstGeom>
        </p:spPr>
      </p:pic>
      <p:graphicFrame>
        <p:nvGraphicFramePr>
          <p:cNvPr id="10" name="Table 9"/>
          <p:cNvGraphicFramePr>
            <a:graphicFrameLocks noGrp="1"/>
          </p:cNvGraphicFramePr>
          <p:nvPr>
            <p:extLst>
              <p:ext uri="{D42A27DB-BD31-4B8C-83A1-F6EECF244321}">
                <p14:modId xmlns:p14="http://schemas.microsoft.com/office/powerpoint/2010/main" val="3553161"/>
              </p:ext>
            </p:extLst>
          </p:nvPr>
        </p:nvGraphicFramePr>
        <p:xfrm>
          <a:off x="274320" y="4733855"/>
          <a:ext cx="11640311" cy="1773384"/>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3822191">
                  <a:extLst>
                    <a:ext uri="{9D8B030D-6E8A-4147-A177-3AD203B41FA5}">
                      <a16:colId xmlns:a16="http://schemas.microsoft.com/office/drawing/2014/main" val="20005"/>
                    </a:ext>
                  </a:extLst>
                </a:gridCol>
              </a:tblGrid>
              <a:tr h="221673">
                <a:tc>
                  <a:txBody>
                    <a:bodyPr/>
                    <a:lstStyle/>
                    <a:p>
                      <a:pPr algn="ctr"/>
                      <a:r>
                        <a:rPr sz="900" b="1" i="0">
                          <a:solidFill>
                            <a:srgbClr val="FFFFFF"/>
                          </a:solidFill>
                          <a:latin typeface="Arial"/>
                        </a:rPr>
                        <a:t>Year</a:t>
                      </a:r>
                    </a:p>
                  </a:txBody>
                  <a:tcPr marT="41564" marB="41564">
                    <a:solidFill>
                      <a:srgbClr val="002060"/>
                    </a:solidFill>
                  </a:tcPr>
                </a:tc>
                <a:tc>
                  <a:txBody>
                    <a:bodyPr/>
                    <a:lstStyle/>
                    <a:p>
                      <a:pPr algn="ctr"/>
                      <a:r>
                        <a:rPr sz="900" b="1" i="0">
                          <a:solidFill>
                            <a:srgbClr val="FFFFFF"/>
                          </a:solidFill>
                          <a:latin typeface="Arial"/>
                        </a:rPr>
                        <a:t>Lead Size @ T1</a:t>
                      </a:r>
                    </a:p>
                  </a:txBody>
                  <a:tcPr marT="41564" marB="41564">
                    <a:solidFill>
                      <a:srgbClr val="002060"/>
                    </a:solidFill>
                  </a:tcPr>
                </a:tc>
                <a:tc>
                  <a:txBody>
                    <a:bodyPr/>
                    <a:lstStyle/>
                    <a:p>
                      <a:pPr algn="ctr"/>
                      <a:r>
                        <a:rPr sz="900" b="1" i="0">
                          <a:solidFill>
                            <a:srgbClr val="FFFFFF"/>
                          </a:solidFill>
                          <a:latin typeface="Arial"/>
                        </a:rPr>
                        <a:t>Lead Size @ T2</a:t>
                      </a:r>
                    </a:p>
                  </a:txBody>
                  <a:tcPr marT="41564" marB="41564">
                    <a:solidFill>
                      <a:srgbClr val="002060"/>
                    </a:solidFill>
                  </a:tcPr>
                </a:tc>
                <a:tc>
                  <a:txBody>
                    <a:bodyPr/>
                    <a:lstStyle/>
                    <a:p>
                      <a:pPr algn="ctr"/>
                      <a:r>
                        <a:rPr sz="900" b="1" i="0">
                          <a:solidFill>
                            <a:srgbClr val="FFFFFF"/>
                          </a:solidFill>
                          <a:latin typeface="Arial"/>
                        </a:rPr>
                        <a:t>Change</a:t>
                      </a:r>
                    </a:p>
                  </a:txBody>
                  <a:tcPr marT="41564" marB="41564">
                    <a:solidFill>
                      <a:srgbClr val="002060"/>
                    </a:solidFill>
                  </a:tcPr>
                </a:tc>
                <a:tc>
                  <a:txBody>
                    <a:bodyPr/>
                    <a:lstStyle/>
                    <a:p>
                      <a:pPr algn="ctr"/>
                      <a:r>
                        <a:rPr sz="900" b="1" i="0" dirty="0">
                          <a:solidFill>
                            <a:srgbClr val="FFFFFF"/>
                          </a:solidFill>
                          <a:latin typeface="Arial"/>
                        </a:rPr>
                        <a:t>Chase Group @ T2</a:t>
                      </a:r>
                    </a:p>
                  </a:txBody>
                  <a:tcPr marT="41564" marB="41564">
                    <a:solidFill>
                      <a:srgbClr val="002060"/>
                    </a:solidFill>
                  </a:tcPr>
                </a:tc>
                <a:tc>
                  <a:txBody>
                    <a:bodyPr/>
                    <a:lstStyle/>
                    <a:p>
                      <a:pPr algn="ctr"/>
                      <a:r>
                        <a:rPr sz="900" b="1" i="0">
                          <a:solidFill>
                            <a:srgbClr val="FFFFFF"/>
                          </a:solidFill>
                          <a:latin typeface="Arial"/>
                        </a:rPr>
                        <a:t>Chase Gap*</a:t>
                      </a:r>
                    </a:p>
                  </a:txBody>
                  <a:tcPr marT="41564" marB="41564">
                    <a:solidFill>
                      <a:srgbClr val="002060"/>
                    </a:solidFill>
                  </a:tcPr>
                </a:tc>
                <a:extLst>
                  <a:ext uri="{0D108BD9-81ED-4DB2-BD59-A6C34878D82A}">
                    <a16:rowId xmlns:a16="http://schemas.microsoft.com/office/drawing/2014/main" val="10000"/>
                  </a:ext>
                </a:extLst>
              </a:tr>
              <a:tr h="221673">
                <a:tc>
                  <a:txBody>
                    <a:bodyPr/>
                    <a:lstStyle/>
                    <a:p>
                      <a:pPr algn="ctr"/>
                      <a:r>
                        <a:rPr sz="900" b="0" i="0">
                          <a:solidFill>
                            <a:srgbClr val="262626"/>
                          </a:solidFill>
                          <a:latin typeface="Arial"/>
                        </a:rPr>
                        <a:t>2018</a:t>
                      </a:r>
                    </a:p>
                  </a:txBody>
                  <a:tcPr marT="41564" marB="41564">
                    <a:solidFill>
                      <a:srgbClr val="FFFFFF"/>
                    </a:solidFill>
                  </a:tcPr>
                </a:tc>
                <a:tc>
                  <a:txBody>
                    <a:bodyPr/>
                    <a:lstStyle/>
                    <a:p>
                      <a:pPr algn="ctr"/>
                      <a:r>
                        <a:rPr sz="900" b="0" i="0">
                          <a:solidFill>
                            <a:srgbClr val="262626"/>
                          </a:solidFill>
                          <a:latin typeface="Arial"/>
                        </a:rPr>
                        <a:t>27</a:t>
                      </a:r>
                    </a:p>
                  </a:txBody>
                  <a:tcPr marT="41564" marB="41564">
                    <a:solidFill>
                      <a:srgbClr val="FFFFFF"/>
                    </a:solidFill>
                  </a:tcPr>
                </a:tc>
                <a:tc>
                  <a:txBody>
                    <a:bodyPr/>
                    <a:lstStyle/>
                    <a:p>
                      <a:pPr algn="ctr"/>
                      <a:r>
                        <a:rPr sz="900" b="0" i="0">
                          <a:solidFill>
                            <a:srgbClr val="262626"/>
                          </a:solidFill>
                          <a:latin typeface="Arial"/>
                        </a:rPr>
                        <a:t>42</a:t>
                      </a:r>
                    </a:p>
                  </a:txBody>
                  <a:tcPr marT="41564" marB="41564">
                    <a:solidFill>
                      <a:srgbClr val="FFFFFF"/>
                    </a:solidFill>
                  </a:tcPr>
                </a:tc>
                <a:tc>
                  <a:txBody>
                    <a:bodyPr/>
                    <a:lstStyle/>
                    <a:p>
                      <a:pPr algn="ctr"/>
                      <a:r>
                        <a:rPr sz="900" b="0" i="0">
                          <a:solidFill>
                            <a:srgbClr val="262626"/>
                          </a:solidFill>
                          <a:latin typeface="Arial"/>
                        </a:rPr>
                        <a:t>+15</a:t>
                      </a:r>
                    </a:p>
                  </a:txBody>
                  <a:tcPr marT="41564" marB="41564">
                    <a:solidFill>
                      <a:srgbClr val="FFFFFF"/>
                    </a:solidFill>
                  </a:tcPr>
                </a:tc>
                <a:tc>
                  <a:txBody>
                    <a:bodyPr/>
                    <a:lstStyle/>
                    <a:p>
                      <a:pPr algn="ctr"/>
                      <a:r>
                        <a:rPr sz="900" b="0" i="0">
                          <a:solidFill>
                            <a:srgbClr val="262626"/>
                          </a:solidFill>
                          <a:latin typeface="Arial"/>
                        </a:rPr>
                        <a:t>8</a:t>
                      </a:r>
                    </a:p>
                  </a:txBody>
                  <a:tcPr marT="41564" marB="41564">
                    <a:solidFill>
                      <a:srgbClr val="FFFFFF"/>
                    </a:solidFill>
                  </a:tcPr>
                </a:tc>
                <a:tc>
                  <a:txBody>
                    <a:bodyPr/>
                    <a:lstStyle/>
                    <a:p>
                      <a:pPr algn="ctr"/>
                      <a:r>
                        <a:rPr sz="900" b="0" i="0">
                          <a:solidFill>
                            <a:srgbClr val="262626"/>
                          </a:solidFill>
                          <a:latin typeface="Arial"/>
                        </a:rPr>
                        <a:t>44s</a:t>
                      </a:r>
                    </a:p>
                  </a:txBody>
                  <a:tcPr marT="41564" marB="41564">
                    <a:solidFill>
                      <a:srgbClr val="FFFFFF"/>
                    </a:solidFill>
                  </a:tcPr>
                </a:tc>
                <a:extLst>
                  <a:ext uri="{0D108BD9-81ED-4DB2-BD59-A6C34878D82A}">
                    <a16:rowId xmlns:a16="http://schemas.microsoft.com/office/drawing/2014/main" val="10001"/>
                  </a:ext>
                </a:extLst>
              </a:tr>
              <a:tr h="221673">
                <a:tc>
                  <a:txBody>
                    <a:bodyPr/>
                    <a:lstStyle/>
                    <a:p>
                      <a:pPr algn="ctr"/>
                      <a:r>
                        <a:rPr sz="900" b="0" i="0">
                          <a:solidFill>
                            <a:srgbClr val="262626"/>
                          </a:solidFill>
                          <a:latin typeface="Arial"/>
                        </a:rPr>
                        <a:t>2019</a:t>
                      </a:r>
                    </a:p>
                  </a:txBody>
                  <a:tcPr marT="41564" marB="41564">
                    <a:solidFill>
                      <a:srgbClr val="F2F2F2"/>
                    </a:solidFill>
                  </a:tcPr>
                </a:tc>
                <a:tc>
                  <a:txBody>
                    <a:bodyPr/>
                    <a:lstStyle/>
                    <a:p>
                      <a:pPr algn="ctr"/>
                      <a:r>
                        <a:rPr sz="900" b="0" i="0">
                          <a:solidFill>
                            <a:srgbClr val="262626"/>
                          </a:solidFill>
                          <a:latin typeface="Arial"/>
                        </a:rPr>
                        <a:t>20</a:t>
                      </a:r>
                    </a:p>
                  </a:txBody>
                  <a:tcPr marT="41564" marB="41564">
                    <a:solidFill>
                      <a:srgbClr val="F2F2F2"/>
                    </a:solidFill>
                  </a:tcPr>
                </a:tc>
                <a:tc>
                  <a:txBody>
                    <a:bodyPr/>
                    <a:lstStyle/>
                    <a:p>
                      <a:pPr algn="ctr"/>
                      <a:r>
                        <a:rPr sz="900" b="0" i="0">
                          <a:solidFill>
                            <a:srgbClr val="262626"/>
                          </a:solidFill>
                          <a:latin typeface="Arial"/>
                        </a:rPr>
                        <a:t>14</a:t>
                      </a:r>
                    </a:p>
                  </a:txBody>
                  <a:tcPr marT="41564" marB="41564">
                    <a:solidFill>
                      <a:srgbClr val="F2F2F2"/>
                    </a:solidFill>
                  </a:tcPr>
                </a:tc>
                <a:tc>
                  <a:txBody>
                    <a:bodyPr/>
                    <a:lstStyle/>
                    <a:p>
                      <a:pPr algn="ctr"/>
                      <a:r>
                        <a:rPr sz="900" b="0" i="0">
                          <a:solidFill>
                            <a:srgbClr val="262626"/>
                          </a:solidFill>
                          <a:latin typeface="Arial"/>
                        </a:rPr>
                        <a:t>-6</a:t>
                      </a:r>
                    </a:p>
                  </a:txBody>
                  <a:tcPr marT="41564" marB="41564">
                    <a:solidFill>
                      <a:srgbClr val="F2F2F2"/>
                    </a:solidFill>
                  </a:tcPr>
                </a:tc>
                <a:tc>
                  <a:txBody>
                    <a:bodyPr/>
                    <a:lstStyle/>
                    <a:p>
                      <a:pPr algn="ctr"/>
                      <a:r>
                        <a:rPr sz="900" b="0" i="0">
                          <a:solidFill>
                            <a:srgbClr val="262626"/>
                          </a:solidFill>
                          <a:latin typeface="Arial"/>
                        </a:rPr>
                        <a:t>25</a:t>
                      </a:r>
                    </a:p>
                  </a:txBody>
                  <a:tcPr marT="41564" marB="41564">
                    <a:solidFill>
                      <a:srgbClr val="F2F2F2"/>
                    </a:solidFill>
                  </a:tcPr>
                </a:tc>
                <a:tc>
                  <a:txBody>
                    <a:bodyPr/>
                    <a:lstStyle/>
                    <a:p>
                      <a:pPr algn="ctr"/>
                      <a:r>
                        <a:rPr sz="900" b="0" i="0">
                          <a:solidFill>
                            <a:srgbClr val="262626"/>
                          </a:solidFill>
                          <a:latin typeface="Arial"/>
                        </a:rPr>
                        <a:t>40s</a:t>
                      </a:r>
                    </a:p>
                  </a:txBody>
                  <a:tcPr marT="41564" marB="41564">
                    <a:solidFill>
                      <a:srgbClr val="F2F2F2"/>
                    </a:solidFill>
                  </a:tcPr>
                </a:tc>
                <a:extLst>
                  <a:ext uri="{0D108BD9-81ED-4DB2-BD59-A6C34878D82A}">
                    <a16:rowId xmlns:a16="http://schemas.microsoft.com/office/drawing/2014/main" val="10002"/>
                  </a:ext>
                </a:extLst>
              </a:tr>
              <a:tr h="221673">
                <a:tc>
                  <a:txBody>
                    <a:bodyPr/>
                    <a:lstStyle/>
                    <a:p>
                      <a:pPr algn="ctr"/>
                      <a:r>
                        <a:rPr sz="900" b="0" i="0">
                          <a:solidFill>
                            <a:srgbClr val="262626"/>
                          </a:solidFill>
                          <a:latin typeface="Arial"/>
                        </a:rPr>
                        <a:t>2021</a:t>
                      </a:r>
                    </a:p>
                  </a:txBody>
                  <a:tcPr marT="41564" marB="41564">
                    <a:solidFill>
                      <a:srgbClr val="FFFFFF"/>
                    </a:solidFill>
                  </a:tcPr>
                </a:tc>
                <a:tc>
                  <a:txBody>
                    <a:bodyPr/>
                    <a:lstStyle/>
                    <a:p>
                      <a:pPr algn="ctr"/>
                      <a:r>
                        <a:rPr sz="900" b="0" i="0">
                          <a:solidFill>
                            <a:srgbClr val="262626"/>
                          </a:solidFill>
                          <a:latin typeface="Arial"/>
                        </a:rPr>
                        <a:t>30</a:t>
                      </a:r>
                    </a:p>
                  </a:txBody>
                  <a:tcPr marT="41564" marB="41564">
                    <a:solidFill>
                      <a:srgbClr val="FFFFFF"/>
                    </a:solidFill>
                  </a:tcPr>
                </a:tc>
                <a:tc>
                  <a:txBody>
                    <a:bodyPr/>
                    <a:lstStyle/>
                    <a:p>
                      <a:pPr algn="ctr"/>
                      <a:r>
                        <a:rPr sz="900" b="0" i="0">
                          <a:solidFill>
                            <a:srgbClr val="262626"/>
                          </a:solidFill>
                          <a:latin typeface="Arial"/>
                        </a:rPr>
                        <a:t>49</a:t>
                      </a:r>
                    </a:p>
                  </a:txBody>
                  <a:tcPr marT="41564" marB="41564">
                    <a:solidFill>
                      <a:srgbClr val="FFFFFF"/>
                    </a:solidFill>
                  </a:tcPr>
                </a:tc>
                <a:tc>
                  <a:txBody>
                    <a:bodyPr/>
                    <a:lstStyle/>
                    <a:p>
                      <a:pPr algn="ctr"/>
                      <a:r>
                        <a:rPr sz="900" b="0" i="0">
                          <a:solidFill>
                            <a:srgbClr val="262626"/>
                          </a:solidFill>
                          <a:latin typeface="Arial"/>
                        </a:rPr>
                        <a:t>+19</a:t>
                      </a:r>
                    </a:p>
                  </a:txBody>
                  <a:tcPr marT="41564" marB="41564">
                    <a:solidFill>
                      <a:srgbClr val="FFFFFF"/>
                    </a:solidFill>
                  </a:tcPr>
                </a:tc>
                <a:tc>
                  <a:txBody>
                    <a:bodyPr/>
                    <a:lstStyle/>
                    <a:p>
                      <a:pPr algn="ctr"/>
                      <a:r>
                        <a:rPr sz="900" b="0" i="0">
                          <a:solidFill>
                            <a:srgbClr val="262626"/>
                          </a:solidFill>
                          <a:latin typeface="Arial"/>
                        </a:rPr>
                        <a:t>1</a:t>
                      </a:r>
                    </a:p>
                  </a:txBody>
                  <a:tcPr marT="41564" marB="41564">
                    <a:solidFill>
                      <a:srgbClr val="FFFFFF"/>
                    </a:solidFill>
                  </a:tcPr>
                </a:tc>
                <a:tc>
                  <a:txBody>
                    <a:bodyPr/>
                    <a:lstStyle/>
                    <a:p>
                      <a:pPr algn="ctr"/>
                      <a:r>
                        <a:rPr sz="900" b="0" i="0">
                          <a:solidFill>
                            <a:srgbClr val="262626"/>
                          </a:solidFill>
                          <a:latin typeface="Arial"/>
                        </a:rPr>
                        <a:t>205s</a:t>
                      </a:r>
                    </a:p>
                  </a:txBody>
                  <a:tcPr marT="41564" marB="41564">
                    <a:solidFill>
                      <a:srgbClr val="FFFFFF"/>
                    </a:solidFill>
                  </a:tcPr>
                </a:tc>
                <a:extLst>
                  <a:ext uri="{0D108BD9-81ED-4DB2-BD59-A6C34878D82A}">
                    <a16:rowId xmlns:a16="http://schemas.microsoft.com/office/drawing/2014/main" val="10003"/>
                  </a:ext>
                </a:extLst>
              </a:tr>
              <a:tr h="221673">
                <a:tc>
                  <a:txBody>
                    <a:bodyPr/>
                    <a:lstStyle/>
                    <a:p>
                      <a:pPr algn="ctr"/>
                      <a:r>
                        <a:rPr sz="900" b="0" i="0">
                          <a:solidFill>
                            <a:srgbClr val="262626"/>
                          </a:solidFill>
                          <a:latin typeface="Arial"/>
                        </a:rPr>
                        <a:t>2022</a:t>
                      </a:r>
                    </a:p>
                  </a:txBody>
                  <a:tcPr marT="41564" marB="41564">
                    <a:solidFill>
                      <a:srgbClr val="F2F2F2"/>
                    </a:solidFill>
                  </a:tcPr>
                </a:tc>
                <a:tc>
                  <a:txBody>
                    <a:bodyPr/>
                    <a:lstStyle/>
                    <a:p>
                      <a:pPr algn="ctr"/>
                      <a:r>
                        <a:rPr sz="900" b="0" i="0">
                          <a:solidFill>
                            <a:srgbClr val="262626"/>
                          </a:solidFill>
                          <a:latin typeface="Arial"/>
                        </a:rPr>
                        <a:t>33</a:t>
                      </a:r>
                    </a:p>
                  </a:txBody>
                  <a:tcPr marT="41564" marB="41564">
                    <a:solidFill>
                      <a:srgbClr val="F2F2F2"/>
                    </a:solidFill>
                  </a:tcPr>
                </a:tc>
                <a:tc>
                  <a:txBody>
                    <a:bodyPr/>
                    <a:lstStyle/>
                    <a:p>
                      <a:pPr algn="ctr"/>
                      <a:r>
                        <a:rPr sz="900" b="0" i="0">
                          <a:solidFill>
                            <a:srgbClr val="262626"/>
                          </a:solidFill>
                          <a:latin typeface="Arial"/>
                        </a:rPr>
                        <a:t>39</a:t>
                      </a:r>
                    </a:p>
                  </a:txBody>
                  <a:tcPr marT="41564" marB="41564">
                    <a:solidFill>
                      <a:srgbClr val="F2F2F2"/>
                    </a:solidFill>
                  </a:tcPr>
                </a:tc>
                <a:tc>
                  <a:txBody>
                    <a:bodyPr/>
                    <a:lstStyle/>
                    <a:p>
                      <a:pPr algn="ctr"/>
                      <a:r>
                        <a:rPr sz="900" b="0" i="0">
                          <a:solidFill>
                            <a:srgbClr val="262626"/>
                          </a:solidFill>
                          <a:latin typeface="Arial"/>
                        </a:rPr>
                        <a:t>+6</a:t>
                      </a:r>
                    </a:p>
                  </a:txBody>
                  <a:tcPr marT="41564" marB="41564">
                    <a:solidFill>
                      <a:srgbClr val="F2F2F2"/>
                    </a:solidFill>
                  </a:tcPr>
                </a:tc>
                <a:tc>
                  <a:txBody>
                    <a:bodyPr/>
                    <a:lstStyle/>
                    <a:p>
                      <a:pPr algn="ctr"/>
                      <a:r>
                        <a:rPr sz="900" b="0" i="0">
                          <a:solidFill>
                            <a:srgbClr val="262626"/>
                          </a:solidFill>
                          <a:latin typeface="Arial"/>
                        </a:rPr>
                        <a:t>9</a:t>
                      </a:r>
                    </a:p>
                  </a:txBody>
                  <a:tcPr marT="41564" marB="41564">
                    <a:solidFill>
                      <a:srgbClr val="F2F2F2"/>
                    </a:solidFill>
                  </a:tcPr>
                </a:tc>
                <a:tc>
                  <a:txBody>
                    <a:bodyPr/>
                    <a:lstStyle/>
                    <a:p>
                      <a:pPr algn="ctr"/>
                      <a:r>
                        <a:rPr sz="900" b="0" i="0">
                          <a:solidFill>
                            <a:srgbClr val="262626"/>
                          </a:solidFill>
                          <a:latin typeface="Arial"/>
                        </a:rPr>
                        <a:t>38s</a:t>
                      </a:r>
                    </a:p>
                  </a:txBody>
                  <a:tcPr marT="41564" marB="41564">
                    <a:solidFill>
                      <a:srgbClr val="F2F2F2"/>
                    </a:solidFill>
                  </a:tcPr>
                </a:tc>
                <a:extLst>
                  <a:ext uri="{0D108BD9-81ED-4DB2-BD59-A6C34878D82A}">
                    <a16:rowId xmlns:a16="http://schemas.microsoft.com/office/drawing/2014/main" val="10004"/>
                  </a:ext>
                </a:extLst>
              </a:tr>
              <a:tr h="221673">
                <a:tc>
                  <a:txBody>
                    <a:bodyPr/>
                    <a:lstStyle/>
                    <a:p>
                      <a:pPr algn="ctr"/>
                      <a:r>
                        <a:rPr sz="900" b="0" i="0">
                          <a:solidFill>
                            <a:srgbClr val="262626"/>
                          </a:solidFill>
                          <a:latin typeface="Arial"/>
                        </a:rPr>
                        <a:t>2023</a:t>
                      </a:r>
                    </a:p>
                  </a:txBody>
                  <a:tcPr marT="41564" marB="41564">
                    <a:solidFill>
                      <a:srgbClr val="FFFFFF"/>
                    </a:solidFill>
                  </a:tcPr>
                </a:tc>
                <a:tc>
                  <a:txBody>
                    <a:bodyPr/>
                    <a:lstStyle/>
                    <a:p>
                      <a:pPr algn="ctr"/>
                      <a:r>
                        <a:rPr sz="900" b="0" i="0">
                          <a:solidFill>
                            <a:srgbClr val="262626"/>
                          </a:solidFill>
                          <a:latin typeface="Arial"/>
                        </a:rPr>
                        <a:t>21</a:t>
                      </a:r>
                    </a:p>
                  </a:txBody>
                  <a:tcPr marT="41564" marB="41564">
                    <a:solidFill>
                      <a:srgbClr val="FFFFFF"/>
                    </a:solidFill>
                  </a:tcPr>
                </a:tc>
                <a:tc>
                  <a:txBody>
                    <a:bodyPr/>
                    <a:lstStyle/>
                    <a:p>
                      <a:pPr algn="ctr"/>
                      <a:r>
                        <a:rPr sz="900" b="0" i="0">
                          <a:solidFill>
                            <a:srgbClr val="262626"/>
                          </a:solidFill>
                          <a:latin typeface="Arial"/>
                        </a:rPr>
                        <a:t>45</a:t>
                      </a:r>
                    </a:p>
                  </a:txBody>
                  <a:tcPr marT="41564" marB="41564">
                    <a:solidFill>
                      <a:srgbClr val="FFFFFF"/>
                    </a:solidFill>
                  </a:tcPr>
                </a:tc>
                <a:tc>
                  <a:txBody>
                    <a:bodyPr/>
                    <a:lstStyle/>
                    <a:p>
                      <a:pPr algn="ctr"/>
                      <a:r>
                        <a:rPr sz="900" b="0" i="0">
                          <a:solidFill>
                            <a:srgbClr val="262626"/>
                          </a:solidFill>
                          <a:latin typeface="Arial"/>
                        </a:rPr>
                        <a:t>+24</a:t>
                      </a:r>
                    </a:p>
                  </a:txBody>
                  <a:tcPr marT="41564" marB="41564">
                    <a:solidFill>
                      <a:srgbClr val="FFFFFF"/>
                    </a:solidFill>
                  </a:tcPr>
                </a:tc>
                <a:tc>
                  <a:txBody>
                    <a:bodyPr/>
                    <a:lstStyle/>
                    <a:p>
                      <a:pPr algn="ctr"/>
                      <a:r>
                        <a:rPr sz="900" b="0" i="0">
                          <a:solidFill>
                            <a:srgbClr val="262626"/>
                          </a:solidFill>
                          <a:latin typeface="Arial"/>
                        </a:rPr>
                        <a:t>1</a:t>
                      </a:r>
                    </a:p>
                  </a:txBody>
                  <a:tcPr marT="41564" marB="41564">
                    <a:solidFill>
                      <a:srgbClr val="FFFFFF"/>
                    </a:solidFill>
                  </a:tcPr>
                </a:tc>
                <a:tc>
                  <a:txBody>
                    <a:bodyPr/>
                    <a:lstStyle/>
                    <a:p>
                      <a:pPr algn="ctr"/>
                      <a:r>
                        <a:rPr sz="900" b="0" i="0">
                          <a:solidFill>
                            <a:srgbClr val="262626"/>
                          </a:solidFill>
                          <a:latin typeface="Arial"/>
                        </a:rPr>
                        <a:t>35s</a:t>
                      </a:r>
                    </a:p>
                  </a:txBody>
                  <a:tcPr marT="41564" marB="41564">
                    <a:solidFill>
                      <a:srgbClr val="FFFFFF"/>
                    </a:solidFill>
                  </a:tcPr>
                </a:tc>
                <a:extLst>
                  <a:ext uri="{0D108BD9-81ED-4DB2-BD59-A6C34878D82A}">
                    <a16:rowId xmlns:a16="http://schemas.microsoft.com/office/drawing/2014/main" val="10005"/>
                  </a:ext>
                </a:extLst>
              </a:tr>
              <a:tr h="221673">
                <a:tc>
                  <a:txBody>
                    <a:bodyPr/>
                    <a:lstStyle/>
                    <a:p>
                      <a:pPr algn="ctr"/>
                      <a:r>
                        <a:rPr sz="900" b="0" i="0">
                          <a:solidFill>
                            <a:srgbClr val="262626"/>
                          </a:solidFill>
                          <a:latin typeface="Arial"/>
                        </a:rPr>
                        <a:t>2024</a:t>
                      </a:r>
                    </a:p>
                  </a:txBody>
                  <a:tcPr marT="41564" marB="41564">
                    <a:solidFill>
                      <a:srgbClr val="F2F2F2"/>
                    </a:solidFill>
                  </a:tcPr>
                </a:tc>
                <a:tc>
                  <a:txBody>
                    <a:bodyPr/>
                    <a:lstStyle/>
                    <a:p>
                      <a:pPr algn="ctr"/>
                      <a:r>
                        <a:rPr sz="900" b="0" i="0">
                          <a:solidFill>
                            <a:srgbClr val="262626"/>
                          </a:solidFill>
                          <a:latin typeface="Arial"/>
                        </a:rPr>
                        <a:t>37</a:t>
                      </a:r>
                    </a:p>
                  </a:txBody>
                  <a:tcPr marT="41564" marB="41564">
                    <a:solidFill>
                      <a:srgbClr val="F2F2F2"/>
                    </a:solidFill>
                  </a:tcPr>
                </a:tc>
                <a:tc>
                  <a:txBody>
                    <a:bodyPr/>
                    <a:lstStyle/>
                    <a:p>
                      <a:pPr algn="ctr"/>
                      <a:r>
                        <a:rPr sz="900" b="0" i="0">
                          <a:solidFill>
                            <a:srgbClr val="262626"/>
                          </a:solidFill>
                          <a:latin typeface="Arial"/>
                        </a:rPr>
                        <a:t>42</a:t>
                      </a:r>
                    </a:p>
                  </a:txBody>
                  <a:tcPr marT="41564" marB="41564">
                    <a:solidFill>
                      <a:srgbClr val="F2F2F2"/>
                    </a:solidFill>
                  </a:tcPr>
                </a:tc>
                <a:tc>
                  <a:txBody>
                    <a:bodyPr/>
                    <a:lstStyle/>
                    <a:p>
                      <a:pPr algn="ctr"/>
                      <a:r>
                        <a:rPr sz="900" b="0" i="0">
                          <a:solidFill>
                            <a:srgbClr val="262626"/>
                          </a:solidFill>
                          <a:latin typeface="Arial"/>
                        </a:rPr>
                        <a:t>+5</a:t>
                      </a:r>
                    </a:p>
                  </a:txBody>
                  <a:tcPr marT="41564" marB="41564">
                    <a:solidFill>
                      <a:srgbClr val="F2F2F2"/>
                    </a:solidFill>
                  </a:tcPr>
                </a:tc>
                <a:tc>
                  <a:txBody>
                    <a:bodyPr/>
                    <a:lstStyle/>
                    <a:p>
                      <a:pPr algn="ctr"/>
                      <a:r>
                        <a:rPr sz="900" b="0" i="0">
                          <a:solidFill>
                            <a:srgbClr val="262626"/>
                          </a:solidFill>
                          <a:latin typeface="Arial"/>
                        </a:rPr>
                        <a:t>6</a:t>
                      </a:r>
                    </a:p>
                  </a:txBody>
                  <a:tcPr marT="41564" marB="41564">
                    <a:solidFill>
                      <a:srgbClr val="F2F2F2"/>
                    </a:solidFill>
                  </a:tcPr>
                </a:tc>
                <a:tc>
                  <a:txBody>
                    <a:bodyPr/>
                    <a:lstStyle/>
                    <a:p>
                      <a:pPr algn="ctr"/>
                      <a:r>
                        <a:rPr sz="900" b="0" i="0">
                          <a:solidFill>
                            <a:srgbClr val="262626"/>
                          </a:solidFill>
                          <a:latin typeface="Arial"/>
                        </a:rPr>
                        <a:t>8s</a:t>
                      </a:r>
                    </a:p>
                  </a:txBody>
                  <a:tcPr marT="41564" marB="41564">
                    <a:solidFill>
                      <a:srgbClr val="F2F2F2"/>
                    </a:solidFill>
                  </a:tcPr>
                </a:tc>
                <a:extLst>
                  <a:ext uri="{0D108BD9-81ED-4DB2-BD59-A6C34878D82A}">
                    <a16:rowId xmlns:a16="http://schemas.microsoft.com/office/drawing/2014/main" val="10006"/>
                  </a:ext>
                </a:extLst>
              </a:tr>
              <a:tr h="221673">
                <a:tc>
                  <a:txBody>
                    <a:bodyPr/>
                    <a:lstStyle/>
                    <a:p>
                      <a:pPr algn="ctr"/>
                      <a:r>
                        <a:rPr sz="900" b="0" i="0">
                          <a:solidFill>
                            <a:srgbClr val="262626"/>
                          </a:solidFill>
                          <a:latin typeface="Arial"/>
                        </a:rPr>
                        <a:t>2025</a:t>
                      </a:r>
                    </a:p>
                  </a:txBody>
                  <a:tcPr marT="41564" marB="41564">
                    <a:solidFill>
                      <a:srgbClr val="FFFFFF"/>
                    </a:solidFill>
                  </a:tcPr>
                </a:tc>
                <a:tc>
                  <a:txBody>
                    <a:bodyPr/>
                    <a:lstStyle/>
                    <a:p>
                      <a:pPr algn="ctr"/>
                      <a:r>
                        <a:rPr sz="900" b="0" i="0">
                          <a:solidFill>
                            <a:srgbClr val="262626"/>
                          </a:solidFill>
                          <a:latin typeface="Arial"/>
                        </a:rPr>
                        <a:t>19</a:t>
                      </a:r>
                    </a:p>
                  </a:txBody>
                  <a:tcPr marT="41564" marB="41564">
                    <a:solidFill>
                      <a:srgbClr val="FFFFFF"/>
                    </a:solidFill>
                  </a:tcPr>
                </a:tc>
                <a:tc>
                  <a:txBody>
                    <a:bodyPr/>
                    <a:lstStyle/>
                    <a:p>
                      <a:pPr algn="ctr"/>
                      <a:r>
                        <a:rPr sz="900" b="0" i="0">
                          <a:solidFill>
                            <a:srgbClr val="262626"/>
                          </a:solidFill>
                          <a:latin typeface="Arial"/>
                        </a:rPr>
                        <a:t>8</a:t>
                      </a:r>
                    </a:p>
                  </a:txBody>
                  <a:tcPr marT="41564" marB="41564">
                    <a:solidFill>
                      <a:srgbClr val="FFFFFF"/>
                    </a:solidFill>
                  </a:tcPr>
                </a:tc>
                <a:tc>
                  <a:txBody>
                    <a:bodyPr/>
                    <a:lstStyle/>
                    <a:p>
                      <a:pPr algn="ctr"/>
                      <a:r>
                        <a:rPr sz="900" b="0" i="0">
                          <a:solidFill>
                            <a:srgbClr val="262626"/>
                          </a:solidFill>
                          <a:latin typeface="Arial"/>
                        </a:rPr>
                        <a:t>-11</a:t>
                      </a:r>
                    </a:p>
                  </a:txBody>
                  <a:tcPr marT="41564" marB="41564">
                    <a:solidFill>
                      <a:srgbClr val="FFFFFF"/>
                    </a:solidFill>
                  </a:tcPr>
                </a:tc>
                <a:tc>
                  <a:txBody>
                    <a:bodyPr/>
                    <a:lstStyle/>
                    <a:p>
                      <a:pPr algn="ctr"/>
                      <a:r>
                        <a:rPr sz="900" b="0" i="0">
                          <a:solidFill>
                            <a:srgbClr val="262626"/>
                          </a:solidFill>
                          <a:latin typeface="Arial"/>
                        </a:rPr>
                        <a:t>22</a:t>
                      </a:r>
                    </a:p>
                  </a:txBody>
                  <a:tcPr marT="41564" marB="41564">
                    <a:solidFill>
                      <a:srgbClr val="FFFFFF"/>
                    </a:solidFill>
                  </a:tcPr>
                </a:tc>
                <a:tc>
                  <a:txBody>
                    <a:bodyPr/>
                    <a:lstStyle/>
                    <a:p>
                      <a:pPr algn="ctr"/>
                      <a:r>
                        <a:rPr sz="900" b="0" i="0" dirty="0">
                          <a:solidFill>
                            <a:srgbClr val="262626"/>
                          </a:solidFill>
                          <a:latin typeface="Arial"/>
                        </a:rPr>
                        <a:t>17s</a:t>
                      </a:r>
                    </a:p>
                  </a:txBody>
                  <a:tcPr marT="41564" marB="41564">
                    <a:solidFill>
                      <a:srgbClr val="FFFFFF"/>
                    </a:solidFill>
                  </a:tcPr>
                </a:tc>
                <a:extLst>
                  <a:ext uri="{0D108BD9-81ED-4DB2-BD59-A6C34878D82A}">
                    <a16:rowId xmlns:a16="http://schemas.microsoft.com/office/drawing/2014/main" val="10007"/>
                  </a:ext>
                </a:extLst>
              </a:tr>
            </a:tbl>
          </a:graphicData>
        </a:graphic>
      </p:graphicFrame>
      <p:sp>
        <p:nvSpPr>
          <p:cNvPr id="11" name="TextBox 10"/>
          <p:cNvSpPr txBox="1"/>
          <p:nvPr/>
        </p:nvSpPr>
        <p:spPr>
          <a:xfrm>
            <a:off x="274320" y="6525924"/>
            <a:ext cx="11640312" cy="201168"/>
          </a:xfrm>
          <a:prstGeom prst="rect">
            <a:avLst/>
          </a:prstGeom>
          <a:noFill/>
        </p:spPr>
        <p:txBody>
          <a:bodyPr wrap="square">
            <a:spAutoFit/>
          </a:bodyPr>
          <a:lstStyle/>
          <a:p>
            <a:pPr algn="l"/>
            <a:r>
              <a:rPr sz="800" b="0" i="1">
                <a:solidFill>
                  <a:srgbClr val="BFBFBF"/>
                </a:solidFill>
                <a:latin typeface="Arial"/>
              </a:rPr>
              <a:t>Lead pack = athletes within 15 sec of leader. Chase group = athletes within 15 sec of the first athlete outside the lead pack. * Chase Gap = seconds from the last lead-pack athlete to the first chase-group athlete at T2.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Split Analysis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Yokohama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457200" y="1115568"/>
            <a:ext cx="11247120" cy="54406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Position Times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Yokohama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078992"/>
            <a:ext cx="11640312" cy="3017520"/>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3198866586"/>
              </p:ext>
            </p:extLst>
          </p:nvPr>
        </p:nvGraphicFramePr>
        <p:xfrm>
          <a:off x="274320" y="4056949"/>
          <a:ext cx="11640312" cy="2569331"/>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1833372">
                  <a:extLst>
                    <a:ext uri="{9D8B030D-6E8A-4147-A177-3AD203B41FA5}">
                      <a16:colId xmlns:a16="http://schemas.microsoft.com/office/drawing/2014/main" val="20001"/>
                    </a:ext>
                  </a:extLst>
                </a:gridCol>
                <a:gridCol w="1833372">
                  <a:extLst>
                    <a:ext uri="{9D8B030D-6E8A-4147-A177-3AD203B41FA5}">
                      <a16:colId xmlns:a16="http://schemas.microsoft.com/office/drawing/2014/main" val="20002"/>
                    </a:ext>
                  </a:extLst>
                </a:gridCol>
                <a:gridCol w="1833372">
                  <a:extLst>
                    <a:ext uri="{9D8B030D-6E8A-4147-A177-3AD203B41FA5}">
                      <a16:colId xmlns:a16="http://schemas.microsoft.com/office/drawing/2014/main" val="20003"/>
                    </a:ext>
                  </a:extLst>
                </a:gridCol>
                <a:gridCol w="1833372">
                  <a:extLst>
                    <a:ext uri="{9D8B030D-6E8A-4147-A177-3AD203B41FA5}">
                      <a16:colId xmlns:a16="http://schemas.microsoft.com/office/drawing/2014/main" val="20004"/>
                    </a:ext>
                  </a:extLst>
                </a:gridCol>
                <a:gridCol w="1833372">
                  <a:extLst>
                    <a:ext uri="{9D8B030D-6E8A-4147-A177-3AD203B41FA5}">
                      <a16:colId xmlns:a16="http://schemas.microsoft.com/office/drawing/2014/main" val="20005"/>
                    </a:ext>
                  </a:extLst>
                </a:gridCol>
                <a:gridCol w="1833372">
                  <a:extLst>
                    <a:ext uri="{9D8B030D-6E8A-4147-A177-3AD203B41FA5}">
                      <a16:colId xmlns:a16="http://schemas.microsoft.com/office/drawing/2014/main" val="20006"/>
                    </a:ext>
                  </a:extLst>
                </a:gridCol>
              </a:tblGrid>
              <a:tr h="280555">
                <a:tc>
                  <a:txBody>
                    <a:bodyPr/>
                    <a:lstStyle/>
                    <a:p>
                      <a:pPr algn="ctr"/>
                      <a:r>
                        <a:rPr sz="900" b="1" i="0">
                          <a:solidFill>
                            <a:srgbClr val="FFFFFF"/>
                          </a:solidFill>
                          <a:latin typeface="Arial"/>
                        </a:rPr>
                        <a:t>Year</a:t>
                      </a:r>
                    </a:p>
                  </a:txBody>
                  <a:tcPr marT="41564" marB="41564">
                    <a:solidFill>
                      <a:srgbClr val="002060"/>
                    </a:solidFill>
                  </a:tcPr>
                </a:tc>
                <a:tc>
                  <a:txBody>
                    <a:bodyPr/>
                    <a:lstStyle/>
                    <a:p>
                      <a:pPr algn="ctr"/>
                      <a:r>
                        <a:rPr sz="900" b="1" i="0">
                          <a:solidFill>
                            <a:srgbClr val="FFFFFF"/>
                          </a:solidFill>
                          <a:latin typeface="Arial"/>
                        </a:rPr>
                        <a:t>1st</a:t>
                      </a:r>
                    </a:p>
                  </a:txBody>
                  <a:tcPr marT="41564" marB="41564">
                    <a:solidFill>
                      <a:srgbClr val="002060"/>
                    </a:solidFill>
                  </a:tcPr>
                </a:tc>
                <a:tc>
                  <a:txBody>
                    <a:bodyPr/>
                    <a:lstStyle/>
                    <a:p>
                      <a:pPr algn="ctr"/>
                      <a:r>
                        <a:rPr sz="900" b="1" i="0">
                          <a:solidFill>
                            <a:srgbClr val="FFFFFF"/>
                          </a:solidFill>
                          <a:latin typeface="Arial"/>
                        </a:rPr>
                        <a:t>2nd</a:t>
                      </a:r>
                    </a:p>
                  </a:txBody>
                  <a:tcPr marT="41564" marB="41564">
                    <a:solidFill>
                      <a:srgbClr val="002060"/>
                    </a:solidFill>
                  </a:tcPr>
                </a:tc>
                <a:tc>
                  <a:txBody>
                    <a:bodyPr/>
                    <a:lstStyle/>
                    <a:p>
                      <a:pPr algn="ctr"/>
                      <a:r>
                        <a:rPr sz="900" b="1" i="0">
                          <a:solidFill>
                            <a:srgbClr val="FFFFFF"/>
                          </a:solidFill>
                          <a:latin typeface="Arial"/>
                        </a:rPr>
                        <a:t>3rd</a:t>
                      </a:r>
                    </a:p>
                  </a:txBody>
                  <a:tcPr marT="41564" marB="41564">
                    <a:solidFill>
                      <a:srgbClr val="002060"/>
                    </a:solidFill>
                  </a:tcPr>
                </a:tc>
                <a:tc>
                  <a:txBody>
                    <a:bodyPr/>
                    <a:lstStyle/>
                    <a:p>
                      <a:pPr algn="ctr"/>
                      <a:r>
                        <a:rPr sz="900" b="1" i="0">
                          <a:solidFill>
                            <a:srgbClr val="FFFFFF"/>
                          </a:solidFill>
                          <a:latin typeface="Arial"/>
                        </a:rPr>
                        <a:t>5th</a:t>
                      </a:r>
                    </a:p>
                  </a:txBody>
                  <a:tcPr marT="41564" marB="41564">
                    <a:solidFill>
                      <a:srgbClr val="002060"/>
                    </a:solidFill>
                  </a:tcPr>
                </a:tc>
                <a:tc>
                  <a:txBody>
                    <a:bodyPr/>
                    <a:lstStyle/>
                    <a:p>
                      <a:pPr algn="ctr"/>
                      <a:r>
                        <a:rPr sz="900" b="1" i="0">
                          <a:solidFill>
                            <a:srgbClr val="FFFFFF"/>
                          </a:solidFill>
                          <a:latin typeface="Arial"/>
                        </a:rPr>
                        <a:t>10th</a:t>
                      </a:r>
                    </a:p>
                  </a:txBody>
                  <a:tcPr marT="41564" marB="41564">
                    <a:solidFill>
                      <a:srgbClr val="002060"/>
                    </a:solidFill>
                  </a:tcPr>
                </a:tc>
                <a:tc>
                  <a:txBody>
                    <a:bodyPr/>
                    <a:lstStyle/>
                    <a:p>
                      <a:pPr algn="ctr"/>
                      <a:r>
                        <a:rPr sz="900" b="1" i="0">
                          <a:solidFill>
                            <a:srgbClr val="FFFFFF"/>
                          </a:solidFill>
                          <a:latin typeface="Arial"/>
                        </a:rPr>
                        <a:t>20th</a:t>
                      </a:r>
                    </a:p>
                  </a:txBody>
                  <a:tcPr marT="41564" marB="41564">
                    <a:solidFill>
                      <a:srgbClr val="002060"/>
                    </a:solidFill>
                  </a:tcPr>
                </a:tc>
                <a:extLst>
                  <a:ext uri="{0D108BD9-81ED-4DB2-BD59-A6C34878D82A}">
                    <a16:rowId xmlns:a16="http://schemas.microsoft.com/office/drawing/2014/main" val="10000"/>
                  </a:ext>
                </a:extLst>
              </a:tr>
              <a:tr h="318655">
                <a:tc>
                  <a:txBody>
                    <a:bodyPr/>
                    <a:lstStyle/>
                    <a:p>
                      <a:pPr algn="ctr"/>
                      <a:r>
                        <a:rPr sz="900" b="1" i="0">
                          <a:solidFill>
                            <a:srgbClr val="262626"/>
                          </a:solidFill>
                          <a:latin typeface="Arial"/>
                        </a:rPr>
                        <a:t>2018</a:t>
                      </a:r>
                    </a:p>
                  </a:txBody>
                  <a:tcPr marT="41564" marB="41564">
                    <a:solidFill>
                      <a:srgbClr val="FFFFFF"/>
                    </a:solidFill>
                  </a:tcPr>
                </a:tc>
                <a:tc>
                  <a:txBody>
                    <a:bodyPr/>
                    <a:lstStyle/>
                    <a:p>
                      <a:pPr algn="ctr"/>
                      <a:r>
                        <a:rPr sz="800" b="0" i="0">
                          <a:solidFill>
                            <a:srgbClr val="262626"/>
                          </a:solidFill>
                          <a:latin typeface="Arial"/>
                        </a:rPr>
                        <a:t>1:44:59</a:t>
                      </a:r>
                    </a:p>
                  </a:txBody>
                  <a:tcPr marT="41564" marB="41564">
                    <a:solidFill>
                      <a:srgbClr val="FFFFFF"/>
                    </a:solidFill>
                  </a:tcPr>
                </a:tc>
                <a:tc>
                  <a:txBody>
                    <a:bodyPr/>
                    <a:lstStyle/>
                    <a:p>
                      <a:pPr algn="ctr"/>
                      <a:r>
                        <a:rPr sz="800" b="0" i="0">
                          <a:solidFill>
                            <a:srgbClr val="262626"/>
                          </a:solidFill>
                          <a:latin typeface="Arial"/>
                        </a:rPr>
                        <a:t>1:45:40
+41s</a:t>
                      </a:r>
                    </a:p>
                  </a:txBody>
                  <a:tcPr marT="41564" marB="41564">
                    <a:solidFill>
                      <a:srgbClr val="FFFFFF"/>
                    </a:solidFill>
                  </a:tcPr>
                </a:tc>
                <a:tc>
                  <a:txBody>
                    <a:bodyPr/>
                    <a:lstStyle/>
                    <a:p>
                      <a:pPr algn="ctr"/>
                      <a:r>
                        <a:rPr sz="800" b="0" i="0" dirty="0">
                          <a:solidFill>
                            <a:srgbClr val="262626"/>
                          </a:solidFill>
                          <a:latin typeface="Arial"/>
                        </a:rPr>
                        <a:t>1:45:51
+52s</a:t>
                      </a:r>
                    </a:p>
                  </a:txBody>
                  <a:tcPr marT="41564" marB="41564">
                    <a:solidFill>
                      <a:srgbClr val="FFFFFF"/>
                    </a:solidFill>
                  </a:tcPr>
                </a:tc>
                <a:tc>
                  <a:txBody>
                    <a:bodyPr/>
                    <a:lstStyle/>
                    <a:p>
                      <a:pPr algn="ctr"/>
                      <a:r>
                        <a:rPr sz="800" b="0" i="0">
                          <a:solidFill>
                            <a:srgbClr val="262626"/>
                          </a:solidFill>
                          <a:latin typeface="Arial"/>
                        </a:rPr>
                        <a:t>1:46:11
+72s</a:t>
                      </a:r>
                    </a:p>
                  </a:txBody>
                  <a:tcPr marT="41564" marB="41564">
                    <a:solidFill>
                      <a:srgbClr val="FFFFFF"/>
                    </a:solidFill>
                  </a:tcPr>
                </a:tc>
                <a:tc>
                  <a:txBody>
                    <a:bodyPr/>
                    <a:lstStyle/>
                    <a:p>
                      <a:pPr algn="ctr"/>
                      <a:r>
                        <a:rPr sz="800" b="0" i="0">
                          <a:solidFill>
                            <a:srgbClr val="262626"/>
                          </a:solidFill>
                          <a:latin typeface="Arial"/>
                        </a:rPr>
                        <a:t>1:46:23
+84s</a:t>
                      </a:r>
                    </a:p>
                  </a:txBody>
                  <a:tcPr marT="41564" marB="41564">
                    <a:solidFill>
                      <a:srgbClr val="FFFFFF"/>
                    </a:solidFill>
                  </a:tcPr>
                </a:tc>
                <a:tc>
                  <a:txBody>
                    <a:bodyPr/>
                    <a:lstStyle/>
                    <a:p>
                      <a:pPr algn="ctr"/>
                      <a:r>
                        <a:rPr sz="800" b="0" i="0">
                          <a:solidFill>
                            <a:srgbClr val="262626"/>
                          </a:solidFill>
                          <a:latin typeface="Arial"/>
                        </a:rPr>
                        <a:t>1:47:15
+136s</a:t>
                      </a:r>
                    </a:p>
                  </a:txBody>
                  <a:tcPr marT="41564" marB="41564">
                    <a:solidFill>
                      <a:srgbClr val="FFFFFF"/>
                    </a:solidFill>
                  </a:tcPr>
                </a:tc>
                <a:extLst>
                  <a:ext uri="{0D108BD9-81ED-4DB2-BD59-A6C34878D82A}">
                    <a16:rowId xmlns:a16="http://schemas.microsoft.com/office/drawing/2014/main" val="10001"/>
                  </a:ext>
                </a:extLst>
              </a:tr>
              <a:tr h="318655">
                <a:tc>
                  <a:txBody>
                    <a:bodyPr/>
                    <a:lstStyle/>
                    <a:p>
                      <a:pPr algn="ctr"/>
                      <a:r>
                        <a:rPr sz="900" b="1" i="0">
                          <a:solidFill>
                            <a:srgbClr val="262626"/>
                          </a:solidFill>
                          <a:latin typeface="Arial"/>
                        </a:rPr>
                        <a:t>2019</a:t>
                      </a:r>
                    </a:p>
                  </a:txBody>
                  <a:tcPr marT="41564" marB="41564">
                    <a:solidFill>
                      <a:srgbClr val="F2F2F2"/>
                    </a:solidFill>
                  </a:tcPr>
                </a:tc>
                <a:tc>
                  <a:txBody>
                    <a:bodyPr/>
                    <a:lstStyle/>
                    <a:p>
                      <a:pPr algn="ctr"/>
                      <a:r>
                        <a:rPr sz="800" b="0" i="0">
                          <a:solidFill>
                            <a:srgbClr val="262626"/>
                          </a:solidFill>
                          <a:latin typeface="Arial"/>
                        </a:rPr>
                        <a:t>1:43:21</a:t>
                      </a:r>
                    </a:p>
                  </a:txBody>
                  <a:tcPr marT="41564" marB="41564">
                    <a:solidFill>
                      <a:srgbClr val="F2F2F2"/>
                    </a:solidFill>
                  </a:tcPr>
                </a:tc>
                <a:tc>
                  <a:txBody>
                    <a:bodyPr/>
                    <a:lstStyle/>
                    <a:p>
                      <a:pPr algn="ctr"/>
                      <a:r>
                        <a:rPr sz="800" b="0" i="0">
                          <a:solidFill>
                            <a:srgbClr val="262626"/>
                          </a:solidFill>
                          <a:latin typeface="Arial"/>
                        </a:rPr>
                        <a:t>1:43:24
+3s</a:t>
                      </a:r>
                    </a:p>
                  </a:txBody>
                  <a:tcPr marT="41564" marB="41564">
                    <a:solidFill>
                      <a:srgbClr val="F2F2F2"/>
                    </a:solidFill>
                  </a:tcPr>
                </a:tc>
                <a:tc>
                  <a:txBody>
                    <a:bodyPr/>
                    <a:lstStyle/>
                    <a:p>
                      <a:pPr algn="ctr"/>
                      <a:r>
                        <a:rPr sz="800" b="0" i="0">
                          <a:solidFill>
                            <a:srgbClr val="262626"/>
                          </a:solidFill>
                          <a:latin typeface="Arial"/>
                        </a:rPr>
                        <a:t>1:43:26
+5s</a:t>
                      </a:r>
                    </a:p>
                  </a:txBody>
                  <a:tcPr marT="41564" marB="41564">
                    <a:solidFill>
                      <a:srgbClr val="F2F2F2"/>
                    </a:solidFill>
                  </a:tcPr>
                </a:tc>
                <a:tc>
                  <a:txBody>
                    <a:bodyPr/>
                    <a:lstStyle/>
                    <a:p>
                      <a:pPr algn="ctr"/>
                      <a:r>
                        <a:rPr sz="800" b="0" i="0">
                          <a:solidFill>
                            <a:srgbClr val="262626"/>
                          </a:solidFill>
                          <a:latin typeface="Arial"/>
                        </a:rPr>
                        <a:t>1:43:57
+36s</a:t>
                      </a:r>
                    </a:p>
                  </a:txBody>
                  <a:tcPr marT="41564" marB="41564">
                    <a:solidFill>
                      <a:srgbClr val="F2F2F2"/>
                    </a:solidFill>
                  </a:tcPr>
                </a:tc>
                <a:tc>
                  <a:txBody>
                    <a:bodyPr/>
                    <a:lstStyle/>
                    <a:p>
                      <a:pPr algn="ctr"/>
                      <a:r>
                        <a:rPr sz="800" b="0" i="0">
                          <a:solidFill>
                            <a:srgbClr val="262626"/>
                          </a:solidFill>
                          <a:latin typeface="Arial"/>
                        </a:rPr>
                        <a:t>1:44:19
+58s</a:t>
                      </a:r>
                    </a:p>
                  </a:txBody>
                  <a:tcPr marT="41564" marB="41564">
                    <a:solidFill>
                      <a:srgbClr val="F2F2F2"/>
                    </a:solidFill>
                  </a:tcPr>
                </a:tc>
                <a:tc>
                  <a:txBody>
                    <a:bodyPr/>
                    <a:lstStyle/>
                    <a:p>
                      <a:pPr algn="ctr"/>
                      <a:r>
                        <a:rPr sz="800" b="0" i="0">
                          <a:solidFill>
                            <a:srgbClr val="262626"/>
                          </a:solidFill>
                          <a:latin typeface="Arial"/>
                        </a:rPr>
                        <a:t>1:45:23
+122s</a:t>
                      </a:r>
                    </a:p>
                  </a:txBody>
                  <a:tcPr marT="41564" marB="41564">
                    <a:solidFill>
                      <a:srgbClr val="F2F2F2"/>
                    </a:solidFill>
                  </a:tcPr>
                </a:tc>
                <a:extLst>
                  <a:ext uri="{0D108BD9-81ED-4DB2-BD59-A6C34878D82A}">
                    <a16:rowId xmlns:a16="http://schemas.microsoft.com/office/drawing/2014/main" val="10002"/>
                  </a:ext>
                </a:extLst>
              </a:tr>
              <a:tr h="318655">
                <a:tc>
                  <a:txBody>
                    <a:bodyPr/>
                    <a:lstStyle/>
                    <a:p>
                      <a:pPr algn="ctr"/>
                      <a:r>
                        <a:rPr sz="900" b="1" i="0">
                          <a:solidFill>
                            <a:srgbClr val="262626"/>
                          </a:solidFill>
                          <a:latin typeface="Arial"/>
                        </a:rPr>
                        <a:t>2021</a:t>
                      </a:r>
                    </a:p>
                  </a:txBody>
                  <a:tcPr marT="41564" marB="41564">
                    <a:solidFill>
                      <a:srgbClr val="FFFFFF"/>
                    </a:solidFill>
                  </a:tcPr>
                </a:tc>
                <a:tc>
                  <a:txBody>
                    <a:bodyPr/>
                    <a:lstStyle/>
                    <a:p>
                      <a:pPr algn="ctr"/>
                      <a:r>
                        <a:rPr sz="800" b="0" i="0">
                          <a:solidFill>
                            <a:srgbClr val="262626"/>
                          </a:solidFill>
                          <a:latin typeface="Arial"/>
                        </a:rPr>
                        <a:t>1:42:55</a:t>
                      </a:r>
                    </a:p>
                  </a:txBody>
                  <a:tcPr marT="41564" marB="41564">
                    <a:solidFill>
                      <a:srgbClr val="FFFFFF"/>
                    </a:solidFill>
                  </a:tcPr>
                </a:tc>
                <a:tc>
                  <a:txBody>
                    <a:bodyPr/>
                    <a:lstStyle/>
                    <a:p>
                      <a:pPr algn="ctr"/>
                      <a:r>
                        <a:rPr sz="800" b="0" i="0">
                          <a:solidFill>
                            <a:srgbClr val="262626"/>
                          </a:solidFill>
                          <a:latin typeface="Arial"/>
                        </a:rPr>
                        <a:t>1:43:05
+10s</a:t>
                      </a:r>
                    </a:p>
                  </a:txBody>
                  <a:tcPr marT="41564" marB="41564">
                    <a:solidFill>
                      <a:srgbClr val="FFFFFF"/>
                    </a:solidFill>
                  </a:tcPr>
                </a:tc>
                <a:tc>
                  <a:txBody>
                    <a:bodyPr/>
                    <a:lstStyle/>
                    <a:p>
                      <a:pPr algn="ctr"/>
                      <a:r>
                        <a:rPr sz="800" b="0" i="0">
                          <a:solidFill>
                            <a:srgbClr val="262626"/>
                          </a:solidFill>
                          <a:latin typeface="Arial"/>
                        </a:rPr>
                        <a:t>1:43:12
+17s</a:t>
                      </a:r>
                    </a:p>
                  </a:txBody>
                  <a:tcPr marT="41564" marB="41564">
                    <a:solidFill>
                      <a:srgbClr val="FFFFFF"/>
                    </a:solidFill>
                  </a:tcPr>
                </a:tc>
                <a:tc>
                  <a:txBody>
                    <a:bodyPr/>
                    <a:lstStyle/>
                    <a:p>
                      <a:pPr algn="ctr"/>
                      <a:r>
                        <a:rPr sz="800" b="0" i="0">
                          <a:solidFill>
                            <a:srgbClr val="262626"/>
                          </a:solidFill>
                          <a:latin typeface="Arial"/>
                        </a:rPr>
                        <a:t>1:43:26
+31s</a:t>
                      </a:r>
                    </a:p>
                  </a:txBody>
                  <a:tcPr marT="41564" marB="41564">
                    <a:solidFill>
                      <a:srgbClr val="FFFFFF"/>
                    </a:solidFill>
                  </a:tcPr>
                </a:tc>
                <a:tc>
                  <a:txBody>
                    <a:bodyPr/>
                    <a:lstStyle/>
                    <a:p>
                      <a:pPr algn="ctr"/>
                      <a:r>
                        <a:rPr sz="800" b="0" i="0">
                          <a:solidFill>
                            <a:srgbClr val="262626"/>
                          </a:solidFill>
                          <a:latin typeface="Arial"/>
                        </a:rPr>
                        <a:t>1:43:40
+45s</a:t>
                      </a:r>
                    </a:p>
                  </a:txBody>
                  <a:tcPr marT="41564" marB="41564">
                    <a:solidFill>
                      <a:srgbClr val="FFFFFF"/>
                    </a:solidFill>
                  </a:tcPr>
                </a:tc>
                <a:tc>
                  <a:txBody>
                    <a:bodyPr/>
                    <a:lstStyle/>
                    <a:p>
                      <a:pPr algn="ctr"/>
                      <a:r>
                        <a:rPr sz="800" b="0" i="0">
                          <a:solidFill>
                            <a:srgbClr val="262626"/>
                          </a:solidFill>
                          <a:latin typeface="Arial"/>
                        </a:rPr>
                        <a:t>1:45:04
+129s</a:t>
                      </a:r>
                    </a:p>
                  </a:txBody>
                  <a:tcPr marT="41564" marB="41564">
                    <a:solidFill>
                      <a:srgbClr val="FFFFFF"/>
                    </a:solidFill>
                  </a:tcPr>
                </a:tc>
                <a:extLst>
                  <a:ext uri="{0D108BD9-81ED-4DB2-BD59-A6C34878D82A}">
                    <a16:rowId xmlns:a16="http://schemas.microsoft.com/office/drawing/2014/main" val="10003"/>
                  </a:ext>
                </a:extLst>
              </a:tr>
              <a:tr h="318655">
                <a:tc>
                  <a:txBody>
                    <a:bodyPr/>
                    <a:lstStyle/>
                    <a:p>
                      <a:pPr algn="ctr"/>
                      <a:r>
                        <a:rPr sz="900" b="1" i="0">
                          <a:solidFill>
                            <a:srgbClr val="262626"/>
                          </a:solidFill>
                          <a:latin typeface="Arial"/>
                        </a:rPr>
                        <a:t>2022</a:t>
                      </a:r>
                    </a:p>
                  </a:txBody>
                  <a:tcPr marT="41564" marB="41564">
                    <a:solidFill>
                      <a:srgbClr val="F2F2F2"/>
                    </a:solidFill>
                  </a:tcPr>
                </a:tc>
                <a:tc>
                  <a:txBody>
                    <a:bodyPr/>
                    <a:lstStyle/>
                    <a:p>
                      <a:pPr algn="ctr"/>
                      <a:r>
                        <a:rPr sz="800" b="0" i="0">
                          <a:solidFill>
                            <a:srgbClr val="262626"/>
                          </a:solidFill>
                          <a:latin typeface="Arial"/>
                        </a:rPr>
                        <a:t>1:43:30</a:t>
                      </a:r>
                    </a:p>
                  </a:txBody>
                  <a:tcPr marT="41564" marB="41564">
                    <a:solidFill>
                      <a:srgbClr val="F2F2F2"/>
                    </a:solidFill>
                  </a:tcPr>
                </a:tc>
                <a:tc>
                  <a:txBody>
                    <a:bodyPr/>
                    <a:lstStyle/>
                    <a:p>
                      <a:pPr algn="ctr"/>
                      <a:r>
                        <a:rPr sz="800" b="0" i="0">
                          <a:solidFill>
                            <a:srgbClr val="262626"/>
                          </a:solidFill>
                          <a:latin typeface="Arial"/>
                        </a:rPr>
                        <a:t>1:43:40
+10s</a:t>
                      </a:r>
                    </a:p>
                  </a:txBody>
                  <a:tcPr marT="41564" marB="41564">
                    <a:solidFill>
                      <a:srgbClr val="F2F2F2"/>
                    </a:solidFill>
                  </a:tcPr>
                </a:tc>
                <a:tc>
                  <a:txBody>
                    <a:bodyPr/>
                    <a:lstStyle/>
                    <a:p>
                      <a:pPr algn="ctr"/>
                      <a:r>
                        <a:rPr sz="800" b="0" i="0">
                          <a:solidFill>
                            <a:srgbClr val="262626"/>
                          </a:solidFill>
                          <a:latin typeface="Arial"/>
                        </a:rPr>
                        <a:t>1:43:59
+29s</a:t>
                      </a:r>
                    </a:p>
                  </a:txBody>
                  <a:tcPr marT="41564" marB="41564">
                    <a:solidFill>
                      <a:srgbClr val="F2F2F2"/>
                    </a:solidFill>
                  </a:tcPr>
                </a:tc>
                <a:tc>
                  <a:txBody>
                    <a:bodyPr/>
                    <a:lstStyle/>
                    <a:p>
                      <a:pPr algn="ctr"/>
                      <a:r>
                        <a:rPr sz="800" b="0" i="0">
                          <a:solidFill>
                            <a:srgbClr val="262626"/>
                          </a:solidFill>
                          <a:latin typeface="Arial"/>
                        </a:rPr>
                        <a:t>1:44:17
+47s</a:t>
                      </a:r>
                    </a:p>
                  </a:txBody>
                  <a:tcPr marT="41564" marB="41564">
                    <a:solidFill>
                      <a:srgbClr val="F2F2F2"/>
                    </a:solidFill>
                  </a:tcPr>
                </a:tc>
                <a:tc>
                  <a:txBody>
                    <a:bodyPr/>
                    <a:lstStyle/>
                    <a:p>
                      <a:pPr algn="ctr"/>
                      <a:r>
                        <a:rPr sz="800" b="0" i="0">
                          <a:solidFill>
                            <a:srgbClr val="262626"/>
                          </a:solidFill>
                          <a:latin typeface="Arial"/>
                        </a:rPr>
                        <a:t>1:45:02
+92s</a:t>
                      </a:r>
                    </a:p>
                  </a:txBody>
                  <a:tcPr marT="41564" marB="41564">
                    <a:solidFill>
                      <a:srgbClr val="F2F2F2"/>
                    </a:solidFill>
                  </a:tcPr>
                </a:tc>
                <a:tc>
                  <a:txBody>
                    <a:bodyPr/>
                    <a:lstStyle/>
                    <a:p>
                      <a:pPr algn="ctr"/>
                      <a:r>
                        <a:rPr sz="800" b="0" i="0">
                          <a:solidFill>
                            <a:srgbClr val="262626"/>
                          </a:solidFill>
                          <a:latin typeface="Arial"/>
                        </a:rPr>
                        <a:t>1:45:30
+120s</a:t>
                      </a:r>
                    </a:p>
                  </a:txBody>
                  <a:tcPr marT="41564" marB="41564">
                    <a:solidFill>
                      <a:srgbClr val="F2F2F2"/>
                    </a:solidFill>
                  </a:tcPr>
                </a:tc>
                <a:extLst>
                  <a:ext uri="{0D108BD9-81ED-4DB2-BD59-A6C34878D82A}">
                    <a16:rowId xmlns:a16="http://schemas.microsoft.com/office/drawing/2014/main" val="10004"/>
                  </a:ext>
                </a:extLst>
              </a:tr>
              <a:tr h="318655">
                <a:tc>
                  <a:txBody>
                    <a:bodyPr/>
                    <a:lstStyle/>
                    <a:p>
                      <a:pPr algn="ctr"/>
                      <a:r>
                        <a:rPr sz="900" b="1" i="0">
                          <a:solidFill>
                            <a:srgbClr val="262626"/>
                          </a:solidFill>
                          <a:latin typeface="Arial"/>
                        </a:rPr>
                        <a:t>2023</a:t>
                      </a:r>
                    </a:p>
                  </a:txBody>
                  <a:tcPr marT="41564" marB="41564">
                    <a:solidFill>
                      <a:srgbClr val="FFFFFF"/>
                    </a:solidFill>
                  </a:tcPr>
                </a:tc>
                <a:tc>
                  <a:txBody>
                    <a:bodyPr/>
                    <a:lstStyle/>
                    <a:p>
                      <a:pPr algn="ctr"/>
                      <a:r>
                        <a:rPr sz="800" b="0" i="0">
                          <a:solidFill>
                            <a:srgbClr val="262626"/>
                          </a:solidFill>
                          <a:latin typeface="Arial"/>
                        </a:rPr>
                        <a:t>1:42:13</a:t>
                      </a:r>
                    </a:p>
                  </a:txBody>
                  <a:tcPr marT="41564" marB="41564">
                    <a:solidFill>
                      <a:srgbClr val="FFFFFF"/>
                    </a:solidFill>
                  </a:tcPr>
                </a:tc>
                <a:tc>
                  <a:txBody>
                    <a:bodyPr/>
                    <a:lstStyle/>
                    <a:p>
                      <a:pPr algn="ctr"/>
                      <a:r>
                        <a:rPr sz="800" b="0" i="0">
                          <a:solidFill>
                            <a:srgbClr val="262626"/>
                          </a:solidFill>
                          <a:latin typeface="Arial"/>
                        </a:rPr>
                        <a:t>1:42:17
+4s</a:t>
                      </a:r>
                    </a:p>
                  </a:txBody>
                  <a:tcPr marT="41564" marB="41564">
                    <a:solidFill>
                      <a:srgbClr val="FFFFFF"/>
                    </a:solidFill>
                  </a:tcPr>
                </a:tc>
                <a:tc>
                  <a:txBody>
                    <a:bodyPr/>
                    <a:lstStyle/>
                    <a:p>
                      <a:pPr algn="ctr"/>
                      <a:r>
                        <a:rPr sz="800" b="0" i="0">
                          <a:solidFill>
                            <a:srgbClr val="262626"/>
                          </a:solidFill>
                          <a:latin typeface="Arial"/>
                        </a:rPr>
                        <a:t>1:42:18
+5s</a:t>
                      </a:r>
                    </a:p>
                  </a:txBody>
                  <a:tcPr marT="41564" marB="41564">
                    <a:solidFill>
                      <a:srgbClr val="FFFFFF"/>
                    </a:solidFill>
                  </a:tcPr>
                </a:tc>
                <a:tc>
                  <a:txBody>
                    <a:bodyPr/>
                    <a:lstStyle/>
                    <a:p>
                      <a:pPr algn="ctr"/>
                      <a:r>
                        <a:rPr sz="800" b="0" i="0">
                          <a:solidFill>
                            <a:srgbClr val="262626"/>
                          </a:solidFill>
                          <a:latin typeface="Arial"/>
                        </a:rPr>
                        <a:t>1:42:26
+13s</a:t>
                      </a:r>
                    </a:p>
                  </a:txBody>
                  <a:tcPr marT="41564" marB="41564">
                    <a:solidFill>
                      <a:srgbClr val="FFFFFF"/>
                    </a:solidFill>
                  </a:tcPr>
                </a:tc>
                <a:tc>
                  <a:txBody>
                    <a:bodyPr/>
                    <a:lstStyle/>
                    <a:p>
                      <a:pPr algn="ctr"/>
                      <a:r>
                        <a:rPr sz="800" b="0" i="0">
                          <a:solidFill>
                            <a:srgbClr val="262626"/>
                          </a:solidFill>
                          <a:latin typeface="Arial"/>
                        </a:rPr>
                        <a:t>1:43:01
+48s</a:t>
                      </a:r>
                    </a:p>
                  </a:txBody>
                  <a:tcPr marT="41564" marB="41564">
                    <a:solidFill>
                      <a:srgbClr val="FFFFFF"/>
                    </a:solidFill>
                  </a:tcPr>
                </a:tc>
                <a:tc>
                  <a:txBody>
                    <a:bodyPr/>
                    <a:lstStyle/>
                    <a:p>
                      <a:pPr algn="ctr"/>
                      <a:r>
                        <a:rPr sz="800" b="0" i="0">
                          <a:solidFill>
                            <a:srgbClr val="262626"/>
                          </a:solidFill>
                          <a:latin typeface="Arial"/>
                        </a:rPr>
                        <a:t>1:43:49
+96s</a:t>
                      </a:r>
                    </a:p>
                  </a:txBody>
                  <a:tcPr marT="41564" marB="41564">
                    <a:solidFill>
                      <a:srgbClr val="FFFFFF"/>
                    </a:solidFill>
                  </a:tcPr>
                </a:tc>
                <a:extLst>
                  <a:ext uri="{0D108BD9-81ED-4DB2-BD59-A6C34878D82A}">
                    <a16:rowId xmlns:a16="http://schemas.microsoft.com/office/drawing/2014/main" val="10005"/>
                  </a:ext>
                </a:extLst>
              </a:tr>
              <a:tr h="318655">
                <a:tc>
                  <a:txBody>
                    <a:bodyPr/>
                    <a:lstStyle/>
                    <a:p>
                      <a:pPr algn="ctr"/>
                      <a:r>
                        <a:rPr sz="900" b="1" i="0">
                          <a:solidFill>
                            <a:srgbClr val="262626"/>
                          </a:solidFill>
                          <a:latin typeface="Arial"/>
                        </a:rPr>
                        <a:t>2024</a:t>
                      </a:r>
                    </a:p>
                  </a:txBody>
                  <a:tcPr marT="41564" marB="41564">
                    <a:solidFill>
                      <a:srgbClr val="F2F2F2"/>
                    </a:solidFill>
                  </a:tcPr>
                </a:tc>
                <a:tc>
                  <a:txBody>
                    <a:bodyPr/>
                    <a:lstStyle/>
                    <a:p>
                      <a:pPr algn="ctr"/>
                      <a:r>
                        <a:rPr sz="800" b="0" i="0">
                          <a:solidFill>
                            <a:srgbClr val="262626"/>
                          </a:solidFill>
                          <a:latin typeface="Arial"/>
                        </a:rPr>
                        <a:t>1:42:05</a:t>
                      </a:r>
                    </a:p>
                  </a:txBody>
                  <a:tcPr marT="41564" marB="41564">
                    <a:solidFill>
                      <a:srgbClr val="F2F2F2"/>
                    </a:solidFill>
                  </a:tcPr>
                </a:tc>
                <a:tc>
                  <a:txBody>
                    <a:bodyPr/>
                    <a:lstStyle/>
                    <a:p>
                      <a:pPr algn="ctr"/>
                      <a:r>
                        <a:rPr sz="800" b="0" i="0">
                          <a:solidFill>
                            <a:srgbClr val="262626"/>
                          </a:solidFill>
                          <a:latin typeface="Arial"/>
                        </a:rPr>
                        <a:t>1:42:12
+7s</a:t>
                      </a:r>
                    </a:p>
                  </a:txBody>
                  <a:tcPr marT="41564" marB="41564">
                    <a:solidFill>
                      <a:srgbClr val="F2F2F2"/>
                    </a:solidFill>
                  </a:tcPr>
                </a:tc>
                <a:tc>
                  <a:txBody>
                    <a:bodyPr/>
                    <a:lstStyle/>
                    <a:p>
                      <a:pPr algn="ctr"/>
                      <a:r>
                        <a:rPr sz="800" b="0" i="0">
                          <a:solidFill>
                            <a:srgbClr val="262626"/>
                          </a:solidFill>
                          <a:latin typeface="Arial"/>
                        </a:rPr>
                        <a:t>1:42:20
+15s</a:t>
                      </a:r>
                    </a:p>
                  </a:txBody>
                  <a:tcPr marT="41564" marB="41564">
                    <a:solidFill>
                      <a:srgbClr val="F2F2F2"/>
                    </a:solidFill>
                  </a:tcPr>
                </a:tc>
                <a:tc>
                  <a:txBody>
                    <a:bodyPr/>
                    <a:lstStyle/>
                    <a:p>
                      <a:pPr algn="ctr"/>
                      <a:r>
                        <a:rPr sz="800" b="0" i="0">
                          <a:solidFill>
                            <a:srgbClr val="262626"/>
                          </a:solidFill>
                          <a:latin typeface="Arial"/>
                        </a:rPr>
                        <a:t>1:42:30
+25s</a:t>
                      </a:r>
                    </a:p>
                  </a:txBody>
                  <a:tcPr marT="41564" marB="41564">
                    <a:solidFill>
                      <a:srgbClr val="F2F2F2"/>
                    </a:solidFill>
                  </a:tcPr>
                </a:tc>
                <a:tc>
                  <a:txBody>
                    <a:bodyPr/>
                    <a:lstStyle/>
                    <a:p>
                      <a:pPr algn="ctr"/>
                      <a:r>
                        <a:rPr sz="800" b="0" i="0">
                          <a:solidFill>
                            <a:srgbClr val="262626"/>
                          </a:solidFill>
                          <a:latin typeface="Arial"/>
                        </a:rPr>
                        <a:t>1:42:46
+41s</a:t>
                      </a:r>
                    </a:p>
                  </a:txBody>
                  <a:tcPr marT="41564" marB="41564">
                    <a:solidFill>
                      <a:srgbClr val="F2F2F2"/>
                    </a:solidFill>
                  </a:tcPr>
                </a:tc>
                <a:tc>
                  <a:txBody>
                    <a:bodyPr/>
                    <a:lstStyle/>
                    <a:p>
                      <a:pPr algn="ctr"/>
                      <a:r>
                        <a:rPr sz="800" b="0" i="0">
                          <a:solidFill>
                            <a:srgbClr val="262626"/>
                          </a:solidFill>
                          <a:latin typeface="Arial"/>
                        </a:rPr>
                        <a:t>1:43:39
+94s</a:t>
                      </a:r>
                    </a:p>
                  </a:txBody>
                  <a:tcPr marT="41564" marB="41564">
                    <a:solidFill>
                      <a:srgbClr val="F2F2F2"/>
                    </a:solidFill>
                  </a:tcPr>
                </a:tc>
                <a:extLst>
                  <a:ext uri="{0D108BD9-81ED-4DB2-BD59-A6C34878D82A}">
                    <a16:rowId xmlns:a16="http://schemas.microsoft.com/office/drawing/2014/main" val="10006"/>
                  </a:ext>
                </a:extLst>
              </a:tr>
              <a:tr h="318655">
                <a:tc>
                  <a:txBody>
                    <a:bodyPr/>
                    <a:lstStyle/>
                    <a:p>
                      <a:pPr algn="ctr"/>
                      <a:r>
                        <a:rPr sz="900" b="1" i="0">
                          <a:solidFill>
                            <a:srgbClr val="262626"/>
                          </a:solidFill>
                          <a:latin typeface="Arial"/>
                        </a:rPr>
                        <a:t>2025</a:t>
                      </a:r>
                    </a:p>
                  </a:txBody>
                  <a:tcPr marT="41564" marB="41564">
                    <a:solidFill>
                      <a:srgbClr val="FFFFFF"/>
                    </a:solidFill>
                  </a:tcPr>
                </a:tc>
                <a:tc>
                  <a:txBody>
                    <a:bodyPr/>
                    <a:lstStyle/>
                    <a:p>
                      <a:pPr algn="ctr"/>
                      <a:r>
                        <a:rPr sz="800" b="0" i="0">
                          <a:solidFill>
                            <a:srgbClr val="262626"/>
                          </a:solidFill>
                          <a:latin typeface="Arial"/>
                        </a:rPr>
                        <a:t>1:41:08</a:t>
                      </a:r>
                    </a:p>
                  </a:txBody>
                  <a:tcPr marT="41564" marB="41564">
                    <a:solidFill>
                      <a:srgbClr val="FFFFFF"/>
                    </a:solidFill>
                  </a:tcPr>
                </a:tc>
                <a:tc>
                  <a:txBody>
                    <a:bodyPr/>
                    <a:lstStyle/>
                    <a:p>
                      <a:pPr algn="ctr"/>
                      <a:r>
                        <a:rPr sz="800" b="0" i="0">
                          <a:solidFill>
                            <a:srgbClr val="262626"/>
                          </a:solidFill>
                          <a:latin typeface="Arial"/>
                        </a:rPr>
                        <a:t>1:41:14
+6s</a:t>
                      </a:r>
                    </a:p>
                  </a:txBody>
                  <a:tcPr marT="41564" marB="41564">
                    <a:solidFill>
                      <a:srgbClr val="FFFFFF"/>
                    </a:solidFill>
                  </a:tcPr>
                </a:tc>
                <a:tc>
                  <a:txBody>
                    <a:bodyPr/>
                    <a:lstStyle/>
                    <a:p>
                      <a:pPr algn="ctr"/>
                      <a:r>
                        <a:rPr sz="800" b="0" i="0">
                          <a:solidFill>
                            <a:srgbClr val="262626"/>
                          </a:solidFill>
                          <a:latin typeface="Arial"/>
                        </a:rPr>
                        <a:t>1:41:29
+21s</a:t>
                      </a:r>
                    </a:p>
                  </a:txBody>
                  <a:tcPr marT="41564" marB="41564">
                    <a:solidFill>
                      <a:srgbClr val="FFFFFF"/>
                    </a:solidFill>
                  </a:tcPr>
                </a:tc>
                <a:tc>
                  <a:txBody>
                    <a:bodyPr/>
                    <a:lstStyle/>
                    <a:p>
                      <a:pPr algn="ctr"/>
                      <a:r>
                        <a:rPr sz="800" b="0" i="0">
                          <a:solidFill>
                            <a:srgbClr val="262626"/>
                          </a:solidFill>
                          <a:latin typeface="Arial"/>
                        </a:rPr>
                        <a:t>1:42:03
+55s</a:t>
                      </a:r>
                    </a:p>
                  </a:txBody>
                  <a:tcPr marT="41564" marB="41564">
                    <a:solidFill>
                      <a:srgbClr val="FFFFFF"/>
                    </a:solidFill>
                  </a:tcPr>
                </a:tc>
                <a:tc>
                  <a:txBody>
                    <a:bodyPr/>
                    <a:lstStyle/>
                    <a:p>
                      <a:pPr algn="ctr"/>
                      <a:r>
                        <a:rPr sz="800" b="0" i="0">
                          <a:solidFill>
                            <a:srgbClr val="262626"/>
                          </a:solidFill>
                          <a:latin typeface="Arial"/>
                        </a:rPr>
                        <a:t>1:42:51
+103s</a:t>
                      </a:r>
                    </a:p>
                  </a:txBody>
                  <a:tcPr marT="41564" marB="41564">
                    <a:solidFill>
                      <a:srgbClr val="FFFFFF"/>
                    </a:solidFill>
                  </a:tcPr>
                </a:tc>
                <a:tc>
                  <a:txBody>
                    <a:bodyPr/>
                    <a:lstStyle/>
                    <a:p>
                      <a:pPr algn="ctr"/>
                      <a:r>
                        <a:rPr sz="800" b="0" i="0" dirty="0">
                          <a:solidFill>
                            <a:srgbClr val="262626"/>
                          </a:solidFill>
                          <a:latin typeface="Arial"/>
                        </a:rPr>
                        <a:t>1:44:28
+200s</a:t>
                      </a:r>
                    </a:p>
                  </a:txBody>
                  <a:tcPr marT="41564" marB="41564">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Conditions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Yokohama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74320" y="1143000"/>
          <a:ext cx="11640307" cy="3657600"/>
        </p:xfrm>
        <a:graphic>
          <a:graphicData uri="http://schemas.openxmlformats.org/drawingml/2006/table">
            <a:tbl>
              <a:tblPr firstRow="1" bandRow="1">
                <a:tableStyleId>{5C22544A-7EE6-4342-B048-85BDC9FD1C3A}</a:tableStyleId>
              </a:tblPr>
              <a:tblGrid>
                <a:gridCol w="591571">
                  <a:extLst>
                    <a:ext uri="{9D8B030D-6E8A-4147-A177-3AD203B41FA5}">
                      <a16:colId xmlns:a16="http://schemas.microsoft.com/office/drawing/2014/main" val="20000"/>
                    </a:ext>
                  </a:extLst>
                </a:gridCol>
                <a:gridCol w="864604">
                  <a:extLst>
                    <a:ext uri="{9D8B030D-6E8A-4147-A177-3AD203B41FA5}">
                      <a16:colId xmlns:a16="http://schemas.microsoft.com/office/drawing/2014/main" val="20001"/>
                    </a:ext>
                  </a:extLst>
                </a:gridCol>
                <a:gridCol w="910110">
                  <a:extLst>
                    <a:ext uri="{9D8B030D-6E8A-4147-A177-3AD203B41FA5}">
                      <a16:colId xmlns:a16="http://schemas.microsoft.com/office/drawing/2014/main" val="20002"/>
                    </a:ext>
                  </a:extLst>
                </a:gridCol>
                <a:gridCol w="819099">
                  <a:extLst>
                    <a:ext uri="{9D8B030D-6E8A-4147-A177-3AD203B41FA5}">
                      <a16:colId xmlns:a16="http://schemas.microsoft.com/office/drawing/2014/main" val="20003"/>
                    </a:ext>
                  </a:extLst>
                </a:gridCol>
                <a:gridCol w="910110">
                  <a:extLst>
                    <a:ext uri="{9D8B030D-6E8A-4147-A177-3AD203B41FA5}">
                      <a16:colId xmlns:a16="http://schemas.microsoft.com/office/drawing/2014/main" val="20004"/>
                    </a:ext>
                  </a:extLst>
                </a:gridCol>
                <a:gridCol w="864604">
                  <a:extLst>
                    <a:ext uri="{9D8B030D-6E8A-4147-A177-3AD203B41FA5}">
                      <a16:colId xmlns:a16="http://schemas.microsoft.com/office/drawing/2014/main" val="20005"/>
                    </a:ext>
                  </a:extLst>
                </a:gridCol>
                <a:gridCol w="864604">
                  <a:extLst>
                    <a:ext uri="{9D8B030D-6E8A-4147-A177-3AD203B41FA5}">
                      <a16:colId xmlns:a16="http://schemas.microsoft.com/office/drawing/2014/main" val="20006"/>
                    </a:ext>
                  </a:extLst>
                </a:gridCol>
                <a:gridCol w="819099">
                  <a:extLst>
                    <a:ext uri="{9D8B030D-6E8A-4147-A177-3AD203B41FA5}">
                      <a16:colId xmlns:a16="http://schemas.microsoft.com/office/drawing/2014/main" val="20007"/>
                    </a:ext>
                  </a:extLst>
                </a:gridCol>
                <a:gridCol w="4996506">
                  <a:extLst>
                    <a:ext uri="{9D8B030D-6E8A-4147-A177-3AD203B41FA5}">
                      <a16:colId xmlns:a16="http://schemas.microsoft.com/office/drawing/2014/main" val="20008"/>
                    </a:ext>
                  </a:extLst>
                </a:gridCol>
              </a:tblGrid>
              <a:tr h="457200">
                <a:tc>
                  <a:txBody>
                    <a:bodyPr/>
                    <a:lstStyle/>
                    <a:p>
                      <a:pPr algn="ctr"/>
                      <a:r>
                        <a:rPr sz="1200" b="1" i="0">
                          <a:solidFill>
                            <a:srgbClr val="FFFFFF"/>
                          </a:solidFill>
                          <a:latin typeface="Arial"/>
                        </a:rPr>
                        <a:t>Year</a:t>
                      </a:r>
                    </a:p>
                  </a:txBody>
                  <a:tcPr>
                    <a:solidFill>
                      <a:srgbClr val="002060"/>
                    </a:solidFill>
                  </a:tcPr>
                </a:tc>
                <a:tc>
                  <a:txBody>
                    <a:bodyPr/>
                    <a:lstStyle/>
                    <a:p>
                      <a:pPr algn="ctr"/>
                      <a:r>
                        <a:rPr sz="1200" b="1" i="0">
                          <a:solidFill>
                            <a:srgbClr val="FFFFFF"/>
                          </a:solidFill>
                          <a:latin typeface="Arial"/>
                        </a:rPr>
                        <a:t>Date</a:t>
                      </a:r>
                    </a:p>
                  </a:txBody>
                  <a:tcPr>
                    <a:solidFill>
                      <a:srgbClr val="002060"/>
                    </a:solidFill>
                  </a:tcPr>
                </a:tc>
                <a:tc>
                  <a:txBody>
                    <a:bodyPr/>
                    <a:lstStyle/>
                    <a:p>
                      <a:pPr algn="ctr"/>
                      <a:r>
                        <a:rPr sz="1200" b="1" i="0">
                          <a:solidFill>
                            <a:srgbClr val="FFFFFF"/>
                          </a:solidFill>
                          <a:latin typeface="Arial"/>
                        </a:rPr>
                        <a:t>Air Temp</a:t>
                      </a:r>
                    </a:p>
                  </a:txBody>
                  <a:tcPr>
                    <a:solidFill>
                      <a:srgbClr val="002060"/>
                    </a:solidFill>
                  </a:tcPr>
                </a:tc>
                <a:tc>
                  <a:txBody>
                    <a:bodyPr/>
                    <a:lstStyle/>
                    <a:p>
                      <a:pPr algn="ctr"/>
                      <a:r>
                        <a:rPr sz="1200" b="1" i="0">
                          <a:solidFill>
                            <a:srgbClr val="FFFFFF"/>
                          </a:solidFill>
                          <a:latin typeface="Arial"/>
                        </a:rPr>
                        <a:t>Humidity</a:t>
                      </a:r>
                    </a:p>
                  </a:txBody>
                  <a:tcPr>
                    <a:solidFill>
                      <a:srgbClr val="002060"/>
                    </a:solidFill>
                  </a:tcPr>
                </a:tc>
                <a:tc>
                  <a:txBody>
                    <a:bodyPr/>
                    <a:lstStyle/>
                    <a:p>
                      <a:pPr algn="ctr"/>
                      <a:r>
                        <a:rPr sz="1200" b="1" i="0">
                          <a:solidFill>
                            <a:srgbClr val="FFFFFF"/>
                          </a:solidFill>
                          <a:latin typeface="Arial"/>
                        </a:rPr>
                        <a:t>Wind (km/h)</a:t>
                      </a:r>
                    </a:p>
                  </a:txBody>
                  <a:tcPr>
                    <a:solidFill>
                      <a:srgbClr val="002060"/>
                    </a:solidFill>
                  </a:tcPr>
                </a:tc>
                <a:tc>
                  <a:txBody>
                    <a:bodyPr/>
                    <a:lstStyle/>
                    <a:p>
                      <a:pPr algn="ctr"/>
                      <a:r>
                        <a:rPr sz="1200" b="1" i="0">
                          <a:solidFill>
                            <a:srgbClr val="FFFFFF"/>
                          </a:solidFill>
                          <a:latin typeface="Arial"/>
                        </a:rPr>
                        <a:t>Precip (mm)</a:t>
                      </a:r>
                    </a:p>
                  </a:txBody>
                  <a:tcPr>
                    <a:solidFill>
                      <a:srgbClr val="002060"/>
                    </a:solidFill>
                  </a:tcPr>
                </a:tc>
                <a:tc>
                  <a:txBody>
                    <a:bodyPr/>
                    <a:lstStyle/>
                    <a:p>
                      <a:pPr algn="ctr"/>
                      <a:r>
                        <a:rPr sz="1200" b="1" i="0">
                          <a:solidFill>
                            <a:srgbClr val="FFFFFF"/>
                          </a:solidFill>
                          <a:latin typeface="Arial"/>
                        </a:rPr>
                        <a:t>Water Temp</a:t>
                      </a:r>
                    </a:p>
                  </a:txBody>
                  <a:tcPr>
                    <a:solidFill>
                      <a:srgbClr val="002060"/>
                    </a:solidFill>
                  </a:tcPr>
                </a:tc>
                <a:tc>
                  <a:txBody>
                    <a:bodyPr/>
                    <a:lstStyle/>
                    <a:p>
                      <a:pPr algn="ctr"/>
                      <a:r>
                        <a:rPr sz="1200" b="1" i="0">
                          <a:solidFill>
                            <a:srgbClr val="FFFFFF"/>
                          </a:solidFill>
                          <a:latin typeface="Arial"/>
                        </a:rPr>
                        <a:t>Wetsuit</a:t>
                      </a:r>
                    </a:p>
                  </a:txBody>
                  <a:tcPr>
                    <a:solidFill>
                      <a:srgbClr val="002060"/>
                    </a:solidFill>
                  </a:tcPr>
                </a:tc>
                <a:tc>
                  <a:txBody>
                    <a:bodyPr/>
                    <a:lstStyle/>
                    <a:p>
                      <a:pPr algn="ctr"/>
                      <a:r>
                        <a:rPr sz="1200" b="1" i="0">
                          <a:solidFill>
                            <a:srgbClr val="FFFFFF"/>
                          </a:solidFill>
                          <a:latin typeface="Arial"/>
                        </a:rPr>
                        <a:t>Conditions</a:t>
                      </a:r>
                    </a:p>
                  </a:txBody>
                  <a:tcPr>
                    <a:solidFill>
                      <a:srgbClr val="002060"/>
                    </a:solidFill>
                  </a:tcPr>
                </a:tc>
                <a:extLst>
                  <a:ext uri="{0D108BD9-81ED-4DB2-BD59-A6C34878D82A}">
                    <a16:rowId xmlns:a16="http://schemas.microsoft.com/office/drawing/2014/main" val="10000"/>
                  </a:ext>
                </a:extLst>
              </a:tr>
              <a:tr h="457200">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May 12</a:t>
                      </a:r>
                    </a:p>
                  </a:txBody>
                  <a:tcPr>
                    <a:solidFill>
                      <a:srgbClr val="FFFFFF"/>
                    </a:solidFill>
                  </a:tcPr>
                </a:tc>
                <a:tc>
                  <a:txBody>
                    <a:bodyPr/>
                    <a:lstStyle/>
                    <a:p>
                      <a:pPr algn="ctr"/>
                      <a:r>
                        <a:rPr sz="1000" b="0" i="0">
                          <a:solidFill>
                            <a:srgbClr val="262626"/>
                          </a:solidFill>
                          <a:latin typeface="Arial"/>
                        </a:rPr>
                        <a:t>20.1</a:t>
                      </a:r>
                    </a:p>
                  </a:txBody>
                  <a:tcPr>
                    <a:solidFill>
                      <a:srgbClr val="FFFFFF"/>
                    </a:solidFill>
                  </a:tcPr>
                </a:tc>
                <a:tc>
                  <a:txBody>
                    <a:bodyPr/>
                    <a:lstStyle/>
                    <a:p>
                      <a:pPr algn="ctr"/>
                      <a:r>
                        <a:rPr sz="1000" b="0" i="0">
                          <a:solidFill>
                            <a:srgbClr val="262626"/>
                          </a:solidFill>
                          <a:latin typeface="Arial"/>
                        </a:rPr>
                        <a:t>64%</a:t>
                      </a:r>
                    </a:p>
                  </a:txBody>
                  <a:tcPr>
                    <a:solidFill>
                      <a:srgbClr val="FFFFFF"/>
                    </a:solidFill>
                  </a:tcPr>
                </a:tc>
                <a:tc>
                  <a:txBody>
                    <a:bodyPr/>
                    <a:lstStyle/>
                    <a:p>
                      <a:pPr algn="ctr"/>
                      <a:r>
                        <a:rPr sz="1000" b="0" i="0">
                          <a:solidFill>
                            <a:srgbClr val="262626"/>
                          </a:solidFill>
                          <a:latin typeface="Arial"/>
                        </a:rPr>
                        <a:t>9</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457200">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May 18</a:t>
                      </a:r>
                    </a:p>
                  </a:txBody>
                  <a:tcPr>
                    <a:solidFill>
                      <a:srgbClr val="F2F2F2"/>
                    </a:solidFill>
                  </a:tcPr>
                </a:tc>
                <a:tc>
                  <a:txBody>
                    <a:bodyPr/>
                    <a:lstStyle/>
                    <a:p>
                      <a:pPr algn="ctr"/>
                      <a:r>
                        <a:rPr sz="1000" b="0" i="0">
                          <a:solidFill>
                            <a:srgbClr val="262626"/>
                          </a:solidFill>
                          <a:latin typeface="Arial"/>
                        </a:rPr>
                        <a:t>19.7</a:t>
                      </a:r>
                    </a:p>
                  </a:txBody>
                  <a:tcPr>
                    <a:solidFill>
                      <a:srgbClr val="F2F2F2"/>
                    </a:solidFill>
                  </a:tcPr>
                </a:tc>
                <a:tc>
                  <a:txBody>
                    <a:bodyPr/>
                    <a:lstStyle/>
                    <a:p>
                      <a:pPr algn="ctr"/>
                      <a:r>
                        <a:rPr sz="1000" b="0" i="0">
                          <a:solidFill>
                            <a:srgbClr val="262626"/>
                          </a:solidFill>
                          <a:latin typeface="Arial"/>
                        </a:rPr>
                        <a:t>62%</a:t>
                      </a:r>
                    </a:p>
                  </a:txBody>
                  <a:tcPr>
                    <a:solidFill>
                      <a:srgbClr val="F2F2F2"/>
                    </a:solidFill>
                  </a:tcPr>
                </a:tc>
                <a:tc>
                  <a:txBody>
                    <a:bodyPr/>
                    <a:lstStyle/>
                    <a:p>
                      <a:pPr algn="ctr"/>
                      <a:r>
                        <a:rPr sz="1000" b="0" i="0">
                          <a:solidFill>
                            <a:srgbClr val="262626"/>
                          </a:solidFill>
                          <a:latin typeface="Arial"/>
                        </a:rPr>
                        <a:t>21</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457200">
                <a:tc>
                  <a:txBody>
                    <a:bodyPr/>
                    <a:lstStyle/>
                    <a:p>
                      <a:pPr algn="ctr"/>
                      <a:r>
                        <a:rPr sz="1000" b="0" i="0">
                          <a:solidFill>
                            <a:srgbClr val="262626"/>
                          </a:solidFill>
                          <a:latin typeface="Arial"/>
                        </a:rPr>
                        <a:t>2021</a:t>
                      </a:r>
                    </a:p>
                  </a:txBody>
                  <a:tcPr>
                    <a:solidFill>
                      <a:srgbClr val="FFFFFF"/>
                    </a:solidFill>
                  </a:tcPr>
                </a:tc>
                <a:tc>
                  <a:txBody>
                    <a:bodyPr/>
                    <a:lstStyle/>
                    <a:p>
                      <a:pPr algn="ctr"/>
                      <a:r>
                        <a:rPr sz="1000" b="0" i="0">
                          <a:solidFill>
                            <a:srgbClr val="262626"/>
                          </a:solidFill>
                          <a:latin typeface="Arial"/>
                        </a:rPr>
                        <a:t>May 15</a:t>
                      </a:r>
                    </a:p>
                  </a:txBody>
                  <a:tcPr>
                    <a:solidFill>
                      <a:srgbClr val="FFFFFF"/>
                    </a:solidFill>
                  </a:tcPr>
                </a:tc>
                <a:tc>
                  <a:txBody>
                    <a:bodyPr/>
                    <a:lstStyle/>
                    <a:p>
                      <a:pPr algn="ctr"/>
                      <a:r>
                        <a:rPr sz="1000" b="0" i="0">
                          <a:solidFill>
                            <a:srgbClr val="262626"/>
                          </a:solidFill>
                          <a:latin typeface="Arial"/>
                        </a:rPr>
                        <a:t>22.1</a:t>
                      </a:r>
                    </a:p>
                  </a:txBody>
                  <a:tcPr>
                    <a:solidFill>
                      <a:srgbClr val="FFFFFF"/>
                    </a:solidFill>
                  </a:tcPr>
                </a:tc>
                <a:tc>
                  <a:txBody>
                    <a:bodyPr/>
                    <a:lstStyle/>
                    <a:p>
                      <a:pPr algn="ctr"/>
                      <a:r>
                        <a:rPr sz="1000" b="0" i="0">
                          <a:solidFill>
                            <a:srgbClr val="262626"/>
                          </a:solidFill>
                          <a:latin typeface="Arial"/>
                        </a:rPr>
                        <a:t>70%</a:t>
                      </a:r>
                    </a:p>
                  </a:txBody>
                  <a:tcPr>
                    <a:solidFill>
                      <a:srgbClr val="FFFFFF"/>
                    </a:solidFill>
                  </a:tcPr>
                </a:tc>
                <a:tc>
                  <a:txBody>
                    <a:bodyPr/>
                    <a:lstStyle/>
                    <a:p>
                      <a:pPr algn="ctr"/>
                      <a:r>
                        <a:rPr sz="1000" b="0" i="0">
                          <a:solidFill>
                            <a:srgbClr val="262626"/>
                          </a:solidFill>
                          <a:latin typeface="Arial"/>
                        </a:rPr>
                        <a:t>6</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457200">
                <a:tc>
                  <a:txBody>
                    <a:bodyPr/>
                    <a:lstStyle/>
                    <a:p>
                      <a:pPr algn="ctr"/>
                      <a:r>
                        <a:rPr sz="1000" b="0" i="0">
                          <a:solidFill>
                            <a:srgbClr val="262626"/>
                          </a:solidFill>
                          <a:latin typeface="Arial"/>
                        </a:rPr>
                        <a:t>2022</a:t>
                      </a:r>
                    </a:p>
                  </a:txBody>
                  <a:tcPr>
                    <a:solidFill>
                      <a:srgbClr val="F2F2F2"/>
                    </a:solidFill>
                  </a:tcPr>
                </a:tc>
                <a:tc>
                  <a:txBody>
                    <a:bodyPr/>
                    <a:lstStyle/>
                    <a:p>
                      <a:pPr algn="ctr"/>
                      <a:r>
                        <a:rPr sz="1000" b="0" i="0">
                          <a:solidFill>
                            <a:srgbClr val="262626"/>
                          </a:solidFill>
                          <a:latin typeface="Arial"/>
                        </a:rPr>
                        <a:t>May 14</a:t>
                      </a:r>
                    </a:p>
                  </a:txBody>
                  <a:tcPr>
                    <a:solidFill>
                      <a:srgbClr val="F2F2F2"/>
                    </a:solidFill>
                  </a:tcPr>
                </a:tc>
                <a:tc>
                  <a:txBody>
                    <a:bodyPr/>
                    <a:lstStyle/>
                    <a:p>
                      <a:pPr algn="ctr"/>
                      <a:r>
                        <a:rPr sz="1000" b="0" i="0">
                          <a:solidFill>
                            <a:srgbClr val="262626"/>
                          </a:solidFill>
                          <a:latin typeface="Arial"/>
                        </a:rPr>
                        <a:t>22.0</a:t>
                      </a:r>
                    </a:p>
                  </a:txBody>
                  <a:tcPr>
                    <a:solidFill>
                      <a:srgbClr val="F2F2F2"/>
                    </a:solidFill>
                  </a:tcPr>
                </a:tc>
                <a:tc>
                  <a:txBody>
                    <a:bodyPr/>
                    <a:lstStyle/>
                    <a:p>
                      <a:pPr algn="ctr"/>
                      <a:r>
                        <a:rPr sz="1000" b="0" i="0">
                          <a:solidFill>
                            <a:srgbClr val="262626"/>
                          </a:solidFill>
                          <a:latin typeface="Arial"/>
                        </a:rPr>
                        <a:t>93%</a:t>
                      </a:r>
                    </a:p>
                  </a:txBody>
                  <a:tcPr>
                    <a:solidFill>
                      <a:srgbClr val="F2F2F2"/>
                    </a:solidFill>
                  </a:tcPr>
                </a:tc>
                <a:tc>
                  <a:txBody>
                    <a:bodyPr/>
                    <a:lstStyle/>
                    <a:p>
                      <a:pPr algn="ctr"/>
                      <a:r>
                        <a:rPr sz="1000" b="0" i="0">
                          <a:solidFill>
                            <a:srgbClr val="262626"/>
                          </a:solidFill>
                          <a:latin typeface="Arial"/>
                        </a:rPr>
                        <a:t>15</a:t>
                      </a:r>
                    </a:p>
                  </a:txBody>
                  <a:tcPr>
                    <a:solidFill>
                      <a:srgbClr val="F2F2F2"/>
                    </a:solidFill>
                  </a:tcPr>
                </a:tc>
                <a:tc>
                  <a:txBody>
                    <a:bodyPr/>
                    <a:lstStyle/>
                    <a:p>
                      <a:pPr algn="ctr"/>
                      <a:r>
                        <a:rPr sz="1000" b="0" i="0">
                          <a:solidFill>
                            <a:srgbClr val="262626"/>
                          </a:solidFill>
                          <a:latin typeface="Arial"/>
                        </a:rPr>
                        <a:t>8.8</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457200">
                <a:tc>
                  <a:txBody>
                    <a:bodyPr/>
                    <a:lstStyle/>
                    <a:p>
                      <a:pPr algn="ctr"/>
                      <a:r>
                        <a:rPr sz="1000" b="0" i="0">
                          <a:solidFill>
                            <a:srgbClr val="262626"/>
                          </a:solidFill>
                          <a:latin typeface="Arial"/>
                        </a:rPr>
                        <a:t>2023</a:t>
                      </a:r>
                    </a:p>
                  </a:txBody>
                  <a:tcPr>
                    <a:solidFill>
                      <a:srgbClr val="FFFFFF"/>
                    </a:solidFill>
                  </a:tcPr>
                </a:tc>
                <a:tc>
                  <a:txBody>
                    <a:bodyPr/>
                    <a:lstStyle/>
                    <a:p>
                      <a:pPr algn="ctr"/>
                      <a:r>
                        <a:rPr sz="1000" b="0" i="0">
                          <a:solidFill>
                            <a:srgbClr val="262626"/>
                          </a:solidFill>
                          <a:latin typeface="Arial"/>
                        </a:rPr>
                        <a:t>May 13</a:t>
                      </a:r>
                    </a:p>
                  </a:txBody>
                  <a:tcPr>
                    <a:solidFill>
                      <a:srgbClr val="FFFFFF"/>
                    </a:solidFill>
                  </a:tcPr>
                </a:tc>
                <a:tc>
                  <a:txBody>
                    <a:bodyPr/>
                    <a:lstStyle/>
                    <a:p>
                      <a:pPr algn="ctr"/>
                      <a:r>
                        <a:rPr sz="1000" b="0" i="0">
                          <a:solidFill>
                            <a:srgbClr val="262626"/>
                          </a:solidFill>
                          <a:latin typeface="Arial"/>
                        </a:rPr>
                        <a:t>17.1</a:t>
                      </a:r>
                    </a:p>
                  </a:txBody>
                  <a:tcPr>
                    <a:solidFill>
                      <a:srgbClr val="FFFFFF"/>
                    </a:solidFill>
                  </a:tcPr>
                </a:tc>
                <a:tc>
                  <a:txBody>
                    <a:bodyPr/>
                    <a:lstStyle/>
                    <a:p>
                      <a:pPr algn="ctr"/>
                      <a:r>
                        <a:rPr sz="1000" b="0" i="0">
                          <a:solidFill>
                            <a:srgbClr val="262626"/>
                          </a:solidFill>
                          <a:latin typeface="Arial"/>
                        </a:rPr>
                        <a:t>78%</a:t>
                      </a:r>
                    </a:p>
                  </a:txBody>
                  <a:tcPr>
                    <a:solidFill>
                      <a:srgbClr val="FFFFFF"/>
                    </a:solidFill>
                  </a:tcPr>
                </a:tc>
                <a:tc>
                  <a:txBody>
                    <a:bodyPr/>
                    <a:lstStyle/>
                    <a:p>
                      <a:pPr algn="ctr"/>
                      <a:r>
                        <a:rPr sz="1000" b="0" i="0">
                          <a:solidFill>
                            <a:srgbClr val="262626"/>
                          </a:solidFill>
                          <a:latin typeface="Arial"/>
                        </a:rPr>
                        <a:t>12</a:t>
                      </a:r>
                    </a:p>
                  </a:txBody>
                  <a:tcPr>
                    <a:solidFill>
                      <a:srgbClr val="FFFFFF"/>
                    </a:solidFill>
                  </a:tcPr>
                </a:tc>
                <a:tc>
                  <a:txBody>
                    <a:bodyPr/>
                    <a:lstStyle/>
                    <a:p>
                      <a:pPr algn="ctr"/>
                      <a:r>
                        <a:rPr sz="1000" b="0" i="0">
                          <a:solidFill>
                            <a:srgbClr val="262626"/>
                          </a:solidFill>
                          <a:latin typeface="Arial"/>
                        </a:rPr>
                        <a:t>0.4</a:t>
                      </a:r>
                    </a:p>
                  </a:txBody>
                  <a:tcPr>
                    <a:solidFill>
                      <a:srgbClr val="FFFFFF"/>
                    </a:solidFill>
                  </a:tcPr>
                </a:tc>
                <a:tc>
                  <a:txBody>
                    <a:bodyPr/>
                    <a:lstStyle/>
                    <a:p>
                      <a:pPr algn="ctr"/>
                      <a:r>
                        <a:rPr sz="1000" b="0" i="0">
                          <a:solidFill>
                            <a:srgbClr val="262626"/>
                          </a:solidFill>
                          <a:latin typeface="Arial"/>
                        </a:rPr>
                        <a:t>17.5°*</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5"/>
                  </a:ext>
                </a:extLst>
              </a:tr>
              <a:tr h="457200">
                <a:tc>
                  <a:txBody>
                    <a:bodyPr/>
                    <a:lstStyle/>
                    <a:p>
                      <a:pPr algn="ctr"/>
                      <a:r>
                        <a:rPr sz="1000" b="0" i="0">
                          <a:solidFill>
                            <a:srgbClr val="262626"/>
                          </a:solidFill>
                          <a:latin typeface="Arial"/>
                        </a:rPr>
                        <a:t>2024</a:t>
                      </a:r>
                    </a:p>
                  </a:txBody>
                  <a:tcPr>
                    <a:solidFill>
                      <a:srgbClr val="F2F2F2"/>
                    </a:solidFill>
                  </a:tcPr>
                </a:tc>
                <a:tc>
                  <a:txBody>
                    <a:bodyPr/>
                    <a:lstStyle/>
                    <a:p>
                      <a:pPr algn="ctr"/>
                      <a:r>
                        <a:rPr sz="1000" b="0" i="0">
                          <a:solidFill>
                            <a:srgbClr val="262626"/>
                          </a:solidFill>
                          <a:latin typeface="Arial"/>
                        </a:rPr>
                        <a:t>May 11</a:t>
                      </a:r>
                    </a:p>
                  </a:txBody>
                  <a:tcPr>
                    <a:solidFill>
                      <a:srgbClr val="F2F2F2"/>
                    </a:solidFill>
                  </a:tcPr>
                </a:tc>
                <a:tc>
                  <a:txBody>
                    <a:bodyPr/>
                    <a:lstStyle/>
                    <a:p>
                      <a:pPr algn="ctr"/>
                      <a:r>
                        <a:rPr sz="1000" b="0" i="0">
                          <a:solidFill>
                            <a:srgbClr val="262626"/>
                          </a:solidFill>
                          <a:latin typeface="Arial"/>
                        </a:rPr>
                        <a:t>20.9</a:t>
                      </a:r>
                    </a:p>
                  </a:txBody>
                  <a:tcPr>
                    <a:solidFill>
                      <a:srgbClr val="F2F2F2"/>
                    </a:solidFill>
                  </a:tcPr>
                </a:tc>
                <a:tc>
                  <a:txBody>
                    <a:bodyPr/>
                    <a:lstStyle/>
                    <a:p>
                      <a:pPr algn="ctr"/>
                      <a:r>
                        <a:rPr sz="1000" b="0" i="0">
                          <a:solidFill>
                            <a:srgbClr val="262626"/>
                          </a:solidFill>
                          <a:latin typeface="Arial"/>
                        </a:rPr>
                        <a:t>56%</a:t>
                      </a:r>
                    </a:p>
                  </a:txBody>
                  <a:tcPr>
                    <a:solidFill>
                      <a:srgbClr val="F2F2F2"/>
                    </a:solidFill>
                  </a:tcPr>
                </a:tc>
                <a:tc>
                  <a:txBody>
                    <a:bodyPr/>
                    <a:lstStyle/>
                    <a:p>
                      <a:pPr algn="ctr"/>
                      <a:r>
                        <a:rPr sz="1000" b="0" i="0">
                          <a:solidFill>
                            <a:srgbClr val="262626"/>
                          </a:solidFill>
                          <a:latin typeface="Arial"/>
                        </a:rPr>
                        <a:t>28</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18.4°*</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6"/>
                  </a:ext>
                </a:extLst>
              </a:tr>
              <a:tr h="457200">
                <a:tc>
                  <a:txBody>
                    <a:bodyPr/>
                    <a:lstStyle/>
                    <a:p>
                      <a:pPr algn="ctr"/>
                      <a:r>
                        <a:rPr sz="1000" b="0" i="0">
                          <a:solidFill>
                            <a:srgbClr val="262626"/>
                          </a:solidFill>
                          <a:latin typeface="Arial"/>
                        </a:rPr>
                        <a:t>2025</a:t>
                      </a:r>
                    </a:p>
                  </a:txBody>
                  <a:tcPr>
                    <a:solidFill>
                      <a:srgbClr val="FFFFFF"/>
                    </a:solidFill>
                  </a:tcPr>
                </a:tc>
                <a:tc>
                  <a:txBody>
                    <a:bodyPr/>
                    <a:lstStyle/>
                    <a:p>
                      <a:pPr algn="ctr"/>
                      <a:r>
                        <a:rPr sz="1000" b="0" i="0">
                          <a:solidFill>
                            <a:srgbClr val="262626"/>
                          </a:solidFill>
                          <a:latin typeface="Arial"/>
                        </a:rPr>
                        <a:t>May 17</a:t>
                      </a:r>
                    </a:p>
                  </a:txBody>
                  <a:tcPr>
                    <a:solidFill>
                      <a:srgbClr val="FFFFFF"/>
                    </a:solidFill>
                  </a:tcPr>
                </a:tc>
                <a:tc>
                  <a:txBody>
                    <a:bodyPr/>
                    <a:lstStyle/>
                    <a:p>
                      <a:pPr algn="ctr"/>
                      <a:r>
                        <a:rPr sz="1000" b="0" i="0">
                          <a:solidFill>
                            <a:srgbClr val="262626"/>
                          </a:solidFill>
                          <a:latin typeface="Arial"/>
                        </a:rPr>
                        <a:t>21.6</a:t>
                      </a:r>
                    </a:p>
                  </a:txBody>
                  <a:tcPr>
                    <a:solidFill>
                      <a:srgbClr val="FFFFFF"/>
                    </a:solidFill>
                  </a:tcPr>
                </a:tc>
                <a:tc>
                  <a:txBody>
                    <a:bodyPr/>
                    <a:lstStyle/>
                    <a:p>
                      <a:pPr algn="ctr"/>
                      <a:r>
                        <a:rPr sz="1000" b="0" i="0">
                          <a:solidFill>
                            <a:srgbClr val="262626"/>
                          </a:solidFill>
                          <a:latin typeface="Arial"/>
                        </a:rPr>
                        <a:t>93%</a:t>
                      </a:r>
                    </a:p>
                  </a:txBody>
                  <a:tcPr>
                    <a:solidFill>
                      <a:srgbClr val="FFFFFF"/>
                    </a:solidFill>
                  </a:tcPr>
                </a:tc>
                <a:tc>
                  <a:txBody>
                    <a:bodyPr/>
                    <a:lstStyle/>
                    <a:p>
                      <a:pPr algn="ctr"/>
                      <a:r>
                        <a:rPr sz="1000" b="0" i="0">
                          <a:solidFill>
                            <a:srgbClr val="262626"/>
                          </a:solidFill>
                          <a:latin typeface="Arial"/>
                        </a:rPr>
                        <a:t>23</a:t>
                      </a:r>
                    </a:p>
                  </a:txBody>
                  <a:tcPr>
                    <a:solidFill>
                      <a:srgbClr val="FFFFFF"/>
                    </a:solidFill>
                  </a:tcPr>
                </a:tc>
                <a:tc>
                  <a:txBody>
                    <a:bodyPr/>
                    <a:lstStyle/>
                    <a:p>
                      <a:pPr algn="ctr"/>
                      <a:r>
                        <a:rPr sz="1000" b="0" i="0">
                          <a:solidFill>
                            <a:srgbClr val="262626"/>
                          </a:solidFill>
                          <a:latin typeface="Arial"/>
                        </a:rPr>
                        <a:t>1.5</a:t>
                      </a:r>
                    </a:p>
                  </a:txBody>
                  <a:tcPr>
                    <a:solidFill>
                      <a:srgbClr val="FFFFFF"/>
                    </a:solidFill>
                  </a:tcPr>
                </a:tc>
                <a:tc>
                  <a:txBody>
                    <a:bodyPr/>
                    <a:lstStyle/>
                    <a:p>
                      <a:pPr algn="ctr"/>
                      <a:r>
                        <a:rPr sz="1000" b="0" i="0">
                          <a:solidFill>
                            <a:srgbClr val="262626"/>
                          </a:solidFill>
                          <a:latin typeface="Arial"/>
                        </a:rPr>
                        <a:t>20.1</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274320" y="6035040"/>
            <a:ext cx="11640312" cy="658368"/>
          </a:xfrm>
          <a:prstGeom prst="rect">
            <a:avLst/>
          </a:prstGeom>
          <a:noFill/>
        </p:spPr>
        <p:txBody>
          <a:bodyPr wrap="square">
            <a:spAutoFit/>
          </a:bodyPr>
          <a:lstStyle/>
          <a:p>
            <a:pPr algn="l"/>
            <a:r>
              <a:rPr sz="900" b="0" i="1">
                <a:solidFill>
                  <a:srgbClr val="BFBFBF"/>
                </a:solidFill>
                <a:latin typeface="Arial"/>
              </a:rPr>
              <a:t>Air temp, humidity, wind, and precipitation sourced from Open-Meteo historical archive (race window 08:00–11:00 local) where WT API data is absent. Values marked * are Open-Meteo estimates. Water temp and wetsuit ruling are from the World Triathlon API per program.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57200"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3840480"/>
            <a:ext cx="105156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103120"/>
            <a:ext cx="10515600" cy="1645920"/>
          </a:xfrm>
          <a:prstGeom prst="rect">
            <a:avLst/>
          </a:prstGeom>
          <a:noFill/>
        </p:spPr>
        <p:txBody>
          <a:bodyPr wrap="square">
            <a:spAutoFit/>
          </a:bodyPr>
          <a:lstStyle/>
          <a:p>
            <a:pPr algn="ctr"/>
            <a:r>
              <a:rPr sz="6000" b="1" i="0">
                <a:solidFill>
                  <a:srgbClr val="FFFFFF"/>
                </a:solidFill>
                <a:latin typeface="Arial"/>
              </a:rPr>
              <a:t>ELITE WOMEN</a:t>
            </a:r>
          </a:p>
        </p:txBody>
      </p:sp>
      <p:pic>
        <p:nvPicPr>
          <p:cNvPr id="6" name="Picture 5" descr="USA_Triathlon_Logo.jpg"/>
          <p:cNvPicPr>
            <a:picLocks noChangeAspect="1"/>
          </p:cNvPicPr>
          <p:nvPr/>
        </p:nvPicPr>
        <p:blipFill>
          <a:blip r:embed="rId2"/>
          <a:stretch>
            <a:fillRect/>
          </a:stretch>
        </p:blipFill>
        <p:spPr>
          <a:xfrm>
            <a:off x="10058400" y="5760720"/>
            <a:ext cx="1828800" cy="10058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Overview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Yokohama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640080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115568"/>
            <a:ext cx="6035040" cy="274320"/>
          </a:xfrm>
          <a:prstGeom prst="rect">
            <a:avLst/>
          </a:prstGeom>
          <a:noFill/>
        </p:spPr>
        <p:txBody>
          <a:bodyPr wrap="square">
            <a:spAutoFit/>
          </a:bodyPr>
          <a:lstStyle/>
          <a:p>
            <a:pPr algn="l"/>
            <a:r>
              <a:rPr sz="1200" b="1" i="0">
                <a:solidFill>
                  <a:srgbClr val="FFFFFF"/>
                </a:solidFill>
                <a:latin typeface="Arial"/>
              </a:rPr>
              <a:t>RACE HISTORY AT YOKOHAMA</a:t>
            </a:r>
          </a:p>
        </p:txBody>
      </p:sp>
      <p:sp>
        <p:nvSpPr>
          <p:cNvPr id="10" name="TextBox 9"/>
          <p:cNvSpPr txBox="1"/>
          <p:nvPr/>
        </p:nvSpPr>
        <p:spPr>
          <a:xfrm>
            <a:off x="274320" y="1508760"/>
            <a:ext cx="6400800" cy="1752600"/>
          </a:xfrm>
          <a:prstGeom prst="rect">
            <a:avLst/>
          </a:prstGeom>
          <a:noFill/>
        </p:spPr>
        <p:txBody>
          <a:bodyPr wrap="square">
            <a:spAutoFit/>
          </a:bodyPr>
          <a:lstStyle/>
          <a:p>
            <a:pPr algn="l"/>
            <a:r>
              <a:rPr sz="1220" b="0" i="0">
                <a:solidFill>
                  <a:srgbClr val="232323"/>
                </a:solidFill>
                <a:latin typeface="Arial"/>
              </a:rPr>
              <a:t>The women’s race at Yokohama has usually been more selective than the men’s race. The swim matters more because the first athletes out of the water often form the key breakaway. The 2025 race was different, with heavy rain and a shortened bike bringing a larger group into T2, but the winner was still present at the front all day. Winning times usually sit from 1:51–1:54.</a:t>
            </a:r>
          </a:p>
        </p:txBody>
      </p:sp>
      <p:sp>
        <p:nvSpPr>
          <p:cNvPr id="11" name="Rectangle 10"/>
          <p:cNvSpPr/>
          <p:nvPr/>
        </p:nvSpPr>
        <p:spPr>
          <a:xfrm>
            <a:off x="6903720" y="1097280"/>
            <a:ext cx="4983480"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49440" y="1115568"/>
            <a:ext cx="4663440" cy="274320"/>
          </a:xfrm>
          <a:prstGeom prst="rect">
            <a:avLst/>
          </a:prstGeom>
          <a:noFill/>
        </p:spPr>
        <p:txBody>
          <a:bodyPr wrap="square">
            <a:spAutoFit/>
          </a:bodyPr>
          <a:lstStyle/>
          <a:p>
            <a:pPr algn="l"/>
            <a:r>
              <a:rPr sz="1200" b="1" i="0">
                <a:solidFill>
                  <a:srgbClr val="FFFFFF"/>
                </a:solidFill>
                <a:latin typeface="Arial"/>
              </a:rPr>
              <a:t>3 KEYS TO SUCCESS</a:t>
            </a:r>
          </a:p>
        </p:txBody>
      </p:sp>
      <p:sp>
        <p:nvSpPr>
          <p:cNvPr id="13" name="Rectangle 12"/>
          <p:cNvSpPr/>
          <p:nvPr/>
        </p:nvSpPr>
        <p:spPr>
          <a:xfrm>
            <a:off x="6949440" y="155448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14" name="TextBox 13"/>
          <p:cNvSpPr txBox="1"/>
          <p:nvPr/>
        </p:nvSpPr>
        <p:spPr>
          <a:xfrm>
            <a:off x="7452360" y="1536192"/>
            <a:ext cx="4434840" cy="523220"/>
          </a:xfrm>
          <a:prstGeom prst="rect">
            <a:avLst/>
          </a:prstGeom>
          <a:noFill/>
        </p:spPr>
        <p:txBody>
          <a:bodyPr wrap="square">
            <a:spAutoFit/>
          </a:bodyPr>
          <a:lstStyle/>
          <a:p>
            <a:pPr algn="l"/>
            <a:r>
              <a:rPr sz="1400" b="0" i="0" dirty="0">
                <a:solidFill>
                  <a:srgbClr val="232323"/>
                </a:solidFill>
                <a:latin typeface="Arial"/>
              </a:rPr>
              <a:t>Swim near the front to give yourself the best chance of making the likely break.</a:t>
            </a:r>
          </a:p>
        </p:txBody>
      </p:sp>
      <p:sp>
        <p:nvSpPr>
          <p:cNvPr id="15" name="Rectangle 14"/>
          <p:cNvSpPr/>
          <p:nvPr/>
        </p:nvSpPr>
        <p:spPr>
          <a:xfrm>
            <a:off x="6949440" y="324612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2</a:t>
            </a:r>
          </a:p>
        </p:txBody>
      </p:sp>
      <p:sp>
        <p:nvSpPr>
          <p:cNvPr id="16" name="TextBox 15"/>
          <p:cNvSpPr txBox="1"/>
          <p:nvPr/>
        </p:nvSpPr>
        <p:spPr>
          <a:xfrm>
            <a:off x="7452360" y="3227832"/>
            <a:ext cx="4434840" cy="738664"/>
          </a:xfrm>
          <a:prstGeom prst="rect">
            <a:avLst/>
          </a:prstGeom>
          <a:noFill/>
        </p:spPr>
        <p:txBody>
          <a:bodyPr wrap="square">
            <a:spAutoFit/>
          </a:bodyPr>
          <a:lstStyle/>
          <a:p>
            <a:pPr algn="l"/>
            <a:r>
              <a:rPr sz="1400" b="0" i="0" dirty="0">
                <a:solidFill>
                  <a:srgbClr val="232323"/>
                </a:solidFill>
                <a:latin typeface="Arial"/>
              </a:rPr>
              <a:t>Be ready for poor weather and high-stress bike positioning. Missing the front group can turn the rest of the day into a chase.</a:t>
            </a:r>
          </a:p>
        </p:txBody>
      </p:sp>
      <p:sp>
        <p:nvSpPr>
          <p:cNvPr id="17" name="Rectangle 16"/>
          <p:cNvSpPr/>
          <p:nvPr/>
        </p:nvSpPr>
        <p:spPr>
          <a:xfrm>
            <a:off x="6949440" y="493776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3</a:t>
            </a:r>
          </a:p>
        </p:txBody>
      </p:sp>
      <p:sp>
        <p:nvSpPr>
          <p:cNvPr id="18" name="TextBox 17"/>
          <p:cNvSpPr txBox="1"/>
          <p:nvPr/>
        </p:nvSpPr>
        <p:spPr>
          <a:xfrm>
            <a:off x="7452360" y="4919472"/>
            <a:ext cx="4434840" cy="523220"/>
          </a:xfrm>
          <a:prstGeom prst="rect">
            <a:avLst/>
          </a:prstGeom>
          <a:noFill/>
        </p:spPr>
        <p:txBody>
          <a:bodyPr wrap="square">
            <a:spAutoFit/>
          </a:bodyPr>
          <a:lstStyle/>
          <a:p>
            <a:pPr algn="l"/>
            <a:r>
              <a:rPr sz="1400" b="0" i="0" dirty="0">
                <a:solidFill>
                  <a:srgbClr val="232323"/>
                </a:solidFill>
                <a:latin typeface="Arial"/>
              </a:rPr>
              <a:t>To win, expect to need a sub-33:30 10K unless the front group builds a major bike advantage.</a:t>
            </a:r>
          </a:p>
        </p:txBody>
      </p:sp>
      <p:pic>
        <p:nvPicPr>
          <p:cNvPr id="19" name="Picture 18" descr="women_overview_crop.jpg"/>
          <p:cNvPicPr>
            <a:picLocks noChangeAspect="1"/>
          </p:cNvPicPr>
          <p:nvPr/>
        </p:nvPicPr>
        <p:blipFill>
          <a:blip r:embed="rId3"/>
          <a:stretch>
            <a:fillRect/>
          </a:stretch>
        </p:blipFill>
        <p:spPr>
          <a:xfrm>
            <a:off x="365760" y="3150000"/>
            <a:ext cx="6035040" cy="2600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Results Summary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Yokohama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591739804"/>
              </p:ext>
            </p:extLst>
          </p:nvPr>
        </p:nvGraphicFramePr>
        <p:xfrm>
          <a:off x="274321" y="1143000"/>
          <a:ext cx="11744448" cy="4096512"/>
        </p:xfrm>
        <a:graphic>
          <a:graphicData uri="http://schemas.openxmlformats.org/drawingml/2006/table">
            <a:tbl>
              <a:tblPr firstRow="1" bandRow="1">
                <a:tableStyleId>{5C22544A-7EE6-4342-B048-85BDC9FD1C3A}</a:tableStyleId>
              </a:tblPr>
              <a:tblGrid>
                <a:gridCol w="1045738">
                  <a:extLst>
                    <a:ext uri="{9D8B030D-6E8A-4147-A177-3AD203B41FA5}">
                      <a16:colId xmlns:a16="http://schemas.microsoft.com/office/drawing/2014/main" val="20000"/>
                    </a:ext>
                  </a:extLst>
                </a:gridCol>
                <a:gridCol w="1528387">
                  <a:extLst>
                    <a:ext uri="{9D8B030D-6E8A-4147-A177-3AD203B41FA5}">
                      <a16:colId xmlns:a16="http://schemas.microsoft.com/office/drawing/2014/main" val="20001"/>
                    </a:ext>
                  </a:extLst>
                </a:gridCol>
                <a:gridCol w="3217658">
                  <a:extLst>
                    <a:ext uri="{9D8B030D-6E8A-4147-A177-3AD203B41FA5}">
                      <a16:colId xmlns:a16="http://schemas.microsoft.com/office/drawing/2014/main" val="20002"/>
                    </a:ext>
                  </a:extLst>
                </a:gridCol>
                <a:gridCol w="965297">
                  <a:extLst>
                    <a:ext uri="{9D8B030D-6E8A-4147-A177-3AD203B41FA5}">
                      <a16:colId xmlns:a16="http://schemas.microsoft.com/office/drawing/2014/main" val="20003"/>
                    </a:ext>
                  </a:extLst>
                </a:gridCol>
                <a:gridCol w="3378539">
                  <a:extLst>
                    <a:ext uri="{9D8B030D-6E8A-4147-A177-3AD203B41FA5}">
                      <a16:colId xmlns:a16="http://schemas.microsoft.com/office/drawing/2014/main" val="20004"/>
                    </a:ext>
                  </a:extLst>
                </a:gridCol>
                <a:gridCol w="1608829">
                  <a:extLst>
                    <a:ext uri="{9D8B030D-6E8A-4147-A177-3AD203B41FA5}">
                      <a16:colId xmlns:a16="http://schemas.microsoft.com/office/drawing/2014/main" val="20005"/>
                    </a:ext>
                  </a:extLst>
                </a:gridCol>
              </a:tblGrid>
              <a:tr h="512064">
                <a:tc>
                  <a:txBody>
                    <a:bodyPr/>
                    <a:lstStyle/>
                    <a:p>
                      <a:pPr algn="ctr"/>
                      <a:r>
                        <a:rPr sz="1400" b="1" i="0">
                          <a:solidFill>
                            <a:srgbClr val="FFFFFF"/>
                          </a:solidFill>
                          <a:latin typeface="Arial"/>
                        </a:rPr>
                        <a:t>Year</a:t>
                      </a:r>
                    </a:p>
                  </a:txBody>
                  <a:tcPr>
                    <a:solidFill>
                      <a:srgbClr val="002060"/>
                    </a:solidFill>
                  </a:tcPr>
                </a:tc>
                <a:tc>
                  <a:txBody>
                    <a:bodyPr/>
                    <a:lstStyle/>
                    <a:p>
                      <a:pPr algn="ctr"/>
                      <a:r>
                        <a:rPr sz="1400" b="1" i="0">
                          <a:solidFill>
                            <a:srgbClr val="FFFFFF"/>
                          </a:solidFill>
                          <a:latin typeface="Arial"/>
                        </a:rPr>
                        <a:t>Date</a:t>
                      </a:r>
                    </a:p>
                  </a:txBody>
                  <a:tcPr>
                    <a:solidFill>
                      <a:srgbClr val="002060"/>
                    </a:solidFill>
                  </a:tcPr>
                </a:tc>
                <a:tc>
                  <a:txBody>
                    <a:bodyPr/>
                    <a:lstStyle/>
                    <a:p>
                      <a:pPr algn="ctr"/>
                      <a:r>
                        <a:rPr sz="1400" b="1" i="0">
                          <a:solidFill>
                            <a:srgbClr val="FFFFFF"/>
                          </a:solidFill>
                          <a:latin typeface="Arial"/>
                        </a:rPr>
                        <a:t>Category</a:t>
                      </a:r>
                    </a:p>
                  </a:txBody>
                  <a:tcPr>
                    <a:solidFill>
                      <a:srgbClr val="002060"/>
                    </a:solidFill>
                  </a:tcPr>
                </a:tc>
                <a:tc>
                  <a:txBody>
                    <a:bodyPr/>
                    <a:lstStyle/>
                    <a:p>
                      <a:pPr algn="ctr"/>
                      <a:r>
                        <a:rPr sz="1400" b="1" i="0">
                          <a:solidFill>
                            <a:srgbClr val="FFFFFF"/>
                          </a:solidFill>
                          <a:latin typeface="Arial"/>
                        </a:rPr>
                        <a:t>Field</a:t>
                      </a:r>
                    </a:p>
                  </a:txBody>
                  <a:tcPr>
                    <a:solidFill>
                      <a:srgbClr val="002060"/>
                    </a:solidFill>
                  </a:tcPr>
                </a:tc>
                <a:tc>
                  <a:txBody>
                    <a:bodyPr/>
                    <a:lstStyle/>
                    <a:p>
                      <a:pPr algn="ctr"/>
                      <a:r>
                        <a:rPr sz="1400" b="1" i="0">
                          <a:solidFill>
                            <a:srgbClr val="FFFFFF"/>
                          </a:solidFill>
                          <a:latin typeface="Arial"/>
                        </a:rPr>
                        <a:t>Winner</a:t>
                      </a:r>
                    </a:p>
                  </a:txBody>
                  <a:tcPr>
                    <a:solidFill>
                      <a:srgbClr val="002060"/>
                    </a:solidFill>
                  </a:tcPr>
                </a:tc>
                <a:tc>
                  <a:txBody>
                    <a:bodyPr/>
                    <a:lstStyle/>
                    <a:p>
                      <a:pPr algn="ctr"/>
                      <a:r>
                        <a:rPr sz="1400" b="1" i="0">
                          <a:solidFill>
                            <a:srgbClr val="FFFFFF"/>
                          </a:solidFill>
                          <a:latin typeface="Arial"/>
                        </a:rPr>
                        <a:t>Winner Time</a:t>
                      </a:r>
                    </a:p>
                  </a:txBody>
                  <a:tcPr>
                    <a:solidFill>
                      <a:srgbClr val="002060"/>
                    </a:solidFill>
                  </a:tcPr>
                </a:tc>
                <a:extLst>
                  <a:ext uri="{0D108BD9-81ED-4DB2-BD59-A6C34878D82A}">
                    <a16:rowId xmlns:a16="http://schemas.microsoft.com/office/drawing/2014/main" val="10000"/>
                  </a:ext>
                </a:extLst>
              </a:tr>
              <a:tr h="512064">
                <a:tc>
                  <a:txBody>
                    <a:bodyPr/>
                    <a:lstStyle/>
                    <a:p>
                      <a:pPr algn="ctr"/>
                      <a:r>
                        <a:rPr sz="1400" b="0" i="0">
                          <a:solidFill>
                            <a:srgbClr val="262626"/>
                          </a:solidFill>
                          <a:latin typeface="Arial"/>
                        </a:rPr>
                        <a:t>2018</a:t>
                      </a:r>
                    </a:p>
                  </a:txBody>
                  <a:tcPr>
                    <a:solidFill>
                      <a:srgbClr val="FFFFFF"/>
                    </a:solidFill>
                  </a:tcPr>
                </a:tc>
                <a:tc>
                  <a:txBody>
                    <a:bodyPr/>
                    <a:lstStyle/>
                    <a:p>
                      <a:pPr algn="ctr"/>
                      <a:r>
                        <a:rPr sz="1400" b="0" i="0">
                          <a:solidFill>
                            <a:srgbClr val="262626"/>
                          </a:solidFill>
                          <a:latin typeface="Arial"/>
                        </a:rPr>
                        <a:t>May 12</a:t>
                      </a:r>
                    </a:p>
                  </a:txBody>
                  <a:tcPr>
                    <a:solidFill>
                      <a:srgbClr val="FFFFFF"/>
                    </a:solidFill>
                  </a:tcPr>
                </a:tc>
                <a:tc>
                  <a:txBody>
                    <a:bodyPr/>
                    <a:lstStyle/>
                    <a:p>
                      <a:pPr algn="l"/>
                      <a:r>
                        <a:rPr sz="1200" b="0" i="0">
                          <a:solidFill>
                            <a:srgbClr val="262626"/>
                          </a:solidFill>
                          <a:latin typeface="Arial"/>
                        </a:rPr>
                        <a:t>World Championship Series</a:t>
                      </a:r>
                    </a:p>
                  </a:txBody>
                  <a:tcPr>
                    <a:solidFill>
                      <a:srgbClr val="FFFFFF"/>
                    </a:solidFill>
                  </a:tcPr>
                </a:tc>
                <a:tc>
                  <a:txBody>
                    <a:bodyPr/>
                    <a:lstStyle/>
                    <a:p>
                      <a:pPr algn="ctr"/>
                      <a:r>
                        <a:rPr sz="1400" b="0" i="0">
                          <a:solidFill>
                            <a:srgbClr val="262626"/>
                          </a:solidFill>
                          <a:latin typeface="Arial"/>
                        </a:rPr>
                        <a:t>46</a:t>
                      </a:r>
                    </a:p>
                  </a:txBody>
                  <a:tcPr>
                    <a:solidFill>
                      <a:srgbClr val="FFFFFF"/>
                    </a:solidFill>
                  </a:tcPr>
                </a:tc>
                <a:tc>
                  <a:txBody>
                    <a:bodyPr/>
                    <a:lstStyle/>
                    <a:p>
                      <a:pPr algn="l"/>
                      <a:r>
                        <a:rPr sz="1400" b="0" i="0">
                          <a:solidFill>
                            <a:srgbClr val="262626"/>
                          </a:solidFill>
                          <a:latin typeface="Arial"/>
                        </a:rPr>
                        <a:t>Duffy</a:t>
                      </a:r>
                    </a:p>
                  </a:txBody>
                  <a:tcPr>
                    <a:solidFill>
                      <a:srgbClr val="FFFFFF"/>
                    </a:solidFill>
                  </a:tcPr>
                </a:tc>
                <a:tc>
                  <a:txBody>
                    <a:bodyPr/>
                    <a:lstStyle/>
                    <a:p>
                      <a:pPr algn="ctr"/>
                      <a:r>
                        <a:rPr sz="1400" b="0" i="0">
                          <a:solidFill>
                            <a:srgbClr val="262626"/>
                          </a:solidFill>
                          <a:latin typeface="Arial"/>
                        </a:rPr>
                        <a:t>1:53:26</a:t>
                      </a:r>
                    </a:p>
                  </a:txBody>
                  <a:tcPr>
                    <a:solidFill>
                      <a:srgbClr val="FFFFFF"/>
                    </a:solidFill>
                  </a:tcPr>
                </a:tc>
                <a:extLst>
                  <a:ext uri="{0D108BD9-81ED-4DB2-BD59-A6C34878D82A}">
                    <a16:rowId xmlns:a16="http://schemas.microsoft.com/office/drawing/2014/main" val="10001"/>
                  </a:ext>
                </a:extLst>
              </a:tr>
              <a:tr h="512064">
                <a:tc>
                  <a:txBody>
                    <a:bodyPr/>
                    <a:lstStyle/>
                    <a:p>
                      <a:pPr algn="ctr"/>
                      <a:r>
                        <a:rPr sz="1400" b="0" i="0">
                          <a:solidFill>
                            <a:srgbClr val="262626"/>
                          </a:solidFill>
                          <a:latin typeface="Arial"/>
                        </a:rPr>
                        <a:t>2019</a:t>
                      </a:r>
                    </a:p>
                  </a:txBody>
                  <a:tcPr>
                    <a:solidFill>
                      <a:srgbClr val="F2F2F2"/>
                    </a:solidFill>
                  </a:tcPr>
                </a:tc>
                <a:tc>
                  <a:txBody>
                    <a:bodyPr/>
                    <a:lstStyle/>
                    <a:p>
                      <a:pPr algn="ctr"/>
                      <a:r>
                        <a:rPr sz="1400" b="0" i="0">
                          <a:solidFill>
                            <a:srgbClr val="262626"/>
                          </a:solidFill>
                          <a:latin typeface="Arial"/>
                        </a:rPr>
                        <a:t>May 18</a:t>
                      </a:r>
                    </a:p>
                  </a:txBody>
                  <a:tcPr>
                    <a:solidFill>
                      <a:srgbClr val="F2F2F2"/>
                    </a:solidFill>
                  </a:tcPr>
                </a:tc>
                <a:tc>
                  <a:txBody>
                    <a:bodyPr/>
                    <a:lstStyle/>
                    <a:p>
                      <a:pPr algn="l"/>
                      <a:r>
                        <a:rPr sz="1200" b="0" i="0">
                          <a:solidFill>
                            <a:srgbClr val="262626"/>
                          </a:solidFill>
                          <a:latin typeface="Arial"/>
                        </a:rPr>
                        <a:t>World Championship Series</a:t>
                      </a:r>
                    </a:p>
                  </a:txBody>
                  <a:tcPr>
                    <a:solidFill>
                      <a:srgbClr val="F2F2F2"/>
                    </a:solidFill>
                  </a:tcPr>
                </a:tc>
                <a:tc>
                  <a:txBody>
                    <a:bodyPr/>
                    <a:lstStyle/>
                    <a:p>
                      <a:pPr algn="ctr"/>
                      <a:r>
                        <a:rPr sz="1400" b="0" i="0">
                          <a:solidFill>
                            <a:srgbClr val="262626"/>
                          </a:solidFill>
                          <a:latin typeface="Arial"/>
                        </a:rPr>
                        <a:t>39</a:t>
                      </a:r>
                    </a:p>
                  </a:txBody>
                  <a:tcPr>
                    <a:solidFill>
                      <a:srgbClr val="F2F2F2"/>
                    </a:solidFill>
                  </a:tcPr>
                </a:tc>
                <a:tc>
                  <a:txBody>
                    <a:bodyPr/>
                    <a:lstStyle/>
                    <a:p>
                      <a:pPr algn="l"/>
                      <a:r>
                        <a:rPr sz="1400" b="0" i="0">
                          <a:solidFill>
                            <a:srgbClr val="262626"/>
                          </a:solidFill>
                          <a:latin typeface="Arial"/>
                        </a:rPr>
                        <a:t>Zaferes</a:t>
                      </a:r>
                    </a:p>
                  </a:txBody>
                  <a:tcPr>
                    <a:solidFill>
                      <a:srgbClr val="F2F2F2"/>
                    </a:solidFill>
                  </a:tcPr>
                </a:tc>
                <a:tc>
                  <a:txBody>
                    <a:bodyPr/>
                    <a:lstStyle/>
                    <a:p>
                      <a:pPr algn="ctr"/>
                      <a:r>
                        <a:rPr sz="1400" b="0" i="0">
                          <a:solidFill>
                            <a:srgbClr val="262626"/>
                          </a:solidFill>
                          <a:latin typeface="Arial"/>
                        </a:rPr>
                        <a:t>1:52:12</a:t>
                      </a:r>
                    </a:p>
                  </a:txBody>
                  <a:tcPr>
                    <a:solidFill>
                      <a:srgbClr val="F2F2F2"/>
                    </a:solidFill>
                  </a:tcPr>
                </a:tc>
                <a:extLst>
                  <a:ext uri="{0D108BD9-81ED-4DB2-BD59-A6C34878D82A}">
                    <a16:rowId xmlns:a16="http://schemas.microsoft.com/office/drawing/2014/main" val="10002"/>
                  </a:ext>
                </a:extLst>
              </a:tr>
              <a:tr h="512064">
                <a:tc>
                  <a:txBody>
                    <a:bodyPr/>
                    <a:lstStyle/>
                    <a:p>
                      <a:pPr algn="ctr"/>
                      <a:r>
                        <a:rPr sz="1400" b="0" i="0">
                          <a:solidFill>
                            <a:srgbClr val="262626"/>
                          </a:solidFill>
                          <a:latin typeface="Arial"/>
                        </a:rPr>
                        <a:t>2021</a:t>
                      </a:r>
                    </a:p>
                  </a:txBody>
                  <a:tcPr>
                    <a:solidFill>
                      <a:srgbClr val="FFFFFF"/>
                    </a:solidFill>
                  </a:tcPr>
                </a:tc>
                <a:tc>
                  <a:txBody>
                    <a:bodyPr/>
                    <a:lstStyle/>
                    <a:p>
                      <a:pPr algn="ctr"/>
                      <a:r>
                        <a:rPr sz="1400" b="0" i="0">
                          <a:solidFill>
                            <a:srgbClr val="262626"/>
                          </a:solidFill>
                          <a:latin typeface="Arial"/>
                        </a:rPr>
                        <a:t>May 15</a:t>
                      </a:r>
                    </a:p>
                  </a:txBody>
                  <a:tcPr>
                    <a:solidFill>
                      <a:srgbClr val="FFFFFF"/>
                    </a:solidFill>
                  </a:tcPr>
                </a:tc>
                <a:tc>
                  <a:txBody>
                    <a:bodyPr/>
                    <a:lstStyle/>
                    <a:p>
                      <a:pPr algn="l"/>
                      <a:r>
                        <a:rPr sz="1200" b="0" i="0">
                          <a:solidFill>
                            <a:srgbClr val="262626"/>
                          </a:solidFill>
                          <a:latin typeface="Arial"/>
                        </a:rPr>
                        <a:t>World Championship Series</a:t>
                      </a:r>
                    </a:p>
                  </a:txBody>
                  <a:tcPr>
                    <a:solidFill>
                      <a:srgbClr val="FFFFFF"/>
                    </a:solidFill>
                  </a:tcPr>
                </a:tc>
                <a:tc>
                  <a:txBody>
                    <a:bodyPr/>
                    <a:lstStyle/>
                    <a:p>
                      <a:pPr algn="ctr"/>
                      <a:r>
                        <a:rPr sz="1400" b="0" i="0">
                          <a:solidFill>
                            <a:srgbClr val="262626"/>
                          </a:solidFill>
                          <a:latin typeface="Arial"/>
                        </a:rPr>
                        <a:t>49</a:t>
                      </a:r>
                    </a:p>
                  </a:txBody>
                  <a:tcPr>
                    <a:solidFill>
                      <a:srgbClr val="FFFFFF"/>
                    </a:solidFill>
                  </a:tcPr>
                </a:tc>
                <a:tc>
                  <a:txBody>
                    <a:bodyPr/>
                    <a:lstStyle/>
                    <a:p>
                      <a:pPr algn="l"/>
                      <a:r>
                        <a:rPr sz="1400" b="0" i="0">
                          <a:solidFill>
                            <a:srgbClr val="262626"/>
                          </a:solidFill>
                          <a:latin typeface="Arial"/>
                        </a:rPr>
                        <a:t>Knibb</a:t>
                      </a:r>
                    </a:p>
                  </a:txBody>
                  <a:tcPr>
                    <a:solidFill>
                      <a:srgbClr val="FFFFFF"/>
                    </a:solidFill>
                  </a:tcPr>
                </a:tc>
                <a:tc>
                  <a:txBody>
                    <a:bodyPr/>
                    <a:lstStyle/>
                    <a:p>
                      <a:pPr algn="ctr"/>
                      <a:r>
                        <a:rPr sz="1400" b="0" i="0">
                          <a:solidFill>
                            <a:srgbClr val="262626"/>
                          </a:solidFill>
                          <a:latin typeface="Arial"/>
                        </a:rPr>
                        <a:t>1:54:27</a:t>
                      </a:r>
                    </a:p>
                  </a:txBody>
                  <a:tcPr>
                    <a:solidFill>
                      <a:srgbClr val="FFFFFF"/>
                    </a:solidFill>
                  </a:tcPr>
                </a:tc>
                <a:extLst>
                  <a:ext uri="{0D108BD9-81ED-4DB2-BD59-A6C34878D82A}">
                    <a16:rowId xmlns:a16="http://schemas.microsoft.com/office/drawing/2014/main" val="10003"/>
                  </a:ext>
                </a:extLst>
              </a:tr>
              <a:tr h="512064">
                <a:tc>
                  <a:txBody>
                    <a:bodyPr/>
                    <a:lstStyle/>
                    <a:p>
                      <a:pPr algn="ctr"/>
                      <a:r>
                        <a:rPr sz="1400" b="0" i="0">
                          <a:solidFill>
                            <a:srgbClr val="262626"/>
                          </a:solidFill>
                          <a:latin typeface="Arial"/>
                        </a:rPr>
                        <a:t>2022</a:t>
                      </a:r>
                    </a:p>
                  </a:txBody>
                  <a:tcPr>
                    <a:solidFill>
                      <a:srgbClr val="F2F2F2"/>
                    </a:solidFill>
                  </a:tcPr>
                </a:tc>
                <a:tc>
                  <a:txBody>
                    <a:bodyPr/>
                    <a:lstStyle/>
                    <a:p>
                      <a:pPr algn="ctr"/>
                      <a:r>
                        <a:rPr sz="1400" b="0" i="0">
                          <a:solidFill>
                            <a:srgbClr val="262626"/>
                          </a:solidFill>
                          <a:latin typeface="Arial"/>
                        </a:rPr>
                        <a:t>May 14</a:t>
                      </a:r>
                    </a:p>
                  </a:txBody>
                  <a:tcPr>
                    <a:solidFill>
                      <a:srgbClr val="F2F2F2"/>
                    </a:solidFill>
                  </a:tcPr>
                </a:tc>
                <a:tc>
                  <a:txBody>
                    <a:bodyPr/>
                    <a:lstStyle/>
                    <a:p>
                      <a:pPr algn="l"/>
                      <a:r>
                        <a:rPr sz="1200" b="0" i="0">
                          <a:solidFill>
                            <a:srgbClr val="262626"/>
                          </a:solidFill>
                          <a:latin typeface="Arial"/>
                        </a:rPr>
                        <a:t>World Championship Series *</a:t>
                      </a:r>
                    </a:p>
                  </a:txBody>
                  <a:tcPr>
                    <a:solidFill>
                      <a:srgbClr val="F2F2F2"/>
                    </a:solidFill>
                  </a:tcPr>
                </a:tc>
                <a:tc>
                  <a:txBody>
                    <a:bodyPr/>
                    <a:lstStyle/>
                    <a:p>
                      <a:pPr algn="ctr"/>
                      <a:r>
                        <a:rPr sz="1400" b="0" i="0">
                          <a:solidFill>
                            <a:srgbClr val="262626"/>
                          </a:solidFill>
                          <a:latin typeface="Arial"/>
                        </a:rPr>
                        <a:t>33</a:t>
                      </a:r>
                    </a:p>
                  </a:txBody>
                  <a:tcPr>
                    <a:solidFill>
                      <a:srgbClr val="F2F2F2"/>
                    </a:solidFill>
                  </a:tcPr>
                </a:tc>
                <a:tc>
                  <a:txBody>
                    <a:bodyPr/>
                    <a:lstStyle/>
                    <a:p>
                      <a:pPr algn="l"/>
                      <a:r>
                        <a:rPr sz="1400" b="0" i="0">
                          <a:solidFill>
                            <a:srgbClr val="262626"/>
                          </a:solidFill>
                          <a:latin typeface="Arial"/>
                        </a:rPr>
                        <a:t>Taylor-Brown</a:t>
                      </a:r>
                    </a:p>
                  </a:txBody>
                  <a:tcPr>
                    <a:solidFill>
                      <a:srgbClr val="F2F2F2"/>
                    </a:solidFill>
                  </a:tcPr>
                </a:tc>
                <a:tc>
                  <a:txBody>
                    <a:bodyPr/>
                    <a:lstStyle/>
                    <a:p>
                      <a:pPr algn="ctr"/>
                      <a:r>
                        <a:rPr sz="1400" b="0" i="0">
                          <a:solidFill>
                            <a:srgbClr val="262626"/>
                          </a:solidFill>
                          <a:latin typeface="Arial"/>
                        </a:rPr>
                        <a:t>1:51:44</a:t>
                      </a:r>
                    </a:p>
                  </a:txBody>
                  <a:tcPr>
                    <a:solidFill>
                      <a:srgbClr val="F2F2F2"/>
                    </a:solidFill>
                  </a:tcPr>
                </a:tc>
                <a:extLst>
                  <a:ext uri="{0D108BD9-81ED-4DB2-BD59-A6C34878D82A}">
                    <a16:rowId xmlns:a16="http://schemas.microsoft.com/office/drawing/2014/main" val="10004"/>
                  </a:ext>
                </a:extLst>
              </a:tr>
              <a:tr h="512064">
                <a:tc>
                  <a:txBody>
                    <a:bodyPr/>
                    <a:lstStyle/>
                    <a:p>
                      <a:pPr algn="ctr"/>
                      <a:r>
                        <a:rPr sz="1400" b="0" i="0">
                          <a:solidFill>
                            <a:srgbClr val="262626"/>
                          </a:solidFill>
                          <a:latin typeface="Arial"/>
                        </a:rPr>
                        <a:t>2023</a:t>
                      </a:r>
                    </a:p>
                  </a:txBody>
                  <a:tcPr>
                    <a:solidFill>
                      <a:srgbClr val="FFFFFF"/>
                    </a:solidFill>
                  </a:tcPr>
                </a:tc>
                <a:tc>
                  <a:txBody>
                    <a:bodyPr/>
                    <a:lstStyle/>
                    <a:p>
                      <a:pPr algn="ctr"/>
                      <a:r>
                        <a:rPr sz="1400" b="0" i="0">
                          <a:solidFill>
                            <a:srgbClr val="262626"/>
                          </a:solidFill>
                          <a:latin typeface="Arial"/>
                        </a:rPr>
                        <a:t>May 13</a:t>
                      </a:r>
                    </a:p>
                  </a:txBody>
                  <a:tcPr>
                    <a:solidFill>
                      <a:srgbClr val="FFFFFF"/>
                    </a:solidFill>
                  </a:tcPr>
                </a:tc>
                <a:tc>
                  <a:txBody>
                    <a:bodyPr/>
                    <a:lstStyle/>
                    <a:p>
                      <a:pPr algn="l"/>
                      <a:r>
                        <a:rPr sz="1200" b="0" i="0">
                          <a:solidFill>
                            <a:srgbClr val="262626"/>
                          </a:solidFill>
                          <a:latin typeface="Arial"/>
                        </a:rPr>
                        <a:t>World Championship Series *</a:t>
                      </a:r>
                    </a:p>
                  </a:txBody>
                  <a:tcPr>
                    <a:solidFill>
                      <a:srgbClr val="FFFFFF"/>
                    </a:solidFill>
                  </a:tcPr>
                </a:tc>
                <a:tc>
                  <a:txBody>
                    <a:bodyPr/>
                    <a:lstStyle/>
                    <a:p>
                      <a:pPr algn="ctr"/>
                      <a:r>
                        <a:rPr sz="1400" b="0" i="0">
                          <a:solidFill>
                            <a:srgbClr val="262626"/>
                          </a:solidFill>
                          <a:latin typeface="Arial"/>
                        </a:rPr>
                        <a:t>52</a:t>
                      </a:r>
                    </a:p>
                  </a:txBody>
                  <a:tcPr>
                    <a:solidFill>
                      <a:srgbClr val="FFFFFF"/>
                    </a:solidFill>
                  </a:tcPr>
                </a:tc>
                <a:tc>
                  <a:txBody>
                    <a:bodyPr/>
                    <a:lstStyle/>
                    <a:p>
                      <a:pPr algn="l"/>
                      <a:r>
                        <a:rPr sz="1400" b="0" i="0">
                          <a:solidFill>
                            <a:srgbClr val="262626"/>
                          </a:solidFill>
                          <a:latin typeface="Arial"/>
                        </a:rPr>
                        <a:t>Coldwell</a:t>
                      </a:r>
                    </a:p>
                  </a:txBody>
                  <a:tcPr>
                    <a:solidFill>
                      <a:srgbClr val="FFFFFF"/>
                    </a:solidFill>
                  </a:tcPr>
                </a:tc>
                <a:tc>
                  <a:txBody>
                    <a:bodyPr/>
                    <a:lstStyle/>
                    <a:p>
                      <a:pPr algn="ctr"/>
                      <a:r>
                        <a:rPr sz="1400" b="0" i="0">
                          <a:solidFill>
                            <a:srgbClr val="262626"/>
                          </a:solidFill>
                          <a:latin typeface="Arial"/>
                        </a:rPr>
                        <a:t>1:53:32</a:t>
                      </a:r>
                    </a:p>
                  </a:txBody>
                  <a:tcPr>
                    <a:solidFill>
                      <a:srgbClr val="FFFFFF"/>
                    </a:solidFill>
                  </a:tcPr>
                </a:tc>
                <a:extLst>
                  <a:ext uri="{0D108BD9-81ED-4DB2-BD59-A6C34878D82A}">
                    <a16:rowId xmlns:a16="http://schemas.microsoft.com/office/drawing/2014/main" val="10005"/>
                  </a:ext>
                </a:extLst>
              </a:tr>
              <a:tr h="512064">
                <a:tc>
                  <a:txBody>
                    <a:bodyPr/>
                    <a:lstStyle/>
                    <a:p>
                      <a:pPr algn="ctr"/>
                      <a:r>
                        <a:rPr sz="1400" b="0" i="0">
                          <a:solidFill>
                            <a:srgbClr val="262626"/>
                          </a:solidFill>
                          <a:latin typeface="Arial"/>
                        </a:rPr>
                        <a:t>2024</a:t>
                      </a:r>
                    </a:p>
                  </a:txBody>
                  <a:tcPr>
                    <a:solidFill>
                      <a:srgbClr val="F2F2F2"/>
                    </a:solidFill>
                  </a:tcPr>
                </a:tc>
                <a:tc>
                  <a:txBody>
                    <a:bodyPr/>
                    <a:lstStyle/>
                    <a:p>
                      <a:pPr algn="ctr"/>
                      <a:r>
                        <a:rPr sz="1400" b="0" i="0">
                          <a:solidFill>
                            <a:srgbClr val="262626"/>
                          </a:solidFill>
                          <a:latin typeface="Arial"/>
                        </a:rPr>
                        <a:t>May 11</a:t>
                      </a:r>
                    </a:p>
                  </a:txBody>
                  <a:tcPr>
                    <a:solidFill>
                      <a:srgbClr val="F2F2F2"/>
                    </a:solidFill>
                  </a:tcPr>
                </a:tc>
                <a:tc>
                  <a:txBody>
                    <a:bodyPr/>
                    <a:lstStyle/>
                    <a:p>
                      <a:pPr algn="l"/>
                      <a:r>
                        <a:rPr sz="1200" b="0" i="0">
                          <a:solidFill>
                            <a:srgbClr val="262626"/>
                          </a:solidFill>
                          <a:latin typeface="Arial"/>
                        </a:rPr>
                        <a:t>World Championship Series</a:t>
                      </a:r>
                    </a:p>
                  </a:txBody>
                  <a:tcPr>
                    <a:solidFill>
                      <a:srgbClr val="F2F2F2"/>
                    </a:solidFill>
                  </a:tcPr>
                </a:tc>
                <a:tc>
                  <a:txBody>
                    <a:bodyPr/>
                    <a:lstStyle/>
                    <a:p>
                      <a:pPr algn="ctr"/>
                      <a:r>
                        <a:rPr sz="1400" b="0" i="0">
                          <a:solidFill>
                            <a:srgbClr val="262626"/>
                          </a:solidFill>
                          <a:latin typeface="Arial"/>
                        </a:rPr>
                        <a:t>55</a:t>
                      </a:r>
                    </a:p>
                  </a:txBody>
                  <a:tcPr>
                    <a:solidFill>
                      <a:srgbClr val="F2F2F2"/>
                    </a:solidFill>
                  </a:tcPr>
                </a:tc>
                <a:tc>
                  <a:txBody>
                    <a:bodyPr/>
                    <a:lstStyle/>
                    <a:p>
                      <a:pPr algn="l"/>
                      <a:r>
                        <a:rPr sz="1400" b="0" i="0">
                          <a:solidFill>
                            <a:srgbClr val="262626"/>
                          </a:solidFill>
                          <a:latin typeface="Arial"/>
                        </a:rPr>
                        <a:t>Periault</a:t>
                      </a:r>
                    </a:p>
                  </a:txBody>
                  <a:tcPr>
                    <a:solidFill>
                      <a:srgbClr val="F2F2F2"/>
                    </a:solidFill>
                  </a:tcPr>
                </a:tc>
                <a:tc>
                  <a:txBody>
                    <a:bodyPr/>
                    <a:lstStyle/>
                    <a:p>
                      <a:pPr algn="ctr"/>
                      <a:r>
                        <a:rPr sz="1400" b="0" i="0">
                          <a:solidFill>
                            <a:srgbClr val="262626"/>
                          </a:solidFill>
                          <a:latin typeface="Arial"/>
                        </a:rPr>
                        <a:t>1:52:28</a:t>
                      </a:r>
                    </a:p>
                  </a:txBody>
                  <a:tcPr>
                    <a:solidFill>
                      <a:srgbClr val="F2F2F2"/>
                    </a:solidFill>
                  </a:tcPr>
                </a:tc>
                <a:extLst>
                  <a:ext uri="{0D108BD9-81ED-4DB2-BD59-A6C34878D82A}">
                    <a16:rowId xmlns:a16="http://schemas.microsoft.com/office/drawing/2014/main" val="10006"/>
                  </a:ext>
                </a:extLst>
              </a:tr>
              <a:tr h="512064">
                <a:tc>
                  <a:txBody>
                    <a:bodyPr/>
                    <a:lstStyle/>
                    <a:p>
                      <a:pPr algn="ctr"/>
                      <a:r>
                        <a:rPr sz="1400" b="0" i="0">
                          <a:solidFill>
                            <a:srgbClr val="262626"/>
                          </a:solidFill>
                          <a:latin typeface="Arial"/>
                        </a:rPr>
                        <a:t>2025</a:t>
                      </a:r>
                    </a:p>
                  </a:txBody>
                  <a:tcPr>
                    <a:solidFill>
                      <a:srgbClr val="FFFFFF"/>
                    </a:solidFill>
                  </a:tcPr>
                </a:tc>
                <a:tc>
                  <a:txBody>
                    <a:bodyPr/>
                    <a:lstStyle/>
                    <a:p>
                      <a:pPr algn="ctr"/>
                      <a:r>
                        <a:rPr sz="1400" b="0" i="0">
                          <a:solidFill>
                            <a:srgbClr val="262626"/>
                          </a:solidFill>
                          <a:latin typeface="Arial"/>
                        </a:rPr>
                        <a:t>May 17</a:t>
                      </a:r>
                    </a:p>
                  </a:txBody>
                  <a:tcPr>
                    <a:solidFill>
                      <a:srgbClr val="FFFFFF"/>
                    </a:solidFill>
                  </a:tcPr>
                </a:tc>
                <a:tc>
                  <a:txBody>
                    <a:bodyPr/>
                    <a:lstStyle/>
                    <a:p>
                      <a:pPr algn="l"/>
                      <a:r>
                        <a:rPr sz="1200" b="0" i="0">
                          <a:solidFill>
                            <a:srgbClr val="262626"/>
                          </a:solidFill>
                          <a:latin typeface="Arial"/>
                        </a:rPr>
                        <a:t>World Championship Series *</a:t>
                      </a:r>
                    </a:p>
                  </a:txBody>
                  <a:tcPr>
                    <a:solidFill>
                      <a:srgbClr val="FFFFFF"/>
                    </a:solidFill>
                  </a:tcPr>
                </a:tc>
                <a:tc>
                  <a:txBody>
                    <a:bodyPr/>
                    <a:lstStyle/>
                    <a:p>
                      <a:pPr algn="ctr"/>
                      <a:r>
                        <a:rPr sz="1400" b="0" i="0">
                          <a:solidFill>
                            <a:srgbClr val="262626"/>
                          </a:solidFill>
                          <a:latin typeface="Arial"/>
                        </a:rPr>
                        <a:t>40</a:t>
                      </a:r>
                    </a:p>
                  </a:txBody>
                  <a:tcPr>
                    <a:solidFill>
                      <a:srgbClr val="FFFFFF"/>
                    </a:solidFill>
                  </a:tcPr>
                </a:tc>
                <a:tc>
                  <a:txBody>
                    <a:bodyPr/>
                    <a:lstStyle/>
                    <a:p>
                      <a:pPr algn="l"/>
                      <a:r>
                        <a:rPr sz="1400" b="0" i="0">
                          <a:solidFill>
                            <a:srgbClr val="262626"/>
                          </a:solidFill>
                          <a:latin typeface="Arial"/>
                        </a:rPr>
                        <a:t>Lehair</a:t>
                      </a:r>
                    </a:p>
                  </a:txBody>
                  <a:tcPr>
                    <a:solidFill>
                      <a:srgbClr val="FFFFFF"/>
                    </a:solidFill>
                  </a:tcPr>
                </a:tc>
                <a:tc>
                  <a:txBody>
                    <a:bodyPr/>
                    <a:lstStyle/>
                    <a:p>
                      <a:pPr algn="ctr"/>
                      <a:r>
                        <a:rPr sz="1400" b="0" i="0" dirty="0">
                          <a:solidFill>
                            <a:srgbClr val="262626"/>
                          </a:solidFill>
                          <a:latin typeface="Arial"/>
                        </a:rPr>
                        <a:t>1:51:34</a:t>
                      </a:r>
                    </a:p>
                  </a:txBody>
                  <a:tcPr>
                    <a:solidFill>
                      <a:srgbClr val="FFFFFF"/>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274320" y="6492240"/>
            <a:ext cx="5486400" cy="256032"/>
          </a:xfrm>
          <a:prstGeom prst="rect">
            <a:avLst/>
          </a:prstGeom>
          <a:noFill/>
        </p:spPr>
        <p:txBody>
          <a:bodyPr wrap="square">
            <a:spAutoFit/>
          </a:bodyPr>
          <a:lstStyle/>
          <a:p>
            <a:pPr algn="l"/>
            <a:r>
              <a:rPr sz="800" b="0" i="1">
                <a:solidFill>
                  <a:srgbClr val="BFBFBF"/>
                </a:solidFill>
                <a:latin typeface="Arial"/>
              </a:rPr>
              <a:t>* Course distance changed vs. prior year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Exit Dynamics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Yokohama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143000"/>
            <a:ext cx="11640312" cy="53949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Pack Evolution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Yokohama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78992"/>
            <a:ext cx="11640312" cy="347472"/>
          </a:xfrm>
          <a:prstGeom prst="rect">
            <a:avLst/>
          </a:prstGeom>
          <a:noFill/>
        </p:spPr>
        <p:txBody>
          <a:bodyPr wrap="square">
            <a:spAutoFit/>
          </a:bodyPr>
          <a:lstStyle/>
          <a:p>
            <a:pPr algn="ctr"/>
            <a:r>
              <a:rPr sz="1050" b="0" i="1">
                <a:solidFill>
                  <a:srgbClr val="262626"/>
                </a:solidFill>
                <a:latin typeface="Arial"/>
              </a:rPr>
              <a:t>Lead pack = athletes within 15 sec of leader. T1 = lead group entering the bike; T2 = lead group exiting the bike.</a:t>
            </a:r>
          </a:p>
        </p:txBody>
      </p:sp>
      <p:pic>
        <p:nvPicPr>
          <p:cNvPr id="9" name="Picture 8" descr="image.png"/>
          <p:cNvPicPr>
            <a:picLocks noChangeAspect="1"/>
          </p:cNvPicPr>
          <p:nvPr/>
        </p:nvPicPr>
        <p:blipFill>
          <a:blip r:embed="rId3"/>
          <a:stretch>
            <a:fillRect/>
          </a:stretch>
        </p:blipFill>
        <p:spPr>
          <a:xfrm>
            <a:off x="988515" y="1291111"/>
            <a:ext cx="10211923" cy="3288993"/>
          </a:xfrm>
          <a:prstGeom prst="rect">
            <a:avLst/>
          </a:prstGeom>
        </p:spPr>
      </p:pic>
      <p:graphicFrame>
        <p:nvGraphicFramePr>
          <p:cNvPr id="10" name="Table 9"/>
          <p:cNvGraphicFramePr>
            <a:graphicFrameLocks noGrp="1"/>
          </p:cNvGraphicFramePr>
          <p:nvPr>
            <p:extLst>
              <p:ext uri="{D42A27DB-BD31-4B8C-83A1-F6EECF244321}">
                <p14:modId xmlns:p14="http://schemas.microsoft.com/office/powerpoint/2010/main" val="714296978"/>
              </p:ext>
            </p:extLst>
          </p:nvPr>
        </p:nvGraphicFramePr>
        <p:xfrm>
          <a:off x="274320" y="4624832"/>
          <a:ext cx="11640311" cy="189738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3822191">
                  <a:extLst>
                    <a:ext uri="{9D8B030D-6E8A-4147-A177-3AD203B41FA5}">
                      <a16:colId xmlns:a16="http://schemas.microsoft.com/office/drawing/2014/main" val="20005"/>
                    </a:ext>
                  </a:extLst>
                </a:gridCol>
              </a:tblGrid>
              <a:tr h="177165">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Lead Size @ T1</a:t>
                      </a:r>
                    </a:p>
                  </a:txBody>
                  <a:tcPr>
                    <a:solidFill>
                      <a:srgbClr val="002060"/>
                    </a:solidFill>
                  </a:tcPr>
                </a:tc>
                <a:tc>
                  <a:txBody>
                    <a:bodyPr/>
                    <a:lstStyle/>
                    <a:p>
                      <a:pPr algn="ctr"/>
                      <a:r>
                        <a:rPr sz="1000" b="1" i="0">
                          <a:solidFill>
                            <a:srgbClr val="FFFFFF"/>
                          </a:solidFill>
                          <a:latin typeface="Arial"/>
                        </a:rPr>
                        <a:t>Lead Size @ T2</a:t>
                      </a:r>
                    </a:p>
                  </a:txBody>
                  <a:tcPr>
                    <a:solidFill>
                      <a:srgbClr val="002060"/>
                    </a:solidFill>
                  </a:tcPr>
                </a:tc>
                <a:tc>
                  <a:txBody>
                    <a:bodyPr/>
                    <a:lstStyle/>
                    <a:p>
                      <a:pPr algn="ctr"/>
                      <a:r>
                        <a:rPr sz="1000" b="1" i="0">
                          <a:solidFill>
                            <a:srgbClr val="FFFFFF"/>
                          </a:solidFill>
                          <a:latin typeface="Arial"/>
                        </a:rPr>
                        <a:t>Change</a:t>
                      </a:r>
                    </a:p>
                  </a:txBody>
                  <a:tcPr>
                    <a:solidFill>
                      <a:srgbClr val="002060"/>
                    </a:solidFill>
                  </a:tcPr>
                </a:tc>
                <a:tc>
                  <a:txBody>
                    <a:bodyPr/>
                    <a:lstStyle/>
                    <a:p>
                      <a:pPr algn="ctr"/>
                      <a:r>
                        <a:rPr sz="1000" b="1" i="0">
                          <a:solidFill>
                            <a:srgbClr val="FFFFFF"/>
                          </a:solidFill>
                          <a:latin typeface="Arial"/>
                        </a:rPr>
                        <a:t>Chase Group @ T2</a:t>
                      </a:r>
                    </a:p>
                  </a:txBody>
                  <a:tcPr>
                    <a:solidFill>
                      <a:srgbClr val="002060"/>
                    </a:solidFill>
                  </a:tcPr>
                </a:tc>
                <a:tc>
                  <a:txBody>
                    <a:bodyPr/>
                    <a:lstStyle/>
                    <a:p>
                      <a:pPr algn="ctr"/>
                      <a:r>
                        <a:rPr sz="1000" b="1" i="0">
                          <a:solidFill>
                            <a:srgbClr val="FFFFFF"/>
                          </a:solidFill>
                          <a:latin typeface="Arial"/>
                        </a:rPr>
                        <a:t>Chase Gap*</a:t>
                      </a:r>
                    </a:p>
                  </a:txBody>
                  <a:tcPr>
                    <a:solidFill>
                      <a:srgbClr val="002060"/>
                    </a:solidFill>
                  </a:tcPr>
                </a:tc>
                <a:extLst>
                  <a:ext uri="{0D108BD9-81ED-4DB2-BD59-A6C34878D82A}">
                    <a16:rowId xmlns:a16="http://schemas.microsoft.com/office/drawing/2014/main" val="10000"/>
                  </a:ext>
                </a:extLst>
              </a:tr>
              <a:tr h="177165">
                <a:tc>
                  <a:txBody>
                    <a:bodyPr/>
                    <a:lstStyle/>
                    <a:p>
                      <a:pPr algn="ctr"/>
                      <a:r>
                        <a:rPr sz="950" b="0" i="0">
                          <a:solidFill>
                            <a:srgbClr val="262626"/>
                          </a:solidFill>
                          <a:latin typeface="Arial"/>
                        </a:rPr>
                        <a:t>2018</a:t>
                      </a:r>
                    </a:p>
                  </a:txBody>
                  <a:tcPr>
                    <a:solidFill>
                      <a:srgbClr val="FFFFFF"/>
                    </a:solidFill>
                  </a:tcPr>
                </a:tc>
                <a:tc>
                  <a:txBody>
                    <a:bodyPr/>
                    <a:lstStyle/>
                    <a:p>
                      <a:pPr algn="ctr"/>
                      <a:r>
                        <a:rPr sz="950" b="0" i="0">
                          <a:solidFill>
                            <a:srgbClr val="262626"/>
                          </a:solidFill>
                          <a:latin typeface="Arial"/>
                        </a:rPr>
                        <a:t>11</a:t>
                      </a:r>
                    </a:p>
                  </a:txBody>
                  <a:tcPr>
                    <a:solidFill>
                      <a:srgbClr val="FFFFFF"/>
                    </a:solidFill>
                  </a:tcPr>
                </a:tc>
                <a:tc>
                  <a:txBody>
                    <a:bodyPr/>
                    <a:lstStyle/>
                    <a:p>
                      <a:pPr algn="ctr"/>
                      <a:r>
                        <a:rPr sz="950" b="0" i="0">
                          <a:solidFill>
                            <a:srgbClr val="262626"/>
                          </a:solidFill>
                          <a:latin typeface="Arial"/>
                        </a:rPr>
                        <a:t>16</a:t>
                      </a:r>
                    </a:p>
                  </a:txBody>
                  <a:tcPr>
                    <a:solidFill>
                      <a:srgbClr val="FFFFFF"/>
                    </a:solidFill>
                  </a:tcPr>
                </a:tc>
                <a:tc>
                  <a:txBody>
                    <a:bodyPr/>
                    <a:lstStyle/>
                    <a:p>
                      <a:pPr algn="ctr"/>
                      <a:r>
                        <a:rPr sz="950" b="0" i="0">
                          <a:solidFill>
                            <a:srgbClr val="262626"/>
                          </a:solidFill>
                          <a:latin typeface="Arial"/>
                        </a:rPr>
                        <a:t>+5</a:t>
                      </a:r>
                    </a:p>
                  </a:txBody>
                  <a:tcPr>
                    <a:solidFill>
                      <a:srgbClr val="FFFFFF"/>
                    </a:solidFill>
                  </a:tcPr>
                </a:tc>
                <a:tc>
                  <a:txBody>
                    <a:bodyPr/>
                    <a:lstStyle/>
                    <a:p>
                      <a:pPr algn="ctr"/>
                      <a:r>
                        <a:rPr sz="950" b="0" i="0">
                          <a:solidFill>
                            <a:srgbClr val="262626"/>
                          </a:solidFill>
                          <a:latin typeface="Arial"/>
                        </a:rPr>
                        <a:t>20</a:t>
                      </a:r>
                    </a:p>
                  </a:txBody>
                  <a:tcPr>
                    <a:solidFill>
                      <a:srgbClr val="FFFFFF"/>
                    </a:solidFill>
                  </a:tcPr>
                </a:tc>
                <a:tc>
                  <a:txBody>
                    <a:bodyPr/>
                    <a:lstStyle/>
                    <a:p>
                      <a:pPr algn="ctr"/>
                      <a:r>
                        <a:rPr sz="950" b="0" i="0">
                          <a:solidFill>
                            <a:srgbClr val="262626"/>
                          </a:solidFill>
                          <a:latin typeface="Arial"/>
                        </a:rPr>
                        <a:t>71s</a:t>
                      </a:r>
                    </a:p>
                  </a:txBody>
                  <a:tcPr>
                    <a:solidFill>
                      <a:srgbClr val="FFFFFF"/>
                    </a:solidFill>
                  </a:tcPr>
                </a:tc>
                <a:extLst>
                  <a:ext uri="{0D108BD9-81ED-4DB2-BD59-A6C34878D82A}">
                    <a16:rowId xmlns:a16="http://schemas.microsoft.com/office/drawing/2014/main" val="10001"/>
                  </a:ext>
                </a:extLst>
              </a:tr>
              <a:tr h="177165">
                <a:tc>
                  <a:txBody>
                    <a:bodyPr/>
                    <a:lstStyle/>
                    <a:p>
                      <a:pPr algn="ctr"/>
                      <a:r>
                        <a:rPr sz="950" b="0" i="0">
                          <a:solidFill>
                            <a:srgbClr val="262626"/>
                          </a:solidFill>
                          <a:latin typeface="Arial"/>
                        </a:rPr>
                        <a:t>2019</a:t>
                      </a:r>
                    </a:p>
                  </a:txBody>
                  <a:tcPr>
                    <a:solidFill>
                      <a:srgbClr val="F2F2F2"/>
                    </a:solidFill>
                  </a:tcPr>
                </a:tc>
                <a:tc>
                  <a:txBody>
                    <a:bodyPr/>
                    <a:lstStyle/>
                    <a:p>
                      <a:pPr algn="ctr"/>
                      <a:r>
                        <a:rPr sz="950" b="0" i="0">
                          <a:solidFill>
                            <a:srgbClr val="262626"/>
                          </a:solidFill>
                          <a:latin typeface="Arial"/>
                        </a:rPr>
                        <a:t>14</a:t>
                      </a:r>
                    </a:p>
                  </a:txBody>
                  <a:tcPr>
                    <a:solidFill>
                      <a:srgbClr val="F2F2F2"/>
                    </a:solidFill>
                  </a:tcPr>
                </a:tc>
                <a:tc>
                  <a:txBody>
                    <a:bodyPr/>
                    <a:lstStyle/>
                    <a:p>
                      <a:pPr algn="ctr"/>
                      <a:r>
                        <a:rPr sz="950" b="0" i="0">
                          <a:solidFill>
                            <a:srgbClr val="262626"/>
                          </a:solidFill>
                          <a:latin typeface="Arial"/>
                        </a:rPr>
                        <a:t>12</a:t>
                      </a:r>
                    </a:p>
                  </a:txBody>
                  <a:tcPr>
                    <a:solidFill>
                      <a:srgbClr val="F2F2F2"/>
                    </a:solidFill>
                  </a:tcPr>
                </a:tc>
                <a:tc>
                  <a:txBody>
                    <a:bodyPr/>
                    <a:lstStyle/>
                    <a:p>
                      <a:pPr algn="ctr"/>
                      <a:r>
                        <a:rPr sz="950" b="0" i="0">
                          <a:solidFill>
                            <a:srgbClr val="262626"/>
                          </a:solidFill>
                          <a:latin typeface="Arial"/>
                        </a:rPr>
                        <a:t>-2</a:t>
                      </a:r>
                    </a:p>
                  </a:txBody>
                  <a:tcPr>
                    <a:solidFill>
                      <a:srgbClr val="F2F2F2"/>
                    </a:solidFill>
                  </a:tcPr>
                </a:tc>
                <a:tc>
                  <a:txBody>
                    <a:bodyPr/>
                    <a:lstStyle/>
                    <a:p>
                      <a:pPr algn="ctr"/>
                      <a:r>
                        <a:rPr sz="950" b="0" i="0">
                          <a:solidFill>
                            <a:srgbClr val="262626"/>
                          </a:solidFill>
                          <a:latin typeface="Arial"/>
                        </a:rPr>
                        <a:t>6</a:t>
                      </a:r>
                    </a:p>
                  </a:txBody>
                  <a:tcPr>
                    <a:solidFill>
                      <a:srgbClr val="F2F2F2"/>
                    </a:solidFill>
                  </a:tcPr>
                </a:tc>
                <a:tc>
                  <a:txBody>
                    <a:bodyPr/>
                    <a:lstStyle/>
                    <a:p>
                      <a:pPr algn="ctr"/>
                      <a:r>
                        <a:rPr sz="950" b="0" i="0">
                          <a:solidFill>
                            <a:srgbClr val="262626"/>
                          </a:solidFill>
                          <a:latin typeface="Arial"/>
                        </a:rPr>
                        <a:t>122s</a:t>
                      </a:r>
                    </a:p>
                  </a:txBody>
                  <a:tcPr>
                    <a:solidFill>
                      <a:srgbClr val="F2F2F2"/>
                    </a:solidFill>
                  </a:tcPr>
                </a:tc>
                <a:extLst>
                  <a:ext uri="{0D108BD9-81ED-4DB2-BD59-A6C34878D82A}">
                    <a16:rowId xmlns:a16="http://schemas.microsoft.com/office/drawing/2014/main" val="10002"/>
                  </a:ext>
                </a:extLst>
              </a:tr>
              <a:tr h="177165">
                <a:tc>
                  <a:txBody>
                    <a:bodyPr/>
                    <a:lstStyle/>
                    <a:p>
                      <a:pPr algn="ctr"/>
                      <a:r>
                        <a:rPr sz="950" b="0" i="0">
                          <a:solidFill>
                            <a:srgbClr val="262626"/>
                          </a:solidFill>
                          <a:latin typeface="Arial"/>
                        </a:rPr>
                        <a:t>2021</a:t>
                      </a:r>
                    </a:p>
                  </a:txBody>
                  <a:tcPr>
                    <a:solidFill>
                      <a:srgbClr val="FFFFFF"/>
                    </a:solidFill>
                  </a:tcPr>
                </a:tc>
                <a:tc>
                  <a:txBody>
                    <a:bodyPr/>
                    <a:lstStyle/>
                    <a:p>
                      <a:pPr algn="ctr"/>
                      <a:r>
                        <a:rPr sz="950" b="0" i="0">
                          <a:solidFill>
                            <a:srgbClr val="262626"/>
                          </a:solidFill>
                          <a:latin typeface="Arial"/>
                        </a:rPr>
                        <a:t>18</a:t>
                      </a:r>
                    </a:p>
                  </a:txBody>
                  <a:tcPr>
                    <a:solidFill>
                      <a:srgbClr val="FFFFFF"/>
                    </a:solidFill>
                  </a:tcPr>
                </a:tc>
                <a:tc>
                  <a:txBody>
                    <a:bodyPr/>
                    <a:lstStyle/>
                    <a:p>
                      <a:pPr algn="ctr"/>
                      <a:r>
                        <a:rPr sz="950" b="0" i="0">
                          <a:solidFill>
                            <a:srgbClr val="262626"/>
                          </a:solidFill>
                          <a:latin typeface="Arial"/>
                        </a:rPr>
                        <a:t>9</a:t>
                      </a:r>
                    </a:p>
                  </a:txBody>
                  <a:tcPr>
                    <a:solidFill>
                      <a:srgbClr val="FFFFFF"/>
                    </a:solidFill>
                  </a:tcPr>
                </a:tc>
                <a:tc>
                  <a:txBody>
                    <a:bodyPr/>
                    <a:lstStyle/>
                    <a:p>
                      <a:pPr algn="ctr"/>
                      <a:r>
                        <a:rPr sz="950" b="0" i="0">
                          <a:solidFill>
                            <a:srgbClr val="262626"/>
                          </a:solidFill>
                          <a:latin typeface="Arial"/>
                        </a:rPr>
                        <a:t>-9</a:t>
                      </a:r>
                    </a:p>
                  </a:txBody>
                  <a:tcPr>
                    <a:solidFill>
                      <a:srgbClr val="FFFFFF"/>
                    </a:solidFill>
                  </a:tcPr>
                </a:tc>
                <a:tc>
                  <a:txBody>
                    <a:bodyPr/>
                    <a:lstStyle/>
                    <a:p>
                      <a:pPr algn="ctr"/>
                      <a:r>
                        <a:rPr sz="950" b="0" i="0" dirty="0">
                          <a:solidFill>
                            <a:srgbClr val="262626"/>
                          </a:solidFill>
                          <a:latin typeface="Arial"/>
                        </a:rPr>
                        <a:t>26</a:t>
                      </a:r>
                    </a:p>
                  </a:txBody>
                  <a:tcPr>
                    <a:solidFill>
                      <a:srgbClr val="FFFFFF"/>
                    </a:solidFill>
                  </a:tcPr>
                </a:tc>
                <a:tc>
                  <a:txBody>
                    <a:bodyPr/>
                    <a:lstStyle/>
                    <a:p>
                      <a:pPr algn="ctr"/>
                      <a:r>
                        <a:rPr sz="950" b="0" i="0">
                          <a:solidFill>
                            <a:srgbClr val="262626"/>
                          </a:solidFill>
                          <a:latin typeface="Arial"/>
                        </a:rPr>
                        <a:t>124s</a:t>
                      </a:r>
                    </a:p>
                  </a:txBody>
                  <a:tcPr>
                    <a:solidFill>
                      <a:srgbClr val="FFFFFF"/>
                    </a:solidFill>
                  </a:tcPr>
                </a:tc>
                <a:extLst>
                  <a:ext uri="{0D108BD9-81ED-4DB2-BD59-A6C34878D82A}">
                    <a16:rowId xmlns:a16="http://schemas.microsoft.com/office/drawing/2014/main" val="10003"/>
                  </a:ext>
                </a:extLst>
              </a:tr>
              <a:tr h="177165">
                <a:tc>
                  <a:txBody>
                    <a:bodyPr/>
                    <a:lstStyle/>
                    <a:p>
                      <a:pPr algn="ctr"/>
                      <a:r>
                        <a:rPr sz="950" b="0" i="0">
                          <a:solidFill>
                            <a:srgbClr val="262626"/>
                          </a:solidFill>
                          <a:latin typeface="Arial"/>
                        </a:rPr>
                        <a:t>2022</a:t>
                      </a:r>
                    </a:p>
                  </a:txBody>
                  <a:tcPr>
                    <a:solidFill>
                      <a:srgbClr val="F2F2F2"/>
                    </a:solidFill>
                  </a:tcPr>
                </a:tc>
                <a:tc>
                  <a:txBody>
                    <a:bodyPr/>
                    <a:lstStyle/>
                    <a:p>
                      <a:pPr algn="ctr"/>
                      <a:r>
                        <a:rPr sz="950" b="0" i="0">
                          <a:solidFill>
                            <a:srgbClr val="262626"/>
                          </a:solidFill>
                          <a:latin typeface="Arial"/>
                        </a:rPr>
                        <a:t>22</a:t>
                      </a:r>
                    </a:p>
                  </a:txBody>
                  <a:tcPr>
                    <a:solidFill>
                      <a:srgbClr val="F2F2F2"/>
                    </a:solidFill>
                  </a:tcPr>
                </a:tc>
                <a:tc>
                  <a:txBody>
                    <a:bodyPr/>
                    <a:lstStyle/>
                    <a:p>
                      <a:pPr algn="ctr"/>
                      <a:r>
                        <a:rPr sz="950" b="0" i="0">
                          <a:solidFill>
                            <a:srgbClr val="262626"/>
                          </a:solidFill>
                          <a:latin typeface="Arial"/>
                        </a:rPr>
                        <a:t>18</a:t>
                      </a:r>
                    </a:p>
                  </a:txBody>
                  <a:tcPr>
                    <a:solidFill>
                      <a:srgbClr val="F2F2F2"/>
                    </a:solidFill>
                  </a:tcPr>
                </a:tc>
                <a:tc>
                  <a:txBody>
                    <a:bodyPr/>
                    <a:lstStyle/>
                    <a:p>
                      <a:pPr algn="ctr"/>
                      <a:r>
                        <a:rPr sz="950" b="0" i="0">
                          <a:solidFill>
                            <a:srgbClr val="262626"/>
                          </a:solidFill>
                          <a:latin typeface="Arial"/>
                        </a:rPr>
                        <a:t>-4</a:t>
                      </a:r>
                    </a:p>
                  </a:txBody>
                  <a:tcPr>
                    <a:solidFill>
                      <a:srgbClr val="F2F2F2"/>
                    </a:solidFill>
                  </a:tcPr>
                </a:tc>
                <a:tc>
                  <a:txBody>
                    <a:bodyPr/>
                    <a:lstStyle/>
                    <a:p>
                      <a:pPr algn="ctr"/>
                      <a:r>
                        <a:rPr sz="950" b="0" i="0">
                          <a:solidFill>
                            <a:srgbClr val="262626"/>
                          </a:solidFill>
                          <a:latin typeface="Arial"/>
                        </a:rPr>
                        <a:t>14</a:t>
                      </a:r>
                    </a:p>
                  </a:txBody>
                  <a:tcPr>
                    <a:solidFill>
                      <a:srgbClr val="F2F2F2"/>
                    </a:solidFill>
                  </a:tcPr>
                </a:tc>
                <a:tc>
                  <a:txBody>
                    <a:bodyPr/>
                    <a:lstStyle/>
                    <a:p>
                      <a:pPr algn="ctr"/>
                      <a:r>
                        <a:rPr sz="950" b="0" i="0">
                          <a:solidFill>
                            <a:srgbClr val="262626"/>
                          </a:solidFill>
                          <a:latin typeface="Arial"/>
                        </a:rPr>
                        <a:t>156s</a:t>
                      </a:r>
                    </a:p>
                  </a:txBody>
                  <a:tcPr>
                    <a:solidFill>
                      <a:srgbClr val="F2F2F2"/>
                    </a:solidFill>
                  </a:tcPr>
                </a:tc>
                <a:extLst>
                  <a:ext uri="{0D108BD9-81ED-4DB2-BD59-A6C34878D82A}">
                    <a16:rowId xmlns:a16="http://schemas.microsoft.com/office/drawing/2014/main" val="10004"/>
                  </a:ext>
                </a:extLst>
              </a:tr>
              <a:tr h="177165">
                <a:tc>
                  <a:txBody>
                    <a:bodyPr/>
                    <a:lstStyle/>
                    <a:p>
                      <a:pPr algn="ctr"/>
                      <a:r>
                        <a:rPr sz="950" b="0" i="0">
                          <a:solidFill>
                            <a:srgbClr val="262626"/>
                          </a:solidFill>
                          <a:latin typeface="Arial"/>
                        </a:rPr>
                        <a:t>2023</a:t>
                      </a:r>
                    </a:p>
                  </a:txBody>
                  <a:tcPr>
                    <a:solidFill>
                      <a:srgbClr val="FFFFFF"/>
                    </a:solidFill>
                  </a:tcPr>
                </a:tc>
                <a:tc>
                  <a:txBody>
                    <a:bodyPr/>
                    <a:lstStyle/>
                    <a:p>
                      <a:pPr algn="ctr"/>
                      <a:r>
                        <a:rPr sz="950" b="0" i="0">
                          <a:solidFill>
                            <a:srgbClr val="262626"/>
                          </a:solidFill>
                          <a:latin typeface="Arial"/>
                        </a:rPr>
                        <a:t>17</a:t>
                      </a:r>
                    </a:p>
                  </a:txBody>
                  <a:tcPr>
                    <a:solidFill>
                      <a:srgbClr val="FFFFFF"/>
                    </a:solidFill>
                  </a:tcPr>
                </a:tc>
                <a:tc>
                  <a:txBody>
                    <a:bodyPr/>
                    <a:lstStyle/>
                    <a:p>
                      <a:pPr algn="ctr"/>
                      <a:r>
                        <a:rPr sz="950" b="0" i="0">
                          <a:solidFill>
                            <a:srgbClr val="262626"/>
                          </a:solidFill>
                          <a:latin typeface="Arial"/>
                        </a:rPr>
                        <a:t>15</a:t>
                      </a:r>
                    </a:p>
                  </a:txBody>
                  <a:tcPr>
                    <a:solidFill>
                      <a:srgbClr val="FFFFFF"/>
                    </a:solidFill>
                  </a:tcPr>
                </a:tc>
                <a:tc>
                  <a:txBody>
                    <a:bodyPr/>
                    <a:lstStyle/>
                    <a:p>
                      <a:pPr algn="ctr"/>
                      <a:r>
                        <a:rPr sz="950" b="0" i="0">
                          <a:solidFill>
                            <a:srgbClr val="262626"/>
                          </a:solidFill>
                          <a:latin typeface="Arial"/>
                        </a:rPr>
                        <a:t>-2</a:t>
                      </a:r>
                    </a:p>
                  </a:txBody>
                  <a:tcPr>
                    <a:solidFill>
                      <a:srgbClr val="FFFFFF"/>
                    </a:solidFill>
                  </a:tcPr>
                </a:tc>
                <a:tc>
                  <a:txBody>
                    <a:bodyPr/>
                    <a:lstStyle/>
                    <a:p>
                      <a:pPr algn="ctr"/>
                      <a:r>
                        <a:rPr sz="950" b="0" i="0">
                          <a:solidFill>
                            <a:srgbClr val="262626"/>
                          </a:solidFill>
                          <a:latin typeface="Arial"/>
                        </a:rPr>
                        <a:t>12</a:t>
                      </a:r>
                    </a:p>
                  </a:txBody>
                  <a:tcPr>
                    <a:solidFill>
                      <a:srgbClr val="FFFFFF"/>
                    </a:solidFill>
                  </a:tcPr>
                </a:tc>
                <a:tc>
                  <a:txBody>
                    <a:bodyPr/>
                    <a:lstStyle/>
                    <a:p>
                      <a:pPr algn="ctr"/>
                      <a:r>
                        <a:rPr sz="950" b="0" i="0">
                          <a:solidFill>
                            <a:srgbClr val="262626"/>
                          </a:solidFill>
                          <a:latin typeface="Arial"/>
                        </a:rPr>
                        <a:t>90s</a:t>
                      </a:r>
                    </a:p>
                  </a:txBody>
                  <a:tcPr>
                    <a:solidFill>
                      <a:srgbClr val="FFFFFF"/>
                    </a:solidFill>
                  </a:tcPr>
                </a:tc>
                <a:extLst>
                  <a:ext uri="{0D108BD9-81ED-4DB2-BD59-A6C34878D82A}">
                    <a16:rowId xmlns:a16="http://schemas.microsoft.com/office/drawing/2014/main" val="10005"/>
                  </a:ext>
                </a:extLst>
              </a:tr>
              <a:tr h="177165">
                <a:tc>
                  <a:txBody>
                    <a:bodyPr/>
                    <a:lstStyle/>
                    <a:p>
                      <a:pPr algn="ctr"/>
                      <a:r>
                        <a:rPr sz="950" b="0" i="0">
                          <a:solidFill>
                            <a:srgbClr val="262626"/>
                          </a:solidFill>
                          <a:latin typeface="Arial"/>
                        </a:rPr>
                        <a:t>2024</a:t>
                      </a:r>
                    </a:p>
                  </a:txBody>
                  <a:tcPr>
                    <a:solidFill>
                      <a:srgbClr val="F2F2F2"/>
                    </a:solidFill>
                  </a:tcPr>
                </a:tc>
                <a:tc>
                  <a:txBody>
                    <a:bodyPr/>
                    <a:lstStyle/>
                    <a:p>
                      <a:pPr algn="ctr"/>
                      <a:r>
                        <a:rPr sz="950" b="0" i="0">
                          <a:solidFill>
                            <a:srgbClr val="262626"/>
                          </a:solidFill>
                          <a:latin typeface="Arial"/>
                        </a:rPr>
                        <a:t>21</a:t>
                      </a:r>
                    </a:p>
                  </a:txBody>
                  <a:tcPr>
                    <a:solidFill>
                      <a:srgbClr val="F2F2F2"/>
                    </a:solidFill>
                  </a:tcPr>
                </a:tc>
                <a:tc>
                  <a:txBody>
                    <a:bodyPr/>
                    <a:lstStyle/>
                    <a:p>
                      <a:pPr algn="ctr"/>
                      <a:r>
                        <a:rPr sz="950" b="0" i="0">
                          <a:solidFill>
                            <a:srgbClr val="262626"/>
                          </a:solidFill>
                          <a:latin typeface="Arial"/>
                        </a:rPr>
                        <a:t>19</a:t>
                      </a:r>
                    </a:p>
                  </a:txBody>
                  <a:tcPr>
                    <a:solidFill>
                      <a:srgbClr val="F2F2F2"/>
                    </a:solidFill>
                  </a:tcPr>
                </a:tc>
                <a:tc>
                  <a:txBody>
                    <a:bodyPr/>
                    <a:lstStyle/>
                    <a:p>
                      <a:pPr algn="ctr"/>
                      <a:r>
                        <a:rPr sz="950" b="0" i="0">
                          <a:solidFill>
                            <a:srgbClr val="262626"/>
                          </a:solidFill>
                          <a:latin typeface="Arial"/>
                        </a:rPr>
                        <a:t>-2</a:t>
                      </a:r>
                    </a:p>
                  </a:txBody>
                  <a:tcPr>
                    <a:solidFill>
                      <a:srgbClr val="F2F2F2"/>
                    </a:solidFill>
                  </a:tcPr>
                </a:tc>
                <a:tc>
                  <a:txBody>
                    <a:bodyPr/>
                    <a:lstStyle/>
                    <a:p>
                      <a:pPr algn="ctr"/>
                      <a:r>
                        <a:rPr sz="950" b="0" i="0">
                          <a:solidFill>
                            <a:srgbClr val="262626"/>
                          </a:solidFill>
                          <a:latin typeface="Arial"/>
                        </a:rPr>
                        <a:t>5</a:t>
                      </a:r>
                    </a:p>
                  </a:txBody>
                  <a:tcPr>
                    <a:solidFill>
                      <a:srgbClr val="F2F2F2"/>
                    </a:solidFill>
                  </a:tcPr>
                </a:tc>
                <a:tc>
                  <a:txBody>
                    <a:bodyPr/>
                    <a:lstStyle/>
                    <a:p>
                      <a:pPr algn="ctr"/>
                      <a:r>
                        <a:rPr sz="950" b="0" i="0">
                          <a:solidFill>
                            <a:srgbClr val="262626"/>
                          </a:solidFill>
                          <a:latin typeface="Arial"/>
                        </a:rPr>
                        <a:t>64s</a:t>
                      </a:r>
                    </a:p>
                  </a:txBody>
                  <a:tcPr>
                    <a:solidFill>
                      <a:srgbClr val="F2F2F2"/>
                    </a:solidFill>
                  </a:tcPr>
                </a:tc>
                <a:extLst>
                  <a:ext uri="{0D108BD9-81ED-4DB2-BD59-A6C34878D82A}">
                    <a16:rowId xmlns:a16="http://schemas.microsoft.com/office/drawing/2014/main" val="10006"/>
                  </a:ext>
                </a:extLst>
              </a:tr>
              <a:tr h="177165">
                <a:tc>
                  <a:txBody>
                    <a:bodyPr/>
                    <a:lstStyle/>
                    <a:p>
                      <a:pPr algn="ctr"/>
                      <a:r>
                        <a:rPr sz="950" b="0" i="0">
                          <a:solidFill>
                            <a:srgbClr val="262626"/>
                          </a:solidFill>
                          <a:latin typeface="Arial"/>
                        </a:rPr>
                        <a:t>2025</a:t>
                      </a:r>
                    </a:p>
                  </a:txBody>
                  <a:tcPr>
                    <a:solidFill>
                      <a:srgbClr val="FFFFFF"/>
                    </a:solidFill>
                  </a:tcPr>
                </a:tc>
                <a:tc>
                  <a:txBody>
                    <a:bodyPr/>
                    <a:lstStyle/>
                    <a:p>
                      <a:pPr algn="ctr"/>
                      <a:r>
                        <a:rPr sz="950" b="0" i="0">
                          <a:solidFill>
                            <a:srgbClr val="262626"/>
                          </a:solidFill>
                          <a:latin typeface="Arial"/>
                        </a:rPr>
                        <a:t>6</a:t>
                      </a:r>
                    </a:p>
                  </a:txBody>
                  <a:tcPr>
                    <a:solidFill>
                      <a:srgbClr val="FFFFFF"/>
                    </a:solidFill>
                  </a:tcPr>
                </a:tc>
                <a:tc>
                  <a:txBody>
                    <a:bodyPr/>
                    <a:lstStyle/>
                    <a:p>
                      <a:pPr algn="ctr"/>
                      <a:r>
                        <a:rPr sz="950" b="0" i="0">
                          <a:solidFill>
                            <a:srgbClr val="262626"/>
                          </a:solidFill>
                          <a:latin typeface="Arial"/>
                        </a:rPr>
                        <a:t>33</a:t>
                      </a:r>
                    </a:p>
                  </a:txBody>
                  <a:tcPr>
                    <a:solidFill>
                      <a:srgbClr val="FFFFFF"/>
                    </a:solidFill>
                  </a:tcPr>
                </a:tc>
                <a:tc>
                  <a:txBody>
                    <a:bodyPr/>
                    <a:lstStyle/>
                    <a:p>
                      <a:pPr algn="ctr"/>
                      <a:r>
                        <a:rPr sz="950" b="0" i="0">
                          <a:solidFill>
                            <a:srgbClr val="262626"/>
                          </a:solidFill>
                          <a:latin typeface="Arial"/>
                        </a:rPr>
                        <a:t>+27</a:t>
                      </a:r>
                    </a:p>
                  </a:txBody>
                  <a:tcPr>
                    <a:solidFill>
                      <a:srgbClr val="FFFFFF"/>
                    </a:solidFill>
                  </a:tcPr>
                </a:tc>
                <a:tc>
                  <a:txBody>
                    <a:bodyPr/>
                    <a:lstStyle/>
                    <a:p>
                      <a:pPr algn="ctr"/>
                      <a:r>
                        <a:rPr sz="950" b="0" i="0">
                          <a:solidFill>
                            <a:srgbClr val="262626"/>
                          </a:solidFill>
                          <a:latin typeface="Arial"/>
                        </a:rPr>
                        <a:t>4</a:t>
                      </a:r>
                    </a:p>
                  </a:txBody>
                  <a:tcPr>
                    <a:solidFill>
                      <a:srgbClr val="FFFFFF"/>
                    </a:solidFill>
                  </a:tcPr>
                </a:tc>
                <a:tc>
                  <a:txBody>
                    <a:bodyPr/>
                    <a:lstStyle/>
                    <a:p>
                      <a:pPr algn="ctr"/>
                      <a:r>
                        <a:rPr sz="950" b="0" i="0" dirty="0">
                          <a:solidFill>
                            <a:srgbClr val="262626"/>
                          </a:solidFill>
                          <a:latin typeface="Arial"/>
                        </a:rPr>
                        <a:t>158s</a:t>
                      </a:r>
                    </a:p>
                  </a:txBody>
                  <a:tcPr>
                    <a:solidFill>
                      <a:srgbClr val="FFFFFF"/>
                    </a:solidFill>
                  </a:tcPr>
                </a:tc>
                <a:extLst>
                  <a:ext uri="{0D108BD9-81ED-4DB2-BD59-A6C34878D82A}">
                    <a16:rowId xmlns:a16="http://schemas.microsoft.com/office/drawing/2014/main" val="10007"/>
                  </a:ext>
                </a:extLst>
              </a:tr>
            </a:tbl>
          </a:graphicData>
        </a:graphic>
      </p:graphicFrame>
      <p:sp>
        <p:nvSpPr>
          <p:cNvPr id="11" name="TextBox 10"/>
          <p:cNvSpPr txBox="1"/>
          <p:nvPr/>
        </p:nvSpPr>
        <p:spPr>
          <a:xfrm>
            <a:off x="274320" y="6520942"/>
            <a:ext cx="11640312" cy="201168"/>
          </a:xfrm>
          <a:prstGeom prst="rect">
            <a:avLst/>
          </a:prstGeom>
          <a:noFill/>
        </p:spPr>
        <p:txBody>
          <a:bodyPr wrap="square">
            <a:spAutoFit/>
          </a:bodyPr>
          <a:lstStyle/>
          <a:p>
            <a:pPr algn="l"/>
            <a:r>
              <a:rPr sz="800" b="0" i="1">
                <a:solidFill>
                  <a:srgbClr val="BFBFBF"/>
                </a:solidFill>
                <a:latin typeface="Arial"/>
              </a:rPr>
              <a:t>Lead pack = athletes within 15 sec of leader. Chase group = athletes within 15 sec of the first athlete outside the lead pack. * Chase Gap = seconds from the last lead-pack athlete to the first chase-group athlete at T2.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Split Analysis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Yokohama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457200" y="1115568"/>
            <a:ext cx="11247120" cy="54406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Position Times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Yokohama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078992"/>
            <a:ext cx="11640312" cy="3017520"/>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3715079971"/>
              </p:ext>
            </p:extLst>
          </p:nvPr>
        </p:nvGraphicFramePr>
        <p:xfrm>
          <a:off x="274320" y="4084290"/>
          <a:ext cx="11640312" cy="2557215"/>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1833372">
                  <a:extLst>
                    <a:ext uri="{9D8B030D-6E8A-4147-A177-3AD203B41FA5}">
                      <a16:colId xmlns:a16="http://schemas.microsoft.com/office/drawing/2014/main" val="20001"/>
                    </a:ext>
                  </a:extLst>
                </a:gridCol>
                <a:gridCol w="1833372">
                  <a:extLst>
                    <a:ext uri="{9D8B030D-6E8A-4147-A177-3AD203B41FA5}">
                      <a16:colId xmlns:a16="http://schemas.microsoft.com/office/drawing/2014/main" val="20002"/>
                    </a:ext>
                  </a:extLst>
                </a:gridCol>
                <a:gridCol w="1833372">
                  <a:extLst>
                    <a:ext uri="{9D8B030D-6E8A-4147-A177-3AD203B41FA5}">
                      <a16:colId xmlns:a16="http://schemas.microsoft.com/office/drawing/2014/main" val="20003"/>
                    </a:ext>
                  </a:extLst>
                </a:gridCol>
                <a:gridCol w="1833372">
                  <a:extLst>
                    <a:ext uri="{9D8B030D-6E8A-4147-A177-3AD203B41FA5}">
                      <a16:colId xmlns:a16="http://schemas.microsoft.com/office/drawing/2014/main" val="20004"/>
                    </a:ext>
                  </a:extLst>
                </a:gridCol>
                <a:gridCol w="1833372">
                  <a:extLst>
                    <a:ext uri="{9D8B030D-6E8A-4147-A177-3AD203B41FA5}">
                      <a16:colId xmlns:a16="http://schemas.microsoft.com/office/drawing/2014/main" val="20005"/>
                    </a:ext>
                  </a:extLst>
                </a:gridCol>
                <a:gridCol w="1833372">
                  <a:extLst>
                    <a:ext uri="{9D8B030D-6E8A-4147-A177-3AD203B41FA5}">
                      <a16:colId xmlns:a16="http://schemas.microsoft.com/office/drawing/2014/main" val="20006"/>
                    </a:ext>
                  </a:extLst>
                </a:gridCol>
              </a:tblGrid>
              <a:tr h="276615">
                <a:tc>
                  <a:txBody>
                    <a:bodyPr/>
                    <a:lstStyle/>
                    <a:p>
                      <a:pPr algn="ctr"/>
                      <a:r>
                        <a:rPr sz="1000" b="1" i="0">
                          <a:solidFill>
                            <a:srgbClr val="FFFFFF"/>
                          </a:solidFill>
                          <a:latin typeface="Arial"/>
                        </a:rPr>
                        <a:t>Year</a:t>
                      </a:r>
                    </a:p>
                  </a:txBody>
                  <a:tcPr marT="40980" marB="40980">
                    <a:solidFill>
                      <a:srgbClr val="002060"/>
                    </a:solidFill>
                  </a:tcPr>
                </a:tc>
                <a:tc>
                  <a:txBody>
                    <a:bodyPr/>
                    <a:lstStyle/>
                    <a:p>
                      <a:pPr algn="ctr"/>
                      <a:r>
                        <a:rPr sz="1000" b="1" i="0">
                          <a:solidFill>
                            <a:srgbClr val="FFFFFF"/>
                          </a:solidFill>
                          <a:latin typeface="Arial"/>
                        </a:rPr>
                        <a:t>1st</a:t>
                      </a:r>
                    </a:p>
                  </a:txBody>
                  <a:tcPr marT="40980" marB="40980">
                    <a:solidFill>
                      <a:srgbClr val="002060"/>
                    </a:solidFill>
                  </a:tcPr>
                </a:tc>
                <a:tc>
                  <a:txBody>
                    <a:bodyPr/>
                    <a:lstStyle/>
                    <a:p>
                      <a:pPr algn="ctr"/>
                      <a:r>
                        <a:rPr sz="1000" b="1" i="0">
                          <a:solidFill>
                            <a:srgbClr val="FFFFFF"/>
                          </a:solidFill>
                          <a:latin typeface="Arial"/>
                        </a:rPr>
                        <a:t>2nd</a:t>
                      </a:r>
                    </a:p>
                  </a:txBody>
                  <a:tcPr marT="40980" marB="40980">
                    <a:solidFill>
                      <a:srgbClr val="002060"/>
                    </a:solidFill>
                  </a:tcPr>
                </a:tc>
                <a:tc>
                  <a:txBody>
                    <a:bodyPr/>
                    <a:lstStyle/>
                    <a:p>
                      <a:pPr algn="ctr"/>
                      <a:r>
                        <a:rPr sz="1000" b="1" i="0">
                          <a:solidFill>
                            <a:srgbClr val="FFFFFF"/>
                          </a:solidFill>
                          <a:latin typeface="Arial"/>
                        </a:rPr>
                        <a:t>3rd</a:t>
                      </a:r>
                    </a:p>
                  </a:txBody>
                  <a:tcPr marT="40980" marB="40980">
                    <a:solidFill>
                      <a:srgbClr val="002060"/>
                    </a:solidFill>
                  </a:tcPr>
                </a:tc>
                <a:tc>
                  <a:txBody>
                    <a:bodyPr/>
                    <a:lstStyle/>
                    <a:p>
                      <a:pPr algn="ctr"/>
                      <a:r>
                        <a:rPr sz="1000" b="1" i="0" dirty="0">
                          <a:solidFill>
                            <a:srgbClr val="FFFFFF"/>
                          </a:solidFill>
                          <a:latin typeface="Arial"/>
                        </a:rPr>
                        <a:t>5th</a:t>
                      </a:r>
                    </a:p>
                  </a:txBody>
                  <a:tcPr marT="40980" marB="40980">
                    <a:solidFill>
                      <a:srgbClr val="002060"/>
                    </a:solidFill>
                  </a:tcPr>
                </a:tc>
                <a:tc>
                  <a:txBody>
                    <a:bodyPr/>
                    <a:lstStyle/>
                    <a:p>
                      <a:pPr algn="ctr"/>
                      <a:r>
                        <a:rPr sz="1000" b="1" i="0">
                          <a:solidFill>
                            <a:srgbClr val="FFFFFF"/>
                          </a:solidFill>
                          <a:latin typeface="Arial"/>
                        </a:rPr>
                        <a:t>10th</a:t>
                      </a:r>
                    </a:p>
                  </a:txBody>
                  <a:tcPr marT="40980" marB="40980">
                    <a:solidFill>
                      <a:srgbClr val="002060"/>
                    </a:solidFill>
                  </a:tcPr>
                </a:tc>
                <a:tc>
                  <a:txBody>
                    <a:bodyPr/>
                    <a:lstStyle/>
                    <a:p>
                      <a:pPr algn="ctr"/>
                      <a:r>
                        <a:rPr sz="1000" b="1" i="0">
                          <a:solidFill>
                            <a:srgbClr val="FFFFFF"/>
                          </a:solidFill>
                          <a:latin typeface="Arial"/>
                        </a:rPr>
                        <a:t>20th</a:t>
                      </a:r>
                    </a:p>
                  </a:txBody>
                  <a:tcPr marT="40980" marB="40980">
                    <a:solidFill>
                      <a:srgbClr val="002060"/>
                    </a:solidFill>
                  </a:tcPr>
                </a:tc>
                <a:extLst>
                  <a:ext uri="{0D108BD9-81ED-4DB2-BD59-A6C34878D82A}">
                    <a16:rowId xmlns:a16="http://schemas.microsoft.com/office/drawing/2014/main" val="10000"/>
                  </a:ext>
                </a:extLst>
              </a:tr>
              <a:tr h="323386">
                <a:tc>
                  <a:txBody>
                    <a:bodyPr/>
                    <a:lstStyle/>
                    <a:p>
                      <a:pPr algn="ctr"/>
                      <a:r>
                        <a:rPr sz="1000" b="1" i="0">
                          <a:solidFill>
                            <a:srgbClr val="262626"/>
                          </a:solidFill>
                          <a:latin typeface="Arial"/>
                        </a:rPr>
                        <a:t>2018</a:t>
                      </a:r>
                    </a:p>
                  </a:txBody>
                  <a:tcPr marT="40980" marB="40980">
                    <a:solidFill>
                      <a:srgbClr val="FFFFFF"/>
                    </a:solidFill>
                  </a:tcPr>
                </a:tc>
                <a:tc>
                  <a:txBody>
                    <a:bodyPr/>
                    <a:lstStyle/>
                    <a:p>
                      <a:pPr algn="ctr"/>
                      <a:r>
                        <a:rPr sz="800" b="0" i="0">
                          <a:solidFill>
                            <a:srgbClr val="262626"/>
                          </a:solidFill>
                          <a:latin typeface="Arial"/>
                        </a:rPr>
                        <a:t>1:53:26</a:t>
                      </a:r>
                    </a:p>
                  </a:txBody>
                  <a:tcPr marT="40980" marB="40980">
                    <a:solidFill>
                      <a:srgbClr val="FFFFFF"/>
                    </a:solidFill>
                  </a:tcPr>
                </a:tc>
                <a:tc>
                  <a:txBody>
                    <a:bodyPr/>
                    <a:lstStyle/>
                    <a:p>
                      <a:pPr algn="ctr"/>
                      <a:r>
                        <a:rPr sz="800" b="0" i="0">
                          <a:solidFill>
                            <a:srgbClr val="262626"/>
                          </a:solidFill>
                          <a:latin typeface="Arial"/>
                        </a:rPr>
                        <a:t>1:53:59
+33s</a:t>
                      </a:r>
                    </a:p>
                  </a:txBody>
                  <a:tcPr marT="40980" marB="40980">
                    <a:solidFill>
                      <a:srgbClr val="FFFFFF"/>
                    </a:solidFill>
                  </a:tcPr>
                </a:tc>
                <a:tc>
                  <a:txBody>
                    <a:bodyPr/>
                    <a:lstStyle/>
                    <a:p>
                      <a:pPr algn="ctr"/>
                      <a:r>
                        <a:rPr sz="800" b="0" i="0">
                          <a:solidFill>
                            <a:srgbClr val="262626"/>
                          </a:solidFill>
                          <a:latin typeface="Arial"/>
                        </a:rPr>
                        <a:t>1:54:42
+76s</a:t>
                      </a:r>
                    </a:p>
                  </a:txBody>
                  <a:tcPr marT="40980" marB="40980">
                    <a:solidFill>
                      <a:srgbClr val="FFFFFF"/>
                    </a:solidFill>
                  </a:tcPr>
                </a:tc>
                <a:tc>
                  <a:txBody>
                    <a:bodyPr/>
                    <a:lstStyle/>
                    <a:p>
                      <a:pPr algn="ctr"/>
                      <a:r>
                        <a:rPr sz="800" b="0" i="0">
                          <a:solidFill>
                            <a:srgbClr val="262626"/>
                          </a:solidFill>
                          <a:latin typeface="Arial"/>
                        </a:rPr>
                        <a:t>1:55:13
+107s</a:t>
                      </a:r>
                    </a:p>
                  </a:txBody>
                  <a:tcPr marT="40980" marB="40980">
                    <a:solidFill>
                      <a:srgbClr val="FFFFFF"/>
                    </a:solidFill>
                  </a:tcPr>
                </a:tc>
                <a:tc>
                  <a:txBody>
                    <a:bodyPr/>
                    <a:lstStyle/>
                    <a:p>
                      <a:pPr algn="ctr"/>
                      <a:r>
                        <a:rPr sz="800" b="0" i="0">
                          <a:solidFill>
                            <a:srgbClr val="262626"/>
                          </a:solidFill>
                          <a:latin typeface="Arial"/>
                        </a:rPr>
                        <a:t>1:56:06
+160s</a:t>
                      </a:r>
                    </a:p>
                  </a:txBody>
                  <a:tcPr marT="40980" marB="40980">
                    <a:solidFill>
                      <a:srgbClr val="FFFFFF"/>
                    </a:solidFill>
                  </a:tcPr>
                </a:tc>
                <a:tc>
                  <a:txBody>
                    <a:bodyPr/>
                    <a:lstStyle/>
                    <a:p>
                      <a:pPr algn="ctr"/>
                      <a:r>
                        <a:rPr sz="800" b="0" i="0">
                          <a:solidFill>
                            <a:srgbClr val="262626"/>
                          </a:solidFill>
                          <a:latin typeface="Arial"/>
                        </a:rPr>
                        <a:t>1:57:38
+252s</a:t>
                      </a:r>
                    </a:p>
                  </a:txBody>
                  <a:tcPr marT="40980" marB="40980">
                    <a:solidFill>
                      <a:srgbClr val="FFFFFF"/>
                    </a:solidFill>
                  </a:tcPr>
                </a:tc>
                <a:extLst>
                  <a:ext uri="{0D108BD9-81ED-4DB2-BD59-A6C34878D82A}">
                    <a16:rowId xmlns:a16="http://schemas.microsoft.com/office/drawing/2014/main" val="10001"/>
                  </a:ext>
                </a:extLst>
              </a:tr>
              <a:tr h="323386">
                <a:tc>
                  <a:txBody>
                    <a:bodyPr/>
                    <a:lstStyle/>
                    <a:p>
                      <a:pPr algn="ctr"/>
                      <a:r>
                        <a:rPr sz="1000" b="1" i="0">
                          <a:solidFill>
                            <a:srgbClr val="262626"/>
                          </a:solidFill>
                          <a:latin typeface="Arial"/>
                        </a:rPr>
                        <a:t>2019</a:t>
                      </a:r>
                    </a:p>
                  </a:txBody>
                  <a:tcPr marT="40980" marB="40980">
                    <a:solidFill>
                      <a:srgbClr val="F2F2F2"/>
                    </a:solidFill>
                  </a:tcPr>
                </a:tc>
                <a:tc>
                  <a:txBody>
                    <a:bodyPr/>
                    <a:lstStyle/>
                    <a:p>
                      <a:pPr algn="ctr"/>
                      <a:r>
                        <a:rPr sz="800" b="0" i="0">
                          <a:solidFill>
                            <a:srgbClr val="262626"/>
                          </a:solidFill>
                          <a:latin typeface="Arial"/>
                        </a:rPr>
                        <a:t>1:52:12</a:t>
                      </a:r>
                    </a:p>
                  </a:txBody>
                  <a:tcPr marT="40980" marB="40980">
                    <a:solidFill>
                      <a:srgbClr val="F2F2F2"/>
                    </a:solidFill>
                  </a:tcPr>
                </a:tc>
                <a:tc>
                  <a:txBody>
                    <a:bodyPr/>
                    <a:lstStyle/>
                    <a:p>
                      <a:pPr algn="ctr"/>
                      <a:r>
                        <a:rPr sz="800" b="0" i="0">
                          <a:solidFill>
                            <a:srgbClr val="262626"/>
                          </a:solidFill>
                          <a:latin typeface="Arial"/>
                        </a:rPr>
                        <a:t>1:52:33
+21s</a:t>
                      </a:r>
                    </a:p>
                  </a:txBody>
                  <a:tcPr marT="40980" marB="40980">
                    <a:solidFill>
                      <a:srgbClr val="F2F2F2"/>
                    </a:solidFill>
                  </a:tcPr>
                </a:tc>
                <a:tc>
                  <a:txBody>
                    <a:bodyPr/>
                    <a:lstStyle/>
                    <a:p>
                      <a:pPr algn="ctr"/>
                      <a:r>
                        <a:rPr sz="800" b="0" i="0">
                          <a:solidFill>
                            <a:srgbClr val="262626"/>
                          </a:solidFill>
                          <a:latin typeface="Arial"/>
                        </a:rPr>
                        <a:t>1:53:29
+77s</a:t>
                      </a:r>
                    </a:p>
                  </a:txBody>
                  <a:tcPr marT="40980" marB="40980">
                    <a:solidFill>
                      <a:srgbClr val="F2F2F2"/>
                    </a:solidFill>
                  </a:tcPr>
                </a:tc>
                <a:tc>
                  <a:txBody>
                    <a:bodyPr/>
                    <a:lstStyle/>
                    <a:p>
                      <a:pPr algn="ctr"/>
                      <a:r>
                        <a:rPr sz="800" b="0" i="0">
                          <a:solidFill>
                            <a:srgbClr val="262626"/>
                          </a:solidFill>
                          <a:latin typeface="Arial"/>
                        </a:rPr>
                        <a:t>1:54:25
+133s</a:t>
                      </a:r>
                    </a:p>
                  </a:txBody>
                  <a:tcPr marT="40980" marB="40980">
                    <a:solidFill>
                      <a:srgbClr val="F2F2F2"/>
                    </a:solidFill>
                  </a:tcPr>
                </a:tc>
                <a:tc>
                  <a:txBody>
                    <a:bodyPr/>
                    <a:lstStyle/>
                    <a:p>
                      <a:pPr algn="ctr"/>
                      <a:r>
                        <a:rPr sz="800" b="0" i="0">
                          <a:solidFill>
                            <a:srgbClr val="262626"/>
                          </a:solidFill>
                          <a:latin typeface="Arial"/>
                        </a:rPr>
                        <a:t>1:55:43
+211s</a:t>
                      </a:r>
                    </a:p>
                  </a:txBody>
                  <a:tcPr marT="40980" marB="40980">
                    <a:solidFill>
                      <a:srgbClr val="F2F2F2"/>
                    </a:solidFill>
                  </a:tcPr>
                </a:tc>
                <a:tc>
                  <a:txBody>
                    <a:bodyPr/>
                    <a:lstStyle/>
                    <a:p>
                      <a:pPr algn="ctr"/>
                      <a:r>
                        <a:rPr sz="800" b="0" i="0">
                          <a:solidFill>
                            <a:srgbClr val="262626"/>
                          </a:solidFill>
                          <a:latin typeface="Arial"/>
                        </a:rPr>
                        <a:t>1:57:27
+315s</a:t>
                      </a:r>
                    </a:p>
                  </a:txBody>
                  <a:tcPr marT="40980" marB="40980">
                    <a:solidFill>
                      <a:srgbClr val="F2F2F2"/>
                    </a:solidFill>
                  </a:tcPr>
                </a:tc>
                <a:extLst>
                  <a:ext uri="{0D108BD9-81ED-4DB2-BD59-A6C34878D82A}">
                    <a16:rowId xmlns:a16="http://schemas.microsoft.com/office/drawing/2014/main" val="10002"/>
                  </a:ext>
                </a:extLst>
              </a:tr>
              <a:tr h="323386">
                <a:tc>
                  <a:txBody>
                    <a:bodyPr/>
                    <a:lstStyle/>
                    <a:p>
                      <a:pPr algn="ctr"/>
                      <a:r>
                        <a:rPr sz="1000" b="1" i="0">
                          <a:solidFill>
                            <a:srgbClr val="262626"/>
                          </a:solidFill>
                          <a:latin typeface="Arial"/>
                        </a:rPr>
                        <a:t>2021</a:t>
                      </a:r>
                    </a:p>
                  </a:txBody>
                  <a:tcPr marT="40980" marB="40980">
                    <a:solidFill>
                      <a:srgbClr val="FFFFFF"/>
                    </a:solidFill>
                  </a:tcPr>
                </a:tc>
                <a:tc>
                  <a:txBody>
                    <a:bodyPr/>
                    <a:lstStyle/>
                    <a:p>
                      <a:pPr algn="ctr"/>
                      <a:r>
                        <a:rPr sz="800" b="0" i="0">
                          <a:solidFill>
                            <a:srgbClr val="262626"/>
                          </a:solidFill>
                          <a:latin typeface="Arial"/>
                        </a:rPr>
                        <a:t>1:54:27</a:t>
                      </a:r>
                    </a:p>
                  </a:txBody>
                  <a:tcPr marT="40980" marB="40980">
                    <a:solidFill>
                      <a:srgbClr val="FFFFFF"/>
                    </a:solidFill>
                  </a:tcPr>
                </a:tc>
                <a:tc>
                  <a:txBody>
                    <a:bodyPr/>
                    <a:lstStyle/>
                    <a:p>
                      <a:pPr algn="ctr"/>
                      <a:r>
                        <a:rPr sz="800" b="0" i="0">
                          <a:solidFill>
                            <a:srgbClr val="262626"/>
                          </a:solidFill>
                          <a:latin typeface="Arial"/>
                        </a:rPr>
                        <a:t>1:54:57
+30s</a:t>
                      </a:r>
                    </a:p>
                  </a:txBody>
                  <a:tcPr marT="40980" marB="40980">
                    <a:solidFill>
                      <a:srgbClr val="FFFFFF"/>
                    </a:solidFill>
                  </a:tcPr>
                </a:tc>
                <a:tc>
                  <a:txBody>
                    <a:bodyPr/>
                    <a:lstStyle/>
                    <a:p>
                      <a:pPr algn="ctr"/>
                      <a:r>
                        <a:rPr sz="800" b="0" i="0">
                          <a:solidFill>
                            <a:srgbClr val="262626"/>
                          </a:solidFill>
                          <a:latin typeface="Arial"/>
                        </a:rPr>
                        <a:t>1:55:05
+38s</a:t>
                      </a:r>
                    </a:p>
                  </a:txBody>
                  <a:tcPr marT="40980" marB="40980">
                    <a:solidFill>
                      <a:srgbClr val="FFFFFF"/>
                    </a:solidFill>
                  </a:tcPr>
                </a:tc>
                <a:tc>
                  <a:txBody>
                    <a:bodyPr/>
                    <a:lstStyle/>
                    <a:p>
                      <a:pPr algn="ctr"/>
                      <a:r>
                        <a:rPr sz="800" b="0" i="0">
                          <a:solidFill>
                            <a:srgbClr val="262626"/>
                          </a:solidFill>
                          <a:latin typeface="Arial"/>
                        </a:rPr>
                        <a:t>1:55:26
+59s</a:t>
                      </a:r>
                    </a:p>
                  </a:txBody>
                  <a:tcPr marT="40980" marB="40980">
                    <a:solidFill>
                      <a:srgbClr val="FFFFFF"/>
                    </a:solidFill>
                  </a:tcPr>
                </a:tc>
                <a:tc>
                  <a:txBody>
                    <a:bodyPr/>
                    <a:lstStyle/>
                    <a:p>
                      <a:pPr algn="ctr"/>
                      <a:r>
                        <a:rPr sz="800" b="0" i="0">
                          <a:solidFill>
                            <a:srgbClr val="262626"/>
                          </a:solidFill>
                          <a:latin typeface="Arial"/>
                        </a:rPr>
                        <a:t>1:55:42
+75s</a:t>
                      </a:r>
                    </a:p>
                  </a:txBody>
                  <a:tcPr marT="40980" marB="40980">
                    <a:solidFill>
                      <a:srgbClr val="FFFFFF"/>
                    </a:solidFill>
                  </a:tcPr>
                </a:tc>
                <a:tc>
                  <a:txBody>
                    <a:bodyPr/>
                    <a:lstStyle/>
                    <a:p>
                      <a:pPr algn="ctr"/>
                      <a:r>
                        <a:rPr sz="800" b="0" i="0">
                          <a:solidFill>
                            <a:srgbClr val="262626"/>
                          </a:solidFill>
                          <a:latin typeface="Arial"/>
                        </a:rPr>
                        <a:t>1:56:58
+151s</a:t>
                      </a:r>
                    </a:p>
                  </a:txBody>
                  <a:tcPr marT="40980" marB="40980">
                    <a:solidFill>
                      <a:srgbClr val="FFFFFF"/>
                    </a:solidFill>
                  </a:tcPr>
                </a:tc>
                <a:extLst>
                  <a:ext uri="{0D108BD9-81ED-4DB2-BD59-A6C34878D82A}">
                    <a16:rowId xmlns:a16="http://schemas.microsoft.com/office/drawing/2014/main" val="10003"/>
                  </a:ext>
                </a:extLst>
              </a:tr>
              <a:tr h="323386">
                <a:tc>
                  <a:txBody>
                    <a:bodyPr/>
                    <a:lstStyle/>
                    <a:p>
                      <a:pPr algn="ctr"/>
                      <a:r>
                        <a:rPr sz="1000" b="1" i="0">
                          <a:solidFill>
                            <a:srgbClr val="262626"/>
                          </a:solidFill>
                          <a:latin typeface="Arial"/>
                        </a:rPr>
                        <a:t>2022</a:t>
                      </a:r>
                    </a:p>
                  </a:txBody>
                  <a:tcPr marT="40980" marB="40980">
                    <a:solidFill>
                      <a:srgbClr val="F2F2F2"/>
                    </a:solidFill>
                  </a:tcPr>
                </a:tc>
                <a:tc>
                  <a:txBody>
                    <a:bodyPr/>
                    <a:lstStyle/>
                    <a:p>
                      <a:pPr algn="ctr"/>
                      <a:r>
                        <a:rPr sz="800" b="0" i="0">
                          <a:solidFill>
                            <a:srgbClr val="262626"/>
                          </a:solidFill>
                          <a:latin typeface="Arial"/>
                        </a:rPr>
                        <a:t>1:51:44</a:t>
                      </a:r>
                    </a:p>
                  </a:txBody>
                  <a:tcPr marT="40980" marB="40980">
                    <a:solidFill>
                      <a:srgbClr val="F2F2F2"/>
                    </a:solidFill>
                  </a:tcPr>
                </a:tc>
                <a:tc>
                  <a:txBody>
                    <a:bodyPr/>
                    <a:lstStyle/>
                    <a:p>
                      <a:pPr algn="ctr"/>
                      <a:r>
                        <a:rPr sz="800" b="0" i="0">
                          <a:solidFill>
                            <a:srgbClr val="262626"/>
                          </a:solidFill>
                          <a:latin typeface="Arial"/>
                        </a:rPr>
                        <a:t>1:51:50
+6s</a:t>
                      </a:r>
                    </a:p>
                  </a:txBody>
                  <a:tcPr marT="40980" marB="40980">
                    <a:solidFill>
                      <a:srgbClr val="F2F2F2"/>
                    </a:solidFill>
                  </a:tcPr>
                </a:tc>
                <a:tc>
                  <a:txBody>
                    <a:bodyPr/>
                    <a:lstStyle/>
                    <a:p>
                      <a:pPr algn="ctr"/>
                      <a:r>
                        <a:rPr sz="800" b="0" i="0">
                          <a:solidFill>
                            <a:srgbClr val="262626"/>
                          </a:solidFill>
                          <a:latin typeface="Arial"/>
                        </a:rPr>
                        <a:t>1:51:55
+11s</a:t>
                      </a:r>
                    </a:p>
                  </a:txBody>
                  <a:tcPr marT="40980" marB="40980">
                    <a:solidFill>
                      <a:srgbClr val="F2F2F2"/>
                    </a:solidFill>
                  </a:tcPr>
                </a:tc>
                <a:tc>
                  <a:txBody>
                    <a:bodyPr/>
                    <a:lstStyle/>
                    <a:p>
                      <a:pPr algn="ctr"/>
                      <a:r>
                        <a:rPr sz="800" b="0" i="0">
                          <a:solidFill>
                            <a:srgbClr val="262626"/>
                          </a:solidFill>
                          <a:latin typeface="Arial"/>
                        </a:rPr>
                        <a:t>1:52:12
+28s</a:t>
                      </a:r>
                    </a:p>
                  </a:txBody>
                  <a:tcPr marT="40980" marB="40980">
                    <a:solidFill>
                      <a:srgbClr val="F2F2F2"/>
                    </a:solidFill>
                  </a:tcPr>
                </a:tc>
                <a:tc>
                  <a:txBody>
                    <a:bodyPr/>
                    <a:lstStyle/>
                    <a:p>
                      <a:pPr algn="ctr"/>
                      <a:r>
                        <a:rPr sz="800" b="0" i="0">
                          <a:solidFill>
                            <a:srgbClr val="262626"/>
                          </a:solidFill>
                          <a:latin typeface="Arial"/>
                        </a:rPr>
                        <a:t>1:55:38
+234s</a:t>
                      </a:r>
                    </a:p>
                  </a:txBody>
                  <a:tcPr marT="40980" marB="40980">
                    <a:solidFill>
                      <a:srgbClr val="F2F2F2"/>
                    </a:solidFill>
                  </a:tcPr>
                </a:tc>
                <a:tc>
                  <a:txBody>
                    <a:bodyPr/>
                    <a:lstStyle/>
                    <a:p>
                      <a:pPr algn="ctr"/>
                      <a:r>
                        <a:rPr sz="800" b="0" i="0">
                          <a:solidFill>
                            <a:srgbClr val="262626"/>
                          </a:solidFill>
                          <a:latin typeface="Arial"/>
                        </a:rPr>
                        <a:t>1:57:35
+351s</a:t>
                      </a:r>
                    </a:p>
                  </a:txBody>
                  <a:tcPr marT="40980" marB="40980">
                    <a:solidFill>
                      <a:srgbClr val="F2F2F2"/>
                    </a:solidFill>
                  </a:tcPr>
                </a:tc>
                <a:extLst>
                  <a:ext uri="{0D108BD9-81ED-4DB2-BD59-A6C34878D82A}">
                    <a16:rowId xmlns:a16="http://schemas.microsoft.com/office/drawing/2014/main" val="10004"/>
                  </a:ext>
                </a:extLst>
              </a:tr>
              <a:tr h="323386">
                <a:tc>
                  <a:txBody>
                    <a:bodyPr/>
                    <a:lstStyle/>
                    <a:p>
                      <a:pPr algn="ctr"/>
                      <a:r>
                        <a:rPr sz="1000" b="1" i="0">
                          <a:solidFill>
                            <a:srgbClr val="262626"/>
                          </a:solidFill>
                          <a:latin typeface="Arial"/>
                        </a:rPr>
                        <a:t>2023</a:t>
                      </a:r>
                    </a:p>
                  </a:txBody>
                  <a:tcPr marT="40980" marB="40980">
                    <a:solidFill>
                      <a:srgbClr val="FFFFFF"/>
                    </a:solidFill>
                  </a:tcPr>
                </a:tc>
                <a:tc>
                  <a:txBody>
                    <a:bodyPr/>
                    <a:lstStyle/>
                    <a:p>
                      <a:pPr algn="ctr"/>
                      <a:r>
                        <a:rPr sz="800" b="0" i="0">
                          <a:solidFill>
                            <a:srgbClr val="262626"/>
                          </a:solidFill>
                          <a:latin typeface="Arial"/>
                        </a:rPr>
                        <a:t>1:53:32</a:t>
                      </a:r>
                    </a:p>
                  </a:txBody>
                  <a:tcPr marT="40980" marB="40980">
                    <a:solidFill>
                      <a:srgbClr val="FFFFFF"/>
                    </a:solidFill>
                  </a:tcPr>
                </a:tc>
                <a:tc>
                  <a:txBody>
                    <a:bodyPr/>
                    <a:lstStyle/>
                    <a:p>
                      <a:pPr algn="ctr"/>
                      <a:r>
                        <a:rPr sz="800" b="0" i="0" dirty="0">
                          <a:solidFill>
                            <a:srgbClr val="262626"/>
                          </a:solidFill>
                          <a:latin typeface="Arial"/>
                        </a:rPr>
                        <a:t>1:53:49
+17s</a:t>
                      </a:r>
                    </a:p>
                  </a:txBody>
                  <a:tcPr marT="40980" marB="40980">
                    <a:solidFill>
                      <a:srgbClr val="FFFFFF"/>
                    </a:solidFill>
                  </a:tcPr>
                </a:tc>
                <a:tc>
                  <a:txBody>
                    <a:bodyPr/>
                    <a:lstStyle/>
                    <a:p>
                      <a:pPr algn="ctr"/>
                      <a:r>
                        <a:rPr sz="800" b="0" i="0">
                          <a:solidFill>
                            <a:srgbClr val="262626"/>
                          </a:solidFill>
                          <a:latin typeface="Arial"/>
                        </a:rPr>
                        <a:t>1:54:02
+30s</a:t>
                      </a:r>
                    </a:p>
                  </a:txBody>
                  <a:tcPr marT="40980" marB="40980">
                    <a:solidFill>
                      <a:srgbClr val="FFFFFF"/>
                    </a:solidFill>
                  </a:tcPr>
                </a:tc>
                <a:tc>
                  <a:txBody>
                    <a:bodyPr/>
                    <a:lstStyle/>
                    <a:p>
                      <a:pPr algn="ctr"/>
                      <a:r>
                        <a:rPr sz="800" b="0" i="0">
                          <a:solidFill>
                            <a:srgbClr val="262626"/>
                          </a:solidFill>
                          <a:latin typeface="Arial"/>
                        </a:rPr>
                        <a:t>1:54:20
+48s</a:t>
                      </a:r>
                    </a:p>
                  </a:txBody>
                  <a:tcPr marT="40980" marB="40980">
                    <a:solidFill>
                      <a:srgbClr val="FFFFFF"/>
                    </a:solidFill>
                  </a:tcPr>
                </a:tc>
                <a:tc>
                  <a:txBody>
                    <a:bodyPr/>
                    <a:lstStyle/>
                    <a:p>
                      <a:pPr algn="ctr"/>
                      <a:r>
                        <a:rPr sz="800" b="0" i="0">
                          <a:solidFill>
                            <a:srgbClr val="262626"/>
                          </a:solidFill>
                          <a:latin typeface="Arial"/>
                        </a:rPr>
                        <a:t>1:55:30
+118s</a:t>
                      </a:r>
                    </a:p>
                  </a:txBody>
                  <a:tcPr marT="40980" marB="40980">
                    <a:solidFill>
                      <a:srgbClr val="FFFFFF"/>
                    </a:solidFill>
                  </a:tcPr>
                </a:tc>
                <a:tc>
                  <a:txBody>
                    <a:bodyPr/>
                    <a:lstStyle/>
                    <a:p>
                      <a:pPr algn="ctr"/>
                      <a:r>
                        <a:rPr sz="800" b="0" i="0">
                          <a:solidFill>
                            <a:srgbClr val="262626"/>
                          </a:solidFill>
                          <a:latin typeface="Arial"/>
                        </a:rPr>
                        <a:t>1:56:22
+170s</a:t>
                      </a:r>
                    </a:p>
                  </a:txBody>
                  <a:tcPr marT="40980" marB="40980">
                    <a:solidFill>
                      <a:srgbClr val="FFFFFF"/>
                    </a:solidFill>
                  </a:tcPr>
                </a:tc>
                <a:extLst>
                  <a:ext uri="{0D108BD9-81ED-4DB2-BD59-A6C34878D82A}">
                    <a16:rowId xmlns:a16="http://schemas.microsoft.com/office/drawing/2014/main" val="10005"/>
                  </a:ext>
                </a:extLst>
              </a:tr>
              <a:tr h="323386">
                <a:tc>
                  <a:txBody>
                    <a:bodyPr/>
                    <a:lstStyle/>
                    <a:p>
                      <a:pPr algn="ctr"/>
                      <a:r>
                        <a:rPr sz="1000" b="1" i="0">
                          <a:solidFill>
                            <a:srgbClr val="262626"/>
                          </a:solidFill>
                          <a:latin typeface="Arial"/>
                        </a:rPr>
                        <a:t>2024</a:t>
                      </a:r>
                    </a:p>
                  </a:txBody>
                  <a:tcPr marT="40980" marB="40980">
                    <a:solidFill>
                      <a:srgbClr val="F2F2F2"/>
                    </a:solidFill>
                  </a:tcPr>
                </a:tc>
                <a:tc>
                  <a:txBody>
                    <a:bodyPr/>
                    <a:lstStyle/>
                    <a:p>
                      <a:pPr algn="ctr"/>
                      <a:r>
                        <a:rPr sz="800" b="0" i="0">
                          <a:solidFill>
                            <a:srgbClr val="262626"/>
                          </a:solidFill>
                          <a:latin typeface="Arial"/>
                        </a:rPr>
                        <a:t>1:52:28</a:t>
                      </a:r>
                    </a:p>
                  </a:txBody>
                  <a:tcPr marT="40980" marB="40980">
                    <a:solidFill>
                      <a:srgbClr val="F2F2F2"/>
                    </a:solidFill>
                  </a:tcPr>
                </a:tc>
                <a:tc>
                  <a:txBody>
                    <a:bodyPr/>
                    <a:lstStyle/>
                    <a:p>
                      <a:pPr algn="ctr"/>
                      <a:r>
                        <a:rPr sz="800" b="0" i="0">
                          <a:solidFill>
                            <a:srgbClr val="262626"/>
                          </a:solidFill>
                          <a:latin typeface="Arial"/>
                        </a:rPr>
                        <a:t>1:53:04
+36s</a:t>
                      </a:r>
                    </a:p>
                  </a:txBody>
                  <a:tcPr marT="40980" marB="40980">
                    <a:solidFill>
                      <a:srgbClr val="F2F2F2"/>
                    </a:solidFill>
                  </a:tcPr>
                </a:tc>
                <a:tc>
                  <a:txBody>
                    <a:bodyPr/>
                    <a:lstStyle/>
                    <a:p>
                      <a:pPr algn="ctr"/>
                      <a:r>
                        <a:rPr sz="800" b="0" i="0">
                          <a:solidFill>
                            <a:srgbClr val="262626"/>
                          </a:solidFill>
                          <a:latin typeface="Arial"/>
                        </a:rPr>
                        <a:t>1:53:08
+40s</a:t>
                      </a:r>
                    </a:p>
                  </a:txBody>
                  <a:tcPr marT="40980" marB="40980">
                    <a:solidFill>
                      <a:srgbClr val="F2F2F2"/>
                    </a:solidFill>
                  </a:tcPr>
                </a:tc>
                <a:tc>
                  <a:txBody>
                    <a:bodyPr/>
                    <a:lstStyle/>
                    <a:p>
                      <a:pPr algn="ctr"/>
                      <a:r>
                        <a:rPr sz="800" b="0" i="0">
                          <a:solidFill>
                            <a:srgbClr val="262626"/>
                          </a:solidFill>
                          <a:latin typeface="Arial"/>
                        </a:rPr>
                        <a:t>1:53:34
+66s</a:t>
                      </a:r>
                    </a:p>
                  </a:txBody>
                  <a:tcPr marT="40980" marB="40980">
                    <a:solidFill>
                      <a:srgbClr val="F2F2F2"/>
                    </a:solidFill>
                  </a:tcPr>
                </a:tc>
                <a:tc>
                  <a:txBody>
                    <a:bodyPr/>
                    <a:lstStyle/>
                    <a:p>
                      <a:pPr algn="ctr"/>
                      <a:r>
                        <a:rPr sz="800" b="0" i="0">
                          <a:solidFill>
                            <a:srgbClr val="262626"/>
                          </a:solidFill>
                          <a:latin typeface="Arial"/>
                        </a:rPr>
                        <a:t>1:54:11
+103s</a:t>
                      </a:r>
                    </a:p>
                  </a:txBody>
                  <a:tcPr marT="40980" marB="40980">
                    <a:solidFill>
                      <a:srgbClr val="F2F2F2"/>
                    </a:solidFill>
                  </a:tcPr>
                </a:tc>
                <a:tc>
                  <a:txBody>
                    <a:bodyPr/>
                    <a:lstStyle/>
                    <a:p>
                      <a:pPr algn="ctr"/>
                      <a:r>
                        <a:rPr sz="800" b="0" i="0">
                          <a:solidFill>
                            <a:srgbClr val="262626"/>
                          </a:solidFill>
                          <a:latin typeface="Arial"/>
                        </a:rPr>
                        <a:t>1:55:56
+208s</a:t>
                      </a:r>
                    </a:p>
                  </a:txBody>
                  <a:tcPr marT="40980" marB="40980">
                    <a:solidFill>
                      <a:srgbClr val="F2F2F2"/>
                    </a:solidFill>
                  </a:tcPr>
                </a:tc>
                <a:extLst>
                  <a:ext uri="{0D108BD9-81ED-4DB2-BD59-A6C34878D82A}">
                    <a16:rowId xmlns:a16="http://schemas.microsoft.com/office/drawing/2014/main" val="10006"/>
                  </a:ext>
                </a:extLst>
              </a:tr>
              <a:tr h="323386">
                <a:tc>
                  <a:txBody>
                    <a:bodyPr/>
                    <a:lstStyle/>
                    <a:p>
                      <a:pPr algn="ctr"/>
                      <a:r>
                        <a:rPr sz="1000" b="1" i="0">
                          <a:solidFill>
                            <a:srgbClr val="262626"/>
                          </a:solidFill>
                          <a:latin typeface="Arial"/>
                        </a:rPr>
                        <a:t>2025</a:t>
                      </a:r>
                    </a:p>
                  </a:txBody>
                  <a:tcPr marT="40980" marB="40980">
                    <a:solidFill>
                      <a:srgbClr val="FFFFFF"/>
                    </a:solidFill>
                  </a:tcPr>
                </a:tc>
                <a:tc>
                  <a:txBody>
                    <a:bodyPr/>
                    <a:lstStyle/>
                    <a:p>
                      <a:pPr algn="ctr"/>
                      <a:r>
                        <a:rPr sz="800" b="0" i="0">
                          <a:solidFill>
                            <a:srgbClr val="262626"/>
                          </a:solidFill>
                          <a:latin typeface="Arial"/>
                        </a:rPr>
                        <a:t>1:51:34</a:t>
                      </a:r>
                    </a:p>
                  </a:txBody>
                  <a:tcPr marT="40980" marB="40980">
                    <a:solidFill>
                      <a:srgbClr val="FFFFFF"/>
                    </a:solidFill>
                  </a:tcPr>
                </a:tc>
                <a:tc>
                  <a:txBody>
                    <a:bodyPr/>
                    <a:lstStyle/>
                    <a:p>
                      <a:pPr algn="ctr"/>
                      <a:r>
                        <a:rPr sz="800" b="0" i="0">
                          <a:solidFill>
                            <a:srgbClr val="262626"/>
                          </a:solidFill>
                          <a:latin typeface="Arial"/>
                        </a:rPr>
                        <a:t>1:51:38
+4s</a:t>
                      </a:r>
                    </a:p>
                  </a:txBody>
                  <a:tcPr marT="40980" marB="40980">
                    <a:solidFill>
                      <a:srgbClr val="FFFFFF"/>
                    </a:solidFill>
                  </a:tcPr>
                </a:tc>
                <a:tc>
                  <a:txBody>
                    <a:bodyPr/>
                    <a:lstStyle/>
                    <a:p>
                      <a:pPr algn="ctr"/>
                      <a:r>
                        <a:rPr sz="800" b="0" i="0">
                          <a:solidFill>
                            <a:srgbClr val="262626"/>
                          </a:solidFill>
                          <a:latin typeface="Arial"/>
                        </a:rPr>
                        <a:t>1:51:40
+6s</a:t>
                      </a:r>
                    </a:p>
                  </a:txBody>
                  <a:tcPr marT="40980" marB="40980">
                    <a:solidFill>
                      <a:srgbClr val="FFFFFF"/>
                    </a:solidFill>
                  </a:tcPr>
                </a:tc>
                <a:tc>
                  <a:txBody>
                    <a:bodyPr/>
                    <a:lstStyle/>
                    <a:p>
                      <a:pPr algn="ctr"/>
                      <a:r>
                        <a:rPr sz="800" b="0" i="0">
                          <a:solidFill>
                            <a:srgbClr val="262626"/>
                          </a:solidFill>
                          <a:latin typeface="Arial"/>
                        </a:rPr>
                        <a:t>1:51:56
+22s</a:t>
                      </a:r>
                    </a:p>
                  </a:txBody>
                  <a:tcPr marT="40980" marB="40980">
                    <a:solidFill>
                      <a:srgbClr val="FFFFFF"/>
                    </a:solidFill>
                  </a:tcPr>
                </a:tc>
                <a:tc>
                  <a:txBody>
                    <a:bodyPr/>
                    <a:lstStyle/>
                    <a:p>
                      <a:pPr algn="ctr"/>
                      <a:r>
                        <a:rPr sz="800" b="0" i="0">
                          <a:solidFill>
                            <a:srgbClr val="262626"/>
                          </a:solidFill>
                          <a:latin typeface="Arial"/>
                        </a:rPr>
                        <a:t>1:52:42
+68s</a:t>
                      </a:r>
                    </a:p>
                  </a:txBody>
                  <a:tcPr marT="40980" marB="40980">
                    <a:solidFill>
                      <a:srgbClr val="FFFFFF"/>
                    </a:solidFill>
                  </a:tcPr>
                </a:tc>
                <a:tc>
                  <a:txBody>
                    <a:bodyPr/>
                    <a:lstStyle/>
                    <a:p>
                      <a:pPr algn="ctr"/>
                      <a:r>
                        <a:rPr sz="800" b="0" i="0" dirty="0">
                          <a:solidFill>
                            <a:srgbClr val="262626"/>
                          </a:solidFill>
                          <a:latin typeface="Arial"/>
                        </a:rPr>
                        <a:t>1:54:00
+146s</a:t>
                      </a:r>
                    </a:p>
                  </a:txBody>
                  <a:tcPr marT="40980" marB="40980">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Conditions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Yokohama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74320" y="1143000"/>
          <a:ext cx="11640307" cy="3657600"/>
        </p:xfrm>
        <a:graphic>
          <a:graphicData uri="http://schemas.openxmlformats.org/drawingml/2006/table">
            <a:tbl>
              <a:tblPr firstRow="1" bandRow="1">
                <a:tableStyleId>{5C22544A-7EE6-4342-B048-85BDC9FD1C3A}</a:tableStyleId>
              </a:tblPr>
              <a:tblGrid>
                <a:gridCol w="591571">
                  <a:extLst>
                    <a:ext uri="{9D8B030D-6E8A-4147-A177-3AD203B41FA5}">
                      <a16:colId xmlns:a16="http://schemas.microsoft.com/office/drawing/2014/main" val="20000"/>
                    </a:ext>
                  </a:extLst>
                </a:gridCol>
                <a:gridCol w="864604">
                  <a:extLst>
                    <a:ext uri="{9D8B030D-6E8A-4147-A177-3AD203B41FA5}">
                      <a16:colId xmlns:a16="http://schemas.microsoft.com/office/drawing/2014/main" val="20001"/>
                    </a:ext>
                  </a:extLst>
                </a:gridCol>
                <a:gridCol w="910110">
                  <a:extLst>
                    <a:ext uri="{9D8B030D-6E8A-4147-A177-3AD203B41FA5}">
                      <a16:colId xmlns:a16="http://schemas.microsoft.com/office/drawing/2014/main" val="20002"/>
                    </a:ext>
                  </a:extLst>
                </a:gridCol>
                <a:gridCol w="819099">
                  <a:extLst>
                    <a:ext uri="{9D8B030D-6E8A-4147-A177-3AD203B41FA5}">
                      <a16:colId xmlns:a16="http://schemas.microsoft.com/office/drawing/2014/main" val="20003"/>
                    </a:ext>
                  </a:extLst>
                </a:gridCol>
                <a:gridCol w="910110">
                  <a:extLst>
                    <a:ext uri="{9D8B030D-6E8A-4147-A177-3AD203B41FA5}">
                      <a16:colId xmlns:a16="http://schemas.microsoft.com/office/drawing/2014/main" val="20004"/>
                    </a:ext>
                  </a:extLst>
                </a:gridCol>
                <a:gridCol w="864604">
                  <a:extLst>
                    <a:ext uri="{9D8B030D-6E8A-4147-A177-3AD203B41FA5}">
                      <a16:colId xmlns:a16="http://schemas.microsoft.com/office/drawing/2014/main" val="20005"/>
                    </a:ext>
                  </a:extLst>
                </a:gridCol>
                <a:gridCol w="864604">
                  <a:extLst>
                    <a:ext uri="{9D8B030D-6E8A-4147-A177-3AD203B41FA5}">
                      <a16:colId xmlns:a16="http://schemas.microsoft.com/office/drawing/2014/main" val="20006"/>
                    </a:ext>
                  </a:extLst>
                </a:gridCol>
                <a:gridCol w="819099">
                  <a:extLst>
                    <a:ext uri="{9D8B030D-6E8A-4147-A177-3AD203B41FA5}">
                      <a16:colId xmlns:a16="http://schemas.microsoft.com/office/drawing/2014/main" val="20007"/>
                    </a:ext>
                  </a:extLst>
                </a:gridCol>
                <a:gridCol w="4996506">
                  <a:extLst>
                    <a:ext uri="{9D8B030D-6E8A-4147-A177-3AD203B41FA5}">
                      <a16:colId xmlns:a16="http://schemas.microsoft.com/office/drawing/2014/main" val="20008"/>
                    </a:ext>
                  </a:extLst>
                </a:gridCol>
              </a:tblGrid>
              <a:tr h="457200">
                <a:tc>
                  <a:txBody>
                    <a:bodyPr/>
                    <a:lstStyle/>
                    <a:p>
                      <a:pPr algn="ctr"/>
                      <a:r>
                        <a:rPr sz="1200" b="1" i="0">
                          <a:solidFill>
                            <a:srgbClr val="FFFFFF"/>
                          </a:solidFill>
                          <a:latin typeface="Arial"/>
                        </a:rPr>
                        <a:t>Year</a:t>
                      </a:r>
                    </a:p>
                  </a:txBody>
                  <a:tcPr>
                    <a:solidFill>
                      <a:srgbClr val="002060"/>
                    </a:solidFill>
                  </a:tcPr>
                </a:tc>
                <a:tc>
                  <a:txBody>
                    <a:bodyPr/>
                    <a:lstStyle/>
                    <a:p>
                      <a:pPr algn="ctr"/>
                      <a:r>
                        <a:rPr sz="1200" b="1" i="0">
                          <a:solidFill>
                            <a:srgbClr val="FFFFFF"/>
                          </a:solidFill>
                          <a:latin typeface="Arial"/>
                        </a:rPr>
                        <a:t>Date</a:t>
                      </a:r>
                    </a:p>
                  </a:txBody>
                  <a:tcPr>
                    <a:solidFill>
                      <a:srgbClr val="002060"/>
                    </a:solidFill>
                  </a:tcPr>
                </a:tc>
                <a:tc>
                  <a:txBody>
                    <a:bodyPr/>
                    <a:lstStyle/>
                    <a:p>
                      <a:pPr algn="ctr"/>
                      <a:r>
                        <a:rPr sz="1200" b="1" i="0">
                          <a:solidFill>
                            <a:srgbClr val="FFFFFF"/>
                          </a:solidFill>
                          <a:latin typeface="Arial"/>
                        </a:rPr>
                        <a:t>Air Temp</a:t>
                      </a:r>
                    </a:p>
                  </a:txBody>
                  <a:tcPr>
                    <a:solidFill>
                      <a:srgbClr val="002060"/>
                    </a:solidFill>
                  </a:tcPr>
                </a:tc>
                <a:tc>
                  <a:txBody>
                    <a:bodyPr/>
                    <a:lstStyle/>
                    <a:p>
                      <a:pPr algn="ctr"/>
                      <a:r>
                        <a:rPr sz="1200" b="1" i="0">
                          <a:solidFill>
                            <a:srgbClr val="FFFFFF"/>
                          </a:solidFill>
                          <a:latin typeface="Arial"/>
                        </a:rPr>
                        <a:t>Humidity</a:t>
                      </a:r>
                    </a:p>
                  </a:txBody>
                  <a:tcPr>
                    <a:solidFill>
                      <a:srgbClr val="002060"/>
                    </a:solidFill>
                  </a:tcPr>
                </a:tc>
                <a:tc>
                  <a:txBody>
                    <a:bodyPr/>
                    <a:lstStyle/>
                    <a:p>
                      <a:pPr algn="ctr"/>
                      <a:r>
                        <a:rPr sz="1200" b="1" i="0">
                          <a:solidFill>
                            <a:srgbClr val="FFFFFF"/>
                          </a:solidFill>
                          <a:latin typeface="Arial"/>
                        </a:rPr>
                        <a:t>Wind (km/h)</a:t>
                      </a:r>
                    </a:p>
                  </a:txBody>
                  <a:tcPr>
                    <a:solidFill>
                      <a:srgbClr val="002060"/>
                    </a:solidFill>
                  </a:tcPr>
                </a:tc>
                <a:tc>
                  <a:txBody>
                    <a:bodyPr/>
                    <a:lstStyle/>
                    <a:p>
                      <a:pPr algn="ctr"/>
                      <a:r>
                        <a:rPr sz="1200" b="1" i="0">
                          <a:solidFill>
                            <a:srgbClr val="FFFFFF"/>
                          </a:solidFill>
                          <a:latin typeface="Arial"/>
                        </a:rPr>
                        <a:t>Precip (mm)</a:t>
                      </a:r>
                    </a:p>
                  </a:txBody>
                  <a:tcPr>
                    <a:solidFill>
                      <a:srgbClr val="002060"/>
                    </a:solidFill>
                  </a:tcPr>
                </a:tc>
                <a:tc>
                  <a:txBody>
                    <a:bodyPr/>
                    <a:lstStyle/>
                    <a:p>
                      <a:pPr algn="ctr"/>
                      <a:r>
                        <a:rPr sz="1200" b="1" i="0">
                          <a:solidFill>
                            <a:srgbClr val="FFFFFF"/>
                          </a:solidFill>
                          <a:latin typeface="Arial"/>
                        </a:rPr>
                        <a:t>Water Temp</a:t>
                      </a:r>
                    </a:p>
                  </a:txBody>
                  <a:tcPr>
                    <a:solidFill>
                      <a:srgbClr val="002060"/>
                    </a:solidFill>
                  </a:tcPr>
                </a:tc>
                <a:tc>
                  <a:txBody>
                    <a:bodyPr/>
                    <a:lstStyle/>
                    <a:p>
                      <a:pPr algn="ctr"/>
                      <a:r>
                        <a:rPr sz="1200" b="1" i="0">
                          <a:solidFill>
                            <a:srgbClr val="FFFFFF"/>
                          </a:solidFill>
                          <a:latin typeface="Arial"/>
                        </a:rPr>
                        <a:t>Wetsuit</a:t>
                      </a:r>
                    </a:p>
                  </a:txBody>
                  <a:tcPr>
                    <a:solidFill>
                      <a:srgbClr val="002060"/>
                    </a:solidFill>
                  </a:tcPr>
                </a:tc>
                <a:tc>
                  <a:txBody>
                    <a:bodyPr/>
                    <a:lstStyle/>
                    <a:p>
                      <a:pPr algn="ctr"/>
                      <a:r>
                        <a:rPr sz="1200" b="1" i="0">
                          <a:solidFill>
                            <a:srgbClr val="FFFFFF"/>
                          </a:solidFill>
                          <a:latin typeface="Arial"/>
                        </a:rPr>
                        <a:t>Conditions</a:t>
                      </a:r>
                    </a:p>
                  </a:txBody>
                  <a:tcPr>
                    <a:solidFill>
                      <a:srgbClr val="002060"/>
                    </a:solidFill>
                  </a:tcPr>
                </a:tc>
                <a:extLst>
                  <a:ext uri="{0D108BD9-81ED-4DB2-BD59-A6C34878D82A}">
                    <a16:rowId xmlns:a16="http://schemas.microsoft.com/office/drawing/2014/main" val="10000"/>
                  </a:ext>
                </a:extLst>
              </a:tr>
              <a:tr h="457200">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May 12</a:t>
                      </a:r>
                    </a:p>
                  </a:txBody>
                  <a:tcPr>
                    <a:solidFill>
                      <a:srgbClr val="FFFFFF"/>
                    </a:solidFill>
                  </a:tcPr>
                </a:tc>
                <a:tc>
                  <a:txBody>
                    <a:bodyPr/>
                    <a:lstStyle/>
                    <a:p>
                      <a:pPr algn="ctr"/>
                      <a:r>
                        <a:rPr sz="1000" b="0" i="0">
                          <a:solidFill>
                            <a:srgbClr val="262626"/>
                          </a:solidFill>
                          <a:latin typeface="Arial"/>
                        </a:rPr>
                        <a:t>20.1</a:t>
                      </a:r>
                    </a:p>
                  </a:txBody>
                  <a:tcPr>
                    <a:solidFill>
                      <a:srgbClr val="FFFFFF"/>
                    </a:solidFill>
                  </a:tcPr>
                </a:tc>
                <a:tc>
                  <a:txBody>
                    <a:bodyPr/>
                    <a:lstStyle/>
                    <a:p>
                      <a:pPr algn="ctr"/>
                      <a:r>
                        <a:rPr sz="1000" b="0" i="0">
                          <a:solidFill>
                            <a:srgbClr val="262626"/>
                          </a:solidFill>
                          <a:latin typeface="Arial"/>
                        </a:rPr>
                        <a:t>64%</a:t>
                      </a:r>
                    </a:p>
                  </a:txBody>
                  <a:tcPr>
                    <a:solidFill>
                      <a:srgbClr val="FFFFFF"/>
                    </a:solidFill>
                  </a:tcPr>
                </a:tc>
                <a:tc>
                  <a:txBody>
                    <a:bodyPr/>
                    <a:lstStyle/>
                    <a:p>
                      <a:pPr algn="ctr"/>
                      <a:r>
                        <a:rPr sz="1000" b="0" i="0">
                          <a:solidFill>
                            <a:srgbClr val="262626"/>
                          </a:solidFill>
                          <a:latin typeface="Arial"/>
                        </a:rPr>
                        <a:t>9</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457200">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May 18</a:t>
                      </a:r>
                    </a:p>
                  </a:txBody>
                  <a:tcPr>
                    <a:solidFill>
                      <a:srgbClr val="F2F2F2"/>
                    </a:solidFill>
                  </a:tcPr>
                </a:tc>
                <a:tc>
                  <a:txBody>
                    <a:bodyPr/>
                    <a:lstStyle/>
                    <a:p>
                      <a:pPr algn="ctr"/>
                      <a:r>
                        <a:rPr sz="1000" b="0" i="0">
                          <a:solidFill>
                            <a:srgbClr val="262626"/>
                          </a:solidFill>
                          <a:latin typeface="Arial"/>
                        </a:rPr>
                        <a:t>19.7</a:t>
                      </a:r>
                    </a:p>
                  </a:txBody>
                  <a:tcPr>
                    <a:solidFill>
                      <a:srgbClr val="F2F2F2"/>
                    </a:solidFill>
                  </a:tcPr>
                </a:tc>
                <a:tc>
                  <a:txBody>
                    <a:bodyPr/>
                    <a:lstStyle/>
                    <a:p>
                      <a:pPr algn="ctr"/>
                      <a:r>
                        <a:rPr sz="1000" b="0" i="0">
                          <a:solidFill>
                            <a:srgbClr val="262626"/>
                          </a:solidFill>
                          <a:latin typeface="Arial"/>
                        </a:rPr>
                        <a:t>62%</a:t>
                      </a:r>
                    </a:p>
                  </a:txBody>
                  <a:tcPr>
                    <a:solidFill>
                      <a:srgbClr val="F2F2F2"/>
                    </a:solidFill>
                  </a:tcPr>
                </a:tc>
                <a:tc>
                  <a:txBody>
                    <a:bodyPr/>
                    <a:lstStyle/>
                    <a:p>
                      <a:pPr algn="ctr"/>
                      <a:r>
                        <a:rPr sz="1000" b="0" i="0">
                          <a:solidFill>
                            <a:srgbClr val="262626"/>
                          </a:solidFill>
                          <a:latin typeface="Arial"/>
                        </a:rPr>
                        <a:t>21</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457200">
                <a:tc>
                  <a:txBody>
                    <a:bodyPr/>
                    <a:lstStyle/>
                    <a:p>
                      <a:pPr algn="ctr"/>
                      <a:r>
                        <a:rPr sz="1000" b="0" i="0">
                          <a:solidFill>
                            <a:srgbClr val="262626"/>
                          </a:solidFill>
                          <a:latin typeface="Arial"/>
                        </a:rPr>
                        <a:t>2021</a:t>
                      </a:r>
                    </a:p>
                  </a:txBody>
                  <a:tcPr>
                    <a:solidFill>
                      <a:srgbClr val="FFFFFF"/>
                    </a:solidFill>
                  </a:tcPr>
                </a:tc>
                <a:tc>
                  <a:txBody>
                    <a:bodyPr/>
                    <a:lstStyle/>
                    <a:p>
                      <a:pPr algn="ctr"/>
                      <a:r>
                        <a:rPr sz="1000" b="0" i="0">
                          <a:solidFill>
                            <a:srgbClr val="262626"/>
                          </a:solidFill>
                          <a:latin typeface="Arial"/>
                        </a:rPr>
                        <a:t>May 15</a:t>
                      </a:r>
                    </a:p>
                  </a:txBody>
                  <a:tcPr>
                    <a:solidFill>
                      <a:srgbClr val="FFFFFF"/>
                    </a:solidFill>
                  </a:tcPr>
                </a:tc>
                <a:tc>
                  <a:txBody>
                    <a:bodyPr/>
                    <a:lstStyle/>
                    <a:p>
                      <a:pPr algn="ctr"/>
                      <a:r>
                        <a:rPr sz="1000" b="0" i="0">
                          <a:solidFill>
                            <a:srgbClr val="262626"/>
                          </a:solidFill>
                          <a:latin typeface="Arial"/>
                        </a:rPr>
                        <a:t>22.1</a:t>
                      </a:r>
                    </a:p>
                  </a:txBody>
                  <a:tcPr>
                    <a:solidFill>
                      <a:srgbClr val="FFFFFF"/>
                    </a:solidFill>
                  </a:tcPr>
                </a:tc>
                <a:tc>
                  <a:txBody>
                    <a:bodyPr/>
                    <a:lstStyle/>
                    <a:p>
                      <a:pPr algn="ctr"/>
                      <a:r>
                        <a:rPr sz="1000" b="0" i="0">
                          <a:solidFill>
                            <a:srgbClr val="262626"/>
                          </a:solidFill>
                          <a:latin typeface="Arial"/>
                        </a:rPr>
                        <a:t>70%</a:t>
                      </a:r>
                    </a:p>
                  </a:txBody>
                  <a:tcPr>
                    <a:solidFill>
                      <a:srgbClr val="FFFFFF"/>
                    </a:solidFill>
                  </a:tcPr>
                </a:tc>
                <a:tc>
                  <a:txBody>
                    <a:bodyPr/>
                    <a:lstStyle/>
                    <a:p>
                      <a:pPr algn="ctr"/>
                      <a:r>
                        <a:rPr sz="1000" b="0" i="0">
                          <a:solidFill>
                            <a:srgbClr val="262626"/>
                          </a:solidFill>
                          <a:latin typeface="Arial"/>
                        </a:rPr>
                        <a:t>6</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457200">
                <a:tc>
                  <a:txBody>
                    <a:bodyPr/>
                    <a:lstStyle/>
                    <a:p>
                      <a:pPr algn="ctr"/>
                      <a:r>
                        <a:rPr sz="1000" b="0" i="0">
                          <a:solidFill>
                            <a:srgbClr val="262626"/>
                          </a:solidFill>
                          <a:latin typeface="Arial"/>
                        </a:rPr>
                        <a:t>2022</a:t>
                      </a:r>
                    </a:p>
                  </a:txBody>
                  <a:tcPr>
                    <a:solidFill>
                      <a:srgbClr val="F2F2F2"/>
                    </a:solidFill>
                  </a:tcPr>
                </a:tc>
                <a:tc>
                  <a:txBody>
                    <a:bodyPr/>
                    <a:lstStyle/>
                    <a:p>
                      <a:pPr algn="ctr"/>
                      <a:r>
                        <a:rPr sz="1000" b="0" i="0">
                          <a:solidFill>
                            <a:srgbClr val="262626"/>
                          </a:solidFill>
                          <a:latin typeface="Arial"/>
                        </a:rPr>
                        <a:t>May 14</a:t>
                      </a:r>
                    </a:p>
                  </a:txBody>
                  <a:tcPr>
                    <a:solidFill>
                      <a:srgbClr val="F2F2F2"/>
                    </a:solidFill>
                  </a:tcPr>
                </a:tc>
                <a:tc>
                  <a:txBody>
                    <a:bodyPr/>
                    <a:lstStyle/>
                    <a:p>
                      <a:pPr algn="ctr"/>
                      <a:r>
                        <a:rPr sz="1000" b="0" i="0">
                          <a:solidFill>
                            <a:srgbClr val="262626"/>
                          </a:solidFill>
                          <a:latin typeface="Arial"/>
                        </a:rPr>
                        <a:t>22.0</a:t>
                      </a:r>
                    </a:p>
                  </a:txBody>
                  <a:tcPr>
                    <a:solidFill>
                      <a:srgbClr val="F2F2F2"/>
                    </a:solidFill>
                  </a:tcPr>
                </a:tc>
                <a:tc>
                  <a:txBody>
                    <a:bodyPr/>
                    <a:lstStyle/>
                    <a:p>
                      <a:pPr algn="ctr"/>
                      <a:r>
                        <a:rPr sz="1000" b="0" i="0">
                          <a:solidFill>
                            <a:srgbClr val="262626"/>
                          </a:solidFill>
                          <a:latin typeface="Arial"/>
                        </a:rPr>
                        <a:t>93%</a:t>
                      </a:r>
                    </a:p>
                  </a:txBody>
                  <a:tcPr>
                    <a:solidFill>
                      <a:srgbClr val="F2F2F2"/>
                    </a:solidFill>
                  </a:tcPr>
                </a:tc>
                <a:tc>
                  <a:txBody>
                    <a:bodyPr/>
                    <a:lstStyle/>
                    <a:p>
                      <a:pPr algn="ctr"/>
                      <a:r>
                        <a:rPr sz="1000" b="0" i="0">
                          <a:solidFill>
                            <a:srgbClr val="262626"/>
                          </a:solidFill>
                          <a:latin typeface="Arial"/>
                        </a:rPr>
                        <a:t>15</a:t>
                      </a:r>
                    </a:p>
                  </a:txBody>
                  <a:tcPr>
                    <a:solidFill>
                      <a:srgbClr val="F2F2F2"/>
                    </a:solidFill>
                  </a:tcPr>
                </a:tc>
                <a:tc>
                  <a:txBody>
                    <a:bodyPr/>
                    <a:lstStyle/>
                    <a:p>
                      <a:pPr algn="ctr"/>
                      <a:r>
                        <a:rPr sz="1000" b="0" i="0">
                          <a:solidFill>
                            <a:srgbClr val="262626"/>
                          </a:solidFill>
                          <a:latin typeface="Arial"/>
                        </a:rPr>
                        <a:t>8.8</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457200">
                <a:tc>
                  <a:txBody>
                    <a:bodyPr/>
                    <a:lstStyle/>
                    <a:p>
                      <a:pPr algn="ctr"/>
                      <a:r>
                        <a:rPr sz="1000" b="0" i="0">
                          <a:solidFill>
                            <a:srgbClr val="262626"/>
                          </a:solidFill>
                          <a:latin typeface="Arial"/>
                        </a:rPr>
                        <a:t>2023</a:t>
                      </a:r>
                    </a:p>
                  </a:txBody>
                  <a:tcPr>
                    <a:solidFill>
                      <a:srgbClr val="FFFFFF"/>
                    </a:solidFill>
                  </a:tcPr>
                </a:tc>
                <a:tc>
                  <a:txBody>
                    <a:bodyPr/>
                    <a:lstStyle/>
                    <a:p>
                      <a:pPr algn="ctr"/>
                      <a:r>
                        <a:rPr sz="1000" b="0" i="0">
                          <a:solidFill>
                            <a:srgbClr val="262626"/>
                          </a:solidFill>
                          <a:latin typeface="Arial"/>
                        </a:rPr>
                        <a:t>May 13</a:t>
                      </a:r>
                    </a:p>
                  </a:txBody>
                  <a:tcPr>
                    <a:solidFill>
                      <a:srgbClr val="FFFFFF"/>
                    </a:solidFill>
                  </a:tcPr>
                </a:tc>
                <a:tc>
                  <a:txBody>
                    <a:bodyPr/>
                    <a:lstStyle/>
                    <a:p>
                      <a:pPr algn="ctr"/>
                      <a:r>
                        <a:rPr sz="1000" b="0" i="0">
                          <a:solidFill>
                            <a:srgbClr val="262626"/>
                          </a:solidFill>
                          <a:latin typeface="Arial"/>
                        </a:rPr>
                        <a:t>17.1</a:t>
                      </a:r>
                    </a:p>
                  </a:txBody>
                  <a:tcPr>
                    <a:solidFill>
                      <a:srgbClr val="FFFFFF"/>
                    </a:solidFill>
                  </a:tcPr>
                </a:tc>
                <a:tc>
                  <a:txBody>
                    <a:bodyPr/>
                    <a:lstStyle/>
                    <a:p>
                      <a:pPr algn="ctr"/>
                      <a:r>
                        <a:rPr sz="1000" b="0" i="0">
                          <a:solidFill>
                            <a:srgbClr val="262626"/>
                          </a:solidFill>
                          <a:latin typeface="Arial"/>
                        </a:rPr>
                        <a:t>78%</a:t>
                      </a:r>
                    </a:p>
                  </a:txBody>
                  <a:tcPr>
                    <a:solidFill>
                      <a:srgbClr val="FFFFFF"/>
                    </a:solidFill>
                  </a:tcPr>
                </a:tc>
                <a:tc>
                  <a:txBody>
                    <a:bodyPr/>
                    <a:lstStyle/>
                    <a:p>
                      <a:pPr algn="ctr"/>
                      <a:r>
                        <a:rPr sz="1000" b="0" i="0">
                          <a:solidFill>
                            <a:srgbClr val="262626"/>
                          </a:solidFill>
                          <a:latin typeface="Arial"/>
                        </a:rPr>
                        <a:t>12</a:t>
                      </a:r>
                    </a:p>
                  </a:txBody>
                  <a:tcPr>
                    <a:solidFill>
                      <a:srgbClr val="FFFFFF"/>
                    </a:solidFill>
                  </a:tcPr>
                </a:tc>
                <a:tc>
                  <a:txBody>
                    <a:bodyPr/>
                    <a:lstStyle/>
                    <a:p>
                      <a:pPr algn="ctr"/>
                      <a:r>
                        <a:rPr sz="1000" b="0" i="0">
                          <a:solidFill>
                            <a:srgbClr val="262626"/>
                          </a:solidFill>
                          <a:latin typeface="Arial"/>
                        </a:rPr>
                        <a:t>0.4</a:t>
                      </a:r>
                    </a:p>
                  </a:txBody>
                  <a:tcPr>
                    <a:solidFill>
                      <a:srgbClr val="FFFFFF"/>
                    </a:solidFill>
                  </a:tcPr>
                </a:tc>
                <a:tc>
                  <a:txBody>
                    <a:bodyPr/>
                    <a:lstStyle/>
                    <a:p>
                      <a:pPr algn="ctr"/>
                      <a:r>
                        <a:rPr sz="1000" b="0" i="0">
                          <a:solidFill>
                            <a:srgbClr val="262626"/>
                          </a:solidFill>
                          <a:latin typeface="Arial"/>
                        </a:rPr>
                        <a:t>17.5°*</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5"/>
                  </a:ext>
                </a:extLst>
              </a:tr>
              <a:tr h="457200">
                <a:tc>
                  <a:txBody>
                    <a:bodyPr/>
                    <a:lstStyle/>
                    <a:p>
                      <a:pPr algn="ctr"/>
                      <a:r>
                        <a:rPr sz="1000" b="0" i="0">
                          <a:solidFill>
                            <a:srgbClr val="262626"/>
                          </a:solidFill>
                          <a:latin typeface="Arial"/>
                        </a:rPr>
                        <a:t>2024</a:t>
                      </a:r>
                    </a:p>
                  </a:txBody>
                  <a:tcPr>
                    <a:solidFill>
                      <a:srgbClr val="F2F2F2"/>
                    </a:solidFill>
                  </a:tcPr>
                </a:tc>
                <a:tc>
                  <a:txBody>
                    <a:bodyPr/>
                    <a:lstStyle/>
                    <a:p>
                      <a:pPr algn="ctr"/>
                      <a:r>
                        <a:rPr sz="1000" b="0" i="0">
                          <a:solidFill>
                            <a:srgbClr val="262626"/>
                          </a:solidFill>
                          <a:latin typeface="Arial"/>
                        </a:rPr>
                        <a:t>May 11</a:t>
                      </a:r>
                    </a:p>
                  </a:txBody>
                  <a:tcPr>
                    <a:solidFill>
                      <a:srgbClr val="F2F2F2"/>
                    </a:solidFill>
                  </a:tcPr>
                </a:tc>
                <a:tc>
                  <a:txBody>
                    <a:bodyPr/>
                    <a:lstStyle/>
                    <a:p>
                      <a:pPr algn="ctr"/>
                      <a:r>
                        <a:rPr sz="1000" b="0" i="0">
                          <a:solidFill>
                            <a:srgbClr val="262626"/>
                          </a:solidFill>
                          <a:latin typeface="Arial"/>
                        </a:rPr>
                        <a:t>25.4</a:t>
                      </a:r>
                    </a:p>
                  </a:txBody>
                  <a:tcPr>
                    <a:solidFill>
                      <a:srgbClr val="F2F2F2"/>
                    </a:solidFill>
                  </a:tcPr>
                </a:tc>
                <a:tc>
                  <a:txBody>
                    <a:bodyPr/>
                    <a:lstStyle/>
                    <a:p>
                      <a:pPr algn="ctr"/>
                      <a:r>
                        <a:rPr sz="1000" b="0" i="0">
                          <a:solidFill>
                            <a:srgbClr val="262626"/>
                          </a:solidFill>
                          <a:latin typeface="Arial"/>
                        </a:rPr>
                        <a:t>56%</a:t>
                      </a:r>
                    </a:p>
                  </a:txBody>
                  <a:tcPr>
                    <a:solidFill>
                      <a:srgbClr val="F2F2F2"/>
                    </a:solidFill>
                  </a:tcPr>
                </a:tc>
                <a:tc>
                  <a:txBody>
                    <a:bodyPr/>
                    <a:lstStyle/>
                    <a:p>
                      <a:pPr algn="ctr"/>
                      <a:r>
                        <a:rPr sz="1000" b="0" i="0">
                          <a:solidFill>
                            <a:srgbClr val="262626"/>
                          </a:solidFill>
                          <a:latin typeface="Arial"/>
                        </a:rPr>
                        <a:t>28</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19.8</a:t>
                      </a:r>
                    </a:p>
                  </a:txBody>
                  <a:tcPr>
                    <a:solidFill>
                      <a:srgbClr val="F2F2F2"/>
                    </a:solidFill>
                  </a:tcPr>
                </a:tc>
                <a:tc>
                  <a:txBody>
                    <a:bodyPr/>
                    <a:lstStyle/>
                    <a:p>
                      <a:pPr algn="ctr"/>
                      <a:r>
                        <a:rPr sz="1000" b="0" i="0">
                          <a:solidFill>
                            <a:srgbClr val="262626"/>
                          </a:solidFill>
                          <a:latin typeface="Arial"/>
                        </a:rPr>
                        <a:t>allowed</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6"/>
                  </a:ext>
                </a:extLst>
              </a:tr>
              <a:tr h="457200">
                <a:tc>
                  <a:txBody>
                    <a:bodyPr/>
                    <a:lstStyle/>
                    <a:p>
                      <a:pPr algn="ctr"/>
                      <a:r>
                        <a:rPr sz="1000" b="0" i="0">
                          <a:solidFill>
                            <a:srgbClr val="262626"/>
                          </a:solidFill>
                          <a:latin typeface="Arial"/>
                        </a:rPr>
                        <a:t>2025</a:t>
                      </a:r>
                    </a:p>
                  </a:txBody>
                  <a:tcPr>
                    <a:solidFill>
                      <a:srgbClr val="FFFFFF"/>
                    </a:solidFill>
                  </a:tcPr>
                </a:tc>
                <a:tc>
                  <a:txBody>
                    <a:bodyPr/>
                    <a:lstStyle/>
                    <a:p>
                      <a:pPr algn="ctr"/>
                      <a:r>
                        <a:rPr sz="1000" b="0" i="0">
                          <a:solidFill>
                            <a:srgbClr val="262626"/>
                          </a:solidFill>
                          <a:latin typeface="Arial"/>
                        </a:rPr>
                        <a:t>May 17</a:t>
                      </a:r>
                    </a:p>
                  </a:txBody>
                  <a:tcPr>
                    <a:solidFill>
                      <a:srgbClr val="FFFFFF"/>
                    </a:solidFill>
                  </a:tcPr>
                </a:tc>
                <a:tc>
                  <a:txBody>
                    <a:bodyPr/>
                    <a:lstStyle/>
                    <a:p>
                      <a:pPr algn="ctr"/>
                      <a:r>
                        <a:rPr sz="1000" b="0" i="0">
                          <a:solidFill>
                            <a:srgbClr val="262626"/>
                          </a:solidFill>
                          <a:latin typeface="Arial"/>
                        </a:rPr>
                        <a:t>19.8</a:t>
                      </a:r>
                    </a:p>
                  </a:txBody>
                  <a:tcPr>
                    <a:solidFill>
                      <a:srgbClr val="FFFFFF"/>
                    </a:solidFill>
                  </a:tcPr>
                </a:tc>
                <a:tc>
                  <a:txBody>
                    <a:bodyPr/>
                    <a:lstStyle/>
                    <a:p>
                      <a:pPr algn="ctr"/>
                      <a:r>
                        <a:rPr sz="1000" b="0" i="0">
                          <a:solidFill>
                            <a:srgbClr val="262626"/>
                          </a:solidFill>
                          <a:latin typeface="Arial"/>
                        </a:rPr>
                        <a:t>93%</a:t>
                      </a:r>
                    </a:p>
                  </a:txBody>
                  <a:tcPr>
                    <a:solidFill>
                      <a:srgbClr val="FFFFFF"/>
                    </a:solidFill>
                  </a:tcPr>
                </a:tc>
                <a:tc>
                  <a:txBody>
                    <a:bodyPr/>
                    <a:lstStyle/>
                    <a:p>
                      <a:pPr algn="ctr"/>
                      <a:r>
                        <a:rPr sz="1000" b="0" i="0">
                          <a:solidFill>
                            <a:srgbClr val="262626"/>
                          </a:solidFill>
                          <a:latin typeface="Arial"/>
                        </a:rPr>
                        <a:t>23</a:t>
                      </a:r>
                    </a:p>
                  </a:txBody>
                  <a:tcPr>
                    <a:solidFill>
                      <a:srgbClr val="FFFFFF"/>
                    </a:solidFill>
                  </a:tcPr>
                </a:tc>
                <a:tc>
                  <a:txBody>
                    <a:bodyPr/>
                    <a:lstStyle/>
                    <a:p>
                      <a:pPr algn="ctr"/>
                      <a:r>
                        <a:rPr sz="1000" b="0" i="0">
                          <a:solidFill>
                            <a:srgbClr val="262626"/>
                          </a:solidFill>
                          <a:latin typeface="Arial"/>
                        </a:rPr>
                        <a:t>1.5</a:t>
                      </a:r>
                    </a:p>
                  </a:txBody>
                  <a:tcPr>
                    <a:solidFill>
                      <a:srgbClr val="FFFFFF"/>
                    </a:solidFill>
                  </a:tcPr>
                </a:tc>
                <a:tc>
                  <a:txBody>
                    <a:bodyPr/>
                    <a:lstStyle/>
                    <a:p>
                      <a:pPr algn="ctr"/>
                      <a:r>
                        <a:rPr sz="1000" b="0" i="0">
                          <a:solidFill>
                            <a:srgbClr val="262626"/>
                          </a:solidFill>
                          <a:latin typeface="Arial"/>
                        </a:rPr>
                        <a:t>20.2</a:t>
                      </a:r>
                    </a:p>
                  </a:txBody>
                  <a:tcPr>
                    <a:solidFill>
                      <a:srgbClr val="FFFFFF"/>
                    </a:solidFill>
                  </a:tcPr>
                </a:tc>
                <a:tc>
                  <a:txBody>
                    <a:bodyPr/>
                    <a:lstStyle/>
                    <a:p>
                      <a:pPr algn="ctr"/>
                      <a:r>
                        <a:rPr sz="1000" b="0" i="0">
                          <a:solidFill>
                            <a:srgbClr val="262626"/>
                          </a:solidFill>
                          <a:latin typeface="Arial"/>
                        </a:rPr>
                        <a:t>forbidden</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274320" y="6035040"/>
            <a:ext cx="11640312" cy="658368"/>
          </a:xfrm>
          <a:prstGeom prst="rect">
            <a:avLst/>
          </a:prstGeom>
          <a:noFill/>
        </p:spPr>
        <p:txBody>
          <a:bodyPr wrap="square">
            <a:spAutoFit/>
          </a:bodyPr>
          <a:lstStyle/>
          <a:p>
            <a:pPr algn="l"/>
            <a:r>
              <a:rPr sz="900" b="0" i="1">
                <a:solidFill>
                  <a:srgbClr val="BFBFBF"/>
                </a:solidFill>
                <a:latin typeface="Arial"/>
              </a:rPr>
              <a:t>Air temp, humidity, wind, and precipitation sourced from Open-Meteo historical archive (race window 08:00–11:00 local) where WT API data is absent. Values marked * are Open-Meteo estimates. Water temp and wetsuit ruling are from the World Triathlon API per program.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362</TotalTime>
  <Words>2430</Words>
  <Application>Microsoft Office PowerPoint</Application>
  <PresentationFormat>Custom</PresentationFormat>
  <Paragraphs>690</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John High</dc:creator>
  <cp:keywords/>
  <dc:description>generated using python-pptx</dc:description>
  <cp:lastModifiedBy>John High</cp:lastModifiedBy>
  <cp:revision>5</cp:revision>
  <dcterms:created xsi:type="dcterms:W3CDTF">2013-01-27T09:14:16Z</dcterms:created>
  <dcterms:modified xsi:type="dcterms:W3CDTF">2026-04-28T19:43:08Z</dcterms:modified>
  <cp:category/>
</cp:coreProperties>
</file>