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MONTREAL RACE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Elite Analysis  ·  June 24 – 27,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Week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June 24 – 27, 2026   •   Parc Jean-Drapeau, Notre-Dame Island, Montréal (EDT, UTC-4)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Thu • June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Open Training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240280"/>
          <a:ext cx="3727703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11:00 – 15:00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 training — Aquatic Complex (50 m pool, 4 lanes)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14:00 – 17:00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Gym training — Athletes' Quarter gym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(Wed Jun 24)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Pool training 14:00–18:00 + gym 14:00–17:00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230624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2064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Fri • June 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2064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Familiarization &amp; Briefing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230624" y="2240280"/>
          <a:ext cx="372770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07:45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Departures from Host Hotel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08:45 – 09:15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PTS/PTVI Bike Fam  •  PTWC Run Fam — Transition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09:30 – 10:00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PTS/PTVI Run Fam  •  PTWC Bike Fam — Transition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10:15 – 11:00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 Familiarisation (ALL) — Swim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10:15 – 10:45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Coaches Onsite Meeting — Transition Area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10:30 – 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Equipment verification (ALL)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12:00 – 12:45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WTPS Pre-race briefing (ALL) — Athletes' Quarter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12:45 – 13:30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Race Package 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Departures from venue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8186928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8368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Sat • June 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8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PARA RACE DAY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186928" y="2240280"/>
          <a:ext cx="3727703" cy="6537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05:00 / 05:30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Hotel departures — PTWC 05:00 • PTS/PTVI 05:30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05:30 / 06:15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Athletes' Lounge opens — PTWC 05:30 • PTS/PTVI 06:15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06:15 – 06:45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PTWC swim warm-up (on course) + transition check-in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06:53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PTWC Athletes' Introduction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07:00 / 07:03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PTWC1 Men 07:00  •  PTWC2 Men 07:03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07:04 / 07:08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PTWC1 Women 07:04  •  PTWC2 Women 07:08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07:45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PTS5 Men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07:50 / 07:53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PTVI1 Men 07:50  •  PTVI2/3 Men 07:53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07:54 / 07:57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PTVI1 Women 07:54  •  PTVI2/3 Women 07:57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08:10 / 08:15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PTS5 Women 08:10  •  PTS2/3/4 Women 08:15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08:25 / 08:30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PTS4 Men 08:25  •  PTS2/3 Men 08:30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10:15 / 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Venue departures — 1st bus 10:15  •  2nd 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10:30 – 11:30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WTPS Medal Ceremony — Podium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74320" y="63550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Times Parc Jean-Drapeau, Notre-Dame Island, Montréal (EDT, UTC-4). Schedule confirmed from World Triathlon race-info page / athlete guide; subject to organiser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MONTREAL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World Triathlon Para Series Montréal returns to Parc Jean-Drapeau for the 2026 edition. The race uses the venerable Olympic Basin for a 750 m swim, then heads to the Circuit Gilles-Villeneuve — the F1 track — for a flat, fast 21.5 km bike on a closed circuit. The run mixes the CGV and the path alongside the rowing basin. Late June in Montréal can run hot and humid; with 23 °C water, expect a non-wetsuit race and a power-driven bike.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Olympic Basin swim — sheltered, ~23 °C fresh water, in-water pontoon start. Non-wetsuit.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Bike on Circuit Gilles-Villeneuve (F1 track): pancake-flat 4.1 km clockwise loop × 5 = 21.5 km.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001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Run on CGV + Olympic Basin path: flat 2.5 km loop × 2 with five aid-station access 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12 distinct Para sport-class starts (PTWC, PTVI, PTS2–5) staged 07:00 → 08:30 across both genders.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750 m – 1 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21.5 km – 5 laps × 4.1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8541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5 km – 2 laps × 2.5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23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Sprint Para Triathlon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Race Info | 2026 World Triathlon Para Series Montréal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Course Profile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upcoming course map or race photo here]
Right-click → Replace Image, or paste screenshot
of the World Triathlon course map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[PLACEHOLDER: World Triathlon event page URL]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previous year course map or race photo here]
Right-click → Replace Image, or paste screenshot
of the World Triathlon course map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2025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https://www.triathlon.org/events/event/2024_americas_triathlon_cup_montreal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956048"/>
          <a:ext cx="116403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914400"/>
                <a:gridCol w="7708392"/>
              </a:tblGrid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Discipline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Laps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Terrain / 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0.8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Open-water, Bay of Montreal]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20.2 km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coastal road circuit, closed course]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multi-lap, cobblestone city-centre finish]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swim course map here]
Save the organiser map as:
ppt files/support/montreal_swim_course.png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Para Series Montréal Elite Athlete Guide — 27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750 m   •   single 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Sheltered rowing basin — fresh water, calm conditions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750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Olympic Basin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In-water start from pontoon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Water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22.0–24.0 °C (expected)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Wetsuit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Forbidden (&gt; 22 °C)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Sheltered Olympic Basin water — no chop, no current, no wave issues; navigation-only swim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PTWC swim warm-up on course 06:15–06:45; PTS/PTVI use warm-up lane 07:00–08:15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Lounge opens 05:30 (PTWC) / 06:15 (PTS/PTVI); athletes' intro 10 min before category start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Water quality monitored by private lab — guide flags it consistently inside WT thresholds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Warm water + warm air at 7 AM start — no cold-water acclimation concerns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0807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Arial"/>
              </a:rPr>
              <a:t>Not in race brief: Buoy layout for individual race (start gathers on pontoon — full layout TBD at familiarization)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course map here]
Save the organiser course map as:
ppt files/support/montreal_bike_course.png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Para Series Montréal Elite Athlete Guide — 27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21.5 km   •   5 × 4.1 km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F1 circuit — Circuit Gilles-Villeneuve, Parc Jean-Drapeau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Elevation / 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Flat (no data)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Climb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Open island — variable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Loops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5 × 4.1 km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70332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73075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Implications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0690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Bike held on the Circuit Gilles-Villeneuve (CGV) F1 track — clockwise 4.1 km loop × 5 = 21.5 km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36168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Pancake-flat, smooth tarmac throughout — no significant climbs; pure power/aero course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5429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Team wheel station at the CGV entrance; Neutral wheel station mid-lap with full disc/rim brake inventory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94690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Bike penalty box sits at the lap/transition split — athletes pass it 5 times across the race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23951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RaceRanger drafting devices are mandatory for PTS/PTVI classes — install at bike racking on Friday if not done at home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53212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Open island setting on Notre-Dame Island — winds off the St. Lawrence can swing crosswinds on the straights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120640"/>
            <a:ext cx="11640312" cy="14173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577840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FBFBF"/>
                </a:solidFill>
                <a:latin typeface="Arial"/>
              </a:rPr>
              <a:t>Flat course — published profile shows no significant climbs.
No elevation chart synthesized; if a race GPS FIT becomes available, real contours will replace this block.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files/support/montreal_run_course.png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Para Series Montréal Elite Athlete Guide — 27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5.0 km   •   2 × 2.5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Asphalt — Circuit Gilles-Villeneuve + Olympic Basin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5.0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 × 2.5 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▲ /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Heat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MODERATE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Flat 2.5 km loop × 2 — exit transition north of basin, enter CGV at the hairpin, head west to pit lane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Two left turns at the pit lane drop onto the north-side path along the Olympic Basin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Aid stations / water at 370 m, 1.1 km, 2.3 km, 3.0 km, 4.1 km — five access points per athlete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Run penalty box at ~2.6 km (loop turnaround); passed twice — drafting infractions compound across laps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PTVI Free Leading zones: T2 exit→AS1, AS2 on CGV, paddocks turnaround, AS2 on Chemin Nord, Run Penalty Box 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4406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Run team wheel station (for racing wheelchairs) co-located with Aid Station 2; both-side access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0807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Arial"/>
              </a:rPr>
              <a:t>Not in race brief: Elevation profile (course described as flat — no published grade data)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Race-Day Weather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2026-06-27   •   Historical climatology — same calendar day, 7-year mean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00200"/>
            <a:ext cx="7040880" cy="3108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98079" y="16459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6824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PTWC start — 07:00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6367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5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5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20.2 °C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1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20.5 °C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60735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79023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3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75%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5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5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11.7 km/h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8551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0735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79023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9023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32461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32826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PTS/PTVI window — 08:00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6367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4655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21.1 °C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8551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39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39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21.2 °C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60735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79023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9023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71%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16367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34655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4655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12.7 km/h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88551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39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39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60735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79023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9023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84632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87375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Hydration &amp; Cooling Cues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21208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Cool to mild outlook — standard fluid plan (~500 ml/h), no special pre-cooling required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50468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Notable wind (19 km/h) — drafting protection matters on exposed coastal bike sections; sight more frequently in chop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Data source: Open-Meteo. Forecast will replace climatology once race day is within 16 days. Historical Race Conditions slide shows what actually happened in prior years.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Travel &amp; Arrival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Denver, CO → Montréal race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960120"/>
          </a:xfrm>
          <a:prstGeom prst="rect">
            <a:avLst/>
          </a:prstGeom>
          <a:solidFill>
            <a:srgbClr val="E9EFF9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Core travel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Denver → Montréal is a same-day continental hop — multiple nonstop options (Air Canada / United / WestJet seasonal) plus easy one-stop itineraries through ORD, YYZ, or EWR. Only +2 h time-zone shift (MDT → EDT), so jet-lag impact is minimal. LOC operates a scheduled airport shuttle YUL ↔ Alt Hotel Montréal between June 23–28 (60 USD mandatory per-person fee). Arrive at least Wednesday (Jun 24) to use the official Wed/Thu pool + gym training windows ahead of Friday's familiarization.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Primary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DEN → YUL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Nonstop available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9814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2966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Flight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2966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~3h 45m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966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Nonstop estimate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5308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8460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Time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460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+2h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8460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Montréal ahead of Denver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0803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3955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Airport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955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YUL → Alt Hotel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3955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LOC shuttle (60 USD)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6297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9449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Transfer 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9449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19 km / ~20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9449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By car/shuttle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Host Hotel / Official Accommodation 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Official hotel: Alt Hotel Montréal (Germain Group), 120 Peel Street, H3C 0L8.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Block code "2606OBTRIA" — book via the WTPS reservations link, email reservations.altmontreal@germainhotels.com, or call 514.375.0220.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Distance to venue (Parc Jean-Drapeau): 6.3 km — 15 min by car or bike; LOC provides free venue transport on familiarization + race day.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Underground parking on site (Indigo-managed); cash / Visa / Mastercard accepted.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992624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Hotel is downtown (Griffintown adjacent) — easy walk to Old Montréal, restaurants, and metro access.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Food / Grocery Options Near Hotel + 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Best stock-up: Provigo / IGA / Métro grocery stores within walking distance of Alt Hotel (Peel St / Saint-Antoine corridor).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Quick basics: Tim Hortons / Couche-Tard / Starbucks dotted around downtown; pharmacies (Jean Coutu / Pharmaprix) for sports nutrition + electrolytes.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Athlete-friendly restaurants: Marcus, Burgundy Lion, and the Cours Mont-Royal food court are within 10–15 min walk for protein-forward options.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Venue note: Parc Jean-Drapeau is on Notre-Dame Island — bring race-day food/fluid from the hotel; on-island vendor options are limited and seasonal.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4992624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Heat consideration: Late June can hit 30 °C+ — pre-stock electrolytes / ice packs at hotel for daily training blocks.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70432"/>
          <a:ext cx="470915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/>
                <a:gridCol w="800557"/>
                <a:gridCol w="894740"/>
                <a:gridCol w="800557"/>
                <a:gridCol w="800557"/>
                <a:gridCol w="800557"/>
              </a:tblGrid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25.0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24.1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22.2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27.8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1078992"/>
            <a:ext cx="470916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88136"/>
            <a:ext cx="45720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RACE-DAY WEATHER (08:00–11:00 local)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66360" y="1170432"/>
          <a:ext cx="406907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/>
                <a:gridCol w="823504"/>
                <a:gridCol w="726621"/>
                <a:gridCol w="823504"/>
                <a:gridCol w="1065711"/>
              </a:tblGrid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12080" y="1088136"/>
            <a:ext cx="3931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AIR QUALITY (Open-Meteo archive)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67912"/>
            <a:ext cx="11640312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8862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5196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Quality: [PLACEHOLDER: Historical water quality data for Montreal — e.g. bacterial counts, EU Bathing Water Directive status, known algae / pollution events. Check local environmental agency reports for May race window.]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5775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Athlete Health Incidents: [PLACEHOLDER: Any known GI illness, respiratory, or heat-related incidents at this or comparable venues. E.g. Sunderland 2023 — reported GI illness post-swim for multiple athletes.]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46354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Temperature: [PLACEHOLDER: Historical open-water temperature for Montreal in May (not available from Open-Meteo; check Copernicus Marine / NOAA or WT historical results).]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6933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Heat / Humidity Risk: Auto-derived from above table — flag if humidity &gt;70% or air temp &gt;25°C at race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to Watch — Montreal Race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3 by World Ranking (no startlist data yet)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65960"/>
          <a:ext cx="54864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Miguel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Matthew Hauser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6,341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Vasco Vilaca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357530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5935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867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None of last year's podium are on the current startlist.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3 by World Ranking (no startlist data yet)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1965960"/>
          <a:ext cx="54864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Beth Potter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Lisa Tertsch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Jeanne Lehair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217920" y="357530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5935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9867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None of last year's podium are on the current startlist.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Rankings = current World Triathlon rankings snapshot; startlist intersect uses program_entries when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