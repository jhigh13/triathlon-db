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50" d="100"/>
          <a:sy n="150" d="100"/>
        </p:scale>
        <p:origin x="654" y="12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430000" y="0"/>
            <a:ext cx="758952" cy="685800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57200" y="3749039"/>
            <a:ext cx="10789920" cy="54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USA_Triathlon_Logo.jpg"/>
          <p:cNvPicPr>
            <a:picLocks noChangeAspect="1"/>
          </p:cNvPicPr>
          <p:nvPr/>
        </p:nvPicPr>
        <p:blipFill>
          <a:blip r:embed="rId2"/>
          <a:stretch>
            <a:fillRect/>
          </a:stretch>
        </p:blipFill>
        <p:spPr>
          <a:xfrm>
            <a:off x="548640" y="365760"/>
            <a:ext cx="1920240" cy="1463040"/>
          </a:xfrm>
          <a:prstGeom prst="rect">
            <a:avLst/>
          </a:prstGeom>
        </p:spPr>
      </p:pic>
      <p:sp>
        <p:nvSpPr>
          <p:cNvPr id="6" name="TextBox 5"/>
          <p:cNvSpPr txBox="1"/>
          <p:nvPr/>
        </p:nvSpPr>
        <p:spPr>
          <a:xfrm>
            <a:off x="457200" y="1828800"/>
            <a:ext cx="10789920" cy="1280160"/>
          </a:xfrm>
          <a:prstGeom prst="rect">
            <a:avLst/>
          </a:prstGeom>
          <a:noFill/>
        </p:spPr>
        <p:txBody>
          <a:bodyPr wrap="square">
            <a:spAutoFit/>
          </a:bodyPr>
          <a:lstStyle/>
          <a:p>
            <a:pPr algn="ctr"/>
            <a:r>
              <a:rPr sz="5400" b="1" i="0">
                <a:solidFill>
                  <a:srgbClr val="FFFFFF"/>
                </a:solidFill>
                <a:latin typeface="Arial"/>
              </a:rPr>
              <a:t>EDMONTON RACE PREVIEW</a:t>
            </a:r>
          </a:p>
        </p:txBody>
      </p:sp>
      <p:sp>
        <p:nvSpPr>
          <p:cNvPr id="7" name="TextBox 6"/>
          <p:cNvSpPr txBox="1"/>
          <p:nvPr/>
        </p:nvSpPr>
        <p:spPr>
          <a:xfrm>
            <a:off x="457200" y="3931920"/>
            <a:ext cx="10789920" cy="548640"/>
          </a:xfrm>
          <a:prstGeom prst="rect">
            <a:avLst/>
          </a:prstGeom>
          <a:noFill/>
        </p:spPr>
        <p:txBody>
          <a:bodyPr wrap="square">
            <a:spAutoFit/>
          </a:bodyPr>
          <a:lstStyle/>
          <a:p>
            <a:pPr algn="ctr"/>
            <a:r>
              <a:rPr sz="1800" b="0" i="0">
                <a:solidFill>
                  <a:srgbClr val="AABBDD"/>
                </a:solidFill>
                <a:latin typeface="Arial"/>
              </a:rPr>
              <a:t>Elite Analysis  ·  July 15 – 19, 2026</a:t>
            </a:r>
          </a:p>
        </p:txBody>
      </p:sp>
      <p:sp>
        <p:nvSpPr>
          <p:cNvPr id="8" name="TextBox 7"/>
          <p:cNvSpPr txBox="1"/>
          <p:nvPr/>
        </p:nvSpPr>
        <p:spPr>
          <a:xfrm>
            <a:off x="457200" y="4572000"/>
            <a:ext cx="10789920" cy="457200"/>
          </a:xfrm>
          <a:prstGeom prst="rect">
            <a:avLst/>
          </a:prstGeom>
          <a:noFill/>
        </p:spPr>
        <p:txBody>
          <a:bodyPr wrap="square">
            <a:spAutoFit/>
          </a:bodyPr>
          <a:lstStyle/>
          <a:p>
            <a:pPr algn="ctr"/>
            <a:r>
              <a:rPr sz="1400" b="0" i="0">
                <a:solidFill>
                  <a:srgbClr val="8090B0"/>
                </a:solidFill>
                <a:latin typeface="Arial"/>
              </a:rPr>
              <a:t>USA Triathlon High Performance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Race Week Schedule</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Edmonton</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1097280"/>
            <a:ext cx="11640312" cy="384048"/>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5760" y="1161288"/>
            <a:ext cx="11430000" cy="274320"/>
          </a:xfrm>
          <a:prstGeom prst="rect">
            <a:avLst/>
          </a:prstGeom>
          <a:noFill/>
        </p:spPr>
        <p:txBody>
          <a:bodyPr wrap="square">
            <a:spAutoFit/>
          </a:bodyPr>
          <a:lstStyle/>
          <a:p>
            <a:pPr algn="ctr"/>
            <a:r>
              <a:rPr sz="1300" b="1" i="0">
                <a:solidFill>
                  <a:srgbClr val="002060"/>
                </a:solidFill>
                <a:latin typeface="Arial"/>
              </a:rPr>
              <a:t>July 15 – 19, 2026   •   William Hawrelak Park, 9330 Groat Rd NW, Edmonton, AB (MDT, UTC-6)</a:t>
            </a:r>
          </a:p>
        </p:txBody>
      </p:sp>
      <p:sp>
        <p:nvSpPr>
          <p:cNvPr id="10" name="Rectangle 9"/>
          <p:cNvSpPr/>
          <p:nvPr/>
        </p:nvSpPr>
        <p:spPr>
          <a:xfrm>
            <a:off x="274320" y="1691640"/>
            <a:ext cx="2738628" cy="4572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5760" y="1728216"/>
            <a:ext cx="2555748" cy="201168"/>
          </a:xfrm>
          <a:prstGeom prst="rect">
            <a:avLst/>
          </a:prstGeom>
          <a:noFill/>
        </p:spPr>
        <p:txBody>
          <a:bodyPr wrap="square">
            <a:spAutoFit/>
          </a:bodyPr>
          <a:lstStyle/>
          <a:p>
            <a:pPr algn="ctr"/>
            <a:r>
              <a:rPr sz="1200" b="1" i="0">
                <a:solidFill>
                  <a:srgbClr val="FFFFFF"/>
                </a:solidFill>
                <a:latin typeface="Arial"/>
              </a:rPr>
              <a:t>Wed-Thu • July 15-16</a:t>
            </a:r>
          </a:p>
        </p:txBody>
      </p:sp>
      <p:sp>
        <p:nvSpPr>
          <p:cNvPr id="12" name="TextBox 11"/>
          <p:cNvSpPr txBox="1"/>
          <p:nvPr/>
        </p:nvSpPr>
        <p:spPr>
          <a:xfrm>
            <a:off x="365760" y="1929384"/>
            <a:ext cx="2555748" cy="201168"/>
          </a:xfrm>
          <a:prstGeom prst="rect">
            <a:avLst/>
          </a:prstGeom>
          <a:noFill/>
        </p:spPr>
        <p:txBody>
          <a:bodyPr wrap="square">
            <a:spAutoFit/>
          </a:bodyPr>
          <a:lstStyle/>
          <a:p>
            <a:pPr algn="ctr"/>
            <a:r>
              <a:rPr sz="950" b="0" i="1">
                <a:solidFill>
                  <a:srgbClr val="AABBDD"/>
                </a:solidFill>
                <a:latin typeface="Arial"/>
              </a:rPr>
              <a:t>Open Swim Training</a:t>
            </a:r>
          </a:p>
        </p:txBody>
      </p:sp>
      <p:graphicFrame>
        <p:nvGraphicFramePr>
          <p:cNvPr id="13" name="Table 12"/>
          <p:cNvGraphicFramePr>
            <a:graphicFrameLocks noGrp="1"/>
          </p:cNvGraphicFramePr>
          <p:nvPr/>
        </p:nvGraphicFramePr>
        <p:xfrm>
          <a:off x="274320" y="2240280"/>
          <a:ext cx="2738627" cy="2011680"/>
        </p:xfrm>
        <a:graphic>
          <a:graphicData uri="http://schemas.openxmlformats.org/drawingml/2006/table">
            <a:tbl>
              <a:tblPr firstRow="1" bandRow="1">
                <a:tableStyleId>{5C22544A-7EE6-4342-B048-85BDC9FD1C3A}</a:tableStyleId>
              </a:tblPr>
              <a:tblGrid>
                <a:gridCol w="985906">
                  <a:extLst>
                    <a:ext uri="{9D8B030D-6E8A-4147-A177-3AD203B41FA5}">
                      <a16:colId xmlns:a16="http://schemas.microsoft.com/office/drawing/2014/main" val="20000"/>
                    </a:ext>
                  </a:extLst>
                </a:gridCol>
                <a:gridCol w="1752721">
                  <a:extLst>
                    <a:ext uri="{9D8B030D-6E8A-4147-A177-3AD203B41FA5}">
                      <a16:colId xmlns:a16="http://schemas.microsoft.com/office/drawing/2014/main" val="20001"/>
                    </a:ext>
                  </a:extLst>
                </a:gridCol>
              </a:tblGrid>
              <a:tr h="502920">
                <a:tc>
                  <a:txBody>
                    <a:bodyPr/>
                    <a:lstStyle/>
                    <a:p>
                      <a:pPr algn="ctr"/>
                      <a:r>
                        <a:rPr sz="1000" b="0" i="0">
                          <a:solidFill>
                            <a:srgbClr val="262626"/>
                          </a:solidFill>
                          <a:latin typeface="Arial"/>
                        </a:rPr>
                        <a:t>10:30 – 12:30</a:t>
                      </a:r>
                    </a:p>
                  </a:txBody>
                  <a:tcPr>
                    <a:solidFill>
                      <a:srgbClr val="F2F2F2"/>
                    </a:solidFill>
                  </a:tcPr>
                </a:tc>
                <a:tc>
                  <a:txBody>
                    <a:bodyPr/>
                    <a:lstStyle/>
                    <a:p>
                      <a:pPr algn="l"/>
                      <a:r>
                        <a:rPr sz="1000" b="0" i="0">
                          <a:solidFill>
                            <a:srgbClr val="262626"/>
                          </a:solidFill>
                          <a:latin typeface="Arial"/>
                        </a:rPr>
                        <a:t>Swim Training — Kinsmen Sport Centre (Wed)</a:t>
                      </a:r>
                    </a:p>
                  </a:txBody>
                  <a:tcPr>
                    <a:solidFill>
                      <a:srgbClr val="F2F2F2"/>
                    </a:solidFill>
                  </a:tcPr>
                </a:tc>
                <a:extLst>
                  <a:ext uri="{0D108BD9-81ED-4DB2-BD59-A6C34878D82A}">
                    <a16:rowId xmlns:a16="http://schemas.microsoft.com/office/drawing/2014/main" val="10000"/>
                  </a:ext>
                </a:extLst>
              </a:tr>
              <a:tr h="502920">
                <a:tc>
                  <a:txBody>
                    <a:bodyPr/>
                    <a:lstStyle/>
                    <a:p>
                      <a:pPr algn="ctr"/>
                      <a:r>
                        <a:rPr sz="1000" b="0" i="0">
                          <a:solidFill>
                            <a:srgbClr val="262626"/>
                          </a:solidFill>
                          <a:latin typeface="Arial"/>
                        </a:rPr>
                        <a:t>18:00 – 20:00</a:t>
                      </a:r>
                    </a:p>
                  </a:txBody>
                  <a:tcPr>
                    <a:solidFill>
                      <a:srgbClr val="FFFFFF"/>
                    </a:solidFill>
                  </a:tcPr>
                </a:tc>
                <a:tc>
                  <a:txBody>
                    <a:bodyPr/>
                    <a:lstStyle/>
                    <a:p>
                      <a:pPr algn="l"/>
                      <a:r>
                        <a:rPr sz="1000" b="0" i="0">
                          <a:solidFill>
                            <a:srgbClr val="262626"/>
                          </a:solidFill>
                          <a:latin typeface="Arial"/>
                        </a:rPr>
                        <a:t>Swim Training — Kinsmen Sport Centre (Wed)</a:t>
                      </a:r>
                    </a:p>
                  </a:txBody>
                  <a:tcPr>
                    <a:solidFill>
                      <a:srgbClr val="FFFFFF"/>
                    </a:solidFill>
                  </a:tcPr>
                </a:tc>
                <a:extLst>
                  <a:ext uri="{0D108BD9-81ED-4DB2-BD59-A6C34878D82A}">
                    <a16:rowId xmlns:a16="http://schemas.microsoft.com/office/drawing/2014/main" val="10001"/>
                  </a:ext>
                </a:extLst>
              </a:tr>
              <a:tr h="502920">
                <a:tc>
                  <a:txBody>
                    <a:bodyPr/>
                    <a:lstStyle/>
                    <a:p>
                      <a:pPr algn="ctr"/>
                      <a:r>
                        <a:rPr sz="1000" b="0" i="0">
                          <a:solidFill>
                            <a:srgbClr val="262626"/>
                          </a:solidFill>
                          <a:latin typeface="Arial"/>
                        </a:rPr>
                        <a:t>11:45 – 13:45</a:t>
                      </a:r>
                    </a:p>
                  </a:txBody>
                  <a:tcPr>
                    <a:solidFill>
                      <a:srgbClr val="F2F2F2"/>
                    </a:solidFill>
                  </a:tcPr>
                </a:tc>
                <a:tc>
                  <a:txBody>
                    <a:bodyPr/>
                    <a:lstStyle/>
                    <a:p>
                      <a:pPr algn="l"/>
                      <a:r>
                        <a:rPr sz="1000" b="0" i="0">
                          <a:solidFill>
                            <a:srgbClr val="262626"/>
                          </a:solidFill>
                          <a:latin typeface="Arial"/>
                        </a:rPr>
                        <a:t>Swim Training — Kinsmen Sport Centre (Thu)</a:t>
                      </a:r>
                    </a:p>
                  </a:txBody>
                  <a:tcPr>
                    <a:solidFill>
                      <a:srgbClr val="F2F2F2"/>
                    </a:solidFill>
                  </a:tcPr>
                </a:tc>
                <a:extLst>
                  <a:ext uri="{0D108BD9-81ED-4DB2-BD59-A6C34878D82A}">
                    <a16:rowId xmlns:a16="http://schemas.microsoft.com/office/drawing/2014/main" val="10002"/>
                  </a:ext>
                </a:extLst>
              </a:tr>
              <a:tr h="502920">
                <a:tc>
                  <a:txBody>
                    <a:bodyPr/>
                    <a:lstStyle/>
                    <a:p>
                      <a:pPr algn="ctr"/>
                      <a:r>
                        <a:rPr sz="1000" b="0" i="0">
                          <a:solidFill>
                            <a:srgbClr val="262626"/>
                          </a:solidFill>
                          <a:latin typeface="Arial"/>
                        </a:rPr>
                        <a:t>18:00 – 20:00</a:t>
                      </a:r>
                    </a:p>
                  </a:txBody>
                  <a:tcPr>
                    <a:solidFill>
                      <a:srgbClr val="FFFFFF"/>
                    </a:solidFill>
                  </a:tcPr>
                </a:tc>
                <a:tc>
                  <a:txBody>
                    <a:bodyPr/>
                    <a:lstStyle/>
                    <a:p>
                      <a:pPr algn="l"/>
                      <a:r>
                        <a:rPr sz="1000" b="0" i="0">
                          <a:solidFill>
                            <a:srgbClr val="262626"/>
                          </a:solidFill>
                          <a:latin typeface="Arial"/>
                        </a:rPr>
                        <a:t>Swim Training — Kinsmen Sport Centre (Thu)</a:t>
                      </a:r>
                    </a:p>
                  </a:txBody>
                  <a:tcPr>
                    <a:solidFill>
                      <a:srgbClr val="FFFFFF"/>
                    </a:solidFill>
                  </a:tcPr>
                </a:tc>
                <a:extLst>
                  <a:ext uri="{0D108BD9-81ED-4DB2-BD59-A6C34878D82A}">
                    <a16:rowId xmlns:a16="http://schemas.microsoft.com/office/drawing/2014/main" val="10003"/>
                  </a:ext>
                </a:extLst>
              </a:tr>
            </a:tbl>
          </a:graphicData>
        </a:graphic>
      </p:graphicFrame>
      <p:sp>
        <p:nvSpPr>
          <p:cNvPr id="14" name="Rectangle 13"/>
          <p:cNvSpPr/>
          <p:nvPr/>
        </p:nvSpPr>
        <p:spPr>
          <a:xfrm>
            <a:off x="3241548" y="1691640"/>
            <a:ext cx="2738628" cy="4572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332988" y="1728216"/>
            <a:ext cx="2555748" cy="201168"/>
          </a:xfrm>
          <a:prstGeom prst="rect">
            <a:avLst/>
          </a:prstGeom>
          <a:noFill/>
        </p:spPr>
        <p:txBody>
          <a:bodyPr wrap="square">
            <a:spAutoFit/>
          </a:bodyPr>
          <a:lstStyle/>
          <a:p>
            <a:pPr algn="ctr"/>
            <a:r>
              <a:rPr sz="1200" b="1" i="0">
                <a:solidFill>
                  <a:srgbClr val="FFFFFF"/>
                </a:solidFill>
                <a:latin typeface="Arial"/>
              </a:rPr>
              <a:t>Fri • July 17</a:t>
            </a:r>
          </a:p>
        </p:txBody>
      </p:sp>
      <p:sp>
        <p:nvSpPr>
          <p:cNvPr id="16" name="TextBox 15"/>
          <p:cNvSpPr txBox="1"/>
          <p:nvPr/>
        </p:nvSpPr>
        <p:spPr>
          <a:xfrm>
            <a:off x="3332988" y="1929384"/>
            <a:ext cx="2555748" cy="201168"/>
          </a:xfrm>
          <a:prstGeom prst="rect">
            <a:avLst/>
          </a:prstGeom>
          <a:noFill/>
        </p:spPr>
        <p:txBody>
          <a:bodyPr wrap="square">
            <a:spAutoFit/>
          </a:bodyPr>
          <a:lstStyle/>
          <a:p>
            <a:pPr algn="ctr"/>
            <a:r>
              <a:rPr sz="950" b="0" i="1">
                <a:solidFill>
                  <a:srgbClr val="AABBDD"/>
                </a:solidFill>
                <a:latin typeface="Arial"/>
              </a:rPr>
              <a:t>Familiarization &amp; Briefing</a:t>
            </a:r>
          </a:p>
        </p:txBody>
      </p:sp>
      <p:graphicFrame>
        <p:nvGraphicFramePr>
          <p:cNvPr id="17" name="Table 16"/>
          <p:cNvGraphicFramePr>
            <a:graphicFrameLocks noGrp="1"/>
          </p:cNvGraphicFramePr>
          <p:nvPr/>
        </p:nvGraphicFramePr>
        <p:xfrm>
          <a:off x="3241548" y="2240280"/>
          <a:ext cx="2738627" cy="2651760"/>
        </p:xfrm>
        <a:graphic>
          <a:graphicData uri="http://schemas.openxmlformats.org/drawingml/2006/table">
            <a:tbl>
              <a:tblPr firstRow="1" bandRow="1">
                <a:tableStyleId>{5C22544A-7EE6-4342-B048-85BDC9FD1C3A}</a:tableStyleId>
              </a:tblPr>
              <a:tblGrid>
                <a:gridCol w="985906">
                  <a:extLst>
                    <a:ext uri="{9D8B030D-6E8A-4147-A177-3AD203B41FA5}">
                      <a16:colId xmlns:a16="http://schemas.microsoft.com/office/drawing/2014/main" val="20000"/>
                    </a:ext>
                  </a:extLst>
                </a:gridCol>
                <a:gridCol w="1752721">
                  <a:extLst>
                    <a:ext uri="{9D8B030D-6E8A-4147-A177-3AD203B41FA5}">
                      <a16:colId xmlns:a16="http://schemas.microsoft.com/office/drawing/2014/main" val="20001"/>
                    </a:ext>
                  </a:extLst>
                </a:gridCol>
              </a:tblGrid>
              <a:tr h="502920">
                <a:tc>
                  <a:txBody>
                    <a:bodyPr/>
                    <a:lstStyle/>
                    <a:p>
                      <a:pPr algn="ctr"/>
                      <a:r>
                        <a:rPr sz="1000" b="0" i="0">
                          <a:solidFill>
                            <a:srgbClr val="262626"/>
                          </a:solidFill>
                          <a:latin typeface="Arial"/>
                        </a:rPr>
                        <a:t>7:45 – 9:45</a:t>
                      </a:r>
                    </a:p>
                  </a:txBody>
                  <a:tcPr>
                    <a:solidFill>
                      <a:srgbClr val="F2F2F2"/>
                    </a:solidFill>
                  </a:tcPr>
                </a:tc>
                <a:tc>
                  <a:txBody>
                    <a:bodyPr/>
                    <a:lstStyle/>
                    <a:p>
                      <a:pPr algn="l"/>
                      <a:r>
                        <a:rPr sz="1000" b="0" i="0">
                          <a:solidFill>
                            <a:srgbClr val="262626"/>
                          </a:solidFill>
                          <a:latin typeface="Arial"/>
                        </a:rPr>
                        <a:t>Swim Training — Kinsmen Sport Centre</a:t>
                      </a:r>
                    </a:p>
                  </a:txBody>
                  <a:tcPr>
                    <a:solidFill>
                      <a:srgbClr val="F2F2F2"/>
                    </a:solidFill>
                  </a:tcPr>
                </a:tc>
                <a:extLst>
                  <a:ext uri="{0D108BD9-81ED-4DB2-BD59-A6C34878D82A}">
                    <a16:rowId xmlns:a16="http://schemas.microsoft.com/office/drawing/2014/main" val="10000"/>
                  </a:ext>
                </a:extLst>
              </a:tr>
              <a:tr h="502920">
                <a:tc>
                  <a:txBody>
                    <a:bodyPr/>
                    <a:lstStyle/>
                    <a:p>
                      <a:pPr algn="ctr"/>
                      <a:r>
                        <a:rPr sz="1000" b="0" i="0">
                          <a:solidFill>
                            <a:srgbClr val="262626"/>
                          </a:solidFill>
                          <a:latin typeface="Arial"/>
                        </a:rPr>
                        <a:t>13:00 – 14:00</a:t>
                      </a:r>
                    </a:p>
                  </a:txBody>
                  <a:tcPr>
                    <a:solidFill>
                      <a:srgbClr val="FFFFFF"/>
                    </a:solidFill>
                  </a:tcPr>
                </a:tc>
                <a:tc>
                  <a:txBody>
                    <a:bodyPr/>
                    <a:lstStyle/>
                    <a:p>
                      <a:pPr algn="l"/>
                      <a:r>
                        <a:rPr sz="1000" b="0" i="0">
                          <a:solidFill>
                            <a:srgbClr val="262626"/>
                          </a:solidFill>
                          <a:latin typeface="Arial"/>
                        </a:rPr>
                        <a:t>Bike Familiarization — Hawrelak Park (police-escorted)</a:t>
                      </a:r>
                    </a:p>
                  </a:txBody>
                  <a:tcPr>
                    <a:solidFill>
                      <a:srgbClr val="FFFFFF"/>
                    </a:solidFill>
                  </a:tcPr>
                </a:tc>
                <a:extLst>
                  <a:ext uri="{0D108BD9-81ED-4DB2-BD59-A6C34878D82A}">
                    <a16:rowId xmlns:a16="http://schemas.microsoft.com/office/drawing/2014/main" val="10001"/>
                  </a:ext>
                </a:extLst>
              </a:tr>
              <a:tr h="502920">
                <a:tc>
                  <a:txBody>
                    <a:bodyPr/>
                    <a:lstStyle/>
                    <a:p>
                      <a:pPr algn="ctr"/>
                      <a:r>
                        <a:rPr sz="1000" b="0" i="0">
                          <a:solidFill>
                            <a:srgbClr val="262626"/>
                          </a:solidFill>
                          <a:latin typeface="Arial"/>
                        </a:rPr>
                        <a:t>14:00 – 15:00</a:t>
                      </a:r>
                    </a:p>
                  </a:txBody>
                  <a:tcPr>
                    <a:solidFill>
                      <a:srgbClr val="F2F2F2"/>
                    </a:solidFill>
                  </a:tcPr>
                </a:tc>
                <a:tc>
                  <a:txBody>
                    <a:bodyPr/>
                    <a:lstStyle/>
                    <a:p>
                      <a:pPr algn="l"/>
                      <a:r>
                        <a:rPr sz="1000" b="0" i="0">
                          <a:solidFill>
                            <a:srgbClr val="262626"/>
                          </a:solidFill>
                          <a:latin typeface="Arial"/>
                        </a:rPr>
                        <a:t>Swim Familiarization — Hawrelak Park lake</a:t>
                      </a:r>
                    </a:p>
                  </a:txBody>
                  <a:tcPr>
                    <a:solidFill>
                      <a:srgbClr val="F2F2F2"/>
                    </a:solidFill>
                  </a:tcPr>
                </a:tc>
                <a:extLst>
                  <a:ext uri="{0D108BD9-81ED-4DB2-BD59-A6C34878D82A}">
                    <a16:rowId xmlns:a16="http://schemas.microsoft.com/office/drawing/2014/main" val="10002"/>
                  </a:ext>
                </a:extLst>
              </a:tr>
              <a:tr h="502920">
                <a:tc>
                  <a:txBody>
                    <a:bodyPr/>
                    <a:lstStyle/>
                    <a:p>
                      <a:pPr algn="ctr"/>
                      <a:r>
                        <a:rPr sz="1000" b="1" i="0">
                          <a:solidFill>
                            <a:srgbClr val="C00000"/>
                          </a:solidFill>
                          <a:latin typeface="Arial"/>
                        </a:rPr>
                        <a:t>16:00 – 16:45</a:t>
                      </a:r>
                    </a:p>
                  </a:txBody>
                  <a:tcPr>
                    <a:solidFill>
                      <a:srgbClr val="FDECEC"/>
                    </a:solidFill>
                  </a:tcPr>
                </a:tc>
                <a:tc>
                  <a:txBody>
                    <a:bodyPr/>
                    <a:lstStyle/>
                    <a:p>
                      <a:pPr algn="l"/>
                      <a:r>
                        <a:rPr sz="1000" b="1" i="0">
                          <a:solidFill>
                            <a:srgbClr val="C00000"/>
                          </a:solidFill>
                          <a:latin typeface="Arial"/>
                        </a:rPr>
                        <a:t>★ Elite &amp; Mixed Relay Athletes' Briefing — Heritage Amphitheatre</a:t>
                      </a:r>
                    </a:p>
                  </a:txBody>
                  <a:tcPr>
                    <a:solidFill>
                      <a:srgbClr val="FDECEC"/>
                    </a:solidFill>
                  </a:tcPr>
                </a:tc>
                <a:extLst>
                  <a:ext uri="{0D108BD9-81ED-4DB2-BD59-A6C34878D82A}">
                    <a16:rowId xmlns:a16="http://schemas.microsoft.com/office/drawing/2014/main" val="10003"/>
                  </a:ext>
                </a:extLst>
              </a:tr>
              <a:tr h="502920">
                <a:tc>
                  <a:txBody>
                    <a:bodyPr/>
                    <a:lstStyle/>
                    <a:p>
                      <a:pPr algn="ctr"/>
                      <a:r>
                        <a:rPr sz="1000" b="0" i="0">
                          <a:solidFill>
                            <a:srgbClr val="262626"/>
                          </a:solidFill>
                          <a:latin typeface="Arial"/>
                        </a:rPr>
                        <a:t>16:45 – 17:15</a:t>
                      </a:r>
                    </a:p>
                  </a:txBody>
                  <a:tcPr>
                    <a:solidFill>
                      <a:srgbClr val="F2F2F2"/>
                    </a:solidFill>
                  </a:tcPr>
                </a:tc>
                <a:tc>
                  <a:txBody>
                    <a:bodyPr/>
                    <a:lstStyle/>
                    <a:p>
                      <a:pPr algn="l"/>
                      <a:r>
                        <a:rPr sz="1000" b="0" i="0">
                          <a:solidFill>
                            <a:srgbClr val="262626"/>
                          </a:solidFill>
                          <a:latin typeface="Arial"/>
                        </a:rPr>
                        <a:t>Elite Race Package Distribution — Heritage Amphitheatre</a:t>
                      </a:r>
                    </a:p>
                  </a:txBody>
                  <a:tcPr>
                    <a:solidFill>
                      <a:srgbClr val="F2F2F2"/>
                    </a:solidFill>
                  </a:tcPr>
                </a:tc>
                <a:extLst>
                  <a:ext uri="{0D108BD9-81ED-4DB2-BD59-A6C34878D82A}">
                    <a16:rowId xmlns:a16="http://schemas.microsoft.com/office/drawing/2014/main" val="10004"/>
                  </a:ext>
                </a:extLst>
              </a:tr>
            </a:tbl>
          </a:graphicData>
        </a:graphic>
      </p:graphicFrame>
      <p:sp>
        <p:nvSpPr>
          <p:cNvPr id="18" name="Rectangle 17"/>
          <p:cNvSpPr/>
          <p:nvPr/>
        </p:nvSpPr>
        <p:spPr>
          <a:xfrm>
            <a:off x="6208776" y="1691640"/>
            <a:ext cx="2738628" cy="4572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00216" y="1728216"/>
            <a:ext cx="2555748" cy="201168"/>
          </a:xfrm>
          <a:prstGeom prst="rect">
            <a:avLst/>
          </a:prstGeom>
          <a:noFill/>
        </p:spPr>
        <p:txBody>
          <a:bodyPr wrap="square">
            <a:spAutoFit/>
          </a:bodyPr>
          <a:lstStyle/>
          <a:p>
            <a:pPr algn="ctr"/>
            <a:r>
              <a:rPr sz="1200" b="1" i="0">
                <a:solidFill>
                  <a:srgbClr val="FFFFFF"/>
                </a:solidFill>
                <a:latin typeface="Arial"/>
              </a:rPr>
              <a:t>Sat • July 18</a:t>
            </a:r>
          </a:p>
        </p:txBody>
      </p:sp>
      <p:sp>
        <p:nvSpPr>
          <p:cNvPr id="20" name="TextBox 19"/>
          <p:cNvSpPr txBox="1"/>
          <p:nvPr/>
        </p:nvSpPr>
        <p:spPr>
          <a:xfrm>
            <a:off x="6300216" y="1929384"/>
            <a:ext cx="2555748" cy="201168"/>
          </a:xfrm>
          <a:prstGeom prst="rect">
            <a:avLst/>
          </a:prstGeom>
          <a:noFill/>
        </p:spPr>
        <p:txBody>
          <a:bodyPr wrap="square">
            <a:spAutoFit/>
          </a:bodyPr>
          <a:lstStyle/>
          <a:p>
            <a:pPr algn="ctr"/>
            <a:r>
              <a:rPr sz="950" b="0" i="1">
                <a:solidFill>
                  <a:srgbClr val="AABBDD"/>
                </a:solidFill>
                <a:latin typeface="Arial"/>
              </a:rPr>
              <a:t>ELITE SPRINT RACE DAY</a:t>
            </a:r>
          </a:p>
        </p:txBody>
      </p:sp>
      <p:graphicFrame>
        <p:nvGraphicFramePr>
          <p:cNvPr id="21" name="Table 20"/>
          <p:cNvGraphicFramePr>
            <a:graphicFrameLocks noGrp="1"/>
          </p:cNvGraphicFramePr>
          <p:nvPr/>
        </p:nvGraphicFramePr>
        <p:xfrm>
          <a:off x="6208776" y="2240280"/>
          <a:ext cx="2738627" cy="6126480"/>
        </p:xfrm>
        <a:graphic>
          <a:graphicData uri="http://schemas.openxmlformats.org/drawingml/2006/table">
            <a:tbl>
              <a:tblPr firstRow="1" bandRow="1">
                <a:tableStyleId>{5C22544A-7EE6-4342-B048-85BDC9FD1C3A}</a:tableStyleId>
              </a:tblPr>
              <a:tblGrid>
                <a:gridCol w="985906">
                  <a:extLst>
                    <a:ext uri="{9D8B030D-6E8A-4147-A177-3AD203B41FA5}">
                      <a16:colId xmlns:a16="http://schemas.microsoft.com/office/drawing/2014/main" val="20000"/>
                    </a:ext>
                  </a:extLst>
                </a:gridCol>
                <a:gridCol w="1752721">
                  <a:extLst>
                    <a:ext uri="{9D8B030D-6E8A-4147-A177-3AD203B41FA5}">
                      <a16:colId xmlns:a16="http://schemas.microsoft.com/office/drawing/2014/main" val="20001"/>
                    </a:ext>
                  </a:extLst>
                </a:gridCol>
              </a:tblGrid>
              <a:tr h="502920">
                <a:tc>
                  <a:txBody>
                    <a:bodyPr/>
                    <a:lstStyle/>
                    <a:p>
                      <a:pPr algn="ctr"/>
                      <a:r>
                        <a:rPr sz="1000" b="0" i="0">
                          <a:solidFill>
                            <a:srgbClr val="262626"/>
                          </a:solidFill>
                          <a:latin typeface="Arial"/>
                        </a:rPr>
                        <a:t>12:30 – 13:30</a:t>
                      </a:r>
                    </a:p>
                  </a:txBody>
                  <a:tcPr>
                    <a:solidFill>
                      <a:srgbClr val="F2F2F2"/>
                    </a:solidFill>
                  </a:tcPr>
                </a:tc>
                <a:tc>
                  <a:txBody>
                    <a:bodyPr/>
                    <a:lstStyle/>
                    <a:p>
                      <a:pPr algn="l"/>
                      <a:r>
                        <a:rPr sz="1000" b="0" i="0">
                          <a:solidFill>
                            <a:srgbClr val="262626"/>
                          </a:solidFill>
                          <a:latin typeface="Arial"/>
                        </a:rPr>
                        <a:t>Elite Athlete Lounge open — Men</a:t>
                      </a:r>
                    </a:p>
                  </a:txBody>
                  <a:tcPr>
                    <a:solidFill>
                      <a:srgbClr val="F2F2F2"/>
                    </a:solidFill>
                  </a:tcPr>
                </a:tc>
                <a:extLst>
                  <a:ext uri="{0D108BD9-81ED-4DB2-BD59-A6C34878D82A}">
                    <a16:rowId xmlns:a16="http://schemas.microsoft.com/office/drawing/2014/main" val="10000"/>
                  </a:ext>
                </a:extLst>
              </a:tr>
              <a:tr h="502920">
                <a:tc>
                  <a:txBody>
                    <a:bodyPr/>
                    <a:lstStyle/>
                    <a:p>
                      <a:pPr algn="ctr"/>
                      <a:r>
                        <a:rPr sz="1000" b="0" i="0">
                          <a:solidFill>
                            <a:srgbClr val="262626"/>
                          </a:solidFill>
                          <a:latin typeface="Arial"/>
                        </a:rPr>
                        <a:t>13:00 – 13:45</a:t>
                      </a:r>
                    </a:p>
                  </a:txBody>
                  <a:tcPr>
                    <a:solidFill>
                      <a:srgbClr val="FFFFFF"/>
                    </a:solidFill>
                  </a:tcPr>
                </a:tc>
                <a:tc>
                  <a:txBody>
                    <a:bodyPr/>
                    <a:lstStyle/>
                    <a:p>
                      <a:pPr algn="l"/>
                      <a:r>
                        <a:rPr sz="1000" b="0" i="0">
                          <a:solidFill>
                            <a:srgbClr val="262626"/>
                          </a:solidFill>
                          <a:latin typeface="Arial"/>
                        </a:rPr>
                        <a:t>Transition check-in + swim warm-up — Men</a:t>
                      </a:r>
                    </a:p>
                  </a:txBody>
                  <a:tcPr>
                    <a:solidFill>
                      <a:srgbClr val="FFFFFF"/>
                    </a:solidFill>
                  </a:tcPr>
                </a:tc>
                <a:extLst>
                  <a:ext uri="{0D108BD9-81ED-4DB2-BD59-A6C34878D82A}">
                    <a16:rowId xmlns:a16="http://schemas.microsoft.com/office/drawing/2014/main" val="10001"/>
                  </a:ext>
                </a:extLst>
              </a:tr>
              <a:tr h="502920">
                <a:tc>
                  <a:txBody>
                    <a:bodyPr/>
                    <a:lstStyle/>
                    <a:p>
                      <a:pPr algn="ctr"/>
                      <a:r>
                        <a:rPr sz="1000" b="0" i="0">
                          <a:solidFill>
                            <a:srgbClr val="262626"/>
                          </a:solidFill>
                          <a:latin typeface="Arial"/>
                        </a:rPr>
                        <a:t>13:50 – 13:58</a:t>
                      </a:r>
                    </a:p>
                  </a:txBody>
                  <a:tcPr>
                    <a:solidFill>
                      <a:srgbClr val="F2F2F2"/>
                    </a:solidFill>
                  </a:tcPr>
                </a:tc>
                <a:tc>
                  <a:txBody>
                    <a:bodyPr/>
                    <a:lstStyle/>
                    <a:p>
                      <a:pPr algn="l"/>
                      <a:r>
                        <a:rPr sz="1000" b="0" i="0">
                          <a:solidFill>
                            <a:srgbClr val="262626"/>
                          </a:solidFill>
                          <a:latin typeface="Arial"/>
                        </a:rPr>
                        <a:t>Elite Men introductions</a:t>
                      </a:r>
                    </a:p>
                  </a:txBody>
                  <a:tcPr>
                    <a:solidFill>
                      <a:srgbClr val="F2F2F2"/>
                    </a:solidFill>
                  </a:tcPr>
                </a:tc>
                <a:extLst>
                  <a:ext uri="{0D108BD9-81ED-4DB2-BD59-A6C34878D82A}">
                    <a16:rowId xmlns:a16="http://schemas.microsoft.com/office/drawing/2014/main" val="10002"/>
                  </a:ext>
                </a:extLst>
              </a:tr>
              <a:tr h="502920">
                <a:tc>
                  <a:txBody>
                    <a:bodyPr/>
                    <a:lstStyle/>
                    <a:p>
                      <a:pPr algn="ctr"/>
                      <a:r>
                        <a:rPr sz="1000" b="1" i="0">
                          <a:solidFill>
                            <a:srgbClr val="C00000"/>
                          </a:solidFill>
                          <a:latin typeface="Arial"/>
                        </a:rPr>
                        <a:t>14:00</a:t>
                      </a:r>
                    </a:p>
                  </a:txBody>
                  <a:tcPr>
                    <a:solidFill>
                      <a:srgbClr val="FDECEC"/>
                    </a:solidFill>
                  </a:tcPr>
                </a:tc>
                <a:tc>
                  <a:txBody>
                    <a:bodyPr/>
                    <a:lstStyle/>
                    <a:p>
                      <a:pPr algn="l"/>
                      <a:r>
                        <a:rPr sz="1000" b="1" i="0">
                          <a:solidFill>
                            <a:srgbClr val="C00000"/>
                          </a:solidFill>
                          <a:latin typeface="Arial"/>
                        </a:rPr>
                        <a:t>★ ELITE MEN — SPRINT TRIATHLON START</a:t>
                      </a:r>
                    </a:p>
                  </a:txBody>
                  <a:tcPr>
                    <a:solidFill>
                      <a:srgbClr val="FDECEC"/>
                    </a:solidFill>
                  </a:tcPr>
                </a:tc>
                <a:extLst>
                  <a:ext uri="{0D108BD9-81ED-4DB2-BD59-A6C34878D82A}">
                    <a16:rowId xmlns:a16="http://schemas.microsoft.com/office/drawing/2014/main" val="10003"/>
                  </a:ext>
                </a:extLst>
              </a:tr>
              <a:tr h="502920">
                <a:tc>
                  <a:txBody>
                    <a:bodyPr/>
                    <a:lstStyle/>
                    <a:p>
                      <a:pPr algn="ctr"/>
                      <a:r>
                        <a:rPr sz="1000" b="0" i="0">
                          <a:solidFill>
                            <a:srgbClr val="262626"/>
                          </a:solidFill>
                          <a:latin typeface="Arial"/>
                        </a:rPr>
                        <a:t>15:15</a:t>
                      </a:r>
                    </a:p>
                  </a:txBody>
                  <a:tcPr>
                    <a:solidFill>
                      <a:srgbClr val="F2F2F2"/>
                    </a:solidFill>
                  </a:tcPr>
                </a:tc>
                <a:tc>
                  <a:txBody>
                    <a:bodyPr/>
                    <a:lstStyle/>
                    <a:p>
                      <a:pPr algn="l"/>
                      <a:r>
                        <a:rPr sz="1000" b="0" i="0">
                          <a:solidFill>
                            <a:srgbClr val="262626"/>
                          </a:solidFill>
                          <a:latin typeface="Arial"/>
                        </a:rPr>
                        <a:t>Elite Men medals ceremony</a:t>
                      </a:r>
                    </a:p>
                  </a:txBody>
                  <a:tcPr>
                    <a:solidFill>
                      <a:srgbClr val="F2F2F2"/>
                    </a:solidFill>
                  </a:tcPr>
                </a:tc>
                <a:extLst>
                  <a:ext uri="{0D108BD9-81ED-4DB2-BD59-A6C34878D82A}">
                    <a16:rowId xmlns:a16="http://schemas.microsoft.com/office/drawing/2014/main" val="10004"/>
                  </a:ext>
                </a:extLst>
              </a:tr>
              <a:tr h="502920">
                <a:tc>
                  <a:txBody>
                    <a:bodyPr/>
                    <a:lstStyle/>
                    <a:p>
                      <a:pPr algn="ctr"/>
                      <a:r>
                        <a:rPr sz="1000" b="0" i="0">
                          <a:solidFill>
                            <a:srgbClr val="262626"/>
                          </a:solidFill>
                          <a:latin typeface="Arial"/>
                        </a:rPr>
                        <a:t>14:30 – 15:30</a:t>
                      </a:r>
                    </a:p>
                  </a:txBody>
                  <a:tcPr>
                    <a:solidFill>
                      <a:srgbClr val="FFFFFF"/>
                    </a:solidFill>
                  </a:tcPr>
                </a:tc>
                <a:tc>
                  <a:txBody>
                    <a:bodyPr/>
                    <a:lstStyle/>
                    <a:p>
                      <a:pPr algn="l"/>
                      <a:r>
                        <a:rPr sz="1000" b="0" i="0">
                          <a:solidFill>
                            <a:srgbClr val="262626"/>
                          </a:solidFill>
                          <a:latin typeface="Arial"/>
                        </a:rPr>
                        <a:t>Elite Athlete Lounge open — Women</a:t>
                      </a:r>
                    </a:p>
                  </a:txBody>
                  <a:tcPr>
                    <a:solidFill>
                      <a:srgbClr val="FFFFFF"/>
                    </a:solidFill>
                  </a:tcPr>
                </a:tc>
                <a:extLst>
                  <a:ext uri="{0D108BD9-81ED-4DB2-BD59-A6C34878D82A}">
                    <a16:rowId xmlns:a16="http://schemas.microsoft.com/office/drawing/2014/main" val="10005"/>
                  </a:ext>
                </a:extLst>
              </a:tr>
              <a:tr h="502920">
                <a:tc>
                  <a:txBody>
                    <a:bodyPr/>
                    <a:lstStyle/>
                    <a:p>
                      <a:pPr algn="ctr"/>
                      <a:r>
                        <a:rPr sz="1000" b="0" i="0">
                          <a:solidFill>
                            <a:srgbClr val="262626"/>
                          </a:solidFill>
                          <a:latin typeface="Arial"/>
                        </a:rPr>
                        <a:t>15:00 – 15:45</a:t>
                      </a:r>
                    </a:p>
                  </a:txBody>
                  <a:tcPr>
                    <a:solidFill>
                      <a:srgbClr val="F2F2F2"/>
                    </a:solidFill>
                  </a:tcPr>
                </a:tc>
                <a:tc>
                  <a:txBody>
                    <a:bodyPr/>
                    <a:lstStyle/>
                    <a:p>
                      <a:pPr algn="l"/>
                      <a:r>
                        <a:rPr sz="1000" b="0" i="0">
                          <a:solidFill>
                            <a:srgbClr val="262626"/>
                          </a:solidFill>
                          <a:latin typeface="Arial"/>
                        </a:rPr>
                        <a:t>Transition check-in + swim warm-up — Women</a:t>
                      </a:r>
                    </a:p>
                  </a:txBody>
                  <a:tcPr>
                    <a:solidFill>
                      <a:srgbClr val="F2F2F2"/>
                    </a:solidFill>
                  </a:tcPr>
                </a:tc>
                <a:extLst>
                  <a:ext uri="{0D108BD9-81ED-4DB2-BD59-A6C34878D82A}">
                    <a16:rowId xmlns:a16="http://schemas.microsoft.com/office/drawing/2014/main" val="10006"/>
                  </a:ext>
                </a:extLst>
              </a:tr>
              <a:tr h="502920">
                <a:tc>
                  <a:txBody>
                    <a:bodyPr/>
                    <a:lstStyle/>
                    <a:p>
                      <a:pPr algn="ctr"/>
                      <a:r>
                        <a:rPr sz="1000" b="0" i="0">
                          <a:solidFill>
                            <a:srgbClr val="262626"/>
                          </a:solidFill>
                          <a:latin typeface="Arial"/>
                        </a:rPr>
                        <a:t>15:30</a:t>
                      </a:r>
                    </a:p>
                  </a:txBody>
                  <a:tcPr>
                    <a:solidFill>
                      <a:srgbClr val="FFFFFF"/>
                    </a:solidFill>
                  </a:tcPr>
                </a:tc>
                <a:tc>
                  <a:txBody>
                    <a:bodyPr/>
                    <a:lstStyle/>
                    <a:p>
                      <a:pPr algn="l"/>
                      <a:r>
                        <a:rPr sz="1000" b="0" i="0">
                          <a:solidFill>
                            <a:srgbClr val="262626"/>
                          </a:solidFill>
                          <a:latin typeface="Arial"/>
                        </a:rPr>
                        <a:t>Mixed Relay — online team declaration</a:t>
                      </a:r>
                    </a:p>
                  </a:txBody>
                  <a:tcPr>
                    <a:solidFill>
                      <a:srgbClr val="FFFFFF"/>
                    </a:solidFill>
                  </a:tcPr>
                </a:tc>
                <a:extLst>
                  <a:ext uri="{0D108BD9-81ED-4DB2-BD59-A6C34878D82A}">
                    <a16:rowId xmlns:a16="http://schemas.microsoft.com/office/drawing/2014/main" val="10007"/>
                  </a:ext>
                </a:extLst>
              </a:tr>
              <a:tr h="502920">
                <a:tc>
                  <a:txBody>
                    <a:bodyPr/>
                    <a:lstStyle/>
                    <a:p>
                      <a:pPr algn="ctr"/>
                      <a:r>
                        <a:rPr sz="1000" b="0" i="0">
                          <a:solidFill>
                            <a:srgbClr val="262626"/>
                          </a:solidFill>
                          <a:latin typeface="Arial"/>
                        </a:rPr>
                        <a:t>15:50 – 15:58</a:t>
                      </a:r>
                    </a:p>
                  </a:txBody>
                  <a:tcPr>
                    <a:solidFill>
                      <a:srgbClr val="F2F2F2"/>
                    </a:solidFill>
                  </a:tcPr>
                </a:tc>
                <a:tc>
                  <a:txBody>
                    <a:bodyPr/>
                    <a:lstStyle/>
                    <a:p>
                      <a:pPr algn="l"/>
                      <a:r>
                        <a:rPr sz="1000" b="0" i="0">
                          <a:solidFill>
                            <a:srgbClr val="262626"/>
                          </a:solidFill>
                          <a:latin typeface="Arial"/>
                        </a:rPr>
                        <a:t>Elite Women introductions</a:t>
                      </a:r>
                    </a:p>
                  </a:txBody>
                  <a:tcPr>
                    <a:solidFill>
                      <a:srgbClr val="F2F2F2"/>
                    </a:solidFill>
                  </a:tcPr>
                </a:tc>
                <a:extLst>
                  <a:ext uri="{0D108BD9-81ED-4DB2-BD59-A6C34878D82A}">
                    <a16:rowId xmlns:a16="http://schemas.microsoft.com/office/drawing/2014/main" val="10008"/>
                  </a:ext>
                </a:extLst>
              </a:tr>
              <a:tr h="502920">
                <a:tc>
                  <a:txBody>
                    <a:bodyPr/>
                    <a:lstStyle/>
                    <a:p>
                      <a:pPr algn="ctr"/>
                      <a:r>
                        <a:rPr sz="1000" b="1" i="0">
                          <a:solidFill>
                            <a:srgbClr val="C00000"/>
                          </a:solidFill>
                          <a:latin typeface="Arial"/>
                        </a:rPr>
                        <a:t>16:00</a:t>
                      </a:r>
                    </a:p>
                  </a:txBody>
                  <a:tcPr>
                    <a:solidFill>
                      <a:srgbClr val="FDECEC"/>
                    </a:solidFill>
                  </a:tcPr>
                </a:tc>
                <a:tc>
                  <a:txBody>
                    <a:bodyPr/>
                    <a:lstStyle/>
                    <a:p>
                      <a:pPr algn="l"/>
                      <a:r>
                        <a:rPr sz="1000" b="1" i="0">
                          <a:solidFill>
                            <a:srgbClr val="C00000"/>
                          </a:solidFill>
                          <a:latin typeface="Arial"/>
                        </a:rPr>
                        <a:t>★ ELITE WOMEN — SPRINT TRIATHLON START</a:t>
                      </a:r>
                    </a:p>
                  </a:txBody>
                  <a:tcPr>
                    <a:solidFill>
                      <a:srgbClr val="FDECEC"/>
                    </a:solidFill>
                  </a:tcPr>
                </a:tc>
                <a:extLst>
                  <a:ext uri="{0D108BD9-81ED-4DB2-BD59-A6C34878D82A}">
                    <a16:rowId xmlns:a16="http://schemas.microsoft.com/office/drawing/2014/main" val="10009"/>
                  </a:ext>
                </a:extLst>
              </a:tr>
              <a:tr h="502920">
                <a:tc>
                  <a:txBody>
                    <a:bodyPr/>
                    <a:lstStyle/>
                    <a:p>
                      <a:pPr algn="ctr"/>
                      <a:r>
                        <a:rPr sz="1000" b="0" i="0">
                          <a:solidFill>
                            <a:srgbClr val="262626"/>
                          </a:solidFill>
                          <a:latin typeface="Arial"/>
                        </a:rPr>
                        <a:t>17:15</a:t>
                      </a:r>
                    </a:p>
                  </a:txBody>
                  <a:tcPr>
                    <a:solidFill>
                      <a:srgbClr val="F2F2F2"/>
                    </a:solidFill>
                  </a:tcPr>
                </a:tc>
                <a:tc>
                  <a:txBody>
                    <a:bodyPr/>
                    <a:lstStyle/>
                    <a:p>
                      <a:pPr algn="l"/>
                      <a:r>
                        <a:rPr sz="1000" b="0" i="0">
                          <a:solidFill>
                            <a:srgbClr val="262626"/>
                          </a:solidFill>
                          <a:latin typeface="Arial"/>
                        </a:rPr>
                        <a:t>Elite Women medals ceremony</a:t>
                      </a:r>
                    </a:p>
                  </a:txBody>
                  <a:tcPr>
                    <a:solidFill>
                      <a:srgbClr val="F2F2F2"/>
                    </a:solidFill>
                  </a:tcPr>
                </a:tc>
                <a:extLst>
                  <a:ext uri="{0D108BD9-81ED-4DB2-BD59-A6C34878D82A}">
                    <a16:rowId xmlns:a16="http://schemas.microsoft.com/office/drawing/2014/main" val="10010"/>
                  </a:ext>
                </a:extLst>
              </a:tr>
              <a:tr h="502920">
                <a:tc>
                  <a:txBody>
                    <a:bodyPr/>
                    <a:lstStyle/>
                    <a:p>
                      <a:pPr algn="ctr"/>
                      <a:r>
                        <a:rPr sz="1000" b="0" i="0">
                          <a:solidFill>
                            <a:srgbClr val="262626"/>
                          </a:solidFill>
                          <a:latin typeface="Arial"/>
                        </a:rPr>
                        <a:t>17:30 – 18:00</a:t>
                      </a:r>
                    </a:p>
                  </a:txBody>
                  <a:tcPr>
                    <a:solidFill>
                      <a:srgbClr val="FFFFFF"/>
                    </a:solidFill>
                  </a:tcPr>
                </a:tc>
                <a:tc>
                  <a:txBody>
                    <a:bodyPr/>
                    <a:lstStyle/>
                    <a:p>
                      <a:pPr algn="l"/>
                      <a:r>
                        <a:rPr sz="1000" b="0" i="0">
                          <a:solidFill>
                            <a:srgbClr val="262626"/>
                          </a:solidFill>
                          <a:latin typeface="Arial"/>
                        </a:rPr>
                        <a:t>Mixed Relay — team declaration (Athletes' Lounge)</a:t>
                      </a:r>
                    </a:p>
                  </a:txBody>
                  <a:tcPr>
                    <a:solidFill>
                      <a:srgbClr val="FFFFFF"/>
                    </a:solidFill>
                  </a:tcPr>
                </a:tc>
                <a:extLst>
                  <a:ext uri="{0D108BD9-81ED-4DB2-BD59-A6C34878D82A}">
                    <a16:rowId xmlns:a16="http://schemas.microsoft.com/office/drawing/2014/main" val="10011"/>
                  </a:ext>
                </a:extLst>
              </a:tr>
            </a:tbl>
          </a:graphicData>
        </a:graphic>
      </p:graphicFrame>
      <p:sp>
        <p:nvSpPr>
          <p:cNvPr id="22" name="Rectangle 21"/>
          <p:cNvSpPr/>
          <p:nvPr/>
        </p:nvSpPr>
        <p:spPr>
          <a:xfrm>
            <a:off x="9176004" y="1691640"/>
            <a:ext cx="2738628" cy="4572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267444" y="1728216"/>
            <a:ext cx="2555748" cy="201168"/>
          </a:xfrm>
          <a:prstGeom prst="rect">
            <a:avLst/>
          </a:prstGeom>
          <a:noFill/>
        </p:spPr>
        <p:txBody>
          <a:bodyPr wrap="square">
            <a:spAutoFit/>
          </a:bodyPr>
          <a:lstStyle/>
          <a:p>
            <a:pPr algn="ctr"/>
            <a:r>
              <a:rPr sz="1200" b="1" i="0">
                <a:solidFill>
                  <a:srgbClr val="FFFFFF"/>
                </a:solidFill>
                <a:latin typeface="Arial"/>
              </a:rPr>
              <a:t>Sun • July 19</a:t>
            </a:r>
          </a:p>
        </p:txBody>
      </p:sp>
      <p:sp>
        <p:nvSpPr>
          <p:cNvPr id="24" name="TextBox 23"/>
          <p:cNvSpPr txBox="1"/>
          <p:nvPr/>
        </p:nvSpPr>
        <p:spPr>
          <a:xfrm>
            <a:off x="9267444" y="1929384"/>
            <a:ext cx="2555748" cy="201168"/>
          </a:xfrm>
          <a:prstGeom prst="rect">
            <a:avLst/>
          </a:prstGeom>
          <a:noFill/>
        </p:spPr>
        <p:txBody>
          <a:bodyPr wrap="square">
            <a:spAutoFit/>
          </a:bodyPr>
          <a:lstStyle/>
          <a:p>
            <a:pPr algn="ctr"/>
            <a:r>
              <a:rPr sz="950" b="0" i="1">
                <a:solidFill>
                  <a:srgbClr val="AABBDD"/>
                </a:solidFill>
                <a:latin typeface="Arial"/>
              </a:rPr>
              <a:t>Mixed Relay Day</a:t>
            </a:r>
          </a:p>
        </p:txBody>
      </p:sp>
      <p:graphicFrame>
        <p:nvGraphicFramePr>
          <p:cNvPr id="25" name="Table 24"/>
          <p:cNvGraphicFramePr>
            <a:graphicFrameLocks noGrp="1"/>
          </p:cNvGraphicFramePr>
          <p:nvPr/>
        </p:nvGraphicFramePr>
        <p:xfrm>
          <a:off x="9176004" y="2240280"/>
          <a:ext cx="2738627" cy="3017520"/>
        </p:xfrm>
        <a:graphic>
          <a:graphicData uri="http://schemas.openxmlformats.org/drawingml/2006/table">
            <a:tbl>
              <a:tblPr firstRow="1" bandRow="1">
                <a:tableStyleId>{5C22544A-7EE6-4342-B048-85BDC9FD1C3A}</a:tableStyleId>
              </a:tblPr>
              <a:tblGrid>
                <a:gridCol w="985906">
                  <a:extLst>
                    <a:ext uri="{9D8B030D-6E8A-4147-A177-3AD203B41FA5}">
                      <a16:colId xmlns:a16="http://schemas.microsoft.com/office/drawing/2014/main" val="20000"/>
                    </a:ext>
                  </a:extLst>
                </a:gridCol>
                <a:gridCol w="1752721">
                  <a:extLst>
                    <a:ext uri="{9D8B030D-6E8A-4147-A177-3AD203B41FA5}">
                      <a16:colId xmlns:a16="http://schemas.microsoft.com/office/drawing/2014/main" val="20001"/>
                    </a:ext>
                  </a:extLst>
                </a:gridCol>
              </a:tblGrid>
              <a:tr h="502920">
                <a:tc>
                  <a:txBody>
                    <a:bodyPr/>
                    <a:lstStyle/>
                    <a:p>
                      <a:pPr algn="ctr"/>
                      <a:r>
                        <a:rPr sz="1000" b="0" i="0">
                          <a:solidFill>
                            <a:srgbClr val="262626"/>
                          </a:solidFill>
                          <a:latin typeface="Arial"/>
                        </a:rPr>
                        <a:t>12:30 – 12:45</a:t>
                      </a:r>
                    </a:p>
                  </a:txBody>
                  <a:tcPr>
                    <a:solidFill>
                      <a:srgbClr val="F2F2F2"/>
                    </a:solidFill>
                  </a:tcPr>
                </a:tc>
                <a:tc>
                  <a:txBody>
                    <a:bodyPr/>
                    <a:lstStyle/>
                    <a:p>
                      <a:pPr algn="l"/>
                      <a:r>
                        <a:rPr sz="1000" b="0" i="0">
                          <a:solidFill>
                            <a:srgbClr val="262626"/>
                          </a:solidFill>
                          <a:latin typeface="Arial"/>
                        </a:rPr>
                        <a:t>Mixed Relay final team declaration</a:t>
                      </a:r>
                    </a:p>
                  </a:txBody>
                  <a:tcPr>
                    <a:solidFill>
                      <a:srgbClr val="F2F2F2"/>
                    </a:solidFill>
                  </a:tcPr>
                </a:tc>
                <a:extLst>
                  <a:ext uri="{0D108BD9-81ED-4DB2-BD59-A6C34878D82A}">
                    <a16:rowId xmlns:a16="http://schemas.microsoft.com/office/drawing/2014/main" val="10000"/>
                  </a:ext>
                </a:extLst>
              </a:tr>
              <a:tr h="502920">
                <a:tc>
                  <a:txBody>
                    <a:bodyPr/>
                    <a:lstStyle/>
                    <a:p>
                      <a:pPr algn="ctr"/>
                      <a:r>
                        <a:rPr sz="1000" b="0" i="0">
                          <a:solidFill>
                            <a:srgbClr val="262626"/>
                          </a:solidFill>
                          <a:latin typeface="Arial"/>
                        </a:rPr>
                        <a:t>13:00 – 14:00</a:t>
                      </a:r>
                    </a:p>
                  </a:txBody>
                  <a:tcPr>
                    <a:solidFill>
                      <a:srgbClr val="FFFFFF"/>
                    </a:solidFill>
                  </a:tcPr>
                </a:tc>
                <a:tc>
                  <a:txBody>
                    <a:bodyPr/>
                    <a:lstStyle/>
                    <a:p>
                      <a:pPr algn="l"/>
                      <a:r>
                        <a:rPr sz="1000" b="0" i="0">
                          <a:solidFill>
                            <a:srgbClr val="262626"/>
                          </a:solidFill>
                          <a:latin typeface="Arial"/>
                        </a:rPr>
                        <a:t>Elite Mixed Relay athlete lounge open</a:t>
                      </a:r>
                    </a:p>
                  </a:txBody>
                  <a:tcPr>
                    <a:solidFill>
                      <a:srgbClr val="FFFFFF"/>
                    </a:solidFill>
                  </a:tcPr>
                </a:tc>
                <a:extLst>
                  <a:ext uri="{0D108BD9-81ED-4DB2-BD59-A6C34878D82A}">
                    <a16:rowId xmlns:a16="http://schemas.microsoft.com/office/drawing/2014/main" val="10001"/>
                  </a:ext>
                </a:extLst>
              </a:tr>
              <a:tr h="502920">
                <a:tc>
                  <a:txBody>
                    <a:bodyPr/>
                    <a:lstStyle/>
                    <a:p>
                      <a:pPr algn="ctr"/>
                      <a:r>
                        <a:rPr sz="1000" b="0" i="0">
                          <a:solidFill>
                            <a:srgbClr val="262626"/>
                          </a:solidFill>
                          <a:latin typeface="Arial"/>
                        </a:rPr>
                        <a:t>13:30 – 14:15</a:t>
                      </a:r>
                    </a:p>
                  </a:txBody>
                  <a:tcPr>
                    <a:solidFill>
                      <a:srgbClr val="F2F2F2"/>
                    </a:solidFill>
                  </a:tcPr>
                </a:tc>
                <a:tc>
                  <a:txBody>
                    <a:bodyPr/>
                    <a:lstStyle/>
                    <a:p>
                      <a:pPr algn="l"/>
                      <a:r>
                        <a:rPr sz="1000" b="0" i="0">
                          <a:solidFill>
                            <a:srgbClr val="262626"/>
                          </a:solidFill>
                          <a:latin typeface="Arial"/>
                        </a:rPr>
                        <a:t>Transition check-in + swim warm-up</a:t>
                      </a:r>
                    </a:p>
                  </a:txBody>
                  <a:tcPr>
                    <a:solidFill>
                      <a:srgbClr val="F2F2F2"/>
                    </a:solidFill>
                  </a:tcPr>
                </a:tc>
                <a:extLst>
                  <a:ext uri="{0D108BD9-81ED-4DB2-BD59-A6C34878D82A}">
                    <a16:rowId xmlns:a16="http://schemas.microsoft.com/office/drawing/2014/main" val="10002"/>
                  </a:ext>
                </a:extLst>
              </a:tr>
              <a:tr h="502920">
                <a:tc>
                  <a:txBody>
                    <a:bodyPr/>
                    <a:lstStyle/>
                    <a:p>
                      <a:pPr algn="ctr"/>
                      <a:r>
                        <a:rPr sz="1000" b="0" i="0">
                          <a:solidFill>
                            <a:srgbClr val="262626"/>
                          </a:solidFill>
                          <a:latin typeface="Arial"/>
                        </a:rPr>
                        <a:t>14:20 – 14:28</a:t>
                      </a:r>
                    </a:p>
                  </a:txBody>
                  <a:tcPr>
                    <a:solidFill>
                      <a:srgbClr val="FFFFFF"/>
                    </a:solidFill>
                  </a:tcPr>
                </a:tc>
                <a:tc>
                  <a:txBody>
                    <a:bodyPr/>
                    <a:lstStyle/>
                    <a:p>
                      <a:pPr algn="l"/>
                      <a:r>
                        <a:rPr sz="1000" b="0" i="0">
                          <a:solidFill>
                            <a:srgbClr val="262626"/>
                          </a:solidFill>
                          <a:latin typeface="Arial"/>
                        </a:rPr>
                        <a:t>Mixed Relay team introductions</a:t>
                      </a:r>
                    </a:p>
                  </a:txBody>
                  <a:tcPr>
                    <a:solidFill>
                      <a:srgbClr val="FFFFFF"/>
                    </a:solidFill>
                  </a:tcPr>
                </a:tc>
                <a:extLst>
                  <a:ext uri="{0D108BD9-81ED-4DB2-BD59-A6C34878D82A}">
                    <a16:rowId xmlns:a16="http://schemas.microsoft.com/office/drawing/2014/main" val="10003"/>
                  </a:ext>
                </a:extLst>
              </a:tr>
              <a:tr h="502920">
                <a:tc>
                  <a:txBody>
                    <a:bodyPr/>
                    <a:lstStyle/>
                    <a:p>
                      <a:pPr algn="ctr"/>
                      <a:r>
                        <a:rPr sz="1000" b="1" i="0">
                          <a:solidFill>
                            <a:srgbClr val="C00000"/>
                          </a:solidFill>
                          <a:latin typeface="Arial"/>
                        </a:rPr>
                        <a:t>14:30</a:t>
                      </a:r>
                    </a:p>
                  </a:txBody>
                  <a:tcPr>
                    <a:solidFill>
                      <a:srgbClr val="FDECEC"/>
                    </a:solidFill>
                  </a:tcPr>
                </a:tc>
                <a:tc>
                  <a:txBody>
                    <a:bodyPr/>
                    <a:lstStyle/>
                    <a:p>
                      <a:pPr algn="l"/>
                      <a:r>
                        <a:rPr sz="1000" b="1" i="0">
                          <a:solidFill>
                            <a:srgbClr val="C00000"/>
                          </a:solidFill>
                          <a:latin typeface="Arial"/>
                        </a:rPr>
                        <a:t>★ ELITE MIXED RELAY START</a:t>
                      </a:r>
                    </a:p>
                  </a:txBody>
                  <a:tcPr>
                    <a:solidFill>
                      <a:srgbClr val="FDECEC"/>
                    </a:solidFill>
                  </a:tcPr>
                </a:tc>
                <a:extLst>
                  <a:ext uri="{0D108BD9-81ED-4DB2-BD59-A6C34878D82A}">
                    <a16:rowId xmlns:a16="http://schemas.microsoft.com/office/drawing/2014/main" val="10004"/>
                  </a:ext>
                </a:extLst>
              </a:tr>
              <a:tr h="502920">
                <a:tc>
                  <a:txBody>
                    <a:bodyPr/>
                    <a:lstStyle/>
                    <a:p>
                      <a:pPr algn="ctr"/>
                      <a:r>
                        <a:rPr sz="1000" b="0" i="0">
                          <a:solidFill>
                            <a:srgbClr val="262626"/>
                          </a:solidFill>
                          <a:latin typeface="Arial"/>
                        </a:rPr>
                        <a:t>16:00</a:t>
                      </a:r>
                    </a:p>
                  </a:txBody>
                  <a:tcPr>
                    <a:solidFill>
                      <a:srgbClr val="FFFFFF"/>
                    </a:solidFill>
                  </a:tcPr>
                </a:tc>
                <a:tc>
                  <a:txBody>
                    <a:bodyPr/>
                    <a:lstStyle/>
                    <a:p>
                      <a:pPr algn="l"/>
                      <a:r>
                        <a:rPr sz="1000" b="0" i="0">
                          <a:solidFill>
                            <a:srgbClr val="262626"/>
                          </a:solidFill>
                          <a:latin typeface="Arial"/>
                        </a:rPr>
                        <a:t>Elite Mixed Relay medals ceremony</a:t>
                      </a:r>
                    </a:p>
                  </a:txBody>
                  <a:tcPr>
                    <a:solidFill>
                      <a:srgbClr val="FFFFFF"/>
                    </a:solidFill>
                  </a:tcPr>
                </a:tc>
                <a:extLst>
                  <a:ext uri="{0D108BD9-81ED-4DB2-BD59-A6C34878D82A}">
                    <a16:rowId xmlns:a16="http://schemas.microsoft.com/office/drawing/2014/main" val="10005"/>
                  </a:ext>
                </a:extLst>
              </a:tr>
            </a:tbl>
          </a:graphicData>
        </a:graphic>
      </p:graphicFrame>
      <p:sp>
        <p:nvSpPr>
          <p:cNvPr id="26" name="TextBox 25"/>
          <p:cNvSpPr txBox="1"/>
          <p:nvPr/>
        </p:nvSpPr>
        <p:spPr>
          <a:xfrm>
            <a:off x="274320" y="6355080"/>
            <a:ext cx="11640312" cy="274320"/>
          </a:xfrm>
          <a:prstGeom prst="rect">
            <a:avLst/>
          </a:prstGeom>
          <a:noFill/>
        </p:spPr>
        <p:txBody>
          <a:bodyPr wrap="square">
            <a:spAutoFit/>
          </a:bodyPr>
          <a:lstStyle/>
          <a:p>
            <a:pPr algn="ctr"/>
            <a:r>
              <a:rPr sz="900" b="0" i="1">
                <a:solidFill>
                  <a:srgbClr val="BFBFBF"/>
                </a:solidFill>
                <a:latin typeface="Arial"/>
              </a:rPr>
              <a:t>Times William Hawrelak Park, 9330 Groat Rd NW, Edmonton, AB (MDT, UTC-6). Schedule confirmed from World Triathlon race-info page / athlete guide; subject to organiser updates.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Key Course Differentiators</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Edmonton</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74320" y="1097280"/>
            <a:ext cx="6035040" cy="502920"/>
          </a:xfrm>
          <a:prstGeom prst="rect">
            <a:avLst/>
          </a:prstGeom>
          <a:noFill/>
        </p:spPr>
        <p:txBody>
          <a:bodyPr wrap="square">
            <a:spAutoFit/>
          </a:bodyPr>
          <a:lstStyle/>
          <a:p>
            <a:pPr algn="l"/>
            <a:r>
              <a:rPr sz="2000" b="1" i="0">
                <a:solidFill>
                  <a:srgbClr val="002060"/>
                </a:solidFill>
                <a:latin typeface="Arial"/>
              </a:rPr>
              <a:t>EDMONTON</a:t>
            </a:r>
          </a:p>
        </p:txBody>
      </p:sp>
      <p:sp>
        <p:nvSpPr>
          <p:cNvPr id="9" name="TextBox 8"/>
          <p:cNvSpPr txBox="1"/>
          <p:nvPr/>
        </p:nvSpPr>
        <p:spPr>
          <a:xfrm>
            <a:off x="274320" y="1627632"/>
            <a:ext cx="6035040" cy="1234440"/>
          </a:xfrm>
          <a:prstGeom prst="rect">
            <a:avLst/>
          </a:prstGeom>
          <a:noFill/>
        </p:spPr>
        <p:txBody>
          <a:bodyPr wrap="square">
            <a:spAutoFit/>
          </a:bodyPr>
          <a:lstStyle/>
          <a:p>
            <a:pPr algn="l"/>
            <a:r>
              <a:rPr sz="1100" b="0" i="0">
                <a:solidFill>
                  <a:srgbClr val="262626"/>
                </a:solidFill>
                <a:latin typeface="Arial"/>
              </a:rPr>
              <a:t>The 2026 World Triathlon Cup Edmonton returns elite racing to William Hawrelak Park, newly renovated ahead of the 2027 World Triathlon Multisport Championships — this race is the first elite test of the rebuilt course. Edmonton has a long elite history at this tier and above: WTS races in 2018 and 2019, and the 2021 World Triathlon Championship Finals, where Kristian Blummenfelt and Flora Duffy clinched world titles on this same lake. The last two editions (2023-24) stepped down to Americas Triathlon Cup level, so this World Cup marks a return to a stronger international field. Format is standard sprint: 750 m lake swim, 20.4 km bike (3 laps, valley climb each lap), 5 km run (3 laps). Elite Men go off at 14:00 and Elite Women at 16:00 on Saturday July 18; Mixed Relay follows Sunday July 19.</a:t>
            </a:r>
          </a:p>
        </p:txBody>
      </p:sp>
      <p:sp>
        <p:nvSpPr>
          <p:cNvPr id="10" name="Rectangle 9"/>
          <p:cNvSpPr/>
          <p:nvPr/>
        </p:nvSpPr>
        <p:spPr>
          <a:xfrm>
            <a:off x="274320" y="2971800"/>
            <a:ext cx="6035040"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20040" y="2990088"/>
            <a:ext cx="5669280" cy="274320"/>
          </a:xfrm>
          <a:prstGeom prst="rect">
            <a:avLst/>
          </a:prstGeom>
          <a:noFill/>
        </p:spPr>
        <p:txBody>
          <a:bodyPr wrap="square">
            <a:spAutoFit/>
          </a:bodyPr>
          <a:lstStyle/>
          <a:p>
            <a:pPr algn="l"/>
            <a:r>
              <a:rPr sz="1200" b="1" i="0">
                <a:solidFill>
                  <a:srgbClr val="FFFFFF"/>
                </a:solidFill>
                <a:latin typeface="Arial"/>
              </a:rPr>
              <a:t>COURSE FEATURES</a:t>
            </a:r>
          </a:p>
        </p:txBody>
      </p:sp>
      <p:sp>
        <p:nvSpPr>
          <p:cNvPr id="12" name="TextBox 11"/>
          <p:cNvSpPr txBox="1"/>
          <p:nvPr/>
        </p:nvSpPr>
        <p:spPr>
          <a:xfrm>
            <a:off x="365760" y="3383280"/>
            <a:ext cx="5852160" cy="640080"/>
          </a:xfrm>
          <a:prstGeom prst="rect">
            <a:avLst/>
          </a:prstGeom>
          <a:noFill/>
        </p:spPr>
        <p:txBody>
          <a:bodyPr wrap="square">
            <a:spAutoFit/>
          </a:bodyPr>
          <a:lstStyle/>
          <a:p>
            <a:pPr algn="l"/>
            <a:r>
              <a:rPr sz="1100" b="0" i="0">
                <a:solidFill>
                  <a:srgbClr val="262626"/>
                </a:solidFill>
                <a:latin typeface="Arial"/>
              </a:rPr>
              <a:t>•  750 m Hawrelak Park lake swim — sheltered fresh water, single clockwise loop, ~19 °C (optional wetsuit).</a:t>
            </a:r>
          </a:p>
        </p:txBody>
      </p:sp>
      <p:sp>
        <p:nvSpPr>
          <p:cNvPr id="13" name="TextBox 12"/>
          <p:cNvSpPr txBox="1"/>
          <p:nvPr/>
        </p:nvSpPr>
        <p:spPr>
          <a:xfrm>
            <a:off x="365760" y="4041648"/>
            <a:ext cx="5852160" cy="640080"/>
          </a:xfrm>
          <a:prstGeom prst="rect">
            <a:avLst/>
          </a:prstGeom>
          <a:noFill/>
        </p:spPr>
        <p:txBody>
          <a:bodyPr wrap="square">
            <a:spAutoFit/>
          </a:bodyPr>
          <a:lstStyle/>
          <a:p>
            <a:pPr algn="l"/>
            <a:r>
              <a:rPr sz="1100" b="0" i="0">
                <a:solidFill>
                  <a:srgbClr val="262626"/>
                </a:solidFill>
                <a:latin typeface="Arial"/>
              </a:rPr>
              <a:t>•  20.4 km bike — 3 × 6.8 km laps with a repeated river-valley climb/descent (+85 m/-87 m per lap).</a:t>
            </a:r>
          </a:p>
        </p:txBody>
      </p:sp>
      <p:sp>
        <p:nvSpPr>
          <p:cNvPr id="14" name="TextBox 13"/>
          <p:cNvSpPr txBox="1"/>
          <p:nvPr/>
        </p:nvSpPr>
        <p:spPr>
          <a:xfrm>
            <a:off x="365760" y="4700016"/>
            <a:ext cx="5852160" cy="640080"/>
          </a:xfrm>
          <a:prstGeom prst="rect">
            <a:avLst/>
          </a:prstGeom>
          <a:noFill/>
        </p:spPr>
        <p:txBody>
          <a:bodyPr wrap="square">
            <a:spAutoFit/>
          </a:bodyPr>
          <a:lstStyle/>
          <a:p>
            <a:pPr algn="l"/>
            <a:r>
              <a:rPr sz="1100" b="0" i="0">
                <a:solidFill>
                  <a:srgbClr val="262626"/>
                </a:solidFill>
                <a:latin typeface="Arial"/>
              </a:rPr>
              <a:t>•  5 km run — 3 × 1.66 km laps on paved park paths, moderate heat risk (July highs ~23 °C).</a:t>
            </a:r>
          </a:p>
        </p:txBody>
      </p:sp>
      <p:sp>
        <p:nvSpPr>
          <p:cNvPr id="15" name="TextBox 14"/>
          <p:cNvSpPr txBox="1"/>
          <p:nvPr/>
        </p:nvSpPr>
        <p:spPr>
          <a:xfrm>
            <a:off x="365760" y="5358384"/>
            <a:ext cx="5852160" cy="640080"/>
          </a:xfrm>
          <a:prstGeom prst="rect">
            <a:avLst/>
          </a:prstGeom>
          <a:noFill/>
        </p:spPr>
        <p:txBody>
          <a:bodyPr wrap="square">
            <a:spAutoFit/>
          </a:bodyPr>
          <a:lstStyle/>
          <a:p>
            <a:pPr algn="l"/>
            <a:r>
              <a:rPr sz="1100" b="0" i="0">
                <a:solidFill>
                  <a:srgbClr val="262626"/>
                </a:solidFill>
                <a:latin typeface="Arial"/>
              </a:rPr>
              <a:t>•  Elite Men 14:00 / Elite Women 16:00, Saturday July 18. Mixed Relay 14:30, Sunday July 19.</a:t>
            </a:r>
          </a:p>
        </p:txBody>
      </p:sp>
      <p:sp>
        <p:nvSpPr>
          <p:cNvPr id="16" name="Rectangle 15"/>
          <p:cNvSpPr/>
          <p:nvPr/>
        </p:nvSpPr>
        <p:spPr>
          <a:xfrm>
            <a:off x="6583680" y="1097280"/>
            <a:ext cx="5303520"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629400" y="1115568"/>
            <a:ext cx="4937760" cy="274320"/>
          </a:xfrm>
          <a:prstGeom prst="rect">
            <a:avLst/>
          </a:prstGeom>
          <a:noFill/>
        </p:spPr>
        <p:txBody>
          <a:bodyPr wrap="square">
            <a:spAutoFit/>
          </a:bodyPr>
          <a:lstStyle/>
          <a:p>
            <a:pPr algn="l"/>
            <a:r>
              <a:rPr sz="1200" b="1" i="0">
                <a:solidFill>
                  <a:srgbClr val="FFFFFF"/>
                </a:solidFill>
                <a:latin typeface="Arial"/>
              </a:rPr>
              <a:t>COURSE AT A GLANCE</a:t>
            </a:r>
          </a:p>
        </p:txBody>
      </p:sp>
      <p:sp>
        <p:nvSpPr>
          <p:cNvPr id="18" name="TextBox 17"/>
          <p:cNvSpPr txBox="1"/>
          <p:nvPr/>
        </p:nvSpPr>
        <p:spPr>
          <a:xfrm>
            <a:off x="6675120" y="1508760"/>
            <a:ext cx="1828800" cy="320040"/>
          </a:xfrm>
          <a:prstGeom prst="rect">
            <a:avLst/>
          </a:prstGeom>
          <a:noFill/>
        </p:spPr>
        <p:txBody>
          <a:bodyPr wrap="square">
            <a:spAutoFit/>
          </a:bodyPr>
          <a:lstStyle/>
          <a:p>
            <a:pPr algn="l"/>
            <a:r>
              <a:rPr sz="1200" b="1" i="0">
                <a:solidFill>
                  <a:srgbClr val="002060"/>
                </a:solidFill>
                <a:latin typeface="Arial"/>
              </a:rPr>
              <a:t>Swim:</a:t>
            </a:r>
          </a:p>
        </p:txBody>
      </p:sp>
      <p:sp>
        <p:nvSpPr>
          <p:cNvPr id="19" name="TextBox 18"/>
          <p:cNvSpPr txBox="1"/>
          <p:nvPr/>
        </p:nvSpPr>
        <p:spPr>
          <a:xfrm>
            <a:off x="8229600" y="1508760"/>
            <a:ext cx="3657600" cy="320040"/>
          </a:xfrm>
          <a:prstGeom prst="rect">
            <a:avLst/>
          </a:prstGeom>
          <a:noFill/>
        </p:spPr>
        <p:txBody>
          <a:bodyPr wrap="square">
            <a:spAutoFit/>
          </a:bodyPr>
          <a:lstStyle/>
          <a:p>
            <a:pPr algn="l"/>
            <a:r>
              <a:rPr sz="1200" b="0" i="0">
                <a:solidFill>
                  <a:srgbClr val="262626"/>
                </a:solidFill>
                <a:latin typeface="Arial"/>
              </a:rPr>
              <a:t>750 m – 1 lap</a:t>
            </a:r>
          </a:p>
        </p:txBody>
      </p:sp>
      <p:sp>
        <p:nvSpPr>
          <p:cNvPr id="20" name="TextBox 19"/>
          <p:cNvSpPr txBox="1"/>
          <p:nvPr/>
        </p:nvSpPr>
        <p:spPr>
          <a:xfrm>
            <a:off x="6675120" y="1847088"/>
            <a:ext cx="1828800" cy="320040"/>
          </a:xfrm>
          <a:prstGeom prst="rect">
            <a:avLst/>
          </a:prstGeom>
          <a:noFill/>
        </p:spPr>
        <p:txBody>
          <a:bodyPr wrap="square">
            <a:spAutoFit/>
          </a:bodyPr>
          <a:lstStyle/>
          <a:p>
            <a:pPr algn="l"/>
            <a:r>
              <a:rPr sz="1200" b="1" i="0">
                <a:solidFill>
                  <a:srgbClr val="002060"/>
                </a:solidFill>
                <a:latin typeface="Arial"/>
              </a:rPr>
              <a:t>Bike:</a:t>
            </a:r>
          </a:p>
        </p:txBody>
      </p:sp>
      <p:sp>
        <p:nvSpPr>
          <p:cNvPr id="21" name="TextBox 20"/>
          <p:cNvSpPr txBox="1"/>
          <p:nvPr/>
        </p:nvSpPr>
        <p:spPr>
          <a:xfrm>
            <a:off x="8229600" y="1847088"/>
            <a:ext cx="3657600" cy="320040"/>
          </a:xfrm>
          <a:prstGeom prst="rect">
            <a:avLst/>
          </a:prstGeom>
          <a:noFill/>
        </p:spPr>
        <p:txBody>
          <a:bodyPr wrap="square">
            <a:spAutoFit/>
          </a:bodyPr>
          <a:lstStyle/>
          <a:p>
            <a:pPr algn="l"/>
            <a:r>
              <a:rPr sz="1200" b="0" i="0">
                <a:solidFill>
                  <a:srgbClr val="262626"/>
                </a:solidFill>
                <a:latin typeface="Arial"/>
              </a:rPr>
              <a:t>20.4 km – 3 laps × 6.8 km</a:t>
            </a:r>
          </a:p>
        </p:txBody>
      </p:sp>
      <p:sp>
        <p:nvSpPr>
          <p:cNvPr id="22" name="TextBox 21"/>
          <p:cNvSpPr txBox="1"/>
          <p:nvPr/>
        </p:nvSpPr>
        <p:spPr>
          <a:xfrm>
            <a:off x="6675120" y="2185415"/>
            <a:ext cx="1828800" cy="320040"/>
          </a:xfrm>
          <a:prstGeom prst="rect">
            <a:avLst/>
          </a:prstGeom>
          <a:noFill/>
        </p:spPr>
        <p:txBody>
          <a:bodyPr wrap="square">
            <a:spAutoFit/>
          </a:bodyPr>
          <a:lstStyle/>
          <a:p>
            <a:pPr algn="l"/>
            <a:r>
              <a:rPr sz="1200" b="1" i="0">
                <a:solidFill>
                  <a:srgbClr val="002060"/>
                </a:solidFill>
                <a:latin typeface="Arial"/>
              </a:rPr>
              <a:t>Run:</a:t>
            </a:r>
          </a:p>
        </p:txBody>
      </p:sp>
      <p:sp>
        <p:nvSpPr>
          <p:cNvPr id="23" name="TextBox 22"/>
          <p:cNvSpPr txBox="1"/>
          <p:nvPr/>
        </p:nvSpPr>
        <p:spPr>
          <a:xfrm>
            <a:off x="8229600" y="2185415"/>
            <a:ext cx="3657600" cy="320040"/>
          </a:xfrm>
          <a:prstGeom prst="rect">
            <a:avLst/>
          </a:prstGeom>
          <a:noFill/>
        </p:spPr>
        <p:txBody>
          <a:bodyPr wrap="square">
            <a:spAutoFit/>
          </a:bodyPr>
          <a:lstStyle/>
          <a:p>
            <a:pPr algn="l"/>
            <a:r>
              <a:rPr sz="1200" b="0" i="0">
                <a:solidFill>
                  <a:srgbClr val="262626"/>
                </a:solidFill>
                <a:latin typeface="Arial"/>
              </a:rPr>
              <a:t>5 km – 3 laps × 1.66 km</a:t>
            </a:r>
          </a:p>
        </p:txBody>
      </p:sp>
      <p:sp>
        <p:nvSpPr>
          <p:cNvPr id="24" name="TextBox 23"/>
          <p:cNvSpPr txBox="1"/>
          <p:nvPr/>
        </p:nvSpPr>
        <p:spPr>
          <a:xfrm>
            <a:off x="6675120" y="2523744"/>
            <a:ext cx="1828800" cy="320040"/>
          </a:xfrm>
          <a:prstGeom prst="rect">
            <a:avLst/>
          </a:prstGeom>
          <a:noFill/>
        </p:spPr>
        <p:txBody>
          <a:bodyPr wrap="square">
            <a:spAutoFit/>
          </a:bodyPr>
          <a:lstStyle/>
          <a:p>
            <a:pPr algn="l"/>
            <a:r>
              <a:rPr sz="1200" b="1" i="0">
                <a:solidFill>
                  <a:srgbClr val="002060"/>
                </a:solidFill>
                <a:latin typeface="Arial"/>
              </a:rPr>
              <a:t>Format:</a:t>
            </a:r>
          </a:p>
        </p:txBody>
      </p:sp>
      <p:sp>
        <p:nvSpPr>
          <p:cNvPr id="25" name="TextBox 24"/>
          <p:cNvSpPr txBox="1"/>
          <p:nvPr/>
        </p:nvSpPr>
        <p:spPr>
          <a:xfrm>
            <a:off x="8229600" y="2523744"/>
            <a:ext cx="3657600" cy="320040"/>
          </a:xfrm>
          <a:prstGeom prst="rect">
            <a:avLst/>
          </a:prstGeom>
          <a:noFill/>
        </p:spPr>
        <p:txBody>
          <a:bodyPr wrap="square">
            <a:spAutoFit/>
          </a:bodyPr>
          <a:lstStyle/>
          <a:p>
            <a:pPr algn="l"/>
            <a:r>
              <a:rPr sz="1200" b="0" i="0">
                <a:solidFill>
                  <a:srgbClr val="262626"/>
                </a:solidFill>
                <a:latin typeface="Arial"/>
              </a:rPr>
              <a:t>Sprint Triathlon (World Cup)</a:t>
            </a:r>
          </a:p>
        </p:txBody>
      </p:sp>
      <p:sp>
        <p:nvSpPr>
          <p:cNvPr id="26" name="TextBox 25"/>
          <p:cNvSpPr txBox="1"/>
          <p:nvPr/>
        </p:nvSpPr>
        <p:spPr>
          <a:xfrm>
            <a:off x="6675120" y="2862072"/>
            <a:ext cx="1828800" cy="320040"/>
          </a:xfrm>
          <a:prstGeom prst="rect">
            <a:avLst/>
          </a:prstGeom>
          <a:noFill/>
        </p:spPr>
        <p:txBody>
          <a:bodyPr wrap="square">
            <a:spAutoFit/>
          </a:bodyPr>
          <a:lstStyle/>
          <a:p>
            <a:pPr algn="l"/>
            <a:r>
              <a:rPr sz="1200" b="1" i="0">
                <a:solidFill>
                  <a:srgbClr val="002060"/>
                </a:solidFill>
                <a:latin typeface="Arial"/>
              </a:rPr>
              <a:t>Bike Laps:</a:t>
            </a:r>
          </a:p>
        </p:txBody>
      </p:sp>
      <p:sp>
        <p:nvSpPr>
          <p:cNvPr id="27" name="TextBox 26"/>
          <p:cNvSpPr txBox="1"/>
          <p:nvPr/>
        </p:nvSpPr>
        <p:spPr>
          <a:xfrm>
            <a:off x="8229600" y="2862072"/>
            <a:ext cx="3657600" cy="320040"/>
          </a:xfrm>
          <a:prstGeom prst="rect">
            <a:avLst/>
          </a:prstGeom>
          <a:noFill/>
        </p:spPr>
        <p:txBody>
          <a:bodyPr wrap="square">
            <a:spAutoFit/>
          </a:bodyPr>
          <a:lstStyle/>
          <a:p>
            <a:pPr algn="l"/>
            <a:r>
              <a:rPr sz="1200" b="0" i="0">
                <a:solidFill>
                  <a:srgbClr val="262626"/>
                </a:solidFill>
                <a:latin typeface="Arial"/>
              </a:rPr>
              <a:t>3</a:t>
            </a:r>
          </a:p>
        </p:txBody>
      </p:sp>
      <p:sp>
        <p:nvSpPr>
          <p:cNvPr id="28" name="TextBox 27"/>
          <p:cNvSpPr txBox="1"/>
          <p:nvPr/>
        </p:nvSpPr>
        <p:spPr>
          <a:xfrm>
            <a:off x="6675120" y="3200400"/>
            <a:ext cx="1828800" cy="320040"/>
          </a:xfrm>
          <a:prstGeom prst="rect">
            <a:avLst/>
          </a:prstGeom>
          <a:noFill/>
        </p:spPr>
        <p:txBody>
          <a:bodyPr wrap="square">
            <a:spAutoFit/>
          </a:bodyPr>
          <a:lstStyle/>
          <a:p>
            <a:pPr algn="l"/>
            <a:r>
              <a:rPr sz="1200" b="1" i="0">
                <a:solidFill>
                  <a:srgbClr val="002060"/>
                </a:solidFill>
                <a:latin typeface="Arial"/>
              </a:rPr>
              <a:t>Run Laps:</a:t>
            </a:r>
          </a:p>
        </p:txBody>
      </p:sp>
      <p:sp>
        <p:nvSpPr>
          <p:cNvPr id="29" name="TextBox 28"/>
          <p:cNvSpPr txBox="1"/>
          <p:nvPr/>
        </p:nvSpPr>
        <p:spPr>
          <a:xfrm>
            <a:off x="8229600" y="3200400"/>
            <a:ext cx="3657600" cy="320040"/>
          </a:xfrm>
          <a:prstGeom prst="rect">
            <a:avLst/>
          </a:prstGeom>
          <a:noFill/>
        </p:spPr>
        <p:txBody>
          <a:bodyPr wrap="square">
            <a:spAutoFit/>
          </a:bodyPr>
          <a:lstStyle/>
          <a:p>
            <a:pPr algn="l"/>
            <a:r>
              <a:rPr sz="1200" b="0" i="0">
                <a:solidFill>
                  <a:srgbClr val="262626"/>
                </a:solidFill>
                <a:latin typeface="Arial"/>
              </a:rPr>
              <a:t>3</a:t>
            </a:r>
          </a:p>
        </p:txBody>
      </p:sp>
      <p:sp>
        <p:nvSpPr>
          <p:cNvPr id="30" name="Rectangle 29"/>
          <p:cNvSpPr/>
          <p:nvPr/>
        </p:nvSpPr>
        <p:spPr>
          <a:xfrm>
            <a:off x="6583680" y="3657600"/>
            <a:ext cx="5303520"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629400" y="3675887"/>
            <a:ext cx="4937760" cy="274320"/>
          </a:xfrm>
          <a:prstGeom prst="rect">
            <a:avLst/>
          </a:prstGeom>
          <a:noFill/>
        </p:spPr>
        <p:txBody>
          <a:bodyPr wrap="square">
            <a:spAutoFit/>
          </a:bodyPr>
          <a:lstStyle/>
          <a:p>
            <a:pPr algn="l"/>
            <a:r>
              <a:rPr sz="1200" b="1" i="0">
                <a:solidFill>
                  <a:srgbClr val="FFFFFF"/>
                </a:solidFill>
                <a:latin typeface="Arial"/>
              </a:rPr>
              <a:t>QUICK LINKS</a:t>
            </a:r>
          </a:p>
        </p:txBody>
      </p:sp>
      <p:sp>
        <p:nvSpPr>
          <p:cNvPr id="32" name="TextBox 31"/>
          <p:cNvSpPr txBox="1"/>
          <p:nvPr/>
        </p:nvSpPr>
        <p:spPr>
          <a:xfrm>
            <a:off x="6675120" y="4069080"/>
            <a:ext cx="5120640" cy="274320"/>
          </a:xfrm>
          <a:prstGeom prst="rect">
            <a:avLst/>
          </a:prstGeom>
          <a:noFill/>
        </p:spPr>
        <p:txBody>
          <a:bodyPr wrap="square">
            <a:spAutoFit/>
          </a:bodyPr>
          <a:lstStyle/>
          <a:p>
            <a:pPr algn="l"/>
            <a:r>
              <a:rPr sz="1100" b="1" i="0">
                <a:solidFill>
                  <a:srgbClr val="002060"/>
                </a:solidFill>
                <a:latin typeface="Arial"/>
              </a:rPr>
              <a:t>Current Race Info:</a:t>
            </a:r>
          </a:p>
        </p:txBody>
      </p:sp>
      <p:sp>
        <p:nvSpPr>
          <p:cNvPr id="33" name="TextBox 32"/>
          <p:cNvSpPr txBox="1"/>
          <p:nvPr/>
        </p:nvSpPr>
        <p:spPr>
          <a:xfrm>
            <a:off x="6675120" y="4370832"/>
            <a:ext cx="5120640" cy="384048"/>
          </a:xfrm>
          <a:prstGeom prst="rect">
            <a:avLst/>
          </a:prstGeom>
          <a:noFill/>
        </p:spPr>
        <p:txBody>
          <a:bodyPr wrap="square">
            <a:spAutoFit/>
          </a:bodyPr>
          <a:lstStyle/>
          <a:p>
            <a:pPr algn="l"/>
            <a:r>
              <a:rPr sz="1000" b="0" i="1">
                <a:solidFill>
                  <a:srgbClr val="262626"/>
                </a:solidFill>
                <a:latin typeface="Arial"/>
              </a:rPr>
              <a:t>Race Info | 2026 World Triathlon Cup Edmonton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Course Profile &amp; Map</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Edmonton</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1115568"/>
            <a:ext cx="5669280" cy="333756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2148840"/>
            <a:ext cx="5303520" cy="914400"/>
          </a:xfrm>
          <a:prstGeom prst="rect">
            <a:avLst/>
          </a:prstGeom>
          <a:noFill/>
        </p:spPr>
        <p:txBody>
          <a:bodyPr wrap="square">
            <a:spAutoFit/>
          </a:bodyPr>
          <a:lstStyle/>
          <a:p>
            <a:pPr algn="ctr"/>
            <a:r>
              <a:rPr sz="1000" b="0" i="1">
                <a:solidFill>
                  <a:srgbClr val="BFBFBF"/>
                </a:solidFill>
                <a:latin typeface="Arial"/>
              </a:rPr>
              <a:t>[PLACEHOLDER: Insert upcoming course map or race photo here]
Right-click → Replace Image, or paste screenshot
of the World Triathlon course map PDF.</a:t>
            </a:r>
          </a:p>
        </p:txBody>
      </p:sp>
      <p:sp>
        <p:nvSpPr>
          <p:cNvPr id="10" name="TextBox 9"/>
          <p:cNvSpPr txBox="1"/>
          <p:nvPr/>
        </p:nvSpPr>
        <p:spPr>
          <a:xfrm>
            <a:off x="274320" y="4507992"/>
            <a:ext cx="5669280" cy="274320"/>
          </a:xfrm>
          <a:prstGeom prst="rect">
            <a:avLst/>
          </a:prstGeom>
          <a:noFill/>
        </p:spPr>
        <p:txBody>
          <a:bodyPr wrap="square">
            <a:spAutoFit/>
          </a:bodyPr>
          <a:lstStyle/>
          <a:p>
            <a:pPr algn="ctr"/>
            <a:r>
              <a:rPr sz="1200" b="1" i="0">
                <a:solidFill>
                  <a:srgbClr val="002060"/>
                </a:solidFill>
                <a:latin typeface="Arial"/>
              </a:rPr>
              <a:t>2026 Course</a:t>
            </a:r>
          </a:p>
        </p:txBody>
      </p:sp>
      <p:sp>
        <p:nvSpPr>
          <p:cNvPr id="11" name="TextBox 10"/>
          <p:cNvSpPr txBox="1"/>
          <p:nvPr/>
        </p:nvSpPr>
        <p:spPr>
          <a:xfrm>
            <a:off x="274320" y="4773168"/>
            <a:ext cx="5669280" cy="246888"/>
          </a:xfrm>
          <a:prstGeom prst="rect">
            <a:avLst/>
          </a:prstGeom>
          <a:noFill/>
        </p:spPr>
        <p:txBody>
          <a:bodyPr wrap="square">
            <a:spAutoFit/>
          </a:bodyPr>
          <a:lstStyle/>
          <a:p>
            <a:pPr algn="ctr"/>
            <a:r>
              <a:rPr sz="900" b="0" i="1">
                <a:solidFill>
                  <a:srgbClr val="BFBFBF"/>
                </a:solidFill>
                <a:latin typeface="Arial"/>
              </a:rPr>
              <a:t>Source: [PLACEHOLDER: World Triathlon event page URL]</a:t>
            </a:r>
          </a:p>
        </p:txBody>
      </p:sp>
      <p:sp>
        <p:nvSpPr>
          <p:cNvPr id="12" name="Rectangle 11"/>
          <p:cNvSpPr/>
          <p:nvPr/>
        </p:nvSpPr>
        <p:spPr>
          <a:xfrm>
            <a:off x="6263640" y="1115568"/>
            <a:ext cx="5669280" cy="333756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46520" y="2148840"/>
            <a:ext cx="5303520" cy="914400"/>
          </a:xfrm>
          <a:prstGeom prst="rect">
            <a:avLst/>
          </a:prstGeom>
          <a:noFill/>
        </p:spPr>
        <p:txBody>
          <a:bodyPr wrap="square">
            <a:spAutoFit/>
          </a:bodyPr>
          <a:lstStyle/>
          <a:p>
            <a:pPr algn="ctr"/>
            <a:r>
              <a:rPr sz="1000" b="0" i="1">
                <a:solidFill>
                  <a:srgbClr val="BFBFBF"/>
                </a:solidFill>
                <a:latin typeface="Arial"/>
              </a:rPr>
              <a:t>[PLACEHOLDER: Insert previous year course map or race photo here]
Right-click → Replace Image, or paste screenshot
of the World Triathlon course map PDF.</a:t>
            </a:r>
          </a:p>
        </p:txBody>
      </p:sp>
      <p:sp>
        <p:nvSpPr>
          <p:cNvPr id="14" name="TextBox 13"/>
          <p:cNvSpPr txBox="1"/>
          <p:nvPr/>
        </p:nvSpPr>
        <p:spPr>
          <a:xfrm>
            <a:off x="6263640" y="4507992"/>
            <a:ext cx="5669280" cy="274320"/>
          </a:xfrm>
          <a:prstGeom prst="rect">
            <a:avLst/>
          </a:prstGeom>
          <a:noFill/>
        </p:spPr>
        <p:txBody>
          <a:bodyPr wrap="square">
            <a:spAutoFit/>
          </a:bodyPr>
          <a:lstStyle/>
          <a:p>
            <a:pPr algn="ctr"/>
            <a:r>
              <a:rPr sz="1200" b="1" i="0">
                <a:solidFill>
                  <a:srgbClr val="002060"/>
                </a:solidFill>
                <a:latin typeface="Arial"/>
              </a:rPr>
              <a:t>2025 Course</a:t>
            </a:r>
          </a:p>
        </p:txBody>
      </p:sp>
      <p:sp>
        <p:nvSpPr>
          <p:cNvPr id="15" name="TextBox 14"/>
          <p:cNvSpPr txBox="1"/>
          <p:nvPr/>
        </p:nvSpPr>
        <p:spPr>
          <a:xfrm>
            <a:off x="6263640" y="4773168"/>
            <a:ext cx="5669280" cy="246888"/>
          </a:xfrm>
          <a:prstGeom prst="rect">
            <a:avLst/>
          </a:prstGeom>
          <a:noFill/>
        </p:spPr>
        <p:txBody>
          <a:bodyPr wrap="square">
            <a:spAutoFit/>
          </a:bodyPr>
          <a:lstStyle/>
          <a:p>
            <a:pPr algn="ctr"/>
            <a:r>
              <a:rPr sz="900" b="0" i="1">
                <a:solidFill>
                  <a:srgbClr val="BFBFBF"/>
                </a:solidFill>
                <a:latin typeface="Arial"/>
              </a:rPr>
              <a:t>Source: https://www.triathlon.org/events/event/2024_americas_triathlon_cup_edmonton</a:t>
            </a:r>
          </a:p>
        </p:txBody>
      </p:sp>
      <p:graphicFrame>
        <p:nvGraphicFramePr>
          <p:cNvPr id="16" name="Table 15"/>
          <p:cNvGraphicFramePr>
            <a:graphicFrameLocks noGrp="1"/>
          </p:cNvGraphicFramePr>
          <p:nvPr/>
        </p:nvGraphicFramePr>
        <p:xfrm>
          <a:off x="274320" y="4956048"/>
          <a:ext cx="11640312" cy="164592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7708392">
                  <a:extLst>
                    <a:ext uri="{9D8B030D-6E8A-4147-A177-3AD203B41FA5}">
                      <a16:colId xmlns:a16="http://schemas.microsoft.com/office/drawing/2014/main" val="20003"/>
                    </a:ext>
                  </a:extLst>
                </a:gridCol>
              </a:tblGrid>
              <a:tr h="411480">
                <a:tc>
                  <a:txBody>
                    <a:bodyPr/>
                    <a:lstStyle/>
                    <a:p>
                      <a:pPr algn="ctr"/>
                      <a:r>
                        <a:rPr sz="1100" b="1" i="0">
                          <a:solidFill>
                            <a:srgbClr val="FFFFFF"/>
                          </a:solidFill>
                          <a:latin typeface="Arial"/>
                        </a:rPr>
                        <a:t>Discipline</a:t>
                      </a:r>
                    </a:p>
                  </a:txBody>
                  <a:tcPr>
                    <a:solidFill>
                      <a:srgbClr val="002060"/>
                    </a:solidFill>
                  </a:tcPr>
                </a:tc>
                <a:tc>
                  <a:txBody>
                    <a:bodyPr/>
                    <a:lstStyle/>
                    <a:p>
                      <a:pPr algn="ctr"/>
                      <a:r>
                        <a:rPr sz="1100" b="1" i="0">
                          <a:solidFill>
                            <a:srgbClr val="FFFFFF"/>
                          </a:solidFill>
                          <a:latin typeface="Arial"/>
                        </a:rPr>
                        <a:t>Distance</a:t>
                      </a:r>
                    </a:p>
                  </a:txBody>
                  <a:tcPr>
                    <a:solidFill>
                      <a:srgbClr val="002060"/>
                    </a:solidFill>
                  </a:tcPr>
                </a:tc>
                <a:tc>
                  <a:txBody>
                    <a:bodyPr/>
                    <a:lstStyle/>
                    <a:p>
                      <a:pPr algn="ctr"/>
                      <a:r>
                        <a:rPr sz="1100" b="1" i="0">
                          <a:solidFill>
                            <a:srgbClr val="FFFFFF"/>
                          </a:solidFill>
                          <a:latin typeface="Arial"/>
                        </a:rPr>
                        <a:t>Laps</a:t>
                      </a:r>
                    </a:p>
                  </a:txBody>
                  <a:tcPr>
                    <a:solidFill>
                      <a:srgbClr val="002060"/>
                    </a:solidFill>
                  </a:tcPr>
                </a:tc>
                <a:tc>
                  <a:txBody>
                    <a:bodyPr/>
                    <a:lstStyle/>
                    <a:p>
                      <a:pPr algn="l"/>
                      <a:r>
                        <a:rPr sz="1100" b="1" i="0">
                          <a:solidFill>
                            <a:srgbClr val="FFFFFF"/>
                          </a:solidFill>
                          <a:latin typeface="Arial"/>
                        </a:rPr>
                        <a:t>Terrain / Notes</a:t>
                      </a:r>
                    </a:p>
                  </a:txBody>
                  <a:tcPr>
                    <a:solidFill>
                      <a:srgbClr val="002060"/>
                    </a:solidFill>
                  </a:tcPr>
                </a:tc>
                <a:extLst>
                  <a:ext uri="{0D108BD9-81ED-4DB2-BD59-A6C34878D82A}">
                    <a16:rowId xmlns:a16="http://schemas.microsoft.com/office/drawing/2014/main" val="10000"/>
                  </a:ext>
                </a:extLst>
              </a:tr>
              <a:tr h="411480">
                <a:tc>
                  <a:txBody>
                    <a:bodyPr/>
                    <a:lstStyle/>
                    <a:p>
                      <a:pPr algn="ctr"/>
                      <a:r>
                        <a:rPr sz="1000" b="0" i="0">
                          <a:solidFill>
                            <a:srgbClr val="262626"/>
                          </a:solidFill>
                          <a:latin typeface="Arial"/>
                        </a:rPr>
                        <a:t>Swim</a:t>
                      </a:r>
                    </a:p>
                  </a:txBody>
                  <a:tcPr>
                    <a:solidFill>
                      <a:srgbClr val="FFFFFF"/>
                    </a:solidFill>
                  </a:tcPr>
                </a:tc>
                <a:tc>
                  <a:txBody>
                    <a:bodyPr/>
                    <a:lstStyle/>
                    <a:p>
                      <a:pPr algn="ctr"/>
                      <a:r>
                        <a:rPr sz="1000" b="0" i="0">
                          <a:solidFill>
                            <a:srgbClr val="262626"/>
                          </a:solidFill>
                          <a:latin typeface="Arial"/>
                        </a:rPr>
                        <a:t>—</a:t>
                      </a:r>
                    </a:p>
                  </a:txBody>
                  <a:tcPr>
                    <a:solidFill>
                      <a:srgbClr val="FFFFFF"/>
                    </a:solidFill>
                  </a:tcPr>
                </a:tc>
                <a:tc>
                  <a:txBody>
                    <a:bodyPr/>
                    <a:lstStyle/>
                    <a:p>
                      <a:pPr algn="ctr"/>
                      <a:r>
                        <a:rPr sz="1000" b="0" i="0">
                          <a:solidFill>
                            <a:srgbClr val="262626"/>
                          </a:solidFill>
                          <a:latin typeface="Arial"/>
                        </a:rPr>
                        <a:t>—</a:t>
                      </a:r>
                    </a:p>
                  </a:txBody>
                  <a:tcPr>
                    <a:solidFill>
                      <a:srgbClr val="FFFFFF"/>
                    </a:solidFill>
                  </a:tcPr>
                </a:tc>
                <a:tc>
                  <a:txBody>
                    <a:bodyPr/>
                    <a:lstStyle/>
                    <a:p>
                      <a:pPr algn="l"/>
                      <a:r>
                        <a:rPr sz="1000" b="0" i="0">
                          <a:solidFill>
                            <a:srgbClr val="262626"/>
                          </a:solidFill>
                          <a:latin typeface="Arial"/>
                        </a:rPr>
                        <a:t>[PLACEHOLDER: e.g. Open-water, Bay of Edmonton]</a:t>
                      </a:r>
                    </a:p>
                  </a:txBody>
                  <a:tcPr>
                    <a:solidFill>
                      <a:srgbClr val="FFFFFF"/>
                    </a:solidFill>
                  </a:tcPr>
                </a:tc>
                <a:extLst>
                  <a:ext uri="{0D108BD9-81ED-4DB2-BD59-A6C34878D82A}">
                    <a16:rowId xmlns:a16="http://schemas.microsoft.com/office/drawing/2014/main" val="10001"/>
                  </a:ext>
                </a:extLst>
              </a:tr>
              <a:tr h="411480">
                <a:tc>
                  <a:txBody>
                    <a:bodyPr/>
                    <a:lstStyle/>
                    <a:p>
                      <a:pPr algn="ctr"/>
                      <a:r>
                        <a:rPr sz="1000" b="0" i="0">
                          <a:solidFill>
                            <a:srgbClr val="262626"/>
                          </a:solidFill>
                          <a:latin typeface="Arial"/>
                        </a:rPr>
                        <a:t>Bike</a:t>
                      </a:r>
                    </a:p>
                  </a:txBody>
                  <a:tcPr>
                    <a:solidFill>
                      <a:srgbClr val="F2F2F2"/>
                    </a:solidFill>
                  </a:tcPr>
                </a:tc>
                <a:tc>
                  <a:txBody>
                    <a:bodyPr/>
                    <a:lstStyle/>
                    <a:p>
                      <a:pPr algn="ctr"/>
                      <a:r>
                        <a:rPr sz="1000" b="0" i="0">
                          <a:solidFill>
                            <a:srgbClr val="262626"/>
                          </a:solidFill>
                          <a:latin typeface="Arial"/>
                        </a:rPr>
                        <a:t>20.0 km</a:t>
                      </a:r>
                    </a:p>
                  </a:txBody>
                  <a:tcPr>
                    <a:solidFill>
                      <a:srgbClr val="F2F2F2"/>
                    </a:solidFill>
                  </a:tcPr>
                </a:tc>
                <a:tc>
                  <a:txBody>
                    <a:bodyPr/>
                    <a:lstStyle/>
                    <a:p>
                      <a:pPr algn="ctr"/>
                      <a:r>
                        <a:rPr sz="1000" b="0" i="0">
                          <a:solidFill>
                            <a:srgbClr val="262626"/>
                          </a:solidFill>
                          <a:latin typeface="Arial"/>
                        </a:rPr>
                        <a:t>2</a:t>
                      </a:r>
                    </a:p>
                  </a:txBody>
                  <a:tcPr>
                    <a:solidFill>
                      <a:srgbClr val="F2F2F2"/>
                    </a:solidFill>
                  </a:tcPr>
                </a:tc>
                <a:tc>
                  <a:txBody>
                    <a:bodyPr/>
                    <a:lstStyle/>
                    <a:p>
                      <a:pPr algn="l"/>
                      <a:r>
                        <a:rPr sz="1000" b="0" i="0">
                          <a:solidFill>
                            <a:srgbClr val="262626"/>
                          </a:solidFill>
                          <a:latin typeface="Arial"/>
                        </a:rPr>
                        <a:t>[PLACEHOLDER: e.g. Flat coastal road circuit, closed course]</a:t>
                      </a:r>
                    </a:p>
                  </a:txBody>
                  <a:tcPr>
                    <a:solidFill>
                      <a:srgbClr val="F2F2F2"/>
                    </a:solidFill>
                  </a:tcPr>
                </a:tc>
                <a:extLst>
                  <a:ext uri="{0D108BD9-81ED-4DB2-BD59-A6C34878D82A}">
                    <a16:rowId xmlns:a16="http://schemas.microsoft.com/office/drawing/2014/main" val="10002"/>
                  </a:ext>
                </a:extLst>
              </a:tr>
              <a:tr h="411480">
                <a:tc>
                  <a:txBody>
                    <a:bodyPr/>
                    <a:lstStyle/>
                    <a:p>
                      <a:pPr algn="ctr"/>
                      <a:r>
                        <a:rPr sz="1000" b="0" i="0">
                          <a:solidFill>
                            <a:srgbClr val="262626"/>
                          </a:solidFill>
                          <a:latin typeface="Arial"/>
                        </a:rPr>
                        <a:t>Run</a:t>
                      </a:r>
                    </a:p>
                  </a:txBody>
                  <a:tcPr>
                    <a:solidFill>
                      <a:srgbClr val="FFFFFF"/>
                    </a:solidFill>
                  </a:tcPr>
                </a:tc>
                <a:tc>
                  <a:txBody>
                    <a:bodyPr/>
                    <a:lstStyle/>
                    <a:p>
                      <a:pPr algn="ctr"/>
                      <a:r>
                        <a:rPr sz="1000" b="0" i="0">
                          <a:solidFill>
                            <a:srgbClr val="262626"/>
                          </a:solidFill>
                          <a:latin typeface="Arial"/>
                        </a:rPr>
                        <a:t>—</a:t>
                      </a:r>
                    </a:p>
                  </a:txBody>
                  <a:tcPr>
                    <a:solidFill>
                      <a:srgbClr val="FFFFFF"/>
                    </a:solidFill>
                  </a:tcPr>
                </a:tc>
                <a:tc>
                  <a:txBody>
                    <a:bodyPr/>
                    <a:lstStyle/>
                    <a:p>
                      <a:pPr algn="ctr"/>
                      <a:r>
                        <a:rPr sz="1000" b="0" i="0">
                          <a:solidFill>
                            <a:srgbClr val="262626"/>
                          </a:solidFill>
                          <a:latin typeface="Arial"/>
                        </a:rPr>
                        <a:t>—</a:t>
                      </a:r>
                    </a:p>
                  </a:txBody>
                  <a:tcPr>
                    <a:solidFill>
                      <a:srgbClr val="FFFFFF"/>
                    </a:solidFill>
                  </a:tcPr>
                </a:tc>
                <a:tc>
                  <a:txBody>
                    <a:bodyPr/>
                    <a:lstStyle/>
                    <a:p>
                      <a:pPr algn="l"/>
                      <a:r>
                        <a:rPr sz="1000" b="0" i="0">
                          <a:solidFill>
                            <a:srgbClr val="262626"/>
                          </a:solidFill>
                          <a:latin typeface="Arial"/>
                        </a:rPr>
                        <a:t>[PLACEHOLDER: e.g. Flat multi-lap, cobblestone city-centre finish]</a:t>
                      </a:r>
                    </a:p>
                  </a:txBody>
                  <a:tcPr>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Swim Course Profile</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Edmonton</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edmonton_swim_course.png"/>
          <p:cNvPicPr>
            <a:picLocks noChangeAspect="1"/>
          </p:cNvPicPr>
          <p:nvPr/>
        </p:nvPicPr>
        <p:blipFill>
          <a:blip r:embed="rId3"/>
          <a:stretch>
            <a:fillRect/>
          </a:stretch>
        </p:blipFill>
        <p:spPr>
          <a:xfrm>
            <a:off x="274320" y="1143000"/>
            <a:ext cx="5120640" cy="3840480"/>
          </a:xfrm>
          <a:prstGeom prst="rect">
            <a:avLst/>
          </a:prstGeom>
        </p:spPr>
      </p:pic>
      <p:sp>
        <p:nvSpPr>
          <p:cNvPr id="9" name="TextBox 8"/>
          <p:cNvSpPr txBox="1"/>
          <p:nvPr/>
        </p:nvSpPr>
        <p:spPr>
          <a:xfrm>
            <a:off x="274320" y="5029200"/>
            <a:ext cx="5120640" cy="228600"/>
          </a:xfrm>
          <a:prstGeom prst="rect">
            <a:avLst/>
          </a:prstGeom>
          <a:noFill/>
        </p:spPr>
        <p:txBody>
          <a:bodyPr wrap="square">
            <a:spAutoFit/>
          </a:bodyPr>
          <a:lstStyle/>
          <a:p>
            <a:pPr algn="ctr"/>
            <a:r>
              <a:rPr sz="900" b="0" i="1">
                <a:solidFill>
                  <a:srgbClr val="BFBFBF"/>
                </a:solidFill>
                <a:latin typeface="Arial"/>
              </a:rPr>
              <a:t>Source: 2026 World Triathlon Cup Edmonton Athlete Guide v2 (Do North Events) — July 18-19, 2026</a:t>
            </a:r>
          </a:p>
        </p:txBody>
      </p:sp>
      <p:sp>
        <p:nvSpPr>
          <p:cNvPr id="10" name="Rectangle 9"/>
          <p:cNvSpPr/>
          <p:nvPr/>
        </p:nvSpPr>
        <p:spPr>
          <a:xfrm>
            <a:off x="5577840" y="1143000"/>
            <a:ext cx="6309360" cy="8229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577840" y="1252728"/>
            <a:ext cx="6309360" cy="365760"/>
          </a:xfrm>
          <a:prstGeom prst="rect">
            <a:avLst/>
          </a:prstGeom>
          <a:noFill/>
        </p:spPr>
        <p:txBody>
          <a:bodyPr wrap="square">
            <a:spAutoFit/>
          </a:bodyPr>
          <a:lstStyle/>
          <a:p>
            <a:pPr algn="ctr"/>
            <a:r>
              <a:rPr sz="2200" b="1" i="0">
                <a:solidFill>
                  <a:srgbClr val="FFFFFF"/>
                </a:solidFill>
                <a:latin typeface="Arial"/>
              </a:rPr>
              <a:t>750 m   •   single lap</a:t>
            </a:r>
          </a:p>
        </p:txBody>
      </p:sp>
      <p:sp>
        <p:nvSpPr>
          <p:cNvPr id="12" name="TextBox 11"/>
          <p:cNvSpPr txBox="1"/>
          <p:nvPr/>
        </p:nvSpPr>
        <p:spPr>
          <a:xfrm>
            <a:off x="5577840" y="1636776"/>
            <a:ext cx="6309360" cy="292608"/>
          </a:xfrm>
          <a:prstGeom prst="rect">
            <a:avLst/>
          </a:prstGeom>
          <a:noFill/>
        </p:spPr>
        <p:txBody>
          <a:bodyPr wrap="square">
            <a:spAutoFit/>
          </a:bodyPr>
          <a:lstStyle/>
          <a:p>
            <a:pPr algn="ctr"/>
            <a:r>
              <a:rPr sz="1100" b="0" i="1">
                <a:solidFill>
                  <a:srgbClr val="AABBDD"/>
                </a:solidFill>
                <a:latin typeface="Arial"/>
              </a:rPr>
              <a:t>Sheltered park lake — fresh water, calm conditions</a:t>
            </a:r>
          </a:p>
        </p:txBody>
      </p:sp>
      <p:sp>
        <p:nvSpPr>
          <p:cNvPr id="13" name="Rectangle 12"/>
          <p:cNvSpPr/>
          <p:nvPr/>
        </p:nvSpPr>
        <p:spPr>
          <a:xfrm>
            <a:off x="5623560" y="2103120"/>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669280" y="2139696"/>
            <a:ext cx="1920240" cy="201168"/>
          </a:xfrm>
          <a:prstGeom prst="rect">
            <a:avLst/>
          </a:prstGeom>
          <a:noFill/>
        </p:spPr>
        <p:txBody>
          <a:bodyPr wrap="square">
            <a:spAutoFit/>
          </a:bodyPr>
          <a:lstStyle/>
          <a:p>
            <a:pPr algn="ctr"/>
            <a:r>
              <a:rPr sz="900" b="1" i="0">
                <a:solidFill>
                  <a:srgbClr val="002060"/>
                </a:solidFill>
                <a:latin typeface="Arial"/>
              </a:rPr>
              <a:t>Distance</a:t>
            </a:r>
          </a:p>
        </p:txBody>
      </p:sp>
      <p:sp>
        <p:nvSpPr>
          <p:cNvPr id="15" name="TextBox 14"/>
          <p:cNvSpPr txBox="1"/>
          <p:nvPr/>
        </p:nvSpPr>
        <p:spPr>
          <a:xfrm>
            <a:off x="5669280" y="2340864"/>
            <a:ext cx="1920240" cy="347472"/>
          </a:xfrm>
          <a:prstGeom prst="rect">
            <a:avLst/>
          </a:prstGeom>
          <a:noFill/>
        </p:spPr>
        <p:txBody>
          <a:bodyPr wrap="square">
            <a:spAutoFit/>
          </a:bodyPr>
          <a:lstStyle/>
          <a:p>
            <a:pPr algn="ctr"/>
            <a:r>
              <a:rPr sz="1400" b="1" i="0">
                <a:solidFill>
                  <a:srgbClr val="262626"/>
                </a:solidFill>
                <a:latin typeface="Arial"/>
              </a:rPr>
              <a:t>750 m</a:t>
            </a:r>
          </a:p>
        </p:txBody>
      </p:sp>
      <p:sp>
        <p:nvSpPr>
          <p:cNvPr id="16" name="Rectangle 15"/>
          <p:cNvSpPr/>
          <p:nvPr/>
        </p:nvSpPr>
        <p:spPr>
          <a:xfrm>
            <a:off x="7726680" y="2103120"/>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772400" y="2139696"/>
            <a:ext cx="1920240" cy="201168"/>
          </a:xfrm>
          <a:prstGeom prst="rect">
            <a:avLst/>
          </a:prstGeom>
          <a:noFill/>
        </p:spPr>
        <p:txBody>
          <a:bodyPr wrap="square">
            <a:spAutoFit/>
          </a:bodyPr>
          <a:lstStyle/>
          <a:p>
            <a:pPr algn="ctr"/>
            <a:r>
              <a:rPr sz="900" b="1" i="0">
                <a:solidFill>
                  <a:srgbClr val="002060"/>
                </a:solidFill>
                <a:latin typeface="Arial"/>
              </a:rPr>
              <a:t>Layout</a:t>
            </a:r>
          </a:p>
        </p:txBody>
      </p:sp>
      <p:sp>
        <p:nvSpPr>
          <p:cNvPr id="18" name="TextBox 17"/>
          <p:cNvSpPr txBox="1"/>
          <p:nvPr/>
        </p:nvSpPr>
        <p:spPr>
          <a:xfrm>
            <a:off x="7772400" y="2340864"/>
            <a:ext cx="1920240" cy="347472"/>
          </a:xfrm>
          <a:prstGeom prst="rect">
            <a:avLst/>
          </a:prstGeom>
          <a:noFill/>
        </p:spPr>
        <p:txBody>
          <a:bodyPr wrap="square">
            <a:spAutoFit/>
          </a:bodyPr>
          <a:lstStyle/>
          <a:p>
            <a:pPr algn="ctr"/>
            <a:r>
              <a:rPr sz="1400" b="1" i="0">
                <a:solidFill>
                  <a:srgbClr val="262626"/>
                </a:solidFill>
                <a:latin typeface="Arial"/>
              </a:rPr>
              <a:t>Hawrelak Park Lake</a:t>
            </a:r>
          </a:p>
        </p:txBody>
      </p:sp>
      <p:sp>
        <p:nvSpPr>
          <p:cNvPr id="19" name="Rectangle 18"/>
          <p:cNvSpPr/>
          <p:nvPr/>
        </p:nvSpPr>
        <p:spPr>
          <a:xfrm>
            <a:off x="9829800" y="2103120"/>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875520" y="2139696"/>
            <a:ext cx="1920240" cy="201168"/>
          </a:xfrm>
          <a:prstGeom prst="rect">
            <a:avLst/>
          </a:prstGeom>
          <a:noFill/>
        </p:spPr>
        <p:txBody>
          <a:bodyPr wrap="square">
            <a:spAutoFit/>
          </a:bodyPr>
          <a:lstStyle/>
          <a:p>
            <a:pPr algn="ctr"/>
            <a:r>
              <a:rPr sz="900" b="1" i="0">
                <a:solidFill>
                  <a:srgbClr val="002060"/>
                </a:solidFill>
                <a:latin typeface="Arial"/>
              </a:rPr>
              <a:t>Start</a:t>
            </a:r>
          </a:p>
        </p:txBody>
      </p:sp>
      <p:sp>
        <p:nvSpPr>
          <p:cNvPr id="21" name="TextBox 20"/>
          <p:cNvSpPr txBox="1"/>
          <p:nvPr/>
        </p:nvSpPr>
        <p:spPr>
          <a:xfrm>
            <a:off x="9875520" y="2340864"/>
            <a:ext cx="1920240" cy="347472"/>
          </a:xfrm>
          <a:prstGeom prst="rect">
            <a:avLst/>
          </a:prstGeom>
          <a:noFill/>
        </p:spPr>
        <p:txBody>
          <a:bodyPr wrap="square">
            <a:spAutoFit/>
          </a:bodyPr>
          <a:lstStyle/>
          <a:p>
            <a:pPr algn="ctr"/>
            <a:r>
              <a:rPr sz="1400" b="1" i="0">
                <a:solidFill>
                  <a:srgbClr val="262626"/>
                </a:solidFill>
                <a:latin typeface="Arial"/>
              </a:rPr>
              <a:t>In-water start off the swim start platform</a:t>
            </a:r>
          </a:p>
        </p:txBody>
      </p:sp>
      <p:sp>
        <p:nvSpPr>
          <p:cNvPr id="22" name="Rectangle 21"/>
          <p:cNvSpPr/>
          <p:nvPr/>
        </p:nvSpPr>
        <p:spPr>
          <a:xfrm>
            <a:off x="5623560" y="2816352"/>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669280" y="2852928"/>
            <a:ext cx="1920240" cy="201168"/>
          </a:xfrm>
          <a:prstGeom prst="rect">
            <a:avLst/>
          </a:prstGeom>
          <a:noFill/>
        </p:spPr>
        <p:txBody>
          <a:bodyPr wrap="square">
            <a:spAutoFit/>
          </a:bodyPr>
          <a:lstStyle/>
          <a:p>
            <a:pPr algn="ctr"/>
            <a:r>
              <a:rPr sz="900" b="1" i="0">
                <a:solidFill>
                  <a:srgbClr val="002060"/>
                </a:solidFill>
                <a:latin typeface="Arial"/>
              </a:rPr>
              <a:t>Water Temp</a:t>
            </a:r>
          </a:p>
        </p:txBody>
      </p:sp>
      <p:sp>
        <p:nvSpPr>
          <p:cNvPr id="24" name="TextBox 23"/>
          <p:cNvSpPr txBox="1"/>
          <p:nvPr/>
        </p:nvSpPr>
        <p:spPr>
          <a:xfrm>
            <a:off x="5669280" y="3054096"/>
            <a:ext cx="1920240" cy="347472"/>
          </a:xfrm>
          <a:prstGeom prst="rect">
            <a:avLst/>
          </a:prstGeom>
          <a:noFill/>
        </p:spPr>
        <p:txBody>
          <a:bodyPr wrap="square">
            <a:spAutoFit/>
          </a:bodyPr>
          <a:lstStyle/>
          <a:p>
            <a:pPr algn="ctr"/>
            <a:r>
              <a:rPr sz="1400" b="1" i="0">
                <a:solidFill>
                  <a:srgbClr val="262626"/>
                </a:solidFill>
                <a:latin typeface="Arial"/>
              </a:rPr>
              <a:t>19.0 °C</a:t>
            </a:r>
          </a:p>
        </p:txBody>
      </p:sp>
      <p:sp>
        <p:nvSpPr>
          <p:cNvPr id="25" name="Rectangle 24"/>
          <p:cNvSpPr/>
          <p:nvPr/>
        </p:nvSpPr>
        <p:spPr>
          <a:xfrm>
            <a:off x="7726680" y="2816352"/>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772400" y="2852928"/>
            <a:ext cx="1920240" cy="201168"/>
          </a:xfrm>
          <a:prstGeom prst="rect">
            <a:avLst/>
          </a:prstGeom>
          <a:noFill/>
        </p:spPr>
        <p:txBody>
          <a:bodyPr wrap="square">
            <a:spAutoFit/>
          </a:bodyPr>
          <a:lstStyle/>
          <a:p>
            <a:pPr algn="ctr"/>
            <a:r>
              <a:rPr sz="900" b="1" i="0">
                <a:solidFill>
                  <a:srgbClr val="002060"/>
                </a:solidFill>
                <a:latin typeface="Arial"/>
              </a:rPr>
              <a:t>Wetsuit</a:t>
            </a:r>
          </a:p>
        </p:txBody>
      </p:sp>
      <p:sp>
        <p:nvSpPr>
          <p:cNvPr id="27" name="TextBox 26"/>
          <p:cNvSpPr txBox="1"/>
          <p:nvPr/>
        </p:nvSpPr>
        <p:spPr>
          <a:xfrm>
            <a:off x="7772400" y="3054096"/>
            <a:ext cx="1920240" cy="347472"/>
          </a:xfrm>
          <a:prstGeom prst="rect">
            <a:avLst/>
          </a:prstGeom>
          <a:noFill/>
        </p:spPr>
        <p:txBody>
          <a:bodyPr wrap="square">
            <a:spAutoFit/>
          </a:bodyPr>
          <a:lstStyle/>
          <a:p>
            <a:pPr algn="ctr"/>
            <a:r>
              <a:rPr sz="1400" b="1" i="0">
                <a:solidFill>
                  <a:srgbClr val="262626"/>
                </a:solidFill>
                <a:latin typeface="Arial"/>
              </a:rPr>
              <a:t>Wetsuit optional (19 °C)</a:t>
            </a:r>
          </a:p>
        </p:txBody>
      </p:sp>
      <p:sp>
        <p:nvSpPr>
          <p:cNvPr id="28" name="Rectangle 27"/>
          <p:cNvSpPr/>
          <p:nvPr/>
        </p:nvSpPr>
        <p:spPr>
          <a:xfrm>
            <a:off x="9829800" y="2816352"/>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875520" y="2852928"/>
            <a:ext cx="1920240" cy="201168"/>
          </a:xfrm>
          <a:prstGeom prst="rect">
            <a:avLst/>
          </a:prstGeom>
          <a:noFill/>
        </p:spPr>
        <p:txBody>
          <a:bodyPr wrap="square">
            <a:spAutoFit/>
          </a:bodyPr>
          <a:lstStyle/>
          <a:p>
            <a:pPr algn="ctr"/>
            <a:r>
              <a:rPr sz="900" b="1" i="0">
                <a:solidFill>
                  <a:srgbClr val="002060"/>
                </a:solidFill>
                <a:latin typeface="Arial"/>
              </a:rPr>
              <a:t>Lap Count</a:t>
            </a:r>
          </a:p>
        </p:txBody>
      </p:sp>
      <p:sp>
        <p:nvSpPr>
          <p:cNvPr id="30" name="TextBox 29"/>
          <p:cNvSpPr txBox="1"/>
          <p:nvPr/>
        </p:nvSpPr>
        <p:spPr>
          <a:xfrm>
            <a:off x="9875520" y="3054096"/>
            <a:ext cx="1920240" cy="347472"/>
          </a:xfrm>
          <a:prstGeom prst="rect">
            <a:avLst/>
          </a:prstGeom>
          <a:noFill/>
        </p:spPr>
        <p:txBody>
          <a:bodyPr wrap="square">
            <a:spAutoFit/>
          </a:bodyPr>
          <a:lstStyle/>
          <a:p>
            <a:pPr algn="ctr"/>
            <a:r>
              <a:rPr sz="1400" b="1" i="0">
                <a:solidFill>
                  <a:srgbClr val="262626"/>
                </a:solidFill>
                <a:latin typeface="Arial"/>
              </a:rPr>
              <a:t>1</a:t>
            </a:r>
          </a:p>
        </p:txBody>
      </p:sp>
      <p:sp>
        <p:nvSpPr>
          <p:cNvPr id="31" name="Rectangle 30"/>
          <p:cNvSpPr/>
          <p:nvPr/>
        </p:nvSpPr>
        <p:spPr>
          <a:xfrm>
            <a:off x="5577840" y="3611880"/>
            <a:ext cx="6309360" cy="2926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669280" y="3639312"/>
            <a:ext cx="6126480" cy="237744"/>
          </a:xfrm>
          <a:prstGeom prst="rect">
            <a:avLst/>
          </a:prstGeom>
          <a:noFill/>
        </p:spPr>
        <p:txBody>
          <a:bodyPr wrap="square">
            <a:spAutoFit/>
          </a:bodyPr>
          <a:lstStyle/>
          <a:p>
            <a:pPr algn="l"/>
            <a:r>
              <a:rPr sz="1200" b="1" i="0">
                <a:solidFill>
                  <a:srgbClr val="FFFFFF"/>
                </a:solidFill>
                <a:latin typeface="Arial"/>
              </a:rPr>
              <a:t>Tactical Notes</a:t>
            </a:r>
          </a:p>
        </p:txBody>
      </p:sp>
      <p:sp>
        <p:nvSpPr>
          <p:cNvPr id="33" name="TextBox 32"/>
          <p:cNvSpPr txBox="1"/>
          <p:nvPr/>
        </p:nvSpPr>
        <p:spPr>
          <a:xfrm>
            <a:off x="5669280" y="3977640"/>
            <a:ext cx="6126480" cy="310896"/>
          </a:xfrm>
          <a:prstGeom prst="rect">
            <a:avLst/>
          </a:prstGeom>
          <a:noFill/>
        </p:spPr>
        <p:txBody>
          <a:bodyPr wrap="square">
            <a:spAutoFit/>
          </a:bodyPr>
          <a:lstStyle/>
          <a:p>
            <a:pPr algn="l"/>
            <a:r>
              <a:rPr sz="1050" b="0" i="0">
                <a:solidFill>
                  <a:srgbClr val="262626"/>
                </a:solidFill>
                <a:latin typeface="Arial"/>
              </a:rPr>
              <a:t>•  Single 750 m clockwise loop on Hawrelak Park's lake — calm, sheltered, no current or chop</a:t>
            </a:r>
          </a:p>
        </p:txBody>
      </p:sp>
      <p:sp>
        <p:nvSpPr>
          <p:cNvPr id="34" name="TextBox 33"/>
          <p:cNvSpPr txBox="1"/>
          <p:nvPr/>
        </p:nvSpPr>
        <p:spPr>
          <a:xfrm>
            <a:off x="5669280" y="4270248"/>
            <a:ext cx="6126480" cy="310896"/>
          </a:xfrm>
          <a:prstGeom prst="rect">
            <a:avLst/>
          </a:prstGeom>
          <a:noFill/>
        </p:spPr>
        <p:txBody>
          <a:bodyPr wrap="square">
            <a:spAutoFit/>
          </a:bodyPr>
          <a:lstStyle/>
          <a:p>
            <a:pPr algn="l"/>
            <a:r>
              <a:rPr sz="1050" b="0" i="0">
                <a:solidFill>
                  <a:srgbClr val="262626"/>
                </a:solidFill>
                <a:latin typeface="Arial"/>
              </a:rPr>
              <a:t>•  First (yellow) buoy passed on the left shoulder at 200 m; all subsequent orange buoys passed on the right shoulder</a:t>
            </a:r>
          </a:p>
        </p:txBody>
      </p:sp>
      <p:sp>
        <p:nvSpPr>
          <p:cNvPr id="35" name="TextBox 34"/>
          <p:cNvSpPr txBox="1"/>
          <p:nvPr/>
        </p:nvSpPr>
        <p:spPr>
          <a:xfrm>
            <a:off x="5669280" y="4562856"/>
            <a:ext cx="6126480" cy="310896"/>
          </a:xfrm>
          <a:prstGeom prst="rect">
            <a:avLst/>
          </a:prstGeom>
          <a:noFill/>
        </p:spPr>
        <p:txBody>
          <a:bodyPr wrap="square">
            <a:spAutoFit/>
          </a:bodyPr>
          <a:lstStyle/>
          <a:p>
            <a:pPr algn="l"/>
            <a:r>
              <a:rPr sz="1050" b="0" i="0">
                <a:solidFill>
                  <a:srgbClr val="262626"/>
                </a:solidFill>
                <a:latin typeface="Arial"/>
              </a:rPr>
              <a:t>•  Run to T1 is 220 m from the swim exit — longer transition run than most sprint venues</a:t>
            </a:r>
          </a:p>
        </p:txBody>
      </p:sp>
      <p:sp>
        <p:nvSpPr>
          <p:cNvPr id="36" name="TextBox 35"/>
          <p:cNvSpPr txBox="1"/>
          <p:nvPr/>
        </p:nvSpPr>
        <p:spPr>
          <a:xfrm>
            <a:off x="5669280" y="4855464"/>
            <a:ext cx="6126480" cy="310896"/>
          </a:xfrm>
          <a:prstGeom prst="rect">
            <a:avLst/>
          </a:prstGeom>
          <a:noFill/>
        </p:spPr>
        <p:txBody>
          <a:bodyPr wrap="square">
            <a:spAutoFit/>
          </a:bodyPr>
          <a:lstStyle/>
          <a:p>
            <a:pPr algn="l"/>
            <a:r>
              <a:rPr sz="1050" b="0" i="0">
                <a:solidFill>
                  <a:srgbClr val="262626"/>
                </a:solidFill>
                <a:latin typeface="Arial"/>
              </a:rPr>
              <a:t>•  Swim familiarization Friday July 17, 14:00-15:00 only — no other in-water access permitted for safety</a:t>
            </a:r>
          </a:p>
        </p:txBody>
      </p:sp>
      <p:sp>
        <p:nvSpPr>
          <p:cNvPr id="37" name="TextBox 36"/>
          <p:cNvSpPr txBox="1"/>
          <p:nvPr/>
        </p:nvSpPr>
        <p:spPr>
          <a:xfrm>
            <a:off x="5669280" y="5148072"/>
            <a:ext cx="6126480" cy="310896"/>
          </a:xfrm>
          <a:prstGeom prst="rect">
            <a:avLst/>
          </a:prstGeom>
          <a:noFill/>
        </p:spPr>
        <p:txBody>
          <a:bodyPr wrap="square">
            <a:spAutoFit/>
          </a:bodyPr>
          <a:lstStyle/>
          <a:p>
            <a:pPr algn="l"/>
            <a:r>
              <a:rPr sz="1050" b="0" i="0">
                <a:solidFill>
                  <a:srgbClr val="262626"/>
                </a:solidFill>
                <a:latin typeface="Arial"/>
              </a:rPr>
              <a:t>•  Elite Men warm-up 13:00-13:45, Elite Women warm-up 15:00-15:45 on race day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Bike Course Profile</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Edmonton</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edmonton_bike_course.png"/>
          <p:cNvPicPr>
            <a:picLocks noChangeAspect="1"/>
          </p:cNvPicPr>
          <p:nvPr/>
        </p:nvPicPr>
        <p:blipFill>
          <a:blip r:embed="rId3"/>
          <a:stretch>
            <a:fillRect/>
          </a:stretch>
        </p:blipFill>
        <p:spPr>
          <a:xfrm>
            <a:off x="274320" y="1143000"/>
            <a:ext cx="5120640" cy="3291840"/>
          </a:xfrm>
          <a:prstGeom prst="rect">
            <a:avLst/>
          </a:prstGeom>
        </p:spPr>
      </p:pic>
      <p:sp>
        <p:nvSpPr>
          <p:cNvPr id="9" name="TextBox 8"/>
          <p:cNvSpPr txBox="1"/>
          <p:nvPr/>
        </p:nvSpPr>
        <p:spPr>
          <a:xfrm>
            <a:off x="274320" y="4480560"/>
            <a:ext cx="5120640" cy="228600"/>
          </a:xfrm>
          <a:prstGeom prst="rect">
            <a:avLst/>
          </a:prstGeom>
          <a:noFill/>
        </p:spPr>
        <p:txBody>
          <a:bodyPr wrap="square">
            <a:spAutoFit/>
          </a:bodyPr>
          <a:lstStyle/>
          <a:p>
            <a:pPr algn="ctr"/>
            <a:r>
              <a:rPr sz="900" b="0" i="1">
                <a:solidFill>
                  <a:srgbClr val="BFBFBF"/>
                </a:solidFill>
                <a:latin typeface="Arial"/>
              </a:rPr>
              <a:t>Source: 2026 World Triathlon Cup Edmonton Athlete Guide v2 (Do North Events) — July 18-19, 2026</a:t>
            </a:r>
          </a:p>
        </p:txBody>
      </p:sp>
      <p:sp>
        <p:nvSpPr>
          <p:cNvPr id="10" name="Rectangle 9"/>
          <p:cNvSpPr/>
          <p:nvPr/>
        </p:nvSpPr>
        <p:spPr>
          <a:xfrm>
            <a:off x="5577840" y="1143000"/>
            <a:ext cx="6309360" cy="8229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577840" y="1252728"/>
            <a:ext cx="6309360" cy="365760"/>
          </a:xfrm>
          <a:prstGeom prst="rect">
            <a:avLst/>
          </a:prstGeom>
          <a:noFill/>
        </p:spPr>
        <p:txBody>
          <a:bodyPr wrap="square">
            <a:spAutoFit/>
          </a:bodyPr>
          <a:lstStyle/>
          <a:p>
            <a:pPr algn="ctr"/>
            <a:r>
              <a:rPr sz="2200" b="1" i="0">
                <a:solidFill>
                  <a:srgbClr val="FFFFFF"/>
                </a:solidFill>
                <a:latin typeface="Arial"/>
              </a:rPr>
              <a:t>20.4 km   •   3 × 6.8 km loops</a:t>
            </a:r>
          </a:p>
        </p:txBody>
      </p:sp>
      <p:sp>
        <p:nvSpPr>
          <p:cNvPr id="12" name="TextBox 11"/>
          <p:cNvSpPr txBox="1"/>
          <p:nvPr/>
        </p:nvSpPr>
        <p:spPr>
          <a:xfrm>
            <a:off x="5577840" y="1636776"/>
            <a:ext cx="6309360" cy="292608"/>
          </a:xfrm>
          <a:prstGeom prst="rect">
            <a:avLst/>
          </a:prstGeom>
          <a:noFill/>
        </p:spPr>
        <p:txBody>
          <a:bodyPr wrap="square">
            <a:spAutoFit/>
          </a:bodyPr>
          <a:lstStyle/>
          <a:p>
            <a:pPr algn="ctr"/>
            <a:r>
              <a:rPr sz="1100" b="0" i="1">
                <a:solidFill>
                  <a:srgbClr val="AABBDD"/>
                </a:solidFill>
                <a:latin typeface="Arial"/>
              </a:rPr>
              <a:t>Closed road circuit — Groat Rd, Saskatchewan Dr NW, William Hawrelak Park Rd</a:t>
            </a:r>
          </a:p>
        </p:txBody>
      </p:sp>
      <p:sp>
        <p:nvSpPr>
          <p:cNvPr id="13" name="Rectangle 12"/>
          <p:cNvSpPr/>
          <p:nvPr/>
        </p:nvSpPr>
        <p:spPr>
          <a:xfrm>
            <a:off x="5623560" y="2103120"/>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669280" y="2139696"/>
            <a:ext cx="1920240" cy="201168"/>
          </a:xfrm>
          <a:prstGeom prst="rect">
            <a:avLst/>
          </a:prstGeom>
          <a:noFill/>
        </p:spPr>
        <p:txBody>
          <a:bodyPr wrap="square">
            <a:spAutoFit/>
          </a:bodyPr>
          <a:lstStyle/>
          <a:p>
            <a:pPr algn="ctr"/>
            <a:r>
              <a:rPr sz="900" b="1" i="0">
                <a:solidFill>
                  <a:srgbClr val="002060"/>
                </a:solidFill>
                <a:latin typeface="Arial"/>
              </a:rPr>
              <a:t>Elevation / Lap</a:t>
            </a:r>
          </a:p>
        </p:txBody>
      </p:sp>
      <p:sp>
        <p:nvSpPr>
          <p:cNvPr id="15" name="TextBox 14"/>
          <p:cNvSpPr txBox="1"/>
          <p:nvPr/>
        </p:nvSpPr>
        <p:spPr>
          <a:xfrm>
            <a:off x="5669280" y="2340864"/>
            <a:ext cx="1920240" cy="347472"/>
          </a:xfrm>
          <a:prstGeom prst="rect">
            <a:avLst/>
          </a:prstGeom>
          <a:noFill/>
        </p:spPr>
        <p:txBody>
          <a:bodyPr wrap="square">
            <a:spAutoFit/>
          </a:bodyPr>
          <a:lstStyle/>
          <a:p>
            <a:pPr algn="ctr"/>
            <a:r>
              <a:rPr sz="1500" b="1" i="0">
                <a:solidFill>
                  <a:srgbClr val="262626"/>
                </a:solidFill>
                <a:latin typeface="Arial"/>
              </a:rPr>
              <a:t>+85.0 m / 87.0 m</a:t>
            </a:r>
          </a:p>
        </p:txBody>
      </p:sp>
      <p:sp>
        <p:nvSpPr>
          <p:cNvPr id="16" name="Rectangle 15"/>
          <p:cNvSpPr/>
          <p:nvPr/>
        </p:nvSpPr>
        <p:spPr>
          <a:xfrm>
            <a:off x="7726680" y="2103120"/>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772400" y="2139696"/>
            <a:ext cx="1920240" cy="201168"/>
          </a:xfrm>
          <a:prstGeom prst="rect">
            <a:avLst/>
          </a:prstGeom>
          <a:noFill/>
        </p:spPr>
        <p:txBody>
          <a:bodyPr wrap="square">
            <a:spAutoFit/>
          </a:bodyPr>
          <a:lstStyle/>
          <a:p>
            <a:pPr algn="ctr"/>
            <a:r>
              <a:rPr sz="900" b="1" i="0">
                <a:solidFill>
                  <a:srgbClr val="002060"/>
                </a:solidFill>
                <a:latin typeface="Arial"/>
              </a:rPr>
              <a:t>Total Climb</a:t>
            </a:r>
          </a:p>
        </p:txBody>
      </p:sp>
      <p:sp>
        <p:nvSpPr>
          <p:cNvPr id="18" name="TextBox 17"/>
          <p:cNvSpPr txBox="1"/>
          <p:nvPr/>
        </p:nvSpPr>
        <p:spPr>
          <a:xfrm>
            <a:off x="7772400" y="2340864"/>
            <a:ext cx="1920240" cy="347472"/>
          </a:xfrm>
          <a:prstGeom prst="rect">
            <a:avLst/>
          </a:prstGeom>
          <a:noFill/>
        </p:spPr>
        <p:txBody>
          <a:bodyPr wrap="square">
            <a:spAutoFit/>
          </a:bodyPr>
          <a:lstStyle/>
          <a:p>
            <a:pPr algn="ctr"/>
            <a:r>
              <a:rPr sz="1500" b="1" i="0">
                <a:solidFill>
                  <a:srgbClr val="262626"/>
                </a:solidFill>
                <a:latin typeface="Arial"/>
              </a:rPr>
              <a:t>~255 m</a:t>
            </a:r>
          </a:p>
        </p:txBody>
      </p:sp>
      <p:sp>
        <p:nvSpPr>
          <p:cNvPr id="19" name="Rectangle 18"/>
          <p:cNvSpPr/>
          <p:nvPr/>
        </p:nvSpPr>
        <p:spPr>
          <a:xfrm>
            <a:off x="9829800" y="2103120"/>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875520" y="2139696"/>
            <a:ext cx="1920240" cy="201168"/>
          </a:xfrm>
          <a:prstGeom prst="rect">
            <a:avLst/>
          </a:prstGeom>
          <a:noFill/>
        </p:spPr>
        <p:txBody>
          <a:bodyPr wrap="square">
            <a:spAutoFit/>
          </a:bodyPr>
          <a:lstStyle/>
          <a:p>
            <a:pPr algn="ctr"/>
            <a:r>
              <a:rPr sz="900" b="1" i="0">
                <a:solidFill>
                  <a:srgbClr val="002060"/>
                </a:solidFill>
                <a:latin typeface="Arial"/>
              </a:rPr>
              <a:t>Avg Grade</a:t>
            </a:r>
          </a:p>
        </p:txBody>
      </p:sp>
      <p:sp>
        <p:nvSpPr>
          <p:cNvPr id="21" name="TextBox 20"/>
          <p:cNvSpPr txBox="1"/>
          <p:nvPr/>
        </p:nvSpPr>
        <p:spPr>
          <a:xfrm>
            <a:off x="9875520" y="2340864"/>
            <a:ext cx="1920240" cy="347472"/>
          </a:xfrm>
          <a:prstGeom prst="rect">
            <a:avLst/>
          </a:prstGeom>
          <a:noFill/>
        </p:spPr>
        <p:txBody>
          <a:bodyPr wrap="square">
            <a:spAutoFit/>
          </a:bodyPr>
          <a:lstStyle/>
          <a:p>
            <a:pPr algn="ctr"/>
            <a:r>
              <a:rPr sz="1500" b="1" i="0">
                <a:solidFill>
                  <a:srgbClr val="262626"/>
                </a:solidFill>
                <a:latin typeface="Arial"/>
              </a:rPr>
              <a:t>—</a:t>
            </a:r>
          </a:p>
        </p:txBody>
      </p:sp>
      <p:sp>
        <p:nvSpPr>
          <p:cNvPr id="22" name="Rectangle 21"/>
          <p:cNvSpPr/>
          <p:nvPr/>
        </p:nvSpPr>
        <p:spPr>
          <a:xfrm>
            <a:off x="5623560" y="2816352"/>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669280" y="2852928"/>
            <a:ext cx="1920240" cy="201168"/>
          </a:xfrm>
          <a:prstGeom prst="rect">
            <a:avLst/>
          </a:prstGeom>
          <a:noFill/>
        </p:spPr>
        <p:txBody>
          <a:bodyPr wrap="square">
            <a:spAutoFit/>
          </a:bodyPr>
          <a:lstStyle/>
          <a:p>
            <a:pPr algn="ctr"/>
            <a:r>
              <a:rPr sz="900" b="1" i="0">
                <a:solidFill>
                  <a:srgbClr val="002060"/>
                </a:solidFill>
                <a:latin typeface="Arial"/>
              </a:rPr>
              <a:t>Max Climb Grade</a:t>
            </a:r>
          </a:p>
        </p:txBody>
      </p:sp>
      <p:sp>
        <p:nvSpPr>
          <p:cNvPr id="24" name="TextBox 23"/>
          <p:cNvSpPr txBox="1"/>
          <p:nvPr/>
        </p:nvSpPr>
        <p:spPr>
          <a:xfrm>
            <a:off x="5669280" y="3054096"/>
            <a:ext cx="1920240" cy="347472"/>
          </a:xfrm>
          <a:prstGeom prst="rect">
            <a:avLst/>
          </a:prstGeom>
          <a:noFill/>
        </p:spPr>
        <p:txBody>
          <a:bodyPr wrap="square">
            <a:spAutoFit/>
          </a:bodyPr>
          <a:lstStyle/>
          <a:p>
            <a:pPr algn="ctr"/>
            <a:r>
              <a:rPr sz="1500" b="1" i="0">
                <a:solidFill>
                  <a:srgbClr val="262626"/>
                </a:solidFill>
                <a:latin typeface="Arial"/>
              </a:rPr>
              <a:t>—</a:t>
            </a:r>
          </a:p>
        </p:txBody>
      </p:sp>
      <p:sp>
        <p:nvSpPr>
          <p:cNvPr id="25" name="Rectangle 24"/>
          <p:cNvSpPr/>
          <p:nvPr/>
        </p:nvSpPr>
        <p:spPr>
          <a:xfrm>
            <a:off x="7726680" y="2816352"/>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772400" y="2852928"/>
            <a:ext cx="1920240" cy="201168"/>
          </a:xfrm>
          <a:prstGeom prst="rect">
            <a:avLst/>
          </a:prstGeom>
          <a:noFill/>
        </p:spPr>
        <p:txBody>
          <a:bodyPr wrap="square">
            <a:spAutoFit/>
          </a:bodyPr>
          <a:lstStyle/>
          <a:p>
            <a:pPr algn="ctr"/>
            <a:r>
              <a:rPr sz="900" b="1" i="0">
                <a:solidFill>
                  <a:srgbClr val="002060"/>
                </a:solidFill>
                <a:latin typeface="Arial"/>
              </a:rPr>
              <a:t>Wind</a:t>
            </a:r>
          </a:p>
        </p:txBody>
      </p:sp>
      <p:sp>
        <p:nvSpPr>
          <p:cNvPr id="27" name="TextBox 26"/>
          <p:cNvSpPr txBox="1"/>
          <p:nvPr/>
        </p:nvSpPr>
        <p:spPr>
          <a:xfrm>
            <a:off x="7772400" y="3054096"/>
            <a:ext cx="1920240" cy="347472"/>
          </a:xfrm>
          <a:prstGeom prst="rect">
            <a:avLst/>
          </a:prstGeom>
          <a:noFill/>
        </p:spPr>
        <p:txBody>
          <a:bodyPr wrap="square">
            <a:spAutoFit/>
          </a:bodyPr>
          <a:lstStyle/>
          <a:p>
            <a:pPr algn="ctr"/>
            <a:r>
              <a:rPr sz="1500" b="1" i="0">
                <a:solidFill>
                  <a:srgbClr val="262626"/>
                </a:solidFill>
                <a:latin typeface="Arial"/>
              </a:rPr>
              <a:t>River valley setting — generally sheltered, variable on the Saskatchewan Dr exposure</a:t>
            </a:r>
          </a:p>
        </p:txBody>
      </p:sp>
      <p:sp>
        <p:nvSpPr>
          <p:cNvPr id="28" name="Rectangle 27"/>
          <p:cNvSpPr/>
          <p:nvPr/>
        </p:nvSpPr>
        <p:spPr>
          <a:xfrm>
            <a:off x="9829800" y="2816352"/>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875520" y="2852928"/>
            <a:ext cx="1920240" cy="201168"/>
          </a:xfrm>
          <a:prstGeom prst="rect">
            <a:avLst/>
          </a:prstGeom>
          <a:noFill/>
        </p:spPr>
        <p:txBody>
          <a:bodyPr wrap="square">
            <a:spAutoFit/>
          </a:bodyPr>
          <a:lstStyle/>
          <a:p>
            <a:pPr algn="ctr"/>
            <a:r>
              <a:rPr sz="900" b="1" i="0">
                <a:solidFill>
                  <a:srgbClr val="002060"/>
                </a:solidFill>
                <a:latin typeface="Arial"/>
              </a:rPr>
              <a:t>Loops</a:t>
            </a:r>
          </a:p>
        </p:txBody>
      </p:sp>
      <p:sp>
        <p:nvSpPr>
          <p:cNvPr id="30" name="TextBox 29"/>
          <p:cNvSpPr txBox="1"/>
          <p:nvPr/>
        </p:nvSpPr>
        <p:spPr>
          <a:xfrm>
            <a:off x="9875520" y="3054096"/>
            <a:ext cx="1920240" cy="347472"/>
          </a:xfrm>
          <a:prstGeom prst="rect">
            <a:avLst/>
          </a:prstGeom>
          <a:noFill/>
        </p:spPr>
        <p:txBody>
          <a:bodyPr wrap="square">
            <a:spAutoFit/>
          </a:bodyPr>
          <a:lstStyle/>
          <a:p>
            <a:pPr algn="ctr"/>
            <a:r>
              <a:rPr sz="1500" b="1" i="0">
                <a:solidFill>
                  <a:srgbClr val="262626"/>
                </a:solidFill>
                <a:latin typeface="Arial"/>
              </a:rPr>
              <a:t>3 × 6.8 km</a:t>
            </a:r>
          </a:p>
        </p:txBody>
      </p:sp>
      <p:sp>
        <p:nvSpPr>
          <p:cNvPr id="31" name="Rectangle 30"/>
          <p:cNvSpPr/>
          <p:nvPr/>
        </p:nvSpPr>
        <p:spPr>
          <a:xfrm>
            <a:off x="5577840" y="3703320"/>
            <a:ext cx="6309360" cy="2926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669280" y="3730752"/>
            <a:ext cx="6126480" cy="237744"/>
          </a:xfrm>
          <a:prstGeom prst="rect">
            <a:avLst/>
          </a:prstGeom>
          <a:noFill/>
        </p:spPr>
        <p:txBody>
          <a:bodyPr wrap="square">
            <a:spAutoFit/>
          </a:bodyPr>
          <a:lstStyle/>
          <a:p>
            <a:pPr algn="l"/>
            <a:r>
              <a:rPr sz="1200" b="1" i="0">
                <a:solidFill>
                  <a:srgbClr val="FFFFFF"/>
                </a:solidFill>
                <a:latin typeface="Arial"/>
              </a:rPr>
              <a:t>Tactical Implications</a:t>
            </a:r>
          </a:p>
        </p:txBody>
      </p:sp>
      <p:sp>
        <p:nvSpPr>
          <p:cNvPr id="33" name="TextBox 32"/>
          <p:cNvSpPr txBox="1"/>
          <p:nvPr/>
        </p:nvSpPr>
        <p:spPr>
          <a:xfrm>
            <a:off x="5669280" y="4069080"/>
            <a:ext cx="6126480" cy="310896"/>
          </a:xfrm>
          <a:prstGeom prst="rect">
            <a:avLst/>
          </a:prstGeom>
          <a:noFill/>
        </p:spPr>
        <p:txBody>
          <a:bodyPr wrap="square">
            <a:spAutoFit/>
          </a:bodyPr>
          <a:lstStyle/>
          <a:p>
            <a:pPr algn="l"/>
            <a:r>
              <a:rPr sz="1050" b="0" i="0">
                <a:solidFill>
                  <a:srgbClr val="262626"/>
                </a:solidFill>
                <a:latin typeface="Arial"/>
              </a:rPr>
              <a:t>•  3 × 6.8 km laps (20.4 km total) out of Hawrelak Park up Groat Rd and along Saskatchewan Dr NW</a:t>
            </a:r>
          </a:p>
        </p:txBody>
      </p:sp>
      <p:sp>
        <p:nvSpPr>
          <p:cNvPr id="34" name="TextBox 33"/>
          <p:cNvSpPr txBox="1"/>
          <p:nvPr/>
        </p:nvSpPr>
        <p:spPr>
          <a:xfrm>
            <a:off x="5669280" y="4361688"/>
            <a:ext cx="6126480" cy="310896"/>
          </a:xfrm>
          <a:prstGeom prst="rect">
            <a:avLst/>
          </a:prstGeom>
          <a:noFill/>
        </p:spPr>
        <p:txBody>
          <a:bodyPr wrap="square">
            <a:spAutoFit/>
          </a:bodyPr>
          <a:lstStyle/>
          <a:p>
            <a:pPr algn="l"/>
            <a:r>
              <a:rPr sz="1050" b="0" i="0">
                <a:solidFill>
                  <a:srgbClr val="262626"/>
                </a:solidFill>
                <a:latin typeface="Arial"/>
              </a:rPr>
              <a:t>•  One sustained climb/descent per lap out of the river valley (+85 m / -87 m per lap per the athlete guide profile) — first true elevation test on this venue since 2021</a:t>
            </a:r>
          </a:p>
        </p:txBody>
      </p:sp>
      <p:sp>
        <p:nvSpPr>
          <p:cNvPr id="35" name="TextBox 34"/>
          <p:cNvSpPr txBox="1"/>
          <p:nvPr/>
        </p:nvSpPr>
        <p:spPr>
          <a:xfrm>
            <a:off x="5669280" y="4654296"/>
            <a:ext cx="6126480" cy="310896"/>
          </a:xfrm>
          <a:prstGeom prst="rect">
            <a:avLst/>
          </a:prstGeom>
          <a:noFill/>
        </p:spPr>
        <p:txBody>
          <a:bodyPr wrap="square">
            <a:spAutoFit/>
          </a:bodyPr>
          <a:lstStyle/>
          <a:p>
            <a:pPr algn="l"/>
            <a:r>
              <a:rPr sz="1050" b="0" i="0">
                <a:solidFill>
                  <a:srgbClr val="262626"/>
                </a:solidFill>
                <a:latin typeface="Arial"/>
              </a:rPr>
              <a:t>•  Course map lists overall elevation gain as 76.5 m — legs will feel the repeated valley climb across all 3 laps</a:t>
            </a:r>
          </a:p>
        </p:txBody>
      </p:sp>
      <p:sp>
        <p:nvSpPr>
          <p:cNvPr id="36" name="TextBox 35"/>
          <p:cNvSpPr txBox="1"/>
          <p:nvPr/>
        </p:nvSpPr>
        <p:spPr>
          <a:xfrm>
            <a:off x="5669280" y="4946904"/>
            <a:ext cx="6126480" cy="310896"/>
          </a:xfrm>
          <a:prstGeom prst="rect">
            <a:avLst/>
          </a:prstGeom>
          <a:noFill/>
        </p:spPr>
        <p:txBody>
          <a:bodyPr wrap="square">
            <a:spAutoFit/>
          </a:bodyPr>
          <a:lstStyle/>
          <a:p>
            <a:pPr algn="l"/>
            <a:r>
              <a:rPr sz="1050" b="0" i="0">
                <a:solidFill>
                  <a:srgbClr val="262626"/>
                </a:solidFill>
                <a:latin typeface="Arial"/>
              </a:rPr>
              <a:t>•  Team Wheel station just outside transition (both-side access); Neutral Wheel station at the loop's south end on Saskatchewan Dr, before the right turn back toward the park</a:t>
            </a:r>
          </a:p>
        </p:txBody>
      </p:sp>
      <p:sp>
        <p:nvSpPr>
          <p:cNvPr id="37" name="TextBox 36"/>
          <p:cNvSpPr txBox="1"/>
          <p:nvPr/>
        </p:nvSpPr>
        <p:spPr>
          <a:xfrm>
            <a:off x="5669280" y="5239512"/>
            <a:ext cx="6126480" cy="310896"/>
          </a:xfrm>
          <a:prstGeom prst="rect">
            <a:avLst/>
          </a:prstGeom>
          <a:noFill/>
        </p:spPr>
        <p:txBody>
          <a:bodyPr wrap="square">
            <a:spAutoFit/>
          </a:bodyPr>
          <a:lstStyle/>
          <a:p>
            <a:pPr algn="l"/>
            <a:r>
              <a:rPr sz="1050" b="0" i="0">
                <a:solidFill>
                  <a:srgbClr val="262626"/>
                </a:solidFill>
                <a:latin typeface="Arial"/>
              </a:rPr>
              <a:t>•  Neutral wheels: 700c front/rear, 11/12-speed, 140/160mm rotor options, 28mm tires at 65/70 psi (front/rear)</a:t>
            </a:r>
          </a:p>
        </p:txBody>
      </p:sp>
      <p:sp>
        <p:nvSpPr>
          <p:cNvPr id="38" name="TextBox 37"/>
          <p:cNvSpPr txBox="1"/>
          <p:nvPr/>
        </p:nvSpPr>
        <p:spPr>
          <a:xfrm>
            <a:off x="5669280" y="5532120"/>
            <a:ext cx="6126480" cy="310896"/>
          </a:xfrm>
          <a:prstGeom prst="rect">
            <a:avLst/>
          </a:prstGeom>
          <a:noFill/>
        </p:spPr>
        <p:txBody>
          <a:bodyPr wrap="square">
            <a:spAutoFit/>
          </a:bodyPr>
          <a:lstStyle/>
          <a:p>
            <a:pPr algn="l"/>
            <a:r>
              <a:rPr sz="1050" b="0" i="0">
                <a:solidFill>
                  <a:srgbClr val="262626"/>
                </a:solidFill>
                <a:latin typeface="Arial"/>
              </a:rPr>
              <a:t>•  Newly renovated venue ahead of the 2027 World Triathlon Multisport Championships — this is the first elite race on the rebuilt course</a:t>
            </a:r>
          </a:p>
        </p:txBody>
      </p:sp>
      <p:pic>
        <p:nvPicPr>
          <p:cNvPr id="39" name="Picture 38" descr="image.png"/>
          <p:cNvPicPr>
            <a:picLocks noChangeAspect="1"/>
          </p:cNvPicPr>
          <p:nvPr/>
        </p:nvPicPr>
        <p:blipFill>
          <a:blip r:embed="rId4"/>
          <a:stretch>
            <a:fillRect/>
          </a:stretch>
        </p:blipFill>
        <p:spPr>
          <a:xfrm>
            <a:off x="274320" y="4983480"/>
            <a:ext cx="11640312" cy="1691640"/>
          </a:xfrm>
          <a:prstGeom prst="rect">
            <a:avLst/>
          </a:prstGeom>
        </p:spPr>
      </p:pic>
      <p:sp>
        <p:nvSpPr>
          <p:cNvPr id="40" name="TextBox 39"/>
          <p:cNvSpPr txBox="1"/>
          <p:nvPr/>
        </p:nvSpPr>
        <p:spPr>
          <a:xfrm>
            <a:off x="274320" y="6629400"/>
            <a:ext cx="11640312" cy="201168"/>
          </a:xfrm>
          <a:prstGeom prst="rect">
            <a:avLst/>
          </a:prstGeom>
          <a:noFill/>
        </p:spPr>
        <p:txBody>
          <a:bodyPr wrap="square">
            <a:spAutoFit/>
          </a:bodyPr>
          <a:lstStyle/>
          <a:p>
            <a:pPr algn="ctr"/>
            <a:r>
              <a:rPr sz="850" b="0" i="1">
                <a:solidFill>
                  <a:srgbClr val="BFBFBF"/>
                </a:solidFill>
                <a:latin typeface="Arial"/>
              </a:rPr>
              <a:t>Stylised — exact contours from a GPS-recorded race FIT would refine this.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Run Course Profile</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Edmonton</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edmonton_run_course.png"/>
          <p:cNvPicPr>
            <a:picLocks noChangeAspect="1"/>
          </p:cNvPicPr>
          <p:nvPr/>
        </p:nvPicPr>
        <p:blipFill>
          <a:blip r:embed="rId3"/>
          <a:stretch>
            <a:fillRect/>
          </a:stretch>
        </p:blipFill>
        <p:spPr>
          <a:xfrm>
            <a:off x="274320" y="1143000"/>
            <a:ext cx="5120640" cy="3840480"/>
          </a:xfrm>
          <a:prstGeom prst="rect">
            <a:avLst/>
          </a:prstGeom>
        </p:spPr>
      </p:pic>
      <p:sp>
        <p:nvSpPr>
          <p:cNvPr id="9" name="TextBox 8"/>
          <p:cNvSpPr txBox="1"/>
          <p:nvPr/>
        </p:nvSpPr>
        <p:spPr>
          <a:xfrm>
            <a:off x="274320" y="5029200"/>
            <a:ext cx="5120640" cy="228600"/>
          </a:xfrm>
          <a:prstGeom prst="rect">
            <a:avLst/>
          </a:prstGeom>
          <a:noFill/>
        </p:spPr>
        <p:txBody>
          <a:bodyPr wrap="square">
            <a:spAutoFit/>
          </a:bodyPr>
          <a:lstStyle/>
          <a:p>
            <a:pPr algn="ctr"/>
            <a:r>
              <a:rPr sz="900" b="0" i="1">
                <a:solidFill>
                  <a:srgbClr val="BFBFBF"/>
                </a:solidFill>
                <a:latin typeface="Arial"/>
              </a:rPr>
              <a:t>Source: 2026 World Triathlon Cup Edmonton Athlete Guide v2 (Do North Events) — July 18-19, 2026</a:t>
            </a:r>
          </a:p>
        </p:txBody>
      </p:sp>
      <p:sp>
        <p:nvSpPr>
          <p:cNvPr id="10" name="Rectangle 9"/>
          <p:cNvSpPr/>
          <p:nvPr/>
        </p:nvSpPr>
        <p:spPr>
          <a:xfrm>
            <a:off x="5577840" y="1143000"/>
            <a:ext cx="6309360" cy="8229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577840" y="1252728"/>
            <a:ext cx="6309360" cy="365760"/>
          </a:xfrm>
          <a:prstGeom prst="rect">
            <a:avLst/>
          </a:prstGeom>
          <a:noFill/>
        </p:spPr>
        <p:txBody>
          <a:bodyPr wrap="square">
            <a:spAutoFit/>
          </a:bodyPr>
          <a:lstStyle/>
          <a:p>
            <a:pPr algn="ctr"/>
            <a:r>
              <a:rPr sz="2200" b="1" i="0">
                <a:solidFill>
                  <a:srgbClr val="FFFFFF"/>
                </a:solidFill>
                <a:latin typeface="Arial"/>
              </a:rPr>
              <a:t>5.0 km   •   3 × 1.7 km</a:t>
            </a:r>
          </a:p>
        </p:txBody>
      </p:sp>
      <p:sp>
        <p:nvSpPr>
          <p:cNvPr id="12" name="TextBox 11"/>
          <p:cNvSpPr txBox="1"/>
          <p:nvPr/>
        </p:nvSpPr>
        <p:spPr>
          <a:xfrm>
            <a:off x="5577840" y="1636776"/>
            <a:ext cx="6309360" cy="292608"/>
          </a:xfrm>
          <a:prstGeom prst="rect">
            <a:avLst/>
          </a:prstGeom>
          <a:noFill/>
        </p:spPr>
        <p:txBody>
          <a:bodyPr wrap="square">
            <a:spAutoFit/>
          </a:bodyPr>
          <a:lstStyle/>
          <a:p>
            <a:pPr algn="ctr"/>
            <a:r>
              <a:rPr sz="1100" b="0" i="1">
                <a:solidFill>
                  <a:srgbClr val="AABBDD"/>
                </a:solidFill>
                <a:latin typeface="Arial"/>
              </a:rPr>
              <a:t>Paved park paths — loop sits next to the transition area</a:t>
            </a:r>
          </a:p>
        </p:txBody>
      </p:sp>
      <p:sp>
        <p:nvSpPr>
          <p:cNvPr id="13" name="Rectangle 12"/>
          <p:cNvSpPr/>
          <p:nvPr/>
        </p:nvSpPr>
        <p:spPr>
          <a:xfrm>
            <a:off x="5623560" y="2103120"/>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669280" y="2139696"/>
            <a:ext cx="1920240" cy="201168"/>
          </a:xfrm>
          <a:prstGeom prst="rect">
            <a:avLst/>
          </a:prstGeom>
          <a:noFill/>
        </p:spPr>
        <p:txBody>
          <a:bodyPr wrap="square">
            <a:spAutoFit/>
          </a:bodyPr>
          <a:lstStyle/>
          <a:p>
            <a:pPr algn="ctr"/>
            <a:r>
              <a:rPr sz="900" b="1" i="0">
                <a:solidFill>
                  <a:srgbClr val="002060"/>
                </a:solidFill>
                <a:latin typeface="Arial"/>
              </a:rPr>
              <a:t>Distance</a:t>
            </a:r>
          </a:p>
        </p:txBody>
      </p:sp>
      <p:sp>
        <p:nvSpPr>
          <p:cNvPr id="15" name="TextBox 14"/>
          <p:cNvSpPr txBox="1"/>
          <p:nvPr/>
        </p:nvSpPr>
        <p:spPr>
          <a:xfrm>
            <a:off x="5669280" y="2340864"/>
            <a:ext cx="1920240" cy="347472"/>
          </a:xfrm>
          <a:prstGeom prst="rect">
            <a:avLst/>
          </a:prstGeom>
          <a:noFill/>
        </p:spPr>
        <p:txBody>
          <a:bodyPr wrap="square">
            <a:spAutoFit/>
          </a:bodyPr>
          <a:lstStyle/>
          <a:p>
            <a:pPr algn="ctr"/>
            <a:r>
              <a:rPr sz="1400" b="1" i="0">
                <a:solidFill>
                  <a:srgbClr val="262626"/>
                </a:solidFill>
                <a:latin typeface="Arial"/>
              </a:rPr>
              <a:t>5.0 km</a:t>
            </a:r>
          </a:p>
        </p:txBody>
      </p:sp>
      <p:sp>
        <p:nvSpPr>
          <p:cNvPr id="16" name="Rectangle 15"/>
          <p:cNvSpPr/>
          <p:nvPr/>
        </p:nvSpPr>
        <p:spPr>
          <a:xfrm>
            <a:off x="7726680" y="2103120"/>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772400" y="2139696"/>
            <a:ext cx="1920240" cy="201168"/>
          </a:xfrm>
          <a:prstGeom prst="rect">
            <a:avLst/>
          </a:prstGeom>
          <a:noFill/>
        </p:spPr>
        <p:txBody>
          <a:bodyPr wrap="square">
            <a:spAutoFit/>
          </a:bodyPr>
          <a:lstStyle/>
          <a:p>
            <a:pPr algn="ctr"/>
            <a:r>
              <a:rPr sz="900" b="1" i="0">
                <a:solidFill>
                  <a:srgbClr val="002060"/>
                </a:solidFill>
                <a:latin typeface="Arial"/>
              </a:rPr>
              <a:t>Lap Structure</a:t>
            </a:r>
          </a:p>
        </p:txBody>
      </p:sp>
      <p:sp>
        <p:nvSpPr>
          <p:cNvPr id="18" name="TextBox 17"/>
          <p:cNvSpPr txBox="1"/>
          <p:nvPr/>
        </p:nvSpPr>
        <p:spPr>
          <a:xfrm>
            <a:off x="7772400" y="2340864"/>
            <a:ext cx="1920240" cy="347472"/>
          </a:xfrm>
          <a:prstGeom prst="rect">
            <a:avLst/>
          </a:prstGeom>
          <a:noFill/>
        </p:spPr>
        <p:txBody>
          <a:bodyPr wrap="square">
            <a:spAutoFit/>
          </a:bodyPr>
          <a:lstStyle/>
          <a:p>
            <a:pPr algn="ctr"/>
            <a:r>
              <a:rPr sz="1400" b="1" i="0">
                <a:solidFill>
                  <a:srgbClr val="262626"/>
                </a:solidFill>
                <a:latin typeface="Arial"/>
              </a:rPr>
              <a:t>3 × 1.7 km</a:t>
            </a:r>
          </a:p>
        </p:txBody>
      </p:sp>
      <p:sp>
        <p:nvSpPr>
          <p:cNvPr id="19" name="Rectangle 18"/>
          <p:cNvSpPr/>
          <p:nvPr/>
        </p:nvSpPr>
        <p:spPr>
          <a:xfrm>
            <a:off x="9829800" y="2103120"/>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875520" y="2139696"/>
            <a:ext cx="1920240" cy="201168"/>
          </a:xfrm>
          <a:prstGeom prst="rect">
            <a:avLst/>
          </a:prstGeom>
          <a:noFill/>
        </p:spPr>
        <p:txBody>
          <a:bodyPr wrap="square">
            <a:spAutoFit/>
          </a:bodyPr>
          <a:lstStyle/>
          <a:p>
            <a:pPr algn="ctr"/>
            <a:r>
              <a:rPr sz="900" b="1" i="0">
                <a:solidFill>
                  <a:srgbClr val="002060"/>
                </a:solidFill>
                <a:latin typeface="Arial"/>
              </a:rPr>
              <a:t>Total Climb</a:t>
            </a:r>
          </a:p>
        </p:txBody>
      </p:sp>
      <p:sp>
        <p:nvSpPr>
          <p:cNvPr id="21" name="TextBox 20"/>
          <p:cNvSpPr txBox="1"/>
          <p:nvPr/>
        </p:nvSpPr>
        <p:spPr>
          <a:xfrm>
            <a:off x="9875520" y="2340864"/>
            <a:ext cx="1920240" cy="347472"/>
          </a:xfrm>
          <a:prstGeom prst="rect">
            <a:avLst/>
          </a:prstGeom>
          <a:noFill/>
        </p:spPr>
        <p:txBody>
          <a:bodyPr wrap="square">
            <a:spAutoFit/>
          </a:bodyPr>
          <a:lstStyle/>
          <a:p>
            <a:pPr algn="ctr"/>
            <a:r>
              <a:rPr sz="1400" b="1" i="0">
                <a:solidFill>
                  <a:srgbClr val="262626"/>
                </a:solidFill>
                <a:latin typeface="Arial"/>
              </a:rPr>
              <a:t>~51 m</a:t>
            </a:r>
          </a:p>
        </p:txBody>
      </p:sp>
      <p:sp>
        <p:nvSpPr>
          <p:cNvPr id="22" name="Rectangle 21"/>
          <p:cNvSpPr/>
          <p:nvPr/>
        </p:nvSpPr>
        <p:spPr>
          <a:xfrm>
            <a:off x="5623560" y="2816352"/>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669280" y="2852928"/>
            <a:ext cx="1920240" cy="201168"/>
          </a:xfrm>
          <a:prstGeom prst="rect">
            <a:avLst/>
          </a:prstGeom>
          <a:noFill/>
        </p:spPr>
        <p:txBody>
          <a:bodyPr wrap="square">
            <a:spAutoFit/>
          </a:bodyPr>
          <a:lstStyle/>
          <a:p>
            <a:pPr algn="ctr"/>
            <a:r>
              <a:rPr sz="900" b="1" i="0">
                <a:solidFill>
                  <a:srgbClr val="002060"/>
                </a:solidFill>
                <a:latin typeface="Arial"/>
              </a:rPr>
              <a:t>Avg Grade</a:t>
            </a:r>
          </a:p>
        </p:txBody>
      </p:sp>
      <p:sp>
        <p:nvSpPr>
          <p:cNvPr id="24" name="TextBox 23"/>
          <p:cNvSpPr txBox="1"/>
          <p:nvPr/>
        </p:nvSpPr>
        <p:spPr>
          <a:xfrm>
            <a:off x="5669280" y="3054096"/>
            <a:ext cx="1920240" cy="347472"/>
          </a:xfrm>
          <a:prstGeom prst="rect">
            <a:avLst/>
          </a:prstGeom>
          <a:noFill/>
        </p:spPr>
        <p:txBody>
          <a:bodyPr wrap="square">
            <a:spAutoFit/>
          </a:bodyPr>
          <a:lstStyle/>
          <a:p>
            <a:pPr algn="ctr"/>
            <a:r>
              <a:rPr sz="1400" b="1" i="0">
                <a:solidFill>
                  <a:srgbClr val="262626"/>
                </a:solidFill>
                <a:latin typeface="Arial"/>
              </a:rPr>
              <a:t>—</a:t>
            </a:r>
          </a:p>
        </p:txBody>
      </p:sp>
      <p:sp>
        <p:nvSpPr>
          <p:cNvPr id="25" name="Rectangle 24"/>
          <p:cNvSpPr/>
          <p:nvPr/>
        </p:nvSpPr>
        <p:spPr>
          <a:xfrm>
            <a:off x="7726680" y="2816352"/>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772400" y="2852928"/>
            <a:ext cx="1920240" cy="201168"/>
          </a:xfrm>
          <a:prstGeom prst="rect">
            <a:avLst/>
          </a:prstGeom>
          <a:noFill/>
        </p:spPr>
        <p:txBody>
          <a:bodyPr wrap="square">
            <a:spAutoFit/>
          </a:bodyPr>
          <a:lstStyle/>
          <a:p>
            <a:pPr algn="ctr"/>
            <a:r>
              <a:rPr sz="900" b="1" i="0">
                <a:solidFill>
                  <a:srgbClr val="002060"/>
                </a:solidFill>
                <a:latin typeface="Arial"/>
              </a:rPr>
              <a:t>Max ▲ / ▼</a:t>
            </a:r>
          </a:p>
        </p:txBody>
      </p:sp>
      <p:sp>
        <p:nvSpPr>
          <p:cNvPr id="27" name="TextBox 26"/>
          <p:cNvSpPr txBox="1"/>
          <p:nvPr/>
        </p:nvSpPr>
        <p:spPr>
          <a:xfrm>
            <a:off x="7772400" y="3054096"/>
            <a:ext cx="1920240" cy="347472"/>
          </a:xfrm>
          <a:prstGeom prst="rect">
            <a:avLst/>
          </a:prstGeom>
          <a:noFill/>
        </p:spPr>
        <p:txBody>
          <a:bodyPr wrap="square">
            <a:spAutoFit/>
          </a:bodyPr>
          <a:lstStyle/>
          <a:p>
            <a:pPr algn="ctr"/>
            <a:r>
              <a:rPr sz="1400" b="1" i="0">
                <a:solidFill>
                  <a:srgbClr val="262626"/>
                </a:solidFill>
                <a:latin typeface="Arial"/>
              </a:rPr>
              <a:t>Not published</a:t>
            </a:r>
          </a:p>
        </p:txBody>
      </p:sp>
      <p:sp>
        <p:nvSpPr>
          <p:cNvPr id="28" name="Rectangle 27"/>
          <p:cNvSpPr/>
          <p:nvPr/>
        </p:nvSpPr>
        <p:spPr>
          <a:xfrm>
            <a:off x="9829800" y="2816352"/>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875520" y="2852928"/>
            <a:ext cx="1920240" cy="201168"/>
          </a:xfrm>
          <a:prstGeom prst="rect">
            <a:avLst/>
          </a:prstGeom>
          <a:noFill/>
        </p:spPr>
        <p:txBody>
          <a:bodyPr wrap="square">
            <a:spAutoFit/>
          </a:bodyPr>
          <a:lstStyle/>
          <a:p>
            <a:pPr algn="ctr"/>
            <a:r>
              <a:rPr sz="900" b="1" i="0">
                <a:solidFill>
                  <a:srgbClr val="002060"/>
                </a:solidFill>
                <a:latin typeface="Arial"/>
              </a:rPr>
              <a:t>Heat Risk</a:t>
            </a:r>
          </a:p>
        </p:txBody>
      </p:sp>
      <p:sp>
        <p:nvSpPr>
          <p:cNvPr id="30" name="TextBox 29"/>
          <p:cNvSpPr txBox="1"/>
          <p:nvPr/>
        </p:nvSpPr>
        <p:spPr>
          <a:xfrm>
            <a:off x="9875520" y="3054096"/>
            <a:ext cx="1920240" cy="347472"/>
          </a:xfrm>
          <a:prstGeom prst="rect">
            <a:avLst/>
          </a:prstGeom>
          <a:noFill/>
        </p:spPr>
        <p:txBody>
          <a:bodyPr wrap="square">
            <a:spAutoFit/>
          </a:bodyPr>
          <a:lstStyle/>
          <a:p>
            <a:pPr algn="ctr"/>
            <a:r>
              <a:rPr sz="1400" b="1" i="0">
                <a:solidFill>
                  <a:srgbClr val="262626"/>
                </a:solidFill>
                <a:latin typeface="Arial"/>
              </a:rPr>
              <a:t>LOW–MODERATE</a:t>
            </a:r>
          </a:p>
        </p:txBody>
      </p:sp>
      <p:sp>
        <p:nvSpPr>
          <p:cNvPr id="31" name="Rectangle 30"/>
          <p:cNvSpPr/>
          <p:nvPr/>
        </p:nvSpPr>
        <p:spPr>
          <a:xfrm>
            <a:off x="5577840" y="3611880"/>
            <a:ext cx="6309360" cy="2926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669280" y="3639312"/>
            <a:ext cx="6126480" cy="237744"/>
          </a:xfrm>
          <a:prstGeom prst="rect">
            <a:avLst/>
          </a:prstGeom>
          <a:noFill/>
        </p:spPr>
        <p:txBody>
          <a:bodyPr wrap="square">
            <a:spAutoFit/>
          </a:bodyPr>
          <a:lstStyle/>
          <a:p>
            <a:pPr algn="l"/>
            <a:r>
              <a:rPr sz="1200" b="1" i="0">
                <a:solidFill>
                  <a:srgbClr val="FFFFFF"/>
                </a:solidFill>
                <a:latin typeface="Arial"/>
              </a:rPr>
              <a:t>Tactical Notes</a:t>
            </a:r>
          </a:p>
        </p:txBody>
      </p:sp>
      <p:sp>
        <p:nvSpPr>
          <p:cNvPr id="33" name="TextBox 32"/>
          <p:cNvSpPr txBox="1"/>
          <p:nvPr/>
        </p:nvSpPr>
        <p:spPr>
          <a:xfrm>
            <a:off x="5669280" y="3977640"/>
            <a:ext cx="6126480" cy="310896"/>
          </a:xfrm>
          <a:prstGeom prst="rect">
            <a:avLst/>
          </a:prstGeom>
          <a:noFill/>
        </p:spPr>
        <p:txBody>
          <a:bodyPr wrap="square">
            <a:spAutoFit/>
          </a:bodyPr>
          <a:lstStyle/>
          <a:p>
            <a:pPr algn="l"/>
            <a:r>
              <a:rPr sz="1050" b="0" i="0">
                <a:solidFill>
                  <a:srgbClr val="262626"/>
                </a:solidFill>
                <a:latin typeface="Arial"/>
              </a:rPr>
              <a:t>•  3 × 1.66 km laps (5 km total), counter-clockwise, run next to the transition area by design to avoid a first-runner/last-biker clash</a:t>
            </a:r>
          </a:p>
        </p:txBody>
      </p:sp>
      <p:sp>
        <p:nvSpPr>
          <p:cNvPr id="34" name="TextBox 33"/>
          <p:cNvSpPr txBox="1"/>
          <p:nvPr/>
        </p:nvSpPr>
        <p:spPr>
          <a:xfrm>
            <a:off x="5669280" y="4270248"/>
            <a:ext cx="6126480" cy="310896"/>
          </a:xfrm>
          <a:prstGeom prst="rect">
            <a:avLst/>
          </a:prstGeom>
          <a:noFill/>
        </p:spPr>
        <p:txBody>
          <a:bodyPr wrap="square">
            <a:spAutoFit/>
          </a:bodyPr>
          <a:lstStyle/>
          <a:p>
            <a:pPr algn="l"/>
            <a:r>
              <a:rPr sz="1050" b="0" i="0">
                <a:solidFill>
                  <a:srgbClr val="262626"/>
                </a:solidFill>
                <a:latin typeface="Arial"/>
              </a:rPr>
              <a:t>•  Aid station passed 6 times total (out and back per lap) — sealed water bottles at 400 m, 850 m, 2000 m, 2450 m, 3600 m, 4050 m, served on the athlete's right</a:t>
            </a:r>
          </a:p>
        </p:txBody>
      </p:sp>
      <p:sp>
        <p:nvSpPr>
          <p:cNvPr id="35" name="TextBox 34"/>
          <p:cNvSpPr txBox="1"/>
          <p:nvPr/>
        </p:nvSpPr>
        <p:spPr>
          <a:xfrm>
            <a:off x="5669280" y="4562856"/>
            <a:ext cx="6126480" cy="310896"/>
          </a:xfrm>
          <a:prstGeom prst="rect">
            <a:avLst/>
          </a:prstGeom>
          <a:noFill/>
        </p:spPr>
        <p:txBody>
          <a:bodyPr wrap="square">
            <a:spAutoFit/>
          </a:bodyPr>
          <a:lstStyle/>
          <a:p>
            <a:pPr algn="l"/>
            <a:r>
              <a:rPr sz="1050" b="0" i="0">
                <a:solidFill>
                  <a:srgbClr val="262626"/>
                </a:solidFill>
                <a:latin typeface="Arial"/>
              </a:rPr>
              <a:t>•  Littering zones marked green (start) / red (end) at each aid and wheel station — time penalties apply outside them</a:t>
            </a:r>
          </a:p>
        </p:txBody>
      </p:sp>
      <p:sp>
        <p:nvSpPr>
          <p:cNvPr id="36" name="TextBox 35"/>
          <p:cNvSpPr txBox="1"/>
          <p:nvPr/>
        </p:nvSpPr>
        <p:spPr>
          <a:xfrm>
            <a:off x="5669280" y="4855464"/>
            <a:ext cx="6126480" cy="310896"/>
          </a:xfrm>
          <a:prstGeom prst="rect">
            <a:avLst/>
          </a:prstGeom>
          <a:noFill/>
        </p:spPr>
        <p:txBody>
          <a:bodyPr wrap="square">
            <a:spAutoFit/>
          </a:bodyPr>
          <a:lstStyle/>
          <a:p>
            <a:pPr algn="l"/>
            <a:r>
              <a:rPr sz="1050" b="0" i="0">
                <a:solidFill>
                  <a:srgbClr val="262626"/>
                </a:solidFill>
                <a:latin typeface="Arial"/>
              </a:rPr>
              <a:t>•  Run penalty box on the left side of the road, 200 m before the finish — passed every lap</a:t>
            </a:r>
          </a:p>
        </p:txBody>
      </p:sp>
      <p:sp>
        <p:nvSpPr>
          <p:cNvPr id="37" name="TextBox 36"/>
          <p:cNvSpPr txBox="1"/>
          <p:nvPr/>
        </p:nvSpPr>
        <p:spPr>
          <a:xfrm>
            <a:off x="5669280" y="5148072"/>
            <a:ext cx="6126480" cy="310896"/>
          </a:xfrm>
          <a:prstGeom prst="rect">
            <a:avLst/>
          </a:prstGeom>
          <a:noFill/>
        </p:spPr>
        <p:txBody>
          <a:bodyPr wrap="square">
            <a:spAutoFit/>
          </a:bodyPr>
          <a:lstStyle/>
          <a:p>
            <a:pPr algn="l"/>
            <a:r>
              <a:rPr sz="1050" b="0" i="0">
                <a:solidFill>
                  <a:srgbClr val="262626"/>
                </a:solidFill>
                <a:latin typeface="Arial"/>
              </a:rPr>
              <a:t>•  July averages a 23 °C high / 12 °C low with a late sunset (21:32) — moderate heat risk for the 14:00/16:00 Elite starts, well short of Huatulco-level heat stress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Race-Day Weather Outlook</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Edmonton</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1097280"/>
            <a:ext cx="11640312" cy="384048"/>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5760" y="1161288"/>
            <a:ext cx="11430000" cy="274320"/>
          </a:xfrm>
          <a:prstGeom prst="rect">
            <a:avLst/>
          </a:prstGeom>
          <a:noFill/>
        </p:spPr>
        <p:txBody>
          <a:bodyPr wrap="square">
            <a:spAutoFit/>
          </a:bodyPr>
          <a:lstStyle/>
          <a:p>
            <a:pPr algn="ctr"/>
            <a:r>
              <a:rPr sz="1200" b="1" i="0">
                <a:solidFill>
                  <a:srgbClr val="002060"/>
                </a:solidFill>
                <a:latin typeface="Arial"/>
              </a:rPr>
              <a:t>2026-07-18   •   Historical climatology — same calendar day, 7-year mean</a:t>
            </a:r>
          </a:p>
        </p:txBody>
      </p:sp>
      <p:pic>
        <p:nvPicPr>
          <p:cNvPr id="10" name="Picture 9" descr="image.png"/>
          <p:cNvPicPr>
            <a:picLocks noChangeAspect="1"/>
          </p:cNvPicPr>
          <p:nvPr/>
        </p:nvPicPr>
        <p:blipFill>
          <a:blip r:embed="rId3"/>
          <a:stretch>
            <a:fillRect/>
          </a:stretch>
        </p:blipFill>
        <p:spPr>
          <a:xfrm>
            <a:off x="274320" y="1600200"/>
            <a:ext cx="7040880" cy="3108960"/>
          </a:xfrm>
          <a:prstGeom prst="rect">
            <a:avLst/>
          </a:prstGeom>
        </p:spPr>
      </p:pic>
      <p:sp>
        <p:nvSpPr>
          <p:cNvPr id="11" name="Rectangle 10"/>
          <p:cNvSpPr/>
          <p:nvPr/>
        </p:nvSpPr>
        <p:spPr>
          <a:xfrm>
            <a:off x="274320" y="4846320"/>
            <a:ext cx="11640312" cy="2926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65760" y="4873752"/>
            <a:ext cx="11430000" cy="237744"/>
          </a:xfrm>
          <a:prstGeom prst="rect">
            <a:avLst/>
          </a:prstGeom>
          <a:noFill/>
        </p:spPr>
        <p:txBody>
          <a:bodyPr wrap="square">
            <a:spAutoFit/>
          </a:bodyPr>
          <a:lstStyle/>
          <a:p>
            <a:pPr algn="l"/>
            <a:r>
              <a:rPr sz="1200" b="1" i="0">
                <a:solidFill>
                  <a:srgbClr val="FFFFFF"/>
                </a:solidFill>
                <a:latin typeface="Arial"/>
              </a:rPr>
              <a:t>Hydration &amp; Cooling Cues</a:t>
            </a:r>
          </a:p>
        </p:txBody>
      </p:sp>
      <p:sp>
        <p:nvSpPr>
          <p:cNvPr id="13" name="TextBox 12"/>
          <p:cNvSpPr txBox="1"/>
          <p:nvPr/>
        </p:nvSpPr>
        <p:spPr>
          <a:xfrm>
            <a:off x="365760" y="5212080"/>
            <a:ext cx="11430000" cy="310896"/>
          </a:xfrm>
          <a:prstGeom prst="rect">
            <a:avLst/>
          </a:prstGeom>
          <a:noFill/>
        </p:spPr>
        <p:txBody>
          <a:bodyPr wrap="square">
            <a:spAutoFit/>
          </a:bodyPr>
          <a:lstStyle/>
          <a:p>
            <a:pPr algn="l"/>
            <a:r>
              <a:rPr sz="1050" b="0" i="0">
                <a:solidFill>
                  <a:srgbClr val="262626"/>
                </a:solidFill>
                <a:latin typeface="Arial"/>
              </a:rPr>
              <a:t>•  Cool to mild outlook — standard fluid plan (~500 ml/h), no special pre-cooling required</a:t>
            </a:r>
          </a:p>
        </p:txBody>
      </p:sp>
      <p:sp>
        <p:nvSpPr>
          <p:cNvPr id="14" name="TextBox 13"/>
          <p:cNvSpPr txBox="1"/>
          <p:nvPr/>
        </p:nvSpPr>
        <p:spPr>
          <a:xfrm>
            <a:off x="365760" y="5504688"/>
            <a:ext cx="11430000" cy="310896"/>
          </a:xfrm>
          <a:prstGeom prst="rect">
            <a:avLst/>
          </a:prstGeom>
          <a:noFill/>
        </p:spPr>
        <p:txBody>
          <a:bodyPr wrap="square">
            <a:spAutoFit/>
          </a:bodyPr>
          <a:lstStyle/>
          <a:p>
            <a:pPr algn="l"/>
            <a:r>
              <a:rPr sz="1050" b="0" i="0">
                <a:solidFill>
                  <a:srgbClr val="262626"/>
                </a:solidFill>
                <a:latin typeface="Arial"/>
              </a:rPr>
              <a:t>•  Notable wind (17 km/h) — drafting protection matters on exposed coastal bike sections; sight more frequently in chop</a:t>
            </a:r>
          </a:p>
        </p:txBody>
      </p:sp>
      <p:sp>
        <p:nvSpPr>
          <p:cNvPr id="15" name="TextBox 14"/>
          <p:cNvSpPr txBox="1"/>
          <p:nvPr/>
        </p:nvSpPr>
        <p:spPr>
          <a:xfrm>
            <a:off x="274320" y="6446520"/>
            <a:ext cx="11640312" cy="228600"/>
          </a:xfrm>
          <a:prstGeom prst="rect">
            <a:avLst/>
          </a:prstGeom>
          <a:noFill/>
        </p:spPr>
        <p:txBody>
          <a:bodyPr wrap="square">
            <a:spAutoFit/>
          </a:bodyPr>
          <a:lstStyle/>
          <a:p>
            <a:pPr algn="ctr"/>
            <a:r>
              <a:rPr sz="900" b="0" i="1">
                <a:solidFill>
                  <a:srgbClr val="BFBFBF"/>
                </a:solidFill>
                <a:latin typeface="Arial"/>
              </a:rPr>
              <a:t>Data source: Open-Meteo. Forecast will replace climatology once race day is within 16 days. Historical Race Conditions slide shows what actually happened in prior years.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Travel &amp; Arrival Load</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Denver, CO → Edmonton race week</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1097280"/>
            <a:ext cx="11640312" cy="960120"/>
          </a:xfrm>
          <a:prstGeom prst="rect">
            <a:avLst/>
          </a:prstGeom>
          <a:solidFill>
            <a:srgbClr val="E9EFF9"/>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5760" y="1161288"/>
            <a:ext cx="11430000" cy="274320"/>
          </a:xfrm>
          <a:prstGeom prst="rect">
            <a:avLst/>
          </a:prstGeom>
          <a:noFill/>
        </p:spPr>
        <p:txBody>
          <a:bodyPr wrap="square">
            <a:spAutoFit/>
          </a:bodyPr>
          <a:lstStyle/>
          <a:p>
            <a:pPr algn="ctr"/>
            <a:r>
              <a:rPr sz="1200" b="1" i="0">
                <a:solidFill>
                  <a:srgbClr val="002060"/>
                </a:solidFill>
                <a:latin typeface="Arial"/>
              </a:rPr>
              <a:t>Core travel read</a:t>
            </a:r>
          </a:p>
        </p:txBody>
      </p:sp>
      <p:sp>
        <p:nvSpPr>
          <p:cNvPr id="10" name="TextBox 9"/>
          <p:cNvSpPr txBox="1"/>
          <p:nvPr/>
        </p:nvSpPr>
        <p:spPr>
          <a:xfrm>
            <a:off x="457200" y="1444752"/>
            <a:ext cx="11247120" cy="566928"/>
          </a:xfrm>
          <a:prstGeom prst="rect">
            <a:avLst/>
          </a:prstGeom>
          <a:noFill/>
        </p:spPr>
        <p:txBody>
          <a:bodyPr wrap="square">
            <a:spAutoFit/>
          </a:bodyPr>
          <a:lstStyle/>
          <a:p>
            <a:pPr algn="ctr"/>
            <a:r>
              <a:rPr sz="1050" b="0" i="0">
                <a:solidFill>
                  <a:srgbClr val="262626"/>
                </a:solidFill>
                <a:latin typeface="Arial"/>
              </a:rPr>
              <a:t>Denver → Edmonton is a same-zone trip — both cities run Mountain Time (MDT in July), so there is zero jet-lag adjustment. No historical nonstop DEN-YEG service; typical itineraries connect through Calgary (YYC), Vancouver (YVR), or Seattle (SEA) on WestJet, Air Canada, Alaska, or United. LOC-provided shuttles run Wednesday July 15 through Monday July 20 between the airport and the Westin Hotel only — submit arrival/departure details by July 5, 2026 or transportation is not guaranteed. A visitor visa or eTA is required for most nationalities entering Canada; contact Triathlon Canada for a visa support letter.</a:t>
            </a:r>
          </a:p>
        </p:txBody>
      </p:sp>
      <p:sp>
        <p:nvSpPr>
          <p:cNvPr id="11" name="Rectangle 10"/>
          <p:cNvSpPr/>
          <p:nvPr/>
        </p:nvSpPr>
        <p:spPr>
          <a:xfrm>
            <a:off x="274320" y="2240280"/>
            <a:ext cx="2218334" cy="868680"/>
          </a:xfrm>
          <a:prstGeom prst="rect">
            <a:avLst/>
          </a:prstGeom>
          <a:solidFill>
            <a:srgbClr val="FFFFFF"/>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2286000"/>
            <a:ext cx="2072030" cy="201168"/>
          </a:xfrm>
          <a:prstGeom prst="rect">
            <a:avLst/>
          </a:prstGeom>
          <a:noFill/>
        </p:spPr>
        <p:txBody>
          <a:bodyPr wrap="square">
            <a:spAutoFit/>
          </a:bodyPr>
          <a:lstStyle/>
          <a:p>
            <a:pPr algn="ctr"/>
            <a:r>
              <a:rPr sz="1000" b="1" i="0">
                <a:solidFill>
                  <a:srgbClr val="002060"/>
                </a:solidFill>
                <a:latin typeface="Arial"/>
              </a:rPr>
              <a:t>Primary route</a:t>
            </a:r>
          </a:p>
        </p:txBody>
      </p:sp>
      <p:sp>
        <p:nvSpPr>
          <p:cNvPr id="13" name="TextBox 12"/>
          <p:cNvSpPr txBox="1"/>
          <p:nvPr/>
        </p:nvSpPr>
        <p:spPr>
          <a:xfrm>
            <a:off x="347472" y="2496312"/>
            <a:ext cx="2072030" cy="292608"/>
          </a:xfrm>
          <a:prstGeom prst="rect">
            <a:avLst/>
          </a:prstGeom>
          <a:noFill/>
        </p:spPr>
        <p:txBody>
          <a:bodyPr wrap="square">
            <a:spAutoFit/>
          </a:bodyPr>
          <a:lstStyle/>
          <a:p>
            <a:pPr algn="ctr"/>
            <a:r>
              <a:rPr sz="1400" b="1" i="0">
                <a:solidFill>
                  <a:srgbClr val="262626"/>
                </a:solidFill>
                <a:latin typeface="Arial"/>
              </a:rPr>
              <a:t>DEN → YEG</a:t>
            </a:r>
          </a:p>
        </p:txBody>
      </p:sp>
      <p:sp>
        <p:nvSpPr>
          <p:cNvPr id="14" name="TextBox 13"/>
          <p:cNvSpPr txBox="1"/>
          <p:nvPr/>
        </p:nvSpPr>
        <p:spPr>
          <a:xfrm>
            <a:off x="347472" y="2807208"/>
            <a:ext cx="2072030" cy="256032"/>
          </a:xfrm>
          <a:prstGeom prst="rect">
            <a:avLst/>
          </a:prstGeom>
          <a:noFill/>
        </p:spPr>
        <p:txBody>
          <a:bodyPr wrap="square">
            <a:spAutoFit/>
          </a:bodyPr>
          <a:lstStyle/>
          <a:p>
            <a:pPr algn="ctr"/>
            <a:r>
              <a:rPr sz="900" b="0" i="1">
                <a:solidFill>
                  <a:srgbClr val="BFBFBF"/>
                </a:solidFill>
                <a:latin typeface="Arial"/>
              </a:rPr>
              <a:t>1 stop typical (YYC/YVR/SEA)</a:t>
            </a:r>
          </a:p>
        </p:txBody>
      </p:sp>
      <p:sp>
        <p:nvSpPr>
          <p:cNvPr id="15" name="Rectangle 14"/>
          <p:cNvSpPr/>
          <p:nvPr/>
        </p:nvSpPr>
        <p:spPr>
          <a:xfrm>
            <a:off x="2629814" y="2240280"/>
            <a:ext cx="2218334" cy="868680"/>
          </a:xfrm>
          <a:prstGeom prst="rect">
            <a:avLst/>
          </a:prstGeom>
          <a:solidFill>
            <a:srgbClr val="FFFFFF"/>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702966" y="2286000"/>
            <a:ext cx="2072030" cy="201168"/>
          </a:xfrm>
          <a:prstGeom prst="rect">
            <a:avLst/>
          </a:prstGeom>
          <a:noFill/>
        </p:spPr>
        <p:txBody>
          <a:bodyPr wrap="square">
            <a:spAutoFit/>
          </a:bodyPr>
          <a:lstStyle/>
          <a:p>
            <a:pPr algn="ctr"/>
            <a:r>
              <a:rPr sz="1000" b="1" i="0">
                <a:solidFill>
                  <a:srgbClr val="002060"/>
                </a:solidFill>
                <a:latin typeface="Arial"/>
              </a:rPr>
              <a:t>Time zones</a:t>
            </a:r>
          </a:p>
        </p:txBody>
      </p:sp>
      <p:sp>
        <p:nvSpPr>
          <p:cNvPr id="17" name="TextBox 16"/>
          <p:cNvSpPr txBox="1"/>
          <p:nvPr/>
        </p:nvSpPr>
        <p:spPr>
          <a:xfrm>
            <a:off x="2702966" y="2496312"/>
            <a:ext cx="2072030" cy="292608"/>
          </a:xfrm>
          <a:prstGeom prst="rect">
            <a:avLst/>
          </a:prstGeom>
          <a:noFill/>
        </p:spPr>
        <p:txBody>
          <a:bodyPr wrap="square">
            <a:spAutoFit/>
          </a:bodyPr>
          <a:lstStyle/>
          <a:p>
            <a:pPr algn="ctr"/>
            <a:r>
              <a:rPr sz="1400" b="1" i="0">
                <a:solidFill>
                  <a:srgbClr val="262626"/>
                </a:solidFill>
                <a:latin typeface="Arial"/>
              </a:rPr>
              <a:t>+0h</a:t>
            </a:r>
          </a:p>
        </p:txBody>
      </p:sp>
      <p:sp>
        <p:nvSpPr>
          <p:cNvPr id="18" name="TextBox 17"/>
          <p:cNvSpPr txBox="1"/>
          <p:nvPr/>
        </p:nvSpPr>
        <p:spPr>
          <a:xfrm>
            <a:off x="2702966" y="2807208"/>
            <a:ext cx="2072030" cy="256032"/>
          </a:xfrm>
          <a:prstGeom prst="rect">
            <a:avLst/>
          </a:prstGeom>
          <a:noFill/>
        </p:spPr>
        <p:txBody>
          <a:bodyPr wrap="square">
            <a:spAutoFit/>
          </a:bodyPr>
          <a:lstStyle/>
          <a:p>
            <a:pPr algn="ctr"/>
            <a:r>
              <a:rPr sz="900" b="0" i="1">
                <a:solidFill>
                  <a:srgbClr val="BFBFBF"/>
                </a:solidFill>
                <a:latin typeface="Arial"/>
              </a:rPr>
              <a:t>Both Mountain Time (MDT)</a:t>
            </a:r>
          </a:p>
        </p:txBody>
      </p:sp>
      <p:sp>
        <p:nvSpPr>
          <p:cNvPr id="19" name="Rectangle 18"/>
          <p:cNvSpPr/>
          <p:nvPr/>
        </p:nvSpPr>
        <p:spPr>
          <a:xfrm>
            <a:off x="4985308" y="2240280"/>
            <a:ext cx="2218334" cy="868680"/>
          </a:xfrm>
          <a:prstGeom prst="rect">
            <a:avLst/>
          </a:prstGeom>
          <a:solidFill>
            <a:srgbClr val="FFFFFF"/>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058460" y="2286000"/>
            <a:ext cx="2072030" cy="201168"/>
          </a:xfrm>
          <a:prstGeom prst="rect">
            <a:avLst/>
          </a:prstGeom>
          <a:noFill/>
        </p:spPr>
        <p:txBody>
          <a:bodyPr wrap="square">
            <a:spAutoFit/>
          </a:bodyPr>
          <a:lstStyle/>
          <a:p>
            <a:pPr algn="ctr"/>
            <a:r>
              <a:rPr sz="1000" b="1" i="0">
                <a:solidFill>
                  <a:srgbClr val="002060"/>
                </a:solidFill>
                <a:latin typeface="Arial"/>
              </a:rPr>
              <a:t>Airport Transfer</a:t>
            </a:r>
          </a:p>
        </p:txBody>
      </p:sp>
      <p:sp>
        <p:nvSpPr>
          <p:cNvPr id="21" name="TextBox 20"/>
          <p:cNvSpPr txBox="1"/>
          <p:nvPr/>
        </p:nvSpPr>
        <p:spPr>
          <a:xfrm>
            <a:off x="5058460" y="2496312"/>
            <a:ext cx="2072030" cy="292608"/>
          </a:xfrm>
          <a:prstGeom prst="rect">
            <a:avLst/>
          </a:prstGeom>
          <a:noFill/>
        </p:spPr>
        <p:txBody>
          <a:bodyPr wrap="square">
            <a:spAutoFit/>
          </a:bodyPr>
          <a:lstStyle/>
          <a:p>
            <a:pPr algn="ctr"/>
            <a:r>
              <a:rPr sz="1400" b="1" i="0">
                <a:solidFill>
                  <a:srgbClr val="262626"/>
                </a:solidFill>
                <a:latin typeface="Arial"/>
              </a:rPr>
              <a:t>YEG → The Westin</a:t>
            </a:r>
          </a:p>
        </p:txBody>
      </p:sp>
      <p:sp>
        <p:nvSpPr>
          <p:cNvPr id="22" name="TextBox 21"/>
          <p:cNvSpPr txBox="1"/>
          <p:nvPr/>
        </p:nvSpPr>
        <p:spPr>
          <a:xfrm>
            <a:off x="5058460" y="2807208"/>
            <a:ext cx="2072030" cy="256032"/>
          </a:xfrm>
          <a:prstGeom prst="rect">
            <a:avLst/>
          </a:prstGeom>
          <a:noFill/>
        </p:spPr>
        <p:txBody>
          <a:bodyPr wrap="square">
            <a:spAutoFit/>
          </a:bodyPr>
          <a:lstStyle/>
          <a:p>
            <a:pPr algn="ctr"/>
            <a:r>
              <a:rPr sz="900" b="0" i="1">
                <a:solidFill>
                  <a:srgbClr val="BFBFBF"/>
                </a:solidFill>
                <a:latin typeface="Arial"/>
              </a:rPr>
              <a:t>LOC shuttle, ~30 km / 40 min</a:t>
            </a:r>
          </a:p>
        </p:txBody>
      </p:sp>
      <p:sp>
        <p:nvSpPr>
          <p:cNvPr id="23" name="Rectangle 22"/>
          <p:cNvSpPr/>
          <p:nvPr/>
        </p:nvSpPr>
        <p:spPr>
          <a:xfrm>
            <a:off x="7340803" y="2240280"/>
            <a:ext cx="2218334" cy="868680"/>
          </a:xfrm>
          <a:prstGeom prst="rect">
            <a:avLst/>
          </a:prstGeom>
          <a:solidFill>
            <a:srgbClr val="FFFFFF"/>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413955" y="2286000"/>
            <a:ext cx="2072030" cy="201168"/>
          </a:xfrm>
          <a:prstGeom prst="rect">
            <a:avLst/>
          </a:prstGeom>
          <a:noFill/>
        </p:spPr>
        <p:txBody>
          <a:bodyPr wrap="square">
            <a:spAutoFit/>
          </a:bodyPr>
          <a:lstStyle/>
          <a:p>
            <a:pPr algn="ctr"/>
            <a:r>
              <a:rPr sz="1000" b="1" i="0">
                <a:solidFill>
                  <a:srgbClr val="002060"/>
                </a:solidFill>
                <a:latin typeface="Arial"/>
              </a:rPr>
              <a:t>Venue Transfer</a:t>
            </a:r>
          </a:p>
        </p:txBody>
      </p:sp>
      <p:sp>
        <p:nvSpPr>
          <p:cNvPr id="25" name="TextBox 24"/>
          <p:cNvSpPr txBox="1"/>
          <p:nvPr/>
        </p:nvSpPr>
        <p:spPr>
          <a:xfrm>
            <a:off x="7413955" y="2496312"/>
            <a:ext cx="2072030" cy="292608"/>
          </a:xfrm>
          <a:prstGeom prst="rect">
            <a:avLst/>
          </a:prstGeom>
          <a:noFill/>
        </p:spPr>
        <p:txBody>
          <a:bodyPr wrap="square">
            <a:spAutoFit/>
          </a:bodyPr>
          <a:lstStyle/>
          <a:p>
            <a:pPr algn="ctr"/>
            <a:r>
              <a:rPr sz="1400" b="1" i="0">
                <a:solidFill>
                  <a:srgbClr val="262626"/>
                </a:solidFill>
                <a:latin typeface="Arial"/>
              </a:rPr>
              <a:t>Westin → Hawrelak Park</a:t>
            </a:r>
          </a:p>
        </p:txBody>
      </p:sp>
      <p:sp>
        <p:nvSpPr>
          <p:cNvPr id="26" name="TextBox 25"/>
          <p:cNvSpPr txBox="1"/>
          <p:nvPr/>
        </p:nvSpPr>
        <p:spPr>
          <a:xfrm>
            <a:off x="7413955" y="2807208"/>
            <a:ext cx="2072030" cy="256032"/>
          </a:xfrm>
          <a:prstGeom prst="rect">
            <a:avLst/>
          </a:prstGeom>
          <a:noFill/>
        </p:spPr>
        <p:txBody>
          <a:bodyPr wrap="square">
            <a:spAutoFit/>
          </a:bodyPr>
          <a:lstStyle/>
          <a:p>
            <a:pPr algn="ctr"/>
            <a:r>
              <a:rPr sz="900" b="0" i="1">
                <a:solidFill>
                  <a:srgbClr val="BFBFBF"/>
                </a:solidFill>
                <a:latin typeface="Arial"/>
              </a:rPr>
              <a:t>LOC shuttle, 4.5 km / 7-10 min</a:t>
            </a:r>
          </a:p>
        </p:txBody>
      </p:sp>
      <p:sp>
        <p:nvSpPr>
          <p:cNvPr id="27" name="Rectangle 26"/>
          <p:cNvSpPr/>
          <p:nvPr/>
        </p:nvSpPr>
        <p:spPr>
          <a:xfrm>
            <a:off x="9696297" y="2240280"/>
            <a:ext cx="2218334" cy="868680"/>
          </a:xfrm>
          <a:prstGeom prst="rect">
            <a:avLst/>
          </a:prstGeom>
          <a:solidFill>
            <a:srgbClr val="FFFFFF"/>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769449" y="2286000"/>
            <a:ext cx="2072030" cy="201168"/>
          </a:xfrm>
          <a:prstGeom prst="rect">
            <a:avLst/>
          </a:prstGeom>
          <a:noFill/>
        </p:spPr>
        <p:txBody>
          <a:bodyPr wrap="square">
            <a:spAutoFit/>
          </a:bodyPr>
          <a:lstStyle/>
          <a:p>
            <a:pPr algn="ctr"/>
            <a:r>
              <a:rPr sz="1000" b="1" i="0">
                <a:solidFill>
                  <a:srgbClr val="002060"/>
                </a:solidFill>
                <a:latin typeface="Arial"/>
              </a:rPr>
              <a:t>Arrival deadline</a:t>
            </a:r>
          </a:p>
        </p:txBody>
      </p:sp>
      <p:sp>
        <p:nvSpPr>
          <p:cNvPr id="29" name="TextBox 28"/>
          <p:cNvSpPr txBox="1"/>
          <p:nvPr/>
        </p:nvSpPr>
        <p:spPr>
          <a:xfrm>
            <a:off x="9769449" y="2496312"/>
            <a:ext cx="2072030" cy="292608"/>
          </a:xfrm>
          <a:prstGeom prst="rect">
            <a:avLst/>
          </a:prstGeom>
          <a:noFill/>
        </p:spPr>
        <p:txBody>
          <a:bodyPr wrap="square">
            <a:spAutoFit/>
          </a:bodyPr>
          <a:lstStyle/>
          <a:p>
            <a:pPr algn="ctr"/>
            <a:r>
              <a:rPr sz="1400" b="1" i="0">
                <a:solidFill>
                  <a:srgbClr val="262626"/>
                </a:solidFill>
                <a:latin typeface="Arial"/>
              </a:rPr>
              <a:t>July 5, 2026</a:t>
            </a:r>
          </a:p>
        </p:txBody>
      </p:sp>
      <p:sp>
        <p:nvSpPr>
          <p:cNvPr id="30" name="TextBox 29"/>
          <p:cNvSpPr txBox="1"/>
          <p:nvPr/>
        </p:nvSpPr>
        <p:spPr>
          <a:xfrm>
            <a:off x="9769449" y="2807208"/>
            <a:ext cx="2072030" cy="256032"/>
          </a:xfrm>
          <a:prstGeom prst="rect">
            <a:avLst/>
          </a:prstGeom>
          <a:noFill/>
        </p:spPr>
        <p:txBody>
          <a:bodyPr wrap="square">
            <a:spAutoFit/>
          </a:bodyPr>
          <a:lstStyle/>
          <a:p>
            <a:pPr algn="ctr"/>
            <a:r>
              <a:rPr sz="900" b="0" i="1">
                <a:solidFill>
                  <a:srgbClr val="BFBFBF"/>
                </a:solidFill>
                <a:latin typeface="Arial"/>
              </a:rPr>
              <a:t>Submit itinerary form or fees may apply</a:t>
            </a:r>
          </a:p>
        </p:txBody>
      </p:sp>
      <p:sp>
        <p:nvSpPr>
          <p:cNvPr id="31" name="Rectangle 30"/>
          <p:cNvSpPr/>
          <p:nvPr/>
        </p:nvSpPr>
        <p:spPr>
          <a:xfrm>
            <a:off x="274320" y="3291840"/>
            <a:ext cx="5669280" cy="2377440"/>
          </a:xfrm>
          <a:prstGeom prst="rect">
            <a:avLst/>
          </a:prstGeom>
          <a:solidFill>
            <a:srgbClr val="FFFFFF"/>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11480" y="3401568"/>
            <a:ext cx="5394960" cy="292608"/>
          </a:xfrm>
          <a:prstGeom prst="rect">
            <a:avLst/>
          </a:prstGeom>
          <a:noFill/>
        </p:spPr>
        <p:txBody>
          <a:bodyPr wrap="square">
            <a:spAutoFit/>
          </a:bodyPr>
          <a:lstStyle/>
          <a:p>
            <a:pPr algn="ctr"/>
            <a:r>
              <a:rPr sz="1300" b="1" i="0">
                <a:solidFill>
                  <a:srgbClr val="002060"/>
                </a:solidFill>
                <a:latin typeface="Arial"/>
              </a:rPr>
              <a:t>Host Hotel / Official Accommodation</a:t>
            </a:r>
          </a:p>
        </p:txBody>
      </p:sp>
      <p:sp>
        <p:nvSpPr>
          <p:cNvPr id="33" name="TextBox 32"/>
          <p:cNvSpPr txBox="1"/>
          <p:nvPr/>
        </p:nvSpPr>
        <p:spPr>
          <a:xfrm>
            <a:off x="438912" y="3749040"/>
            <a:ext cx="5340096" cy="329184"/>
          </a:xfrm>
          <a:prstGeom prst="rect">
            <a:avLst/>
          </a:prstGeom>
          <a:noFill/>
        </p:spPr>
        <p:txBody>
          <a:bodyPr wrap="square">
            <a:spAutoFit/>
          </a:bodyPr>
          <a:lstStyle/>
          <a:p>
            <a:pPr algn="l"/>
            <a:r>
              <a:rPr sz="1000" b="0" i="0">
                <a:solidFill>
                  <a:srgbClr val="262626"/>
                </a:solidFill>
                <a:latin typeface="Arial"/>
              </a:rPr>
              <a:t>•  Official host hotel: The Westin Edmonton, 10135 100 St NW, Edmonton, AB T5J 0N7 — 4.5 km / 7-10 min from the venue by car or bike.</a:t>
            </a:r>
          </a:p>
        </p:txBody>
      </p:sp>
      <p:sp>
        <p:nvSpPr>
          <p:cNvPr id="34" name="TextBox 33"/>
          <p:cNvSpPr txBox="1"/>
          <p:nvPr/>
        </p:nvSpPr>
        <p:spPr>
          <a:xfrm>
            <a:off x="438912" y="4059936"/>
            <a:ext cx="5340096" cy="329184"/>
          </a:xfrm>
          <a:prstGeom prst="rect">
            <a:avLst/>
          </a:prstGeom>
          <a:noFill/>
        </p:spPr>
        <p:txBody>
          <a:bodyPr wrap="square">
            <a:spAutoFit/>
          </a:bodyPr>
          <a:lstStyle/>
          <a:p>
            <a:pPr algn="l"/>
            <a:r>
              <a:rPr sz="1000" b="0" i="0">
                <a:solidFill>
                  <a:srgbClr val="262626"/>
                </a:solidFill>
                <a:latin typeface="Arial"/>
              </a:rPr>
              <a:t>•  Alternative discounted block: Lister Hall, 11613 87 Ave NW — 2.0 km / 5 min from the venue; book via front desk 780-492-6056, reference "2026 World Triathlon Cup."</a:t>
            </a:r>
          </a:p>
        </p:txBody>
      </p:sp>
      <p:sp>
        <p:nvSpPr>
          <p:cNvPr id="35" name="TextBox 34"/>
          <p:cNvSpPr txBox="1"/>
          <p:nvPr/>
        </p:nvSpPr>
        <p:spPr>
          <a:xfrm>
            <a:off x="438912" y="4370832"/>
            <a:ext cx="5340096" cy="329184"/>
          </a:xfrm>
          <a:prstGeom prst="rect">
            <a:avLst/>
          </a:prstGeom>
          <a:noFill/>
        </p:spPr>
        <p:txBody>
          <a:bodyPr wrap="square">
            <a:spAutoFit/>
          </a:bodyPr>
          <a:lstStyle/>
          <a:p>
            <a:pPr algn="l"/>
            <a:r>
              <a:rPr sz="1000" b="0" i="0">
                <a:solidFill>
                  <a:srgbClr val="262626"/>
                </a:solidFill>
                <a:latin typeface="Arial"/>
              </a:rPr>
              <a:t>•  LOC free shuttle covers Westin ↔ Hawrelak Park for familiarization and race day only — athletes staying elsewhere arrange their own transport.</a:t>
            </a:r>
          </a:p>
        </p:txBody>
      </p:sp>
      <p:sp>
        <p:nvSpPr>
          <p:cNvPr id="36" name="TextBox 35"/>
          <p:cNvSpPr txBox="1"/>
          <p:nvPr/>
        </p:nvSpPr>
        <p:spPr>
          <a:xfrm>
            <a:off x="438912" y="4681728"/>
            <a:ext cx="5340096" cy="329184"/>
          </a:xfrm>
          <a:prstGeom prst="rect">
            <a:avLst/>
          </a:prstGeom>
          <a:noFill/>
        </p:spPr>
        <p:txBody>
          <a:bodyPr wrap="square">
            <a:spAutoFit/>
          </a:bodyPr>
          <a:lstStyle/>
          <a:p>
            <a:pPr algn="l"/>
            <a:r>
              <a:rPr sz="1000" b="0" i="0">
                <a:solidFill>
                  <a:srgbClr val="262626"/>
                </a:solidFill>
                <a:latin typeface="Arial"/>
              </a:rPr>
              <a:t>•  Underground parking available at the Westin for a fee, managed directly by the hotel.</a:t>
            </a:r>
          </a:p>
        </p:txBody>
      </p:sp>
      <p:sp>
        <p:nvSpPr>
          <p:cNvPr id="37" name="Rectangle 36"/>
          <p:cNvSpPr/>
          <p:nvPr/>
        </p:nvSpPr>
        <p:spPr>
          <a:xfrm>
            <a:off x="6217920" y="3291840"/>
            <a:ext cx="5669280" cy="2377440"/>
          </a:xfrm>
          <a:prstGeom prst="rect">
            <a:avLst/>
          </a:prstGeom>
          <a:solidFill>
            <a:srgbClr val="FFFFFF"/>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355080" y="3401568"/>
            <a:ext cx="5394960" cy="292608"/>
          </a:xfrm>
          <a:prstGeom prst="rect">
            <a:avLst/>
          </a:prstGeom>
          <a:noFill/>
        </p:spPr>
        <p:txBody>
          <a:bodyPr wrap="square">
            <a:spAutoFit/>
          </a:bodyPr>
          <a:lstStyle/>
          <a:p>
            <a:pPr algn="ctr"/>
            <a:r>
              <a:rPr sz="1300" b="1" i="0">
                <a:solidFill>
                  <a:srgbClr val="002060"/>
                </a:solidFill>
                <a:latin typeface="Arial"/>
              </a:rPr>
              <a:t>Food / Grocery Options Near Hotel + Venue</a:t>
            </a:r>
          </a:p>
        </p:txBody>
      </p:sp>
      <p:sp>
        <p:nvSpPr>
          <p:cNvPr id="39" name="TextBox 38"/>
          <p:cNvSpPr txBox="1"/>
          <p:nvPr/>
        </p:nvSpPr>
        <p:spPr>
          <a:xfrm>
            <a:off x="6382512" y="3749040"/>
            <a:ext cx="5340096" cy="329184"/>
          </a:xfrm>
          <a:prstGeom prst="rect">
            <a:avLst/>
          </a:prstGeom>
          <a:noFill/>
        </p:spPr>
        <p:txBody>
          <a:bodyPr wrap="square">
            <a:spAutoFit/>
          </a:bodyPr>
          <a:lstStyle/>
          <a:p>
            <a:pPr algn="l"/>
            <a:r>
              <a:rPr sz="1000" b="0" i="0">
                <a:solidFill>
                  <a:srgbClr val="262626"/>
                </a:solidFill>
                <a:latin typeface="Arial"/>
              </a:rPr>
              <a:t>•  Not itemized in the athlete guide — the Westin sits downtown with typical hotel-district dining and grocery access within a few blocks.</a:t>
            </a:r>
          </a:p>
        </p:txBody>
      </p:sp>
      <p:sp>
        <p:nvSpPr>
          <p:cNvPr id="40" name="TextBox 39"/>
          <p:cNvSpPr txBox="1"/>
          <p:nvPr/>
        </p:nvSpPr>
        <p:spPr>
          <a:xfrm>
            <a:off x="6382512" y="4059936"/>
            <a:ext cx="5340096" cy="329184"/>
          </a:xfrm>
          <a:prstGeom prst="rect">
            <a:avLst/>
          </a:prstGeom>
          <a:noFill/>
        </p:spPr>
        <p:txBody>
          <a:bodyPr wrap="square">
            <a:spAutoFit/>
          </a:bodyPr>
          <a:lstStyle/>
          <a:p>
            <a:pPr algn="l"/>
            <a:r>
              <a:rPr sz="1000" b="0" i="0">
                <a:solidFill>
                  <a:srgbClr val="262626"/>
                </a:solidFill>
                <a:latin typeface="Arial"/>
              </a:rPr>
              <a:t>•  Lister Hall option is on the University of Alberta campus — Whyte Ave (109 St / 82 Ave) strip is a short ride away for groceries and casual dining.</a:t>
            </a:r>
          </a:p>
        </p:txBody>
      </p:sp>
      <p:sp>
        <p:nvSpPr>
          <p:cNvPr id="41" name="TextBox 40"/>
          <p:cNvSpPr txBox="1"/>
          <p:nvPr/>
        </p:nvSpPr>
        <p:spPr>
          <a:xfrm>
            <a:off x="6382512" y="4370832"/>
            <a:ext cx="5340096" cy="329184"/>
          </a:xfrm>
          <a:prstGeom prst="rect">
            <a:avLst/>
          </a:prstGeom>
          <a:noFill/>
        </p:spPr>
        <p:txBody>
          <a:bodyPr wrap="square">
            <a:spAutoFit/>
          </a:bodyPr>
          <a:lstStyle/>
          <a:p>
            <a:pPr algn="l"/>
            <a:r>
              <a:rPr sz="1000" b="0" i="0">
                <a:solidFill>
                  <a:srgbClr val="262626"/>
                </a:solidFill>
                <a:latin typeface="Arial"/>
              </a:rPr>
              <a:t>•  Kinsmen Sports Centre (swim training venue) and Hawrelak Park both sit along the river valley bike path connecting the Westin, Lister Hall, and the U of A.</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Environmental Risk Profile</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Edmonton</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8" name="Table 7"/>
          <p:cNvGraphicFramePr>
            <a:graphicFrameLocks noGrp="1"/>
          </p:cNvGraphicFramePr>
          <p:nvPr/>
        </p:nvGraphicFramePr>
        <p:xfrm>
          <a:off x="274320" y="1170432"/>
          <a:ext cx="4709158" cy="2414016"/>
        </p:xfrm>
        <a:graphic>
          <a:graphicData uri="http://schemas.openxmlformats.org/drawingml/2006/table">
            <a:tbl>
              <a:tblPr firstRow="1" bandRow="1">
                <a:tableStyleId>{5C22544A-7EE6-4342-B048-85BDC9FD1C3A}</a:tableStyleId>
              </a:tblPr>
              <a:tblGrid>
                <a:gridCol w="612190">
                  <a:extLst>
                    <a:ext uri="{9D8B030D-6E8A-4147-A177-3AD203B41FA5}">
                      <a16:colId xmlns:a16="http://schemas.microsoft.com/office/drawing/2014/main" val="20000"/>
                    </a:ext>
                  </a:extLst>
                </a:gridCol>
                <a:gridCol w="800557">
                  <a:extLst>
                    <a:ext uri="{9D8B030D-6E8A-4147-A177-3AD203B41FA5}">
                      <a16:colId xmlns:a16="http://schemas.microsoft.com/office/drawing/2014/main" val="20001"/>
                    </a:ext>
                  </a:extLst>
                </a:gridCol>
                <a:gridCol w="894740">
                  <a:extLst>
                    <a:ext uri="{9D8B030D-6E8A-4147-A177-3AD203B41FA5}">
                      <a16:colId xmlns:a16="http://schemas.microsoft.com/office/drawing/2014/main" val="20002"/>
                    </a:ext>
                  </a:extLst>
                </a:gridCol>
                <a:gridCol w="800557">
                  <a:extLst>
                    <a:ext uri="{9D8B030D-6E8A-4147-A177-3AD203B41FA5}">
                      <a16:colId xmlns:a16="http://schemas.microsoft.com/office/drawing/2014/main" val="20003"/>
                    </a:ext>
                  </a:extLst>
                </a:gridCol>
                <a:gridCol w="800557">
                  <a:extLst>
                    <a:ext uri="{9D8B030D-6E8A-4147-A177-3AD203B41FA5}">
                      <a16:colId xmlns:a16="http://schemas.microsoft.com/office/drawing/2014/main" val="20004"/>
                    </a:ext>
                  </a:extLst>
                </a:gridCol>
                <a:gridCol w="800557">
                  <a:extLst>
                    <a:ext uri="{9D8B030D-6E8A-4147-A177-3AD203B41FA5}">
                      <a16:colId xmlns:a16="http://schemas.microsoft.com/office/drawing/2014/main" val="20005"/>
                    </a:ext>
                  </a:extLst>
                </a:gridCol>
              </a:tblGrid>
              <a:tr h="402336">
                <a:tc>
                  <a:txBody>
                    <a:bodyPr/>
                    <a:lstStyle/>
                    <a:p>
                      <a:pPr algn="ctr"/>
                      <a:r>
                        <a:rPr sz="1000" b="1" i="0">
                          <a:solidFill>
                            <a:srgbClr val="FFFFFF"/>
                          </a:solidFill>
                          <a:latin typeface="Arial"/>
                        </a:rPr>
                        <a:t>Year</a:t>
                      </a:r>
                    </a:p>
                  </a:txBody>
                  <a:tcPr>
                    <a:solidFill>
                      <a:srgbClr val="002060"/>
                    </a:solidFill>
                  </a:tcPr>
                </a:tc>
                <a:tc>
                  <a:txBody>
                    <a:bodyPr/>
                    <a:lstStyle/>
                    <a:p>
                      <a:pPr algn="ctr"/>
                      <a:r>
                        <a:rPr sz="1000" b="1" i="0">
                          <a:solidFill>
                            <a:srgbClr val="FFFFFF"/>
                          </a:solidFill>
                          <a:latin typeface="Arial"/>
                        </a:rPr>
                        <a:t>Date</a:t>
                      </a:r>
                    </a:p>
                  </a:txBody>
                  <a:tcPr>
                    <a:solidFill>
                      <a:srgbClr val="002060"/>
                    </a:solidFill>
                  </a:tcPr>
                </a:tc>
                <a:tc>
                  <a:txBody>
                    <a:bodyPr/>
                    <a:lstStyle/>
                    <a:p>
                      <a:pPr algn="ctr"/>
                      <a:r>
                        <a:rPr sz="1000" b="1" i="0">
                          <a:solidFill>
                            <a:srgbClr val="FFFFFF"/>
                          </a:solidFill>
                          <a:latin typeface="Arial"/>
                        </a:rPr>
                        <a:t>Air Temp</a:t>
                      </a:r>
                    </a:p>
                  </a:txBody>
                  <a:tcPr>
                    <a:solidFill>
                      <a:srgbClr val="002060"/>
                    </a:solidFill>
                  </a:tcPr>
                </a:tc>
                <a:tc>
                  <a:txBody>
                    <a:bodyPr/>
                    <a:lstStyle/>
                    <a:p>
                      <a:pPr algn="ctr"/>
                      <a:r>
                        <a:rPr sz="1000" b="1" i="0">
                          <a:solidFill>
                            <a:srgbClr val="FFFFFF"/>
                          </a:solidFill>
                          <a:latin typeface="Arial"/>
                        </a:rPr>
                        <a:t>Humidity</a:t>
                      </a:r>
                    </a:p>
                  </a:txBody>
                  <a:tcPr>
                    <a:solidFill>
                      <a:srgbClr val="002060"/>
                    </a:solidFill>
                  </a:tcPr>
                </a:tc>
                <a:tc>
                  <a:txBody>
                    <a:bodyPr/>
                    <a:lstStyle/>
                    <a:p>
                      <a:pPr algn="ctr"/>
                      <a:r>
                        <a:rPr sz="1000" b="1" i="0">
                          <a:solidFill>
                            <a:srgbClr val="FFFFFF"/>
                          </a:solidFill>
                          <a:latin typeface="Arial"/>
                        </a:rPr>
                        <a:t>Wind km/h</a:t>
                      </a:r>
                    </a:p>
                  </a:txBody>
                  <a:tcPr>
                    <a:solidFill>
                      <a:srgbClr val="002060"/>
                    </a:solidFill>
                  </a:tcPr>
                </a:tc>
                <a:tc>
                  <a:txBody>
                    <a:bodyPr/>
                    <a:lstStyle/>
                    <a:p>
                      <a:pPr algn="ctr"/>
                      <a:r>
                        <a:rPr sz="1000" b="1" i="0">
                          <a:solidFill>
                            <a:srgbClr val="FFFFFF"/>
                          </a:solidFill>
                          <a:latin typeface="Arial"/>
                        </a:rPr>
                        <a:t>Precip mm</a:t>
                      </a:r>
                    </a:p>
                  </a:txBody>
                  <a:tcPr>
                    <a:solidFill>
                      <a:srgbClr val="002060"/>
                    </a:solidFill>
                  </a:tcPr>
                </a:tc>
                <a:extLst>
                  <a:ext uri="{0D108BD9-81ED-4DB2-BD59-A6C34878D82A}">
                    <a16:rowId xmlns:a16="http://schemas.microsoft.com/office/drawing/2014/main" val="10000"/>
                  </a:ext>
                </a:extLst>
              </a:tr>
              <a:tr h="402336">
                <a:tc>
                  <a:txBody>
                    <a:bodyPr/>
                    <a:lstStyle/>
                    <a:p>
                      <a:pPr algn="ctr"/>
                      <a:r>
                        <a:rPr sz="1000" b="0" i="0">
                          <a:solidFill>
                            <a:srgbClr val="262626"/>
                          </a:solidFill>
                          <a:latin typeface="Arial"/>
                        </a:rPr>
                        <a:t>2018</a:t>
                      </a:r>
                    </a:p>
                  </a:txBody>
                  <a:tcPr>
                    <a:solidFill>
                      <a:srgbClr val="FFFFFF"/>
                    </a:solidFill>
                  </a:tcPr>
                </a:tc>
                <a:tc>
                  <a:txBody>
                    <a:bodyPr/>
                    <a:lstStyle/>
                    <a:p>
                      <a:pPr algn="ctr"/>
                      <a:r>
                        <a:rPr sz="1000" b="0" i="0">
                          <a:solidFill>
                            <a:srgbClr val="262626"/>
                          </a:solidFill>
                          <a:latin typeface="Arial"/>
                        </a:rPr>
                        <a:t>Jul 27</a:t>
                      </a:r>
                    </a:p>
                  </a:txBody>
                  <a:tcPr>
                    <a:solidFill>
                      <a:srgbClr val="FFFFFF"/>
                    </a:solidFill>
                  </a:tcPr>
                </a:tc>
                <a:tc>
                  <a:txBody>
                    <a:bodyPr/>
                    <a:lstStyle/>
                    <a:p>
                      <a:pPr algn="ctr"/>
                      <a:r>
                        <a:rPr sz="1000" b="0" i="0">
                          <a:solidFill>
                            <a:srgbClr val="262626"/>
                          </a:solidFill>
                          <a:latin typeface="Arial"/>
                        </a:rPr>
                        <a:t>19.9</a:t>
                      </a:r>
                    </a:p>
                  </a:txBody>
                  <a:tcPr>
                    <a:solidFill>
                      <a:srgbClr val="FFFFFF"/>
                    </a:solidFill>
                  </a:tcPr>
                </a:tc>
                <a:tc>
                  <a:txBody>
                    <a:bodyPr/>
                    <a:lstStyle/>
                    <a:p>
                      <a:pPr algn="ctr"/>
                      <a:r>
                        <a:rPr sz="1000" b="0" i="0">
                          <a:solidFill>
                            <a:srgbClr val="262626"/>
                          </a:solidFill>
                          <a:latin typeface="Arial"/>
                        </a:rPr>
                        <a:t>69%</a:t>
                      </a:r>
                    </a:p>
                  </a:txBody>
                  <a:tcPr>
                    <a:solidFill>
                      <a:srgbClr val="FFFFFF"/>
                    </a:solidFill>
                  </a:tcPr>
                </a:tc>
                <a:tc>
                  <a:txBody>
                    <a:bodyPr/>
                    <a:lstStyle/>
                    <a:p>
                      <a:pPr algn="ctr"/>
                      <a:r>
                        <a:rPr sz="1000" b="0" i="0">
                          <a:solidFill>
                            <a:srgbClr val="262626"/>
                          </a:solidFill>
                          <a:latin typeface="Arial"/>
                        </a:rPr>
                        <a:t>3</a:t>
                      </a:r>
                    </a:p>
                  </a:txBody>
                  <a:tcPr>
                    <a:solidFill>
                      <a:srgbClr val="FFFFFF"/>
                    </a:solidFill>
                  </a:tcPr>
                </a:tc>
                <a:tc>
                  <a:txBody>
                    <a:bodyPr/>
                    <a:lstStyle/>
                    <a:p>
                      <a:pPr algn="ctr"/>
                      <a:r>
                        <a:rPr sz="1000" b="0" i="0">
                          <a:solidFill>
                            <a:srgbClr val="262626"/>
                          </a:solidFill>
                          <a:latin typeface="Arial"/>
                        </a:rPr>
                        <a:t>0.0</a:t>
                      </a:r>
                    </a:p>
                  </a:txBody>
                  <a:tcPr>
                    <a:solidFill>
                      <a:srgbClr val="FFFFFF"/>
                    </a:solidFill>
                  </a:tcPr>
                </a:tc>
                <a:extLst>
                  <a:ext uri="{0D108BD9-81ED-4DB2-BD59-A6C34878D82A}">
                    <a16:rowId xmlns:a16="http://schemas.microsoft.com/office/drawing/2014/main" val="10001"/>
                  </a:ext>
                </a:extLst>
              </a:tr>
              <a:tr h="402336">
                <a:tc>
                  <a:txBody>
                    <a:bodyPr/>
                    <a:lstStyle/>
                    <a:p>
                      <a:pPr algn="ctr"/>
                      <a:r>
                        <a:rPr sz="1000" b="0" i="0">
                          <a:solidFill>
                            <a:srgbClr val="262626"/>
                          </a:solidFill>
                          <a:latin typeface="Arial"/>
                        </a:rPr>
                        <a:t>2019</a:t>
                      </a:r>
                    </a:p>
                  </a:txBody>
                  <a:tcPr>
                    <a:solidFill>
                      <a:srgbClr val="F2F2F2"/>
                    </a:solidFill>
                  </a:tcPr>
                </a:tc>
                <a:tc>
                  <a:txBody>
                    <a:bodyPr/>
                    <a:lstStyle/>
                    <a:p>
                      <a:pPr algn="ctr"/>
                      <a:r>
                        <a:rPr sz="1000" b="0" i="0">
                          <a:solidFill>
                            <a:srgbClr val="262626"/>
                          </a:solidFill>
                          <a:latin typeface="Arial"/>
                        </a:rPr>
                        <a:t>Jul 20</a:t>
                      </a:r>
                    </a:p>
                  </a:txBody>
                  <a:tcPr>
                    <a:solidFill>
                      <a:srgbClr val="F2F2F2"/>
                    </a:solidFill>
                  </a:tcPr>
                </a:tc>
                <a:tc>
                  <a:txBody>
                    <a:bodyPr/>
                    <a:lstStyle/>
                    <a:p>
                      <a:pPr algn="ctr"/>
                      <a:r>
                        <a:rPr sz="1000" b="0" i="0">
                          <a:solidFill>
                            <a:srgbClr val="262626"/>
                          </a:solidFill>
                          <a:latin typeface="Arial"/>
                        </a:rPr>
                        <a:t>17.6</a:t>
                      </a:r>
                    </a:p>
                  </a:txBody>
                  <a:tcPr>
                    <a:solidFill>
                      <a:srgbClr val="F2F2F2"/>
                    </a:solidFill>
                  </a:tcPr>
                </a:tc>
                <a:tc>
                  <a:txBody>
                    <a:bodyPr/>
                    <a:lstStyle/>
                    <a:p>
                      <a:pPr algn="ctr"/>
                      <a:r>
                        <a:rPr sz="1000" b="0" i="0">
                          <a:solidFill>
                            <a:srgbClr val="262626"/>
                          </a:solidFill>
                          <a:latin typeface="Arial"/>
                        </a:rPr>
                        <a:t>83%</a:t>
                      </a:r>
                    </a:p>
                  </a:txBody>
                  <a:tcPr>
                    <a:solidFill>
                      <a:srgbClr val="F2F2F2"/>
                    </a:solidFill>
                  </a:tcPr>
                </a:tc>
                <a:tc>
                  <a:txBody>
                    <a:bodyPr/>
                    <a:lstStyle/>
                    <a:p>
                      <a:pPr algn="ctr"/>
                      <a:r>
                        <a:rPr sz="1000" b="0" i="0">
                          <a:solidFill>
                            <a:srgbClr val="262626"/>
                          </a:solidFill>
                          <a:latin typeface="Arial"/>
                        </a:rPr>
                        <a:t>10</a:t>
                      </a:r>
                    </a:p>
                  </a:txBody>
                  <a:tcPr>
                    <a:solidFill>
                      <a:srgbClr val="F2F2F2"/>
                    </a:solidFill>
                  </a:tcPr>
                </a:tc>
                <a:tc>
                  <a:txBody>
                    <a:bodyPr/>
                    <a:lstStyle/>
                    <a:p>
                      <a:pPr algn="ctr"/>
                      <a:r>
                        <a:rPr sz="1000" b="0" i="0">
                          <a:solidFill>
                            <a:srgbClr val="262626"/>
                          </a:solidFill>
                          <a:latin typeface="Arial"/>
                        </a:rPr>
                        <a:t>0.0</a:t>
                      </a:r>
                    </a:p>
                  </a:txBody>
                  <a:tcPr>
                    <a:solidFill>
                      <a:srgbClr val="F2F2F2"/>
                    </a:solidFill>
                  </a:tcPr>
                </a:tc>
                <a:extLst>
                  <a:ext uri="{0D108BD9-81ED-4DB2-BD59-A6C34878D82A}">
                    <a16:rowId xmlns:a16="http://schemas.microsoft.com/office/drawing/2014/main" val="10002"/>
                  </a:ext>
                </a:extLst>
              </a:tr>
              <a:tr h="402336">
                <a:tc>
                  <a:txBody>
                    <a:bodyPr/>
                    <a:lstStyle/>
                    <a:p>
                      <a:pPr algn="ctr"/>
                      <a:r>
                        <a:rPr sz="1000" b="0" i="0">
                          <a:solidFill>
                            <a:srgbClr val="262626"/>
                          </a:solidFill>
                          <a:latin typeface="Arial"/>
                        </a:rPr>
                        <a:t>2021</a:t>
                      </a:r>
                    </a:p>
                  </a:txBody>
                  <a:tcPr>
                    <a:solidFill>
                      <a:srgbClr val="FFFFFF"/>
                    </a:solidFill>
                  </a:tcPr>
                </a:tc>
                <a:tc>
                  <a:txBody>
                    <a:bodyPr/>
                    <a:lstStyle/>
                    <a:p>
                      <a:pPr algn="ctr"/>
                      <a:r>
                        <a:rPr sz="1000" b="0" i="0">
                          <a:solidFill>
                            <a:srgbClr val="262626"/>
                          </a:solidFill>
                          <a:latin typeface="Arial"/>
                        </a:rPr>
                        <a:t>Aug 21</a:t>
                      </a:r>
                    </a:p>
                  </a:txBody>
                  <a:tcPr>
                    <a:solidFill>
                      <a:srgbClr val="FFFFFF"/>
                    </a:solidFill>
                  </a:tcPr>
                </a:tc>
                <a:tc>
                  <a:txBody>
                    <a:bodyPr/>
                    <a:lstStyle/>
                    <a:p>
                      <a:pPr algn="ctr"/>
                      <a:r>
                        <a:rPr sz="1000" b="0" i="0">
                          <a:solidFill>
                            <a:srgbClr val="262626"/>
                          </a:solidFill>
                          <a:latin typeface="Arial"/>
                        </a:rPr>
                        <a:t>15.4</a:t>
                      </a:r>
                    </a:p>
                  </a:txBody>
                  <a:tcPr>
                    <a:solidFill>
                      <a:srgbClr val="FFFFFF"/>
                    </a:solidFill>
                  </a:tcPr>
                </a:tc>
                <a:tc>
                  <a:txBody>
                    <a:bodyPr/>
                    <a:lstStyle/>
                    <a:p>
                      <a:pPr algn="ctr"/>
                      <a:r>
                        <a:rPr sz="1000" b="0" i="0">
                          <a:solidFill>
                            <a:srgbClr val="262626"/>
                          </a:solidFill>
                          <a:latin typeface="Arial"/>
                        </a:rPr>
                        <a:t>80%</a:t>
                      </a:r>
                    </a:p>
                  </a:txBody>
                  <a:tcPr>
                    <a:solidFill>
                      <a:srgbClr val="FFFFFF"/>
                    </a:solidFill>
                  </a:tcPr>
                </a:tc>
                <a:tc>
                  <a:txBody>
                    <a:bodyPr/>
                    <a:lstStyle/>
                    <a:p>
                      <a:pPr algn="ctr"/>
                      <a:r>
                        <a:rPr sz="1000" b="0" i="0">
                          <a:solidFill>
                            <a:srgbClr val="262626"/>
                          </a:solidFill>
                          <a:latin typeface="Arial"/>
                        </a:rPr>
                        <a:t>11</a:t>
                      </a:r>
                    </a:p>
                  </a:txBody>
                  <a:tcPr>
                    <a:solidFill>
                      <a:srgbClr val="FFFFFF"/>
                    </a:solidFill>
                  </a:tcPr>
                </a:tc>
                <a:tc>
                  <a:txBody>
                    <a:bodyPr/>
                    <a:lstStyle/>
                    <a:p>
                      <a:pPr algn="ctr"/>
                      <a:r>
                        <a:rPr sz="1000" b="0" i="0">
                          <a:solidFill>
                            <a:srgbClr val="262626"/>
                          </a:solidFill>
                          <a:latin typeface="Arial"/>
                        </a:rPr>
                        <a:t>0.0</a:t>
                      </a:r>
                    </a:p>
                  </a:txBody>
                  <a:tcPr>
                    <a:solidFill>
                      <a:srgbClr val="FFFFFF"/>
                    </a:solidFill>
                  </a:tcPr>
                </a:tc>
                <a:extLst>
                  <a:ext uri="{0D108BD9-81ED-4DB2-BD59-A6C34878D82A}">
                    <a16:rowId xmlns:a16="http://schemas.microsoft.com/office/drawing/2014/main" val="10003"/>
                  </a:ext>
                </a:extLst>
              </a:tr>
              <a:tr h="402336">
                <a:tc>
                  <a:txBody>
                    <a:bodyPr/>
                    <a:lstStyle/>
                    <a:p>
                      <a:pPr algn="ctr"/>
                      <a:r>
                        <a:rPr sz="1000" b="0" i="0">
                          <a:solidFill>
                            <a:srgbClr val="262626"/>
                          </a:solidFill>
                          <a:latin typeface="Arial"/>
                        </a:rPr>
                        <a:t>2023</a:t>
                      </a:r>
                    </a:p>
                  </a:txBody>
                  <a:tcPr>
                    <a:solidFill>
                      <a:srgbClr val="F2F2F2"/>
                    </a:solidFill>
                  </a:tcPr>
                </a:tc>
                <a:tc>
                  <a:txBody>
                    <a:bodyPr/>
                    <a:lstStyle/>
                    <a:p>
                      <a:pPr algn="ctr"/>
                      <a:r>
                        <a:rPr sz="1000" b="0" i="0">
                          <a:solidFill>
                            <a:srgbClr val="262626"/>
                          </a:solidFill>
                          <a:latin typeface="Arial"/>
                        </a:rPr>
                        <a:t>Aug 26</a:t>
                      </a:r>
                    </a:p>
                  </a:txBody>
                  <a:tcPr>
                    <a:solidFill>
                      <a:srgbClr val="F2F2F2"/>
                    </a:solidFill>
                  </a:tcPr>
                </a:tc>
                <a:tc>
                  <a:txBody>
                    <a:bodyPr/>
                    <a:lstStyle/>
                    <a:p>
                      <a:pPr algn="ctr"/>
                      <a:r>
                        <a:rPr sz="1000" b="0" i="0">
                          <a:solidFill>
                            <a:srgbClr val="262626"/>
                          </a:solidFill>
                          <a:latin typeface="Arial"/>
                        </a:rPr>
                        <a:t>20</a:t>
                      </a:r>
                    </a:p>
                  </a:txBody>
                  <a:tcPr>
                    <a:solidFill>
                      <a:srgbClr val="F2F2F2"/>
                    </a:solidFill>
                  </a:tcPr>
                </a:tc>
                <a:tc>
                  <a:txBody>
                    <a:bodyPr/>
                    <a:lstStyle/>
                    <a:p>
                      <a:pPr algn="ctr"/>
                      <a:r>
                        <a:rPr sz="1000" b="0" i="0">
                          <a:solidFill>
                            <a:srgbClr val="262626"/>
                          </a:solidFill>
                          <a:latin typeface="Arial"/>
                        </a:rPr>
                        <a:t>82%</a:t>
                      </a:r>
                    </a:p>
                  </a:txBody>
                  <a:tcPr>
                    <a:solidFill>
                      <a:srgbClr val="F2F2F2"/>
                    </a:solidFill>
                  </a:tcPr>
                </a:tc>
                <a:tc>
                  <a:txBody>
                    <a:bodyPr/>
                    <a:lstStyle/>
                    <a:p>
                      <a:pPr algn="ctr"/>
                      <a:r>
                        <a:rPr sz="1000" b="0" i="0">
                          <a:solidFill>
                            <a:srgbClr val="262626"/>
                          </a:solidFill>
                          <a:latin typeface="Arial"/>
                        </a:rPr>
                        <a:t>9</a:t>
                      </a:r>
                    </a:p>
                  </a:txBody>
                  <a:tcPr>
                    <a:solidFill>
                      <a:srgbClr val="F2F2F2"/>
                    </a:solidFill>
                  </a:tcPr>
                </a:tc>
                <a:tc>
                  <a:txBody>
                    <a:bodyPr/>
                    <a:lstStyle/>
                    <a:p>
                      <a:pPr algn="ctr"/>
                      <a:r>
                        <a:rPr sz="1000" b="0" i="0">
                          <a:solidFill>
                            <a:srgbClr val="262626"/>
                          </a:solidFill>
                          <a:latin typeface="Arial"/>
                        </a:rPr>
                        <a:t>0.0</a:t>
                      </a:r>
                    </a:p>
                  </a:txBody>
                  <a:tcPr>
                    <a:solidFill>
                      <a:srgbClr val="F2F2F2"/>
                    </a:solidFill>
                  </a:tcPr>
                </a:tc>
                <a:extLst>
                  <a:ext uri="{0D108BD9-81ED-4DB2-BD59-A6C34878D82A}">
                    <a16:rowId xmlns:a16="http://schemas.microsoft.com/office/drawing/2014/main" val="10004"/>
                  </a:ext>
                </a:extLst>
              </a:tr>
              <a:tr h="402336">
                <a:tc>
                  <a:txBody>
                    <a:bodyPr/>
                    <a:lstStyle/>
                    <a:p>
                      <a:pPr algn="ctr"/>
                      <a:r>
                        <a:rPr sz="1000" b="0" i="0">
                          <a:solidFill>
                            <a:srgbClr val="262626"/>
                          </a:solidFill>
                          <a:latin typeface="Arial"/>
                        </a:rPr>
                        <a:t>2024</a:t>
                      </a:r>
                    </a:p>
                  </a:txBody>
                  <a:tcPr>
                    <a:solidFill>
                      <a:srgbClr val="FFFFFF"/>
                    </a:solidFill>
                  </a:tcPr>
                </a:tc>
                <a:tc>
                  <a:txBody>
                    <a:bodyPr/>
                    <a:lstStyle/>
                    <a:p>
                      <a:pPr algn="ctr"/>
                      <a:r>
                        <a:rPr sz="1000" b="0" i="0">
                          <a:solidFill>
                            <a:srgbClr val="262626"/>
                          </a:solidFill>
                          <a:latin typeface="Arial"/>
                        </a:rPr>
                        <a:t>Aug 24</a:t>
                      </a:r>
                    </a:p>
                  </a:txBody>
                  <a:tcPr>
                    <a:solidFill>
                      <a:srgbClr val="FFFFFF"/>
                    </a:solidFill>
                  </a:tcPr>
                </a:tc>
                <a:tc>
                  <a:txBody>
                    <a:bodyPr/>
                    <a:lstStyle/>
                    <a:p>
                      <a:pPr algn="ctr"/>
                      <a:r>
                        <a:rPr sz="1000" b="0" i="0">
                          <a:solidFill>
                            <a:srgbClr val="262626"/>
                          </a:solidFill>
                          <a:latin typeface="Arial"/>
                        </a:rPr>
                        <a:t>19.6</a:t>
                      </a:r>
                    </a:p>
                  </a:txBody>
                  <a:tcPr>
                    <a:solidFill>
                      <a:srgbClr val="FFFFFF"/>
                    </a:solidFill>
                  </a:tcPr>
                </a:tc>
                <a:tc>
                  <a:txBody>
                    <a:bodyPr/>
                    <a:lstStyle/>
                    <a:p>
                      <a:pPr algn="ctr"/>
                      <a:r>
                        <a:rPr sz="1000" b="0" i="0">
                          <a:solidFill>
                            <a:srgbClr val="262626"/>
                          </a:solidFill>
                          <a:latin typeface="Arial"/>
                        </a:rPr>
                        <a:t>81%</a:t>
                      </a:r>
                    </a:p>
                  </a:txBody>
                  <a:tcPr>
                    <a:solidFill>
                      <a:srgbClr val="FFFFFF"/>
                    </a:solidFill>
                  </a:tcPr>
                </a:tc>
                <a:tc>
                  <a:txBody>
                    <a:bodyPr/>
                    <a:lstStyle/>
                    <a:p>
                      <a:pPr algn="ctr"/>
                      <a:r>
                        <a:rPr sz="1000" b="0" i="0">
                          <a:solidFill>
                            <a:srgbClr val="262626"/>
                          </a:solidFill>
                          <a:latin typeface="Arial"/>
                        </a:rPr>
                        <a:t>21</a:t>
                      </a:r>
                    </a:p>
                  </a:txBody>
                  <a:tcPr>
                    <a:solidFill>
                      <a:srgbClr val="FFFFFF"/>
                    </a:solidFill>
                  </a:tcPr>
                </a:tc>
                <a:tc>
                  <a:txBody>
                    <a:bodyPr/>
                    <a:lstStyle/>
                    <a:p>
                      <a:pPr algn="ctr"/>
                      <a:r>
                        <a:rPr sz="1000" b="0" i="0">
                          <a:solidFill>
                            <a:srgbClr val="262626"/>
                          </a:solidFill>
                          <a:latin typeface="Arial"/>
                        </a:rPr>
                        <a:t>0.1</a:t>
                      </a:r>
                    </a:p>
                  </a:txBody>
                  <a:tcPr>
                    <a:solidFill>
                      <a:srgbClr val="FFFFFF"/>
                    </a:solidFill>
                  </a:tcPr>
                </a:tc>
                <a:extLst>
                  <a:ext uri="{0D108BD9-81ED-4DB2-BD59-A6C34878D82A}">
                    <a16:rowId xmlns:a16="http://schemas.microsoft.com/office/drawing/2014/main" val="10005"/>
                  </a:ext>
                </a:extLst>
              </a:tr>
            </a:tbl>
          </a:graphicData>
        </a:graphic>
      </p:graphicFrame>
      <p:sp>
        <p:nvSpPr>
          <p:cNvPr id="9" name="Rectangle 8"/>
          <p:cNvSpPr/>
          <p:nvPr/>
        </p:nvSpPr>
        <p:spPr>
          <a:xfrm>
            <a:off x="274320" y="1078992"/>
            <a:ext cx="4709160" cy="914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20040" y="1088136"/>
            <a:ext cx="4572000" cy="91440"/>
          </a:xfrm>
          <a:prstGeom prst="rect">
            <a:avLst/>
          </a:prstGeom>
          <a:noFill/>
        </p:spPr>
        <p:txBody>
          <a:bodyPr wrap="square">
            <a:spAutoFit/>
          </a:bodyPr>
          <a:lstStyle/>
          <a:p>
            <a:pPr algn="l"/>
            <a:r>
              <a:rPr sz="950" b="1" i="0">
                <a:solidFill>
                  <a:srgbClr val="002060"/>
                </a:solidFill>
                <a:latin typeface="Arial"/>
              </a:rPr>
              <a:t>RACE-DAY WEATHER (08:00–11:00 local)</a:t>
            </a:r>
          </a:p>
        </p:txBody>
      </p:sp>
      <p:graphicFrame>
        <p:nvGraphicFramePr>
          <p:cNvPr id="11" name="Table 10"/>
          <p:cNvGraphicFramePr>
            <a:graphicFrameLocks noGrp="1"/>
          </p:cNvGraphicFramePr>
          <p:nvPr/>
        </p:nvGraphicFramePr>
        <p:xfrm>
          <a:off x="5166360" y="1170432"/>
          <a:ext cx="4069078" cy="2414016"/>
        </p:xfrm>
        <a:graphic>
          <a:graphicData uri="http://schemas.openxmlformats.org/drawingml/2006/table">
            <a:tbl>
              <a:tblPr firstRow="1" bandRow="1">
                <a:tableStyleId>{5C22544A-7EE6-4342-B048-85BDC9FD1C3A}</a:tableStyleId>
              </a:tblPr>
              <a:tblGrid>
                <a:gridCol w="629738">
                  <a:extLst>
                    <a:ext uri="{9D8B030D-6E8A-4147-A177-3AD203B41FA5}">
                      <a16:colId xmlns:a16="http://schemas.microsoft.com/office/drawing/2014/main" val="20000"/>
                    </a:ext>
                  </a:extLst>
                </a:gridCol>
                <a:gridCol w="823504">
                  <a:extLst>
                    <a:ext uri="{9D8B030D-6E8A-4147-A177-3AD203B41FA5}">
                      <a16:colId xmlns:a16="http://schemas.microsoft.com/office/drawing/2014/main" val="20001"/>
                    </a:ext>
                  </a:extLst>
                </a:gridCol>
                <a:gridCol w="726621">
                  <a:extLst>
                    <a:ext uri="{9D8B030D-6E8A-4147-A177-3AD203B41FA5}">
                      <a16:colId xmlns:a16="http://schemas.microsoft.com/office/drawing/2014/main" val="20002"/>
                    </a:ext>
                  </a:extLst>
                </a:gridCol>
                <a:gridCol w="823504">
                  <a:extLst>
                    <a:ext uri="{9D8B030D-6E8A-4147-A177-3AD203B41FA5}">
                      <a16:colId xmlns:a16="http://schemas.microsoft.com/office/drawing/2014/main" val="20003"/>
                    </a:ext>
                  </a:extLst>
                </a:gridCol>
                <a:gridCol w="1065711">
                  <a:extLst>
                    <a:ext uri="{9D8B030D-6E8A-4147-A177-3AD203B41FA5}">
                      <a16:colId xmlns:a16="http://schemas.microsoft.com/office/drawing/2014/main" val="20004"/>
                    </a:ext>
                  </a:extLst>
                </a:gridCol>
              </a:tblGrid>
              <a:tr h="402336">
                <a:tc>
                  <a:txBody>
                    <a:bodyPr/>
                    <a:lstStyle/>
                    <a:p>
                      <a:pPr algn="ctr"/>
                      <a:r>
                        <a:rPr sz="1000" b="1" i="0">
                          <a:solidFill>
                            <a:srgbClr val="FFFFFF"/>
                          </a:solidFill>
                          <a:latin typeface="Arial"/>
                        </a:rPr>
                        <a:t>Year</a:t>
                      </a:r>
                    </a:p>
                  </a:txBody>
                  <a:tcPr>
                    <a:solidFill>
                      <a:srgbClr val="002060"/>
                    </a:solidFill>
                  </a:tcPr>
                </a:tc>
                <a:tc>
                  <a:txBody>
                    <a:bodyPr/>
                    <a:lstStyle/>
                    <a:p>
                      <a:pPr algn="ctr"/>
                      <a:r>
                        <a:rPr sz="1000" b="1" i="0">
                          <a:solidFill>
                            <a:srgbClr val="FFFFFF"/>
                          </a:solidFill>
                          <a:latin typeface="Arial"/>
                        </a:rPr>
                        <a:t>PM2.5</a:t>
                      </a:r>
                    </a:p>
                  </a:txBody>
                  <a:tcPr>
                    <a:solidFill>
                      <a:srgbClr val="002060"/>
                    </a:solidFill>
                  </a:tcPr>
                </a:tc>
                <a:tc>
                  <a:txBody>
                    <a:bodyPr/>
                    <a:lstStyle/>
                    <a:p>
                      <a:pPr algn="ctr"/>
                      <a:r>
                        <a:rPr sz="1000" b="1" i="0">
                          <a:solidFill>
                            <a:srgbClr val="FFFFFF"/>
                          </a:solidFill>
                          <a:latin typeface="Arial"/>
                        </a:rPr>
                        <a:t>EU AQI</a:t>
                      </a:r>
                    </a:p>
                  </a:txBody>
                  <a:tcPr>
                    <a:solidFill>
                      <a:srgbClr val="002060"/>
                    </a:solidFill>
                  </a:tcPr>
                </a:tc>
                <a:tc>
                  <a:txBody>
                    <a:bodyPr/>
                    <a:lstStyle/>
                    <a:p>
                      <a:pPr algn="ctr"/>
                      <a:r>
                        <a:rPr sz="1000" b="1" i="0">
                          <a:solidFill>
                            <a:srgbClr val="FFFFFF"/>
                          </a:solidFill>
                          <a:latin typeface="Arial"/>
                        </a:rPr>
                        <a:t>UV Index</a:t>
                      </a:r>
                    </a:p>
                  </a:txBody>
                  <a:tcPr>
                    <a:solidFill>
                      <a:srgbClr val="002060"/>
                    </a:solidFill>
                  </a:tcPr>
                </a:tc>
                <a:tc>
                  <a:txBody>
                    <a:bodyPr/>
                    <a:lstStyle/>
                    <a:p>
                      <a:pPr algn="ctr"/>
                      <a:r>
                        <a:rPr sz="1000" b="1" i="0">
                          <a:solidFill>
                            <a:srgbClr val="FFFFFF"/>
                          </a:solidFill>
                          <a:latin typeface="Arial"/>
                        </a:rPr>
                        <a:t>Risk</a:t>
                      </a:r>
                    </a:p>
                  </a:txBody>
                  <a:tcPr>
                    <a:solidFill>
                      <a:srgbClr val="002060"/>
                    </a:solidFill>
                  </a:tcPr>
                </a:tc>
                <a:extLst>
                  <a:ext uri="{0D108BD9-81ED-4DB2-BD59-A6C34878D82A}">
                    <a16:rowId xmlns:a16="http://schemas.microsoft.com/office/drawing/2014/main" val="10000"/>
                  </a:ext>
                </a:extLst>
              </a:tr>
              <a:tr h="402336">
                <a:tc>
                  <a:txBody>
                    <a:bodyPr/>
                    <a:lstStyle/>
                    <a:p>
                      <a:pPr algn="ctr"/>
                      <a:r>
                        <a:rPr sz="1000" b="0" i="0">
                          <a:solidFill>
                            <a:srgbClr val="262626"/>
                          </a:solidFill>
                          <a:latin typeface="Arial"/>
                        </a:rPr>
                        <a:t>2018</a:t>
                      </a:r>
                    </a:p>
                  </a:txBody>
                  <a:tcPr>
                    <a:solidFill>
                      <a:srgbClr val="FFFFFF"/>
                    </a:solidFill>
                  </a:tcPr>
                </a:tc>
                <a:tc>
                  <a:txBody>
                    <a:bodyPr/>
                    <a:lstStyle/>
                    <a:p>
                      <a:pPr algn="ctr"/>
                      <a:r>
                        <a:rPr sz="1000" b="0" i="0">
                          <a:solidFill>
                            <a:srgbClr val="262626"/>
                          </a:solidFill>
                          <a:latin typeface="Arial"/>
                        </a:rPr>
                        <a:t>—</a:t>
                      </a:r>
                    </a:p>
                  </a:txBody>
                  <a:tcPr>
                    <a:solidFill>
                      <a:srgbClr val="FFFFFF"/>
                    </a:solidFill>
                  </a:tcPr>
                </a:tc>
                <a:tc>
                  <a:txBody>
                    <a:bodyPr/>
                    <a:lstStyle/>
                    <a:p>
                      <a:pPr algn="ctr"/>
                      <a:r>
                        <a:rPr sz="1000" b="0" i="0">
                          <a:solidFill>
                            <a:srgbClr val="262626"/>
                          </a:solidFill>
                          <a:latin typeface="Arial"/>
                        </a:rPr>
                        <a:t>—</a:t>
                      </a:r>
                    </a:p>
                  </a:txBody>
                  <a:tcPr>
                    <a:solidFill>
                      <a:srgbClr val="FFFFFF"/>
                    </a:solidFill>
                  </a:tcPr>
                </a:tc>
                <a:tc>
                  <a:txBody>
                    <a:bodyPr/>
                    <a:lstStyle/>
                    <a:p>
                      <a:pPr algn="ctr"/>
                      <a:r>
                        <a:rPr sz="1000" b="0" i="0">
                          <a:solidFill>
                            <a:srgbClr val="262626"/>
                          </a:solidFill>
                          <a:latin typeface="Arial"/>
                        </a:rPr>
                        <a:t>—</a:t>
                      </a:r>
                    </a:p>
                  </a:txBody>
                  <a:tcPr>
                    <a:solidFill>
                      <a:srgbClr val="FFFFFF"/>
                    </a:solidFill>
                  </a:tcPr>
                </a:tc>
                <a:tc>
                  <a:txBody>
                    <a:bodyPr/>
                    <a:lstStyle/>
                    <a:p>
                      <a:pPr algn="ctr"/>
                      <a:r>
                        <a:rPr sz="1000" b="0" i="0">
                          <a:solidFill>
                            <a:srgbClr val="262626"/>
                          </a:solidFill>
                          <a:latin typeface="Arial"/>
                        </a:rPr>
                        <a:t>—</a:t>
                      </a:r>
                    </a:p>
                  </a:txBody>
                  <a:tcPr>
                    <a:solidFill>
                      <a:srgbClr val="FFFFFF"/>
                    </a:solidFill>
                  </a:tcPr>
                </a:tc>
                <a:extLst>
                  <a:ext uri="{0D108BD9-81ED-4DB2-BD59-A6C34878D82A}">
                    <a16:rowId xmlns:a16="http://schemas.microsoft.com/office/drawing/2014/main" val="10001"/>
                  </a:ext>
                </a:extLst>
              </a:tr>
              <a:tr h="402336">
                <a:tc>
                  <a:txBody>
                    <a:bodyPr/>
                    <a:lstStyle/>
                    <a:p>
                      <a:pPr algn="ctr"/>
                      <a:r>
                        <a:rPr sz="1000" b="0" i="0">
                          <a:solidFill>
                            <a:srgbClr val="262626"/>
                          </a:solidFill>
                          <a:latin typeface="Arial"/>
                        </a:rPr>
                        <a:t>2019</a:t>
                      </a:r>
                    </a:p>
                  </a:txBody>
                  <a:tcPr>
                    <a:solidFill>
                      <a:srgbClr val="F2F2F2"/>
                    </a:solidFill>
                  </a:tcPr>
                </a:tc>
                <a:tc>
                  <a:txBody>
                    <a:bodyPr/>
                    <a:lstStyle/>
                    <a:p>
                      <a:pPr algn="ctr"/>
                      <a:r>
                        <a:rPr sz="1000" b="0" i="0">
                          <a:solidFill>
                            <a:srgbClr val="262626"/>
                          </a:solidFill>
                          <a:latin typeface="Arial"/>
                        </a:rPr>
                        <a:t>—</a:t>
                      </a:r>
                    </a:p>
                  </a:txBody>
                  <a:tcPr>
                    <a:solidFill>
                      <a:srgbClr val="F2F2F2"/>
                    </a:solidFill>
                  </a:tcPr>
                </a:tc>
                <a:tc>
                  <a:txBody>
                    <a:bodyPr/>
                    <a:lstStyle/>
                    <a:p>
                      <a:pPr algn="ctr"/>
                      <a:r>
                        <a:rPr sz="1000" b="0" i="0">
                          <a:solidFill>
                            <a:srgbClr val="262626"/>
                          </a:solidFill>
                          <a:latin typeface="Arial"/>
                        </a:rPr>
                        <a:t>—</a:t>
                      </a:r>
                    </a:p>
                  </a:txBody>
                  <a:tcPr>
                    <a:solidFill>
                      <a:srgbClr val="F2F2F2"/>
                    </a:solidFill>
                  </a:tcPr>
                </a:tc>
                <a:tc>
                  <a:txBody>
                    <a:bodyPr/>
                    <a:lstStyle/>
                    <a:p>
                      <a:pPr algn="ctr"/>
                      <a:r>
                        <a:rPr sz="1000" b="0" i="0">
                          <a:solidFill>
                            <a:srgbClr val="262626"/>
                          </a:solidFill>
                          <a:latin typeface="Arial"/>
                        </a:rPr>
                        <a:t>—</a:t>
                      </a:r>
                    </a:p>
                  </a:txBody>
                  <a:tcPr>
                    <a:solidFill>
                      <a:srgbClr val="F2F2F2"/>
                    </a:solidFill>
                  </a:tcPr>
                </a:tc>
                <a:tc>
                  <a:txBody>
                    <a:bodyPr/>
                    <a:lstStyle/>
                    <a:p>
                      <a:pPr algn="ctr"/>
                      <a:r>
                        <a:rPr sz="1000" b="0" i="0">
                          <a:solidFill>
                            <a:srgbClr val="262626"/>
                          </a:solidFill>
                          <a:latin typeface="Arial"/>
                        </a:rPr>
                        <a:t>—</a:t>
                      </a:r>
                    </a:p>
                  </a:txBody>
                  <a:tcPr>
                    <a:solidFill>
                      <a:srgbClr val="F2F2F2"/>
                    </a:solidFill>
                  </a:tcPr>
                </a:tc>
                <a:extLst>
                  <a:ext uri="{0D108BD9-81ED-4DB2-BD59-A6C34878D82A}">
                    <a16:rowId xmlns:a16="http://schemas.microsoft.com/office/drawing/2014/main" val="10002"/>
                  </a:ext>
                </a:extLst>
              </a:tr>
              <a:tr h="402336">
                <a:tc>
                  <a:txBody>
                    <a:bodyPr/>
                    <a:lstStyle/>
                    <a:p>
                      <a:pPr algn="ctr"/>
                      <a:r>
                        <a:rPr sz="1000" b="0" i="0">
                          <a:solidFill>
                            <a:srgbClr val="262626"/>
                          </a:solidFill>
                          <a:latin typeface="Arial"/>
                        </a:rPr>
                        <a:t>2021</a:t>
                      </a:r>
                    </a:p>
                  </a:txBody>
                  <a:tcPr>
                    <a:solidFill>
                      <a:srgbClr val="FFFFFF"/>
                    </a:solidFill>
                  </a:tcPr>
                </a:tc>
                <a:tc>
                  <a:txBody>
                    <a:bodyPr/>
                    <a:lstStyle/>
                    <a:p>
                      <a:pPr algn="ctr"/>
                      <a:r>
                        <a:rPr sz="1000" b="0" i="0">
                          <a:solidFill>
                            <a:srgbClr val="262626"/>
                          </a:solidFill>
                          <a:latin typeface="Arial"/>
                        </a:rPr>
                        <a:t>—</a:t>
                      </a:r>
                    </a:p>
                  </a:txBody>
                  <a:tcPr>
                    <a:solidFill>
                      <a:srgbClr val="FFFFFF"/>
                    </a:solidFill>
                  </a:tcPr>
                </a:tc>
                <a:tc>
                  <a:txBody>
                    <a:bodyPr/>
                    <a:lstStyle/>
                    <a:p>
                      <a:pPr algn="ctr"/>
                      <a:r>
                        <a:rPr sz="1000" b="0" i="0">
                          <a:solidFill>
                            <a:srgbClr val="262626"/>
                          </a:solidFill>
                          <a:latin typeface="Arial"/>
                        </a:rPr>
                        <a:t>—</a:t>
                      </a:r>
                    </a:p>
                  </a:txBody>
                  <a:tcPr>
                    <a:solidFill>
                      <a:srgbClr val="FFFFFF"/>
                    </a:solidFill>
                  </a:tcPr>
                </a:tc>
                <a:tc>
                  <a:txBody>
                    <a:bodyPr/>
                    <a:lstStyle/>
                    <a:p>
                      <a:pPr algn="ctr"/>
                      <a:r>
                        <a:rPr sz="1000" b="0" i="0">
                          <a:solidFill>
                            <a:srgbClr val="262626"/>
                          </a:solidFill>
                          <a:latin typeface="Arial"/>
                        </a:rPr>
                        <a:t>—</a:t>
                      </a:r>
                    </a:p>
                  </a:txBody>
                  <a:tcPr>
                    <a:solidFill>
                      <a:srgbClr val="FFFFFF"/>
                    </a:solidFill>
                  </a:tcPr>
                </a:tc>
                <a:tc>
                  <a:txBody>
                    <a:bodyPr/>
                    <a:lstStyle/>
                    <a:p>
                      <a:pPr algn="ctr"/>
                      <a:r>
                        <a:rPr sz="1000" b="0" i="0">
                          <a:solidFill>
                            <a:srgbClr val="262626"/>
                          </a:solidFill>
                          <a:latin typeface="Arial"/>
                        </a:rPr>
                        <a:t>—</a:t>
                      </a:r>
                    </a:p>
                  </a:txBody>
                  <a:tcPr>
                    <a:solidFill>
                      <a:srgbClr val="FFFFFF"/>
                    </a:solidFill>
                  </a:tcPr>
                </a:tc>
                <a:extLst>
                  <a:ext uri="{0D108BD9-81ED-4DB2-BD59-A6C34878D82A}">
                    <a16:rowId xmlns:a16="http://schemas.microsoft.com/office/drawing/2014/main" val="10003"/>
                  </a:ext>
                </a:extLst>
              </a:tr>
              <a:tr h="402336">
                <a:tc>
                  <a:txBody>
                    <a:bodyPr/>
                    <a:lstStyle/>
                    <a:p>
                      <a:pPr algn="ctr"/>
                      <a:r>
                        <a:rPr sz="1000" b="0" i="0">
                          <a:solidFill>
                            <a:srgbClr val="262626"/>
                          </a:solidFill>
                          <a:latin typeface="Arial"/>
                        </a:rPr>
                        <a:t>2023</a:t>
                      </a:r>
                    </a:p>
                  </a:txBody>
                  <a:tcPr>
                    <a:solidFill>
                      <a:srgbClr val="F2F2F2"/>
                    </a:solidFill>
                  </a:tcPr>
                </a:tc>
                <a:tc>
                  <a:txBody>
                    <a:bodyPr/>
                    <a:lstStyle/>
                    <a:p>
                      <a:pPr algn="ctr"/>
                      <a:r>
                        <a:rPr sz="1000" b="0" i="0">
                          <a:solidFill>
                            <a:srgbClr val="262626"/>
                          </a:solidFill>
                          <a:latin typeface="Arial"/>
                        </a:rPr>
                        <a:t>15.4</a:t>
                      </a:r>
                    </a:p>
                  </a:txBody>
                  <a:tcPr>
                    <a:solidFill>
                      <a:srgbClr val="F2F2F2"/>
                    </a:solidFill>
                  </a:tcPr>
                </a:tc>
                <a:tc>
                  <a:txBody>
                    <a:bodyPr/>
                    <a:lstStyle/>
                    <a:p>
                      <a:pPr algn="ctr"/>
                      <a:r>
                        <a:rPr sz="1000" b="0" i="0">
                          <a:solidFill>
                            <a:srgbClr val="262626"/>
                          </a:solidFill>
                          <a:latin typeface="Arial"/>
                        </a:rPr>
                        <a:t>46</a:t>
                      </a:r>
                    </a:p>
                  </a:txBody>
                  <a:tcPr>
                    <a:solidFill>
                      <a:srgbClr val="F2F2F2"/>
                    </a:solidFill>
                  </a:tcPr>
                </a:tc>
                <a:tc>
                  <a:txBody>
                    <a:bodyPr/>
                    <a:lstStyle/>
                    <a:p>
                      <a:pPr algn="ctr"/>
                      <a:r>
                        <a:rPr sz="1000" b="0" i="0">
                          <a:solidFill>
                            <a:srgbClr val="262626"/>
                          </a:solidFill>
                          <a:latin typeface="Arial"/>
                        </a:rPr>
                        <a:t>1.7</a:t>
                      </a:r>
                    </a:p>
                  </a:txBody>
                  <a:tcPr>
                    <a:solidFill>
                      <a:srgbClr val="F2F2F2"/>
                    </a:solidFill>
                  </a:tcPr>
                </a:tc>
                <a:tc>
                  <a:txBody>
                    <a:bodyPr/>
                    <a:lstStyle/>
                    <a:p>
                      <a:pPr algn="ctr"/>
                      <a:r>
                        <a:rPr sz="1000" b="0" i="0">
                          <a:solidFill>
                            <a:srgbClr val="262626"/>
                          </a:solidFill>
                          <a:latin typeface="Arial"/>
                        </a:rPr>
                        <a:t>Moderate</a:t>
                      </a:r>
                    </a:p>
                  </a:txBody>
                  <a:tcPr>
                    <a:solidFill>
                      <a:srgbClr val="F2F2F2"/>
                    </a:solidFill>
                  </a:tcPr>
                </a:tc>
                <a:extLst>
                  <a:ext uri="{0D108BD9-81ED-4DB2-BD59-A6C34878D82A}">
                    <a16:rowId xmlns:a16="http://schemas.microsoft.com/office/drawing/2014/main" val="10004"/>
                  </a:ext>
                </a:extLst>
              </a:tr>
              <a:tr h="402336">
                <a:tc>
                  <a:txBody>
                    <a:bodyPr/>
                    <a:lstStyle/>
                    <a:p>
                      <a:pPr algn="ctr"/>
                      <a:r>
                        <a:rPr sz="1000" b="0" i="0">
                          <a:solidFill>
                            <a:srgbClr val="262626"/>
                          </a:solidFill>
                          <a:latin typeface="Arial"/>
                        </a:rPr>
                        <a:t>2024</a:t>
                      </a:r>
                    </a:p>
                  </a:txBody>
                  <a:tcPr>
                    <a:solidFill>
                      <a:srgbClr val="FFFFFF"/>
                    </a:solidFill>
                  </a:tcPr>
                </a:tc>
                <a:tc>
                  <a:txBody>
                    <a:bodyPr/>
                    <a:lstStyle/>
                    <a:p>
                      <a:pPr algn="ctr"/>
                      <a:r>
                        <a:rPr sz="1000" b="0" i="0">
                          <a:solidFill>
                            <a:srgbClr val="262626"/>
                          </a:solidFill>
                          <a:latin typeface="Arial"/>
                        </a:rPr>
                        <a:t>12.5</a:t>
                      </a:r>
                    </a:p>
                  </a:txBody>
                  <a:tcPr>
                    <a:solidFill>
                      <a:srgbClr val="FFFFFF"/>
                    </a:solidFill>
                  </a:tcPr>
                </a:tc>
                <a:tc>
                  <a:txBody>
                    <a:bodyPr/>
                    <a:lstStyle/>
                    <a:p>
                      <a:pPr algn="ctr"/>
                      <a:r>
                        <a:rPr sz="1000" b="0" i="0">
                          <a:solidFill>
                            <a:srgbClr val="262626"/>
                          </a:solidFill>
                          <a:latin typeface="Arial"/>
                        </a:rPr>
                        <a:t>31</a:t>
                      </a:r>
                    </a:p>
                  </a:txBody>
                  <a:tcPr>
                    <a:solidFill>
                      <a:srgbClr val="FFFFFF"/>
                    </a:solidFill>
                  </a:tcPr>
                </a:tc>
                <a:tc>
                  <a:txBody>
                    <a:bodyPr/>
                    <a:lstStyle/>
                    <a:p>
                      <a:pPr algn="ctr"/>
                      <a:r>
                        <a:rPr sz="1000" b="0" i="0">
                          <a:solidFill>
                            <a:srgbClr val="262626"/>
                          </a:solidFill>
                          <a:latin typeface="Arial"/>
                        </a:rPr>
                        <a:t>1.3</a:t>
                      </a:r>
                    </a:p>
                  </a:txBody>
                  <a:tcPr>
                    <a:solidFill>
                      <a:srgbClr val="FFFFFF"/>
                    </a:solidFill>
                  </a:tcPr>
                </a:tc>
                <a:tc>
                  <a:txBody>
                    <a:bodyPr/>
                    <a:lstStyle/>
                    <a:p>
                      <a:pPr algn="ctr"/>
                      <a:r>
                        <a:rPr sz="1000" b="0" i="0">
                          <a:solidFill>
                            <a:srgbClr val="262626"/>
                          </a:solidFill>
                          <a:latin typeface="Arial"/>
                        </a:rPr>
                        <a:t>Fair</a:t>
                      </a:r>
                    </a:p>
                  </a:txBody>
                  <a:tcPr>
                    <a:solidFill>
                      <a:srgbClr val="FFFFFF"/>
                    </a:solidFill>
                  </a:tcPr>
                </a:tc>
                <a:extLst>
                  <a:ext uri="{0D108BD9-81ED-4DB2-BD59-A6C34878D82A}">
                    <a16:rowId xmlns:a16="http://schemas.microsoft.com/office/drawing/2014/main" val="10005"/>
                  </a:ext>
                </a:extLst>
              </a:tr>
            </a:tbl>
          </a:graphicData>
        </a:graphic>
      </p:graphicFrame>
      <p:sp>
        <p:nvSpPr>
          <p:cNvPr id="12" name="TextBox 11"/>
          <p:cNvSpPr txBox="1"/>
          <p:nvPr/>
        </p:nvSpPr>
        <p:spPr>
          <a:xfrm>
            <a:off x="5212080" y="1088136"/>
            <a:ext cx="3931920" cy="91440"/>
          </a:xfrm>
          <a:prstGeom prst="rect">
            <a:avLst/>
          </a:prstGeom>
          <a:noFill/>
        </p:spPr>
        <p:txBody>
          <a:bodyPr wrap="square">
            <a:spAutoFit/>
          </a:bodyPr>
          <a:lstStyle/>
          <a:p>
            <a:pPr algn="l"/>
            <a:r>
              <a:rPr sz="950" b="1" i="0">
                <a:solidFill>
                  <a:srgbClr val="002060"/>
                </a:solidFill>
                <a:latin typeface="Arial"/>
              </a:rPr>
              <a:t>AIR QUALITY (Open-Meteo archive)</a:t>
            </a:r>
          </a:p>
        </p:txBody>
      </p:sp>
      <p:sp>
        <p:nvSpPr>
          <p:cNvPr id="13" name="Rectangle 12"/>
          <p:cNvSpPr/>
          <p:nvPr/>
        </p:nvSpPr>
        <p:spPr>
          <a:xfrm>
            <a:off x="274320" y="3813048"/>
            <a:ext cx="11640312" cy="32004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20040" y="3831336"/>
            <a:ext cx="11155680" cy="274320"/>
          </a:xfrm>
          <a:prstGeom prst="rect">
            <a:avLst/>
          </a:prstGeom>
          <a:noFill/>
        </p:spPr>
        <p:txBody>
          <a:bodyPr wrap="square">
            <a:spAutoFit/>
          </a:bodyPr>
          <a:lstStyle/>
          <a:p>
            <a:pPr algn="l"/>
            <a:r>
              <a:rPr sz="1200" b="1" i="0">
                <a:solidFill>
                  <a:srgbClr val="FFFFFF"/>
                </a:solidFill>
                <a:latin typeface="Arial"/>
              </a:rPr>
              <a:t>HEALTH &amp; WATER QUALITY RISK FACTORS</a:t>
            </a:r>
          </a:p>
        </p:txBody>
      </p:sp>
      <p:sp>
        <p:nvSpPr>
          <p:cNvPr id="15" name="TextBox 14"/>
          <p:cNvSpPr txBox="1"/>
          <p:nvPr/>
        </p:nvSpPr>
        <p:spPr>
          <a:xfrm>
            <a:off x="365760" y="4197096"/>
            <a:ext cx="11430000" cy="619506"/>
          </a:xfrm>
          <a:prstGeom prst="rect">
            <a:avLst/>
          </a:prstGeom>
          <a:noFill/>
        </p:spPr>
        <p:txBody>
          <a:bodyPr wrap="square">
            <a:spAutoFit/>
          </a:bodyPr>
          <a:lstStyle/>
          <a:p>
            <a:pPr algn="l"/>
            <a:r>
              <a:rPr sz="1000" b="0" i="0">
                <a:solidFill>
                  <a:srgbClr val="262626"/>
                </a:solidFill>
                <a:latin typeface="Arial"/>
              </a:rPr>
              <a:t>• Water Quality: [PLACEHOLDER: Historical water quality data for Edmonton — e.g. bacterial counts, EU Bathing Water Directive status, known algae / pollution events. Check local environmental agency reports for May race window.]</a:t>
            </a:r>
          </a:p>
        </p:txBody>
      </p:sp>
      <p:sp>
        <p:nvSpPr>
          <p:cNvPr id="16" name="TextBox 15"/>
          <p:cNvSpPr txBox="1"/>
          <p:nvPr/>
        </p:nvSpPr>
        <p:spPr>
          <a:xfrm>
            <a:off x="365760" y="4816602"/>
            <a:ext cx="11430000" cy="619506"/>
          </a:xfrm>
          <a:prstGeom prst="rect">
            <a:avLst/>
          </a:prstGeom>
          <a:noFill/>
        </p:spPr>
        <p:txBody>
          <a:bodyPr wrap="square">
            <a:spAutoFit/>
          </a:bodyPr>
          <a:lstStyle/>
          <a:p>
            <a:pPr algn="l"/>
            <a:r>
              <a:rPr sz="1000" b="0" i="0">
                <a:solidFill>
                  <a:srgbClr val="262626"/>
                </a:solidFill>
                <a:latin typeface="Arial"/>
              </a:rPr>
              <a:t>• Athlete Health Incidents: [PLACEHOLDER: Any known GI illness, respiratory, or heat-related incidents at this or comparable venues. E.g. Sunderland 2023 — reported GI illness post-swim for multiple athletes.]</a:t>
            </a:r>
          </a:p>
        </p:txBody>
      </p:sp>
      <p:sp>
        <p:nvSpPr>
          <p:cNvPr id="17" name="TextBox 16"/>
          <p:cNvSpPr txBox="1"/>
          <p:nvPr/>
        </p:nvSpPr>
        <p:spPr>
          <a:xfrm>
            <a:off x="365760" y="5436108"/>
            <a:ext cx="11430000" cy="619506"/>
          </a:xfrm>
          <a:prstGeom prst="rect">
            <a:avLst/>
          </a:prstGeom>
          <a:noFill/>
        </p:spPr>
        <p:txBody>
          <a:bodyPr wrap="square">
            <a:spAutoFit/>
          </a:bodyPr>
          <a:lstStyle/>
          <a:p>
            <a:pPr algn="l"/>
            <a:r>
              <a:rPr sz="1000" b="0" i="0">
                <a:solidFill>
                  <a:srgbClr val="262626"/>
                </a:solidFill>
                <a:latin typeface="Arial"/>
              </a:rPr>
              <a:t>• Water Temperature: [PLACEHOLDER: Historical open-water temperature for Edmonton in May (not available from Open-Meteo; check Copernicus Marine / NOAA or WT historical results).]</a:t>
            </a:r>
          </a:p>
        </p:txBody>
      </p:sp>
      <p:sp>
        <p:nvSpPr>
          <p:cNvPr id="18" name="TextBox 17"/>
          <p:cNvSpPr txBox="1"/>
          <p:nvPr/>
        </p:nvSpPr>
        <p:spPr>
          <a:xfrm>
            <a:off x="365760" y="6055614"/>
            <a:ext cx="11430000" cy="619506"/>
          </a:xfrm>
          <a:prstGeom prst="rect">
            <a:avLst/>
          </a:prstGeom>
          <a:noFill/>
        </p:spPr>
        <p:txBody>
          <a:bodyPr wrap="square">
            <a:spAutoFit/>
          </a:bodyPr>
          <a:lstStyle/>
          <a:p>
            <a:pPr algn="l"/>
            <a:r>
              <a:rPr sz="1000" b="0" i="0">
                <a:solidFill>
                  <a:srgbClr val="262626"/>
                </a:solidFill>
                <a:latin typeface="Arial"/>
              </a:rPr>
              <a:t>• Heat / Humidity Risk: Auto-derived from above table — flag if humidity &gt;70% or air temp &gt;25°C at race time.</a:t>
            </a:r>
          </a:p>
        </p:txBody>
      </p:sp>
      <p:sp>
        <p:nvSpPr>
          <p:cNvPr id="19" name="TextBox 18"/>
          <p:cNvSpPr txBox="1"/>
          <p:nvPr/>
        </p:nvSpPr>
        <p:spPr>
          <a:xfrm>
            <a:off x="274320" y="6565392"/>
            <a:ext cx="11640312" cy="201168"/>
          </a:xfrm>
          <a:prstGeom prst="rect">
            <a:avLst/>
          </a:prstGeom>
          <a:noFill/>
        </p:spPr>
        <p:txBody>
          <a:bodyPr wrap="square">
            <a:spAutoFit/>
          </a:bodyPr>
          <a:lstStyle/>
          <a:p>
            <a:pPr algn="l"/>
            <a:r>
              <a:rPr sz="800" b="0" i="1">
                <a:solidFill>
                  <a:srgbClr val="BFBFBF"/>
                </a:solidFill>
                <a:latin typeface="Arial"/>
              </a:rPr>
              <a:t>Weather and AQ data: Open-Meteo historical archive (archive-api.open-meteo.com). EU AQI: Good ≤20, Fair ≤40, Moderate ≤60, Poor ≤80, Very Poor &gt;80.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Who to Watch — Edmonton Race Week</a:t>
            </a:r>
          </a:p>
        </p:txBody>
      </p:sp>
      <p:sp>
        <p:nvSpPr>
          <p:cNvPr id="4" name="Rectangle 3"/>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6" name="Rectangle 5"/>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74320" y="1188720"/>
            <a:ext cx="5669280" cy="3657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1234440"/>
            <a:ext cx="5486400" cy="292608"/>
          </a:xfrm>
          <a:prstGeom prst="rect">
            <a:avLst/>
          </a:prstGeom>
          <a:noFill/>
        </p:spPr>
        <p:txBody>
          <a:bodyPr wrap="square">
            <a:spAutoFit/>
          </a:bodyPr>
          <a:lstStyle/>
          <a:p>
            <a:pPr algn="ctr"/>
            <a:r>
              <a:rPr sz="1400" b="1" i="0">
                <a:solidFill>
                  <a:srgbClr val="FFFFFF"/>
                </a:solidFill>
                <a:latin typeface="Arial"/>
              </a:rPr>
              <a:t>ELITE MEN</a:t>
            </a:r>
          </a:p>
        </p:txBody>
      </p:sp>
      <p:sp>
        <p:nvSpPr>
          <p:cNvPr id="9" name="Rectangle 8"/>
          <p:cNvSpPr/>
          <p:nvPr/>
        </p:nvSpPr>
        <p:spPr>
          <a:xfrm>
            <a:off x="274320" y="1645920"/>
            <a:ext cx="5669280" cy="27432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 y="1664208"/>
            <a:ext cx="5486400" cy="237744"/>
          </a:xfrm>
          <a:prstGeom prst="rect">
            <a:avLst/>
          </a:prstGeom>
          <a:noFill/>
        </p:spPr>
        <p:txBody>
          <a:bodyPr wrap="square">
            <a:spAutoFit/>
          </a:bodyPr>
          <a:lstStyle/>
          <a:p>
            <a:pPr algn="l"/>
            <a:r>
              <a:rPr sz="1100" b="1" i="0">
                <a:solidFill>
                  <a:srgbClr val="FFFFFF"/>
                </a:solidFill>
                <a:latin typeface="Arial"/>
              </a:rPr>
              <a:t>Top 10 Ranked on Startlist</a:t>
            </a:r>
          </a:p>
        </p:txBody>
      </p:sp>
      <p:graphicFrame>
        <p:nvGraphicFramePr>
          <p:cNvPr id="11" name="Table 10"/>
          <p:cNvGraphicFramePr>
            <a:graphicFrameLocks noGrp="1"/>
          </p:cNvGraphicFramePr>
          <p:nvPr/>
        </p:nvGraphicFramePr>
        <p:xfrm>
          <a:off x="274320" y="1965960"/>
          <a:ext cx="5486400" cy="2907792"/>
        </p:xfrm>
        <a:graphic>
          <a:graphicData uri="http://schemas.openxmlformats.org/drawingml/2006/table">
            <a:tbl>
              <a:tblPr firstRow="1" bandRow="1">
                <a:tableStyleId>{5C22544A-7EE6-4342-B048-85BDC9FD1C3A}</a:tableStyleId>
              </a:tblPr>
              <a:tblGrid>
                <a:gridCol w="73152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264344">
                <a:tc>
                  <a:txBody>
                    <a:bodyPr/>
                    <a:lstStyle/>
                    <a:p>
                      <a:pPr algn="ctr"/>
                      <a:r>
                        <a:rPr sz="1000" b="1" i="0">
                          <a:solidFill>
                            <a:srgbClr val="FFFFFF"/>
                          </a:solidFill>
                          <a:latin typeface="Arial"/>
                        </a:rPr>
                        <a:t>Rank</a:t>
                      </a:r>
                    </a:p>
                  </a:txBody>
                  <a:tcPr>
                    <a:solidFill>
                      <a:srgbClr val="002060"/>
                    </a:solidFill>
                  </a:tcPr>
                </a:tc>
                <a:tc>
                  <a:txBody>
                    <a:bodyPr/>
                    <a:lstStyle/>
                    <a:p>
                      <a:pPr algn="ctr"/>
                      <a:r>
                        <a:rPr sz="1000" b="1" i="0">
                          <a:solidFill>
                            <a:srgbClr val="FFFFFF"/>
                          </a:solidFill>
                          <a:latin typeface="Arial"/>
                        </a:rPr>
                        <a:t>Athlete</a:t>
                      </a:r>
                    </a:p>
                  </a:txBody>
                  <a:tcPr>
                    <a:solidFill>
                      <a:srgbClr val="002060"/>
                    </a:solidFill>
                  </a:tcPr>
                </a:tc>
                <a:tc>
                  <a:txBody>
                    <a:bodyPr/>
                    <a:lstStyle/>
                    <a:p>
                      <a:pPr algn="ctr"/>
                      <a:r>
                        <a:rPr sz="1000" b="1" i="0">
                          <a:solidFill>
                            <a:srgbClr val="FFFFFF"/>
                          </a:solidFill>
                          <a:latin typeface="Arial"/>
                        </a:rPr>
                        <a:t>Points</a:t>
                      </a:r>
                    </a:p>
                  </a:txBody>
                  <a:tcPr>
                    <a:solidFill>
                      <a:srgbClr val="002060"/>
                    </a:solidFill>
                  </a:tcPr>
                </a:tc>
                <a:extLst>
                  <a:ext uri="{0D108BD9-81ED-4DB2-BD59-A6C34878D82A}">
                    <a16:rowId xmlns:a16="http://schemas.microsoft.com/office/drawing/2014/main" val="10000"/>
                  </a:ext>
                </a:extLst>
              </a:tr>
              <a:tr h="264344">
                <a:tc>
                  <a:txBody>
                    <a:bodyPr/>
                    <a:lstStyle/>
                    <a:p>
                      <a:pPr algn="ctr"/>
                      <a:r>
                        <a:rPr sz="1000" b="1" i="0">
                          <a:solidFill>
                            <a:srgbClr val="262626"/>
                          </a:solidFill>
                          <a:latin typeface="Arial"/>
                        </a:rPr>
                        <a:t>15</a:t>
                      </a:r>
                    </a:p>
                  </a:txBody>
                  <a:tcPr>
                    <a:solidFill>
                      <a:srgbClr val="FFFFFF"/>
                    </a:solidFill>
                  </a:tcPr>
                </a:tc>
                <a:tc>
                  <a:txBody>
                    <a:bodyPr/>
                    <a:lstStyle/>
                    <a:p>
                      <a:pPr algn="l"/>
                      <a:r>
                        <a:rPr sz="1000" b="0" i="0">
                          <a:solidFill>
                            <a:srgbClr val="262626"/>
                          </a:solidFill>
                          <a:latin typeface="Arial"/>
                        </a:rPr>
                        <a:t>Tyler Mislawchuk</a:t>
                      </a:r>
                    </a:p>
                  </a:txBody>
                  <a:tcPr>
                    <a:solidFill>
                      <a:srgbClr val="FFFFFF"/>
                    </a:solidFill>
                  </a:tcPr>
                </a:tc>
                <a:tc>
                  <a:txBody>
                    <a:bodyPr/>
                    <a:lstStyle/>
                    <a:p>
                      <a:pPr algn="ctr"/>
                      <a:r>
                        <a:rPr sz="1000" b="0" i="0">
                          <a:solidFill>
                            <a:srgbClr val="262626"/>
                          </a:solidFill>
                          <a:latin typeface="Arial"/>
                        </a:rPr>
                        <a:t>3,135</a:t>
                      </a:r>
                    </a:p>
                  </a:txBody>
                  <a:tcPr>
                    <a:solidFill>
                      <a:srgbClr val="FFFFFF"/>
                    </a:solidFill>
                  </a:tcPr>
                </a:tc>
                <a:extLst>
                  <a:ext uri="{0D108BD9-81ED-4DB2-BD59-A6C34878D82A}">
                    <a16:rowId xmlns:a16="http://schemas.microsoft.com/office/drawing/2014/main" val="10001"/>
                  </a:ext>
                </a:extLst>
              </a:tr>
              <a:tr h="264344">
                <a:tc>
                  <a:txBody>
                    <a:bodyPr/>
                    <a:lstStyle/>
                    <a:p>
                      <a:pPr algn="ctr"/>
                      <a:r>
                        <a:rPr sz="1000" b="1" i="0">
                          <a:solidFill>
                            <a:srgbClr val="262626"/>
                          </a:solidFill>
                          <a:latin typeface="Arial"/>
                        </a:rPr>
                        <a:t>21</a:t>
                      </a:r>
                    </a:p>
                  </a:txBody>
                  <a:tcPr>
                    <a:solidFill>
                      <a:srgbClr val="F2F2F2"/>
                    </a:solidFill>
                  </a:tcPr>
                </a:tc>
                <a:tc>
                  <a:txBody>
                    <a:bodyPr/>
                    <a:lstStyle/>
                    <a:p>
                      <a:pPr algn="l"/>
                      <a:r>
                        <a:rPr sz="1000" b="0" i="0">
                          <a:solidFill>
                            <a:srgbClr val="262626"/>
                          </a:solidFill>
                          <a:latin typeface="Arial"/>
                        </a:rPr>
                        <a:t>Tjebbe Kaindl</a:t>
                      </a:r>
                    </a:p>
                  </a:txBody>
                  <a:tcPr>
                    <a:solidFill>
                      <a:srgbClr val="F2F2F2"/>
                    </a:solidFill>
                  </a:tcPr>
                </a:tc>
                <a:tc>
                  <a:txBody>
                    <a:bodyPr/>
                    <a:lstStyle/>
                    <a:p>
                      <a:pPr algn="ctr"/>
                      <a:r>
                        <a:rPr sz="1000" b="0" i="0">
                          <a:solidFill>
                            <a:srgbClr val="262626"/>
                          </a:solidFill>
                          <a:latin typeface="Arial"/>
                        </a:rPr>
                        <a:t>2,826</a:t>
                      </a:r>
                    </a:p>
                  </a:txBody>
                  <a:tcPr>
                    <a:solidFill>
                      <a:srgbClr val="F2F2F2"/>
                    </a:solidFill>
                  </a:tcPr>
                </a:tc>
                <a:extLst>
                  <a:ext uri="{0D108BD9-81ED-4DB2-BD59-A6C34878D82A}">
                    <a16:rowId xmlns:a16="http://schemas.microsoft.com/office/drawing/2014/main" val="10002"/>
                  </a:ext>
                </a:extLst>
              </a:tr>
              <a:tr h="264344">
                <a:tc>
                  <a:txBody>
                    <a:bodyPr/>
                    <a:lstStyle/>
                    <a:p>
                      <a:pPr algn="ctr"/>
                      <a:r>
                        <a:rPr sz="1000" b="1" i="0">
                          <a:solidFill>
                            <a:srgbClr val="262626"/>
                          </a:solidFill>
                          <a:latin typeface="Arial"/>
                        </a:rPr>
                        <a:t>27</a:t>
                      </a:r>
                    </a:p>
                  </a:txBody>
                  <a:tcPr>
                    <a:solidFill>
                      <a:srgbClr val="FFFFFF"/>
                    </a:solidFill>
                  </a:tcPr>
                </a:tc>
                <a:tc>
                  <a:txBody>
                    <a:bodyPr/>
                    <a:lstStyle/>
                    <a:p>
                      <a:pPr algn="l"/>
                      <a:r>
                        <a:rPr sz="1000" b="0" i="0">
                          <a:solidFill>
                            <a:srgbClr val="262626"/>
                          </a:solidFill>
                          <a:latin typeface="Arial"/>
                        </a:rPr>
                        <a:t>Nicola Azzano</a:t>
                      </a:r>
                    </a:p>
                  </a:txBody>
                  <a:tcPr>
                    <a:solidFill>
                      <a:srgbClr val="FFFFFF"/>
                    </a:solidFill>
                  </a:tcPr>
                </a:tc>
                <a:tc>
                  <a:txBody>
                    <a:bodyPr/>
                    <a:lstStyle/>
                    <a:p>
                      <a:pPr algn="ctr"/>
                      <a:r>
                        <a:rPr sz="1000" b="0" i="0">
                          <a:solidFill>
                            <a:srgbClr val="262626"/>
                          </a:solidFill>
                          <a:latin typeface="Arial"/>
                        </a:rPr>
                        <a:t>2,654</a:t>
                      </a:r>
                    </a:p>
                  </a:txBody>
                  <a:tcPr>
                    <a:solidFill>
                      <a:srgbClr val="FFFFFF"/>
                    </a:solidFill>
                  </a:tcPr>
                </a:tc>
                <a:extLst>
                  <a:ext uri="{0D108BD9-81ED-4DB2-BD59-A6C34878D82A}">
                    <a16:rowId xmlns:a16="http://schemas.microsoft.com/office/drawing/2014/main" val="10003"/>
                  </a:ext>
                </a:extLst>
              </a:tr>
              <a:tr h="264344">
                <a:tc>
                  <a:txBody>
                    <a:bodyPr/>
                    <a:lstStyle/>
                    <a:p>
                      <a:pPr algn="ctr"/>
                      <a:r>
                        <a:rPr sz="1000" b="1" i="0">
                          <a:solidFill>
                            <a:srgbClr val="262626"/>
                          </a:solidFill>
                          <a:latin typeface="Arial"/>
                        </a:rPr>
                        <a:t>28</a:t>
                      </a:r>
                    </a:p>
                  </a:txBody>
                  <a:tcPr>
                    <a:solidFill>
                      <a:srgbClr val="F2F2F2"/>
                    </a:solidFill>
                  </a:tcPr>
                </a:tc>
                <a:tc>
                  <a:txBody>
                    <a:bodyPr/>
                    <a:lstStyle/>
                    <a:p>
                      <a:pPr algn="l"/>
                      <a:r>
                        <a:rPr sz="1000" b="0" i="0">
                          <a:solidFill>
                            <a:srgbClr val="262626"/>
                          </a:solidFill>
                          <a:latin typeface="Arial"/>
                        </a:rPr>
                        <a:t>Reese Vannerson</a:t>
                      </a:r>
                    </a:p>
                  </a:txBody>
                  <a:tcPr>
                    <a:solidFill>
                      <a:srgbClr val="F2F2F2"/>
                    </a:solidFill>
                  </a:tcPr>
                </a:tc>
                <a:tc>
                  <a:txBody>
                    <a:bodyPr/>
                    <a:lstStyle/>
                    <a:p>
                      <a:pPr algn="ctr"/>
                      <a:r>
                        <a:rPr sz="1000" b="0" i="0">
                          <a:solidFill>
                            <a:srgbClr val="262626"/>
                          </a:solidFill>
                          <a:latin typeface="Arial"/>
                        </a:rPr>
                        <a:t>2,628</a:t>
                      </a:r>
                    </a:p>
                  </a:txBody>
                  <a:tcPr>
                    <a:solidFill>
                      <a:srgbClr val="F2F2F2"/>
                    </a:solidFill>
                  </a:tcPr>
                </a:tc>
                <a:extLst>
                  <a:ext uri="{0D108BD9-81ED-4DB2-BD59-A6C34878D82A}">
                    <a16:rowId xmlns:a16="http://schemas.microsoft.com/office/drawing/2014/main" val="10004"/>
                  </a:ext>
                </a:extLst>
              </a:tr>
              <a:tr h="264344">
                <a:tc>
                  <a:txBody>
                    <a:bodyPr/>
                    <a:lstStyle/>
                    <a:p>
                      <a:pPr algn="ctr"/>
                      <a:r>
                        <a:rPr sz="1000" b="1" i="0">
                          <a:solidFill>
                            <a:srgbClr val="262626"/>
                          </a:solidFill>
                          <a:latin typeface="Arial"/>
                        </a:rPr>
                        <a:t>34</a:t>
                      </a:r>
                    </a:p>
                  </a:txBody>
                  <a:tcPr>
                    <a:solidFill>
                      <a:srgbClr val="FFFFFF"/>
                    </a:solidFill>
                  </a:tcPr>
                </a:tc>
                <a:tc>
                  <a:txBody>
                    <a:bodyPr/>
                    <a:lstStyle/>
                    <a:p>
                      <a:pPr algn="l"/>
                      <a:r>
                        <a:rPr sz="1000" b="0" i="0">
                          <a:solidFill>
                            <a:srgbClr val="262626"/>
                          </a:solidFill>
                          <a:latin typeface="Arial"/>
                        </a:rPr>
                        <a:t>Nathan Grayel</a:t>
                      </a:r>
                    </a:p>
                  </a:txBody>
                  <a:tcPr>
                    <a:solidFill>
                      <a:srgbClr val="FFFFFF"/>
                    </a:solidFill>
                  </a:tcPr>
                </a:tc>
                <a:tc>
                  <a:txBody>
                    <a:bodyPr/>
                    <a:lstStyle/>
                    <a:p>
                      <a:pPr algn="ctr"/>
                      <a:r>
                        <a:rPr sz="1000" b="0" i="0">
                          <a:solidFill>
                            <a:srgbClr val="262626"/>
                          </a:solidFill>
                          <a:latin typeface="Arial"/>
                        </a:rPr>
                        <a:t>2,466</a:t>
                      </a:r>
                    </a:p>
                  </a:txBody>
                  <a:tcPr>
                    <a:solidFill>
                      <a:srgbClr val="FFFFFF"/>
                    </a:solidFill>
                  </a:tcPr>
                </a:tc>
                <a:extLst>
                  <a:ext uri="{0D108BD9-81ED-4DB2-BD59-A6C34878D82A}">
                    <a16:rowId xmlns:a16="http://schemas.microsoft.com/office/drawing/2014/main" val="10005"/>
                  </a:ext>
                </a:extLst>
              </a:tr>
              <a:tr h="264344">
                <a:tc>
                  <a:txBody>
                    <a:bodyPr/>
                    <a:lstStyle/>
                    <a:p>
                      <a:pPr algn="ctr"/>
                      <a:r>
                        <a:rPr sz="1000" b="1" i="0">
                          <a:solidFill>
                            <a:srgbClr val="262626"/>
                          </a:solidFill>
                          <a:latin typeface="Arial"/>
                        </a:rPr>
                        <a:t>42</a:t>
                      </a:r>
                    </a:p>
                  </a:txBody>
                  <a:tcPr>
                    <a:solidFill>
                      <a:srgbClr val="F2F2F2"/>
                    </a:solidFill>
                  </a:tcPr>
                </a:tc>
                <a:tc>
                  <a:txBody>
                    <a:bodyPr/>
                    <a:lstStyle/>
                    <a:p>
                      <a:pPr algn="l"/>
                      <a:r>
                        <a:rPr sz="1000" b="0" i="0">
                          <a:solidFill>
                            <a:srgbClr val="262626"/>
                          </a:solidFill>
                          <a:latin typeface="Arial"/>
                        </a:rPr>
                        <a:t>Simon Westermann</a:t>
                      </a:r>
                    </a:p>
                  </a:txBody>
                  <a:tcPr>
                    <a:solidFill>
                      <a:srgbClr val="F2F2F2"/>
                    </a:solidFill>
                  </a:tcPr>
                </a:tc>
                <a:tc>
                  <a:txBody>
                    <a:bodyPr/>
                    <a:lstStyle/>
                    <a:p>
                      <a:pPr algn="ctr"/>
                      <a:r>
                        <a:rPr sz="1000" b="0" i="0">
                          <a:solidFill>
                            <a:srgbClr val="262626"/>
                          </a:solidFill>
                          <a:latin typeface="Arial"/>
                        </a:rPr>
                        <a:t>2,346</a:t>
                      </a:r>
                    </a:p>
                  </a:txBody>
                  <a:tcPr>
                    <a:solidFill>
                      <a:srgbClr val="F2F2F2"/>
                    </a:solidFill>
                  </a:tcPr>
                </a:tc>
                <a:extLst>
                  <a:ext uri="{0D108BD9-81ED-4DB2-BD59-A6C34878D82A}">
                    <a16:rowId xmlns:a16="http://schemas.microsoft.com/office/drawing/2014/main" val="10006"/>
                  </a:ext>
                </a:extLst>
              </a:tr>
              <a:tr h="264344">
                <a:tc>
                  <a:txBody>
                    <a:bodyPr/>
                    <a:lstStyle/>
                    <a:p>
                      <a:pPr algn="ctr"/>
                      <a:r>
                        <a:rPr sz="1000" b="1" i="0">
                          <a:solidFill>
                            <a:srgbClr val="262626"/>
                          </a:solidFill>
                          <a:latin typeface="Arial"/>
                        </a:rPr>
                        <a:t>43</a:t>
                      </a:r>
                    </a:p>
                  </a:txBody>
                  <a:tcPr>
                    <a:solidFill>
                      <a:srgbClr val="FFFFFF"/>
                    </a:solidFill>
                  </a:tcPr>
                </a:tc>
                <a:tc>
                  <a:txBody>
                    <a:bodyPr/>
                    <a:lstStyle/>
                    <a:p>
                      <a:pPr algn="l"/>
                      <a:r>
                        <a:rPr sz="1000" b="0" i="0">
                          <a:solidFill>
                            <a:srgbClr val="262626"/>
                          </a:solidFill>
                          <a:latin typeface="Arial"/>
                        </a:rPr>
                        <a:t>Takumi Hojo</a:t>
                      </a:r>
                    </a:p>
                  </a:txBody>
                  <a:tcPr>
                    <a:solidFill>
                      <a:srgbClr val="FFFFFF"/>
                    </a:solidFill>
                  </a:tcPr>
                </a:tc>
                <a:tc>
                  <a:txBody>
                    <a:bodyPr/>
                    <a:lstStyle/>
                    <a:p>
                      <a:pPr algn="ctr"/>
                      <a:r>
                        <a:rPr sz="1000" b="0" i="0">
                          <a:solidFill>
                            <a:srgbClr val="262626"/>
                          </a:solidFill>
                          <a:latin typeface="Arial"/>
                        </a:rPr>
                        <a:t>2,305</a:t>
                      </a:r>
                    </a:p>
                  </a:txBody>
                  <a:tcPr>
                    <a:solidFill>
                      <a:srgbClr val="FFFFFF"/>
                    </a:solidFill>
                  </a:tcPr>
                </a:tc>
                <a:extLst>
                  <a:ext uri="{0D108BD9-81ED-4DB2-BD59-A6C34878D82A}">
                    <a16:rowId xmlns:a16="http://schemas.microsoft.com/office/drawing/2014/main" val="10007"/>
                  </a:ext>
                </a:extLst>
              </a:tr>
              <a:tr h="264344">
                <a:tc>
                  <a:txBody>
                    <a:bodyPr/>
                    <a:lstStyle/>
                    <a:p>
                      <a:pPr algn="ctr"/>
                      <a:r>
                        <a:rPr sz="1000" b="1" i="0">
                          <a:solidFill>
                            <a:srgbClr val="262626"/>
                          </a:solidFill>
                          <a:latin typeface="Arial"/>
                        </a:rPr>
                        <a:t>45</a:t>
                      </a:r>
                    </a:p>
                  </a:txBody>
                  <a:tcPr>
                    <a:solidFill>
                      <a:srgbClr val="F2F2F2"/>
                    </a:solidFill>
                  </a:tcPr>
                </a:tc>
                <a:tc>
                  <a:txBody>
                    <a:bodyPr/>
                    <a:lstStyle/>
                    <a:p>
                      <a:pPr algn="l"/>
                      <a:r>
                        <a:rPr sz="1000" b="0" i="0">
                          <a:solidFill>
                            <a:srgbClr val="262626"/>
                          </a:solidFill>
                          <a:latin typeface="Arial"/>
                        </a:rPr>
                        <a:t>Ian Pennekamp</a:t>
                      </a:r>
                    </a:p>
                  </a:txBody>
                  <a:tcPr>
                    <a:solidFill>
                      <a:srgbClr val="F2F2F2"/>
                    </a:solidFill>
                  </a:tcPr>
                </a:tc>
                <a:tc>
                  <a:txBody>
                    <a:bodyPr/>
                    <a:lstStyle/>
                    <a:p>
                      <a:pPr algn="ctr"/>
                      <a:r>
                        <a:rPr sz="1000" b="0" i="0">
                          <a:solidFill>
                            <a:srgbClr val="262626"/>
                          </a:solidFill>
                          <a:latin typeface="Arial"/>
                        </a:rPr>
                        <a:t>2,258</a:t>
                      </a:r>
                    </a:p>
                  </a:txBody>
                  <a:tcPr>
                    <a:solidFill>
                      <a:srgbClr val="F2F2F2"/>
                    </a:solidFill>
                  </a:tcPr>
                </a:tc>
                <a:extLst>
                  <a:ext uri="{0D108BD9-81ED-4DB2-BD59-A6C34878D82A}">
                    <a16:rowId xmlns:a16="http://schemas.microsoft.com/office/drawing/2014/main" val="10008"/>
                  </a:ext>
                </a:extLst>
              </a:tr>
              <a:tr h="264344">
                <a:tc>
                  <a:txBody>
                    <a:bodyPr/>
                    <a:lstStyle/>
                    <a:p>
                      <a:pPr algn="ctr"/>
                      <a:r>
                        <a:rPr sz="1000" b="1" i="0">
                          <a:solidFill>
                            <a:srgbClr val="262626"/>
                          </a:solidFill>
                          <a:latin typeface="Arial"/>
                        </a:rPr>
                        <a:t>53</a:t>
                      </a:r>
                    </a:p>
                  </a:txBody>
                  <a:tcPr>
                    <a:solidFill>
                      <a:srgbClr val="FFFFFF"/>
                    </a:solidFill>
                  </a:tcPr>
                </a:tc>
                <a:tc>
                  <a:txBody>
                    <a:bodyPr/>
                    <a:lstStyle/>
                    <a:p>
                      <a:pPr algn="l"/>
                      <a:r>
                        <a:rPr sz="1000" b="0" i="0">
                          <a:solidFill>
                            <a:srgbClr val="262626"/>
                          </a:solidFill>
                          <a:latin typeface="Arial"/>
                        </a:rPr>
                        <a:t>Martin Sobey</a:t>
                      </a:r>
                    </a:p>
                  </a:txBody>
                  <a:tcPr>
                    <a:solidFill>
                      <a:srgbClr val="FFFFFF"/>
                    </a:solidFill>
                  </a:tcPr>
                </a:tc>
                <a:tc>
                  <a:txBody>
                    <a:bodyPr/>
                    <a:lstStyle/>
                    <a:p>
                      <a:pPr algn="ctr"/>
                      <a:r>
                        <a:rPr sz="1000" b="0" i="0">
                          <a:solidFill>
                            <a:srgbClr val="262626"/>
                          </a:solidFill>
                          <a:latin typeface="Arial"/>
                        </a:rPr>
                        <a:t>2,096</a:t>
                      </a:r>
                    </a:p>
                  </a:txBody>
                  <a:tcPr>
                    <a:solidFill>
                      <a:srgbClr val="FFFFFF"/>
                    </a:solidFill>
                  </a:tcPr>
                </a:tc>
                <a:extLst>
                  <a:ext uri="{0D108BD9-81ED-4DB2-BD59-A6C34878D82A}">
                    <a16:rowId xmlns:a16="http://schemas.microsoft.com/office/drawing/2014/main" val="10009"/>
                  </a:ext>
                </a:extLst>
              </a:tr>
              <a:tr h="264352">
                <a:tc>
                  <a:txBody>
                    <a:bodyPr/>
                    <a:lstStyle/>
                    <a:p>
                      <a:pPr algn="ctr"/>
                      <a:r>
                        <a:rPr sz="1000" b="1" i="0">
                          <a:solidFill>
                            <a:srgbClr val="262626"/>
                          </a:solidFill>
                          <a:latin typeface="Arial"/>
                        </a:rPr>
                        <a:t>61</a:t>
                      </a:r>
                    </a:p>
                  </a:txBody>
                  <a:tcPr>
                    <a:solidFill>
                      <a:srgbClr val="F2F2F2"/>
                    </a:solidFill>
                  </a:tcPr>
                </a:tc>
                <a:tc>
                  <a:txBody>
                    <a:bodyPr/>
                    <a:lstStyle/>
                    <a:p>
                      <a:pPr algn="l"/>
                      <a:r>
                        <a:rPr sz="1000" b="0" i="0">
                          <a:solidFill>
                            <a:srgbClr val="262626"/>
                          </a:solidFill>
                          <a:latin typeface="Arial"/>
                        </a:rPr>
                        <a:t>Euan De Nigro</a:t>
                      </a:r>
                    </a:p>
                  </a:txBody>
                  <a:tcPr>
                    <a:solidFill>
                      <a:srgbClr val="F2F2F2"/>
                    </a:solidFill>
                  </a:tcPr>
                </a:tc>
                <a:tc>
                  <a:txBody>
                    <a:bodyPr/>
                    <a:lstStyle/>
                    <a:p>
                      <a:pPr algn="ctr"/>
                      <a:r>
                        <a:rPr sz="1000" b="0" i="0">
                          <a:solidFill>
                            <a:srgbClr val="262626"/>
                          </a:solidFill>
                          <a:latin typeface="Arial"/>
                        </a:rPr>
                        <a:t>1,929</a:t>
                      </a:r>
                    </a:p>
                  </a:txBody>
                  <a:tcPr>
                    <a:solidFill>
                      <a:srgbClr val="F2F2F2"/>
                    </a:solidFill>
                  </a:tcPr>
                </a:tc>
                <a:extLst>
                  <a:ext uri="{0D108BD9-81ED-4DB2-BD59-A6C34878D82A}">
                    <a16:rowId xmlns:a16="http://schemas.microsoft.com/office/drawing/2014/main" val="10010"/>
                  </a:ext>
                </a:extLst>
              </a:tr>
            </a:tbl>
          </a:graphicData>
        </a:graphic>
      </p:graphicFrame>
      <p:sp>
        <p:nvSpPr>
          <p:cNvPr id="12" name="Rectangle 11"/>
          <p:cNvSpPr/>
          <p:nvPr/>
        </p:nvSpPr>
        <p:spPr>
          <a:xfrm>
            <a:off x="274320" y="5056632"/>
            <a:ext cx="5669280" cy="27432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65760" y="5074920"/>
            <a:ext cx="5486400" cy="237744"/>
          </a:xfrm>
          <a:prstGeom prst="rect">
            <a:avLst/>
          </a:prstGeom>
          <a:noFill/>
        </p:spPr>
        <p:txBody>
          <a:bodyPr wrap="square">
            <a:spAutoFit/>
          </a:bodyPr>
          <a:lstStyle/>
          <a:p>
            <a:pPr algn="l"/>
            <a:r>
              <a:rPr sz="1100" b="1" i="0">
                <a:solidFill>
                  <a:srgbClr val="FFFFFF"/>
                </a:solidFill>
                <a:latin typeface="Arial"/>
              </a:rPr>
              <a:t>Returning Podium Athletes on Startlist</a:t>
            </a:r>
          </a:p>
        </p:txBody>
      </p:sp>
      <p:sp>
        <p:nvSpPr>
          <p:cNvPr id="14" name="TextBox 13"/>
          <p:cNvSpPr txBox="1"/>
          <p:nvPr/>
        </p:nvSpPr>
        <p:spPr>
          <a:xfrm>
            <a:off x="411480" y="5422392"/>
            <a:ext cx="5394960" cy="292608"/>
          </a:xfrm>
          <a:prstGeom prst="rect">
            <a:avLst/>
          </a:prstGeom>
          <a:noFill/>
        </p:spPr>
        <p:txBody>
          <a:bodyPr wrap="square">
            <a:spAutoFit/>
          </a:bodyPr>
          <a:lstStyle/>
          <a:p>
            <a:pPr algn="l"/>
            <a:r>
              <a:rPr sz="1100" b="1" i="0">
                <a:solidFill>
                  <a:srgbClr val="262626"/>
                </a:solidFill>
                <a:latin typeface="Arial"/>
              </a:rPr>
              <a:t>2.  Sullivan Middaugh   (00:50:08)</a:t>
            </a:r>
          </a:p>
        </p:txBody>
      </p:sp>
      <p:sp>
        <p:nvSpPr>
          <p:cNvPr id="15" name="Rectangle 14"/>
          <p:cNvSpPr/>
          <p:nvPr/>
        </p:nvSpPr>
        <p:spPr>
          <a:xfrm>
            <a:off x="6217920" y="1188720"/>
            <a:ext cx="5669280" cy="3657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309360" y="1234440"/>
            <a:ext cx="5486400" cy="292608"/>
          </a:xfrm>
          <a:prstGeom prst="rect">
            <a:avLst/>
          </a:prstGeom>
          <a:noFill/>
        </p:spPr>
        <p:txBody>
          <a:bodyPr wrap="square">
            <a:spAutoFit/>
          </a:bodyPr>
          <a:lstStyle/>
          <a:p>
            <a:pPr algn="ctr"/>
            <a:r>
              <a:rPr sz="1400" b="1" i="0">
                <a:solidFill>
                  <a:srgbClr val="FFFFFF"/>
                </a:solidFill>
                <a:latin typeface="Arial"/>
              </a:rPr>
              <a:t>ELITE WOMEN</a:t>
            </a:r>
          </a:p>
        </p:txBody>
      </p:sp>
      <p:sp>
        <p:nvSpPr>
          <p:cNvPr id="17" name="Rectangle 16"/>
          <p:cNvSpPr/>
          <p:nvPr/>
        </p:nvSpPr>
        <p:spPr>
          <a:xfrm>
            <a:off x="6217920" y="1645920"/>
            <a:ext cx="5669280" cy="27432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309360" y="1664208"/>
            <a:ext cx="5486400" cy="237744"/>
          </a:xfrm>
          <a:prstGeom prst="rect">
            <a:avLst/>
          </a:prstGeom>
          <a:noFill/>
        </p:spPr>
        <p:txBody>
          <a:bodyPr wrap="square">
            <a:spAutoFit/>
          </a:bodyPr>
          <a:lstStyle/>
          <a:p>
            <a:pPr algn="l"/>
            <a:r>
              <a:rPr sz="1100" b="1" i="0">
                <a:solidFill>
                  <a:srgbClr val="FFFFFF"/>
                </a:solidFill>
                <a:latin typeface="Arial"/>
              </a:rPr>
              <a:t>Top 10 Ranked on Startlist</a:t>
            </a:r>
          </a:p>
        </p:txBody>
      </p:sp>
      <p:graphicFrame>
        <p:nvGraphicFramePr>
          <p:cNvPr id="19" name="Table 18"/>
          <p:cNvGraphicFramePr>
            <a:graphicFrameLocks noGrp="1"/>
          </p:cNvGraphicFramePr>
          <p:nvPr/>
        </p:nvGraphicFramePr>
        <p:xfrm>
          <a:off x="6217920" y="1965960"/>
          <a:ext cx="5486400" cy="2907792"/>
        </p:xfrm>
        <a:graphic>
          <a:graphicData uri="http://schemas.openxmlformats.org/drawingml/2006/table">
            <a:tbl>
              <a:tblPr firstRow="1" bandRow="1">
                <a:tableStyleId>{5C22544A-7EE6-4342-B048-85BDC9FD1C3A}</a:tableStyleId>
              </a:tblPr>
              <a:tblGrid>
                <a:gridCol w="73152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264344">
                <a:tc>
                  <a:txBody>
                    <a:bodyPr/>
                    <a:lstStyle/>
                    <a:p>
                      <a:pPr algn="ctr"/>
                      <a:r>
                        <a:rPr sz="1000" b="1" i="0">
                          <a:solidFill>
                            <a:srgbClr val="FFFFFF"/>
                          </a:solidFill>
                          <a:latin typeface="Arial"/>
                        </a:rPr>
                        <a:t>Rank</a:t>
                      </a:r>
                    </a:p>
                  </a:txBody>
                  <a:tcPr>
                    <a:solidFill>
                      <a:srgbClr val="002060"/>
                    </a:solidFill>
                  </a:tcPr>
                </a:tc>
                <a:tc>
                  <a:txBody>
                    <a:bodyPr/>
                    <a:lstStyle/>
                    <a:p>
                      <a:pPr algn="ctr"/>
                      <a:r>
                        <a:rPr sz="1000" b="1" i="0">
                          <a:solidFill>
                            <a:srgbClr val="FFFFFF"/>
                          </a:solidFill>
                          <a:latin typeface="Arial"/>
                        </a:rPr>
                        <a:t>Athlete</a:t>
                      </a:r>
                    </a:p>
                  </a:txBody>
                  <a:tcPr>
                    <a:solidFill>
                      <a:srgbClr val="002060"/>
                    </a:solidFill>
                  </a:tcPr>
                </a:tc>
                <a:tc>
                  <a:txBody>
                    <a:bodyPr/>
                    <a:lstStyle/>
                    <a:p>
                      <a:pPr algn="ctr"/>
                      <a:r>
                        <a:rPr sz="1000" b="1" i="0">
                          <a:solidFill>
                            <a:srgbClr val="FFFFFF"/>
                          </a:solidFill>
                          <a:latin typeface="Arial"/>
                        </a:rPr>
                        <a:t>Points</a:t>
                      </a:r>
                    </a:p>
                  </a:txBody>
                  <a:tcPr>
                    <a:solidFill>
                      <a:srgbClr val="002060"/>
                    </a:solidFill>
                  </a:tcPr>
                </a:tc>
                <a:extLst>
                  <a:ext uri="{0D108BD9-81ED-4DB2-BD59-A6C34878D82A}">
                    <a16:rowId xmlns:a16="http://schemas.microsoft.com/office/drawing/2014/main" val="10000"/>
                  </a:ext>
                </a:extLst>
              </a:tr>
              <a:tr h="264344">
                <a:tc>
                  <a:txBody>
                    <a:bodyPr/>
                    <a:lstStyle/>
                    <a:p>
                      <a:pPr algn="ctr"/>
                      <a:r>
                        <a:rPr sz="1000" b="1" i="0">
                          <a:solidFill>
                            <a:srgbClr val="262626"/>
                          </a:solidFill>
                          <a:latin typeface="Arial"/>
                        </a:rPr>
                        <a:t>29</a:t>
                      </a:r>
                    </a:p>
                  </a:txBody>
                  <a:tcPr>
                    <a:solidFill>
                      <a:srgbClr val="FFFFFF"/>
                    </a:solidFill>
                  </a:tcPr>
                </a:tc>
                <a:tc>
                  <a:txBody>
                    <a:bodyPr/>
                    <a:lstStyle/>
                    <a:p>
                      <a:pPr algn="l"/>
                      <a:r>
                        <a:rPr sz="1000" b="0" i="0">
                          <a:solidFill>
                            <a:srgbClr val="262626"/>
                          </a:solidFill>
                          <a:latin typeface="Arial"/>
                        </a:rPr>
                        <a:t>Márta Kropkó</a:t>
                      </a:r>
                    </a:p>
                  </a:txBody>
                  <a:tcPr>
                    <a:solidFill>
                      <a:srgbClr val="FFFFFF"/>
                    </a:solidFill>
                  </a:tcPr>
                </a:tc>
                <a:tc>
                  <a:txBody>
                    <a:bodyPr/>
                    <a:lstStyle/>
                    <a:p>
                      <a:pPr algn="ctr"/>
                      <a:r>
                        <a:rPr sz="1000" b="0" i="0">
                          <a:solidFill>
                            <a:srgbClr val="262626"/>
                          </a:solidFill>
                          <a:latin typeface="Arial"/>
                        </a:rPr>
                        <a:t>2,543</a:t>
                      </a:r>
                    </a:p>
                  </a:txBody>
                  <a:tcPr>
                    <a:solidFill>
                      <a:srgbClr val="FFFFFF"/>
                    </a:solidFill>
                  </a:tcPr>
                </a:tc>
                <a:extLst>
                  <a:ext uri="{0D108BD9-81ED-4DB2-BD59-A6C34878D82A}">
                    <a16:rowId xmlns:a16="http://schemas.microsoft.com/office/drawing/2014/main" val="10001"/>
                  </a:ext>
                </a:extLst>
              </a:tr>
              <a:tr h="264344">
                <a:tc>
                  <a:txBody>
                    <a:bodyPr/>
                    <a:lstStyle/>
                    <a:p>
                      <a:pPr algn="ctr"/>
                      <a:r>
                        <a:rPr sz="1000" b="1" i="0">
                          <a:solidFill>
                            <a:srgbClr val="262626"/>
                          </a:solidFill>
                          <a:latin typeface="Arial"/>
                        </a:rPr>
                        <a:t>32</a:t>
                      </a:r>
                    </a:p>
                  </a:txBody>
                  <a:tcPr>
                    <a:solidFill>
                      <a:srgbClr val="F2F2F2"/>
                    </a:solidFill>
                  </a:tcPr>
                </a:tc>
                <a:tc>
                  <a:txBody>
                    <a:bodyPr/>
                    <a:lstStyle/>
                    <a:p>
                      <a:pPr algn="l"/>
                      <a:r>
                        <a:rPr sz="1000" b="0" i="0">
                          <a:solidFill>
                            <a:srgbClr val="262626"/>
                          </a:solidFill>
                          <a:latin typeface="Arial"/>
                        </a:rPr>
                        <a:t>Manami Hayashi</a:t>
                      </a:r>
                    </a:p>
                  </a:txBody>
                  <a:tcPr>
                    <a:solidFill>
                      <a:srgbClr val="F2F2F2"/>
                    </a:solidFill>
                  </a:tcPr>
                </a:tc>
                <a:tc>
                  <a:txBody>
                    <a:bodyPr/>
                    <a:lstStyle/>
                    <a:p>
                      <a:pPr algn="ctr"/>
                      <a:r>
                        <a:rPr sz="1000" b="0" i="0">
                          <a:solidFill>
                            <a:srgbClr val="262626"/>
                          </a:solidFill>
                          <a:latin typeface="Arial"/>
                        </a:rPr>
                        <a:t>2,443</a:t>
                      </a:r>
                    </a:p>
                  </a:txBody>
                  <a:tcPr>
                    <a:solidFill>
                      <a:srgbClr val="F2F2F2"/>
                    </a:solidFill>
                  </a:tcPr>
                </a:tc>
                <a:extLst>
                  <a:ext uri="{0D108BD9-81ED-4DB2-BD59-A6C34878D82A}">
                    <a16:rowId xmlns:a16="http://schemas.microsoft.com/office/drawing/2014/main" val="10002"/>
                  </a:ext>
                </a:extLst>
              </a:tr>
              <a:tr h="264344">
                <a:tc>
                  <a:txBody>
                    <a:bodyPr/>
                    <a:lstStyle/>
                    <a:p>
                      <a:pPr algn="ctr"/>
                      <a:r>
                        <a:rPr sz="1000" b="1" i="0">
                          <a:solidFill>
                            <a:srgbClr val="262626"/>
                          </a:solidFill>
                          <a:latin typeface="Arial"/>
                        </a:rPr>
                        <a:t>33</a:t>
                      </a:r>
                    </a:p>
                  </a:txBody>
                  <a:tcPr>
                    <a:solidFill>
                      <a:srgbClr val="FFFFFF"/>
                    </a:solidFill>
                  </a:tcPr>
                </a:tc>
                <a:tc>
                  <a:txBody>
                    <a:bodyPr/>
                    <a:lstStyle/>
                    <a:p>
                      <a:pPr algn="l"/>
                      <a:r>
                        <a:rPr sz="1000" b="0" i="0">
                          <a:solidFill>
                            <a:srgbClr val="262626"/>
                          </a:solidFill>
                          <a:latin typeface="Arial"/>
                        </a:rPr>
                        <a:t>Rosa Maria Tapia Vidal</a:t>
                      </a:r>
                    </a:p>
                  </a:txBody>
                  <a:tcPr>
                    <a:solidFill>
                      <a:srgbClr val="FFFFFF"/>
                    </a:solidFill>
                  </a:tcPr>
                </a:tc>
                <a:tc>
                  <a:txBody>
                    <a:bodyPr/>
                    <a:lstStyle/>
                    <a:p>
                      <a:pPr algn="ctr"/>
                      <a:r>
                        <a:rPr sz="1000" b="0" i="0">
                          <a:solidFill>
                            <a:srgbClr val="262626"/>
                          </a:solidFill>
                          <a:latin typeface="Arial"/>
                        </a:rPr>
                        <a:t>2,438</a:t>
                      </a:r>
                    </a:p>
                  </a:txBody>
                  <a:tcPr>
                    <a:solidFill>
                      <a:srgbClr val="FFFFFF"/>
                    </a:solidFill>
                  </a:tcPr>
                </a:tc>
                <a:extLst>
                  <a:ext uri="{0D108BD9-81ED-4DB2-BD59-A6C34878D82A}">
                    <a16:rowId xmlns:a16="http://schemas.microsoft.com/office/drawing/2014/main" val="10003"/>
                  </a:ext>
                </a:extLst>
              </a:tr>
              <a:tr h="264344">
                <a:tc>
                  <a:txBody>
                    <a:bodyPr/>
                    <a:lstStyle/>
                    <a:p>
                      <a:pPr algn="ctr"/>
                      <a:r>
                        <a:rPr sz="1000" b="1" i="0">
                          <a:solidFill>
                            <a:srgbClr val="262626"/>
                          </a:solidFill>
                          <a:latin typeface="Arial"/>
                        </a:rPr>
                        <a:t>36</a:t>
                      </a:r>
                    </a:p>
                  </a:txBody>
                  <a:tcPr>
                    <a:solidFill>
                      <a:srgbClr val="F2F2F2"/>
                    </a:solidFill>
                  </a:tcPr>
                </a:tc>
                <a:tc>
                  <a:txBody>
                    <a:bodyPr/>
                    <a:lstStyle/>
                    <a:p>
                      <a:pPr algn="l"/>
                      <a:r>
                        <a:rPr sz="1000" b="0" i="0">
                          <a:solidFill>
                            <a:srgbClr val="262626"/>
                          </a:solidFill>
                          <a:latin typeface="Arial"/>
                        </a:rPr>
                        <a:t>Desirae Ridenour</a:t>
                      </a:r>
                    </a:p>
                  </a:txBody>
                  <a:tcPr>
                    <a:solidFill>
                      <a:srgbClr val="F2F2F2"/>
                    </a:solidFill>
                  </a:tcPr>
                </a:tc>
                <a:tc>
                  <a:txBody>
                    <a:bodyPr/>
                    <a:lstStyle/>
                    <a:p>
                      <a:pPr algn="ctr"/>
                      <a:r>
                        <a:rPr sz="1000" b="0" i="0">
                          <a:solidFill>
                            <a:srgbClr val="262626"/>
                          </a:solidFill>
                          <a:latin typeface="Arial"/>
                        </a:rPr>
                        <a:t>2,412</a:t>
                      </a:r>
                    </a:p>
                  </a:txBody>
                  <a:tcPr>
                    <a:solidFill>
                      <a:srgbClr val="F2F2F2"/>
                    </a:solidFill>
                  </a:tcPr>
                </a:tc>
                <a:extLst>
                  <a:ext uri="{0D108BD9-81ED-4DB2-BD59-A6C34878D82A}">
                    <a16:rowId xmlns:a16="http://schemas.microsoft.com/office/drawing/2014/main" val="10004"/>
                  </a:ext>
                </a:extLst>
              </a:tr>
              <a:tr h="264344">
                <a:tc>
                  <a:txBody>
                    <a:bodyPr/>
                    <a:lstStyle/>
                    <a:p>
                      <a:pPr algn="ctr"/>
                      <a:r>
                        <a:rPr sz="1000" b="1" i="0">
                          <a:solidFill>
                            <a:srgbClr val="262626"/>
                          </a:solidFill>
                          <a:latin typeface="Arial"/>
                        </a:rPr>
                        <a:t>39</a:t>
                      </a:r>
                    </a:p>
                  </a:txBody>
                  <a:tcPr>
                    <a:solidFill>
                      <a:srgbClr val="FFFFFF"/>
                    </a:solidFill>
                  </a:tcPr>
                </a:tc>
                <a:tc>
                  <a:txBody>
                    <a:bodyPr/>
                    <a:lstStyle/>
                    <a:p>
                      <a:pPr algn="l"/>
                      <a:r>
                        <a:rPr sz="1000" b="0" i="0">
                          <a:solidFill>
                            <a:srgbClr val="262626"/>
                          </a:solidFill>
                          <a:latin typeface="Arial"/>
                        </a:rPr>
                        <a:t>Fanni Szalai</a:t>
                      </a:r>
                    </a:p>
                  </a:txBody>
                  <a:tcPr>
                    <a:solidFill>
                      <a:srgbClr val="FFFFFF"/>
                    </a:solidFill>
                  </a:tcPr>
                </a:tc>
                <a:tc>
                  <a:txBody>
                    <a:bodyPr/>
                    <a:lstStyle/>
                    <a:p>
                      <a:pPr algn="ctr"/>
                      <a:r>
                        <a:rPr sz="1000" b="0" i="0">
                          <a:solidFill>
                            <a:srgbClr val="262626"/>
                          </a:solidFill>
                          <a:latin typeface="Arial"/>
                        </a:rPr>
                        <a:t>2,254</a:t>
                      </a:r>
                    </a:p>
                  </a:txBody>
                  <a:tcPr>
                    <a:solidFill>
                      <a:srgbClr val="FFFFFF"/>
                    </a:solidFill>
                  </a:tcPr>
                </a:tc>
                <a:extLst>
                  <a:ext uri="{0D108BD9-81ED-4DB2-BD59-A6C34878D82A}">
                    <a16:rowId xmlns:a16="http://schemas.microsoft.com/office/drawing/2014/main" val="10005"/>
                  </a:ext>
                </a:extLst>
              </a:tr>
              <a:tr h="264344">
                <a:tc>
                  <a:txBody>
                    <a:bodyPr/>
                    <a:lstStyle/>
                    <a:p>
                      <a:pPr algn="ctr"/>
                      <a:r>
                        <a:rPr sz="1000" b="1" i="0">
                          <a:solidFill>
                            <a:srgbClr val="262626"/>
                          </a:solidFill>
                          <a:latin typeface="Arial"/>
                        </a:rPr>
                        <a:t>40</a:t>
                      </a:r>
                    </a:p>
                  </a:txBody>
                  <a:tcPr>
                    <a:solidFill>
                      <a:srgbClr val="F2F2F2"/>
                    </a:solidFill>
                  </a:tcPr>
                </a:tc>
                <a:tc>
                  <a:txBody>
                    <a:bodyPr/>
                    <a:lstStyle/>
                    <a:p>
                      <a:pPr algn="l"/>
                      <a:r>
                        <a:rPr sz="1000" b="0" i="0">
                          <a:solidFill>
                            <a:srgbClr val="262626"/>
                          </a:solidFill>
                          <a:latin typeface="Arial"/>
                        </a:rPr>
                        <a:t>Zuzana Michalickova</a:t>
                      </a:r>
                    </a:p>
                  </a:txBody>
                  <a:tcPr>
                    <a:solidFill>
                      <a:srgbClr val="F2F2F2"/>
                    </a:solidFill>
                  </a:tcPr>
                </a:tc>
                <a:tc>
                  <a:txBody>
                    <a:bodyPr/>
                    <a:lstStyle/>
                    <a:p>
                      <a:pPr algn="ctr"/>
                      <a:r>
                        <a:rPr sz="1000" b="0" i="0">
                          <a:solidFill>
                            <a:srgbClr val="262626"/>
                          </a:solidFill>
                          <a:latin typeface="Arial"/>
                        </a:rPr>
                        <a:t>2,187</a:t>
                      </a:r>
                    </a:p>
                  </a:txBody>
                  <a:tcPr>
                    <a:solidFill>
                      <a:srgbClr val="F2F2F2"/>
                    </a:solidFill>
                  </a:tcPr>
                </a:tc>
                <a:extLst>
                  <a:ext uri="{0D108BD9-81ED-4DB2-BD59-A6C34878D82A}">
                    <a16:rowId xmlns:a16="http://schemas.microsoft.com/office/drawing/2014/main" val="10006"/>
                  </a:ext>
                </a:extLst>
              </a:tr>
              <a:tr h="264344">
                <a:tc>
                  <a:txBody>
                    <a:bodyPr/>
                    <a:lstStyle/>
                    <a:p>
                      <a:pPr algn="ctr"/>
                      <a:r>
                        <a:rPr sz="1000" b="1" i="0">
                          <a:solidFill>
                            <a:srgbClr val="262626"/>
                          </a:solidFill>
                          <a:latin typeface="Arial"/>
                        </a:rPr>
                        <a:t>41</a:t>
                      </a:r>
                    </a:p>
                  </a:txBody>
                  <a:tcPr>
                    <a:solidFill>
                      <a:srgbClr val="FFFFFF"/>
                    </a:solidFill>
                  </a:tcPr>
                </a:tc>
                <a:tc>
                  <a:txBody>
                    <a:bodyPr/>
                    <a:lstStyle/>
                    <a:p>
                      <a:pPr algn="l"/>
                      <a:r>
                        <a:rPr sz="1000" b="0" i="0">
                          <a:solidFill>
                            <a:srgbClr val="262626"/>
                          </a:solidFill>
                          <a:latin typeface="Arial"/>
                        </a:rPr>
                        <a:t>Sophia Howell</a:t>
                      </a:r>
                    </a:p>
                  </a:txBody>
                  <a:tcPr>
                    <a:solidFill>
                      <a:srgbClr val="FFFFFF"/>
                    </a:solidFill>
                  </a:tcPr>
                </a:tc>
                <a:tc>
                  <a:txBody>
                    <a:bodyPr/>
                    <a:lstStyle/>
                    <a:p>
                      <a:pPr algn="ctr"/>
                      <a:r>
                        <a:rPr sz="1000" b="0" i="0">
                          <a:solidFill>
                            <a:srgbClr val="262626"/>
                          </a:solidFill>
                          <a:latin typeface="Arial"/>
                        </a:rPr>
                        <a:t>2,168</a:t>
                      </a:r>
                    </a:p>
                  </a:txBody>
                  <a:tcPr>
                    <a:solidFill>
                      <a:srgbClr val="FFFFFF"/>
                    </a:solidFill>
                  </a:tcPr>
                </a:tc>
                <a:extLst>
                  <a:ext uri="{0D108BD9-81ED-4DB2-BD59-A6C34878D82A}">
                    <a16:rowId xmlns:a16="http://schemas.microsoft.com/office/drawing/2014/main" val="10007"/>
                  </a:ext>
                </a:extLst>
              </a:tr>
              <a:tr h="264344">
                <a:tc>
                  <a:txBody>
                    <a:bodyPr/>
                    <a:lstStyle/>
                    <a:p>
                      <a:pPr algn="ctr"/>
                      <a:r>
                        <a:rPr sz="1000" b="1" i="0">
                          <a:solidFill>
                            <a:srgbClr val="262626"/>
                          </a:solidFill>
                          <a:latin typeface="Arial"/>
                        </a:rPr>
                        <a:t>46</a:t>
                      </a:r>
                    </a:p>
                  </a:txBody>
                  <a:tcPr>
                    <a:solidFill>
                      <a:srgbClr val="F2F2F2"/>
                    </a:solidFill>
                  </a:tcPr>
                </a:tc>
                <a:tc>
                  <a:txBody>
                    <a:bodyPr/>
                    <a:lstStyle/>
                    <a:p>
                      <a:pPr algn="l"/>
                      <a:r>
                        <a:rPr sz="1000" b="0" i="0">
                          <a:solidFill>
                            <a:srgbClr val="262626"/>
                          </a:solidFill>
                          <a:latin typeface="Arial"/>
                        </a:rPr>
                        <a:t>Robin Dreijling</a:t>
                      </a:r>
                    </a:p>
                  </a:txBody>
                  <a:tcPr>
                    <a:solidFill>
                      <a:srgbClr val="F2F2F2"/>
                    </a:solidFill>
                  </a:tcPr>
                </a:tc>
                <a:tc>
                  <a:txBody>
                    <a:bodyPr/>
                    <a:lstStyle/>
                    <a:p>
                      <a:pPr algn="ctr"/>
                      <a:r>
                        <a:rPr sz="1000" b="0" i="0">
                          <a:solidFill>
                            <a:srgbClr val="262626"/>
                          </a:solidFill>
                          <a:latin typeface="Arial"/>
                        </a:rPr>
                        <a:t>2,072</a:t>
                      </a:r>
                    </a:p>
                  </a:txBody>
                  <a:tcPr>
                    <a:solidFill>
                      <a:srgbClr val="F2F2F2"/>
                    </a:solidFill>
                  </a:tcPr>
                </a:tc>
                <a:extLst>
                  <a:ext uri="{0D108BD9-81ED-4DB2-BD59-A6C34878D82A}">
                    <a16:rowId xmlns:a16="http://schemas.microsoft.com/office/drawing/2014/main" val="10008"/>
                  </a:ext>
                </a:extLst>
              </a:tr>
              <a:tr h="264344">
                <a:tc>
                  <a:txBody>
                    <a:bodyPr/>
                    <a:lstStyle/>
                    <a:p>
                      <a:pPr algn="ctr"/>
                      <a:r>
                        <a:rPr sz="1000" b="1" i="0">
                          <a:solidFill>
                            <a:srgbClr val="262626"/>
                          </a:solidFill>
                          <a:latin typeface="Arial"/>
                        </a:rPr>
                        <a:t>50</a:t>
                      </a:r>
                    </a:p>
                  </a:txBody>
                  <a:tcPr>
                    <a:solidFill>
                      <a:srgbClr val="FFFFFF"/>
                    </a:solidFill>
                  </a:tcPr>
                </a:tc>
                <a:tc>
                  <a:txBody>
                    <a:bodyPr/>
                    <a:lstStyle/>
                    <a:p>
                      <a:pPr algn="l"/>
                      <a:r>
                        <a:rPr sz="1000" b="0" i="0">
                          <a:solidFill>
                            <a:srgbClr val="262626"/>
                          </a:solidFill>
                          <a:latin typeface="Arial"/>
                        </a:rPr>
                        <a:t>Charlotte Derbyshire</a:t>
                      </a:r>
                    </a:p>
                  </a:txBody>
                  <a:tcPr>
                    <a:solidFill>
                      <a:srgbClr val="FFFFFF"/>
                    </a:solidFill>
                  </a:tcPr>
                </a:tc>
                <a:tc>
                  <a:txBody>
                    <a:bodyPr/>
                    <a:lstStyle/>
                    <a:p>
                      <a:pPr algn="ctr"/>
                      <a:r>
                        <a:rPr sz="1000" b="0" i="0">
                          <a:solidFill>
                            <a:srgbClr val="262626"/>
                          </a:solidFill>
                          <a:latin typeface="Arial"/>
                        </a:rPr>
                        <a:t>2,014</a:t>
                      </a:r>
                    </a:p>
                  </a:txBody>
                  <a:tcPr>
                    <a:solidFill>
                      <a:srgbClr val="FFFFFF"/>
                    </a:solidFill>
                  </a:tcPr>
                </a:tc>
                <a:extLst>
                  <a:ext uri="{0D108BD9-81ED-4DB2-BD59-A6C34878D82A}">
                    <a16:rowId xmlns:a16="http://schemas.microsoft.com/office/drawing/2014/main" val="10009"/>
                  </a:ext>
                </a:extLst>
              </a:tr>
              <a:tr h="264352">
                <a:tc>
                  <a:txBody>
                    <a:bodyPr/>
                    <a:lstStyle/>
                    <a:p>
                      <a:pPr algn="ctr"/>
                      <a:r>
                        <a:rPr sz="1000" b="1" i="0">
                          <a:solidFill>
                            <a:srgbClr val="262626"/>
                          </a:solidFill>
                          <a:latin typeface="Arial"/>
                        </a:rPr>
                        <a:t>51</a:t>
                      </a:r>
                    </a:p>
                  </a:txBody>
                  <a:tcPr>
                    <a:solidFill>
                      <a:srgbClr val="F2F2F2"/>
                    </a:solidFill>
                  </a:tcPr>
                </a:tc>
                <a:tc>
                  <a:txBody>
                    <a:bodyPr/>
                    <a:lstStyle/>
                    <a:p>
                      <a:pPr algn="l"/>
                      <a:r>
                        <a:rPr sz="1000" b="0" i="0">
                          <a:solidFill>
                            <a:srgbClr val="262626"/>
                          </a:solidFill>
                          <a:latin typeface="Arial"/>
                        </a:rPr>
                        <a:t>Mako Hiraizumi</a:t>
                      </a:r>
                    </a:p>
                  </a:txBody>
                  <a:tcPr>
                    <a:solidFill>
                      <a:srgbClr val="F2F2F2"/>
                    </a:solidFill>
                  </a:tcPr>
                </a:tc>
                <a:tc>
                  <a:txBody>
                    <a:bodyPr/>
                    <a:lstStyle/>
                    <a:p>
                      <a:pPr algn="ctr"/>
                      <a:r>
                        <a:rPr sz="1000" b="0" i="0">
                          <a:solidFill>
                            <a:srgbClr val="262626"/>
                          </a:solidFill>
                          <a:latin typeface="Arial"/>
                        </a:rPr>
                        <a:t>1,998</a:t>
                      </a:r>
                    </a:p>
                  </a:txBody>
                  <a:tcPr>
                    <a:solidFill>
                      <a:srgbClr val="F2F2F2"/>
                    </a:solidFill>
                  </a:tcPr>
                </a:tc>
                <a:extLst>
                  <a:ext uri="{0D108BD9-81ED-4DB2-BD59-A6C34878D82A}">
                    <a16:rowId xmlns:a16="http://schemas.microsoft.com/office/drawing/2014/main" val="10010"/>
                  </a:ext>
                </a:extLst>
              </a:tr>
            </a:tbl>
          </a:graphicData>
        </a:graphic>
      </p:graphicFrame>
      <p:sp>
        <p:nvSpPr>
          <p:cNvPr id="20" name="Rectangle 19"/>
          <p:cNvSpPr/>
          <p:nvPr/>
        </p:nvSpPr>
        <p:spPr>
          <a:xfrm>
            <a:off x="6217920" y="5056632"/>
            <a:ext cx="5669280" cy="27432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309360" y="5074920"/>
            <a:ext cx="5486400" cy="237744"/>
          </a:xfrm>
          <a:prstGeom prst="rect">
            <a:avLst/>
          </a:prstGeom>
          <a:noFill/>
        </p:spPr>
        <p:txBody>
          <a:bodyPr wrap="square">
            <a:spAutoFit/>
          </a:bodyPr>
          <a:lstStyle/>
          <a:p>
            <a:pPr algn="l"/>
            <a:r>
              <a:rPr sz="1100" b="1" i="0">
                <a:solidFill>
                  <a:srgbClr val="FFFFFF"/>
                </a:solidFill>
                <a:latin typeface="Arial"/>
              </a:rPr>
              <a:t>Returning Podium Athletes on Startlist</a:t>
            </a:r>
          </a:p>
        </p:txBody>
      </p:sp>
      <p:sp>
        <p:nvSpPr>
          <p:cNvPr id="22" name="TextBox 21"/>
          <p:cNvSpPr txBox="1"/>
          <p:nvPr/>
        </p:nvSpPr>
        <p:spPr>
          <a:xfrm>
            <a:off x="6355080" y="5422392"/>
            <a:ext cx="5394960" cy="292608"/>
          </a:xfrm>
          <a:prstGeom prst="rect">
            <a:avLst/>
          </a:prstGeom>
          <a:noFill/>
        </p:spPr>
        <p:txBody>
          <a:bodyPr wrap="square">
            <a:spAutoFit/>
          </a:bodyPr>
          <a:lstStyle/>
          <a:p>
            <a:pPr algn="l"/>
            <a:r>
              <a:rPr sz="1100" b="1" i="0">
                <a:solidFill>
                  <a:srgbClr val="262626"/>
                </a:solidFill>
                <a:latin typeface="Arial"/>
              </a:rPr>
              <a:t>3.  Desirae Ridenour   (00:56:31)</a:t>
            </a:r>
          </a:p>
        </p:txBody>
      </p:sp>
      <p:sp>
        <p:nvSpPr>
          <p:cNvPr id="23" name="TextBox 22"/>
          <p:cNvSpPr txBox="1"/>
          <p:nvPr/>
        </p:nvSpPr>
        <p:spPr>
          <a:xfrm>
            <a:off x="274320" y="6446520"/>
            <a:ext cx="11640312" cy="228600"/>
          </a:xfrm>
          <a:prstGeom prst="rect">
            <a:avLst/>
          </a:prstGeom>
          <a:noFill/>
        </p:spPr>
        <p:txBody>
          <a:bodyPr wrap="square">
            <a:spAutoFit/>
          </a:bodyPr>
          <a:lstStyle/>
          <a:p>
            <a:pPr algn="ctr"/>
            <a:r>
              <a:rPr sz="900" b="0" i="1">
                <a:solidFill>
                  <a:srgbClr val="BFBFBF"/>
                </a:solidFill>
                <a:latin typeface="Arial"/>
              </a:rPr>
              <a:t>Rankings = current World Triathlon rankings snapshot; startlist intersect uses program_entries when available.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USA World Rankings Snapshot</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Edmonton</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1097280"/>
            <a:ext cx="11640312" cy="384048"/>
          </a:xfrm>
          <a:prstGeom prst="rect">
            <a:avLst/>
          </a:prstGeom>
          <a:solidFill>
            <a:srgbClr val="F2F2F2"/>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5760" y="1170432"/>
            <a:ext cx="11430000" cy="256032"/>
          </a:xfrm>
          <a:prstGeom prst="rect">
            <a:avLst/>
          </a:prstGeom>
          <a:noFill/>
        </p:spPr>
        <p:txBody>
          <a:bodyPr wrap="square">
            <a:spAutoFit/>
          </a:bodyPr>
          <a:lstStyle/>
          <a:p>
            <a:pPr algn="ctr"/>
            <a:r>
              <a:rPr sz="1200" b="1" i="0">
                <a:solidFill>
                  <a:srgbClr val="002060"/>
                </a:solidFill>
                <a:latin typeface="Arial"/>
              </a:rPr>
              <a:t>As of 2026-07-13   •   World Triathlon Rankings   •   Heading into Edmonton   •   Race tier: World Cup</a:t>
            </a:r>
          </a:p>
        </p:txBody>
      </p:sp>
      <p:sp>
        <p:nvSpPr>
          <p:cNvPr id="10" name="Rectangle 9"/>
          <p:cNvSpPr/>
          <p:nvPr/>
        </p:nvSpPr>
        <p:spPr>
          <a:xfrm>
            <a:off x="274320" y="1600200"/>
            <a:ext cx="11640312" cy="29260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5760" y="1627632"/>
            <a:ext cx="11430000" cy="246888"/>
          </a:xfrm>
          <a:prstGeom prst="rect">
            <a:avLst/>
          </a:prstGeom>
          <a:noFill/>
        </p:spPr>
        <p:txBody>
          <a:bodyPr wrap="square">
            <a:spAutoFit/>
          </a:bodyPr>
          <a:lstStyle/>
          <a:p>
            <a:pPr algn="l"/>
            <a:r>
              <a:rPr sz="1200" b="1" i="0">
                <a:solidFill>
                  <a:srgbClr val="FFFFFF"/>
                </a:solidFill>
                <a:latin typeface="Arial"/>
              </a:rPr>
              <a:t>Max Points Available at this Race</a:t>
            </a:r>
          </a:p>
        </p:txBody>
      </p:sp>
      <p:sp>
        <p:nvSpPr>
          <p:cNvPr id="12" name="Rectangle 11"/>
          <p:cNvSpPr/>
          <p:nvPr/>
        </p:nvSpPr>
        <p:spPr>
          <a:xfrm>
            <a:off x="274320" y="1984248"/>
            <a:ext cx="1803196" cy="502920"/>
          </a:xfrm>
          <a:prstGeom prst="rect">
            <a:avLst/>
          </a:prstGeom>
          <a:solidFill>
            <a:srgbClr val="F2F2F2"/>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74320" y="2011680"/>
            <a:ext cx="1803196" cy="182880"/>
          </a:xfrm>
          <a:prstGeom prst="rect">
            <a:avLst/>
          </a:prstGeom>
          <a:noFill/>
        </p:spPr>
        <p:txBody>
          <a:bodyPr wrap="square">
            <a:spAutoFit/>
          </a:bodyPr>
          <a:lstStyle/>
          <a:p>
            <a:pPr algn="ctr"/>
            <a:r>
              <a:rPr sz="900" b="1" i="0">
                <a:solidFill>
                  <a:srgbClr val="002060"/>
                </a:solidFill>
                <a:latin typeface="Arial"/>
              </a:rPr>
              <a:t>Win</a:t>
            </a:r>
          </a:p>
        </p:txBody>
      </p:sp>
      <p:sp>
        <p:nvSpPr>
          <p:cNvPr id="14" name="TextBox 13"/>
          <p:cNvSpPr txBox="1"/>
          <p:nvPr/>
        </p:nvSpPr>
        <p:spPr>
          <a:xfrm>
            <a:off x="274320" y="2185416"/>
            <a:ext cx="1803196" cy="292608"/>
          </a:xfrm>
          <a:prstGeom prst="rect">
            <a:avLst/>
          </a:prstGeom>
          <a:noFill/>
        </p:spPr>
        <p:txBody>
          <a:bodyPr wrap="square">
            <a:spAutoFit/>
          </a:bodyPr>
          <a:lstStyle/>
          <a:p>
            <a:pPr algn="ctr"/>
            <a:r>
              <a:rPr sz="1400" b="1" i="0">
                <a:solidFill>
                  <a:srgbClr val="C00000"/>
                </a:solidFill>
                <a:latin typeface="Arial"/>
              </a:rPr>
              <a:t>500 pts</a:t>
            </a:r>
          </a:p>
        </p:txBody>
      </p:sp>
      <p:sp>
        <p:nvSpPr>
          <p:cNvPr id="15" name="Rectangle 14"/>
          <p:cNvSpPr/>
          <p:nvPr/>
        </p:nvSpPr>
        <p:spPr>
          <a:xfrm>
            <a:off x="2242108" y="1984248"/>
            <a:ext cx="1803196" cy="502920"/>
          </a:xfrm>
          <a:prstGeom prst="rect">
            <a:avLst/>
          </a:prstGeom>
          <a:solidFill>
            <a:srgbClr val="F2F2F2"/>
          </a:solidFill>
          <a:ln w="19050">
            <a:solidFill>
              <a:srgbClr val="0020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242108" y="2011680"/>
            <a:ext cx="1803196" cy="182880"/>
          </a:xfrm>
          <a:prstGeom prst="rect">
            <a:avLst/>
          </a:prstGeom>
          <a:noFill/>
        </p:spPr>
        <p:txBody>
          <a:bodyPr wrap="square">
            <a:spAutoFit/>
          </a:bodyPr>
          <a:lstStyle/>
          <a:p>
            <a:pPr algn="ctr"/>
            <a:r>
              <a:rPr sz="900" b="1" i="0">
                <a:solidFill>
                  <a:srgbClr val="002060"/>
                </a:solidFill>
                <a:latin typeface="Arial"/>
              </a:rPr>
              <a:t>Podium</a:t>
            </a:r>
          </a:p>
        </p:txBody>
      </p:sp>
      <p:sp>
        <p:nvSpPr>
          <p:cNvPr id="17" name="TextBox 16"/>
          <p:cNvSpPr txBox="1"/>
          <p:nvPr/>
        </p:nvSpPr>
        <p:spPr>
          <a:xfrm>
            <a:off x="2242108" y="2185416"/>
            <a:ext cx="1803196" cy="292608"/>
          </a:xfrm>
          <a:prstGeom prst="rect">
            <a:avLst/>
          </a:prstGeom>
          <a:noFill/>
        </p:spPr>
        <p:txBody>
          <a:bodyPr wrap="square">
            <a:spAutoFit/>
          </a:bodyPr>
          <a:lstStyle/>
          <a:p>
            <a:pPr algn="ctr"/>
            <a:r>
              <a:rPr sz="1400" b="1" i="0">
                <a:solidFill>
                  <a:srgbClr val="002060"/>
                </a:solidFill>
                <a:latin typeface="Arial"/>
              </a:rPr>
              <a:t>427 pts</a:t>
            </a:r>
          </a:p>
        </p:txBody>
      </p:sp>
      <p:sp>
        <p:nvSpPr>
          <p:cNvPr id="18" name="Rectangle 17"/>
          <p:cNvSpPr/>
          <p:nvPr/>
        </p:nvSpPr>
        <p:spPr>
          <a:xfrm>
            <a:off x="4209896" y="1984248"/>
            <a:ext cx="1803196" cy="502920"/>
          </a:xfrm>
          <a:prstGeom prst="rect">
            <a:avLst/>
          </a:prstGeom>
          <a:solidFill>
            <a:srgbClr val="F2F2F2"/>
          </a:solidFill>
          <a:ln w="19050">
            <a:solidFill>
              <a:srgbClr val="0020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209896" y="2011680"/>
            <a:ext cx="1803196" cy="182880"/>
          </a:xfrm>
          <a:prstGeom prst="rect">
            <a:avLst/>
          </a:prstGeom>
          <a:noFill/>
        </p:spPr>
        <p:txBody>
          <a:bodyPr wrap="square">
            <a:spAutoFit/>
          </a:bodyPr>
          <a:lstStyle/>
          <a:p>
            <a:pPr algn="ctr"/>
            <a:r>
              <a:rPr sz="900" b="1" i="0">
                <a:solidFill>
                  <a:srgbClr val="002060"/>
                </a:solidFill>
                <a:latin typeface="Arial"/>
              </a:rPr>
              <a:t>Top 5</a:t>
            </a:r>
          </a:p>
        </p:txBody>
      </p:sp>
      <p:sp>
        <p:nvSpPr>
          <p:cNvPr id="20" name="TextBox 19"/>
          <p:cNvSpPr txBox="1"/>
          <p:nvPr/>
        </p:nvSpPr>
        <p:spPr>
          <a:xfrm>
            <a:off x="4209896" y="2185416"/>
            <a:ext cx="1803196" cy="292608"/>
          </a:xfrm>
          <a:prstGeom prst="rect">
            <a:avLst/>
          </a:prstGeom>
          <a:noFill/>
        </p:spPr>
        <p:txBody>
          <a:bodyPr wrap="square">
            <a:spAutoFit/>
          </a:bodyPr>
          <a:lstStyle/>
          <a:p>
            <a:pPr algn="ctr"/>
            <a:r>
              <a:rPr sz="1400" b="1" i="0">
                <a:solidFill>
                  <a:srgbClr val="002060"/>
                </a:solidFill>
                <a:latin typeface="Arial"/>
              </a:rPr>
              <a:t>366 pts</a:t>
            </a:r>
          </a:p>
        </p:txBody>
      </p:sp>
      <p:sp>
        <p:nvSpPr>
          <p:cNvPr id="21" name="Rectangle 20"/>
          <p:cNvSpPr/>
          <p:nvPr/>
        </p:nvSpPr>
        <p:spPr>
          <a:xfrm>
            <a:off x="6177684" y="1984248"/>
            <a:ext cx="1803196" cy="502920"/>
          </a:xfrm>
          <a:prstGeom prst="rect">
            <a:avLst/>
          </a:prstGeom>
          <a:solidFill>
            <a:srgbClr val="F2F2F2"/>
          </a:solidFill>
          <a:ln w="190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177684" y="2011680"/>
            <a:ext cx="1803196" cy="182880"/>
          </a:xfrm>
          <a:prstGeom prst="rect">
            <a:avLst/>
          </a:prstGeom>
          <a:noFill/>
        </p:spPr>
        <p:txBody>
          <a:bodyPr wrap="square">
            <a:spAutoFit/>
          </a:bodyPr>
          <a:lstStyle/>
          <a:p>
            <a:pPr algn="ctr"/>
            <a:r>
              <a:rPr sz="900" b="1" i="0">
                <a:solidFill>
                  <a:srgbClr val="002060"/>
                </a:solidFill>
                <a:latin typeface="Arial"/>
              </a:rPr>
              <a:t>Top 10</a:t>
            </a:r>
          </a:p>
        </p:txBody>
      </p:sp>
      <p:sp>
        <p:nvSpPr>
          <p:cNvPr id="23" name="TextBox 22"/>
          <p:cNvSpPr txBox="1"/>
          <p:nvPr/>
        </p:nvSpPr>
        <p:spPr>
          <a:xfrm>
            <a:off x="6177684" y="2185416"/>
            <a:ext cx="1803196" cy="292608"/>
          </a:xfrm>
          <a:prstGeom prst="rect">
            <a:avLst/>
          </a:prstGeom>
          <a:noFill/>
        </p:spPr>
        <p:txBody>
          <a:bodyPr wrap="square">
            <a:spAutoFit/>
          </a:bodyPr>
          <a:lstStyle/>
          <a:p>
            <a:pPr algn="ctr"/>
            <a:r>
              <a:rPr sz="1400" b="1" i="0">
                <a:solidFill>
                  <a:srgbClr val="BFBFBF"/>
                </a:solidFill>
                <a:latin typeface="Arial"/>
              </a:rPr>
              <a:t>247 pts</a:t>
            </a:r>
          </a:p>
        </p:txBody>
      </p:sp>
      <p:sp>
        <p:nvSpPr>
          <p:cNvPr id="24" name="Rectangle 23"/>
          <p:cNvSpPr/>
          <p:nvPr/>
        </p:nvSpPr>
        <p:spPr>
          <a:xfrm>
            <a:off x="8145472" y="1984248"/>
            <a:ext cx="1803196" cy="502920"/>
          </a:xfrm>
          <a:prstGeom prst="rect">
            <a:avLst/>
          </a:prstGeom>
          <a:solidFill>
            <a:srgbClr val="F2F2F2"/>
          </a:solidFill>
          <a:ln w="190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145472" y="2011680"/>
            <a:ext cx="1803196" cy="182880"/>
          </a:xfrm>
          <a:prstGeom prst="rect">
            <a:avLst/>
          </a:prstGeom>
          <a:noFill/>
        </p:spPr>
        <p:txBody>
          <a:bodyPr wrap="square">
            <a:spAutoFit/>
          </a:bodyPr>
          <a:lstStyle/>
          <a:p>
            <a:pPr algn="ctr"/>
            <a:r>
              <a:rPr sz="900" b="1" i="0">
                <a:solidFill>
                  <a:srgbClr val="002060"/>
                </a:solidFill>
                <a:latin typeface="Arial"/>
              </a:rPr>
              <a:t>Top 15</a:t>
            </a:r>
          </a:p>
        </p:txBody>
      </p:sp>
      <p:sp>
        <p:nvSpPr>
          <p:cNvPr id="26" name="TextBox 25"/>
          <p:cNvSpPr txBox="1"/>
          <p:nvPr/>
        </p:nvSpPr>
        <p:spPr>
          <a:xfrm>
            <a:off x="8145472" y="2185416"/>
            <a:ext cx="1803196" cy="292608"/>
          </a:xfrm>
          <a:prstGeom prst="rect">
            <a:avLst/>
          </a:prstGeom>
          <a:noFill/>
        </p:spPr>
        <p:txBody>
          <a:bodyPr wrap="square">
            <a:spAutoFit/>
          </a:bodyPr>
          <a:lstStyle/>
          <a:p>
            <a:pPr algn="ctr"/>
            <a:r>
              <a:rPr sz="1400" b="1" i="0">
                <a:solidFill>
                  <a:srgbClr val="BFBFBF"/>
                </a:solidFill>
                <a:latin typeface="Arial"/>
              </a:rPr>
              <a:t>167 pts</a:t>
            </a:r>
          </a:p>
        </p:txBody>
      </p:sp>
      <p:sp>
        <p:nvSpPr>
          <p:cNvPr id="27" name="Rectangle 26"/>
          <p:cNvSpPr/>
          <p:nvPr/>
        </p:nvSpPr>
        <p:spPr>
          <a:xfrm>
            <a:off x="10113260" y="1984248"/>
            <a:ext cx="1803196" cy="502920"/>
          </a:xfrm>
          <a:prstGeom prst="rect">
            <a:avLst/>
          </a:prstGeom>
          <a:solidFill>
            <a:srgbClr val="F2F2F2"/>
          </a:solidFill>
          <a:ln w="190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113260" y="2011680"/>
            <a:ext cx="1803196" cy="182880"/>
          </a:xfrm>
          <a:prstGeom prst="rect">
            <a:avLst/>
          </a:prstGeom>
          <a:noFill/>
        </p:spPr>
        <p:txBody>
          <a:bodyPr wrap="square">
            <a:spAutoFit/>
          </a:bodyPr>
          <a:lstStyle/>
          <a:p>
            <a:pPr algn="ctr"/>
            <a:r>
              <a:rPr sz="900" b="1" i="0">
                <a:solidFill>
                  <a:srgbClr val="002060"/>
                </a:solidFill>
                <a:latin typeface="Arial"/>
              </a:rPr>
              <a:t>Top 20</a:t>
            </a:r>
          </a:p>
        </p:txBody>
      </p:sp>
      <p:sp>
        <p:nvSpPr>
          <p:cNvPr id="29" name="TextBox 28"/>
          <p:cNvSpPr txBox="1"/>
          <p:nvPr/>
        </p:nvSpPr>
        <p:spPr>
          <a:xfrm>
            <a:off x="10113260" y="2185416"/>
            <a:ext cx="1803196" cy="292608"/>
          </a:xfrm>
          <a:prstGeom prst="rect">
            <a:avLst/>
          </a:prstGeom>
          <a:noFill/>
        </p:spPr>
        <p:txBody>
          <a:bodyPr wrap="square">
            <a:spAutoFit/>
          </a:bodyPr>
          <a:lstStyle/>
          <a:p>
            <a:pPr algn="ctr"/>
            <a:r>
              <a:rPr sz="1400" b="1" i="0">
                <a:solidFill>
                  <a:srgbClr val="BFBFBF"/>
                </a:solidFill>
                <a:latin typeface="Arial"/>
              </a:rPr>
              <a:t>113 pts</a:t>
            </a:r>
          </a:p>
        </p:txBody>
      </p:sp>
      <p:sp>
        <p:nvSpPr>
          <p:cNvPr id="30" name="Rectangle 29"/>
          <p:cNvSpPr/>
          <p:nvPr/>
        </p:nvSpPr>
        <p:spPr>
          <a:xfrm>
            <a:off x="274320" y="2606040"/>
            <a:ext cx="5788152" cy="292608"/>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74320" y="2633472"/>
            <a:ext cx="5788152" cy="237744"/>
          </a:xfrm>
          <a:prstGeom prst="rect">
            <a:avLst/>
          </a:prstGeom>
          <a:noFill/>
        </p:spPr>
        <p:txBody>
          <a:bodyPr wrap="square">
            <a:spAutoFit/>
          </a:bodyPr>
          <a:lstStyle/>
          <a:p>
            <a:pPr algn="ctr"/>
            <a:r>
              <a:rPr sz="1100" b="1" i="0">
                <a:solidFill>
                  <a:srgbClr val="FFFFFF"/>
                </a:solidFill>
                <a:latin typeface="Arial"/>
              </a:rPr>
              <a:t>ELITE MEN</a:t>
            </a:r>
          </a:p>
        </p:txBody>
      </p:sp>
      <p:graphicFrame>
        <p:nvGraphicFramePr>
          <p:cNvPr id="32" name="Table 31"/>
          <p:cNvGraphicFramePr>
            <a:graphicFrameLocks noGrp="1"/>
          </p:cNvGraphicFramePr>
          <p:nvPr/>
        </p:nvGraphicFramePr>
        <p:xfrm>
          <a:off x="274320" y="2935224"/>
          <a:ext cx="5787236" cy="3589020"/>
        </p:xfrm>
        <a:graphic>
          <a:graphicData uri="http://schemas.openxmlformats.org/drawingml/2006/table">
            <a:tbl>
              <a:tblPr firstRow="1" bandRow="1">
                <a:tableStyleId>{5C22544A-7EE6-4342-B048-85BDC9FD1C3A}</a:tableStyleId>
              </a:tblPr>
              <a:tblGrid>
                <a:gridCol w="783640">
                  <a:extLst>
                    <a:ext uri="{9D8B030D-6E8A-4147-A177-3AD203B41FA5}">
                      <a16:colId xmlns:a16="http://schemas.microsoft.com/office/drawing/2014/main" val="20000"/>
                    </a:ext>
                  </a:extLst>
                </a:gridCol>
                <a:gridCol w="2531973">
                  <a:extLst>
                    <a:ext uri="{9D8B030D-6E8A-4147-A177-3AD203B41FA5}">
                      <a16:colId xmlns:a16="http://schemas.microsoft.com/office/drawing/2014/main" val="20001"/>
                    </a:ext>
                  </a:extLst>
                </a:gridCol>
                <a:gridCol w="1145743">
                  <a:extLst>
                    <a:ext uri="{9D8B030D-6E8A-4147-A177-3AD203B41FA5}">
                      <a16:colId xmlns:a16="http://schemas.microsoft.com/office/drawing/2014/main" val="20002"/>
                    </a:ext>
                  </a:extLst>
                </a:gridCol>
                <a:gridCol w="662940">
                  <a:extLst>
                    <a:ext uri="{9D8B030D-6E8A-4147-A177-3AD203B41FA5}">
                      <a16:colId xmlns:a16="http://schemas.microsoft.com/office/drawing/2014/main" val="20003"/>
                    </a:ext>
                  </a:extLst>
                </a:gridCol>
                <a:gridCol w="662940">
                  <a:extLst>
                    <a:ext uri="{9D8B030D-6E8A-4147-A177-3AD203B41FA5}">
                      <a16:colId xmlns:a16="http://schemas.microsoft.com/office/drawing/2014/main" val="20004"/>
                    </a:ext>
                  </a:extLst>
                </a:gridCol>
              </a:tblGrid>
              <a:tr h="224028">
                <a:tc>
                  <a:txBody>
                    <a:bodyPr/>
                    <a:lstStyle/>
                    <a:p>
                      <a:pPr algn="ctr"/>
                      <a:r>
                        <a:rPr sz="900" b="1" i="0">
                          <a:solidFill>
                            <a:srgbClr val="FFFFFF"/>
                          </a:solidFill>
                          <a:latin typeface="Arial"/>
                        </a:rPr>
                        <a:t>Rank</a:t>
                      </a:r>
                    </a:p>
                  </a:txBody>
                  <a:tcPr>
                    <a:solidFill>
                      <a:srgbClr val="002060"/>
                    </a:solidFill>
                  </a:tcPr>
                </a:tc>
                <a:tc>
                  <a:txBody>
                    <a:bodyPr/>
                    <a:lstStyle/>
                    <a:p>
                      <a:pPr algn="l"/>
                      <a:r>
                        <a:rPr sz="900" b="1" i="0">
                          <a:solidFill>
                            <a:srgbClr val="FFFFFF"/>
                          </a:solidFill>
                          <a:latin typeface="Arial"/>
                        </a:rPr>
                        <a:t>Athlete</a:t>
                      </a:r>
                    </a:p>
                  </a:txBody>
                  <a:tcPr>
                    <a:solidFill>
                      <a:srgbClr val="002060"/>
                    </a:solidFill>
                  </a:tcPr>
                </a:tc>
                <a:tc>
                  <a:txBody>
                    <a:bodyPr/>
                    <a:lstStyle/>
                    <a:p>
                      <a:pPr algn="ctr"/>
                      <a:r>
                        <a:rPr sz="900" b="1" i="0">
                          <a:solidFill>
                            <a:srgbClr val="FFFFFF"/>
                          </a:solidFill>
                          <a:latin typeface="Arial"/>
                        </a:rPr>
                        <a:t>Points</a:t>
                      </a:r>
                    </a:p>
                  </a:txBody>
                  <a:tcPr>
                    <a:solidFill>
                      <a:srgbClr val="002060"/>
                    </a:solidFill>
                  </a:tcPr>
                </a:tc>
                <a:tc>
                  <a:txBody>
                    <a:bodyPr/>
                    <a:lstStyle/>
                    <a:p>
                      <a:pPr algn="ctr"/>
                      <a:r>
                        <a:rPr sz="900" b="1" i="0">
                          <a:solidFill>
                            <a:srgbClr val="FFFFFF"/>
                          </a:solidFill>
                          <a:latin typeface="Arial"/>
                        </a:rPr>
                        <a:t>Curr</a:t>
                      </a:r>
                    </a:p>
                  </a:txBody>
                  <a:tcPr>
                    <a:solidFill>
                      <a:srgbClr val="002060"/>
                    </a:solidFill>
                  </a:tcPr>
                </a:tc>
                <a:tc>
                  <a:txBody>
                    <a:bodyPr/>
                    <a:lstStyle/>
                    <a:p>
                      <a:pPr algn="ctr"/>
                      <a:r>
                        <a:rPr sz="900" b="1" i="0">
                          <a:solidFill>
                            <a:srgbClr val="FFFFFF"/>
                          </a:solidFill>
                          <a:latin typeface="Arial"/>
                        </a:rPr>
                        <a:t>Prev</a:t>
                      </a:r>
                    </a:p>
                  </a:txBody>
                  <a:tcPr>
                    <a:solidFill>
                      <a:srgbClr val="002060"/>
                    </a:solidFill>
                  </a:tcPr>
                </a:tc>
                <a:extLst>
                  <a:ext uri="{0D108BD9-81ED-4DB2-BD59-A6C34878D82A}">
                    <a16:rowId xmlns:a16="http://schemas.microsoft.com/office/drawing/2014/main" val="10000"/>
                  </a:ext>
                </a:extLst>
              </a:tr>
              <a:tr h="224028">
                <a:tc>
                  <a:txBody>
                    <a:bodyPr/>
                    <a:lstStyle/>
                    <a:p>
                      <a:pPr algn="ctr"/>
                      <a:r>
                        <a:rPr sz="850" b="1" i="0">
                          <a:solidFill>
                            <a:srgbClr val="262626"/>
                          </a:solidFill>
                          <a:latin typeface="Arial"/>
                        </a:rPr>
                        <a:t>19</a:t>
                      </a:r>
                    </a:p>
                  </a:txBody>
                  <a:tcPr>
                    <a:solidFill>
                      <a:srgbClr val="FFFFFF"/>
                    </a:solidFill>
                  </a:tcPr>
                </a:tc>
                <a:tc>
                  <a:txBody>
                    <a:bodyPr/>
                    <a:lstStyle/>
                    <a:p>
                      <a:pPr algn="l"/>
                      <a:r>
                        <a:rPr sz="850" b="0" i="0">
                          <a:solidFill>
                            <a:srgbClr val="262626"/>
                          </a:solidFill>
                          <a:latin typeface="Arial"/>
                        </a:rPr>
                        <a:t>John Reed</a:t>
                      </a:r>
                    </a:p>
                  </a:txBody>
                  <a:tcPr>
                    <a:solidFill>
                      <a:srgbClr val="FFFFFF"/>
                    </a:solidFill>
                  </a:tcPr>
                </a:tc>
                <a:tc>
                  <a:txBody>
                    <a:bodyPr/>
                    <a:lstStyle/>
                    <a:p>
                      <a:pPr algn="ctr"/>
                      <a:r>
                        <a:rPr sz="850" b="0" i="0">
                          <a:solidFill>
                            <a:srgbClr val="262626"/>
                          </a:solidFill>
                          <a:latin typeface="Arial"/>
                        </a:rPr>
                        <a:t>2,898</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extLst>
                  <a:ext uri="{0D108BD9-81ED-4DB2-BD59-A6C34878D82A}">
                    <a16:rowId xmlns:a16="http://schemas.microsoft.com/office/drawing/2014/main" val="10001"/>
                  </a:ext>
                </a:extLst>
              </a:tr>
              <a:tr h="224028">
                <a:tc>
                  <a:txBody>
                    <a:bodyPr/>
                    <a:lstStyle/>
                    <a:p>
                      <a:pPr algn="ctr"/>
                      <a:r>
                        <a:rPr sz="850" b="1" i="0">
                          <a:solidFill>
                            <a:srgbClr val="262626"/>
                          </a:solidFill>
                          <a:latin typeface="Arial"/>
                        </a:rPr>
                        <a:t>28</a:t>
                      </a:r>
                    </a:p>
                  </a:txBody>
                  <a:tcPr>
                    <a:solidFill>
                      <a:srgbClr val="F2F2F2"/>
                    </a:solidFill>
                  </a:tcPr>
                </a:tc>
                <a:tc>
                  <a:txBody>
                    <a:bodyPr/>
                    <a:lstStyle/>
                    <a:p>
                      <a:pPr algn="l"/>
                      <a:r>
                        <a:rPr sz="850" b="0" i="0">
                          <a:solidFill>
                            <a:srgbClr val="262626"/>
                          </a:solidFill>
                          <a:latin typeface="Arial"/>
                        </a:rPr>
                        <a:t>Reese Vannerson</a:t>
                      </a:r>
                    </a:p>
                  </a:txBody>
                  <a:tcPr>
                    <a:solidFill>
                      <a:srgbClr val="F2F2F2"/>
                    </a:solidFill>
                  </a:tcPr>
                </a:tc>
                <a:tc>
                  <a:txBody>
                    <a:bodyPr/>
                    <a:lstStyle/>
                    <a:p>
                      <a:pPr algn="ctr"/>
                      <a:r>
                        <a:rPr sz="850" b="0" i="0">
                          <a:solidFill>
                            <a:srgbClr val="262626"/>
                          </a:solidFill>
                          <a:latin typeface="Arial"/>
                        </a:rPr>
                        <a:t>2,628</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extLst>
                  <a:ext uri="{0D108BD9-81ED-4DB2-BD59-A6C34878D82A}">
                    <a16:rowId xmlns:a16="http://schemas.microsoft.com/office/drawing/2014/main" val="10002"/>
                  </a:ext>
                </a:extLst>
              </a:tr>
              <a:tr h="224028">
                <a:tc>
                  <a:txBody>
                    <a:bodyPr/>
                    <a:lstStyle/>
                    <a:p>
                      <a:pPr algn="ctr"/>
                      <a:r>
                        <a:rPr sz="850" b="1" i="0">
                          <a:solidFill>
                            <a:srgbClr val="262626"/>
                          </a:solidFill>
                          <a:latin typeface="Arial"/>
                        </a:rPr>
                        <a:t>51</a:t>
                      </a:r>
                    </a:p>
                  </a:txBody>
                  <a:tcPr>
                    <a:solidFill>
                      <a:srgbClr val="FFFFFF"/>
                    </a:solidFill>
                  </a:tcPr>
                </a:tc>
                <a:tc>
                  <a:txBody>
                    <a:bodyPr/>
                    <a:lstStyle/>
                    <a:p>
                      <a:pPr algn="l"/>
                      <a:r>
                        <a:rPr sz="850" b="0" i="0">
                          <a:solidFill>
                            <a:srgbClr val="262626"/>
                          </a:solidFill>
                          <a:latin typeface="Arial"/>
                        </a:rPr>
                        <a:t>Braxton Legg</a:t>
                      </a:r>
                    </a:p>
                  </a:txBody>
                  <a:tcPr>
                    <a:solidFill>
                      <a:srgbClr val="FFFFFF"/>
                    </a:solidFill>
                  </a:tcPr>
                </a:tc>
                <a:tc>
                  <a:txBody>
                    <a:bodyPr/>
                    <a:lstStyle/>
                    <a:p>
                      <a:pPr algn="ctr"/>
                      <a:r>
                        <a:rPr sz="850" b="0" i="0">
                          <a:solidFill>
                            <a:srgbClr val="262626"/>
                          </a:solidFill>
                          <a:latin typeface="Arial"/>
                        </a:rPr>
                        <a:t>2,109</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extLst>
                  <a:ext uri="{0D108BD9-81ED-4DB2-BD59-A6C34878D82A}">
                    <a16:rowId xmlns:a16="http://schemas.microsoft.com/office/drawing/2014/main" val="10003"/>
                  </a:ext>
                </a:extLst>
              </a:tr>
              <a:tr h="224028">
                <a:tc>
                  <a:txBody>
                    <a:bodyPr/>
                    <a:lstStyle/>
                    <a:p>
                      <a:pPr algn="ctr"/>
                      <a:r>
                        <a:rPr sz="850" b="1" i="0">
                          <a:solidFill>
                            <a:srgbClr val="262626"/>
                          </a:solidFill>
                          <a:latin typeface="Arial"/>
                        </a:rPr>
                        <a:t>54</a:t>
                      </a:r>
                    </a:p>
                  </a:txBody>
                  <a:tcPr>
                    <a:solidFill>
                      <a:srgbClr val="F2F2F2"/>
                    </a:solidFill>
                  </a:tcPr>
                </a:tc>
                <a:tc>
                  <a:txBody>
                    <a:bodyPr/>
                    <a:lstStyle/>
                    <a:p>
                      <a:pPr algn="l"/>
                      <a:r>
                        <a:rPr sz="850" b="0" i="0">
                          <a:solidFill>
                            <a:srgbClr val="262626"/>
                          </a:solidFill>
                          <a:latin typeface="Arial"/>
                        </a:rPr>
                        <a:t>Morgan Pearson</a:t>
                      </a:r>
                    </a:p>
                  </a:txBody>
                  <a:tcPr>
                    <a:solidFill>
                      <a:srgbClr val="F2F2F2"/>
                    </a:solidFill>
                  </a:tcPr>
                </a:tc>
                <a:tc>
                  <a:txBody>
                    <a:bodyPr/>
                    <a:lstStyle/>
                    <a:p>
                      <a:pPr algn="ctr"/>
                      <a:r>
                        <a:rPr sz="850" b="0" i="0">
                          <a:solidFill>
                            <a:srgbClr val="262626"/>
                          </a:solidFill>
                          <a:latin typeface="Arial"/>
                        </a:rPr>
                        <a:t>2,093</a:t>
                      </a:r>
                    </a:p>
                  </a:txBody>
                  <a:tcPr>
                    <a:solidFill>
                      <a:srgbClr val="F2F2F2"/>
                    </a:solidFill>
                  </a:tcPr>
                </a:tc>
                <a:tc>
                  <a:txBody>
                    <a:bodyPr/>
                    <a:lstStyle/>
                    <a:p>
                      <a:pPr algn="ctr"/>
                      <a:r>
                        <a:rPr sz="850" b="0" i="0">
                          <a:solidFill>
                            <a:srgbClr val="262626"/>
                          </a:solidFill>
                          <a:latin typeface="Arial"/>
                        </a:rPr>
                        <a:t>5</a:t>
                      </a:r>
                    </a:p>
                  </a:txBody>
                  <a:tcPr>
                    <a:solidFill>
                      <a:srgbClr val="F2F2F2"/>
                    </a:solidFill>
                  </a:tcPr>
                </a:tc>
                <a:tc>
                  <a:txBody>
                    <a:bodyPr/>
                    <a:lstStyle/>
                    <a:p>
                      <a:pPr algn="ctr"/>
                      <a:r>
                        <a:rPr sz="850" b="0" i="0">
                          <a:solidFill>
                            <a:srgbClr val="262626"/>
                          </a:solidFill>
                          <a:latin typeface="Arial"/>
                        </a:rPr>
                        <a:t>4</a:t>
                      </a:r>
                    </a:p>
                  </a:txBody>
                  <a:tcPr>
                    <a:solidFill>
                      <a:srgbClr val="F2F2F2"/>
                    </a:solidFill>
                  </a:tcPr>
                </a:tc>
                <a:extLst>
                  <a:ext uri="{0D108BD9-81ED-4DB2-BD59-A6C34878D82A}">
                    <a16:rowId xmlns:a16="http://schemas.microsoft.com/office/drawing/2014/main" val="10004"/>
                  </a:ext>
                </a:extLst>
              </a:tr>
              <a:tr h="224028">
                <a:tc>
                  <a:txBody>
                    <a:bodyPr/>
                    <a:lstStyle/>
                    <a:p>
                      <a:pPr algn="ctr"/>
                      <a:r>
                        <a:rPr sz="850" b="1" i="0">
                          <a:solidFill>
                            <a:srgbClr val="262626"/>
                          </a:solidFill>
                          <a:latin typeface="Arial"/>
                        </a:rPr>
                        <a:t>62</a:t>
                      </a:r>
                    </a:p>
                  </a:txBody>
                  <a:tcPr>
                    <a:solidFill>
                      <a:srgbClr val="FFFFFF"/>
                    </a:solidFill>
                  </a:tcPr>
                </a:tc>
                <a:tc>
                  <a:txBody>
                    <a:bodyPr/>
                    <a:lstStyle/>
                    <a:p>
                      <a:pPr algn="l"/>
                      <a:r>
                        <a:rPr sz="850" b="0" i="0">
                          <a:solidFill>
                            <a:srgbClr val="262626"/>
                          </a:solidFill>
                          <a:latin typeface="Arial"/>
                        </a:rPr>
                        <a:t>Seth Rider</a:t>
                      </a:r>
                    </a:p>
                  </a:txBody>
                  <a:tcPr>
                    <a:solidFill>
                      <a:srgbClr val="FFFFFF"/>
                    </a:solidFill>
                  </a:tcPr>
                </a:tc>
                <a:tc>
                  <a:txBody>
                    <a:bodyPr/>
                    <a:lstStyle/>
                    <a:p>
                      <a:pPr algn="ctr"/>
                      <a:r>
                        <a:rPr sz="850" b="0" i="0">
                          <a:solidFill>
                            <a:srgbClr val="262626"/>
                          </a:solidFill>
                          <a:latin typeface="Arial"/>
                        </a:rPr>
                        <a:t>1,927</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tc>
                  <a:txBody>
                    <a:bodyPr/>
                    <a:lstStyle/>
                    <a:p>
                      <a:pPr algn="ctr"/>
                      <a:r>
                        <a:rPr sz="850" b="0" i="0">
                          <a:solidFill>
                            <a:srgbClr val="262626"/>
                          </a:solidFill>
                          <a:latin typeface="Arial"/>
                        </a:rPr>
                        <a:t>5</a:t>
                      </a:r>
                    </a:p>
                  </a:txBody>
                  <a:tcPr>
                    <a:solidFill>
                      <a:srgbClr val="FFFFFF"/>
                    </a:solidFill>
                  </a:tcPr>
                </a:tc>
                <a:extLst>
                  <a:ext uri="{0D108BD9-81ED-4DB2-BD59-A6C34878D82A}">
                    <a16:rowId xmlns:a16="http://schemas.microsoft.com/office/drawing/2014/main" val="10005"/>
                  </a:ext>
                </a:extLst>
              </a:tr>
              <a:tr h="224028">
                <a:tc>
                  <a:txBody>
                    <a:bodyPr/>
                    <a:lstStyle/>
                    <a:p>
                      <a:pPr algn="ctr"/>
                      <a:r>
                        <a:rPr sz="850" b="1" i="0">
                          <a:solidFill>
                            <a:srgbClr val="262626"/>
                          </a:solidFill>
                          <a:latin typeface="Arial"/>
                        </a:rPr>
                        <a:t>65</a:t>
                      </a:r>
                    </a:p>
                  </a:txBody>
                  <a:tcPr>
                    <a:solidFill>
                      <a:srgbClr val="F2F2F2"/>
                    </a:solidFill>
                  </a:tcPr>
                </a:tc>
                <a:tc>
                  <a:txBody>
                    <a:bodyPr/>
                    <a:lstStyle/>
                    <a:p>
                      <a:pPr algn="l"/>
                      <a:r>
                        <a:rPr sz="850" b="0" i="0">
                          <a:solidFill>
                            <a:srgbClr val="262626"/>
                          </a:solidFill>
                          <a:latin typeface="Arial"/>
                        </a:rPr>
                        <a:t>Sullivan Middaugh</a:t>
                      </a:r>
                    </a:p>
                  </a:txBody>
                  <a:tcPr>
                    <a:solidFill>
                      <a:srgbClr val="F2F2F2"/>
                    </a:solidFill>
                  </a:tcPr>
                </a:tc>
                <a:tc>
                  <a:txBody>
                    <a:bodyPr/>
                    <a:lstStyle/>
                    <a:p>
                      <a:pPr algn="ctr"/>
                      <a:r>
                        <a:rPr sz="850" b="0" i="0">
                          <a:solidFill>
                            <a:srgbClr val="262626"/>
                          </a:solidFill>
                          <a:latin typeface="Arial"/>
                        </a:rPr>
                        <a:t>1,901</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extLst>
                  <a:ext uri="{0D108BD9-81ED-4DB2-BD59-A6C34878D82A}">
                    <a16:rowId xmlns:a16="http://schemas.microsoft.com/office/drawing/2014/main" val="10006"/>
                  </a:ext>
                </a:extLst>
              </a:tr>
              <a:tr h="224028">
                <a:tc>
                  <a:txBody>
                    <a:bodyPr/>
                    <a:lstStyle/>
                    <a:p>
                      <a:pPr algn="ctr"/>
                      <a:r>
                        <a:rPr sz="850" b="1" i="0">
                          <a:solidFill>
                            <a:srgbClr val="262626"/>
                          </a:solidFill>
                          <a:latin typeface="Arial"/>
                        </a:rPr>
                        <a:t>68</a:t>
                      </a:r>
                    </a:p>
                  </a:txBody>
                  <a:tcPr>
                    <a:solidFill>
                      <a:srgbClr val="FFFFFF"/>
                    </a:solidFill>
                  </a:tcPr>
                </a:tc>
                <a:tc>
                  <a:txBody>
                    <a:bodyPr/>
                    <a:lstStyle/>
                    <a:p>
                      <a:pPr algn="l"/>
                      <a:r>
                        <a:rPr sz="850" b="0" i="0">
                          <a:solidFill>
                            <a:srgbClr val="262626"/>
                          </a:solidFill>
                          <a:latin typeface="Arial"/>
                        </a:rPr>
                        <a:t>Keller Norland</a:t>
                      </a:r>
                    </a:p>
                  </a:txBody>
                  <a:tcPr>
                    <a:solidFill>
                      <a:srgbClr val="FFFFFF"/>
                    </a:solidFill>
                  </a:tcPr>
                </a:tc>
                <a:tc>
                  <a:txBody>
                    <a:bodyPr/>
                    <a:lstStyle/>
                    <a:p>
                      <a:pPr algn="ctr"/>
                      <a:r>
                        <a:rPr sz="850" b="0" i="0">
                          <a:solidFill>
                            <a:srgbClr val="262626"/>
                          </a:solidFill>
                          <a:latin typeface="Arial"/>
                        </a:rPr>
                        <a:t>1,795</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extLst>
                  <a:ext uri="{0D108BD9-81ED-4DB2-BD59-A6C34878D82A}">
                    <a16:rowId xmlns:a16="http://schemas.microsoft.com/office/drawing/2014/main" val="10007"/>
                  </a:ext>
                </a:extLst>
              </a:tr>
              <a:tr h="224028">
                <a:tc>
                  <a:txBody>
                    <a:bodyPr/>
                    <a:lstStyle/>
                    <a:p>
                      <a:pPr algn="ctr"/>
                      <a:r>
                        <a:rPr sz="850" b="1" i="0">
                          <a:solidFill>
                            <a:srgbClr val="262626"/>
                          </a:solidFill>
                          <a:latin typeface="Arial"/>
                        </a:rPr>
                        <a:t>73</a:t>
                      </a:r>
                    </a:p>
                  </a:txBody>
                  <a:tcPr>
                    <a:solidFill>
                      <a:srgbClr val="F2F2F2"/>
                    </a:solidFill>
                  </a:tcPr>
                </a:tc>
                <a:tc>
                  <a:txBody>
                    <a:bodyPr/>
                    <a:lstStyle/>
                    <a:p>
                      <a:pPr algn="l"/>
                      <a:r>
                        <a:rPr sz="850" b="0" i="0">
                          <a:solidFill>
                            <a:srgbClr val="262626"/>
                          </a:solidFill>
                          <a:latin typeface="Arial"/>
                        </a:rPr>
                        <a:t>Blake Bullard</a:t>
                      </a:r>
                    </a:p>
                  </a:txBody>
                  <a:tcPr>
                    <a:solidFill>
                      <a:srgbClr val="F2F2F2"/>
                    </a:solidFill>
                  </a:tcPr>
                </a:tc>
                <a:tc>
                  <a:txBody>
                    <a:bodyPr/>
                    <a:lstStyle/>
                    <a:p>
                      <a:pPr algn="ctr"/>
                      <a:r>
                        <a:rPr sz="850" b="0" i="0">
                          <a:solidFill>
                            <a:srgbClr val="262626"/>
                          </a:solidFill>
                          <a:latin typeface="Arial"/>
                        </a:rPr>
                        <a:t>1,761</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extLst>
                  <a:ext uri="{0D108BD9-81ED-4DB2-BD59-A6C34878D82A}">
                    <a16:rowId xmlns:a16="http://schemas.microsoft.com/office/drawing/2014/main" val="10008"/>
                  </a:ext>
                </a:extLst>
              </a:tr>
              <a:tr h="224028">
                <a:tc>
                  <a:txBody>
                    <a:bodyPr/>
                    <a:lstStyle/>
                    <a:p>
                      <a:pPr algn="ctr"/>
                      <a:r>
                        <a:rPr sz="850" b="1" i="0">
                          <a:solidFill>
                            <a:srgbClr val="262626"/>
                          </a:solidFill>
                          <a:latin typeface="Arial"/>
                        </a:rPr>
                        <a:t>81</a:t>
                      </a:r>
                    </a:p>
                  </a:txBody>
                  <a:tcPr>
                    <a:solidFill>
                      <a:srgbClr val="FFFFFF"/>
                    </a:solidFill>
                  </a:tcPr>
                </a:tc>
                <a:tc>
                  <a:txBody>
                    <a:bodyPr/>
                    <a:lstStyle/>
                    <a:p>
                      <a:pPr algn="l"/>
                      <a:r>
                        <a:rPr sz="850" b="0" i="0">
                          <a:solidFill>
                            <a:srgbClr val="262626"/>
                          </a:solidFill>
                          <a:latin typeface="Arial"/>
                        </a:rPr>
                        <a:t>Chase McQueen</a:t>
                      </a:r>
                    </a:p>
                  </a:txBody>
                  <a:tcPr>
                    <a:solidFill>
                      <a:srgbClr val="FFFFFF"/>
                    </a:solidFill>
                  </a:tcPr>
                </a:tc>
                <a:tc>
                  <a:txBody>
                    <a:bodyPr/>
                    <a:lstStyle/>
                    <a:p>
                      <a:pPr algn="ctr"/>
                      <a:r>
                        <a:rPr sz="850" b="0" i="0">
                          <a:solidFill>
                            <a:srgbClr val="262626"/>
                          </a:solidFill>
                          <a:latin typeface="Arial"/>
                        </a:rPr>
                        <a:t>1,708</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extLst>
                  <a:ext uri="{0D108BD9-81ED-4DB2-BD59-A6C34878D82A}">
                    <a16:rowId xmlns:a16="http://schemas.microsoft.com/office/drawing/2014/main" val="10009"/>
                  </a:ext>
                </a:extLst>
              </a:tr>
              <a:tr h="224028">
                <a:tc>
                  <a:txBody>
                    <a:bodyPr/>
                    <a:lstStyle/>
                    <a:p>
                      <a:pPr algn="ctr"/>
                      <a:r>
                        <a:rPr sz="850" b="1" i="0">
                          <a:solidFill>
                            <a:srgbClr val="262626"/>
                          </a:solidFill>
                          <a:latin typeface="Arial"/>
                        </a:rPr>
                        <a:t>107</a:t>
                      </a:r>
                    </a:p>
                  </a:txBody>
                  <a:tcPr>
                    <a:solidFill>
                      <a:srgbClr val="F2F2F2"/>
                    </a:solidFill>
                  </a:tcPr>
                </a:tc>
                <a:tc>
                  <a:txBody>
                    <a:bodyPr/>
                    <a:lstStyle/>
                    <a:p>
                      <a:pPr algn="l"/>
                      <a:r>
                        <a:rPr sz="850" b="0" i="0">
                          <a:solidFill>
                            <a:srgbClr val="262626"/>
                          </a:solidFill>
                          <a:latin typeface="Arial"/>
                        </a:rPr>
                        <a:t>Darr Smith</a:t>
                      </a:r>
                    </a:p>
                  </a:txBody>
                  <a:tcPr>
                    <a:solidFill>
                      <a:srgbClr val="F2F2F2"/>
                    </a:solidFill>
                  </a:tcPr>
                </a:tc>
                <a:tc>
                  <a:txBody>
                    <a:bodyPr/>
                    <a:lstStyle/>
                    <a:p>
                      <a:pPr algn="ctr"/>
                      <a:r>
                        <a:rPr sz="850" b="0" i="0">
                          <a:solidFill>
                            <a:srgbClr val="262626"/>
                          </a:solidFill>
                          <a:latin typeface="Arial"/>
                        </a:rPr>
                        <a:t>1,452</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extLst>
                  <a:ext uri="{0D108BD9-81ED-4DB2-BD59-A6C34878D82A}">
                    <a16:rowId xmlns:a16="http://schemas.microsoft.com/office/drawing/2014/main" val="10010"/>
                  </a:ext>
                </a:extLst>
              </a:tr>
              <a:tr h="224028">
                <a:tc>
                  <a:txBody>
                    <a:bodyPr/>
                    <a:lstStyle/>
                    <a:p>
                      <a:pPr algn="ctr"/>
                      <a:r>
                        <a:rPr sz="850" b="1" i="0">
                          <a:solidFill>
                            <a:srgbClr val="262626"/>
                          </a:solidFill>
                          <a:latin typeface="Arial"/>
                        </a:rPr>
                        <a:t>111</a:t>
                      </a:r>
                    </a:p>
                  </a:txBody>
                  <a:tcPr>
                    <a:solidFill>
                      <a:srgbClr val="FFFFFF"/>
                    </a:solidFill>
                  </a:tcPr>
                </a:tc>
                <a:tc>
                  <a:txBody>
                    <a:bodyPr/>
                    <a:lstStyle/>
                    <a:p>
                      <a:pPr algn="l"/>
                      <a:r>
                        <a:rPr sz="850" b="0" i="0">
                          <a:solidFill>
                            <a:srgbClr val="262626"/>
                          </a:solidFill>
                          <a:latin typeface="Arial"/>
                        </a:rPr>
                        <a:t>Zach Leachman</a:t>
                      </a:r>
                    </a:p>
                  </a:txBody>
                  <a:tcPr>
                    <a:solidFill>
                      <a:srgbClr val="FFFFFF"/>
                    </a:solidFill>
                  </a:tcPr>
                </a:tc>
                <a:tc>
                  <a:txBody>
                    <a:bodyPr/>
                    <a:lstStyle/>
                    <a:p>
                      <a:pPr algn="ctr"/>
                      <a:r>
                        <a:rPr sz="850" b="0" i="0">
                          <a:solidFill>
                            <a:srgbClr val="262626"/>
                          </a:solidFill>
                          <a:latin typeface="Arial"/>
                        </a:rPr>
                        <a:t>1,433</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tc>
                  <a:txBody>
                    <a:bodyPr/>
                    <a:lstStyle/>
                    <a:p>
                      <a:pPr algn="ctr"/>
                      <a:r>
                        <a:rPr sz="850" b="0" i="0">
                          <a:solidFill>
                            <a:srgbClr val="262626"/>
                          </a:solidFill>
                          <a:latin typeface="Arial"/>
                        </a:rPr>
                        <a:t>—</a:t>
                      </a:r>
                    </a:p>
                  </a:txBody>
                  <a:tcPr>
                    <a:solidFill>
                      <a:srgbClr val="FFFFFF"/>
                    </a:solidFill>
                  </a:tcPr>
                </a:tc>
                <a:extLst>
                  <a:ext uri="{0D108BD9-81ED-4DB2-BD59-A6C34878D82A}">
                    <a16:rowId xmlns:a16="http://schemas.microsoft.com/office/drawing/2014/main" val="10011"/>
                  </a:ext>
                </a:extLst>
              </a:tr>
              <a:tr h="224028">
                <a:tc>
                  <a:txBody>
                    <a:bodyPr/>
                    <a:lstStyle/>
                    <a:p>
                      <a:pPr algn="ctr"/>
                      <a:r>
                        <a:rPr sz="850" b="1" i="0">
                          <a:solidFill>
                            <a:srgbClr val="262626"/>
                          </a:solidFill>
                          <a:latin typeface="Arial"/>
                        </a:rPr>
                        <a:t>134</a:t>
                      </a:r>
                    </a:p>
                  </a:txBody>
                  <a:tcPr>
                    <a:solidFill>
                      <a:srgbClr val="F2F2F2"/>
                    </a:solidFill>
                  </a:tcPr>
                </a:tc>
                <a:tc>
                  <a:txBody>
                    <a:bodyPr/>
                    <a:lstStyle/>
                    <a:p>
                      <a:pPr algn="l"/>
                      <a:r>
                        <a:rPr sz="850" b="0" i="0">
                          <a:solidFill>
                            <a:srgbClr val="262626"/>
                          </a:solidFill>
                          <a:latin typeface="Arial"/>
                        </a:rPr>
                        <a:t>Porter Middaugh</a:t>
                      </a:r>
                    </a:p>
                  </a:txBody>
                  <a:tcPr>
                    <a:solidFill>
                      <a:srgbClr val="F2F2F2"/>
                    </a:solidFill>
                  </a:tcPr>
                </a:tc>
                <a:tc>
                  <a:txBody>
                    <a:bodyPr/>
                    <a:lstStyle/>
                    <a:p>
                      <a:pPr algn="ctr"/>
                      <a:r>
                        <a:rPr sz="850" b="0" i="0">
                          <a:solidFill>
                            <a:srgbClr val="262626"/>
                          </a:solidFill>
                          <a:latin typeface="Arial"/>
                        </a:rPr>
                        <a:t>1,223</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tc>
                  <a:txBody>
                    <a:bodyPr/>
                    <a:lstStyle/>
                    <a:p>
                      <a:pPr algn="ctr"/>
                      <a:r>
                        <a:rPr sz="850" b="0" i="0">
                          <a:solidFill>
                            <a:srgbClr val="262626"/>
                          </a:solidFill>
                          <a:latin typeface="Arial"/>
                        </a:rPr>
                        <a:t>5</a:t>
                      </a:r>
                    </a:p>
                  </a:txBody>
                  <a:tcPr>
                    <a:solidFill>
                      <a:srgbClr val="F2F2F2"/>
                    </a:solidFill>
                  </a:tcPr>
                </a:tc>
                <a:extLst>
                  <a:ext uri="{0D108BD9-81ED-4DB2-BD59-A6C34878D82A}">
                    <a16:rowId xmlns:a16="http://schemas.microsoft.com/office/drawing/2014/main" val="10012"/>
                  </a:ext>
                </a:extLst>
              </a:tr>
              <a:tr h="224028">
                <a:tc>
                  <a:txBody>
                    <a:bodyPr/>
                    <a:lstStyle/>
                    <a:p>
                      <a:pPr algn="ctr"/>
                      <a:r>
                        <a:rPr sz="850" b="1" i="0">
                          <a:solidFill>
                            <a:srgbClr val="262626"/>
                          </a:solidFill>
                          <a:latin typeface="Arial"/>
                        </a:rPr>
                        <a:t>166</a:t>
                      </a:r>
                    </a:p>
                  </a:txBody>
                  <a:tcPr>
                    <a:solidFill>
                      <a:srgbClr val="FFFFFF"/>
                    </a:solidFill>
                  </a:tcPr>
                </a:tc>
                <a:tc>
                  <a:txBody>
                    <a:bodyPr/>
                    <a:lstStyle/>
                    <a:p>
                      <a:pPr algn="l"/>
                      <a:r>
                        <a:rPr sz="850" b="0" i="0">
                          <a:solidFill>
                            <a:srgbClr val="262626"/>
                          </a:solidFill>
                          <a:latin typeface="Arial"/>
                        </a:rPr>
                        <a:t>Carter Stuhlmacher</a:t>
                      </a:r>
                    </a:p>
                  </a:txBody>
                  <a:tcPr>
                    <a:solidFill>
                      <a:srgbClr val="FFFFFF"/>
                    </a:solidFill>
                  </a:tcPr>
                </a:tc>
                <a:tc>
                  <a:txBody>
                    <a:bodyPr/>
                    <a:lstStyle/>
                    <a:p>
                      <a:pPr algn="ctr"/>
                      <a:r>
                        <a:rPr sz="850" b="0" i="0">
                          <a:solidFill>
                            <a:srgbClr val="262626"/>
                          </a:solidFill>
                          <a:latin typeface="Arial"/>
                        </a:rPr>
                        <a:t>1,038</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tc>
                  <a:txBody>
                    <a:bodyPr/>
                    <a:lstStyle/>
                    <a:p>
                      <a:pPr algn="ctr"/>
                      <a:r>
                        <a:rPr sz="850" b="0" i="0">
                          <a:solidFill>
                            <a:srgbClr val="262626"/>
                          </a:solidFill>
                          <a:latin typeface="Arial"/>
                        </a:rPr>
                        <a:t>3</a:t>
                      </a:r>
                    </a:p>
                  </a:txBody>
                  <a:tcPr>
                    <a:solidFill>
                      <a:srgbClr val="FFFFFF"/>
                    </a:solidFill>
                  </a:tcPr>
                </a:tc>
                <a:extLst>
                  <a:ext uri="{0D108BD9-81ED-4DB2-BD59-A6C34878D82A}">
                    <a16:rowId xmlns:a16="http://schemas.microsoft.com/office/drawing/2014/main" val="10013"/>
                  </a:ext>
                </a:extLst>
              </a:tr>
              <a:tr h="224028">
                <a:tc>
                  <a:txBody>
                    <a:bodyPr/>
                    <a:lstStyle/>
                    <a:p>
                      <a:pPr algn="ctr"/>
                      <a:r>
                        <a:rPr sz="850" b="1" i="0">
                          <a:solidFill>
                            <a:srgbClr val="262626"/>
                          </a:solidFill>
                          <a:latin typeface="Arial"/>
                        </a:rPr>
                        <a:t>279</a:t>
                      </a:r>
                    </a:p>
                  </a:txBody>
                  <a:tcPr>
                    <a:solidFill>
                      <a:srgbClr val="F2F2F2"/>
                    </a:solidFill>
                  </a:tcPr>
                </a:tc>
                <a:tc>
                  <a:txBody>
                    <a:bodyPr/>
                    <a:lstStyle/>
                    <a:p>
                      <a:pPr algn="l"/>
                      <a:r>
                        <a:rPr sz="850" b="0" i="0">
                          <a:solidFill>
                            <a:srgbClr val="262626"/>
                          </a:solidFill>
                          <a:latin typeface="Arial"/>
                        </a:rPr>
                        <a:t>Cole Jamieson </a:t>
                      </a:r>
                    </a:p>
                  </a:txBody>
                  <a:tcPr>
                    <a:solidFill>
                      <a:srgbClr val="F2F2F2"/>
                    </a:solidFill>
                  </a:tcPr>
                </a:tc>
                <a:tc>
                  <a:txBody>
                    <a:bodyPr/>
                    <a:lstStyle/>
                    <a:p>
                      <a:pPr algn="ctr"/>
                      <a:r>
                        <a:rPr sz="850" b="0" i="0">
                          <a:solidFill>
                            <a:srgbClr val="262626"/>
                          </a:solidFill>
                          <a:latin typeface="Arial"/>
                        </a:rPr>
                        <a:t>600</a:t>
                      </a:r>
                    </a:p>
                  </a:txBody>
                  <a:tcPr>
                    <a:solidFill>
                      <a:srgbClr val="F2F2F2"/>
                    </a:solidFill>
                  </a:tcPr>
                </a:tc>
                <a:tc>
                  <a:txBody>
                    <a:bodyPr/>
                    <a:lstStyle/>
                    <a:p>
                      <a:pPr algn="ctr"/>
                      <a:r>
                        <a:rPr sz="850" b="0" i="0">
                          <a:solidFill>
                            <a:srgbClr val="262626"/>
                          </a:solidFill>
                          <a:latin typeface="Arial"/>
                        </a:rPr>
                        <a:t>4</a:t>
                      </a:r>
                    </a:p>
                  </a:txBody>
                  <a:tcPr>
                    <a:solidFill>
                      <a:srgbClr val="F2F2F2"/>
                    </a:solidFill>
                  </a:tcPr>
                </a:tc>
                <a:tc>
                  <a:txBody>
                    <a:bodyPr/>
                    <a:lstStyle/>
                    <a:p>
                      <a:pPr algn="ctr"/>
                      <a:r>
                        <a:rPr sz="850" b="0" i="0">
                          <a:solidFill>
                            <a:srgbClr val="262626"/>
                          </a:solidFill>
                          <a:latin typeface="Arial"/>
                        </a:rPr>
                        <a:t>2</a:t>
                      </a:r>
                    </a:p>
                  </a:txBody>
                  <a:tcPr>
                    <a:solidFill>
                      <a:srgbClr val="F2F2F2"/>
                    </a:solidFill>
                  </a:tcPr>
                </a:tc>
                <a:extLst>
                  <a:ext uri="{0D108BD9-81ED-4DB2-BD59-A6C34878D82A}">
                    <a16:rowId xmlns:a16="http://schemas.microsoft.com/office/drawing/2014/main" val="10014"/>
                  </a:ext>
                </a:extLst>
              </a:tr>
              <a:tr h="224028">
                <a:tc>
                  <a:txBody>
                    <a:bodyPr/>
                    <a:lstStyle/>
                    <a:p>
                      <a:pPr algn="ctr"/>
                      <a:r>
                        <a:rPr sz="850" b="1" i="0">
                          <a:solidFill>
                            <a:srgbClr val="262626"/>
                          </a:solidFill>
                          <a:latin typeface="Arial"/>
                        </a:rPr>
                        <a:t>337</a:t>
                      </a:r>
                    </a:p>
                  </a:txBody>
                  <a:tcPr>
                    <a:solidFill>
                      <a:srgbClr val="FFFFFF"/>
                    </a:solidFill>
                  </a:tcPr>
                </a:tc>
                <a:tc>
                  <a:txBody>
                    <a:bodyPr/>
                    <a:lstStyle/>
                    <a:p>
                      <a:pPr algn="l"/>
                      <a:r>
                        <a:rPr sz="850" b="0" i="0">
                          <a:solidFill>
                            <a:srgbClr val="262626"/>
                          </a:solidFill>
                          <a:latin typeface="Arial"/>
                        </a:rPr>
                        <a:t>Matthew McGoey</a:t>
                      </a:r>
                    </a:p>
                  </a:txBody>
                  <a:tcPr>
                    <a:solidFill>
                      <a:srgbClr val="FFFFFF"/>
                    </a:solidFill>
                  </a:tcPr>
                </a:tc>
                <a:tc>
                  <a:txBody>
                    <a:bodyPr/>
                    <a:lstStyle/>
                    <a:p>
                      <a:pPr algn="ctr"/>
                      <a:r>
                        <a:rPr sz="850" b="0" i="0">
                          <a:solidFill>
                            <a:srgbClr val="262626"/>
                          </a:solidFill>
                          <a:latin typeface="Arial"/>
                        </a:rPr>
                        <a:t>451</a:t>
                      </a:r>
                    </a:p>
                  </a:txBody>
                  <a:tcPr>
                    <a:solidFill>
                      <a:srgbClr val="FFFFFF"/>
                    </a:solidFill>
                  </a:tcPr>
                </a:tc>
                <a:tc>
                  <a:txBody>
                    <a:bodyPr/>
                    <a:lstStyle/>
                    <a:p>
                      <a:pPr algn="ctr"/>
                      <a:r>
                        <a:rPr sz="850" b="0" i="0">
                          <a:solidFill>
                            <a:srgbClr val="262626"/>
                          </a:solidFill>
                          <a:latin typeface="Arial"/>
                        </a:rPr>
                        <a:t>5</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extLst>
                  <a:ext uri="{0D108BD9-81ED-4DB2-BD59-A6C34878D82A}">
                    <a16:rowId xmlns:a16="http://schemas.microsoft.com/office/drawing/2014/main" val="10015"/>
                  </a:ext>
                </a:extLst>
              </a:tr>
            </a:tbl>
          </a:graphicData>
        </a:graphic>
      </p:graphicFrame>
      <p:sp>
        <p:nvSpPr>
          <p:cNvPr id="33" name="Rectangle 32"/>
          <p:cNvSpPr/>
          <p:nvPr/>
        </p:nvSpPr>
        <p:spPr>
          <a:xfrm>
            <a:off x="6126480" y="2606040"/>
            <a:ext cx="5788152" cy="292608"/>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126480" y="2633472"/>
            <a:ext cx="5788152" cy="237744"/>
          </a:xfrm>
          <a:prstGeom prst="rect">
            <a:avLst/>
          </a:prstGeom>
          <a:noFill/>
        </p:spPr>
        <p:txBody>
          <a:bodyPr wrap="square">
            <a:spAutoFit/>
          </a:bodyPr>
          <a:lstStyle/>
          <a:p>
            <a:pPr algn="ctr"/>
            <a:r>
              <a:rPr sz="1100" b="1" i="0">
                <a:solidFill>
                  <a:srgbClr val="FFFFFF"/>
                </a:solidFill>
                <a:latin typeface="Arial"/>
              </a:rPr>
              <a:t>ELITE WOMEN</a:t>
            </a:r>
          </a:p>
        </p:txBody>
      </p:sp>
      <p:graphicFrame>
        <p:nvGraphicFramePr>
          <p:cNvPr id="35" name="Table 34"/>
          <p:cNvGraphicFramePr>
            <a:graphicFrameLocks noGrp="1"/>
          </p:cNvGraphicFramePr>
          <p:nvPr/>
        </p:nvGraphicFramePr>
        <p:xfrm>
          <a:off x="6126480" y="2935224"/>
          <a:ext cx="5787236" cy="3589020"/>
        </p:xfrm>
        <a:graphic>
          <a:graphicData uri="http://schemas.openxmlformats.org/drawingml/2006/table">
            <a:tbl>
              <a:tblPr firstRow="1" bandRow="1">
                <a:tableStyleId>{5C22544A-7EE6-4342-B048-85BDC9FD1C3A}</a:tableStyleId>
              </a:tblPr>
              <a:tblGrid>
                <a:gridCol w="783640">
                  <a:extLst>
                    <a:ext uri="{9D8B030D-6E8A-4147-A177-3AD203B41FA5}">
                      <a16:colId xmlns:a16="http://schemas.microsoft.com/office/drawing/2014/main" val="20000"/>
                    </a:ext>
                  </a:extLst>
                </a:gridCol>
                <a:gridCol w="2531973">
                  <a:extLst>
                    <a:ext uri="{9D8B030D-6E8A-4147-A177-3AD203B41FA5}">
                      <a16:colId xmlns:a16="http://schemas.microsoft.com/office/drawing/2014/main" val="20001"/>
                    </a:ext>
                  </a:extLst>
                </a:gridCol>
                <a:gridCol w="1145743">
                  <a:extLst>
                    <a:ext uri="{9D8B030D-6E8A-4147-A177-3AD203B41FA5}">
                      <a16:colId xmlns:a16="http://schemas.microsoft.com/office/drawing/2014/main" val="20002"/>
                    </a:ext>
                  </a:extLst>
                </a:gridCol>
                <a:gridCol w="662940">
                  <a:extLst>
                    <a:ext uri="{9D8B030D-6E8A-4147-A177-3AD203B41FA5}">
                      <a16:colId xmlns:a16="http://schemas.microsoft.com/office/drawing/2014/main" val="20003"/>
                    </a:ext>
                  </a:extLst>
                </a:gridCol>
                <a:gridCol w="662940">
                  <a:extLst>
                    <a:ext uri="{9D8B030D-6E8A-4147-A177-3AD203B41FA5}">
                      <a16:colId xmlns:a16="http://schemas.microsoft.com/office/drawing/2014/main" val="20004"/>
                    </a:ext>
                  </a:extLst>
                </a:gridCol>
              </a:tblGrid>
              <a:tr h="224028">
                <a:tc>
                  <a:txBody>
                    <a:bodyPr/>
                    <a:lstStyle/>
                    <a:p>
                      <a:pPr algn="ctr"/>
                      <a:r>
                        <a:rPr sz="900" b="1" i="0">
                          <a:solidFill>
                            <a:srgbClr val="FFFFFF"/>
                          </a:solidFill>
                          <a:latin typeface="Arial"/>
                        </a:rPr>
                        <a:t>Rank</a:t>
                      </a:r>
                    </a:p>
                  </a:txBody>
                  <a:tcPr>
                    <a:solidFill>
                      <a:srgbClr val="002060"/>
                    </a:solidFill>
                  </a:tcPr>
                </a:tc>
                <a:tc>
                  <a:txBody>
                    <a:bodyPr/>
                    <a:lstStyle/>
                    <a:p>
                      <a:pPr algn="l"/>
                      <a:r>
                        <a:rPr sz="900" b="1" i="0">
                          <a:solidFill>
                            <a:srgbClr val="FFFFFF"/>
                          </a:solidFill>
                          <a:latin typeface="Arial"/>
                        </a:rPr>
                        <a:t>Athlete</a:t>
                      </a:r>
                    </a:p>
                  </a:txBody>
                  <a:tcPr>
                    <a:solidFill>
                      <a:srgbClr val="002060"/>
                    </a:solidFill>
                  </a:tcPr>
                </a:tc>
                <a:tc>
                  <a:txBody>
                    <a:bodyPr/>
                    <a:lstStyle/>
                    <a:p>
                      <a:pPr algn="ctr"/>
                      <a:r>
                        <a:rPr sz="900" b="1" i="0">
                          <a:solidFill>
                            <a:srgbClr val="FFFFFF"/>
                          </a:solidFill>
                          <a:latin typeface="Arial"/>
                        </a:rPr>
                        <a:t>Points</a:t>
                      </a:r>
                    </a:p>
                  </a:txBody>
                  <a:tcPr>
                    <a:solidFill>
                      <a:srgbClr val="002060"/>
                    </a:solidFill>
                  </a:tcPr>
                </a:tc>
                <a:tc>
                  <a:txBody>
                    <a:bodyPr/>
                    <a:lstStyle/>
                    <a:p>
                      <a:pPr algn="ctr"/>
                      <a:r>
                        <a:rPr sz="900" b="1" i="0">
                          <a:solidFill>
                            <a:srgbClr val="FFFFFF"/>
                          </a:solidFill>
                          <a:latin typeface="Arial"/>
                        </a:rPr>
                        <a:t>Curr</a:t>
                      </a:r>
                    </a:p>
                  </a:txBody>
                  <a:tcPr>
                    <a:solidFill>
                      <a:srgbClr val="002060"/>
                    </a:solidFill>
                  </a:tcPr>
                </a:tc>
                <a:tc>
                  <a:txBody>
                    <a:bodyPr/>
                    <a:lstStyle/>
                    <a:p>
                      <a:pPr algn="ctr"/>
                      <a:r>
                        <a:rPr sz="900" b="1" i="0">
                          <a:solidFill>
                            <a:srgbClr val="FFFFFF"/>
                          </a:solidFill>
                          <a:latin typeface="Arial"/>
                        </a:rPr>
                        <a:t>Prev</a:t>
                      </a:r>
                    </a:p>
                  </a:txBody>
                  <a:tcPr>
                    <a:solidFill>
                      <a:srgbClr val="002060"/>
                    </a:solidFill>
                  </a:tcPr>
                </a:tc>
                <a:extLst>
                  <a:ext uri="{0D108BD9-81ED-4DB2-BD59-A6C34878D82A}">
                    <a16:rowId xmlns:a16="http://schemas.microsoft.com/office/drawing/2014/main" val="10000"/>
                  </a:ext>
                </a:extLst>
              </a:tr>
              <a:tr h="224028">
                <a:tc>
                  <a:txBody>
                    <a:bodyPr/>
                    <a:lstStyle/>
                    <a:p>
                      <a:pPr algn="ctr"/>
                      <a:r>
                        <a:rPr sz="850" b="1" i="0">
                          <a:solidFill>
                            <a:srgbClr val="262626"/>
                          </a:solidFill>
                          <a:latin typeface="Arial"/>
                        </a:rPr>
                        <a:t>5</a:t>
                      </a:r>
                    </a:p>
                  </a:txBody>
                  <a:tcPr>
                    <a:solidFill>
                      <a:srgbClr val="FFFFFF"/>
                    </a:solidFill>
                  </a:tcPr>
                </a:tc>
                <a:tc>
                  <a:txBody>
                    <a:bodyPr/>
                    <a:lstStyle/>
                    <a:p>
                      <a:pPr algn="l"/>
                      <a:r>
                        <a:rPr sz="850" b="0" i="0">
                          <a:solidFill>
                            <a:srgbClr val="262626"/>
                          </a:solidFill>
                          <a:latin typeface="Arial"/>
                        </a:rPr>
                        <a:t>Taylor Spivey</a:t>
                      </a:r>
                    </a:p>
                  </a:txBody>
                  <a:tcPr>
                    <a:solidFill>
                      <a:srgbClr val="FFFFFF"/>
                    </a:solidFill>
                  </a:tcPr>
                </a:tc>
                <a:tc>
                  <a:txBody>
                    <a:bodyPr/>
                    <a:lstStyle/>
                    <a:p>
                      <a:pPr algn="ctr"/>
                      <a:r>
                        <a:rPr sz="850" b="0" i="0">
                          <a:solidFill>
                            <a:srgbClr val="262626"/>
                          </a:solidFill>
                          <a:latin typeface="Arial"/>
                        </a:rPr>
                        <a:t>5,256</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tc>
                  <a:txBody>
                    <a:bodyPr/>
                    <a:lstStyle/>
                    <a:p>
                      <a:pPr algn="ctr"/>
                      <a:r>
                        <a:rPr sz="850" b="0" i="0">
                          <a:solidFill>
                            <a:srgbClr val="262626"/>
                          </a:solidFill>
                          <a:latin typeface="Arial"/>
                        </a:rPr>
                        <a:t>4</a:t>
                      </a:r>
                    </a:p>
                  </a:txBody>
                  <a:tcPr>
                    <a:solidFill>
                      <a:srgbClr val="FFFFFF"/>
                    </a:solidFill>
                  </a:tcPr>
                </a:tc>
                <a:extLst>
                  <a:ext uri="{0D108BD9-81ED-4DB2-BD59-A6C34878D82A}">
                    <a16:rowId xmlns:a16="http://schemas.microsoft.com/office/drawing/2014/main" val="10001"/>
                  </a:ext>
                </a:extLst>
              </a:tr>
              <a:tr h="224028">
                <a:tc>
                  <a:txBody>
                    <a:bodyPr/>
                    <a:lstStyle/>
                    <a:p>
                      <a:pPr algn="ctr"/>
                      <a:r>
                        <a:rPr sz="850" b="1" i="0">
                          <a:solidFill>
                            <a:srgbClr val="262626"/>
                          </a:solidFill>
                          <a:latin typeface="Arial"/>
                        </a:rPr>
                        <a:t>23</a:t>
                      </a:r>
                    </a:p>
                  </a:txBody>
                  <a:tcPr>
                    <a:solidFill>
                      <a:srgbClr val="F2F2F2"/>
                    </a:solidFill>
                  </a:tcPr>
                </a:tc>
                <a:tc>
                  <a:txBody>
                    <a:bodyPr/>
                    <a:lstStyle/>
                    <a:p>
                      <a:pPr algn="l"/>
                      <a:r>
                        <a:rPr sz="850" b="0" i="0">
                          <a:solidFill>
                            <a:srgbClr val="262626"/>
                          </a:solidFill>
                          <a:latin typeface="Arial"/>
                        </a:rPr>
                        <a:t>Gina Sereno</a:t>
                      </a:r>
                    </a:p>
                  </a:txBody>
                  <a:tcPr>
                    <a:solidFill>
                      <a:srgbClr val="F2F2F2"/>
                    </a:solidFill>
                  </a:tcPr>
                </a:tc>
                <a:tc>
                  <a:txBody>
                    <a:bodyPr/>
                    <a:lstStyle/>
                    <a:p>
                      <a:pPr algn="ctr"/>
                      <a:r>
                        <a:rPr sz="850" b="0" i="0">
                          <a:solidFill>
                            <a:srgbClr val="262626"/>
                          </a:solidFill>
                          <a:latin typeface="Arial"/>
                        </a:rPr>
                        <a:t>2,747</a:t>
                      </a:r>
                    </a:p>
                  </a:txBody>
                  <a:tcPr>
                    <a:solidFill>
                      <a:srgbClr val="F2F2F2"/>
                    </a:solidFill>
                  </a:tcPr>
                </a:tc>
                <a:tc>
                  <a:txBody>
                    <a:bodyPr/>
                    <a:lstStyle/>
                    <a:p>
                      <a:pPr algn="ctr"/>
                      <a:r>
                        <a:rPr sz="850" b="0" i="0">
                          <a:solidFill>
                            <a:srgbClr val="262626"/>
                          </a:solidFill>
                          <a:latin typeface="Arial"/>
                        </a:rPr>
                        <a:t>5</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extLst>
                  <a:ext uri="{0D108BD9-81ED-4DB2-BD59-A6C34878D82A}">
                    <a16:rowId xmlns:a16="http://schemas.microsoft.com/office/drawing/2014/main" val="10002"/>
                  </a:ext>
                </a:extLst>
              </a:tr>
              <a:tr h="224028">
                <a:tc>
                  <a:txBody>
                    <a:bodyPr/>
                    <a:lstStyle/>
                    <a:p>
                      <a:pPr algn="ctr"/>
                      <a:r>
                        <a:rPr sz="850" b="1" i="0">
                          <a:solidFill>
                            <a:srgbClr val="262626"/>
                          </a:solidFill>
                          <a:latin typeface="Arial"/>
                        </a:rPr>
                        <a:t>27</a:t>
                      </a:r>
                    </a:p>
                  </a:txBody>
                  <a:tcPr>
                    <a:solidFill>
                      <a:srgbClr val="FFFFFF"/>
                    </a:solidFill>
                  </a:tcPr>
                </a:tc>
                <a:tc>
                  <a:txBody>
                    <a:bodyPr/>
                    <a:lstStyle/>
                    <a:p>
                      <a:pPr algn="l"/>
                      <a:r>
                        <a:rPr sz="850" b="0" i="0">
                          <a:solidFill>
                            <a:srgbClr val="262626"/>
                          </a:solidFill>
                          <a:latin typeface="Arial"/>
                        </a:rPr>
                        <a:t>Gwen Jorgensen</a:t>
                      </a:r>
                    </a:p>
                  </a:txBody>
                  <a:tcPr>
                    <a:solidFill>
                      <a:srgbClr val="FFFFFF"/>
                    </a:solidFill>
                  </a:tcPr>
                </a:tc>
                <a:tc>
                  <a:txBody>
                    <a:bodyPr/>
                    <a:lstStyle/>
                    <a:p>
                      <a:pPr algn="ctr"/>
                      <a:r>
                        <a:rPr sz="850" b="0" i="0">
                          <a:solidFill>
                            <a:srgbClr val="262626"/>
                          </a:solidFill>
                          <a:latin typeface="Arial"/>
                        </a:rPr>
                        <a:t>2,639</a:t>
                      </a:r>
                    </a:p>
                  </a:txBody>
                  <a:tcPr>
                    <a:solidFill>
                      <a:srgbClr val="FFFFFF"/>
                    </a:solidFill>
                  </a:tcPr>
                </a:tc>
                <a:tc>
                  <a:txBody>
                    <a:bodyPr/>
                    <a:lstStyle/>
                    <a:p>
                      <a:pPr algn="ctr"/>
                      <a:r>
                        <a:rPr sz="850" b="0" i="0">
                          <a:solidFill>
                            <a:srgbClr val="262626"/>
                          </a:solidFill>
                          <a:latin typeface="Arial"/>
                        </a:rPr>
                        <a:t>5</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extLst>
                  <a:ext uri="{0D108BD9-81ED-4DB2-BD59-A6C34878D82A}">
                    <a16:rowId xmlns:a16="http://schemas.microsoft.com/office/drawing/2014/main" val="10003"/>
                  </a:ext>
                </a:extLst>
              </a:tr>
              <a:tr h="224028">
                <a:tc>
                  <a:txBody>
                    <a:bodyPr/>
                    <a:lstStyle/>
                    <a:p>
                      <a:pPr algn="ctr"/>
                      <a:r>
                        <a:rPr sz="850" b="1" i="0">
                          <a:solidFill>
                            <a:srgbClr val="262626"/>
                          </a:solidFill>
                          <a:latin typeface="Arial"/>
                        </a:rPr>
                        <a:t>35</a:t>
                      </a:r>
                    </a:p>
                  </a:txBody>
                  <a:tcPr>
                    <a:solidFill>
                      <a:srgbClr val="F2F2F2"/>
                    </a:solidFill>
                  </a:tcPr>
                </a:tc>
                <a:tc>
                  <a:txBody>
                    <a:bodyPr/>
                    <a:lstStyle/>
                    <a:p>
                      <a:pPr algn="l"/>
                      <a:r>
                        <a:rPr sz="850" b="0" i="0">
                          <a:solidFill>
                            <a:srgbClr val="262626"/>
                          </a:solidFill>
                          <a:latin typeface="Arial"/>
                        </a:rPr>
                        <a:t>Danielle Orie</a:t>
                      </a:r>
                    </a:p>
                  </a:txBody>
                  <a:tcPr>
                    <a:solidFill>
                      <a:srgbClr val="F2F2F2"/>
                    </a:solidFill>
                  </a:tcPr>
                </a:tc>
                <a:tc>
                  <a:txBody>
                    <a:bodyPr/>
                    <a:lstStyle/>
                    <a:p>
                      <a:pPr algn="ctr"/>
                      <a:r>
                        <a:rPr sz="850" b="0" i="0">
                          <a:solidFill>
                            <a:srgbClr val="262626"/>
                          </a:solidFill>
                          <a:latin typeface="Arial"/>
                        </a:rPr>
                        <a:t>2,432</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extLst>
                  <a:ext uri="{0D108BD9-81ED-4DB2-BD59-A6C34878D82A}">
                    <a16:rowId xmlns:a16="http://schemas.microsoft.com/office/drawing/2014/main" val="10004"/>
                  </a:ext>
                </a:extLst>
              </a:tr>
              <a:tr h="224028">
                <a:tc>
                  <a:txBody>
                    <a:bodyPr/>
                    <a:lstStyle/>
                    <a:p>
                      <a:pPr algn="ctr"/>
                      <a:r>
                        <a:rPr sz="850" b="1" i="0">
                          <a:solidFill>
                            <a:srgbClr val="262626"/>
                          </a:solidFill>
                          <a:latin typeface="Arial"/>
                        </a:rPr>
                        <a:t>53</a:t>
                      </a:r>
                    </a:p>
                  </a:txBody>
                  <a:tcPr>
                    <a:solidFill>
                      <a:srgbClr val="FFFFFF"/>
                    </a:solidFill>
                  </a:tcPr>
                </a:tc>
                <a:tc>
                  <a:txBody>
                    <a:bodyPr/>
                    <a:lstStyle/>
                    <a:p>
                      <a:pPr algn="l"/>
                      <a:r>
                        <a:rPr sz="850" b="0" i="0">
                          <a:solidFill>
                            <a:srgbClr val="262626"/>
                          </a:solidFill>
                          <a:latin typeface="Arial"/>
                        </a:rPr>
                        <a:t>Erika Ackerlund</a:t>
                      </a:r>
                    </a:p>
                  </a:txBody>
                  <a:tcPr>
                    <a:solidFill>
                      <a:srgbClr val="FFFFFF"/>
                    </a:solidFill>
                  </a:tcPr>
                </a:tc>
                <a:tc>
                  <a:txBody>
                    <a:bodyPr/>
                    <a:lstStyle/>
                    <a:p>
                      <a:pPr algn="ctr"/>
                      <a:r>
                        <a:rPr sz="850" b="0" i="0">
                          <a:solidFill>
                            <a:srgbClr val="262626"/>
                          </a:solidFill>
                          <a:latin typeface="Arial"/>
                        </a:rPr>
                        <a:t>1,981</a:t>
                      </a:r>
                    </a:p>
                  </a:txBody>
                  <a:tcPr>
                    <a:solidFill>
                      <a:srgbClr val="FFFFFF"/>
                    </a:solidFill>
                  </a:tcPr>
                </a:tc>
                <a:tc>
                  <a:txBody>
                    <a:bodyPr/>
                    <a:lstStyle/>
                    <a:p>
                      <a:pPr algn="ctr"/>
                      <a:r>
                        <a:rPr sz="850" b="0" i="0">
                          <a:solidFill>
                            <a:srgbClr val="262626"/>
                          </a:solidFill>
                          <a:latin typeface="Arial"/>
                        </a:rPr>
                        <a:t>5</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extLst>
                  <a:ext uri="{0D108BD9-81ED-4DB2-BD59-A6C34878D82A}">
                    <a16:rowId xmlns:a16="http://schemas.microsoft.com/office/drawing/2014/main" val="10005"/>
                  </a:ext>
                </a:extLst>
              </a:tr>
              <a:tr h="224028">
                <a:tc>
                  <a:txBody>
                    <a:bodyPr/>
                    <a:lstStyle/>
                    <a:p>
                      <a:pPr algn="ctr"/>
                      <a:r>
                        <a:rPr sz="850" b="1" i="0">
                          <a:solidFill>
                            <a:srgbClr val="262626"/>
                          </a:solidFill>
                          <a:latin typeface="Arial"/>
                        </a:rPr>
                        <a:t>56</a:t>
                      </a:r>
                    </a:p>
                  </a:txBody>
                  <a:tcPr>
                    <a:solidFill>
                      <a:srgbClr val="F2F2F2"/>
                    </a:solidFill>
                  </a:tcPr>
                </a:tc>
                <a:tc>
                  <a:txBody>
                    <a:bodyPr/>
                    <a:lstStyle/>
                    <a:p>
                      <a:pPr algn="l"/>
                      <a:r>
                        <a:rPr sz="850" b="0" i="0">
                          <a:solidFill>
                            <a:srgbClr val="262626"/>
                          </a:solidFill>
                          <a:latin typeface="Arial"/>
                        </a:rPr>
                        <a:t>Naomi Ruff</a:t>
                      </a:r>
                    </a:p>
                  </a:txBody>
                  <a:tcPr>
                    <a:solidFill>
                      <a:srgbClr val="F2F2F2"/>
                    </a:solidFill>
                  </a:tcPr>
                </a:tc>
                <a:tc>
                  <a:txBody>
                    <a:bodyPr/>
                    <a:lstStyle/>
                    <a:p>
                      <a:pPr algn="ctr"/>
                      <a:r>
                        <a:rPr sz="850" b="0" i="0">
                          <a:solidFill>
                            <a:srgbClr val="262626"/>
                          </a:solidFill>
                          <a:latin typeface="Arial"/>
                        </a:rPr>
                        <a:t>1,928</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extLst>
                  <a:ext uri="{0D108BD9-81ED-4DB2-BD59-A6C34878D82A}">
                    <a16:rowId xmlns:a16="http://schemas.microsoft.com/office/drawing/2014/main" val="10006"/>
                  </a:ext>
                </a:extLst>
              </a:tr>
              <a:tr h="224028">
                <a:tc>
                  <a:txBody>
                    <a:bodyPr/>
                    <a:lstStyle/>
                    <a:p>
                      <a:pPr algn="ctr"/>
                      <a:r>
                        <a:rPr sz="850" b="1" i="0">
                          <a:solidFill>
                            <a:srgbClr val="262626"/>
                          </a:solidFill>
                          <a:latin typeface="Arial"/>
                        </a:rPr>
                        <a:t>59</a:t>
                      </a:r>
                    </a:p>
                  </a:txBody>
                  <a:tcPr>
                    <a:solidFill>
                      <a:srgbClr val="FFFFFF"/>
                    </a:solidFill>
                  </a:tcPr>
                </a:tc>
                <a:tc>
                  <a:txBody>
                    <a:bodyPr/>
                    <a:lstStyle/>
                    <a:p>
                      <a:pPr algn="l"/>
                      <a:r>
                        <a:rPr sz="850" b="0" i="0">
                          <a:solidFill>
                            <a:srgbClr val="262626"/>
                          </a:solidFill>
                          <a:latin typeface="Arial"/>
                        </a:rPr>
                        <a:t>Kelly Wetteland</a:t>
                      </a:r>
                    </a:p>
                  </a:txBody>
                  <a:tcPr>
                    <a:solidFill>
                      <a:srgbClr val="FFFFFF"/>
                    </a:solidFill>
                  </a:tcPr>
                </a:tc>
                <a:tc>
                  <a:txBody>
                    <a:bodyPr/>
                    <a:lstStyle/>
                    <a:p>
                      <a:pPr algn="ctr"/>
                      <a:r>
                        <a:rPr sz="850" b="0" i="0">
                          <a:solidFill>
                            <a:srgbClr val="262626"/>
                          </a:solidFill>
                          <a:latin typeface="Arial"/>
                        </a:rPr>
                        <a:t>1,843</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tc>
                  <a:txBody>
                    <a:bodyPr/>
                    <a:lstStyle/>
                    <a:p>
                      <a:pPr algn="ctr"/>
                      <a:r>
                        <a:rPr sz="850" b="0" i="0">
                          <a:solidFill>
                            <a:srgbClr val="262626"/>
                          </a:solidFill>
                          <a:latin typeface="Arial"/>
                        </a:rPr>
                        <a:t>3</a:t>
                      </a:r>
                    </a:p>
                  </a:txBody>
                  <a:tcPr>
                    <a:solidFill>
                      <a:srgbClr val="FFFFFF"/>
                    </a:solidFill>
                  </a:tcPr>
                </a:tc>
                <a:extLst>
                  <a:ext uri="{0D108BD9-81ED-4DB2-BD59-A6C34878D82A}">
                    <a16:rowId xmlns:a16="http://schemas.microsoft.com/office/drawing/2014/main" val="10007"/>
                  </a:ext>
                </a:extLst>
              </a:tr>
              <a:tr h="224028">
                <a:tc>
                  <a:txBody>
                    <a:bodyPr/>
                    <a:lstStyle/>
                    <a:p>
                      <a:pPr algn="ctr"/>
                      <a:r>
                        <a:rPr sz="850" b="1" i="0">
                          <a:solidFill>
                            <a:srgbClr val="262626"/>
                          </a:solidFill>
                          <a:latin typeface="Arial"/>
                        </a:rPr>
                        <a:t>83</a:t>
                      </a:r>
                    </a:p>
                  </a:txBody>
                  <a:tcPr>
                    <a:solidFill>
                      <a:srgbClr val="F2F2F2"/>
                    </a:solidFill>
                  </a:tcPr>
                </a:tc>
                <a:tc>
                  <a:txBody>
                    <a:bodyPr/>
                    <a:lstStyle/>
                    <a:p>
                      <a:pPr algn="l"/>
                      <a:r>
                        <a:rPr sz="850" b="0" i="0">
                          <a:solidFill>
                            <a:srgbClr val="262626"/>
                          </a:solidFill>
                          <a:latin typeface="Arial"/>
                        </a:rPr>
                        <a:t>Kirsten Kasper</a:t>
                      </a:r>
                    </a:p>
                  </a:txBody>
                  <a:tcPr>
                    <a:solidFill>
                      <a:srgbClr val="F2F2F2"/>
                    </a:solidFill>
                  </a:tcPr>
                </a:tc>
                <a:tc>
                  <a:txBody>
                    <a:bodyPr/>
                    <a:lstStyle/>
                    <a:p>
                      <a:pPr algn="ctr"/>
                      <a:r>
                        <a:rPr sz="850" b="0" i="0">
                          <a:solidFill>
                            <a:srgbClr val="262626"/>
                          </a:solidFill>
                          <a:latin typeface="Arial"/>
                        </a:rPr>
                        <a:t>1,551</a:t>
                      </a:r>
                    </a:p>
                  </a:txBody>
                  <a:tcPr>
                    <a:solidFill>
                      <a:srgbClr val="F2F2F2"/>
                    </a:solidFill>
                  </a:tcPr>
                </a:tc>
                <a:tc>
                  <a:txBody>
                    <a:bodyPr/>
                    <a:lstStyle/>
                    <a:p>
                      <a:pPr algn="ctr"/>
                      <a:r>
                        <a:rPr sz="850" b="0" i="0">
                          <a:solidFill>
                            <a:srgbClr val="262626"/>
                          </a:solidFill>
                          <a:latin typeface="Arial"/>
                        </a:rPr>
                        <a:t>5</a:t>
                      </a:r>
                    </a:p>
                  </a:txBody>
                  <a:tcPr>
                    <a:solidFill>
                      <a:srgbClr val="F2F2F2"/>
                    </a:solidFill>
                  </a:tcPr>
                </a:tc>
                <a:tc>
                  <a:txBody>
                    <a:bodyPr/>
                    <a:lstStyle/>
                    <a:p>
                      <a:pPr algn="ctr"/>
                      <a:r>
                        <a:rPr sz="850" b="0" i="0">
                          <a:solidFill>
                            <a:srgbClr val="262626"/>
                          </a:solidFill>
                          <a:latin typeface="Arial"/>
                        </a:rPr>
                        <a:t>2</a:t>
                      </a:r>
                    </a:p>
                  </a:txBody>
                  <a:tcPr>
                    <a:solidFill>
                      <a:srgbClr val="F2F2F2"/>
                    </a:solidFill>
                  </a:tcPr>
                </a:tc>
                <a:extLst>
                  <a:ext uri="{0D108BD9-81ED-4DB2-BD59-A6C34878D82A}">
                    <a16:rowId xmlns:a16="http://schemas.microsoft.com/office/drawing/2014/main" val="10008"/>
                  </a:ext>
                </a:extLst>
              </a:tr>
              <a:tr h="224028">
                <a:tc>
                  <a:txBody>
                    <a:bodyPr/>
                    <a:lstStyle/>
                    <a:p>
                      <a:pPr algn="ctr"/>
                      <a:r>
                        <a:rPr sz="850" b="1" i="0">
                          <a:solidFill>
                            <a:srgbClr val="262626"/>
                          </a:solidFill>
                          <a:latin typeface="Arial"/>
                        </a:rPr>
                        <a:t>84</a:t>
                      </a:r>
                    </a:p>
                  </a:txBody>
                  <a:tcPr>
                    <a:solidFill>
                      <a:srgbClr val="FFFFFF"/>
                    </a:solidFill>
                  </a:tcPr>
                </a:tc>
                <a:tc>
                  <a:txBody>
                    <a:bodyPr/>
                    <a:lstStyle/>
                    <a:p>
                      <a:pPr algn="l"/>
                      <a:r>
                        <a:rPr sz="850" b="0" i="0">
                          <a:solidFill>
                            <a:srgbClr val="262626"/>
                          </a:solidFill>
                          <a:latin typeface="Arial"/>
                        </a:rPr>
                        <a:t>Eleanor Beveridge</a:t>
                      </a:r>
                    </a:p>
                  </a:txBody>
                  <a:tcPr>
                    <a:solidFill>
                      <a:srgbClr val="FFFFFF"/>
                    </a:solidFill>
                  </a:tcPr>
                </a:tc>
                <a:tc>
                  <a:txBody>
                    <a:bodyPr/>
                    <a:lstStyle/>
                    <a:p>
                      <a:pPr algn="ctr"/>
                      <a:r>
                        <a:rPr sz="850" b="0" i="0">
                          <a:solidFill>
                            <a:srgbClr val="262626"/>
                          </a:solidFill>
                          <a:latin typeface="Arial"/>
                        </a:rPr>
                        <a:t>1,544</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extLst>
                  <a:ext uri="{0D108BD9-81ED-4DB2-BD59-A6C34878D82A}">
                    <a16:rowId xmlns:a16="http://schemas.microsoft.com/office/drawing/2014/main" val="10009"/>
                  </a:ext>
                </a:extLst>
              </a:tr>
              <a:tr h="224028">
                <a:tc>
                  <a:txBody>
                    <a:bodyPr/>
                    <a:lstStyle/>
                    <a:p>
                      <a:pPr algn="ctr"/>
                      <a:r>
                        <a:rPr sz="850" b="1" i="0">
                          <a:solidFill>
                            <a:srgbClr val="262626"/>
                          </a:solidFill>
                          <a:latin typeface="Arial"/>
                        </a:rPr>
                        <a:t>90</a:t>
                      </a:r>
                    </a:p>
                  </a:txBody>
                  <a:tcPr>
                    <a:solidFill>
                      <a:srgbClr val="F2F2F2"/>
                    </a:solidFill>
                  </a:tcPr>
                </a:tc>
                <a:tc>
                  <a:txBody>
                    <a:bodyPr/>
                    <a:lstStyle/>
                    <a:p>
                      <a:pPr algn="l"/>
                      <a:r>
                        <a:rPr sz="850" b="0" i="0">
                          <a:solidFill>
                            <a:srgbClr val="262626"/>
                          </a:solidFill>
                          <a:latin typeface="Arial"/>
                        </a:rPr>
                        <a:t>Joy Gill</a:t>
                      </a:r>
                    </a:p>
                  </a:txBody>
                  <a:tcPr>
                    <a:solidFill>
                      <a:srgbClr val="F2F2F2"/>
                    </a:solidFill>
                  </a:tcPr>
                </a:tc>
                <a:tc>
                  <a:txBody>
                    <a:bodyPr/>
                    <a:lstStyle/>
                    <a:p>
                      <a:pPr algn="ctr"/>
                      <a:r>
                        <a:rPr sz="850" b="0" i="0">
                          <a:solidFill>
                            <a:srgbClr val="262626"/>
                          </a:solidFill>
                          <a:latin typeface="Arial"/>
                        </a:rPr>
                        <a:t>1,514</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tc>
                  <a:txBody>
                    <a:bodyPr/>
                    <a:lstStyle/>
                    <a:p>
                      <a:pPr algn="ctr"/>
                      <a:r>
                        <a:rPr sz="850" b="0" i="0">
                          <a:solidFill>
                            <a:srgbClr val="262626"/>
                          </a:solidFill>
                          <a:latin typeface="Arial"/>
                        </a:rPr>
                        <a:t>4</a:t>
                      </a:r>
                    </a:p>
                  </a:txBody>
                  <a:tcPr>
                    <a:solidFill>
                      <a:srgbClr val="F2F2F2"/>
                    </a:solidFill>
                  </a:tcPr>
                </a:tc>
                <a:extLst>
                  <a:ext uri="{0D108BD9-81ED-4DB2-BD59-A6C34878D82A}">
                    <a16:rowId xmlns:a16="http://schemas.microsoft.com/office/drawing/2014/main" val="10010"/>
                  </a:ext>
                </a:extLst>
              </a:tr>
              <a:tr h="224028">
                <a:tc>
                  <a:txBody>
                    <a:bodyPr/>
                    <a:lstStyle/>
                    <a:p>
                      <a:pPr algn="ctr"/>
                      <a:r>
                        <a:rPr sz="850" b="1" i="0">
                          <a:solidFill>
                            <a:srgbClr val="262626"/>
                          </a:solidFill>
                          <a:latin typeface="Arial"/>
                        </a:rPr>
                        <a:t>104</a:t>
                      </a:r>
                    </a:p>
                  </a:txBody>
                  <a:tcPr>
                    <a:solidFill>
                      <a:srgbClr val="FFFFFF"/>
                    </a:solidFill>
                  </a:tcPr>
                </a:tc>
                <a:tc>
                  <a:txBody>
                    <a:bodyPr/>
                    <a:lstStyle/>
                    <a:p>
                      <a:pPr algn="l"/>
                      <a:r>
                        <a:rPr sz="850" b="0" i="0">
                          <a:solidFill>
                            <a:srgbClr val="262626"/>
                          </a:solidFill>
                          <a:latin typeface="Arial"/>
                        </a:rPr>
                        <a:t>Michelle Magnani</a:t>
                      </a:r>
                    </a:p>
                  </a:txBody>
                  <a:tcPr>
                    <a:solidFill>
                      <a:srgbClr val="FFFFFF"/>
                    </a:solidFill>
                  </a:tcPr>
                </a:tc>
                <a:tc>
                  <a:txBody>
                    <a:bodyPr/>
                    <a:lstStyle/>
                    <a:p>
                      <a:pPr algn="ctr"/>
                      <a:r>
                        <a:rPr sz="850" b="0" i="0">
                          <a:solidFill>
                            <a:srgbClr val="262626"/>
                          </a:solidFill>
                          <a:latin typeface="Arial"/>
                        </a:rPr>
                        <a:t>1,319</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extLst>
                  <a:ext uri="{0D108BD9-81ED-4DB2-BD59-A6C34878D82A}">
                    <a16:rowId xmlns:a16="http://schemas.microsoft.com/office/drawing/2014/main" val="10011"/>
                  </a:ext>
                </a:extLst>
              </a:tr>
              <a:tr h="224028">
                <a:tc>
                  <a:txBody>
                    <a:bodyPr/>
                    <a:lstStyle/>
                    <a:p>
                      <a:pPr algn="ctr"/>
                      <a:r>
                        <a:rPr sz="850" b="1" i="0">
                          <a:solidFill>
                            <a:srgbClr val="262626"/>
                          </a:solidFill>
                          <a:latin typeface="Arial"/>
                        </a:rPr>
                        <a:t>107</a:t>
                      </a:r>
                    </a:p>
                  </a:txBody>
                  <a:tcPr>
                    <a:solidFill>
                      <a:srgbClr val="F2F2F2"/>
                    </a:solidFill>
                  </a:tcPr>
                </a:tc>
                <a:tc>
                  <a:txBody>
                    <a:bodyPr/>
                    <a:lstStyle/>
                    <a:p>
                      <a:pPr algn="l"/>
                      <a:r>
                        <a:rPr sz="850" b="0" i="0">
                          <a:solidFill>
                            <a:srgbClr val="262626"/>
                          </a:solidFill>
                          <a:latin typeface="Arial"/>
                        </a:rPr>
                        <a:t>Rachel Werking</a:t>
                      </a:r>
                    </a:p>
                  </a:txBody>
                  <a:tcPr>
                    <a:solidFill>
                      <a:srgbClr val="F2F2F2"/>
                    </a:solidFill>
                  </a:tcPr>
                </a:tc>
                <a:tc>
                  <a:txBody>
                    <a:bodyPr/>
                    <a:lstStyle/>
                    <a:p>
                      <a:pPr algn="ctr"/>
                      <a:r>
                        <a:rPr sz="850" b="0" i="0">
                          <a:solidFill>
                            <a:srgbClr val="262626"/>
                          </a:solidFill>
                          <a:latin typeface="Arial"/>
                        </a:rPr>
                        <a:t>1,302</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tc>
                  <a:txBody>
                    <a:bodyPr/>
                    <a:lstStyle/>
                    <a:p>
                      <a:pPr algn="ctr"/>
                      <a:r>
                        <a:rPr sz="850" b="0" i="0">
                          <a:solidFill>
                            <a:srgbClr val="262626"/>
                          </a:solidFill>
                          <a:latin typeface="Arial"/>
                        </a:rPr>
                        <a:t>2</a:t>
                      </a:r>
                    </a:p>
                  </a:txBody>
                  <a:tcPr>
                    <a:solidFill>
                      <a:srgbClr val="F2F2F2"/>
                    </a:solidFill>
                  </a:tcPr>
                </a:tc>
                <a:extLst>
                  <a:ext uri="{0D108BD9-81ED-4DB2-BD59-A6C34878D82A}">
                    <a16:rowId xmlns:a16="http://schemas.microsoft.com/office/drawing/2014/main" val="10012"/>
                  </a:ext>
                </a:extLst>
              </a:tr>
              <a:tr h="224028">
                <a:tc>
                  <a:txBody>
                    <a:bodyPr/>
                    <a:lstStyle/>
                    <a:p>
                      <a:pPr algn="ctr"/>
                      <a:r>
                        <a:rPr sz="850" b="1" i="0">
                          <a:solidFill>
                            <a:srgbClr val="262626"/>
                          </a:solidFill>
                          <a:latin typeface="Arial"/>
                        </a:rPr>
                        <a:t>146</a:t>
                      </a:r>
                    </a:p>
                  </a:txBody>
                  <a:tcPr>
                    <a:solidFill>
                      <a:srgbClr val="FFFFFF"/>
                    </a:solidFill>
                  </a:tcPr>
                </a:tc>
                <a:tc>
                  <a:txBody>
                    <a:bodyPr/>
                    <a:lstStyle/>
                    <a:p>
                      <a:pPr algn="l"/>
                      <a:r>
                        <a:rPr sz="850" b="0" i="0">
                          <a:solidFill>
                            <a:srgbClr val="262626"/>
                          </a:solidFill>
                          <a:latin typeface="Arial"/>
                        </a:rPr>
                        <a:t>Ellison Wolfe</a:t>
                      </a:r>
                    </a:p>
                  </a:txBody>
                  <a:tcPr>
                    <a:solidFill>
                      <a:srgbClr val="FFFFFF"/>
                    </a:solidFill>
                  </a:tcPr>
                </a:tc>
                <a:tc>
                  <a:txBody>
                    <a:bodyPr/>
                    <a:lstStyle/>
                    <a:p>
                      <a:pPr algn="ctr"/>
                      <a:r>
                        <a:rPr sz="850" b="0" i="0">
                          <a:solidFill>
                            <a:srgbClr val="262626"/>
                          </a:solidFill>
                          <a:latin typeface="Arial"/>
                        </a:rPr>
                        <a:t>1,058</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tc>
                  <a:txBody>
                    <a:bodyPr/>
                    <a:lstStyle/>
                    <a:p>
                      <a:pPr algn="ctr"/>
                      <a:r>
                        <a:rPr sz="850" b="0" i="0">
                          <a:solidFill>
                            <a:srgbClr val="262626"/>
                          </a:solidFill>
                          <a:latin typeface="Arial"/>
                        </a:rPr>
                        <a:t>3</a:t>
                      </a:r>
                    </a:p>
                  </a:txBody>
                  <a:tcPr>
                    <a:solidFill>
                      <a:srgbClr val="FFFFFF"/>
                    </a:solidFill>
                  </a:tcPr>
                </a:tc>
                <a:extLst>
                  <a:ext uri="{0D108BD9-81ED-4DB2-BD59-A6C34878D82A}">
                    <a16:rowId xmlns:a16="http://schemas.microsoft.com/office/drawing/2014/main" val="10013"/>
                  </a:ext>
                </a:extLst>
              </a:tr>
              <a:tr h="224028">
                <a:tc>
                  <a:txBody>
                    <a:bodyPr/>
                    <a:lstStyle/>
                    <a:p>
                      <a:pPr algn="ctr"/>
                      <a:r>
                        <a:rPr sz="850" b="1" i="0">
                          <a:solidFill>
                            <a:srgbClr val="262626"/>
                          </a:solidFill>
                          <a:latin typeface="Arial"/>
                        </a:rPr>
                        <a:t>150</a:t>
                      </a:r>
                    </a:p>
                  </a:txBody>
                  <a:tcPr>
                    <a:solidFill>
                      <a:srgbClr val="F2F2F2"/>
                    </a:solidFill>
                  </a:tcPr>
                </a:tc>
                <a:tc>
                  <a:txBody>
                    <a:bodyPr/>
                    <a:lstStyle/>
                    <a:p>
                      <a:pPr algn="l"/>
                      <a:r>
                        <a:rPr sz="850" b="0" i="0">
                          <a:solidFill>
                            <a:srgbClr val="262626"/>
                          </a:solidFill>
                          <a:latin typeface="Arial"/>
                        </a:rPr>
                        <a:t>Katie McCune</a:t>
                      </a:r>
                    </a:p>
                  </a:txBody>
                  <a:tcPr>
                    <a:solidFill>
                      <a:srgbClr val="F2F2F2"/>
                    </a:solidFill>
                  </a:tcPr>
                </a:tc>
                <a:tc>
                  <a:txBody>
                    <a:bodyPr/>
                    <a:lstStyle/>
                    <a:p>
                      <a:pPr algn="ctr"/>
                      <a:r>
                        <a:rPr sz="850" b="0" i="0">
                          <a:solidFill>
                            <a:srgbClr val="262626"/>
                          </a:solidFill>
                          <a:latin typeface="Arial"/>
                        </a:rPr>
                        <a:t>1,042</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tc>
                  <a:txBody>
                    <a:bodyPr/>
                    <a:lstStyle/>
                    <a:p>
                      <a:pPr algn="ctr"/>
                      <a:r>
                        <a:rPr sz="850" b="0" i="0">
                          <a:solidFill>
                            <a:srgbClr val="262626"/>
                          </a:solidFill>
                          <a:latin typeface="Arial"/>
                        </a:rPr>
                        <a:t>1</a:t>
                      </a:r>
                    </a:p>
                  </a:txBody>
                  <a:tcPr>
                    <a:solidFill>
                      <a:srgbClr val="F2F2F2"/>
                    </a:solidFill>
                  </a:tcPr>
                </a:tc>
                <a:extLst>
                  <a:ext uri="{0D108BD9-81ED-4DB2-BD59-A6C34878D82A}">
                    <a16:rowId xmlns:a16="http://schemas.microsoft.com/office/drawing/2014/main" val="10014"/>
                  </a:ext>
                </a:extLst>
              </a:tr>
              <a:tr h="224028">
                <a:tc>
                  <a:txBody>
                    <a:bodyPr/>
                    <a:lstStyle/>
                    <a:p>
                      <a:pPr algn="ctr"/>
                      <a:r>
                        <a:rPr sz="850" b="1" i="0">
                          <a:solidFill>
                            <a:srgbClr val="262626"/>
                          </a:solidFill>
                          <a:latin typeface="Arial"/>
                        </a:rPr>
                        <a:t>158</a:t>
                      </a:r>
                    </a:p>
                  </a:txBody>
                  <a:tcPr>
                    <a:solidFill>
                      <a:srgbClr val="FFFFFF"/>
                    </a:solidFill>
                  </a:tcPr>
                </a:tc>
                <a:tc>
                  <a:txBody>
                    <a:bodyPr/>
                    <a:lstStyle/>
                    <a:p>
                      <a:pPr algn="l"/>
                      <a:r>
                        <a:rPr sz="850" b="0" i="0">
                          <a:solidFill>
                            <a:srgbClr val="262626"/>
                          </a:solidFill>
                          <a:latin typeface="Arial"/>
                        </a:rPr>
                        <a:t>Taylor Knibb</a:t>
                      </a:r>
                    </a:p>
                  </a:txBody>
                  <a:tcPr>
                    <a:solidFill>
                      <a:srgbClr val="FFFFFF"/>
                    </a:solidFill>
                  </a:tcPr>
                </a:tc>
                <a:tc>
                  <a:txBody>
                    <a:bodyPr/>
                    <a:lstStyle/>
                    <a:p>
                      <a:pPr algn="ctr"/>
                      <a:r>
                        <a:rPr sz="850" b="0" i="0">
                          <a:solidFill>
                            <a:srgbClr val="262626"/>
                          </a:solidFill>
                          <a:latin typeface="Arial"/>
                        </a:rPr>
                        <a:t>1,003</a:t>
                      </a:r>
                    </a:p>
                  </a:txBody>
                  <a:tcPr>
                    <a:solidFill>
                      <a:srgbClr val="FFFFFF"/>
                    </a:solidFill>
                  </a:tcPr>
                </a:tc>
                <a:tc>
                  <a:txBody>
                    <a:bodyPr/>
                    <a:lstStyle/>
                    <a:p>
                      <a:pPr algn="ctr"/>
                      <a:r>
                        <a:rPr sz="850" b="0" i="0">
                          <a:solidFill>
                            <a:srgbClr val="262626"/>
                          </a:solidFill>
                          <a:latin typeface="Arial"/>
                        </a:rPr>
                        <a:t>2</a:t>
                      </a:r>
                    </a:p>
                  </a:txBody>
                  <a:tcPr>
                    <a:solidFill>
                      <a:srgbClr val="FFFFFF"/>
                    </a:solidFill>
                  </a:tcPr>
                </a:tc>
                <a:tc>
                  <a:txBody>
                    <a:bodyPr/>
                    <a:lstStyle/>
                    <a:p>
                      <a:pPr algn="ctr"/>
                      <a:r>
                        <a:rPr sz="850" b="0" i="0">
                          <a:solidFill>
                            <a:srgbClr val="262626"/>
                          </a:solidFill>
                          <a:latin typeface="Arial"/>
                        </a:rPr>
                        <a:t>1</a:t>
                      </a:r>
                    </a:p>
                  </a:txBody>
                  <a:tcPr>
                    <a:solidFill>
                      <a:srgbClr val="FFFFFF"/>
                    </a:solidFill>
                  </a:tcPr>
                </a:tc>
                <a:extLst>
                  <a:ext uri="{0D108BD9-81ED-4DB2-BD59-A6C34878D82A}">
                    <a16:rowId xmlns:a16="http://schemas.microsoft.com/office/drawing/2014/main" val="10015"/>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Olympic Qualification Pace</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Edmonton</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1097280"/>
            <a:ext cx="11640312" cy="664768"/>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5760" y="1188720"/>
            <a:ext cx="11430000" cy="329184"/>
          </a:xfrm>
          <a:prstGeom prst="rect">
            <a:avLst/>
          </a:prstGeom>
          <a:noFill/>
        </p:spPr>
        <p:txBody>
          <a:bodyPr wrap="square">
            <a:spAutoFit/>
          </a:bodyPr>
          <a:lstStyle/>
          <a:p>
            <a:pPr algn="ctr"/>
            <a:r>
              <a:rPr sz="1500" b="1" i="0">
                <a:solidFill>
                  <a:srgbClr val="FFFFFF"/>
                </a:solidFill>
                <a:latin typeface="Arial"/>
              </a:rPr>
              <a:t>Paris 2024 OQR cutoff (30th): 3,626.69 pts   ÷   12-event cap =   302 pts / event on pace</a:t>
            </a:r>
          </a:p>
        </p:txBody>
      </p:sp>
      <p:sp>
        <p:nvSpPr>
          <p:cNvPr id="10" name="TextBox 9"/>
          <p:cNvSpPr txBox="1"/>
          <p:nvPr/>
        </p:nvSpPr>
        <p:spPr>
          <a:xfrm>
            <a:off x="365760" y="1458468"/>
            <a:ext cx="11430000" cy="329184"/>
          </a:xfrm>
          <a:prstGeom prst="rect">
            <a:avLst/>
          </a:prstGeom>
          <a:noFill/>
        </p:spPr>
        <p:txBody>
          <a:bodyPr wrap="square">
            <a:spAutoFit/>
          </a:bodyPr>
          <a:lstStyle/>
          <a:p>
            <a:pPr algn="ctr"/>
            <a:r>
              <a:rPr sz="1100" b="0" i="1">
                <a:solidFill>
                  <a:srgbClr val="AABBDD"/>
                </a:solidFill>
                <a:latin typeface="Arial"/>
              </a:rPr>
              <a:t>An athlete who averages ~302 pts per event across their best 12 events is on pace to clear the LA 2028 qualifying threshold.</a:t>
            </a:r>
          </a:p>
        </p:txBody>
      </p:sp>
      <p:sp>
        <p:nvSpPr>
          <p:cNvPr id="11" name="Rectangle 10"/>
          <p:cNvSpPr/>
          <p:nvPr/>
        </p:nvSpPr>
        <p:spPr>
          <a:xfrm>
            <a:off x="274320" y="1812340"/>
            <a:ext cx="11640312" cy="29260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65760" y="1839772"/>
            <a:ext cx="11430000" cy="237744"/>
          </a:xfrm>
          <a:prstGeom prst="rect">
            <a:avLst/>
          </a:prstGeom>
          <a:noFill/>
        </p:spPr>
        <p:txBody>
          <a:bodyPr wrap="square">
            <a:spAutoFit/>
          </a:bodyPr>
          <a:lstStyle/>
          <a:p>
            <a:pPr algn="ctr"/>
            <a:r>
              <a:rPr sz="1100" b="1" i="0">
                <a:solidFill>
                  <a:srgbClr val="FFFFFF"/>
                </a:solidFill>
                <a:latin typeface="Arial"/>
              </a:rPr>
              <a:t>FINISH POSITION AT EACH TIER THAT HITS 302-PT PACE</a:t>
            </a:r>
          </a:p>
        </p:txBody>
      </p:sp>
      <p:graphicFrame>
        <p:nvGraphicFramePr>
          <p:cNvPr id="13" name="Table 12"/>
          <p:cNvGraphicFramePr>
            <a:graphicFrameLocks noGrp="1"/>
          </p:cNvGraphicFramePr>
          <p:nvPr/>
        </p:nvGraphicFramePr>
        <p:xfrm>
          <a:off x="274320" y="2196388"/>
          <a:ext cx="11640309" cy="1478280"/>
        </p:xfrm>
        <a:graphic>
          <a:graphicData uri="http://schemas.openxmlformats.org/drawingml/2006/table">
            <a:tbl>
              <a:tblPr firstRow="1" bandRow="1">
                <a:tableStyleId>{5C22544A-7EE6-4342-B048-85BDC9FD1C3A}</a:tableStyleId>
              </a:tblPr>
              <a:tblGrid>
                <a:gridCol w="4399178">
                  <a:extLst>
                    <a:ext uri="{9D8B030D-6E8A-4147-A177-3AD203B41FA5}">
                      <a16:colId xmlns:a16="http://schemas.microsoft.com/office/drawing/2014/main" val="20000"/>
                    </a:ext>
                  </a:extLst>
                </a:gridCol>
                <a:gridCol w="1375257">
                  <a:extLst>
                    <a:ext uri="{9D8B030D-6E8A-4147-A177-3AD203B41FA5}">
                      <a16:colId xmlns:a16="http://schemas.microsoft.com/office/drawing/2014/main" val="20001"/>
                    </a:ext>
                  </a:extLst>
                </a:gridCol>
                <a:gridCol w="2200046">
                  <a:extLst>
                    <a:ext uri="{9D8B030D-6E8A-4147-A177-3AD203B41FA5}">
                      <a16:colId xmlns:a16="http://schemas.microsoft.com/office/drawing/2014/main" val="20002"/>
                    </a:ext>
                  </a:extLst>
                </a:gridCol>
                <a:gridCol w="2749600">
                  <a:extLst>
                    <a:ext uri="{9D8B030D-6E8A-4147-A177-3AD203B41FA5}">
                      <a16:colId xmlns:a16="http://schemas.microsoft.com/office/drawing/2014/main" val="20003"/>
                    </a:ext>
                  </a:extLst>
                </a:gridCol>
                <a:gridCol w="916228">
                  <a:extLst>
                    <a:ext uri="{9D8B030D-6E8A-4147-A177-3AD203B41FA5}">
                      <a16:colId xmlns:a16="http://schemas.microsoft.com/office/drawing/2014/main" val="20004"/>
                    </a:ext>
                  </a:extLst>
                </a:gridCol>
              </a:tblGrid>
              <a:tr h="274320">
                <a:tc>
                  <a:txBody>
                    <a:bodyPr/>
                    <a:lstStyle/>
                    <a:p>
                      <a:pPr algn="l"/>
                      <a:r>
                        <a:rPr sz="950" b="1" i="0">
                          <a:solidFill>
                            <a:srgbClr val="FFFFFF"/>
                          </a:solidFill>
                          <a:latin typeface="Arial"/>
                        </a:rPr>
                        <a:t>Tier</a:t>
                      </a:r>
                    </a:p>
                  </a:txBody>
                  <a:tcPr>
                    <a:solidFill>
                      <a:srgbClr val="002060"/>
                    </a:solidFill>
                  </a:tcPr>
                </a:tc>
                <a:tc>
                  <a:txBody>
                    <a:bodyPr/>
                    <a:lstStyle/>
                    <a:p>
                      <a:pPr algn="ctr"/>
                      <a:r>
                        <a:rPr sz="950" b="1" i="0">
                          <a:solidFill>
                            <a:srgbClr val="FFFFFF"/>
                          </a:solidFill>
                          <a:latin typeface="Arial"/>
                        </a:rPr>
                        <a:t>Win pts</a:t>
                      </a:r>
                    </a:p>
                  </a:txBody>
                  <a:tcPr>
                    <a:solidFill>
                      <a:srgbClr val="002060"/>
                    </a:solidFill>
                  </a:tcPr>
                </a:tc>
                <a:tc>
                  <a:txBody>
                    <a:bodyPr/>
                    <a:lstStyle/>
                    <a:p>
                      <a:pPr algn="ctr"/>
                      <a:r>
                        <a:rPr sz="950" b="1" i="0">
                          <a:solidFill>
                            <a:srgbClr val="FFFFFF"/>
                          </a:solidFill>
                          <a:latin typeface="Arial"/>
                        </a:rPr>
                        <a:t>Last on-pace pos</a:t>
                      </a:r>
                    </a:p>
                  </a:txBody>
                  <a:tcPr>
                    <a:solidFill>
                      <a:srgbClr val="002060"/>
                    </a:solidFill>
                  </a:tcPr>
                </a:tc>
                <a:tc>
                  <a:txBody>
                    <a:bodyPr/>
                    <a:lstStyle/>
                    <a:p>
                      <a:pPr algn="ctr"/>
                      <a:r>
                        <a:rPr sz="950" b="1" i="0">
                          <a:solidFill>
                            <a:srgbClr val="FFFFFF"/>
                          </a:solidFill>
                          <a:latin typeface="Arial"/>
                        </a:rPr>
                        <a:t>First off-pace pos (pts)</a:t>
                      </a:r>
                    </a:p>
                  </a:txBody>
                  <a:tcPr>
                    <a:solidFill>
                      <a:srgbClr val="002060"/>
                    </a:solidFill>
                  </a:tcPr>
                </a:tc>
                <a:tc>
                  <a:txBody>
                    <a:bodyPr/>
                    <a:lstStyle/>
                    <a:p>
                      <a:pPr algn="ctr"/>
                      <a:r>
                        <a:rPr sz="950" b="1" i="0">
                          <a:solidFill>
                            <a:srgbClr val="FFFFFF"/>
                          </a:solidFill>
                          <a:latin typeface="Arial"/>
                        </a:rPr>
                        <a:t>Verdict</a:t>
                      </a:r>
                    </a:p>
                  </a:txBody>
                  <a:tcPr>
                    <a:solidFill>
                      <a:srgbClr val="002060"/>
                    </a:solidFill>
                  </a:tcPr>
                </a:tc>
                <a:extLst>
                  <a:ext uri="{0D108BD9-81ED-4DB2-BD59-A6C34878D82A}">
                    <a16:rowId xmlns:a16="http://schemas.microsoft.com/office/drawing/2014/main" val="10000"/>
                  </a:ext>
                </a:extLst>
              </a:tr>
              <a:tr h="274320">
                <a:tc>
                  <a:txBody>
                    <a:bodyPr/>
                    <a:lstStyle/>
                    <a:p>
                      <a:pPr algn="l"/>
                      <a:r>
                        <a:rPr sz="950" b="0" i="0">
                          <a:solidFill>
                            <a:srgbClr val="262626"/>
                          </a:solidFill>
                          <a:latin typeface="Arial"/>
                        </a:rPr>
                        <a:t>World Championship Series</a:t>
                      </a:r>
                    </a:p>
                  </a:txBody>
                  <a:tcPr>
                    <a:solidFill>
                      <a:srgbClr val="FFFFFF"/>
                    </a:solidFill>
                  </a:tcPr>
                </a:tc>
                <a:tc>
                  <a:txBody>
                    <a:bodyPr/>
                    <a:lstStyle/>
                    <a:p>
                      <a:pPr algn="ctr"/>
                      <a:r>
                        <a:rPr sz="950" b="1" i="0">
                          <a:solidFill>
                            <a:srgbClr val="262626"/>
                          </a:solidFill>
                          <a:latin typeface="Arial"/>
                        </a:rPr>
                        <a:t>1000</a:t>
                      </a:r>
                    </a:p>
                  </a:txBody>
                  <a:tcPr>
                    <a:solidFill>
                      <a:srgbClr val="FFFFFF"/>
                    </a:solidFill>
                  </a:tcPr>
                </a:tc>
                <a:tc>
                  <a:txBody>
                    <a:bodyPr/>
                    <a:lstStyle/>
                    <a:p>
                      <a:pPr algn="ctr"/>
                      <a:r>
                        <a:rPr sz="950" b="1" i="0">
                          <a:solidFill>
                            <a:srgbClr val="262626"/>
                          </a:solidFill>
                          <a:latin typeface="Arial"/>
                        </a:rPr>
                        <a:t>#16</a:t>
                      </a:r>
                    </a:p>
                  </a:txBody>
                  <a:tcPr>
                    <a:solidFill>
                      <a:srgbClr val="FFFFFF"/>
                    </a:solidFill>
                  </a:tcPr>
                </a:tc>
                <a:tc>
                  <a:txBody>
                    <a:bodyPr/>
                    <a:lstStyle/>
                    <a:p>
                      <a:pPr algn="ctr"/>
                      <a:r>
                        <a:rPr sz="950" b="0" i="0">
                          <a:solidFill>
                            <a:srgbClr val="262626"/>
                          </a:solidFill>
                          <a:latin typeface="Arial"/>
                        </a:rPr>
                        <a:t>#17 (287 pts)</a:t>
                      </a:r>
                    </a:p>
                  </a:txBody>
                  <a:tcPr>
                    <a:solidFill>
                      <a:srgbClr val="FFFFFF"/>
                    </a:solidFill>
                  </a:tcPr>
                </a:tc>
                <a:tc>
                  <a:txBody>
                    <a:bodyPr/>
                    <a:lstStyle/>
                    <a:p>
                      <a:pPr algn="ctr"/>
                      <a:r>
                        <a:rPr sz="950" b="1" i="0">
                          <a:solidFill>
                            <a:srgbClr val="1B7F3A"/>
                          </a:solidFill>
                          <a:latin typeface="Arial"/>
                        </a:rPr>
                        <a:t>Top 16</a:t>
                      </a:r>
                    </a:p>
                  </a:txBody>
                  <a:tcPr>
                    <a:solidFill>
                      <a:srgbClr val="FFFFFF"/>
                    </a:solidFill>
                  </a:tcPr>
                </a:tc>
                <a:extLst>
                  <a:ext uri="{0D108BD9-81ED-4DB2-BD59-A6C34878D82A}">
                    <a16:rowId xmlns:a16="http://schemas.microsoft.com/office/drawing/2014/main" val="10001"/>
                  </a:ext>
                </a:extLst>
              </a:tr>
              <a:tr h="274320">
                <a:tc>
                  <a:txBody>
                    <a:bodyPr/>
                    <a:lstStyle/>
                    <a:p>
                      <a:pPr algn="l"/>
                      <a:r>
                        <a:rPr sz="950" b="0" i="0">
                          <a:solidFill>
                            <a:srgbClr val="262626"/>
                          </a:solidFill>
                          <a:latin typeface="Arial"/>
                        </a:rPr>
                        <a:t>World Cup</a:t>
                      </a:r>
                    </a:p>
                  </a:txBody>
                  <a:tcPr>
                    <a:solidFill>
                      <a:srgbClr val="F2F2F2"/>
                    </a:solidFill>
                  </a:tcPr>
                </a:tc>
                <a:tc>
                  <a:txBody>
                    <a:bodyPr/>
                    <a:lstStyle/>
                    <a:p>
                      <a:pPr algn="ctr"/>
                      <a:r>
                        <a:rPr sz="950" b="1" i="0">
                          <a:solidFill>
                            <a:srgbClr val="262626"/>
                          </a:solidFill>
                          <a:latin typeface="Arial"/>
                        </a:rPr>
                        <a:t>500</a:t>
                      </a:r>
                    </a:p>
                  </a:txBody>
                  <a:tcPr>
                    <a:solidFill>
                      <a:srgbClr val="F2F2F2"/>
                    </a:solidFill>
                  </a:tcPr>
                </a:tc>
                <a:tc>
                  <a:txBody>
                    <a:bodyPr/>
                    <a:lstStyle/>
                    <a:p>
                      <a:pPr algn="ctr"/>
                      <a:r>
                        <a:rPr sz="950" b="1" i="0">
                          <a:solidFill>
                            <a:srgbClr val="262626"/>
                          </a:solidFill>
                          <a:latin typeface="Arial"/>
                        </a:rPr>
                        <a:t>#7</a:t>
                      </a:r>
                    </a:p>
                  </a:txBody>
                  <a:tcPr>
                    <a:solidFill>
                      <a:srgbClr val="F2F2F2"/>
                    </a:solidFill>
                  </a:tcPr>
                </a:tc>
                <a:tc>
                  <a:txBody>
                    <a:bodyPr/>
                    <a:lstStyle/>
                    <a:p>
                      <a:pPr algn="ctr"/>
                      <a:r>
                        <a:rPr sz="950" b="0" i="0">
                          <a:solidFill>
                            <a:srgbClr val="262626"/>
                          </a:solidFill>
                          <a:latin typeface="Arial"/>
                        </a:rPr>
                        <a:t>#8 (290 pts)</a:t>
                      </a:r>
                    </a:p>
                  </a:txBody>
                  <a:tcPr>
                    <a:solidFill>
                      <a:srgbClr val="F2F2F2"/>
                    </a:solidFill>
                  </a:tcPr>
                </a:tc>
                <a:tc>
                  <a:txBody>
                    <a:bodyPr/>
                    <a:lstStyle/>
                    <a:p>
                      <a:pPr algn="ctr"/>
                      <a:r>
                        <a:rPr sz="950" b="1" i="0">
                          <a:solidFill>
                            <a:srgbClr val="1B7F3A"/>
                          </a:solidFill>
                          <a:latin typeface="Arial"/>
                        </a:rPr>
                        <a:t>Top 7</a:t>
                      </a:r>
                    </a:p>
                  </a:txBody>
                  <a:tcPr>
                    <a:solidFill>
                      <a:srgbClr val="F2F2F2"/>
                    </a:solidFill>
                  </a:tcPr>
                </a:tc>
                <a:extLst>
                  <a:ext uri="{0D108BD9-81ED-4DB2-BD59-A6C34878D82A}">
                    <a16:rowId xmlns:a16="http://schemas.microsoft.com/office/drawing/2014/main" val="10002"/>
                  </a:ext>
                </a:extLst>
              </a:tr>
              <a:tr h="274320">
                <a:tc>
                  <a:txBody>
                    <a:bodyPr/>
                    <a:lstStyle/>
                    <a:p>
                      <a:pPr algn="l"/>
                      <a:r>
                        <a:rPr sz="950" b="0" i="0" dirty="0">
                          <a:solidFill>
                            <a:srgbClr val="262626"/>
                          </a:solidFill>
                          <a:latin typeface="Arial"/>
                        </a:rPr>
                        <a:t>Continental Championships (Americas)</a:t>
                      </a:r>
                    </a:p>
                  </a:txBody>
                  <a:tcPr>
                    <a:solidFill>
                      <a:srgbClr val="FFFFFF"/>
                    </a:solidFill>
                  </a:tcPr>
                </a:tc>
                <a:tc>
                  <a:txBody>
                    <a:bodyPr/>
                    <a:lstStyle/>
                    <a:p>
                      <a:pPr algn="ctr"/>
                      <a:r>
                        <a:rPr sz="950" b="1" i="0">
                          <a:solidFill>
                            <a:srgbClr val="262626"/>
                          </a:solidFill>
                          <a:latin typeface="Arial"/>
                        </a:rPr>
                        <a:t>590</a:t>
                      </a:r>
                    </a:p>
                  </a:txBody>
                  <a:tcPr>
                    <a:solidFill>
                      <a:srgbClr val="FFFFFF"/>
                    </a:solidFill>
                  </a:tcPr>
                </a:tc>
                <a:tc>
                  <a:txBody>
                    <a:bodyPr/>
                    <a:lstStyle/>
                    <a:p>
                      <a:pPr algn="ctr"/>
                      <a:r>
                        <a:rPr sz="950" b="1" i="0">
                          <a:solidFill>
                            <a:srgbClr val="262626"/>
                          </a:solidFill>
                          <a:latin typeface="Arial"/>
                        </a:rPr>
                        <a:t>#9</a:t>
                      </a:r>
                    </a:p>
                  </a:txBody>
                  <a:tcPr>
                    <a:solidFill>
                      <a:srgbClr val="FFFFFF"/>
                    </a:solidFill>
                  </a:tcPr>
                </a:tc>
                <a:tc>
                  <a:txBody>
                    <a:bodyPr/>
                    <a:lstStyle/>
                    <a:p>
                      <a:pPr algn="ctr"/>
                      <a:r>
                        <a:rPr sz="950" b="0" i="0">
                          <a:solidFill>
                            <a:srgbClr val="262626"/>
                          </a:solidFill>
                          <a:latin typeface="Arial"/>
                        </a:rPr>
                        <a:t>#10 (293 pts)</a:t>
                      </a:r>
                    </a:p>
                  </a:txBody>
                  <a:tcPr>
                    <a:solidFill>
                      <a:srgbClr val="FFFFFF"/>
                    </a:solidFill>
                  </a:tcPr>
                </a:tc>
                <a:tc>
                  <a:txBody>
                    <a:bodyPr/>
                    <a:lstStyle/>
                    <a:p>
                      <a:pPr algn="ctr"/>
                      <a:r>
                        <a:rPr sz="950" b="1" i="0">
                          <a:solidFill>
                            <a:srgbClr val="1B7F3A"/>
                          </a:solidFill>
                          <a:latin typeface="Arial"/>
                        </a:rPr>
                        <a:t>Top 9</a:t>
                      </a:r>
                    </a:p>
                  </a:txBody>
                  <a:tcPr>
                    <a:solidFill>
                      <a:srgbClr val="FFFFFF"/>
                    </a:solidFill>
                  </a:tcPr>
                </a:tc>
                <a:extLst>
                  <a:ext uri="{0D108BD9-81ED-4DB2-BD59-A6C34878D82A}">
                    <a16:rowId xmlns:a16="http://schemas.microsoft.com/office/drawing/2014/main" val="10003"/>
                  </a:ext>
                </a:extLst>
              </a:tr>
              <a:tr h="274320">
                <a:tc>
                  <a:txBody>
                    <a:bodyPr/>
                    <a:lstStyle/>
                    <a:p>
                      <a:pPr algn="l"/>
                      <a:r>
                        <a:rPr sz="950" b="0" i="0">
                          <a:solidFill>
                            <a:srgbClr val="262626"/>
                          </a:solidFill>
                          <a:latin typeface="Arial"/>
                        </a:rPr>
                        <a:t>Continental Cup (Americas)</a:t>
                      </a:r>
                    </a:p>
                  </a:txBody>
                  <a:tcPr>
                    <a:solidFill>
                      <a:srgbClr val="F2F2F2"/>
                    </a:solidFill>
                  </a:tcPr>
                </a:tc>
                <a:tc>
                  <a:txBody>
                    <a:bodyPr/>
                    <a:lstStyle/>
                    <a:p>
                      <a:pPr algn="ctr"/>
                      <a:r>
                        <a:rPr sz="950" b="1" i="0">
                          <a:solidFill>
                            <a:srgbClr val="262626"/>
                          </a:solidFill>
                          <a:latin typeface="Arial"/>
                        </a:rPr>
                        <a:t>280</a:t>
                      </a:r>
                    </a:p>
                  </a:txBody>
                  <a:tcPr>
                    <a:solidFill>
                      <a:srgbClr val="F2F2F2"/>
                    </a:solidFill>
                  </a:tcPr>
                </a:tc>
                <a:tc>
                  <a:txBody>
                    <a:bodyPr/>
                    <a:lstStyle/>
                    <a:p>
                      <a:pPr algn="ctr"/>
                      <a:r>
                        <a:rPr sz="950" b="1" i="0">
                          <a:solidFill>
                            <a:srgbClr val="262626"/>
                          </a:solidFill>
                          <a:latin typeface="Arial"/>
                        </a:rPr>
                        <a:t>None (win = 280)</a:t>
                      </a:r>
                    </a:p>
                  </a:txBody>
                  <a:tcPr>
                    <a:solidFill>
                      <a:srgbClr val="F2F2F2"/>
                    </a:solidFill>
                  </a:tcPr>
                </a:tc>
                <a:tc>
                  <a:txBody>
                    <a:bodyPr/>
                    <a:lstStyle/>
                    <a:p>
                      <a:pPr algn="ctr"/>
                      <a:r>
                        <a:rPr sz="950" b="0" i="0">
                          <a:solidFill>
                            <a:srgbClr val="262626"/>
                          </a:solidFill>
                          <a:latin typeface="Arial"/>
                        </a:rPr>
                        <a:t>—</a:t>
                      </a:r>
                    </a:p>
                  </a:txBody>
                  <a:tcPr>
                    <a:solidFill>
                      <a:srgbClr val="F2F2F2"/>
                    </a:solidFill>
                  </a:tcPr>
                </a:tc>
                <a:tc>
                  <a:txBody>
                    <a:bodyPr/>
                    <a:lstStyle/>
                    <a:p>
                      <a:pPr algn="ctr"/>
                      <a:r>
                        <a:rPr sz="950" b="1" i="0" dirty="0">
                          <a:solidFill>
                            <a:srgbClr val="C00000"/>
                          </a:solidFill>
                          <a:latin typeface="Arial"/>
                        </a:rPr>
                        <a:t>Not achievable</a:t>
                      </a:r>
                    </a:p>
                  </a:txBody>
                  <a:tcPr>
                    <a:solidFill>
                      <a:srgbClr val="F2F2F2"/>
                    </a:solidFill>
                  </a:tcPr>
                </a:tc>
                <a:extLst>
                  <a:ext uri="{0D108BD9-81ED-4DB2-BD59-A6C34878D82A}">
                    <a16:rowId xmlns:a16="http://schemas.microsoft.com/office/drawing/2014/main" val="10004"/>
                  </a:ext>
                </a:extLst>
              </a:tr>
            </a:tbl>
          </a:graphicData>
        </a:graphic>
      </p:graphicFrame>
      <p:sp>
        <p:nvSpPr>
          <p:cNvPr id="14" name="Rectangle 13"/>
          <p:cNvSpPr/>
          <p:nvPr/>
        </p:nvSpPr>
        <p:spPr>
          <a:xfrm>
            <a:off x="274320" y="3611880"/>
            <a:ext cx="5806440" cy="2743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74320" y="3639312"/>
            <a:ext cx="5806440" cy="219456"/>
          </a:xfrm>
          <a:prstGeom prst="rect">
            <a:avLst/>
          </a:prstGeom>
          <a:noFill/>
        </p:spPr>
        <p:txBody>
          <a:bodyPr wrap="square">
            <a:spAutoFit/>
          </a:bodyPr>
          <a:lstStyle/>
          <a:p>
            <a:pPr algn="ctr"/>
            <a:r>
              <a:rPr sz="1100" b="1" i="0">
                <a:solidFill>
                  <a:srgbClr val="FFFFFF"/>
                </a:solidFill>
                <a:latin typeface="Arial"/>
              </a:rPr>
              <a:t>USA MEN</a:t>
            </a:r>
          </a:p>
        </p:txBody>
      </p:sp>
      <p:graphicFrame>
        <p:nvGraphicFramePr>
          <p:cNvPr id="16" name="Table 15"/>
          <p:cNvGraphicFramePr>
            <a:graphicFrameLocks noGrp="1"/>
          </p:cNvGraphicFramePr>
          <p:nvPr/>
        </p:nvGraphicFramePr>
        <p:xfrm>
          <a:off x="274320" y="3931920"/>
          <a:ext cx="5806440" cy="2484120"/>
        </p:xfrm>
        <a:graphic>
          <a:graphicData uri="http://schemas.openxmlformats.org/drawingml/2006/table">
            <a:tbl>
              <a:tblPr firstRow="1" bandRow="1">
                <a:tableStyleId>{5C22544A-7EE6-4342-B048-85BDC9FD1C3A}</a:tableStyleId>
              </a:tblPr>
              <a:tblGrid>
                <a:gridCol w="41148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502920">
                  <a:extLst>
                    <a:ext uri="{9D8B030D-6E8A-4147-A177-3AD203B41FA5}">
                      <a16:colId xmlns:a16="http://schemas.microsoft.com/office/drawing/2014/main" val="20003"/>
                    </a:ext>
                  </a:extLst>
                </a:gridCol>
                <a:gridCol w="411480">
                  <a:extLst>
                    <a:ext uri="{9D8B030D-6E8A-4147-A177-3AD203B41FA5}">
                      <a16:colId xmlns:a16="http://schemas.microsoft.com/office/drawing/2014/main" val="20004"/>
                    </a:ext>
                  </a:extLst>
                </a:gridCol>
                <a:gridCol w="411480">
                  <a:extLst>
                    <a:ext uri="{9D8B030D-6E8A-4147-A177-3AD203B41FA5}">
                      <a16:colId xmlns:a16="http://schemas.microsoft.com/office/drawing/2014/main" val="20005"/>
                    </a:ext>
                  </a:extLst>
                </a:gridCol>
                <a:gridCol w="685800">
                  <a:extLst>
                    <a:ext uri="{9D8B030D-6E8A-4147-A177-3AD203B41FA5}">
                      <a16:colId xmlns:a16="http://schemas.microsoft.com/office/drawing/2014/main" val="20006"/>
                    </a:ext>
                  </a:extLst>
                </a:gridCol>
                <a:gridCol w="731520">
                  <a:extLst>
                    <a:ext uri="{9D8B030D-6E8A-4147-A177-3AD203B41FA5}">
                      <a16:colId xmlns:a16="http://schemas.microsoft.com/office/drawing/2014/main" val="20007"/>
                    </a:ext>
                  </a:extLst>
                </a:gridCol>
              </a:tblGrid>
              <a:tr h="201168">
                <a:tc>
                  <a:txBody>
                    <a:bodyPr/>
                    <a:lstStyle/>
                    <a:p>
                      <a:pPr algn="ctr"/>
                      <a:r>
                        <a:rPr sz="850" b="1" i="0">
                          <a:solidFill>
                            <a:srgbClr val="FFFFFF"/>
                          </a:solidFill>
                          <a:latin typeface="Arial"/>
                        </a:rPr>
                        <a:t>Rk</a:t>
                      </a:r>
                    </a:p>
                  </a:txBody>
                  <a:tcPr>
                    <a:solidFill>
                      <a:srgbClr val="002060"/>
                    </a:solidFill>
                  </a:tcPr>
                </a:tc>
                <a:tc>
                  <a:txBody>
                    <a:bodyPr/>
                    <a:lstStyle/>
                    <a:p>
                      <a:pPr algn="l"/>
                      <a:r>
                        <a:rPr sz="850" b="1" i="0">
                          <a:solidFill>
                            <a:srgbClr val="FFFFFF"/>
                          </a:solidFill>
                          <a:latin typeface="Arial"/>
                        </a:rPr>
                        <a:t>Athlete</a:t>
                      </a:r>
                    </a:p>
                  </a:txBody>
                  <a:tcPr>
                    <a:solidFill>
                      <a:srgbClr val="002060"/>
                    </a:solidFill>
                  </a:tcPr>
                </a:tc>
                <a:tc>
                  <a:txBody>
                    <a:bodyPr/>
                    <a:lstStyle/>
                    <a:p>
                      <a:pPr algn="ctr"/>
                      <a:r>
                        <a:rPr sz="850" b="1" i="0">
                          <a:solidFill>
                            <a:srgbClr val="FFFFFF"/>
                          </a:solidFill>
                          <a:latin typeface="Arial"/>
                        </a:rPr>
                        <a:t>Total</a:t>
                      </a:r>
                    </a:p>
                  </a:txBody>
                  <a:tcPr>
                    <a:solidFill>
                      <a:srgbClr val="002060"/>
                    </a:solidFill>
                  </a:tcPr>
                </a:tc>
                <a:tc>
                  <a:txBody>
                    <a:bodyPr/>
                    <a:lstStyle/>
                    <a:p>
                      <a:pPr algn="ctr"/>
                      <a:r>
                        <a:rPr sz="850" b="1" i="0">
                          <a:solidFill>
                            <a:srgbClr val="FFFFFF"/>
                          </a:solidFill>
                          <a:latin typeface="Arial"/>
                        </a:rPr>
                        <a:t>Races</a:t>
                      </a:r>
                    </a:p>
                  </a:txBody>
                  <a:tcPr>
                    <a:solidFill>
                      <a:srgbClr val="002060"/>
                    </a:solidFill>
                  </a:tcPr>
                </a:tc>
                <a:tc>
                  <a:txBody>
                    <a:bodyPr/>
                    <a:lstStyle/>
                    <a:p>
                      <a:pPr algn="ctr"/>
                      <a:r>
                        <a:rPr sz="850" b="1" i="0">
                          <a:solidFill>
                            <a:srgbClr val="FFFFFF"/>
                          </a:solidFill>
                          <a:latin typeface="Arial"/>
                        </a:rPr>
                        <a:t>On</a:t>
                      </a:r>
                    </a:p>
                  </a:txBody>
                  <a:tcPr>
                    <a:solidFill>
                      <a:srgbClr val="002060"/>
                    </a:solidFill>
                  </a:tcPr>
                </a:tc>
                <a:tc>
                  <a:txBody>
                    <a:bodyPr/>
                    <a:lstStyle/>
                    <a:p>
                      <a:pPr algn="ctr"/>
                      <a:r>
                        <a:rPr sz="850" b="1" i="0">
                          <a:solidFill>
                            <a:srgbClr val="FFFFFF"/>
                          </a:solidFill>
                          <a:latin typeface="Arial"/>
                        </a:rPr>
                        <a:t>Off</a:t>
                      </a:r>
                    </a:p>
                  </a:txBody>
                  <a:tcPr>
                    <a:solidFill>
                      <a:srgbClr val="002060"/>
                    </a:solidFill>
                  </a:tcPr>
                </a:tc>
                <a:tc>
                  <a:txBody>
                    <a:bodyPr/>
                    <a:lstStyle/>
                    <a:p>
                      <a:pPr algn="ctr"/>
                      <a:r>
                        <a:rPr sz="850" b="1" i="0">
                          <a:solidFill>
                            <a:srgbClr val="FFFFFF"/>
                          </a:solidFill>
                          <a:latin typeface="Arial"/>
                        </a:rPr>
                        <a:t>Pace</a:t>
                      </a:r>
                    </a:p>
                  </a:txBody>
                  <a:tcPr>
                    <a:solidFill>
                      <a:srgbClr val="002060"/>
                    </a:solidFill>
                  </a:tcPr>
                </a:tc>
                <a:tc>
                  <a:txBody>
                    <a:bodyPr/>
                    <a:lstStyle/>
                    <a:p>
                      <a:pPr algn="ctr"/>
                      <a:r>
                        <a:rPr sz="850" b="1" i="0">
                          <a:solidFill>
                            <a:srgbClr val="FFFFFF"/>
                          </a:solidFill>
                          <a:latin typeface="Arial"/>
                        </a:rPr>
                        <a:t>Proj @12</a:t>
                      </a:r>
                    </a:p>
                  </a:txBody>
                  <a:tcPr>
                    <a:solidFill>
                      <a:srgbClr val="002060"/>
                    </a:solidFill>
                  </a:tcPr>
                </a:tc>
                <a:extLst>
                  <a:ext uri="{0D108BD9-81ED-4DB2-BD59-A6C34878D82A}">
                    <a16:rowId xmlns:a16="http://schemas.microsoft.com/office/drawing/2014/main" val="10000"/>
                  </a:ext>
                </a:extLst>
              </a:tr>
              <a:tr h="201168">
                <a:tc>
                  <a:txBody>
                    <a:bodyPr/>
                    <a:lstStyle/>
                    <a:p>
                      <a:pPr algn="ctr"/>
                      <a:r>
                        <a:rPr sz="750" b="1" i="0">
                          <a:solidFill>
                            <a:srgbClr val="262626"/>
                          </a:solidFill>
                          <a:latin typeface="Arial"/>
                        </a:rPr>
                        <a:t>18</a:t>
                      </a:r>
                    </a:p>
                  </a:txBody>
                  <a:tcPr>
                    <a:solidFill>
                      <a:srgbClr val="FFFFFF"/>
                    </a:solidFill>
                  </a:tcPr>
                </a:tc>
                <a:tc>
                  <a:txBody>
                    <a:bodyPr/>
                    <a:lstStyle/>
                    <a:p>
                      <a:pPr algn="l"/>
                      <a:r>
                        <a:rPr sz="750" b="0" i="0">
                          <a:solidFill>
                            <a:srgbClr val="262626"/>
                          </a:solidFill>
                          <a:latin typeface="Arial"/>
                        </a:rPr>
                        <a:t>Reese Vannerson</a:t>
                      </a:r>
                    </a:p>
                  </a:txBody>
                  <a:tcPr>
                    <a:solidFill>
                      <a:srgbClr val="FFFFFF"/>
                    </a:solidFill>
                  </a:tcPr>
                </a:tc>
                <a:tc>
                  <a:txBody>
                    <a:bodyPr/>
                    <a:lstStyle/>
                    <a:p>
                      <a:pPr algn="ctr"/>
                      <a:r>
                        <a:rPr sz="750" b="1" i="0">
                          <a:solidFill>
                            <a:srgbClr val="262626"/>
                          </a:solidFill>
                          <a:latin typeface="Arial"/>
                        </a:rPr>
                        <a:t>980</a:t>
                      </a:r>
                    </a:p>
                  </a:txBody>
                  <a:tcPr>
                    <a:solidFill>
                      <a:srgbClr val="FFFFFF"/>
                    </a:solidFill>
                  </a:tcPr>
                </a:tc>
                <a:tc>
                  <a:txBody>
                    <a:bodyPr/>
                    <a:lstStyle/>
                    <a:p>
                      <a:pPr algn="ctr"/>
                      <a:r>
                        <a:rPr sz="750" b="0" i="0">
                          <a:solidFill>
                            <a:srgbClr val="262626"/>
                          </a:solidFill>
                          <a:latin typeface="Arial"/>
                        </a:rPr>
                        <a:t>2</a:t>
                      </a:r>
                    </a:p>
                  </a:txBody>
                  <a:tcPr>
                    <a:solidFill>
                      <a:srgbClr val="FFFFFF"/>
                    </a:solidFill>
                  </a:tcPr>
                </a:tc>
                <a:tc>
                  <a:txBody>
                    <a:bodyPr/>
                    <a:lstStyle/>
                    <a:p>
                      <a:pPr algn="ctr"/>
                      <a:r>
                        <a:rPr sz="750" b="1" i="0">
                          <a:solidFill>
                            <a:srgbClr val="1B7F3A"/>
                          </a:solidFill>
                          <a:latin typeface="Arial"/>
                        </a:rPr>
                        <a:t>2</a:t>
                      </a:r>
                    </a:p>
                  </a:txBody>
                  <a:tcPr>
                    <a:solidFill>
                      <a:srgbClr val="FFFFFF"/>
                    </a:solidFill>
                  </a:tcPr>
                </a:tc>
                <a:tc>
                  <a:txBody>
                    <a:bodyPr/>
                    <a:lstStyle/>
                    <a:p>
                      <a:pPr algn="ctr"/>
                      <a:r>
                        <a:rPr sz="750" b="1" i="0">
                          <a:solidFill>
                            <a:srgbClr val="C00000"/>
                          </a:solidFill>
                          <a:latin typeface="Arial"/>
                        </a:rPr>
                        <a:t>0</a:t>
                      </a:r>
                    </a:p>
                  </a:txBody>
                  <a:tcPr>
                    <a:solidFill>
                      <a:srgbClr val="FFFFFF"/>
                    </a:solidFill>
                  </a:tcPr>
                </a:tc>
                <a:tc>
                  <a:txBody>
                    <a:bodyPr/>
                    <a:lstStyle/>
                    <a:p>
                      <a:pPr algn="ctr"/>
                      <a:r>
                        <a:rPr sz="750" b="0" i="0">
                          <a:solidFill>
                            <a:srgbClr val="262626"/>
                          </a:solidFill>
                          <a:latin typeface="Arial"/>
                        </a:rPr>
                        <a:t>490</a:t>
                      </a:r>
                    </a:p>
                  </a:txBody>
                  <a:tcPr>
                    <a:solidFill>
                      <a:srgbClr val="FFFFFF"/>
                    </a:solidFill>
                  </a:tcPr>
                </a:tc>
                <a:tc>
                  <a:txBody>
                    <a:bodyPr/>
                    <a:lstStyle/>
                    <a:p>
                      <a:pPr algn="ctr"/>
                      <a:r>
                        <a:rPr sz="750" b="1" i="0">
                          <a:solidFill>
                            <a:srgbClr val="1B7F3A"/>
                          </a:solidFill>
                          <a:latin typeface="Arial"/>
                        </a:rPr>
                        <a:t>5,884</a:t>
                      </a:r>
                    </a:p>
                  </a:txBody>
                  <a:tcPr>
                    <a:solidFill>
                      <a:srgbClr val="FFFFFF"/>
                    </a:solidFill>
                  </a:tcPr>
                </a:tc>
                <a:extLst>
                  <a:ext uri="{0D108BD9-81ED-4DB2-BD59-A6C34878D82A}">
                    <a16:rowId xmlns:a16="http://schemas.microsoft.com/office/drawing/2014/main" val="10001"/>
                  </a:ext>
                </a:extLst>
              </a:tr>
              <a:tr h="201168">
                <a:tc>
                  <a:txBody>
                    <a:bodyPr/>
                    <a:lstStyle/>
                    <a:p>
                      <a:pPr algn="ctr"/>
                      <a:r>
                        <a:rPr sz="750" b="1" i="0">
                          <a:solidFill>
                            <a:srgbClr val="262626"/>
                          </a:solidFill>
                          <a:latin typeface="Arial"/>
                        </a:rPr>
                        <a:t>22</a:t>
                      </a:r>
                    </a:p>
                  </a:txBody>
                  <a:tcPr>
                    <a:solidFill>
                      <a:srgbClr val="F2F2F2"/>
                    </a:solidFill>
                  </a:tcPr>
                </a:tc>
                <a:tc>
                  <a:txBody>
                    <a:bodyPr/>
                    <a:lstStyle/>
                    <a:p>
                      <a:pPr algn="l"/>
                      <a:r>
                        <a:rPr sz="750" b="0" i="0">
                          <a:solidFill>
                            <a:srgbClr val="262626"/>
                          </a:solidFill>
                          <a:latin typeface="Arial"/>
                        </a:rPr>
                        <a:t>Seth Rider</a:t>
                      </a:r>
                    </a:p>
                  </a:txBody>
                  <a:tcPr>
                    <a:solidFill>
                      <a:srgbClr val="F2F2F2"/>
                    </a:solidFill>
                  </a:tcPr>
                </a:tc>
                <a:tc>
                  <a:txBody>
                    <a:bodyPr/>
                    <a:lstStyle/>
                    <a:p>
                      <a:pPr algn="ctr"/>
                      <a:r>
                        <a:rPr sz="750" b="1" i="0">
                          <a:solidFill>
                            <a:srgbClr val="262626"/>
                          </a:solidFill>
                          <a:latin typeface="Arial"/>
                        </a:rPr>
                        <a:t>845</a:t>
                      </a:r>
                    </a:p>
                  </a:txBody>
                  <a:tcPr>
                    <a:solidFill>
                      <a:srgbClr val="F2F2F2"/>
                    </a:solidFill>
                  </a:tcPr>
                </a:tc>
                <a:tc>
                  <a:txBody>
                    <a:bodyPr/>
                    <a:lstStyle/>
                    <a:p>
                      <a:pPr algn="ctr"/>
                      <a:r>
                        <a:rPr sz="750" b="0" i="0">
                          <a:solidFill>
                            <a:srgbClr val="262626"/>
                          </a:solidFill>
                          <a:latin typeface="Arial"/>
                        </a:rPr>
                        <a:t>3</a:t>
                      </a:r>
                    </a:p>
                  </a:txBody>
                  <a:tcPr>
                    <a:solidFill>
                      <a:srgbClr val="F2F2F2"/>
                    </a:solidFill>
                  </a:tcPr>
                </a:tc>
                <a:tc>
                  <a:txBody>
                    <a:bodyPr/>
                    <a:lstStyle/>
                    <a:p>
                      <a:pPr algn="ctr"/>
                      <a:r>
                        <a:rPr sz="750" b="1" i="0">
                          <a:solidFill>
                            <a:srgbClr val="1B7F3A"/>
                          </a:solidFill>
                          <a:latin typeface="Arial"/>
                        </a:rPr>
                        <a:t>2</a:t>
                      </a:r>
                    </a:p>
                  </a:txBody>
                  <a:tcPr>
                    <a:solidFill>
                      <a:srgbClr val="F2F2F2"/>
                    </a:solidFill>
                  </a:tcPr>
                </a:tc>
                <a:tc>
                  <a:txBody>
                    <a:bodyPr/>
                    <a:lstStyle/>
                    <a:p>
                      <a:pPr algn="ctr"/>
                      <a:r>
                        <a:rPr sz="750" b="1" i="0">
                          <a:solidFill>
                            <a:srgbClr val="C00000"/>
                          </a:solidFill>
                          <a:latin typeface="Arial"/>
                        </a:rPr>
                        <a:t>1</a:t>
                      </a:r>
                    </a:p>
                  </a:txBody>
                  <a:tcPr>
                    <a:solidFill>
                      <a:srgbClr val="F2F2F2"/>
                    </a:solidFill>
                  </a:tcPr>
                </a:tc>
                <a:tc>
                  <a:txBody>
                    <a:bodyPr/>
                    <a:lstStyle/>
                    <a:p>
                      <a:pPr algn="ctr"/>
                      <a:r>
                        <a:rPr sz="750" b="0" i="0">
                          <a:solidFill>
                            <a:srgbClr val="262626"/>
                          </a:solidFill>
                          <a:latin typeface="Arial"/>
                        </a:rPr>
                        <a:t>281</a:t>
                      </a:r>
                    </a:p>
                  </a:txBody>
                  <a:tcPr>
                    <a:solidFill>
                      <a:srgbClr val="F2F2F2"/>
                    </a:solidFill>
                  </a:tcPr>
                </a:tc>
                <a:tc>
                  <a:txBody>
                    <a:bodyPr/>
                    <a:lstStyle/>
                    <a:p>
                      <a:pPr algn="ctr"/>
                      <a:r>
                        <a:rPr sz="750" b="1" i="0">
                          <a:solidFill>
                            <a:srgbClr val="262626"/>
                          </a:solidFill>
                          <a:latin typeface="Arial"/>
                        </a:rPr>
                        <a:t>3,381</a:t>
                      </a:r>
                    </a:p>
                  </a:txBody>
                  <a:tcPr>
                    <a:solidFill>
                      <a:srgbClr val="F2F2F2"/>
                    </a:solidFill>
                  </a:tcPr>
                </a:tc>
                <a:extLst>
                  <a:ext uri="{0D108BD9-81ED-4DB2-BD59-A6C34878D82A}">
                    <a16:rowId xmlns:a16="http://schemas.microsoft.com/office/drawing/2014/main" val="10002"/>
                  </a:ext>
                </a:extLst>
              </a:tr>
              <a:tr h="201168">
                <a:tc>
                  <a:txBody>
                    <a:bodyPr/>
                    <a:lstStyle/>
                    <a:p>
                      <a:pPr algn="ctr"/>
                      <a:r>
                        <a:rPr sz="750" b="1" i="0">
                          <a:solidFill>
                            <a:srgbClr val="262626"/>
                          </a:solidFill>
                          <a:latin typeface="Arial"/>
                        </a:rPr>
                        <a:t>27</a:t>
                      </a:r>
                    </a:p>
                  </a:txBody>
                  <a:tcPr>
                    <a:solidFill>
                      <a:srgbClr val="FFFFFF"/>
                    </a:solidFill>
                  </a:tcPr>
                </a:tc>
                <a:tc>
                  <a:txBody>
                    <a:bodyPr/>
                    <a:lstStyle/>
                    <a:p>
                      <a:pPr algn="l"/>
                      <a:r>
                        <a:rPr sz="750" b="0" i="0">
                          <a:solidFill>
                            <a:srgbClr val="262626"/>
                          </a:solidFill>
                          <a:latin typeface="Arial"/>
                        </a:rPr>
                        <a:t>Chase McQueen</a:t>
                      </a:r>
                    </a:p>
                  </a:txBody>
                  <a:tcPr>
                    <a:solidFill>
                      <a:srgbClr val="FFFFFF"/>
                    </a:solidFill>
                  </a:tcPr>
                </a:tc>
                <a:tc>
                  <a:txBody>
                    <a:bodyPr/>
                    <a:lstStyle/>
                    <a:p>
                      <a:pPr algn="ctr"/>
                      <a:r>
                        <a:rPr sz="750" b="1" i="0">
                          <a:solidFill>
                            <a:srgbClr val="262626"/>
                          </a:solidFill>
                          <a:latin typeface="Arial"/>
                        </a:rPr>
                        <a:t>764</a:t>
                      </a:r>
                    </a:p>
                  </a:txBody>
                  <a:tcPr>
                    <a:solidFill>
                      <a:srgbClr val="FFFFFF"/>
                    </a:solidFill>
                  </a:tcPr>
                </a:tc>
                <a:tc>
                  <a:txBody>
                    <a:bodyPr/>
                    <a:lstStyle/>
                    <a:p>
                      <a:pPr algn="ctr"/>
                      <a:r>
                        <a:rPr sz="750" b="0" i="0">
                          <a:solidFill>
                            <a:srgbClr val="262626"/>
                          </a:solidFill>
                          <a:latin typeface="Arial"/>
                        </a:rPr>
                        <a:t>3</a:t>
                      </a:r>
                    </a:p>
                  </a:txBody>
                  <a:tcPr>
                    <a:solidFill>
                      <a:srgbClr val="FFFFFF"/>
                    </a:solidFill>
                  </a:tcPr>
                </a:tc>
                <a:tc>
                  <a:txBody>
                    <a:bodyPr/>
                    <a:lstStyle/>
                    <a:p>
                      <a:pPr algn="ctr"/>
                      <a:r>
                        <a:rPr sz="750" b="1" i="0">
                          <a:solidFill>
                            <a:srgbClr val="1B7F3A"/>
                          </a:solidFill>
                          <a:latin typeface="Arial"/>
                        </a:rPr>
                        <a:t>1</a:t>
                      </a:r>
                    </a:p>
                  </a:txBody>
                  <a:tcPr>
                    <a:solidFill>
                      <a:srgbClr val="FFFFFF"/>
                    </a:solidFill>
                  </a:tcPr>
                </a:tc>
                <a:tc>
                  <a:txBody>
                    <a:bodyPr/>
                    <a:lstStyle/>
                    <a:p>
                      <a:pPr algn="ctr"/>
                      <a:r>
                        <a:rPr sz="750" b="1" i="0">
                          <a:solidFill>
                            <a:srgbClr val="C00000"/>
                          </a:solidFill>
                          <a:latin typeface="Arial"/>
                        </a:rPr>
                        <a:t>2</a:t>
                      </a:r>
                    </a:p>
                  </a:txBody>
                  <a:tcPr>
                    <a:solidFill>
                      <a:srgbClr val="FFFFFF"/>
                    </a:solidFill>
                  </a:tcPr>
                </a:tc>
                <a:tc>
                  <a:txBody>
                    <a:bodyPr/>
                    <a:lstStyle/>
                    <a:p>
                      <a:pPr algn="ctr"/>
                      <a:r>
                        <a:rPr sz="750" b="0" i="0">
                          <a:solidFill>
                            <a:srgbClr val="262626"/>
                          </a:solidFill>
                          <a:latin typeface="Arial"/>
                        </a:rPr>
                        <a:t>254</a:t>
                      </a:r>
                    </a:p>
                  </a:txBody>
                  <a:tcPr>
                    <a:solidFill>
                      <a:srgbClr val="FFFFFF"/>
                    </a:solidFill>
                  </a:tcPr>
                </a:tc>
                <a:tc>
                  <a:txBody>
                    <a:bodyPr/>
                    <a:lstStyle/>
                    <a:p>
                      <a:pPr algn="ctr"/>
                      <a:r>
                        <a:rPr sz="750" b="1" i="0">
                          <a:solidFill>
                            <a:srgbClr val="262626"/>
                          </a:solidFill>
                          <a:latin typeface="Arial"/>
                        </a:rPr>
                        <a:t>3,059</a:t>
                      </a:r>
                    </a:p>
                  </a:txBody>
                  <a:tcPr>
                    <a:solidFill>
                      <a:srgbClr val="FFFFFF"/>
                    </a:solidFill>
                  </a:tcPr>
                </a:tc>
                <a:extLst>
                  <a:ext uri="{0D108BD9-81ED-4DB2-BD59-A6C34878D82A}">
                    <a16:rowId xmlns:a16="http://schemas.microsoft.com/office/drawing/2014/main" val="10003"/>
                  </a:ext>
                </a:extLst>
              </a:tr>
              <a:tr h="201168">
                <a:tc>
                  <a:txBody>
                    <a:bodyPr/>
                    <a:lstStyle/>
                    <a:p>
                      <a:pPr algn="ctr"/>
                      <a:r>
                        <a:rPr sz="750" b="1" i="0">
                          <a:solidFill>
                            <a:srgbClr val="262626"/>
                          </a:solidFill>
                          <a:latin typeface="Arial"/>
                        </a:rPr>
                        <a:t>32</a:t>
                      </a:r>
                    </a:p>
                  </a:txBody>
                  <a:tcPr>
                    <a:solidFill>
                      <a:srgbClr val="F2F2F2"/>
                    </a:solidFill>
                  </a:tcPr>
                </a:tc>
                <a:tc>
                  <a:txBody>
                    <a:bodyPr/>
                    <a:lstStyle/>
                    <a:p>
                      <a:pPr algn="l"/>
                      <a:r>
                        <a:rPr sz="750" b="0" i="0">
                          <a:solidFill>
                            <a:srgbClr val="262626"/>
                          </a:solidFill>
                          <a:latin typeface="Arial"/>
                        </a:rPr>
                        <a:t>Sullivan Middaugh</a:t>
                      </a:r>
                    </a:p>
                  </a:txBody>
                  <a:tcPr>
                    <a:solidFill>
                      <a:srgbClr val="F2F2F2"/>
                    </a:solidFill>
                  </a:tcPr>
                </a:tc>
                <a:tc>
                  <a:txBody>
                    <a:bodyPr/>
                    <a:lstStyle/>
                    <a:p>
                      <a:pPr algn="ctr"/>
                      <a:r>
                        <a:rPr sz="750" b="1" i="0">
                          <a:solidFill>
                            <a:srgbClr val="262626"/>
                          </a:solidFill>
                          <a:latin typeface="Arial"/>
                        </a:rPr>
                        <a:t>677</a:t>
                      </a:r>
                    </a:p>
                  </a:txBody>
                  <a:tcPr>
                    <a:solidFill>
                      <a:srgbClr val="F2F2F2"/>
                    </a:solidFill>
                  </a:tcPr>
                </a:tc>
                <a:tc>
                  <a:txBody>
                    <a:bodyPr/>
                    <a:lstStyle/>
                    <a:p>
                      <a:pPr algn="ctr"/>
                      <a:r>
                        <a:rPr sz="750" b="0" i="0">
                          <a:solidFill>
                            <a:srgbClr val="262626"/>
                          </a:solidFill>
                          <a:latin typeface="Arial"/>
                        </a:rPr>
                        <a:t>2</a:t>
                      </a:r>
                    </a:p>
                  </a:txBody>
                  <a:tcPr>
                    <a:solidFill>
                      <a:srgbClr val="F2F2F2"/>
                    </a:solidFill>
                  </a:tcPr>
                </a:tc>
                <a:tc>
                  <a:txBody>
                    <a:bodyPr/>
                    <a:lstStyle/>
                    <a:p>
                      <a:pPr algn="ctr"/>
                      <a:r>
                        <a:rPr sz="750" b="1" i="0">
                          <a:solidFill>
                            <a:srgbClr val="1B7F3A"/>
                          </a:solidFill>
                          <a:latin typeface="Arial"/>
                        </a:rPr>
                        <a:t>1</a:t>
                      </a:r>
                    </a:p>
                  </a:txBody>
                  <a:tcPr>
                    <a:solidFill>
                      <a:srgbClr val="F2F2F2"/>
                    </a:solidFill>
                  </a:tcPr>
                </a:tc>
                <a:tc>
                  <a:txBody>
                    <a:bodyPr/>
                    <a:lstStyle/>
                    <a:p>
                      <a:pPr algn="ctr"/>
                      <a:r>
                        <a:rPr sz="750" b="1" i="0">
                          <a:solidFill>
                            <a:srgbClr val="C00000"/>
                          </a:solidFill>
                          <a:latin typeface="Arial"/>
                        </a:rPr>
                        <a:t>1</a:t>
                      </a:r>
                    </a:p>
                  </a:txBody>
                  <a:tcPr>
                    <a:solidFill>
                      <a:srgbClr val="F2F2F2"/>
                    </a:solidFill>
                  </a:tcPr>
                </a:tc>
                <a:tc>
                  <a:txBody>
                    <a:bodyPr/>
                    <a:lstStyle/>
                    <a:p>
                      <a:pPr algn="ctr"/>
                      <a:r>
                        <a:rPr sz="750" b="0" i="0">
                          <a:solidFill>
                            <a:srgbClr val="262626"/>
                          </a:solidFill>
                          <a:latin typeface="Arial"/>
                        </a:rPr>
                        <a:t>338</a:t>
                      </a:r>
                    </a:p>
                  </a:txBody>
                  <a:tcPr>
                    <a:solidFill>
                      <a:srgbClr val="F2F2F2"/>
                    </a:solidFill>
                  </a:tcPr>
                </a:tc>
                <a:tc>
                  <a:txBody>
                    <a:bodyPr/>
                    <a:lstStyle/>
                    <a:p>
                      <a:pPr algn="ctr"/>
                      <a:r>
                        <a:rPr sz="750" b="1" i="0">
                          <a:solidFill>
                            <a:srgbClr val="1B7F3A"/>
                          </a:solidFill>
                          <a:latin typeface="Arial"/>
                        </a:rPr>
                        <a:t>4,063</a:t>
                      </a:r>
                    </a:p>
                  </a:txBody>
                  <a:tcPr>
                    <a:solidFill>
                      <a:srgbClr val="F2F2F2"/>
                    </a:solidFill>
                  </a:tcPr>
                </a:tc>
                <a:extLst>
                  <a:ext uri="{0D108BD9-81ED-4DB2-BD59-A6C34878D82A}">
                    <a16:rowId xmlns:a16="http://schemas.microsoft.com/office/drawing/2014/main" val="10004"/>
                  </a:ext>
                </a:extLst>
              </a:tr>
              <a:tr h="201168">
                <a:tc>
                  <a:txBody>
                    <a:bodyPr/>
                    <a:lstStyle/>
                    <a:p>
                      <a:pPr algn="ctr"/>
                      <a:r>
                        <a:rPr sz="750" b="1" i="0">
                          <a:solidFill>
                            <a:srgbClr val="262626"/>
                          </a:solidFill>
                          <a:latin typeface="Arial"/>
                        </a:rPr>
                        <a:t>38</a:t>
                      </a:r>
                    </a:p>
                  </a:txBody>
                  <a:tcPr>
                    <a:solidFill>
                      <a:srgbClr val="FFFFFF"/>
                    </a:solidFill>
                  </a:tcPr>
                </a:tc>
                <a:tc>
                  <a:txBody>
                    <a:bodyPr/>
                    <a:lstStyle/>
                    <a:p>
                      <a:pPr algn="l"/>
                      <a:r>
                        <a:rPr sz="750" b="0" i="0">
                          <a:solidFill>
                            <a:srgbClr val="262626"/>
                          </a:solidFill>
                          <a:latin typeface="Arial"/>
                        </a:rPr>
                        <a:t>John Reed</a:t>
                      </a:r>
                    </a:p>
                  </a:txBody>
                  <a:tcPr>
                    <a:solidFill>
                      <a:srgbClr val="FFFFFF"/>
                    </a:solidFill>
                  </a:tcPr>
                </a:tc>
                <a:tc>
                  <a:txBody>
                    <a:bodyPr/>
                    <a:lstStyle/>
                    <a:p>
                      <a:pPr algn="ctr"/>
                      <a:r>
                        <a:rPr sz="750" b="1" i="0">
                          <a:solidFill>
                            <a:srgbClr val="262626"/>
                          </a:solidFill>
                          <a:latin typeface="Arial"/>
                        </a:rPr>
                        <a:t>599</a:t>
                      </a:r>
                    </a:p>
                  </a:txBody>
                  <a:tcPr>
                    <a:solidFill>
                      <a:srgbClr val="FFFFFF"/>
                    </a:solidFill>
                  </a:tcPr>
                </a:tc>
                <a:tc>
                  <a:txBody>
                    <a:bodyPr/>
                    <a:lstStyle/>
                    <a:p>
                      <a:pPr algn="ctr"/>
                      <a:r>
                        <a:rPr sz="750" b="0" i="0">
                          <a:solidFill>
                            <a:srgbClr val="262626"/>
                          </a:solidFill>
                          <a:latin typeface="Arial"/>
                        </a:rPr>
                        <a:t>2</a:t>
                      </a:r>
                    </a:p>
                  </a:txBody>
                  <a:tcPr>
                    <a:solidFill>
                      <a:srgbClr val="FFFFFF"/>
                    </a:solidFill>
                  </a:tcPr>
                </a:tc>
                <a:tc>
                  <a:txBody>
                    <a:bodyPr/>
                    <a:lstStyle/>
                    <a:p>
                      <a:pPr algn="ctr"/>
                      <a:r>
                        <a:rPr sz="750" b="1" i="0">
                          <a:solidFill>
                            <a:srgbClr val="1B7F3A"/>
                          </a:solidFill>
                          <a:latin typeface="Arial"/>
                        </a:rPr>
                        <a:t>1</a:t>
                      </a:r>
                    </a:p>
                  </a:txBody>
                  <a:tcPr>
                    <a:solidFill>
                      <a:srgbClr val="FFFFFF"/>
                    </a:solidFill>
                  </a:tcPr>
                </a:tc>
                <a:tc>
                  <a:txBody>
                    <a:bodyPr/>
                    <a:lstStyle/>
                    <a:p>
                      <a:pPr algn="ctr"/>
                      <a:r>
                        <a:rPr sz="750" b="1" i="0">
                          <a:solidFill>
                            <a:srgbClr val="C00000"/>
                          </a:solidFill>
                          <a:latin typeface="Arial"/>
                        </a:rPr>
                        <a:t>1</a:t>
                      </a:r>
                    </a:p>
                  </a:txBody>
                  <a:tcPr>
                    <a:solidFill>
                      <a:srgbClr val="FFFFFF"/>
                    </a:solidFill>
                  </a:tcPr>
                </a:tc>
                <a:tc>
                  <a:txBody>
                    <a:bodyPr/>
                    <a:lstStyle/>
                    <a:p>
                      <a:pPr algn="ctr"/>
                      <a:r>
                        <a:rPr sz="750" b="0" i="0">
                          <a:solidFill>
                            <a:srgbClr val="262626"/>
                          </a:solidFill>
                          <a:latin typeface="Arial"/>
                        </a:rPr>
                        <a:t>299</a:t>
                      </a:r>
                    </a:p>
                  </a:txBody>
                  <a:tcPr>
                    <a:solidFill>
                      <a:srgbClr val="FFFFFF"/>
                    </a:solidFill>
                  </a:tcPr>
                </a:tc>
                <a:tc>
                  <a:txBody>
                    <a:bodyPr/>
                    <a:lstStyle/>
                    <a:p>
                      <a:pPr algn="ctr"/>
                      <a:r>
                        <a:rPr sz="750" b="1" i="0">
                          <a:solidFill>
                            <a:srgbClr val="262626"/>
                          </a:solidFill>
                          <a:latin typeface="Arial"/>
                        </a:rPr>
                        <a:t>3,598</a:t>
                      </a:r>
                    </a:p>
                  </a:txBody>
                  <a:tcPr>
                    <a:solidFill>
                      <a:srgbClr val="FFFFFF"/>
                    </a:solidFill>
                  </a:tcPr>
                </a:tc>
                <a:extLst>
                  <a:ext uri="{0D108BD9-81ED-4DB2-BD59-A6C34878D82A}">
                    <a16:rowId xmlns:a16="http://schemas.microsoft.com/office/drawing/2014/main" val="10005"/>
                  </a:ext>
                </a:extLst>
              </a:tr>
              <a:tr h="201168">
                <a:tc>
                  <a:txBody>
                    <a:bodyPr/>
                    <a:lstStyle/>
                    <a:p>
                      <a:pPr algn="ctr"/>
                      <a:r>
                        <a:rPr sz="750" b="1" i="0">
                          <a:solidFill>
                            <a:srgbClr val="262626"/>
                          </a:solidFill>
                          <a:latin typeface="Arial"/>
                        </a:rPr>
                        <a:t>43</a:t>
                      </a:r>
                    </a:p>
                  </a:txBody>
                  <a:tcPr>
                    <a:solidFill>
                      <a:srgbClr val="F2F2F2"/>
                    </a:solidFill>
                  </a:tcPr>
                </a:tc>
                <a:tc>
                  <a:txBody>
                    <a:bodyPr/>
                    <a:lstStyle/>
                    <a:p>
                      <a:pPr algn="l"/>
                      <a:r>
                        <a:rPr sz="750" b="0" i="0">
                          <a:solidFill>
                            <a:srgbClr val="262626"/>
                          </a:solidFill>
                          <a:latin typeface="Arial"/>
                        </a:rPr>
                        <a:t>Braxton Legg</a:t>
                      </a:r>
                    </a:p>
                  </a:txBody>
                  <a:tcPr>
                    <a:solidFill>
                      <a:srgbClr val="F2F2F2"/>
                    </a:solidFill>
                  </a:tcPr>
                </a:tc>
                <a:tc>
                  <a:txBody>
                    <a:bodyPr/>
                    <a:lstStyle/>
                    <a:p>
                      <a:pPr algn="ctr"/>
                      <a:r>
                        <a:rPr sz="750" b="1" i="0">
                          <a:solidFill>
                            <a:srgbClr val="262626"/>
                          </a:solidFill>
                          <a:latin typeface="Arial"/>
                        </a:rPr>
                        <a:t>564</a:t>
                      </a:r>
                    </a:p>
                  </a:txBody>
                  <a:tcPr>
                    <a:solidFill>
                      <a:srgbClr val="F2F2F2"/>
                    </a:solidFill>
                  </a:tcPr>
                </a:tc>
                <a:tc>
                  <a:txBody>
                    <a:bodyPr/>
                    <a:lstStyle/>
                    <a:p>
                      <a:pPr algn="ctr"/>
                      <a:r>
                        <a:rPr sz="750" b="0" i="0">
                          <a:solidFill>
                            <a:srgbClr val="262626"/>
                          </a:solidFill>
                          <a:latin typeface="Arial"/>
                        </a:rPr>
                        <a:t>2</a:t>
                      </a:r>
                    </a:p>
                  </a:txBody>
                  <a:tcPr>
                    <a:solidFill>
                      <a:srgbClr val="F2F2F2"/>
                    </a:solidFill>
                  </a:tcPr>
                </a:tc>
                <a:tc>
                  <a:txBody>
                    <a:bodyPr/>
                    <a:lstStyle/>
                    <a:p>
                      <a:pPr algn="ctr"/>
                      <a:r>
                        <a:rPr sz="750" b="1" i="0">
                          <a:solidFill>
                            <a:srgbClr val="1B7F3A"/>
                          </a:solidFill>
                          <a:latin typeface="Arial"/>
                        </a:rPr>
                        <a:t>1</a:t>
                      </a:r>
                    </a:p>
                  </a:txBody>
                  <a:tcPr>
                    <a:solidFill>
                      <a:srgbClr val="F2F2F2"/>
                    </a:solidFill>
                  </a:tcPr>
                </a:tc>
                <a:tc>
                  <a:txBody>
                    <a:bodyPr/>
                    <a:lstStyle/>
                    <a:p>
                      <a:pPr algn="ctr"/>
                      <a:r>
                        <a:rPr sz="750" b="1" i="0">
                          <a:solidFill>
                            <a:srgbClr val="C00000"/>
                          </a:solidFill>
                          <a:latin typeface="Arial"/>
                        </a:rPr>
                        <a:t>1</a:t>
                      </a:r>
                    </a:p>
                  </a:txBody>
                  <a:tcPr>
                    <a:solidFill>
                      <a:srgbClr val="F2F2F2"/>
                    </a:solidFill>
                  </a:tcPr>
                </a:tc>
                <a:tc>
                  <a:txBody>
                    <a:bodyPr/>
                    <a:lstStyle/>
                    <a:p>
                      <a:pPr algn="ctr"/>
                      <a:r>
                        <a:rPr sz="750" b="0" i="0">
                          <a:solidFill>
                            <a:srgbClr val="262626"/>
                          </a:solidFill>
                          <a:latin typeface="Arial"/>
                        </a:rPr>
                        <a:t>282</a:t>
                      </a:r>
                    </a:p>
                  </a:txBody>
                  <a:tcPr>
                    <a:solidFill>
                      <a:srgbClr val="F2F2F2"/>
                    </a:solidFill>
                  </a:tcPr>
                </a:tc>
                <a:tc>
                  <a:txBody>
                    <a:bodyPr/>
                    <a:lstStyle/>
                    <a:p>
                      <a:pPr algn="ctr"/>
                      <a:r>
                        <a:rPr sz="750" b="1" i="0">
                          <a:solidFill>
                            <a:srgbClr val="262626"/>
                          </a:solidFill>
                          <a:latin typeface="Arial"/>
                        </a:rPr>
                        <a:t>3,384</a:t>
                      </a:r>
                    </a:p>
                  </a:txBody>
                  <a:tcPr>
                    <a:solidFill>
                      <a:srgbClr val="F2F2F2"/>
                    </a:solidFill>
                  </a:tcPr>
                </a:tc>
                <a:extLst>
                  <a:ext uri="{0D108BD9-81ED-4DB2-BD59-A6C34878D82A}">
                    <a16:rowId xmlns:a16="http://schemas.microsoft.com/office/drawing/2014/main" val="10006"/>
                  </a:ext>
                </a:extLst>
              </a:tr>
              <a:tr h="201168">
                <a:tc>
                  <a:txBody>
                    <a:bodyPr/>
                    <a:lstStyle/>
                    <a:p>
                      <a:pPr algn="ctr"/>
                      <a:r>
                        <a:rPr sz="750" b="1" i="0">
                          <a:solidFill>
                            <a:srgbClr val="262626"/>
                          </a:solidFill>
                          <a:latin typeface="Arial"/>
                        </a:rPr>
                        <a:t>46</a:t>
                      </a:r>
                    </a:p>
                  </a:txBody>
                  <a:tcPr>
                    <a:solidFill>
                      <a:srgbClr val="FFFFFF"/>
                    </a:solidFill>
                  </a:tcPr>
                </a:tc>
                <a:tc>
                  <a:txBody>
                    <a:bodyPr/>
                    <a:lstStyle/>
                    <a:p>
                      <a:pPr algn="l"/>
                      <a:r>
                        <a:rPr sz="750" b="0" i="0">
                          <a:solidFill>
                            <a:srgbClr val="262626"/>
                          </a:solidFill>
                          <a:latin typeface="Arial"/>
                        </a:rPr>
                        <a:t>Keller Norland</a:t>
                      </a:r>
                    </a:p>
                  </a:txBody>
                  <a:tcPr>
                    <a:solidFill>
                      <a:srgbClr val="FFFFFF"/>
                    </a:solidFill>
                  </a:tcPr>
                </a:tc>
                <a:tc>
                  <a:txBody>
                    <a:bodyPr/>
                    <a:lstStyle/>
                    <a:p>
                      <a:pPr algn="ctr"/>
                      <a:r>
                        <a:rPr sz="750" b="1" i="0">
                          <a:solidFill>
                            <a:srgbClr val="262626"/>
                          </a:solidFill>
                          <a:latin typeface="Arial"/>
                        </a:rPr>
                        <a:t>519</a:t>
                      </a:r>
                    </a:p>
                  </a:txBody>
                  <a:tcPr>
                    <a:solidFill>
                      <a:srgbClr val="FFFFFF"/>
                    </a:solidFill>
                  </a:tcPr>
                </a:tc>
                <a:tc>
                  <a:txBody>
                    <a:bodyPr/>
                    <a:lstStyle/>
                    <a:p>
                      <a:pPr algn="ctr"/>
                      <a:r>
                        <a:rPr sz="750" b="0" i="0">
                          <a:solidFill>
                            <a:srgbClr val="262626"/>
                          </a:solidFill>
                          <a:latin typeface="Arial"/>
                        </a:rPr>
                        <a:t>1</a:t>
                      </a:r>
                    </a:p>
                  </a:txBody>
                  <a:tcPr>
                    <a:solidFill>
                      <a:srgbClr val="FFFFFF"/>
                    </a:solidFill>
                  </a:tcPr>
                </a:tc>
                <a:tc>
                  <a:txBody>
                    <a:bodyPr/>
                    <a:lstStyle/>
                    <a:p>
                      <a:pPr algn="ctr"/>
                      <a:r>
                        <a:rPr sz="750" b="1" i="0">
                          <a:solidFill>
                            <a:srgbClr val="1B7F3A"/>
                          </a:solidFill>
                          <a:latin typeface="Arial"/>
                        </a:rPr>
                        <a:t>1</a:t>
                      </a:r>
                    </a:p>
                  </a:txBody>
                  <a:tcPr>
                    <a:solidFill>
                      <a:srgbClr val="FFFFFF"/>
                    </a:solidFill>
                  </a:tcPr>
                </a:tc>
                <a:tc>
                  <a:txBody>
                    <a:bodyPr/>
                    <a:lstStyle/>
                    <a:p>
                      <a:pPr algn="ctr"/>
                      <a:r>
                        <a:rPr sz="750" b="1" i="0">
                          <a:solidFill>
                            <a:srgbClr val="C00000"/>
                          </a:solidFill>
                          <a:latin typeface="Arial"/>
                        </a:rPr>
                        <a:t>0</a:t>
                      </a:r>
                    </a:p>
                  </a:txBody>
                  <a:tcPr>
                    <a:solidFill>
                      <a:srgbClr val="FFFFFF"/>
                    </a:solidFill>
                  </a:tcPr>
                </a:tc>
                <a:tc>
                  <a:txBody>
                    <a:bodyPr/>
                    <a:lstStyle/>
                    <a:p>
                      <a:pPr algn="ctr"/>
                      <a:r>
                        <a:rPr sz="750" b="0" i="0">
                          <a:solidFill>
                            <a:srgbClr val="262626"/>
                          </a:solidFill>
                          <a:latin typeface="Arial"/>
                        </a:rPr>
                        <a:t>519</a:t>
                      </a:r>
                    </a:p>
                  </a:txBody>
                  <a:tcPr>
                    <a:solidFill>
                      <a:srgbClr val="FFFFFF"/>
                    </a:solidFill>
                  </a:tcPr>
                </a:tc>
                <a:tc>
                  <a:txBody>
                    <a:bodyPr/>
                    <a:lstStyle/>
                    <a:p>
                      <a:pPr algn="ctr"/>
                      <a:r>
                        <a:rPr sz="750" b="1" i="0">
                          <a:solidFill>
                            <a:srgbClr val="1B7F3A"/>
                          </a:solidFill>
                          <a:latin typeface="Arial"/>
                        </a:rPr>
                        <a:t>6,234</a:t>
                      </a:r>
                    </a:p>
                  </a:txBody>
                  <a:tcPr>
                    <a:solidFill>
                      <a:srgbClr val="FFFFFF"/>
                    </a:solidFill>
                  </a:tcPr>
                </a:tc>
                <a:extLst>
                  <a:ext uri="{0D108BD9-81ED-4DB2-BD59-A6C34878D82A}">
                    <a16:rowId xmlns:a16="http://schemas.microsoft.com/office/drawing/2014/main" val="10007"/>
                  </a:ext>
                </a:extLst>
              </a:tr>
              <a:tr h="201168">
                <a:tc>
                  <a:txBody>
                    <a:bodyPr/>
                    <a:lstStyle/>
                    <a:p>
                      <a:pPr algn="ctr"/>
                      <a:r>
                        <a:rPr sz="750" b="1" i="0">
                          <a:solidFill>
                            <a:srgbClr val="262626"/>
                          </a:solidFill>
                          <a:latin typeface="Arial"/>
                        </a:rPr>
                        <a:t>50</a:t>
                      </a:r>
                    </a:p>
                  </a:txBody>
                  <a:tcPr>
                    <a:solidFill>
                      <a:srgbClr val="F2F2F2"/>
                    </a:solidFill>
                  </a:tcPr>
                </a:tc>
                <a:tc>
                  <a:txBody>
                    <a:bodyPr/>
                    <a:lstStyle/>
                    <a:p>
                      <a:pPr algn="l"/>
                      <a:r>
                        <a:rPr sz="750" b="0" i="0">
                          <a:solidFill>
                            <a:srgbClr val="262626"/>
                          </a:solidFill>
                          <a:latin typeface="Arial"/>
                        </a:rPr>
                        <a:t>Blake Bullard</a:t>
                      </a:r>
                    </a:p>
                  </a:txBody>
                  <a:tcPr>
                    <a:solidFill>
                      <a:srgbClr val="F2F2F2"/>
                    </a:solidFill>
                  </a:tcPr>
                </a:tc>
                <a:tc>
                  <a:txBody>
                    <a:bodyPr/>
                    <a:lstStyle/>
                    <a:p>
                      <a:pPr algn="ctr"/>
                      <a:r>
                        <a:rPr sz="750" b="1" i="0">
                          <a:solidFill>
                            <a:srgbClr val="262626"/>
                          </a:solidFill>
                          <a:latin typeface="Arial"/>
                        </a:rPr>
                        <a:t>436</a:t>
                      </a:r>
                    </a:p>
                  </a:txBody>
                  <a:tcPr>
                    <a:solidFill>
                      <a:srgbClr val="F2F2F2"/>
                    </a:solidFill>
                  </a:tcPr>
                </a:tc>
                <a:tc>
                  <a:txBody>
                    <a:bodyPr/>
                    <a:lstStyle/>
                    <a:p>
                      <a:pPr algn="ctr"/>
                      <a:r>
                        <a:rPr sz="750" b="0" i="0">
                          <a:solidFill>
                            <a:srgbClr val="262626"/>
                          </a:solidFill>
                          <a:latin typeface="Arial"/>
                        </a:rPr>
                        <a:t>2</a:t>
                      </a:r>
                    </a:p>
                  </a:txBody>
                  <a:tcPr>
                    <a:solidFill>
                      <a:srgbClr val="F2F2F2"/>
                    </a:solidFill>
                  </a:tcPr>
                </a:tc>
                <a:tc>
                  <a:txBody>
                    <a:bodyPr/>
                    <a:lstStyle/>
                    <a:p>
                      <a:pPr algn="ctr"/>
                      <a:r>
                        <a:rPr sz="750" b="1" i="0">
                          <a:solidFill>
                            <a:srgbClr val="1B7F3A"/>
                          </a:solidFill>
                          <a:latin typeface="Arial"/>
                        </a:rPr>
                        <a:t>0</a:t>
                      </a:r>
                    </a:p>
                  </a:txBody>
                  <a:tcPr>
                    <a:solidFill>
                      <a:srgbClr val="F2F2F2"/>
                    </a:solidFill>
                  </a:tcPr>
                </a:tc>
                <a:tc>
                  <a:txBody>
                    <a:bodyPr/>
                    <a:lstStyle/>
                    <a:p>
                      <a:pPr algn="ctr"/>
                      <a:r>
                        <a:rPr sz="750" b="1" i="0">
                          <a:solidFill>
                            <a:srgbClr val="C00000"/>
                          </a:solidFill>
                          <a:latin typeface="Arial"/>
                        </a:rPr>
                        <a:t>2</a:t>
                      </a:r>
                    </a:p>
                  </a:txBody>
                  <a:tcPr>
                    <a:solidFill>
                      <a:srgbClr val="F2F2F2"/>
                    </a:solidFill>
                  </a:tcPr>
                </a:tc>
                <a:tc>
                  <a:txBody>
                    <a:bodyPr/>
                    <a:lstStyle/>
                    <a:p>
                      <a:pPr algn="ctr"/>
                      <a:r>
                        <a:rPr sz="750" b="0" i="0">
                          <a:solidFill>
                            <a:srgbClr val="262626"/>
                          </a:solidFill>
                          <a:latin typeface="Arial"/>
                        </a:rPr>
                        <a:t>218</a:t>
                      </a:r>
                    </a:p>
                  </a:txBody>
                  <a:tcPr>
                    <a:solidFill>
                      <a:srgbClr val="F2F2F2"/>
                    </a:solidFill>
                  </a:tcPr>
                </a:tc>
                <a:tc>
                  <a:txBody>
                    <a:bodyPr/>
                    <a:lstStyle/>
                    <a:p>
                      <a:pPr algn="ctr"/>
                      <a:r>
                        <a:rPr sz="750" b="1" i="0">
                          <a:solidFill>
                            <a:srgbClr val="262626"/>
                          </a:solidFill>
                          <a:latin typeface="Arial"/>
                        </a:rPr>
                        <a:t>2,621</a:t>
                      </a:r>
                    </a:p>
                  </a:txBody>
                  <a:tcPr>
                    <a:solidFill>
                      <a:srgbClr val="F2F2F2"/>
                    </a:solidFill>
                  </a:tcPr>
                </a:tc>
                <a:extLst>
                  <a:ext uri="{0D108BD9-81ED-4DB2-BD59-A6C34878D82A}">
                    <a16:rowId xmlns:a16="http://schemas.microsoft.com/office/drawing/2014/main" val="10008"/>
                  </a:ext>
                </a:extLst>
              </a:tr>
              <a:tr h="201168">
                <a:tc>
                  <a:txBody>
                    <a:bodyPr/>
                    <a:lstStyle/>
                    <a:p>
                      <a:pPr algn="ctr"/>
                      <a:r>
                        <a:rPr sz="750" b="1" i="0">
                          <a:solidFill>
                            <a:srgbClr val="262626"/>
                          </a:solidFill>
                          <a:latin typeface="Arial"/>
                        </a:rPr>
                        <a:t>82</a:t>
                      </a:r>
                    </a:p>
                  </a:txBody>
                  <a:tcPr>
                    <a:solidFill>
                      <a:srgbClr val="FFFFFF"/>
                    </a:solidFill>
                  </a:tcPr>
                </a:tc>
                <a:tc>
                  <a:txBody>
                    <a:bodyPr/>
                    <a:lstStyle/>
                    <a:p>
                      <a:pPr algn="l"/>
                      <a:r>
                        <a:rPr sz="750" b="0" i="0">
                          <a:solidFill>
                            <a:srgbClr val="262626"/>
                          </a:solidFill>
                          <a:latin typeface="Arial"/>
                        </a:rPr>
                        <a:t>Zach Leachman</a:t>
                      </a:r>
                    </a:p>
                  </a:txBody>
                  <a:tcPr>
                    <a:solidFill>
                      <a:srgbClr val="FFFFFF"/>
                    </a:solidFill>
                  </a:tcPr>
                </a:tc>
                <a:tc>
                  <a:txBody>
                    <a:bodyPr/>
                    <a:lstStyle/>
                    <a:p>
                      <a:pPr algn="ctr"/>
                      <a:r>
                        <a:rPr sz="750" b="1" i="0">
                          <a:solidFill>
                            <a:srgbClr val="262626"/>
                          </a:solidFill>
                          <a:latin typeface="Arial"/>
                        </a:rPr>
                        <a:t>212</a:t>
                      </a:r>
                    </a:p>
                  </a:txBody>
                  <a:tcPr>
                    <a:solidFill>
                      <a:srgbClr val="FFFFFF"/>
                    </a:solidFill>
                  </a:tcPr>
                </a:tc>
                <a:tc>
                  <a:txBody>
                    <a:bodyPr/>
                    <a:lstStyle/>
                    <a:p>
                      <a:pPr algn="ctr"/>
                      <a:r>
                        <a:rPr sz="750" b="0" i="0">
                          <a:solidFill>
                            <a:srgbClr val="262626"/>
                          </a:solidFill>
                          <a:latin typeface="Arial"/>
                        </a:rPr>
                        <a:t>1</a:t>
                      </a:r>
                    </a:p>
                  </a:txBody>
                  <a:tcPr>
                    <a:solidFill>
                      <a:srgbClr val="FFFFFF"/>
                    </a:solidFill>
                  </a:tcPr>
                </a:tc>
                <a:tc>
                  <a:txBody>
                    <a:bodyPr/>
                    <a:lstStyle/>
                    <a:p>
                      <a:pPr algn="ctr"/>
                      <a:r>
                        <a:rPr sz="750" b="1" i="0">
                          <a:solidFill>
                            <a:srgbClr val="1B7F3A"/>
                          </a:solidFill>
                          <a:latin typeface="Arial"/>
                        </a:rPr>
                        <a:t>0</a:t>
                      </a:r>
                    </a:p>
                  </a:txBody>
                  <a:tcPr>
                    <a:solidFill>
                      <a:srgbClr val="FFFFFF"/>
                    </a:solidFill>
                  </a:tcPr>
                </a:tc>
                <a:tc>
                  <a:txBody>
                    <a:bodyPr/>
                    <a:lstStyle/>
                    <a:p>
                      <a:pPr algn="ctr"/>
                      <a:r>
                        <a:rPr sz="750" b="1" i="0">
                          <a:solidFill>
                            <a:srgbClr val="C00000"/>
                          </a:solidFill>
                          <a:latin typeface="Arial"/>
                        </a:rPr>
                        <a:t>1</a:t>
                      </a:r>
                    </a:p>
                  </a:txBody>
                  <a:tcPr>
                    <a:solidFill>
                      <a:srgbClr val="FFFFFF"/>
                    </a:solidFill>
                  </a:tcPr>
                </a:tc>
                <a:tc>
                  <a:txBody>
                    <a:bodyPr/>
                    <a:lstStyle/>
                    <a:p>
                      <a:pPr algn="ctr"/>
                      <a:r>
                        <a:rPr sz="750" b="0" i="0">
                          <a:solidFill>
                            <a:srgbClr val="262626"/>
                          </a:solidFill>
                          <a:latin typeface="Arial"/>
                        </a:rPr>
                        <a:t>212</a:t>
                      </a:r>
                    </a:p>
                  </a:txBody>
                  <a:tcPr>
                    <a:solidFill>
                      <a:srgbClr val="FFFFFF"/>
                    </a:solidFill>
                  </a:tcPr>
                </a:tc>
                <a:tc>
                  <a:txBody>
                    <a:bodyPr/>
                    <a:lstStyle/>
                    <a:p>
                      <a:pPr algn="ctr"/>
                      <a:r>
                        <a:rPr sz="750" b="1" i="0">
                          <a:solidFill>
                            <a:srgbClr val="262626"/>
                          </a:solidFill>
                          <a:latin typeface="Arial"/>
                        </a:rPr>
                        <a:t>2,545</a:t>
                      </a:r>
                    </a:p>
                  </a:txBody>
                  <a:tcPr>
                    <a:solidFill>
                      <a:srgbClr val="FFFFFF"/>
                    </a:solidFill>
                  </a:tcPr>
                </a:tc>
                <a:extLst>
                  <a:ext uri="{0D108BD9-81ED-4DB2-BD59-A6C34878D82A}">
                    <a16:rowId xmlns:a16="http://schemas.microsoft.com/office/drawing/2014/main" val="10009"/>
                  </a:ext>
                </a:extLst>
              </a:tr>
              <a:tr h="201168">
                <a:tc>
                  <a:txBody>
                    <a:bodyPr/>
                    <a:lstStyle/>
                    <a:p>
                      <a:pPr algn="ctr"/>
                      <a:r>
                        <a:rPr sz="750" b="1" i="0">
                          <a:solidFill>
                            <a:srgbClr val="262626"/>
                          </a:solidFill>
                          <a:latin typeface="Arial"/>
                        </a:rPr>
                        <a:t>93</a:t>
                      </a:r>
                    </a:p>
                  </a:txBody>
                  <a:tcPr>
                    <a:solidFill>
                      <a:srgbClr val="F2F2F2"/>
                    </a:solidFill>
                  </a:tcPr>
                </a:tc>
                <a:tc>
                  <a:txBody>
                    <a:bodyPr/>
                    <a:lstStyle/>
                    <a:p>
                      <a:pPr algn="l"/>
                      <a:r>
                        <a:rPr sz="750" b="0" i="0">
                          <a:solidFill>
                            <a:srgbClr val="262626"/>
                          </a:solidFill>
                          <a:latin typeface="Arial"/>
                        </a:rPr>
                        <a:t>Cole Jamieson </a:t>
                      </a:r>
                    </a:p>
                  </a:txBody>
                  <a:tcPr>
                    <a:solidFill>
                      <a:srgbClr val="F2F2F2"/>
                    </a:solidFill>
                  </a:tcPr>
                </a:tc>
                <a:tc>
                  <a:txBody>
                    <a:bodyPr/>
                    <a:lstStyle/>
                    <a:p>
                      <a:pPr algn="ctr"/>
                      <a:r>
                        <a:rPr sz="750" b="1" i="0">
                          <a:solidFill>
                            <a:srgbClr val="262626"/>
                          </a:solidFill>
                          <a:latin typeface="Arial"/>
                        </a:rPr>
                        <a:t>169</a:t>
                      </a:r>
                    </a:p>
                  </a:txBody>
                  <a:tcPr>
                    <a:solidFill>
                      <a:srgbClr val="F2F2F2"/>
                    </a:solidFill>
                  </a:tcPr>
                </a:tc>
                <a:tc>
                  <a:txBody>
                    <a:bodyPr/>
                    <a:lstStyle/>
                    <a:p>
                      <a:pPr algn="ctr"/>
                      <a:r>
                        <a:rPr sz="750" b="0" i="0">
                          <a:solidFill>
                            <a:srgbClr val="262626"/>
                          </a:solidFill>
                          <a:latin typeface="Arial"/>
                        </a:rPr>
                        <a:t>1</a:t>
                      </a:r>
                    </a:p>
                  </a:txBody>
                  <a:tcPr>
                    <a:solidFill>
                      <a:srgbClr val="F2F2F2"/>
                    </a:solidFill>
                  </a:tcPr>
                </a:tc>
                <a:tc>
                  <a:txBody>
                    <a:bodyPr/>
                    <a:lstStyle/>
                    <a:p>
                      <a:pPr algn="ctr"/>
                      <a:r>
                        <a:rPr sz="750" b="1" i="0">
                          <a:solidFill>
                            <a:srgbClr val="1B7F3A"/>
                          </a:solidFill>
                          <a:latin typeface="Arial"/>
                        </a:rPr>
                        <a:t>0</a:t>
                      </a:r>
                    </a:p>
                  </a:txBody>
                  <a:tcPr>
                    <a:solidFill>
                      <a:srgbClr val="F2F2F2"/>
                    </a:solidFill>
                  </a:tcPr>
                </a:tc>
                <a:tc>
                  <a:txBody>
                    <a:bodyPr/>
                    <a:lstStyle/>
                    <a:p>
                      <a:pPr algn="ctr"/>
                      <a:r>
                        <a:rPr sz="750" b="1" i="0">
                          <a:solidFill>
                            <a:srgbClr val="C00000"/>
                          </a:solidFill>
                          <a:latin typeface="Arial"/>
                        </a:rPr>
                        <a:t>1</a:t>
                      </a:r>
                    </a:p>
                  </a:txBody>
                  <a:tcPr>
                    <a:solidFill>
                      <a:srgbClr val="F2F2F2"/>
                    </a:solidFill>
                  </a:tcPr>
                </a:tc>
                <a:tc>
                  <a:txBody>
                    <a:bodyPr/>
                    <a:lstStyle/>
                    <a:p>
                      <a:pPr algn="ctr"/>
                      <a:r>
                        <a:rPr sz="750" b="0" i="0">
                          <a:solidFill>
                            <a:srgbClr val="262626"/>
                          </a:solidFill>
                          <a:latin typeface="Arial"/>
                        </a:rPr>
                        <a:t>169</a:t>
                      </a:r>
                    </a:p>
                  </a:txBody>
                  <a:tcPr>
                    <a:solidFill>
                      <a:srgbClr val="F2F2F2"/>
                    </a:solidFill>
                  </a:tcPr>
                </a:tc>
                <a:tc>
                  <a:txBody>
                    <a:bodyPr/>
                    <a:lstStyle/>
                    <a:p>
                      <a:pPr algn="ctr"/>
                      <a:r>
                        <a:rPr sz="750" b="1" i="0">
                          <a:solidFill>
                            <a:srgbClr val="262626"/>
                          </a:solidFill>
                          <a:latin typeface="Arial"/>
                        </a:rPr>
                        <a:t>2,038</a:t>
                      </a:r>
                    </a:p>
                  </a:txBody>
                  <a:tcPr>
                    <a:solidFill>
                      <a:srgbClr val="F2F2F2"/>
                    </a:solidFill>
                  </a:tcPr>
                </a:tc>
                <a:extLst>
                  <a:ext uri="{0D108BD9-81ED-4DB2-BD59-A6C34878D82A}">
                    <a16:rowId xmlns:a16="http://schemas.microsoft.com/office/drawing/2014/main" val="10010"/>
                  </a:ext>
                </a:extLst>
              </a:tr>
              <a:tr h="201168">
                <a:tc>
                  <a:txBody>
                    <a:bodyPr/>
                    <a:lstStyle/>
                    <a:p>
                      <a:pPr algn="ctr"/>
                      <a:r>
                        <a:rPr sz="750" b="1" i="0">
                          <a:solidFill>
                            <a:srgbClr val="262626"/>
                          </a:solidFill>
                          <a:latin typeface="Arial"/>
                        </a:rPr>
                        <a:t>110</a:t>
                      </a:r>
                    </a:p>
                  </a:txBody>
                  <a:tcPr>
                    <a:solidFill>
                      <a:srgbClr val="FFFFFF"/>
                    </a:solidFill>
                  </a:tcPr>
                </a:tc>
                <a:tc>
                  <a:txBody>
                    <a:bodyPr/>
                    <a:lstStyle/>
                    <a:p>
                      <a:pPr algn="l"/>
                      <a:r>
                        <a:rPr sz="750" b="0" i="0">
                          <a:solidFill>
                            <a:srgbClr val="262626"/>
                          </a:solidFill>
                          <a:latin typeface="Arial"/>
                        </a:rPr>
                        <a:t>Porter Middaugh</a:t>
                      </a:r>
                    </a:p>
                  </a:txBody>
                  <a:tcPr>
                    <a:solidFill>
                      <a:srgbClr val="FFFFFF"/>
                    </a:solidFill>
                  </a:tcPr>
                </a:tc>
                <a:tc>
                  <a:txBody>
                    <a:bodyPr/>
                    <a:lstStyle/>
                    <a:p>
                      <a:pPr algn="ctr"/>
                      <a:r>
                        <a:rPr sz="750" b="1" i="0">
                          <a:solidFill>
                            <a:srgbClr val="262626"/>
                          </a:solidFill>
                          <a:latin typeface="Arial"/>
                        </a:rPr>
                        <a:t>115</a:t>
                      </a:r>
                    </a:p>
                  </a:txBody>
                  <a:tcPr>
                    <a:solidFill>
                      <a:srgbClr val="FFFFFF"/>
                    </a:solidFill>
                  </a:tcPr>
                </a:tc>
                <a:tc>
                  <a:txBody>
                    <a:bodyPr/>
                    <a:lstStyle/>
                    <a:p>
                      <a:pPr algn="ctr"/>
                      <a:r>
                        <a:rPr sz="750" b="0" i="0">
                          <a:solidFill>
                            <a:srgbClr val="262626"/>
                          </a:solidFill>
                          <a:latin typeface="Arial"/>
                        </a:rPr>
                        <a:t>1</a:t>
                      </a:r>
                    </a:p>
                  </a:txBody>
                  <a:tcPr>
                    <a:solidFill>
                      <a:srgbClr val="FFFFFF"/>
                    </a:solidFill>
                  </a:tcPr>
                </a:tc>
                <a:tc>
                  <a:txBody>
                    <a:bodyPr/>
                    <a:lstStyle/>
                    <a:p>
                      <a:pPr algn="ctr"/>
                      <a:r>
                        <a:rPr sz="750" b="1" i="0">
                          <a:solidFill>
                            <a:srgbClr val="1B7F3A"/>
                          </a:solidFill>
                          <a:latin typeface="Arial"/>
                        </a:rPr>
                        <a:t>0</a:t>
                      </a:r>
                    </a:p>
                  </a:txBody>
                  <a:tcPr>
                    <a:solidFill>
                      <a:srgbClr val="FFFFFF"/>
                    </a:solidFill>
                  </a:tcPr>
                </a:tc>
                <a:tc>
                  <a:txBody>
                    <a:bodyPr/>
                    <a:lstStyle/>
                    <a:p>
                      <a:pPr algn="ctr"/>
                      <a:r>
                        <a:rPr sz="750" b="1" i="0">
                          <a:solidFill>
                            <a:srgbClr val="C00000"/>
                          </a:solidFill>
                          <a:latin typeface="Arial"/>
                        </a:rPr>
                        <a:t>1</a:t>
                      </a:r>
                    </a:p>
                  </a:txBody>
                  <a:tcPr>
                    <a:solidFill>
                      <a:srgbClr val="FFFFFF"/>
                    </a:solidFill>
                  </a:tcPr>
                </a:tc>
                <a:tc>
                  <a:txBody>
                    <a:bodyPr/>
                    <a:lstStyle/>
                    <a:p>
                      <a:pPr algn="ctr"/>
                      <a:r>
                        <a:rPr sz="750" b="0" i="0">
                          <a:solidFill>
                            <a:srgbClr val="262626"/>
                          </a:solidFill>
                          <a:latin typeface="Arial"/>
                        </a:rPr>
                        <a:t>115</a:t>
                      </a:r>
                    </a:p>
                  </a:txBody>
                  <a:tcPr>
                    <a:solidFill>
                      <a:srgbClr val="FFFFFF"/>
                    </a:solidFill>
                  </a:tcPr>
                </a:tc>
                <a:tc>
                  <a:txBody>
                    <a:bodyPr/>
                    <a:lstStyle/>
                    <a:p>
                      <a:pPr algn="ctr"/>
                      <a:r>
                        <a:rPr sz="750" b="1" i="0">
                          <a:solidFill>
                            <a:srgbClr val="262626"/>
                          </a:solidFill>
                          <a:latin typeface="Arial"/>
                        </a:rPr>
                        <a:t>1,380</a:t>
                      </a:r>
                    </a:p>
                  </a:txBody>
                  <a:tcPr>
                    <a:solidFill>
                      <a:srgbClr val="FFFFFF"/>
                    </a:solidFill>
                  </a:tcPr>
                </a:tc>
                <a:extLst>
                  <a:ext uri="{0D108BD9-81ED-4DB2-BD59-A6C34878D82A}">
                    <a16:rowId xmlns:a16="http://schemas.microsoft.com/office/drawing/2014/main" val="10011"/>
                  </a:ext>
                </a:extLst>
              </a:tr>
            </a:tbl>
          </a:graphicData>
        </a:graphic>
      </p:graphicFrame>
      <p:sp>
        <p:nvSpPr>
          <p:cNvPr id="17" name="Rectangle 16"/>
          <p:cNvSpPr/>
          <p:nvPr/>
        </p:nvSpPr>
        <p:spPr>
          <a:xfrm>
            <a:off x="6126480" y="3611880"/>
            <a:ext cx="5806440" cy="2743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126480" y="3639312"/>
            <a:ext cx="5806440" cy="219456"/>
          </a:xfrm>
          <a:prstGeom prst="rect">
            <a:avLst/>
          </a:prstGeom>
          <a:noFill/>
        </p:spPr>
        <p:txBody>
          <a:bodyPr wrap="square">
            <a:spAutoFit/>
          </a:bodyPr>
          <a:lstStyle/>
          <a:p>
            <a:pPr algn="ctr"/>
            <a:r>
              <a:rPr sz="1100" b="1" i="0">
                <a:solidFill>
                  <a:srgbClr val="FFFFFF"/>
                </a:solidFill>
                <a:latin typeface="Arial"/>
              </a:rPr>
              <a:t>USA WOMEN</a:t>
            </a:r>
          </a:p>
        </p:txBody>
      </p:sp>
      <p:graphicFrame>
        <p:nvGraphicFramePr>
          <p:cNvPr id="19" name="Table 18"/>
          <p:cNvGraphicFramePr>
            <a:graphicFrameLocks noGrp="1"/>
          </p:cNvGraphicFramePr>
          <p:nvPr/>
        </p:nvGraphicFramePr>
        <p:xfrm>
          <a:off x="6126480" y="3931920"/>
          <a:ext cx="5806440" cy="2484120"/>
        </p:xfrm>
        <a:graphic>
          <a:graphicData uri="http://schemas.openxmlformats.org/drawingml/2006/table">
            <a:tbl>
              <a:tblPr firstRow="1" bandRow="1">
                <a:tableStyleId>{5C22544A-7EE6-4342-B048-85BDC9FD1C3A}</a:tableStyleId>
              </a:tblPr>
              <a:tblGrid>
                <a:gridCol w="41148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502920">
                  <a:extLst>
                    <a:ext uri="{9D8B030D-6E8A-4147-A177-3AD203B41FA5}">
                      <a16:colId xmlns:a16="http://schemas.microsoft.com/office/drawing/2014/main" val="20003"/>
                    </a:ext>
                  </a:extLst>
                </a:gridCol>
                <a:gridCol w="411480">
                  <a:extLst>
                    <a:ext uri="{9D8B030D-6E8A-4147-A177-3AD203B41FA5}">
                      <a16:colId xmlns:a16="http://schemas.microsoft.com/office/drawing/2014/main" val="20004"/>
                    </a:ext>
                  </a:extLst>
                </a:gridCol>
                <a:gridCol w="411480">
                  <a:extLst>
                    <a:ext uri="{9D8B030D-6E8A-4147-A177-3AD203B41FA5}">
                      <a16:colId xmlns:a16="http://schemas.microsoft.com/office/drawing/2014/main" val="20005"/>
                    </a:ext>
                  </a:extLst>
                </a:gridCol>
                <a:gridCol w="685800">
                  <a:extLst>
                    <a:ext uri="{9D8B030D-6E8A-4147-A177-3AD203B41FA5}">
                      <a16:colId xmlns:a16="http://schemas.microsoft.com/office/drawing/2014/main" val="20006"/>
                    </a:ext>
                  </a:extLst>
                </a:gridCol>
                <a:gridCol w="731520">
                  <a:extLst>
                    <a:ext uri="{9D8B030D-6E8A-4147-A177-3AD203B41FA5}">
                      <a16:colId xmlns:a16="http://schemas.microsoft.com/office/drawing/2014/main" val="20007"/>
                    </a:ext>
                  </a:extLst>
                </a:gridCol>
              </a:tblGrid>
              <a:tr h="201168">
                <a:tc>
                  <a:txBody>
                    <a:bodyPr/>
                    <a:lstStyle/>
                    <a:p>
                      <a:pPr algn="ctr"/>
                      <a:r>
                        <a:rPr sz="850" b="1" i="0">
                          <a:solidFill>
                            <a:srgbClr val="FFFFFF"/>
                          </a:solidFill>
                          <a:latin typeface="Arial"/>
                        </a:rPr>
                        <a:t>Rk</a:t>
                      </a:r>
                    </a:p>
                  </a:txBody>
                  <a:tcPr>
                    <a:solidFill>
                      <a:srgbClr val="002060"/>
                    </a:solidFill>
                  </a:tcPr>
                </a:tc>
                <a:tc>
                  <a:txBody>
                    <a:bodyPr/>
                    <a:lstStyle/>
                    <a:p>
                      <a:pPr algn="l"/>
                      <a:r>
                        <a:rPr sz="850" b="1" i="0">
                          <a:solidFill>
                            <a:srgbClr val="FFFFFF"/>
                          </a:solidFill>
                          <a:latin typeface="Arial"/>
                        </a:rPr>
                        <a:t>Athlete</a:t>
                      </a:r>
                    </a:p>
                  </a:txBody>
                  <a:tcPr>
                    <a:solidFill>
                      <a:srgbClr val="002060"/>
                    </a:solidFill>
                  </a:tcPr>
                </a:tc>
                <a:tc>
                  <a:txBody>
                    <a:bodyPr/>
                    <a:lstStyle/>
                    <a:p>
                      <a:pPr algn="ctr"/>
                      <a:r>
                        <a:rPr sz="850" b="1" i="0">
                          <a:solidFill>
                            <a:srgbClr val="FFFFFF"/>
                          </a:solidFill>
                          <a:latin typeface="Arial"/>
                        </a:rPr>
                        <a:t>Total</a:t>
                      </a:r>
                    </a:p>
                  </a:txBody>
                  <a:tcPr>
                    <a:solidFill>
                      <a:srgbClr val="002060"/>
                    </a:solidFill>
                  </a:tcPr>
                </a:tc>
                <a:tc>
                  <a:txBody>
                    <a:bodyPr/>
                    <a:lstStyle/>
                    <a:p>
                      <a:pPr algn="ctr"/>
                      <a:r>
                        <a:rPr sz="850" b="1" i="0">
                          <a:solidFill>
                            <a:srgbClr val="FFFFFF"/>
                          </a:solidFill>
                          <a:latin typeface="Arial"/>
                        </a:rPr>
                        <a:t>Races</a:t>
                      </a:r>
                    </a:p>
                  </a:txBody>
                  <a:tcPr>
                    <a:solidFill>
                      <a:srgbClr val="002060"/>
                    </a:solidFill>
                  </a:tcPr>
                </a:tc>
                <a:tc>
                  <a:txBody>
                    <a:bodyPr/>
                    <a:lstStyle/>
                    <a:p>
                      <a:pPr algn="ctr"/>
                      <a:r>
                        <a:rPr sz="850" b="1" i="0">
                          <a:solidFill>
                            <a:srgbClr val="FFFFFF"/>
                          </a:solidFill>
                          <a:latin typeface="Arial"/>
                        </a:rPr>
                        <a:t>On</a:t>
                      </a:r>
                    </a:p>
                  </a:txBody>
                  <a:tcPr>
                    <a:solidFill>
                      <a:srgbClr val="002060"/>
                    </a:solidFill>
                  </a:tcPr>
                </a:tc>
                <a:tc>
                  <a:txBody>
                    <a:bodyPr/>
                    <a:lstStyle/>
                    <a:p>
                      <a:pPr algn="ctr"/>
                      <a:r>
                        <a:rPr sz="850" b="1" i="0">
                          <a:solidFill>
                            <a:srgbClr val="FFFFFF"/>
                          </a:solidFill>
                          <a:latin typeface="Arial"/>
                        </a:rPr>
                        <a:t>Off</a:t>
                      </a:r>
                    </a:p>
                  </a:txBody>
                  <a:tcPr>
                    <a:solidFill>
                      <a:srgbClr val="002060"/>
                    </a:solidFill>
                  </a:tcPr>
                </a:tc>
                <a:tc>
                  <a:txBody>
                    <a:bodyPr/>
                    <a:lstStyle/>
                    <a:p>
                      <a:pPr algn="ctr"/>
                      <a:r>
                        <a:rPr sz="850" b="1" i="0">
                          <a:solidFill>
                            <a:srgbClr val="FFFFFF"/>
                          </a:solidFill>
                          <a:latin typeface="Arial"/>
                        </a:rPr>
                        <a:t>Pace</a:t>
                      </a:r>
                    </a:p>
                  </a:txBody>
                  <a:tcPr>
                    <a:solidFill>
                      <a:srgbClr val="002060"/>
                    </a:solidFill>
                  </a:tcPr>
                </a:tc>
                <a:tc>
                  <a:txBody>
                    <a:bodyPr/>
                    <a:lstStyle/>
                    <a:p>
                      <a:pPr algn="ctr"/>
                      <a:r>
                        <a:rPr sz="850" b="1" i="0">
                          <a:solidFill>
                            <a:srgbClr val="FFFFFF"/>
                          </a:solidFill>
                          <a:latin typeface="Arial"/>
                        </a:rPr>
                        <a:t>Proj @12</a:t>
                      </a:r>
                    </a:p>
                  </a:txBody>
                  <a:tcPr>
                    <a:solidFill>
                      <a:srgbClr val="002060"/>
                    </a:solidFill>
                  </a:tcPr>
                </a:tc>
                <a:extLst>
                  <a:ext uri="{0D108BD9-81ED-4DB2-BD59-A6C34878D82A}">
                    <a16:rowId xmlns:a16="http://schemas.microsoft.com/office/drawing/2014/main" val="10000"/>
                  </a:ext>
                </a:extLst>
              </a:tr>
              <a:tr h="201168">
                <a:tc>
                  <a:txBody>
                    <a:bodyPr/>
                    <a:lstStyle/>
                    <a:p>
                      <a:pPr algn="ctr"/>
                      <a:r>
                        <a:rPr sz="750" b="1" i="0">
                          <a:solidFill>
                            <a:srgbClr val="262626"/>
                          </a:solidFill>
                          <a:latin typeface="Arial"/>
                        </a:rPr>
                        <a:t>11</a:t>
                      </a:r>
                    </a:p>
                  </a:txBody>
                  <a:tcPr>
                    <a:solidFill>
                      <a:srgbClr val="FFFFFF"/>
                    </a:solidFill>
                  </a:tcPr>
                </a:tc>
                <a:tc>
                  <a:txBody>
                    <a:bodyPr/>
                    <a:lstStyle/>
                    <a:p>
                      <a:pPr algn="l"/>
                      <a:r>
                        <a:rPr sz="750" b="0" i="0">
                          <a:solidFill>
                            <a:srgbClr val="262626"/>
                          </a:solidFill>
                          <a:latin typeface="Arial"/>
                        </a:rPr>
                        <a:t>Taylor Spivey</a:t>
                      </a:r>
                    </a:p>
                  </a:txBody>
                  <a:tcPr>
                    <a:solidFill>
                      <a:srgbClr val="FFFFFF"/>
                    </a:solidFill>
                  </a:tcPr>
                </a:tc>
                <a:tc>
                  <a:txBody>
                    <a:bodyPr/>
                    <a:lstStyle/>
                    <a:p>
                      <a:pPr algn="ctr"/>
                      <a:r>
                        <a:rPr sz="750" b="1" i="0">
                          <a:solidFill>
                            <a:srgbClr val="262626"/>
                          </a:solidFill>
                          <a:latin typeface="Arial"/>
                        </a:rPr>
                        <a:t>1,370</a:t>
                      </a:r>
                    </a:p>
                  </a:txBody>
                  <a:tcPr>
                    <a:solidFill>
                      <a:srgbClr val="FFFFFF"/>
                    </a:solidFill>
                  </a:tcPr>
                </a:tc>
                <a:tc>
                  <a:txBody>
                    <a:bodyPr/>
                    <a:lstStyle/>
                    <a:p>
                      <a:pPr algn="ctr"/>
                      <a:r>
                        <a:rPr sz="750" b="0" i="0">
                          <a:solidFill>
                            <a:srgbClr val="262626"/>
                          </a:solidFill>
                          <a:latin typeface="Arial"/>
                        </a:rPr>
                        <a:t>2</a:t>
                      </a:r>
                    </a:p>
                  </a:txBody>
                  <a:tcPr>
                    <a:solidFill>
                      <a:srgbClr val="FFFFFF"/>
                    </a:solidFill>
                  </a:tcPr>
                </a:tc>
                <a:tc>
                  <a:txBody>
                    <a:bodyPr/>
                    <a:lstStyle/>
                    <a:p>
                      <a:pPr algn="ctr"/>
                      <a:r>
                        <a:rPr sz="750" b="1" i="0">
                          <a:solidFill>
                            <a:srgbClr val="1B7F3A"/>
                          </a:solidFill>
                          <a:latin typeface="Arial"/>
                        </a:rPr>
                        <a:t>2</a:t>
                      </a:r>
                    </a:p>
                  </a:txBody>
                  <a:tcPr>
                    <a:solidFill>
                      <a:srgbClr val="FFFFFF"/>
                    </a:solidFill>
                  </a:tcPr>
                </a:tc>
                <a:tc>
                  <a:txBody>
                    <a:bodyPr/>
                    <a:lstStyle/>
                    <a:p>
                      <a:pPr algn="ctr"/>
                      <a:r>
                        <a:rPr sz="750" b="1" i="0">
                          <a:solidFill>
                            <a:srgbClr val="C00000"/>
                          </a:solidFill>
                          <a:latin typeface="Arial"/>
                        </a:rPr>
                        <a:t>0</a:t>
                      </a:r>
                    </a:p>
                  </a:txBody>
                  <a:tcPr>
                    <a:solidFill>
                      <a:srgbClr val="FFFFFF"/>
                    </a:solidFill>
                  </a:tcPr>
                </a:tc>
                <a:tc>
                  <a:txBody>
                    <a:bodyPr/>
                    <a:lstStyle/>
                    <a:p>
                      <a:pPr algn="ctr"/>
                      <a:r>
                        <a:rPr sz="750" b="0" i="0">
                          <a:solidFill>
                            <a:srgbClr val="262626"/>
                          </a:solidFill>
                          <a:latin typeface="Arial"/>
                        </a:rPr>
                        <a:t>685</a:t>
                      </a:r>
                    </a:p>
                  </a:txBody>
                  <a:tcPr>
                    <a:solidFill>
                      <a:srgbClr val="FFFFFF"/>
                    </a:solidFill>
                  </a:tcPr>
                </a:tc>
                <a:tc>
                  <a:txBody>
                    <a:bodyPr/>
                    <a:lstStyle/>
                    <a:p>
                      <a:pPr algn="ctr"/>
                      <a:r>
                        <a:rPr sz="750" b="1" i="0">
                          <a:solidFill>
                            <a:srgbClr val="1B7F3A"/>
                          </a:solidFill>
                          <a:latin typeface="Arial"/>
                        </a:rPr>
                        <a:t>8,225</a:t>
                      </a:r>
                    </a:p>
                  </a:txBody>
                  <a:tcPr>
                    <a:solidFill>
                      <a:srgbClr val="FFFFFF"/>
                    </a:solidFill>
                  </a:tcPr>
                </a:tc>
                <a:extLst>
                  <a:ext uri="{0D108BD9-81ED-4DB2-BD59-A6C34878D82A}">
                    <a16:rowId xmlns:a16="http://schemas.microsoft.com/office/drawing/2014/main" val="10001"/>
                  </a:ext>
                </a:extLst>
              </a:tr>
              <a:tr h="201168">
                <a:tc>
                  <a:txBody>
                    <a:bodyPr/>
                    <a:lstStyle/>
                    <a:p>
                      <a:pPr algn="ctr"/>
                      <a:r>
                        <a:rPr sz="750" b="1" i="0">
                          <a:solidFill>
                            <a:srgbClr val="262626"/>
                          </a:solidFill>
                          <a:latin typeface="Arial"/>
                        </a:rPr>
                        <a:t>14</a:t>
                      </a:r>
                    </a:p>
                  </a:txBody>
                  <a:tcPr>
                    <a:solidFill>
                      <a:srgbClr val="F2F2F2"/>
                    </a:solidFill>
                  </a:tcPr>
                </a:tc>
                <a:tc>
                  <a:txBody>
                    <a:bodyPr/>
                    <a:lstStyle/>
                    <a:p>
                      <a:pPr algn="l"/>
                      <a:r>
                        <a:rPr sz="750" b="0" i="0">
                          <a:solidFill>
                            <a:srgbClr val="262626"/>
                          </a:solidFill>
                          <a:latin typeface="Arial"/>
                        </a:rPr>
                        <a:t>Danielle Orie</a:t>
                      </a:r>
                    </a:p>
                  </a:txBody>
                  <a:tcPr>
                    <a:solidFill>
                      <a:srgbClr val="F2F2F2"/>
                    </a:solidFill>
                  </a:tcPr>
                </a:tc>
                <a:tc>
                  <a:txBody>
                    <a:bodyPr/>
                    <a:lstStyle/>
                    <a:p>
                      <a:pPr algn="ctr"/>
                      <a:r>
                        <a:rPr sz="750" b="1" i="0">
                          <a:solidFill>
                            <a:srgbClr val="262626"/>
                          </a:solidFill>
                          <a:latin typeface="Arial"/>
                        </a:rPr>
                        <a:t>1,146</a:t>
                      </a:r>
                    </a:p>
                  </a:txBody>
                  <a:tcPr>
                    <a:solidFill>
                      <a:srgbClr val="F2F2F2"/>
                    </a:solidFill>
                  </a:tcPr>
                </a:tc>
                <a:tc>
                  <a:txBody>
                    <a:bodyPr/>
                    <a:lstStyle/>
                    <a:p>
                      <a:pPr algn="ctr"/>
                      <a:r>
                        <a:rPr sz="750" b="0" i="0">
                          <a:solidFill>
                            <a:srgbClr val="262626"/>
                          </a:solidFill>
                          <a:latin typeface="Arial"/>
                        </a:rPr>
                        <a:t>4</a:t>
                      </a:r>
                    </a:p>
                  </a:txBody>
                  <a:tcPr>
                    <a:solidFill>
                      <a:srgbClr val="F2F2F2"/>
                    </a:solidFill>
                  </a:tcPr>
                </a:tc>
                <a:tc>
                  <a:txBody>
                    <a:bodyPr/>
                    <a:lstStyle/>
                    <a:p>
                      <a:pPr algn="ctr"/>
                      <a:r>
                        <a:rPr sz="750" b="1" i="0">
                          <a:solidFill>
                            <a:srgbClr val="1B7F3A"/>
                          </a:solidFill>
                          <a:latin typeface="Arial"/>
                        </a:rPr>
                        <a:t>2</a:t>
                      </a:r>
                    </a:p>
                  </a:txBody>
                  <a:tcPr>
                    <a:solidFill>
                      <a:srgbClr val="F2F2F2"/>
                    </a:solidFill>
                  </a:tcPr>
                </a:tc>
                <a:tc>
                  <a:txBody>
                    <a:bodyPr/>
                    <a:lstStyle/>
                    <a:p>
                      <a:pPr algn="ctr"/>
                      <a:r>
                        <a:rPr sz="750" b="1" i="0">
                          <a:solidFill>
                            <a:srgbClr val="C00000"/>
                          </a:solidFill>
                          <a:latin typeface="Arial"/>
                        </a:rPr>
                        <a:t>2</a:t>
                      </a:r>
                    </a:p>
                  </a:txBody>
                  <a:tcPr>
                    <a:solidFill>
                      <a:srgbClr val="F2F2F2"/>
                    </a:solidFill>
                  </a:tcPr>
                </a:tc>
                <a:tc>
                  <a:txBody>
                    <a:bodyPr/>
                    <a:lstStyle/>
                    <a:p>
                      <a:pPr algn="ctr"/>
                      <a:r>
                        <a:rPr sz="750" b="0" i="0">
                          <a:solidFill>
                            <a:srgbClr val="262626"/>
                          </a:solidFill>
                          <a:latin typeface="Arial"/>
                        </a:rPr>
                        <a:t>286</a:t>
                      </a:r>
                    </a:p>
                  </a:txBody>
                  <a:tcPr>
                    <a:solidFill>
                      <a:srgbClr val="F2F2F2"/>
                    </a:solidFill>
                  </a:tcPr>
                </a:tc>
                <a:tc>
                  <a:txBody>
                    <a:bodyPr/>
                    <a:lstStyle/>
                    <a:p>
                      <a:pPr algn="ctr"/>
                      <a:r>
                        <a:rPr sz="750" b="1" i="0">
                          <a:solidFill>
                            <a:srgbClr val="262626"/>
                          </a:solidFill>
                          <a:latin typeface="Arial"/>
                        </a:rPr>
                        <a:t>3,439</a:t>
                      </a:r>
                    </a:p>
                  </a:txBody>
                  <a:tcPr>
                    <a:solidFill>
                      <a:srgbClr val="F2F2F2"/>
                    </a:solidFill>
                  </a:tcPr>
                </a:tc>
                <a:extLst>
                  <a:ext uri="{0D108BD9-81ED-4DB2-BD59-A6C34878D82A}">
                    <a16:rowId xmlns:a16="http://schemas.microsoft.com/office/drawing/2014/main" val="10002"/>
                  </a:ext>
                </a:extLst>
              </a:tr>
              <a:tr h="201168">
                <a:tc>
                  <a:txBody>
                    <a:bodyPr/>
                    <a:lstStyle/>
                    <a:p>
                      <a:pPr algn="ctr"/>
                      <a:r>
                        <a:rPr sz="750" b="1" i="0">
                          <a:solidFill>
                            <a:srgbClr val="262626"/>
                          </a:solidFill>
                          <a:latin typeface="Arial"/>
                        </a:rPr>
                        <a:t>18</a:t>
                      </a:r>
                    </a:p>
                  </a:txBody>
                  <a:tcPr>
                    <a:solidFill>
                      <a:srgbClr val="FFFFFF"/>
                    </a:solidFill>
                  </a:tcPr>
                </a:tc>
                <a:tc>
                  <a:txBody>
                    <a:bodyPr/>
                    <a:lstStyle/>
                    <a:p>
                      <a:pPr algn="l"/>
                      <a:r>
                        <a:rPr sz="750" b="0" i="0">
                          <a:solidFill>
                            <a:srgbClr val="262626"/>
                          </a:solidFill>
                          <a:latin typeface="Arial"/>
                        </a:rPr>
                        <a:t>Gina Sereno</a:t>
                      </a:r>
                    </a:p>
                  </a:txBody>
                  <a:tcPr>
                    <a:solidFill>
                      <a:srgbClr val="FFFFFF"/>
                    </a:solidFill>
                  </a:tcPr>
                </a:tc>
                <a:tc>
                  <a:txBody>
                    <a:bodyPr/>
                    <a:lstStyle/>
                    <a:p>
                      <a:pPr algn="ctr"/>
                      <a:r>
                        <a:rPr sz="750" b="1" i="0">
                          <a:solidFill>
                            <a:srgbClr val="262626"/>
                          </a:solidFill>
                          <a:latin typeface="Arial"/>
                        </a:rPr>
                        <a:t>991</a:t>
                      </a:r>
                    </a:p>
                  </a:txBody>
                  <a:tcPr>
                    <a:solidFill>
                      <a:srgbClr val="FFFFFF"/>
                    </a:solidFill>
                  </a:tcPr>
                </a:tc>
                <a:tc>
                  <a:txBody>
                    <a:bodyPr/>
                    <a:lstStyle/>
                    <a:p>
                      <a:pPr algn="ctr"/>
                      <a:r>
                        <a:rPr sz="750" b="0" i="0">
                          <a:solidFill>
                            <a:srgbClr val="262626"/>
                          </a:solidFill>
                          <a:latin typeface="Arial"/>
                        </a:rPr>
                        <a:t>3</a:t>
                      </a:r>
                    </a:p>
                  </a:txBody>
                  <a:tcPr>
                    <a:solidFill>
                      <a:srgbClr val="FFFFFF"/>
                    </a:solidFill>
                  </a:tcPr>
                </a:tc>
                <a:tc>
                  <a:txBody>
                    <a:bodyPr/>
                    <a:lstStyle/>
                    <a:p>
                      <a:pPr algn="ctr"/>
                      <a:r>
                        <a:rPr sz="750" b="1" i="0">
                          <a:solidFill>
                            <a:srgbClr val="1B7F3A"/>
                          </a:solidFill>
                          <a:latin typeface="Arial"/>
                        </a:rPr>
                        <a:t>1</a:t>
                      </a:r>
                    </a:p>
                  </a:txBody>
                  <a:tcPr>
                    <a:solidFill>
                      <a:srgbClr val="FFFFFF"/>
                    </a:solidFill>
                  </a:tcPr>
                </a:tc>
                <a:tc>
                  <a:txBody>
                    <a:bodyPr/>
                    <a:lstStyle/>
                    <a:p>
                      <a:pPr algn="ctr"/>
                      <a:r>
                        <a:rPr sz="750" b="1" i="0">
                          <a:solidFill>
                            <a:srgbClr val="C00000"/>
                          </a:solidFill>
                          <a:latin typeface="Arial"/>
                        </a:rPr>
                        <a:t>2</a:t>
                      </a:r>
                    </a:p>
                  </a:txBody>
                  <a:tcPr>
                    <a:solidFill>
                      <a:srgbClr val="FFFFFF"/>
                    </a:solidFill>
                  </a:tcPr>
                </a:tc>
                <a:tc>
                  <a:txBody>
                    <a:bodyPr/>
                    <a:lstStyle/>
                    <a:p>
                      <a:pPr algn="ctr"/>
                      <a:r>
                        <a:rPr sz="750" b="0" i="0">
                          <a:solidFill>
                            <a:srgbClr val="262626"/>
                          </a:solidFill>
                          <a:latin typeface="Arial"/>
                        </a:rPr>
                        <a:t>330</a:t>
                      </a:r>
                    </a:p>
                  </a:txBody>
                  <a:tcPr>
                    <a:solidFill>
                      <a:srgbClr val="FFFFFF"/>
                    </a:solidFill>
                  </a:tcPr>
                </a:tc>
                <a:tc>
                  <a:txBody>
                    <a:bodyPr/>
                    <a:lstStyle/>
                    <a:p>
                      <a:pPr algn="ctr"/>
                      <a:r>
                        <a:rPr sz="750" b="1" i="0">
                          <a:solidFill>
                            <a:srgbClr val="1B7F3A"/>
                          </a:solidFill>
                          <a:latin typeface="Arial"/>
                        </a:rPr>
                        <a:t>3,966</a:t>
                      </a:r>
                    </a:p>
                  </a:txBody>
                  <a:tcPr>
                    <a:solidFill>
                      <a:srgbClr val="FFFFFF"/>
                    </a:solidFill>
                  </a:tcPr>
                </a:tc>
                <a:extLst>
                  <a:ext uri="{0D108BD9-81ED-4DB2-BD59-A6C34878D82A}">
                    <a16:rowId xmlns:a16="http://schemas.microsoft.com/office/drawing/2014/main" val="10003"/>
                  </a:ext>
                </a:extLst>
              </a:tr>
              <a:tr h="201168">
                <a:tc>
                  <a:txBody>
                    <a:bodyPr/>
                    <a:lstStyle/>
                    <a:p>
                      <a:pPr algn="ctr"/>
                      <a:r>
                        <a:rPr sz="750" b="1" i="0">
                          <a:solidFill>
                            <a:srgbClr val="262626"/>
                          </a:solidFill>
                          <a:latin typeface="Arial"/>
                        </a:rPr>
                        <a:t>20</a:t>
                      </a:r>
                    </a:p>
                  </a:txBody>
                  <a:tcPr>
                    <a:solidFill>
                      <a:srgbClr val="F2F2F2"/>
                    </a:solidFill>
                  </a:tcPr>
                </a:tc>
                <a:tc>
                  <a:txBody>
                    <a:bodyPr/>
                    <a:lstStyle/>
                    <a:p>
                      <a:pPr algn="l"/>
                      <a:r>
                        <a:rPr sz="750" b="0" i="0">
                          <a:solidFill>
                            <a:srgbClr val="262626"/>
                          </a:solidFill>
                          <a:latin typeface="Arial"/>
                        </a:rPr>
                        <a:t>Taylor Knibb</a:t>
                      </a:r>
                    </a:p>
                  </a:txBody>
                  <a:tcPr>
                    <a:solidFill>
                      <a:srgbClr val="F2F2F2"/>
                    </a:solidFill>
                  </a:tcPr>
                </a:tc>
                <a:tc>
                  <a:txBody>
                    <a:bodyPr/>
                    <a:lstStyle/>
                    <a:p>
                      <a:pPr algn="ctr"/>
                      <a:r>
                        <a:rPr sz="750" b="1" i="0">
                          <a:solidFill>
                            <a:srgbClr val="262626"/>
                          </a:solidFill>
                          <a:latin typeface="Arial"/>
                        </a:rPr>
                        <a:t>921</a:t>
                      </a:r>
                    </a:p>
                  </a:txBody>
                  <a:tcPr>
                    <a:solidFill>
                      <a:srgbClr val="F2F2F2"/>
                    </a:solidFill>
                  </a:tcPr>
                </a:tc>
                <a:tc>
                  <a:txBody>
                    <a:bodyPr/>
                    <a:lstStyle/>
                    <a:p>
                      <a:pPr algn="ctr"/>
                      <a:r>
                        <a:rPr sz="750" b="0" i="0">
                          <a:solidFill>
                            <a:srgbClr val="262626"/>
                          </a:solidFill>
                          <a:latin typeface="Arial"/>
                        </a:rPr>
                        <a:t>2</a:t>
                      </a:r>
                    </a:p>
                  </a:txBody>
                  <a:tcPr>
                    <a:solidFill>
                      <a:srgbClr val="F2F2F2"/>
                    </a:solidFill>
                  </a:tcPr>
                </a:tc>
                <a:tc>
                  <a:txBody>
                    <a:bodyPr/>
                    <a:lstStyle/>
                    <a:p>
                      <a:pPr algn="ctr"/>
                      <a:r>
                        <a:rPr sz="750" b="1" i="0">
                          <a:solidFill>
                            <a:srgbClr val="1B7F3A"/>
                          </a:solidFill>
                          <a:latin typeface="Arial"/>
                        </a:rPr>
                        <a:t>2</a:t>
                      </a:r>
                    </a:p>
                  </a:txBody>
                  <a:tcPr>
                    <a:solidFill>
                      <a:srgbClr val="F2F2F2"/>
                    </a:solidFill>
                  </a:tcPr>
                </a:tc>
                <a:tc>
                  <a:txBody>
                    <a:bodyPr/>
                    <a:lstStyle/>
                    <a:p>
                      <a:pPr algn="ctr"/>
                      <a:r>
                        <a:rPr sz="750" b="1" i="0">
                          <a:solidFill>
                            <a:srgbClr val="C00000"/>
                          </a:solidFill>
                          <a:latin typeface="Arial"/>
                        </a:rPr>
                        <a:t>0</a:t>
                      </a:r>
                    </a:p>
                  </a:txBody>
                  <a:tcPr>
                    <a:solidFill>
                      <a:srgbClr val="F2F2F2"/>
                    </a:solidFill>
                  </a:tcPr>
                </a:tc>
                <a:tc>
                  <a:txBody>
                    <a:bodyPr/>
                    <a:lstStyle/>
                    <a:p>
                      <a:pPr algn="ctr"/>
                      <a:r>
                        <a:rPr sz="750" b="0" i="0">
                          <a:solidFill>
                            <a:srgbClr val="262626"/>
                          </a:solidFill>
                          <a:latin typeface="Arial"/>
                        </a:rPr>
                        <a:t>460</a:t>
                      </a:r>
                    </a:p>
                  </a:txBody>
                  <a:tcPr>
                    <a:solidFill>
                      <a:srgbClr val="F2F2F2"/>
                    </a:solidFill>
                  </a:tcPr>
                </a:tc>
                <a:tc>
                  <a:txBody>
                    <a:bodyPr/>
                    <a:lstStyle/>
                    <a:p>
                      <a:pPr algn="ctr"/>
                      <a:r>
                        <a:rPr sz="750" b="1" i="0">
                          <a:solidFill>
                            <a:srgbClr val="1B7F3A"/>
                          </a:solidFill>
                          <a:latin typeface="Arial"/>
                        </a:rPr>
                        <a:t>5,526</a:t>
                      </a:r>
                    </a:p>
                  </a:txBody>
                  <a:tcPr>
                    <a:solidFill>
                      <a:srgbClr val="F2F2F2"/>
                    </a:solidFill>
                  </a:tcPr>
                </a:tc>
                <a:extLst>
                  <a:ext uri="{0D108BD9-81ED-4DB2-BD59-A6C34878D82A}">
                    <a16:rowId xmlns:a16="http://schemas.microsoft.com/office/drawing/2014/main" val="10004"/>
                  </a:ext>
                </a:extLst>
              </a:tr>
              <a:tr h="201168">
                <a:tc>
                  <a:txBody>
                    <a:bodyPr/>
                    <a:lstStyle/>
                    <a:p>
                      <a:pPr algn="ctr"/>
                      <a:r>
                        <a:rPr sz="750" b="1" i="0">
                          <a:solidFill>
                            <a:srgbClr val="262626"/>
                          </a:solidFill>
                          <a:latin typeface="Arial"/>
                        </a:rPr>
                        <a:t>38</a:t>
                      </a:r>
                    </a:p>
                  </a:txBody>
                  <a:tcPr>
                    <a:solidFill>
                      <a:srgbClr val="FFFFFF"/>
                    </a:solidFill>
                  </a:tcPr>
                </a:tc>
                <a:tc>
                  <a:txBody>
                    <a:bodyPr/>
                    <a:lstStyle/>
                    <a:p>
                      <a:pPr algn="l"/>
                      <a:r>
                        <a:rPr sz="750" b="0" i="0">
                          <a:solidFill>
                            <a:srgbClr val="262626"/>
                          </a:solidFill>
                          <a:latin typeface="Arial"/>
                        </a:rPr>
                        <a:t>Eleanor Beveridge</a:t>
                      </a:r>
                    </a:p>
                  </a:txBody>
                  <a:tcPr>
                    <a:solidFill>
                      <a:srgbClr val="FFFFFF"/>
                    </a:solidFill>
                  </a:tcPr>
                </a:tc>
                <a:tc>
                  <a:txBody>
                    <a:bodyPr/>
                    <a:lstStyle/>
                    <a:p>
                      <a:pPr algn="ctr"/>
                      <a:r>
                        <a:rPr sz="750" b="1" i="0">
                          <a:solidFill>
                            <a:srgbClr val="262626"/>
                          </a:solidFill>
                          <a:latin typeface="Arial"/>
                        </a:rPr>
                        <a:t>519</a:t>
                      </a:r>
                    </a:p>
                  </a:txBody>
                  <a:tcPr>
                    <a:solidFill>
                      <a:srgbClr val="FFFFFF"/>
                    </a:solidFill>
                  </a:tcPr>
                </a:tc>
                <a:tc>
                  <a:txBody>
                    <a:bodyPr/>
                    <a:lstStyle/>
                    <a:p>
                      <a:pPr algn="ctr"/>
                      <a:r>
                        <a:rPr sz="750" b="0" i="0">
                          <a:solidFill>
                            <a:srgbClr val="262626"/>
                          </a:solidFill>
                          <a:latin typeface="Arial"/>
                        </a:rPr>
                        <a:t>2</a:t>
                      </a:r>
                    </a:p>
                  </a:txBody>
                  <a:tcPr>
                    <a:solidFill>
                      <a:srgbClr val="FFFFFF"/>
                    </a:solidFill>
                  </a:tcPr>
                </a:tc>
                <a:tc>
                  <a:txBody>
                    <a:bodyPr/>
                    <a:lstStyle/>
                    <a:p>
                      <a:pPr algn="ctr"/>
                      <a:r>
                        <a:rPr sz="750" b="1" i="0">
                          <a:solidFill>
                            <a:srgbClr val="1B7F3A"/>
                          </a:solidFill>
                          <a:latin typeface="Arial"/>
                        </a:rPr>
                        <a:t>0</a:t>
                      </a:r>
                    </a:p>
                  </a:txBody>
                  <a:tcPr>
                    <a:solidFill>
                      <a:srgbClr val="FFFFFF"/>
                    </a:solidFill>
                  </a:tcPr>
                </a:tc>
                <a:tc>
                  <a:txBody>
                    <a:bodyPr/>
                    <a:lstStyle/>
                    <a:p>
                      <a:pPr algn="ctr"/>
                      <a:r>
                        <a:rPr sz="750" b="1" i="0">
                          <a:solidFill>
                            <a:srgbClr val="C00000"/>
                          </a:solidFill>
                          <a:latin typeface="Arial"/>
                        </a:rPr>
                        <a:t>2</a:t>
                      </a:r>
                    </a:p>
                  </a:txBody>
                  <a:tcPr>
                    <a:solidFill>
                      <a:srgbClr val="FFFFFF"/>
                    </a:solidFill>
                  </a:tcPr>
                </a:tc>
                <a:tc>
                  <a:txBody>
                    <a:bodyPr/>
                    <a:lstStyle/>
                    <a:p>
                      <a:pPr algn="ctr"/>
                      <a:r>
                        <a:rPr sz="750" b="0" i="0">
                          <a:solidFill>
                            <a:srgbClr val="262626"/>
                          </a:solidFill>
                          <a:latin typeface="Arial"/>
                        </a:rPr>
                        <a:t>259</a:t>
                      </a:r>
                    </a:p>
                  </a:txBody>
                  <a:tcPr>
                    <a:solidFill>
                      <a:srgbClr val="FFFFFF"/>
                    </a:solidFill>
                  </a:tcPr>
                </a:tc>
                <a:tc>
                  <a:txBody>
                    <a:bodyPr/>
                    <a:lstStyle/>
                    <a:p>
                      <a:pPr algn="ctr"/>
                      <a:r>
                        <a:rPr sz="750" b="1" i="0">
                          <a:solidFill>
                            <a:srgbClr val="262626"/>
                          </a:solidFill>
                          <a:latin typeface="Arial"/>
                        </a:rPr>
                        <a:t>3,114</a:t>
                      </a:r>
                    </a:p>
                  </a:txBody>
                  <a:tcPr>
                    <a:solidFill>
                      <a:srgbClr val="FFFFFF"/>
                    </a:solidFill>
                  </a:tcPr>
                </a:tc>
                <a:extLst>
                  <a:ext uri="{0D108BD9-81ED-4DB2-BD59-A6C34878D82A}">
                    <a16:rowId xmlns:a16="http://schemas.microsoft.com/office/drawing/2014/main" val="10005"/>
                  </a:ext>
                </a:extLst>
              </a:tr>
              <a:tr h="201168">
                <a:tc>
                  <a:txBody>
                    <a:bodyPr/>
                    <a:lstStyle/>
                    <a:p>
                      <a:pPr algn="ctr"/>
                      <a:r>
                        <a:rPr sz="750" b="1" i="0">
                          <a:solidFill>
                            <a:srgbClr val="262626"/>
                          </a:solidFill>
                          <a:latin typeface="Arial"/>
                        </a:rPr>
                        <a:t>44</a:t>
                      </a:r>
                    </a:p>
                  </a:txBody>
                  <a:tcPr>
                    <a:solidFill>
                      <a:srgbClr val="F2F2F2"/>
                    </a:solidFill>
                  </a:tcPr>
                </a:tc>
                <a:tc>
                  <a:txBody>
                    <a:bodyPr/>
                    <a:lstStyle/>
                    <a:p>
                      <a:pPr algn="l"/>
                      <a:r>
                        <a:rPr sz="750" b="0" i="0">
                          <a:solidFill>
                            <a:srgbClr val="262626"/>
                          </a:solidFill>
                          <a:latin typeface="Arial"/>
                        </a:rPr>
                        <a:t>Gwen Jorgensen</a:t>
                      </a:r>
                    </a:p>
                  </a:txBody>
                  <a:tcPr>
                    <a:solidFill>
                      <a:srgbClr val="F2F2F2"/>
                    </a:solidFill>
                  </a:tcPr>
                </a:tc>
                <a:tc>
                  <a:txBody>
                    <a:bodyPr/>
                    <a:lstStyle/>
                    <a:p>
                      <a:pPr algn="ctr"/>
                      <a:r>
                        <a:rPr sz="750" b="1" i="0">
                          <a:solidFill>
                            <a:srgbClr val="262626"/>
                          </a:solidFill>
                          <a:latin typeface="Arial"/>
                        </a:rPr>
                        <a:t>495</a:t>
                      </a:r>
                    </a:p>
                  </a:txBody>
                  <a:tcPr>
                    <a:solidFill>
                      <a:srgbClr val="F2F2F2"/>
                    </a:solidFill>
                  </a:tcPr>
                </a:tc>
                <a:tc>
                  <a:txBody>
                    <a:bodyPr/>
                    <a:lstStyle/>
                    <a:p>
                      <a:pPr algn="ctr"/>
                      <a:r>
                        <a:rPr sz="750" b="0" i="0">
                          <a:solidFill>
                            <a:srgbClr val="262626"/>
                          </a:solidFill>
                          <a:latin typeface="Arial"/>
                        </a:rPr>
                        <a:t>1</a:t>
                      </a:r>
                    </a:p>
                  </a:txBody>
                  <a:tcPr>
                    <a:solidFill>
                      <a:srgbClr val="F2F2F2"/>
                    </a:solidFill>
                  </a:tcPr>
                </a:tc>
                <a:tc>
                  <a:txBody>
                    <a:bodyPr/>
                    <a:lstStyle/>
                    <a:p>
                      <a:pPr algn="ctr"/>
                      <a:r>
                        <a:rPr sz="750" b="1" i="0">
                          <a:solidFill>
                            <a:srgbClr val="1B7F3A"/>
                          </a:solidFill>
                          <a:latin typeface="Arial"/>
                        </a:rPr>
                        <a:t>1</a:t>
                      </a:r>
                    </a:p>
                  </a:txBody>
                  <a:tcPr>
                    <a:solidFill>
                      <a:srgbClr val="F2F2F2"/>
                    </a:solidFill>
                  </a:tcPr>
                </a:tc>
                <a:tc>
                  <a:txBody>
                    <a:bodyPr/>
                    <a:lstStyle/>
                    <a:p>
                      <a:pPr algn="ctr"/>
                      <a:r>
                        <a:rPr sz="750" b="1" i="0">
                          <a:solidFill>
                            <a:srgbClr val="C00000"/>
                          </a:solidFill>
                          <a:latin typeface="Arial"/>
                        </a:rPr>
                        <a:t>0</a:t>
                      </a:r>
                    </a:p>
                  </a:txBody>
                  <a:tcPr>
                    <a:solidFill>
                      <a:srgbClr val="F2F2F2"/>
                    </a:solidFill>
                  </a:tcPr>
                </a:tc>
                <a:tc>
                  <a:txBody>
                    <a:bodyPr/>
                    <a:lstStyle/>
                    <a:p>
                      <a:pPr algn="ctr"/>
                      <a:r>
                        <a:rPr sz="750" b="0" i="0">
                          <a:solidFill>
                            <a:srgbClr val="262626"/>
                          </a:solidFill>
                          <a:latin typeface="Arial"/>
                        </a:rPr>
                        <a:t>495</a:t>
                      </a:r>
                    </a:p>
                  </a:txBody>
                  <a:tcPr>
                    <a:solidFill>
                      <a:srgbClr val="F2F2F2"/>
                    </a:solidFill>
                  </a:tcPr>
                </a:tc>
                <a:tc>
                  <a:txBody>
                    <a:bodyPr/>
                    <a:lstStyle/>
                    <a:p>
                      <a:pPr algn="ctr"/>
                      <a:r>
                        <a:rPr sz="750" b="1" i="0">
                          <a:solidFill>
                            <a:srgbClr val="1B7F3A"/>
                          </a:solidFill>
                          <a:latin typeface="Arial"/>
                        </a:rPr>
                        <a:t>5,949</a:t>
                      </a:r>
                    </a:p>
                  </a:txBody>
                  <a:tcPr>
                    <a:solidFill>
                      <a:srgbClr val="F2F2F2"/>
                    </a:solidFill>
                  </a:tcPr>
                </a:tc>
                <a:extLst>
                  <a:ext uri="{0D108BD9-81ED-4DB2-BD59-A6C34878D82A}">
                    <a16:rowId xmlns:a16="http://schemas.microsoft.com/office/drawing/2014/main" val="10006"/>
                  </a:ext>
                </a:extLst>
              </a:tr>
              <a:tr h="201168">
                <a:tc>
                  <a:txBody>
                    <a:bodyPr/>
                    <a:lstStyle/>
                    <a:p>
                      <a:pPr algn="ctr"/>
                      <a:r>
                        <a:rPr sz="750" b="1" i="0">
                          <a:solidFill>
                            <a:srgbClr val="262626"/>
                          </a:solidFill>
                          <a:latin typeface="Arial"/>
                        </a:rPr>
                        <a:t>47</a:t>
                      </a:r>
                    </a:p>
                  </a:txBody>
                  <a:tcPr>
                    <a:solidFill>
                      <a:srgbClr val="FFFFFF"/>
                    </a:solidFill>
                  </a:tcPr>
                </a:tc>
                <a:tc>
                  <a:txBody>
                    <a:bodyPr/>
                    <a:lstStyle/>
                    <a:p>
                      <a:pPr algn="l"/>
                      <a:r>
                        <a:rPr sz="750" b="0" i="0">
                          <a:solidFill>
                            <a:srgbClr val="262626"/>
                          </a:solidFill>
                          <a:latin typeface="Arial"/>
                        </a:rPr>
                        <a:t>Kelly Wetteland</a:t>
                      </a:r>
                    </a:p>
                  </a:txBody>
                  <a:tcPr>
                    <a:solidFill>
                      <a:srgbClr val="FFFFFF"/>
                    </a:solidFill>
                  </a:tcPr>
                </a:tc>
                <a:tc>
                  <a:txBody>
                    <a:bodyPr/>
                    <a:lstStyle/>
                    <a:p>
                      <a:pPr algn="ctr"/>
                      <a:r>
                        <a:rPr sz="750" b="1" i="0">
                          <a:solidFill>
                            <a:srgbClr val="262626"/>
                          </a:solidFill>
                          <a:latin typeface="Arial"/>
                        </a:rPr>
                        <a:t>462</a:t>
                      </a:r>
                    </a:p>
                  </a:txBody>
                  <a:tcPr>
                    <a:solidFill>
                      <a:srgbClr val="FFFFFF"/>
                    </a:solidFill>
                  </a:tcPr>
                </a:tc>
                <a:tc>
                  <a:txBody>
                    <a:bodyPr/>
                    <a:lstStyle/>
                    <a:p>
                      <a:pPr algn="ctr"/>
                      <a:r>
                        <a:rPr sz="750" b="0" i="0">
                          <a:solidFill>
                            <a:srgbClr val="262626"/>
                          </a:solidFill>
                          <a:latin typeface="Arial"/>
                        </a:rPr>
                        <a:t>1</a:t>
                      </a:r>
                    </a:p>
                  </a:txBody>
                  <a:tcPr>
                    <a:solidFill>
                      <a:srgbClr val="FFFFFF"/>
                    </a:solidFill>
                  </a:tcPr>
                </a:tc>
                <a:tc>
                  <a:txBody>
                    <a:bodyPr/>
                    <a:lstStyle/>
                    <a:p>
                      <a:pPr algn="ctr"/>
                      <a:r>
                        <a:rPr sz="750" b="1" i="0">
                          <a:solidFill>
                            <a:srgbClr val="1B7F3A"/>
                          </a:solidFill>
                          <a:latin typeface="Arial"/>
                        </a:rPr>
                        <a:t>1</a:t>
                      </a:r>
                    </a:p>
                  </a:txBody>
                  <a:tcPr>
                    <a:solidFill>
                      <a:srgbClr val="FFFFFF"/>
                    </a:solidFill>
                  </a:tcPr>
                </a:tc>
                <a:tc>
                  <a:txBody>
                    <a:bodyPr/>
                    <a:lstStyle/>
                    <a:p>
                      <a:pPr algn="ctr"/>
                      <a:r>
                        <a:rPr sz="750" b="1" i="0">
                          <a:solidFill>
                            <a:srgbClr val="C00000"/>
                          </a:solidFill>
                          <a:latin typeface="Arial"/>
                        </a:rPr>
                        <a:t>0</a:t>
                      </a:r>
                    </a:p>
                  </a:txBody>
                  <a:tcPr>
                    <a:solidFill>
                      <a:srgbClr val="FFFFFF"/>
                    </a:solidFill>
                  </a:tcPr>
                </a:tc>
                <a:tc>
                  <a:txBody>
                    <a:bodyPr/>
                    <a:lstStyle/>
                    <a:p>
                      <a:pPr algn="ctr"/>
                      <a:r>
                        <a:rPr sz="750" b="0" i="0">
                          <a:solidFill>
                            <a:srgbClr val="262626"/>
                          </a:solidFill>
                          <a:latin typeface="Arial"/>
                        </a:rPr>
                        <a:t>462</a:t>
                      </a:r>
                    </a:p>
                  </a:txBody>
                  <a:tcPr>
                    <a:solidFill>
                      <a:srgbClr val="FFFFFF"/>
                    </a:solidFill>
                  </a:tcPr>
                </a:tc>
                <a:tc>
                  <a:txBody>
                    <a:bodyPr/>
                    <a:lstStyle/>
                    <a:p>
                      <a:pPr algn="ctr"/>
                      <a:r>
                        <a:rPr sz="750" b="1" i="0">
                          <a:solidFill>
                            <a:srgbClr val="1B7F3A"/>
                          </a:solidFill>
                          <a:latin typeface="Arial"/>
                        </a:rPr>
                        <a:t>5,550</a:t>
                      </a:r>
                    </a:p>
                  </a:txBody>
                  <a:tcPr>
                    <a:solidFill>
                      <a:srgbClr val="FFFFFF"/>
                    </a:solidFill>
                  </a:tcPr>
                </a:tc>
                <a:extLst>
                  <a:ext uri="{0D108BD9-81ED-4DB2-BD59-A6C34878D82A}">
                    <a16:rowId xmlns:a16="http://schemas.microsoft.com/office/drawing/2014/main" val="10007"/>
                  </a:ext>
                </a:extLst>
              </a:tr>
              <a:tr h="201168">
                <a:tc>
                  <a:txBody>
                    <a:bodyPr/>
                    <a:lstStyle/>
                    <a:p>
                      <a:pPr algn="ctr"/>
                      <a:r>
                        <a:rPr sz="750" b="1" i="0">
                          <a:solidFill>
                            <a:srgbClr val="262626"/>
                          </a:solidFill>
                          <a:latin typeface="Arial"/>
                        </a:rPr>
                        <a:t>48</a:t>
                      </a:r>
                    </a:p>
                  </a:txBody>
                  <a:tcPr>
                    <a:solidFill>
                      <a:srgbClr val="F2F2F2"/>
                    </a:solidFill>
                  </a:tcPr>
                </a:tc>
                <a:tc>
                  <a:txBody>
                    <a:bodyPr/>
                    <a:lstStyle/>
                    <a:p>
                      <a:pPr algn="l"/>
                      <a:r>
                        <a:rPr sz="750" b="0" i="0">
                          <a:solidFill>
                            <a:srgbClr val="262626"/>
                          </a:solidFill>
                          <a:latin typeface="Arial"/>
                        </a:rPr>
                        <a:t>Naomi Ruff</a:t>
                      </a:r>
                    </a:p>
                  </a:txBody>
                  <a:tcPr>
                    <a:solidFill>
                      <a:srgbClr val="F2F2F2"/>
                    </a:solidFill>
                  </a:tcPr>
                </a:tc>
                <a:tc>
                  <a:txBody>
                    <a:bodyPr/>
                    <a:lstStyle/>
                    <a:p>
                      <a:pPr algn="ctr"/>
                      <a:r>
                        <a:rPr sz="750" b="1" i="0">
                          <a:solidFill>
                            <a:srgbClr val="262626"/>
                          </a:solidFill>
                          <a:latin typeface="Arial"/>
                        </a:rPr>
                        <a:t>460</a:t>
                      </a:r>
                    </a:p>
                  </a:txBody>
                  <a:tcPr>
                    <a:solidFill>
                      <a:srgbClr val="F2F2F2"/>
                    </a:solidFill>
                  </a:tcPr>
                </a:tc>
                <a:tc>
                  <a:txBody>
                    <a:bodyPr/>
                    <a:lstStyle/>
                    <a:p>
                      <a:pPr algn="ctr"/>
                      <a:r>
                        <a:rPr sz="750" b="0" i="0">
                          <a:solidFill>
                            <a:srgbClr val="262626"/>
                          </a:solidFill>
                          <a:latin typeface="Arial"/>
                        </a:rPr>
                        <a:t>1</a:t>
                      </a:r>
                    </a:p>
                  </a:txBody>
                  <a:tcPr>
                    <a:solidFill>
                      <a:srgbClr val="F2F2F2"/>
                    </a:solidFill>
                  </a:tcPr>
                </a:tc>
                <a:tc>
                  <a:txBody>
                    <a:bodyPr/>
                    <a:lstStyle/>
                    <a:p>
                      <a:pPr algn="ctr"/>
                      <a:r>
                        <a:rPr sz="750" b="1" i="0">
                          <a:solidFill>
                            <a:srgbClr val="1B7F3A"/>
                          </a:solidFill>
                          <a:latin typeface="Arial"/>
                        </a:rPr>
                        <a:t>1</a:t>
                      </a:r>
                    </a:p>
                  </a:txBody>
                  <a:tcPr>
                    <a:solidFill>
                      <a:srgbClr val="F2F2F2"/>
                    </a:solidFill>
                  </a:tcPr>
                </a:tc>
                <a:tc>
                  <a:txBody>
                    <a:bodyPr/>
                    <a:lstStyle/>
                    <a:p>
                      <a:pPr algn="ctr"/>
                      <a:r>
                        <a:rPr sz="750" b="1" i="0">
                          <a:solidFill>
                            <a:srgbClr val="C00000"/>
                          </a:solidFill>
                          <a:latin typeface="Arial"/>
                        </a:rPr>
                        <a:t>0</a:t>
                      </a:r>
                    </a:p>
                  </a:txBody>
                  <a:tcPr>
                    <a:solidFill>
                      <a:srgbClr val="F2F2F2"/>
                    </a:solidFill>
                  </a:tcPr>
                </a:tc>
                <a:tc>
                  <a:txBody>
                    <a:bodyPr/>
                    <a:lstStyle/>
                    <a:p>
                      <a:pPr algn="ctr"/>
                      <a:r>
                        <a:rPr sz="750" b="0" i="0">
                          <a:solidFill>
                            <a:srgbClr val="262626"/>
                          </a:solidFill>
                          <a:latin typeface="Arial"/>
                        </a:rPr>
                        <a:t>460</a:t>
                      </a:r>
                    </a:p>
                  </a:txBody>
                  <a:tcPr>
                    <a:solidFill>
                      <a:srgbClr val="F2F2F2"/>
                    </a:solidFill>
                  </a:tcPr>
                </a:tc>
                <a:tc>
                  <a:txBody>
                    <a:bodyPr/>
                    <a:lstStyle/>
                    <a:p>
                      <a:pPr algn="ctr"/>
                      <a:r>
                        <a:rPr sz="750" b="1" i="0">
                          <a:solidFill>
                            <a:srgbClr val="1B7F3A"/>
                          </a:solidFill>
                          <a:latin typeface="Arial"/>
                        </a:rPr>
                        <a:t>5,526</a:t>
                      </a:r>
                    </a:p>
                  </a:txBody>
                  <a:tcPr>
                    <a:solidFill>
                      <a:srgbClr val="F2F2F2"/>
                    </a:solidFill>
                  </a:tcPr>
                </a:tc>
                <a:extLst>
                  <a:ext uri="{0D108BD9-81ED-4DB2-BD59-A6C34878D82A}">
                    <a16:rowId xmlns:a16="http://schemas.microsoft.com/office/drawing/2014/main" val="10008"/>
                  </a:ext>
                </a:extLst>
              </a:tr>
              <a:tr h="201168">
                <a:tc>
                  <a:txBody>
                    <a:bodyPr/>
                    <a:lstStyle/>
                    <a:p>
                      <a:pPr algn="ctr"/>
                      <a:r>
                        <a:rPr sz="750" b="1" i="0">
                          <a:solidFill>
                            <a:srgbClr val="262626"/>
                          </a:solidFill>
                          <a:latin typeface="Arial"/>
                        </a:rPr>
                        <a:t>91</a:t>
                      </a:r>
                    </a:p>
                  </a:txBody>
                  <a:tcPr>
                    <a:solidFill>
                      <a:srgbClr val="FFFFFF"/>
                    </a:solidFill>
                  </a:tcPr>
                </a:tc>
                <a:tc>
                  <a:txBody>
                    <a:bodyPr/>
                    <a:lstStyle/>
                    <a:p>
                      <a:pPr algn="l"/>
                      <a:r>
                        <a:rPr sz="750" b="0" i="0">
                          <a:solidFill>
                            <a:srgbClr val="262626"/>
                          </a:solidFill>
                          <a:latin typeface="Arial"/>
                        </a:rPr>
                        <a:t>Rachel Werking</a:t>
                      </a:r>
                    </a:p>
                  </a:txBody>
                  <a:tcPr>
                    <a:solidFill>
                      <a:srgbClr val="FFFFFF"/>
                    </a:solidFill>
                  </a:tcPr>
                </a:tc>
                <a:tc>
                  <a:txBody>
                    <a:bodyPr/>
                    <a:lstStyle/>
                    <a:p>
                      <a:pPr algn="ctr"/>
                      <a:r>
                        <a:rPr sz="750" b="1" i="0">
                          <a:solidFill>
                            <a:srgbClr val="262626"/>
                          </a:solidFill>
                          <a:latin typeface="Arial"/>
                        </a:rPr>
                        <a:t>181</a:t>
                      </a:r>
                    </a:p>
                  </a:txBody>
                  <a:tcPr>
                    <a:solidFill>
                      <a:srgbClr val="FFFFFF"/>
                    </a:solidFill>
                  </a:tcPr>
                </a:tc>
                <a:tc>
                  <a:txBody>
                    <a:bodyPr/>
                    <a:lstStyle/>
                    <a:p>
                      <a:pPr algn="ctr"/>
                      <a:r>
                        <a:rPr sz="750" b="0" i="0">
                          <a:solidFill>
                            <a:srgbClr val="262626"/>
                          </a:solidFill>
                          <a:latin typeface="Arial"/>
                        </a:rPr>
                        <a:t>1</a:t>
                      </a:r>
                    </a:p>
                  </a:txBody>
                  <a:tcPr>
                    <a:solidFill>
                      <a:srgbClr val="FFFFFF"/>
                    </a:solidFill>
                  </a:tcPr>
                </a:tc>
                <a:tc>
                  <a:txBody>
                    <a:bodyPr/>
                    <a:lstStyle/>
                    <a:p>
                      <a:pPr algn="ctr"/>
                      <a:r>
                        <a:rPr sz="750" b="1" i="0">
                          <a:solidFill>
                            <a:srgbClr val="1B7F3A"/>
                          </a:solidFill>
                          <a:latin typeface="Arial"/>
                        </a:rPr>
                        <a:t>0</a:t>
                      </a:r>
                    </a:p>
                  </a:txBody>
                  <a:tcPr>
                    <a:solidFill>
                      <a:srgbClr val="FFFFFF"/>
                    </a:solidFill>
                  </a:tcPr>
                </a:tc>
                <a:tc>
                  <a:txBody>
                    <a:bodyPr/>
                    <a:lstStyle/>
                    <a:p>
                      <a:pPr algn="ctr"/>
                      <a:r>
                        <a:rPr sz="750" b="1" i="0">
                          <a:solidFill>
                            <a:srgbClr val="C00000"/>
                          </a:solidFill>
                          <a:latin typeface="Arial"/>
                        </a:rPr>
                        <a:t>1</a:t>
                      </a:r>
                    </a:p>
                  </a:txBody>
                  <a:tcPr>
                    <a:solidFill>
                      <a:srgbClr val="FFFFFF"/>
                    </a:solidFill>
                  </a:tcPr>
                </a:tc>
                <a:tc>
                  <a:txBody>
                    <a:bodyPr/>
                    <a:lstStyle/>
                    <a:p>
                      <a:pPr algn="ctr"/>
                      <a:r>
                        <a:rPr sz="750" b="0" i="0">
                          <a:solidFill>
                            <a:srgbClr val="262626"/>
                          </a:solidFill>
                          <a:latin typeface="Arial"/>
                        </a:rPr>
                        <a:t>181</a:t>
                      </a:r>
                    </a:p>
                  </a:txBody>
                  <a:tcPr>
                    <a:solidFill>
                      <a:srgbClr val="FFFFFF"/>
                    </a:solidFill>
                  </a:tcPr>
                </a:tc>
                <a:tc>
                  <a:txBody>
                    <a:bodyPr/>
                    <a:lstStyle/>
                    <a:p>
                      <a:pPr algn="ctr"/>
                      <a:r>
                        <a:rPr sz="750" b="1" i="0">
                          <a:solidFill>
                            <a:srgbClr val="262626"/>
                          </a:solidFill>
                          <a:latin typeface="Arial"/>
                        </a:rPr>
                        <a:t>2,178</a:t>
                      </a:r>
                    </a:p>
                  </a:txBody>
                  <a:tcPr>
                    <a:solidFill>
                      <a:srgbClr val="FFFFFF"/>
                    </a:solidFill>
                  </a:tcPr>
                </a:tc>
                <a:extLst>
                  <a:ext uri="{0D108BD9-81ED-4DB2-BD59-A6C34878D82A}">
                    <a16:rowId xmlns:a16="http://schemas.microsoft.com/office/drawing/2014/main" val="10009"/>
                  </a:ext>
                </a:extLst>
              </a:tr>
              <a:tr h="201168">
                <a:tc>
                  <a:txBody>
                    <a:bodyPr/>
                    <a:lstStyle/>
                    <a:p>
                      <a:pPr algn="ctr"/>
                      <a:r>
                        <a:rPr sz="750" b="1" i="0">
                          <a:solidFill>
                            <a:srgbClr val="262626"/>
                          </a:solidFill>
                          <a:latin typeface="Arial"/>
                        </a:rPr>
                        <a:t>93</a:t>
                      </a:r>
                    </a:p>
                  </a:txBody>
                  <a:tcPr>
                    <a:solidFill>
                      <a:srgbClr val="F2F2F2"/>
                    </a:solidFill>
                  </a:tcPr>
                </a:tc>
                <a:tc>
                  <a:txBody>
                    <a:bodyPr/>
                    <a:lstStyle/>
                    <a:p>
                      <a:pPr algn="l"/>
                      <a:r>
                        <a:rPr sz="750" b="0" i="0">
                          <a:solidFill>
                            <a:srgbClr val="262626"/>
                          </a:solidFill>
                          <a:latin typeface="Arial"/>
                        </a:rPr>
                        <a:t>Erika Ackerlund</a:t>
                      </a:r>
                    </a:p>
                  </a:txBody>
                  <a:tcPr>
                    <a:solidFill>
                      <a:srgbClr val="F2F2F2"/>
                    </a:solidFill>
                  </a:tcPr>
                </a:tc>
                <a:tc>
                  <a:txBody>
                    <a:bodyPr/>
                    <a:lstStyle/>
                    <a:p>
                      <a:pPr algn="ctr"/>
                      <a:r>
                        <a:rPr sz="750" b="1" i="0">
                          <a:solidFill>
                            <a:srgbClr val="262626"/>
                          </a:solidFill>
                          <a:latin typeface="Arial"/>
                        </a:rPr>
                        <a:t>179</a:t>
                      </a:r>
                    </a:p>
                  </a:txBody>
                  <a:tcPr>
                    <a:solidFill>
                      <a:srgbClr val="F2F2F2"/>
                    </a:solidFill>
                  </a:tcPr>
                </a:tc>
                <a:tc>
                  <a:txBody>
                    <a:bodyPr/>
                    <a:lstStyle/>
                    <a:p>
                      <a:pPr algn="ctr"/>
                      <a:r>
                        <a:rPr sz="750" b="0" i="0">
                          <a:solidFill>
                            <a:srgbClr val="262626"/>
                          </a:solidFill>
                          <a:latin typeface="Arial"/>
                        </a:rPr>
                        <a:t>1</a:t>
                      </a:r>
                    </a:p>
                  </a:txBody>
                  <a:tcPr>
                    <a:solidFill>
                      <a:srgbClr val="F2F2F2"/>
                    </a:solidFill>
                  </a:tcPr>
                </a:tc>
                <a:tc>
                  <a:txBody>
                    <a:bodyPr/>
                    <a:lstStyle/>
                    <a:p>
                      <a:pPr algn="ctr"/>
                      <a:r>
                        <a:rPr sz="750" b="1" i="0">
                          <a:solidFill>
                            <a:srgbClr val="1B7F3A"/>
                          </a:solidFill>
                          <a:latin typeface="Arial"/>
                        </a:rPr>
                        <a:t>0</a:t>
                      </a:r>
                    </a:p>
                  </a:txBody>
                  <a:tcPr>
                    <a:solidFill>
                      <a:srgbClr val="F2F2F2"/>
                    </a:solidFill>
                  </a:tcPr>
                </a:tc>
                <a:tc>
                  <a:txBody>
                    <a:bodyPr/>
                    <a:lstStyle/>
                    <a:p>
                      <a:pPr algn="ctr"/>
                      <a:r>
                        <a:rPr sz="750" b="1" i="0">
                          <a:solidFill>
                            <a:srgbClr val="C00000"/>
                          </a:solidFill>
                          <a:latin typeface="Arial"/>
                        </a:rPr>
                        <a:t>1</a:t>
                      </a:r>
                    </a:p>
                  </a:txBody>
                  <a:tcPr>
                    <a:solidFill>
                      <a:srgbClr val="F2F2F2"/>
                    </a:solidFill>
                  </a:tcPr>
                </a:tc>
                <a:tc>
                  <a:txBody>
                    <a:bodyPr/>
                    <a:lstStyle/>
                    <a:p>
                      <a:pPr algn="ctr"/>
                      <a:r>
                        <a:rPr sz="750" b="0" i="0">
                          <a:solidFill>
                            <a:srgbClr val="262626"/>
                          </a:solidFill>
                          <a:latin typeface="Arial"/>
                        </a:rPr>
                        <a:t>179</a:t>
                      </a:r>
                    </a:p>
                  </a:txBody>
                  <a:tcPr>
                    <a:solidFill>
                      <a:srgbClr val="F2F2F2"/>
                    </a:solidFill>
                  </a:tcPr>
                </a:tc>
                <a:tc>
                  <a:txBody>
                    <a:bodyPr/>
                    <a:lstStyle/>
                    <a:p>
                      <a:pPr algn="ctr"/>
                      <a:r>
                        <a:rPr sz="750" b="1" i="0">
                          <a:solidFill>
                            <a:srgbClr val="262626"/>
                          </a:solidFill>
                          <a:latin typeface="Arial"/>
                        </a:rPr>
                        <a:t>2,159</a:t>
                      </a:r>
                    </a:p>
                  </a:txBody>
                  <a:tcPr>
                    <a:solidFill>
                      <a:srgbClr val="F2F2F2"/>
                    </a:solidFill>
                  </a:tcPr>
                </a:tc>
                <a:extLst>
                  <a:ext uri="{0D108BD9-81ED-4DB2-BD59-A6C34878D82A}">
                    <a16:rowId xmlns:a16="http://schemas.microsoft.com/office/drawing/2014/main" val="10010"/>
                  </a:ext>
                </a:extLst>
              </a:tr>
              <a:tr h="201168">
                <a:tc>
                  <a:txBody>
                    <a:bodyPr/>
                    <a:lstStyle/>
                    <a:p>
                      <a:pPr algn="ctr"/>
                      <a:r>
                        <a:rPr sz="750" b="1" i="0">
                          <a:solidFill>
                            <a:srgbClr val="262626"/>
                          </a:solidFill>
                          <a:latin typeface="Arial"/>
                        </a:rPr>
                        <a:t>96</a:t>
                      </a:r>
                    </a:p>
                  </a:txBody>
                  <a:tcPr>
                    <a:solidFill>
                      <a:srgbClr val="FFFFFF"/>
                    </a:solidFill>
                  </a:tcPr>
                </a:tc>
                <a:tc>
                  <a:txBody>
                    <a:bodyPr/>
                    <a:lstStyle/>
                    <a:p>
                      <a:pPr algn="l"/>
                      <a:r>
                        <a:rPr sz="750" b="0" i="0">
                          <a:solidFill>
                            <a:srgbClr val="262626"/>
                          </a:solidFill>
                          <a:latin typeface="Arial"/>
                        </a:rPr>
                        <a:t>Joy Gill</a:t>
                      </a:r>
                    </a:p>
                  </a:txBody>
                  <a:tcPr>
                    <a:solidFill>
                      <a:srgbClr val="FFFFFF"/>
                    </a:solidFill>
                  </a:tcPr>
                </a:tc>
                <a:tc>
                  <a:txBody>
                    <a:bodyPr/>
                    <a:lstStyle/>
                    <a:p>
                      <a:pPr algn="ctr"/>
                      <a:r>
                        <a:rPr sz="750" b="1" i="0">
                          <a:solidFill>
                            <a:srgbClr val="262626"/>
                          </a:solidFill>
                          <a:latin typeface="Arial"/>
                        </a:rPr>
                        <a:t>167</a:t>
                      </a:r>
                    </a:p>
                  </a:txBody>
                  <a:tcPr>
                    <a:solidFill>
                      <a:srgbClr val="FFFFFF"/>
                    </a:solidFill>
                  </a:tcPr>
                </a:tc>
                <a:tc>
                  <a:txBody>
                    <a:bodyPr/>
                    <a:lstStyle/>
                    <a:p>
                      <a:pPr algn="ctr"/>
                      <a:r>
                        <a:rPr sz="750" b="0" i="0">
                          <a:solidFill>
                            <a:srgbClr val="262626"/>
                          </a:solidFill>
                          <a:latin typeface="Arial"/>
                        </a:rPr>
                        <a:t>1</a:t>
                      </a:r>
                    </a:p>
                  </a:txBody>
                  <a:tcPr>
                    <a:solidFill>
                      <a:srgbClr val="FFFFFF"/>
                    </a:solidFill>
                  </a:tcPr>
                </a:tc>
                <a:tc>
                  <a:txBody>
                    <a:bodyPr/>
                    <a:lstStyle/>
                    <a:p>
                      <a:pPr algn="ctr"/>
                      <a:r>
                        <a:rPr sz="750" b="1" i="0">
                          <a:solidFill>
                            <a:srgbClr val="1B7F3A"/>
                          </a:solidFill>
                          <a:latin typeface="Arial"/>
                        </a:rPr>
                        <a:t>0</a:t>
                      </a:r>
                    </a:p>
                  </a:txBody>
                  <a:tcPr>
                    <a:solidFill>
                      <a:srgbClr val="FFFFFF"/>
                    </a:solidFill>
                  </a:tcPr>
                </a:tc>
                <a:tc>
                  <a:txBody>
                    <a:bodyPr/>
                    <a:lstStyle/>
                    <a:p>
                      <a:pPr algn="ctr"/>
                      <a:r>
                        <a:rPr sz="750" b="1" i="0">
                          <a:solidFill>
                            <a:srgbClr val="C00000"/>
                          </a:solidFill>
                          <a:latin typeface="Arial"/>
                        </a:rPr>
                        <a:t>1</a:t>
                      </a:r>
                    </a:p>
                  </a:txBody>
                  <a:tcPr>
                    <a:solidFill>
                      <a:srgbClr val="FFFFFF"/>
                    </a:solidFill>
                  </a:tcPr>
                </a:tc>
                <a:tc>
                  <a:txBody>
                    <a:bodyPr/>
                    <a:lstStyle/>
                    <a:p>
                      <a:pPr algn="ctr"/>
                      <a:r>
                        <a:rPr sz="750" b="0" i="0">
                          <a:solidFill>
                            <a:srgbClr val="262626"/>
                          </a:solidFill>
                          <a:latin typeface="Arial"/>
                        </a:rPr>
                        <a:t>167</a:t>
                      </a:r>
                    </a:p>
                  </a:txBody>
                  <a:tcPr>
                    <a:solidFill>
                      <a:srgbClr val="FFFFFF"/>
                    </a:solidFill>
                  </a:tcPr>
                </a:tc>
                <a:tc>
                  <a:txBody>
                    <a:bodyPr/>
                    <a:lstStyle/>
                    <a:p>
                      <a:pPr algn="ctr"/>
                      <a:r>
                        <a:rPr sz="750" b="1" i="0">
                          <a:solidFill>
                            <a:srgbClr val="262626"/>
                          </a:solidFill>
                          <a:latin typeface="Arial"/>
                        </a:rPr>
                        <a:t>2,014</a:t>
                      </a:r>
                    </a:p>
                  </a:txBody>
                  <a:tcPr>
                    <a:solidFill>
                      <a:srgbClr val="FFFFFF"/>
                    </a:solidFill>
                  </a:tcPr>
                </a:tc>
                <a:extLst>
                  <a:ext uri="{0D108BD9-81ED-4DB2-BD59-A6C34878D82A}">
                    <a16:rowId xmlns:a16="http://schemas.microsoft.com/office/drawing/2014/main" val="10011"/>
                  </a:ext>
                </a:extLst>
              </a:tr>
            </a:tbl>
          </a:graphicData>
        </a:graphic>
      </p:graphicFrame>
      <p:sp>
        <p:nvSpPr>
          <p:cNvPr id="20" name="TextBox 19"/>
          <p:cNvSpPr txBox="1"/>
          <p:nvPr/>
        </p:nvSpPr>
        <p:spPr>
          <a:xfrm>
            <a:off x="274320" y="6419088"/>
            <a:ext cx="11640312" cy="274320"/>
          </a:xfrm>
          <a:prstGeom prst="rect">
            <a:avLst/>
          </a:prstGeom>
          <a:noFill/>
        </p:spPr>
        <p:txBody>
          <a:bodyPr wrap="square">
            <a:spAutoFit/>
          </a:bodyPr>
          <a:lstStyle/>
          <a:p>
            <a:pPr algn="ctr"/>
            <a:r>
              <a:rPr sz="800" b="0" i="1">
                <a:solidFill>
                  <a:srgbClr val="BFBFBF"/>
                </a:solidFill>
                <a:latin typeface="Arial"/>
              </a:rPr>
              <a:t>On = events scoring ≥ pace.  Off = events &lt; pace.  Pace = total breakdown pts ÷ events raced.  Proj @12 = current total + (avg pts × remaining events to cap); green if ≥ Paris cutoff.  Cutoff estimate: Paris 2024 = 3,627 pts / 12 events = 302 pts/event.  Tier positions use a geometric 0.925 points model.  Source: World Triathlon rankings database.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USA Olympic Qualification Snapshot</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Edmonton</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1097280"/>
            <a:ext cx="11640312" cy="384048"/>
          </a:xfrm>
          <a:prstGeom prst="rect">
            <a:avLst/>
          </a:prstGeom>
          <a:solidFill>
            <a:srgbClr val="F2F2F2"/>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5760" y="1170432"/>
            <a:ext cx="11430000" cy="256032"/>
          </a:xfrm>
          <a:prstGeom prst="rect">
            <a:avLst/>
          </a:prstGeom>
          <a:noFill/>
        </p:spPr>
        <p:txBody>
          <a:bodyPr wrap="square">
            <a:spAutoFit/>
          </a:bodyPr>
          <a:lstStyle/>
          <a:p>
            <a:pPr algn="ctr"/>
            <a:r>
              <a:rPr sz="1200" b="1" i="0">
                <a:solidFill>
                  <a:srgbClr val="002060"/>
                </a:solidFill>
                <a:latin typeface="Arial"/>
              </a:rPr>
              <a:t>As of 2026-07-11   •   Olympic Qualification Rankings (LA 2028 cycle)   •   Heading into Edmonton</a:t>
            </a:r>
          </a:p>
        </p:txBody>
      </p:sp>
      <p:sp>
        <p:nvSpPr>
          <p:cNvPr id="10" name="Rectangle 9"/>
          <p:cNvSpPr/>
          <p:nvPr/>
        </p:nvSpPr>
        <p:spPr>
          <a:xfrm>
            <a:off x="274320" y="1691640"/>
            <a:ext cx="5788152" cy="292608"/>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74320" y="1719072"/>
            <a:ext cx="5788152" cy="237744"/>
          </a:xfrm>
          <a:prstGeom prst="rect">
            <a:avLst/>
          </a:prstGeom>
          <a:noFill/>
        </p:spPr>
        <p:txBody>
          <a:bodyPr wrap="square">
            <a:spAutoFit/>
          </a:bodyPr>
          <a:lstStyle/>
          <a:p>
            <a:pPr algn="ctr"/>
            <a:r>
              <a:rPr sz="1100" b="1" i="0">
                <a:solidFill>
                  <a:srgbClr val="FFFFFF"/>
                </a:solidFill>
                <a:latin typeface="Arial"/>
              </a:rPr>
              <a:t>ELITE MEN</a:t>
            </a:r>
          </a:p>
        </p:txBody>
      </p:sp>
      <p:graphicFrame>
        <p:nvGraphicFramePr>
          <p:cNvPr id="12" name="Table 11"/>
          <p:cNvGraphicFramePr>
            <a:graphicFrameLocks noGrp="1"/>
          </p:cNvGraphicFramePr>
          <p:nvPr/>
        </p:nvGraphicFramePr>
        <p:xfrm>
          <a:off x="274320" y="2020824"/>
          <a:ext cx="5787236" cy="2912364"/>
        </p:xfrm>
        <a:graphic>
          <a:graphicData uri="http://schemas.openxmlformats.org/drawingml/2006/table">
            <a:tbl>
              <a:tblPr firstRow="1" bandRow="1">
                <a:tableStyleId>{5C22544A-7EE6-4342-B048-85BDC9FD1C3A}</a:tableStyleId>
              </a:tblPr>
              <a:tblGrid>
                <a:gridCol w="783640">
                  <a:extLst>
                    <a:ext uri="{9D8B030D-6E8A-4147-A177-3AD203B41FA5}">
                      <a16:colId xmlns:a16="http://schemas.microsoft.com/office/drawing/2014/main" val="20000"/>
                    </a:ext>
                  </a:extLst>
                </a:gridCol>
                <a:gridCol w="2531973">
                  <a:extLst>
                    <a:ext uri="{9D8B030D-6E8A-4147-A177-3AD203B41FA5}">
                      <a16:colId xmlns:a16="http://schemas.microsoft.com/office/drawing/2014/main" val="20001"/>
                    </a:ext>
                  </a:extLst>
                </a:gridCol>
                <a:gridCol w="1136599">
                  <a:extLst>
                    <a:ext uri="{9D8B030D-6E8A-4147-A177-3AD203B41FA5}">
                      <a16:colId xmlns:a16="http://schemas.microsoft.com/office/drawing/2014/main" val="20002"/>
                    </a:ext>
                  </a:extLst>
                </a:gridCol>
                <a:gridCol w="672084">
                  <a:extLst>
                    <a:ext uri="{9D8B030D-6E8A-4147-A177-3AD203B41FA5}">
                      <a16:colId xmlns:a16="http://schemas.microsoft.com/office/drawing/2014/main" val="20003"/>
                    </a:ext>
                  </a:extLst>
                </a:gridCol>
                <a:gridCol w="662940">
                  <a:extLst>
                    <a:ext uri="{9D8B030D-6E8A-4147-A177-3AD203B41FA5}">
                      <a16:colId xmlns:a16="http://schemas.microsoft.com/office/drawing/2014/main" val="20004"/>
                    </a:ext>
                  </a:extLst>
                </a:gridCol>
              </a:tblGrid>
              <a:tr h="224028">
                <a:tc>
                  <a:txBody>
                    <a:bodyPr/>
                    <a:lstStyle/>
                    <a:p>
                      <a:pPr algn="ctr"/>
                      <a:r>
                        <a:rPr sz="900" b="1" i="0">
                          <a:solidFill>
                            <a:srgbClr val="FFFFFF"/>
                          </a:solidFill>
                          <a:latin typeface="Arial"/>
                        </a:rPr>
                        <a:t>Rank</a:t>
                      </a:r>
                    </a:p>
                  </a:txBody>
                  <a:tcPr>
                    <a:solidFill>
                      <a:srgbClr val="002060"/>
                    </a:solidFill>
                  </a:tcPr>
                </a:tc>
                <a:tc>
                  <a:txBody>
                    <a:bodyPr/>
                    <a:lstStyle/>
                    <a:p>
                      <a:pPr algn="l"/>
                      <a:r>
                        <a:rPr sz="900" b="1" i="0">
                          <a:solidFill>
                            <a:srgbClr val="FFFFFF"/>
                          </a:solidFill>
                          <a:latin typeface="Arial"/>
                        </a:rPr>
                        <a:t>Athlete</a:t>
                      </a:r>
                    </a:p>
                  </a:txBody>
                  <a:tcPr>
                    <a:solidFill>
                      <a:srgbClr val="002060"/>
                    </a:solidFill>
                  </a:tcPr>
                </a:tc>
                <a:tc>
                  <a:txBody>
                    <a:bodyPr/>
                    <a:lstStyle/>
                    <a:p>
                      <a:pPr algn="ctr"/>
                      <a:r>
                        <a:rPr sz="900" b="1" i="0">
                          <a:solidFill>
                            <a:srgbClr val="FFFFFF"/>
                          </a:solidFill>
                          <a:latin typeface="Arial"/>
                        </a:rPr>
                        <a:t>Points</a:t>
                      </a:r>
                    </a:p>
                  </a:txBody>
                  <a:tcPr>
                    <a:solidFill>
                      <a:srgbClr val="002060"/>
                    </a:solidFill>
                  </a:tcPr>
                </a:tc>
                <a:tc>
                  <a:txBody>
                    <a:bodyPr/>
                    <a:lstStyle/>
                    <a:p>
                      <a:pPr algn="ctr"/>
                      <a:r>
                        <a:rPr sz="900" b="1" i="0">
                          <a:solidFill>
                            <a:srgbClr val="FFFFFF"/>
                          </a:solidFill>
                          <a:latin typeface="Arial"/>
                        </a:rPr>
                        <a:t>Second</a:t>
                      </a:r>
                    </a:p>
                  </a:txBody>
                  <a:tcPr>
                    <a:solidFill>
                      <a:srgbClr val="002060"/>
                    </a:solidFill>
                  </a:tcPr>
                </a:tc>
                <a:tc>
                  <a:txBody>
                    <a:bodyPr/>
                    <a:lstStyle/>
                    <a:p>
                      <a:pPr algn="ctr"/>
                      <a:r>
                        <a:rPr sz="900" b="1" i="0">
                          <a:solidFill>
                            <a:srgbClr val="FFFFFF"/>
                          </a:solidFill>
                          <a:latin typeface="Arial"/>
                        </a:rPr>
                        <a:t>First</a:t>
                      </a:r>
                    </a:p>
                  </a:txBody>
                  <a:tcPr>
                    <a:solidFill>
                      <a:srgbClr val="002060"/>
                    </a:solidFill>
                  </a:tcPr>
                </a:tc>
                <a:extLst>
                  <a:ext uri="{0D108BD9-81ED-4DB2-BD59-A6C34878D82A}">
                    <a16:rowId xmlns:a16="http://schemas.microsoft.com/office/drawing/2014/main" val="10000"/>
                  </a:ext>
                </a:extLst>
              </a:tr>
              <a:tr h="224028">
                <a:tc>
                  <a:txBody>
                    <a:bodyPr/>
                    <a:lstStyle/>
                    <a:p>
                      <a:pPr algn="ctr"/>
                      <a:r>
                        <a:rPr sz="850" b="1" i="0">
                          <a:solidFill>
                            <a:srgbClr val="262626"/>
                          </a:solidFill>
                          <a:latin typeface="Arial"/>
                        </a:rPr>
                        <a:t>18</a:t>
                      </a:r>
                    </a:p>
                  </a:txBody>
                  <a:tcPr>
                    <a:solidFill>
                      <a:srgbClr val="FFFFFF"/>
                    </a:solidFill>
                  </a:tcPr>
                </a:tc>
                <a:tc>
                  <a:txBody>
                    <a:bodyPr/>
                    <a:lstStyle/>
                    <a:p>
                      <a:pPr algn="l"/>
                      <a:r>
                        <a:rPr sz="850" b="0" i="0">
                          <a:solidFill>
                            <a:srgbClr val="262626"/>
                          </a:solidFill>
                          <a:latin typeface="Arial"/>
                        </a:rPr>
                        <a:t>Reese Vannerson</a:t>
                      </a:r>
                    </a:p>
                  </a:txBody>
                  <a:tcPr>
                    <a:solidFill>
                      <a:srgbClr val="FFFFFF"/>
                    </a:solidFill>
                  </a:tcPr>
                </a:tc>
                <a:tc>
                  <a:txBody>
                    <a:bodyPr/>
                    <a:lstStyle/>
                    <a:p>
                      <a:pPr algn="ctr"/>
                      <a:r>
                        <a:rPr sz="850" b="0" i="0">
                          <a:solidFill>
                            <a:srgbClr val="262626"/>
                          </a:solidFill>
                          <a:latin typeface="Arial"/>
                        </a:rPr>
                        <a:t>980</a:t>
                      </a:r>
                    </a:p>
                  </a:txBody>
                  <a:tcPr>
                    <a:solidFill>
                      <a:srgbClr val="FFFFFF"/>
                    </a:solidFill>
                  </a:tcPr>
                </a:tc>
                <a:tc>
                  <a:txBody>
                    <a:bodyPr/>
                    <a:lstStyle/>
                    <a:p>
                      <a:pPr algn="ctr"/>
                      <a:r>
                        <a:rPr sz="850" b="0" i="0">
                          <a:solidFill>
                            <a:srgbClr val="262626"/>
                          </a:solidFill>
                          <a:latin typeface="Arial"/>
                        </a:rPr>
                        <a:t>0</a:t>
                      </a:r>
                    </a:p>
                  </a:txBody>
                  <a:tcPr>
                    <a:solidFill>
                      <a:srgbClr val="FFFFFF"/>
                    </a:solidFill>
                  </a:tcPr>
                </a:tc>
                <a:tc>
                  <a:txBody>
                    <a:bodyPr/>
                    <a:lstStyle/>
                    <a:p>
                      <a:pPr algn="ctr"/>
                      <a:r>
                        <a:rPr sz="850" b="0" i="0">
                          <a:solidFill>
                            <a:srgbClr val="262626"/>
                          </a:solidFill>
                          <a:latin typeface="Arial"/>
                        </a:rPr>
                        <a:t>2</a:t>
                      </a:r>
                    </a:p>
                  </a:txBody>
                  <a:tcPr>
                    <a:solidFill>
                      <a:srgbClr val="FFFFFF"/>
                    </a:solidFill>
                  </a:tcPr>
                </a:tc>
                <a:extLst>
                  <a:ext uri="{0D108BD9-81ED-4DB2-BD59-A6C34878D82A}">
                    <a16:rowId xmlns:a16="http://schemas.microsoft.com/office/drawing/2014/main" val="10001"/>
                  </a:ext>
                </a:extLst>
              </a:tr>
              <a:tr h="224028">
                <a:tc>
                  <a:txBody>
                    <a:bodyPr/>
                    <a:lstStyle/>
                    <a:p>
                      <a:pPr algn="ctr"/>
                      <a:r>
                        <a:rPr sz="850" b="1" i="0">
                          <a:solidFill>
                            <a:srgbClr val="262626"/>
                          </a:solidFill>
                          <a:latin typeface="Arial"/>
                        </a:rPr>
                        <a:t>22</a:t>
                      </a:r>
                    </a:p>
                  </a:txBody>
                  <a:tcPr>
                    <a:solidFill>
                      <a:srgbClr val="F2F2F2"/>
                    </a:solidFill>
                  </a:tcPr>
                </a:tc>
                <a:tc>
                  <a:txBody>
                    <a:bodyPr/>
                    <a:lstStyle/>
                    <a:p>
                      <a:pPr algn="l"/>
                      <a:r>
                        <a:rPr sz="850" b="0" i="0">
                          <a:solidFill>
                            <a:srgbClr val="262626"/>
                          </a:solidFill>
                          <a:latin typeface="Arial"/>
                        </a:rPr>
                        <a:t>Seth Rider</a:t>
                      </a:r>
                    </a:p>
                  </a:txBody>
                  <a:tcPr>
                    <a:solidFill>
                      <a:srgbClr val="F2F2F2"/>
                    </a:solidFill>
                  </a:tcPr>
                </a:tc>
                <a:tc>
                  <a:txBody>
                    <a:bodyPr/>
                    <a:lstStyle/>
                    <a:p>
                      <a:pPr algn="ctr"/>
                      <a:r>
                        <a:rPr sz="850" b="0" i="0">
                          <a:solidFill>
                            <a:srgbClr val="262626"/>
                          </a:solidFill>
                          <a:latin typeface="Arial"/>
                        </a:rPr>
                        <a:t>845</a:t>
                      </a:r>
                    </a:p>
                  </a:txBody>
                  <a:tcPr>
                    <a:solidFill>
                      <a:srgbClr val="F2F2F2"/>
                    </a:solidFill>
                  </a:tcPr>
                </a:tc>
                <a:tc>
                  <a:txBody>
                    <a:bodyPr/>
                    <a:lstStyle/>
                    <a:p>
                      <a:pPr algn="ctr"/>
                      <a:r>
                        <a:rPr sz="850" b="0" i="0">
                          <a:solidFill>
                            <a:srgbClr val="262626"/>
                          </a:solidFill>
                          <a:latin typeface="Arial"/>
                        </a:rPr>
                        <a:t>0</a:t>
                      </a:r>
                    </a:p>
                  </a:txBody>
                  <a:tcPr>
                    <a:solidFill>
                      <a:srgbClr val="F2F2F2"/>
                    </a:solidFill>
                  </a:tcPr>
                </a:tc>
                <a:tc>
                  <a:txBody>
                    <a:bodyPr/>
                    <a:lstStyle/>
                    <a:p>
                      <a:pPr algn="ctr"/>
                      <a:r>
                        <a:rPr sz="850" b="0" i="0">
                          <a:solidFill>
                            <a:srgbClr val="262626"/>
                          </a:solidFill>
                          <a:latin typeface="Arial"/>
                        </a:rPr>
                        <a:t>3</a:t>
                      </a:r>
                    </a:p>
                  </a:txBody>
                  <a:tcPr>
                    <a:solidFill>
                      <a:srgbClr val="F2F2F2"/>
                    </a:solidFill>
                  </a:tcPr>
                </a:tc>
                <a:extLst>
                  <a:ext uri="{0D108BD9-81ED-4DB2-BD59-A6C34878D82A}">
                    <a16:rowId xmlns:a16="http://schemas.microsoft.com/office/drawing/2014/main" val="10002"/>
                  </a:ext>
                </a:extLst>
              </a:tr>
              <a:tr h="224028">
                <a:tc>
                  <a:txBody>
                    <a:bodyPr/>
                    <a:lstStyle/>
                    <a:p>
                      <a:pPr algn="ctr"/>
                      <a:r>
                        <a:rPr sz="850" b="1" i="0">
                          <a:solidFill>
                            <a:srgbClr val="262626"/>
                          </a:solidFill>
                          <a:latin typeface="Arial"/>
                        </a:rPr>
                        <a:t>27</a:t>
                      </a:r>
                    </a:p>
                  </a:txBody>
                  <a:tcPr>
                    <a:solidFill>
                      <a:srgbClr val="FFFFFF"/>
                    </a:solidFill>
                  </a:tcPr>
                </a:tc>
                <a:tc>
                  <a:txBody>
                    <a:bodyPr/>
                    <a:lstStyle/>
                    <a:p>
                      <a:pPr algn="l"/>
                      <a:r>
                        <a:rPr sz="850" b="0" i="0">
                          <a:solidFill>
                            <a:srgbClr val="262626"/>
                          </a:solidFill>
                          <a:latin typeface="Arial"/>
                        </a:rPr>
                        <a:t>Chase McQueen</a:t>
                      </a:r>
                    </a:p>
                  </a:txBody>
                  <a:tcPr>
                    <a:solidFill>
                      <a:srgbClr val="FFFFFF"/>
                    </a:solidFill>
                  </a:tcPr>
                </a:tc>
                <a:tc>
                  <a:txBody>
                    <a:bodyPr/>
                    <a:lstStyle/>
                    <a:p>
                      <a:pPr algn="ctr"/>
                      <a:r>
                        <a:rPr sz="850" b="0" i="0">
                          <a:solidFill>
                            <a:srgbClr val="262626"/>
                          </a:solidFill>
                          <a:latin typeface="Arial"/>
                        </a:rPr>
                        <a:t>764</a:t>
                      </a:r>
                    </a:p>
                  </a:txBody>
                  <a:tcPr>
                    <a:solidFill>
                      <a:srgbClr val="FFFFFF"/>
                    </a:solidFill>
                  </a:tcPr>
                </a:tc>
                <a:tc>
                  <a:txBody>
                    <a:bodyPr/>
                    <a:lstStyle/>
                    <a:p>
                      <a:pPr algn="ctr"/>
                      <a:r>
                        <a:rPr sz="850" b="0" i="0">
                          <a:solidFill>
                            <a:srgbClr val="262626"/>
                          </a:solidFill>
                          <a:latin typeface="Arial"/>
                        </a:rPr>
                        <a:t>0</a:t>
                      </a:r>
                    </a:p>
                  </a:txBody>
                  <a:tcPr>
                    <a:solidFill>
                      <a:srgbClr val="FFFFFF"/>
                    </a:solidFill>
                  </a:tcPr>
                </a:tc>
                <a:tc>
                  <a:txBody>
                    <a:bodyPr/>
                    <a:lstStyle/>
                    <a:p>
                      <a:pPr algn="ctr"/>
                      <a:r>
                        <a:rPr sz="850" b="0" i="0">
                          <a:solidFill>
                            <a:srgbClr val="262626"/>
                          </a:solidFill>
                          <a:latin typeface="Arial"/>
                        </a:rPr>
                        <a:t>3</a:t>
                      </a:r>
                    </a:p>
                  </a:txBody>
                  <a:tcPr>
                    <a:solidFill>
                      <a:srgbClr val="FFFFFF"/>
                    </a:solidFill>
                  </a:tcPr>
                </a:tc>
                <a:extLst>
                  <a:ext uri="{0D108BD9-81ED-4DB2-BD59-A6C34878D82A}">
                    <a16:rowId xmlns:a16="http://schemas.microsoft.com/office/drawing/2014/main" val="10003"/>
                  </a:ext>
                </a:extLst>
              </a:tr>
              <a:tr h="224028">
                <a:tc>
                  <a:txBody>
                    <a:bodyPr/>
                    <a:lstStyle/>
                    <a:p>
                      <a:pPr algn="ctr"/>
                      <a:r>
                        <a:rPr sz="850" b="1" i="0">
                          <a:solidFill>
                            <a:srgbClr val="262626"/>
                          </a:solidFill>
                          <a:latin typeface="Arial"/>
                        </a:rPr>
                        <a:t>32</a:t>
                      </a:r>
                    </a:p>
                  </a:txBody>
                  <a:tcPr>
                    <a:solidFill>
                      <a:srgbClr val="F2F2F2"/>
                    </a:solidFill>
                  </a:tcPr>
                </a:tc>
                <a:tc>
                  <a:txBody>
                    <a:bodyPr/>
                    <a:lstStyle/>
                    <a:p>
                      <a:pPr algn="l"/>
                      <a:r>
                        <a:rPr sz="850" b="0" i="0">
                          <a:solidFill>
                            <a:srgbClr val="262626"/>
                          </a:solidFill>
                          <a:latin typeface="Arial"/>
                        </a:rPr>
                        <a:t>Sullivan Middaugh</a:t>
                      </a:r>
                    </a:p>
                  </a:txBody>
                  <a:tcPr>
                    <a:solidFill>
                      <a:srgbClr val="F2F2F2"/>
                    </a:solidFill>
                  </a:tcPr>
                </a:tc>
                <a:tc>
                  <a:txBody>
                    <a:bodyPr/>
                    <a:lstStyle/>
                    <a:p>
                      <a:pPr algn="ctr"/>
                      <a:r>
                        <a:rPr sz="850" b="0" i="0">
                          <a:solidFill>
                            <a:srgbClr val="262626"/>
                          </a:solidFill>
                          <a:latin typeface="Arial"/>
                        </a:rPr>
                        <a:t>677</a:t>
                      </a:r>
                    </a:p>
                  </a:txBody>
                  <a:tcPr>
                    <a:solidFill>
                      <a:srgbClr val="F2F2F2"/>
                    </a:solidFill>
                  </a:tcPr>
                </a:tc>
                <a:tc>
                  <a:txBody>
                    <a:bodyPr/>
                    <a:lstStyle/>
                    <a:p>
                      <a:pPr algn="ctr"/>
                      <a:r>
                        <a:rPr sz="850" b="0" i="0">
                          <a:solidFill>
                            <a:srgbClr val="262626"/>
                          </a:solidFill>
                          <a:latin typeface="Arial"/>
                        </a:rPr>
                        <a:t>0</a:t>
                      </a:r>
                    </a:p>
                  </a:txBody>
                  <a:tcPr>
                    <a:solidFill>
                      <a:srgbClr val="F2F2F2"/>
                    </a:solidFill>
                  </a:tcPr>
                </a:tc>
                <a:tc>
                  <a:txBody>
                    <a:bodyPr/>
                    <a:lstStyle/>
                    <a:p>
                      <a:pPr algn="ctr"/>
                      <a:r>
                        <a:rPr sz="850" b="0" i="0">
                          <a:solidFill>
                            <a:srgbClr val="262626"/>
                          </a:solidFill>
                          <a:latin typeface="Arial"/>
                        </a:rPr>
                        <a:t>2</a:t>
                      </a:r>
                    </a:p>
                  </a:txBody>
                  <a:tcPr>
                    <a:solidFill>
                      <a:srgbClr val="F2F2F2"/>
                    </a:solidFill>
                  </a:tcPr>
                </a:tc>
                <a:extLst>
                  <a:ext uri="{0D108BD9-81ED-4DB2-BD59-A6C34878D82A}">
                    <a16:rowId xmlns:a16="http://schemas.microsoft.com/office/drawing/2014/main" val="10004"/>
                  </a:ext>
                </a:extLst>
              </a:tr>
              <a:tr h="224028">
                <a:tc>
                  <a:txBody>
                    <a:bodyPr/>
                    <a:lstStyle/>
                    <a:p>
                      <a:pPr algn="ctr"/>
                      <a:r>
                        <a:rPr sz="850" b="1" i="0">
                          <a:solidFill>
                            <a:srgbClr val="262626"/>
                          </a:solidFill>
                          <a:latin typeface="Arial"/>
                        </a:rPr>
                        <a:t>38</a:t>
                      </a:r>
                    </a:p>
                  </a:txBody>
                  <a:tcPr>
                    <a:solidFill>
                      <a:srgbClr val="FFFFFF"/>
                    </a:solidFill>
                  </a:tcPr>
                </a:tc>
                <a:tc>
                  <a:txBody>
                    <a:bodyPr/>
                    <a:lstStyle/>
                    <a:p>
                      <a:pPr algn="l"/>
                      <a:r>
                        <a:rPr sz="850" b="0" i="0">
                          <a:solidFill>
                            <a:srgbClr val="262626"/>
                          </a:solidFill>
                          <a:latin typeface="Arial"/>
                        </a:rPr>
                        <a:t>John Reed</a:t>
                      </a:r>
                    </a:p>
                  </a:txBody>
                  <a:tcPr>
                    <a:solidFill>
                      <a:srgbClr val="FFFFFF"/>
                    </a:solidFill>
                  </a:tcPr>
                </a:tc>
                <a:tc>
                  <a:txBody>
                    <a:bodyPr/>
                    <a:lstStyle/>
                    <a:p>
                      <a:pPr algn="ctr"/>
                      <a:r>
                        <a:rPr sz="850" b="0" i="0">
                          <a:solidFill>
                            <a:srgbClr val="262626"/>
                          </a:solidFill>
                          <a:latin typeface="Arial"/>
                        </a:rPr>
                        <a:t>599</a:t>
                      </a:r>
                    </a:p>
                  </a:txBody>
                  <a:tcPr>
                    <a:solidFill>
                      <a:srgbClr val="FFFFFF"/>
                    </a:solidFill>
                  </a:tcPr>
                </a:tc>
                <a:tc>
                  <a:txBody>
                    <a:bodyPr/>
                    <a:lstStyle/>
                    <a:p>
                      <a:pPr algn="ctr"/>
                      <a:r>
                        <a:rPr sz="850" b="0" i="0">
                          <a:solidFill>
                            <a:srgbClr val="262626"/>
                          </a:solidFill>
                          <a:latin typeface="Arial"/>
                        </a:rPr>
                        <a:t>0</a:t>
                      </a:r>
                    </a:p>
                  </a:txBody>
                  <a:tcPr>
                    <a:solidFill>
                      <a:srgbClr val="FFFFFF"/>
                    </a:solidFill>
                  </a:tcPr>
                </a:tc>
                <a:tc>
                  <a:txBody>
                    <a:bodyPr/>
                    <a:lstStyle/>
                    <a:p>
                      <a:pPr algn="ctr"/>
                      <a:r>
                        <a:rPr sz="850" b="0" i="0">
                          <a:solidFill>
                            <a:srgbClr val="262626"/>
                          </a:solidFill>
                          <a:latin typeface="Arial"/>
                        </a:rPr>
                        <a:t>2</a:t>
                      </a:r>
                    </a:p>
                  </a:txBody>
                  <a:tcPr>
                    <a:solidFill>
                      <a:srgbClr val="FFFFFF"/>
                    </a:solidFill>
                  </a:tcPr>
                </a:tc>
                <a:extLst>
                  <a:ext uri="{0D108BD9-81ED-4DB2-BD59-A6C34878D82A}">
                    <a16:rowId xmlns:a16="http://schemas.microsoft.com/office/drawing/2014/main" val="10005"/>
                  </a:ext>
                </a:extLst>
              </a:tr>
              <a:tr h="224028">
                <a:tc>
                  <a:txBody>
                    <a:bodyPr/>
                    <a:lstStyle/>
                    <a:p>
                      <a:pPr algn="ctr"/>
                      <a:r>
                        <a:rPr sz="850" b="1" i="0">
                          <a:solidFill>
                            <a:srgbClr val="262626"/>
                          </a:solidFill>
                          <a:latin typeface="Arial"/>
                        </a:rPr>
                        <a:t>43</a:t>
                      </a:r>
                    </a:p>
                  </a:txBody>
                  <a:tcPr>
                    <a:solidFill>
                      <a:srgbClr val="F2F2F2"/>
                    </a:solidFill>
                  </a:tcPr>
                </a:tc>
                <a:tc>
                  <a:txBody>
                    <a:bodyPr/>
                    <a:lstStyle/>
                    <a:p>
                      <a:pPr algn="l"/>
                      <a:r>
                        <a:rPr sz="850" b="0" i="0">
                          <a:solidFill>
                            <a:srgbClr val="262626"/>
                          </a:solidFill>
                          <a:latin typeface="Arial"/>
                        </a:rPr>
                        <a:t>Braxton Legg</a:t>
                      </a:r>
                    </a:p>
                  </a:txBody>
                  <a:tcPr>
                    <a:solidFill>
                      <a:srgbClr val="F2F2F2"/>
                    </a:solidFill>
                  </a:tcPr>
                </a:tc>
                <a:tc>
                  <a:txBody>
                    <a:bodyPr/>
                    <a:lstStyle/>
                    <a:p>
                      <a:pPr algn="ctr"/>
                      <a:r>
                        <a:rPr sz="850" b="0" i="0">
                          <a:solidFill>
                            <a:srgbClr val="262626"/>
                          </a:solidFill>
                          <a:latin typeface="Arial"/>
                        </a:rPr>
                        <a:t>564</a:t>
                      </a:r>
                    </a:p>
                  </a:txBody>
                  <a:tcPr>
                    <a:solidFill>
                      <a:srgbClr val="F2F2F2"/>
                    </a:solidFill>
                  </a:tcPr>
                </a:tc>
                <a:tc>
                  <a:txBody>
                    <a:bodyPr/>
                    <a:lstStyle/>
                    <a:p>
                      <a:pPr algn="ctr"/>
                      <a:r>
                        <a:rPr sz="850" b="0" i="0">
                          <a:solidFill>
                            <a:srgbClr val="262626"/>
                          </a:solidFill>
                          <a:latin typeface="Arial"/>
                        </a:rPr>
                        <a:t>0</a:t>
                      </a:r>
                    </a:p>
                  </a:txBody>
                  <a:tcPr>
                    <a:solidFill>
                      <a:srgbClr val="F2F2F2"/>
                    </a:solidFill>
                  </a:tcPr>
                </a:tc>
                <a:tc>
                  <a:txBody>
                    <a:bodyPr/>
                    <a:lstStyle/>
                    <a:p>
                      <a:pPr algn="ctr"/>
                      <a:r>
                        <a:rPr sz="850" b="0" i="0">
                          <a:solidFill>
                            <a:srgbClr val="262626"/>
                          </a:solidFill>
                          <a:latin typeface="Arial"/>
                        </a:rPr>
                        <a:t>2</a:t>
                      </a:r>
                    </a:p>
                  </a:txBody>
                  <a:tcPr>
                    <a:solidFill>
                      <a:srgbClr val="F2F2F2"/>
                    </a:solidFill>
                  </a:tcPr>
                </a:tc>
                <a:extLst>
                  <a:ext uri="{0D108BD9-81ED-4DB2-BD59-A6C34878D82A}">
                    <a16:rowId xmlns:a16="http://schemas.microsoft.com/office/drawing/2014/main" val="10006"/>
                  </a:ext>
                </a:extLst>
              </a:tr>
              <a:tr h="224028">
                <a:tc>
                  <a:txBody>
                    <a:bodyPr/>
                    <a:lstStyle/>
                    <a:p>
                      <a:pPr algn="ctr"/>
                      <a:r>
                        <a:rPr sz="850" b="1" i="0">
                          <a:solidFill>
                            <a:srgbClr val="262626"/>
                          </a:solidFill>
                          <a:latin typeface="Arial"/>
                        </a:rPr>
                        <a:t>46</a:t>
                      </a:r>
                    </a:p>
                  </a:txBody>
                  <a:tcPr>
                    <a:solidFill>
                      <a:srgbClr val="FFFFFF"/>
                    </a:solidFill>
                  </a:tcPr>
                </a:tc>
                <a:tc>
                  <a:txBody>
                    <a:bodyPr/>
                    <a:lstStyle/>
                    <a:p>
                      <a:pPr algn="l"/>
                      <a:r>
                        <a:rPr sz="850" b="0" i="0">
                          <a:solidFill>
                            <a:srgbClr val="262626"/>
                          </a:solidFill>
                          <a:latin typeface="Arial"/>
                        </a:rPr>
                        <a:t>Keller Norland</a:t>
                      </a:r>
                    </a:p>
                  </a:txBody>
                  <a:tcPr>
                    <a:solidFill>
                      <a:srgbClr val="FFFFFF"/>
                    </a:solidFill>
                  </a:tcPr>
                </a:tc>
                <a:tc>
                  <a:txBody>
                    <a:bodyPr/>
                    <a:lstStyle/>
                    <a:p>
                      <a:pPr algn="ctr"/>
                      <a:r>
                        <a:rPr sz="850" b="0" i="0">
                          <a:solidFill>
                            <a:srgbClr val="262626"/>
                          </a:solidFill>
                          <a:latin typeface="Arial"/>
                        </a:rPr>
                        <a:t>519</a:t>
                      </a:r>
                    </a:p>
                  </a:txBody>
                  <a:tcPr>
                    <a:solidFill>
                      <a:srgbClr val="FFFFFF"/>
                    </a:solidFill>
                  </a:tcPr>
                </a:tc>
                <a:tc>
                  <a:txBody>
                    <a:bodyPr/>
                    <a:lstStyle/>
                    <a:p>
                      <a:pPr algn="ctr"/>
                      <a:r>
                        <a:rPr sz="850" b="0" i="0">
                          <a:solidFill>
                            <a:srgbClr val="262626"/>
                          </a:solidFill>
                          <a:latin typeface="Arial"/>
                        </a:rPr>
                        <a:t>0</a:t>
                      </a:r>
                    </a:p>
                  </a:txBody>
                  <a:tcPr>
                    <a:solidFill>
                      <a:srgbClr val="FFFFFF"/>
                    </a:solidFill>
                  </a:tcPr>
                </a:tc>
                <a:tc>
                  <a:txBody>
                    <a:bodyPr/>
                    <a:lstStyle/>
                    <a:p>
                      <a:pPr algn="ctr"/>
                      <a:r>
                        <a:rPr sz="850" b="0" i="0">
                          <a:solidFill>
                            <a:srgbClr val="262626"/>
                          </a:solidFill>
                          <a:latin typeface="Arial"/>
                        </a:rPr>
                        <a:t>1</a:t>
                      </a:r>
                    </a:p>
                  </a:txBody>
                  <a:tcPr>
                    <a:solidFill>
                      <a:srgbClr val="FFFFFF"/>
                    </a:solidFill>
                  </a:tcPr>
                </a:tc>
                <a:extLst>
                  <a:ext uri="{0D108BD9-81ED-4DB2-BD59-A6C34878D82A}">
                    <a16:rowId xmlns:a16="http://schemas.microsoft.com/office/drawing/2014/main" val="10007"/>
                  </a:ext>
                </a:extLst>
              </a:tr>
              <a:tr h="224028">
                <a:tc>
                  <a:txBody>
                    <a:bodyPr/>
                    <a:lstStyle/>
                    <a:p>
                      <a:pPr algn="ctr"/>
                      <a:r>
                        <a:rPr sz="850" b="1" i="0">
                          <a:solidFill>
                            <a:srgbClr val="262626"/>
                          </a:solidFill>
                          <a:latin typeface="Arial"/>
                        </a:rPr>
                        <a:t>50</a:t>
                      </a:r>
                    </a:p>
                  </a:txBody>
                  <a:tcPr>
                    <a:solidFill>
                      <a:srgbClr val="F2F2F2"/>
                    </a:solidFill>
                  </a:tcPr>
                </a:tc>
                <a:tc>
                  <a:txBody>
                    <a:bodyPr/>
                    <a:lstStyle/>
                    <a:p>
                      <a:pPr algn="l"/>
                      <a:r>
                        <a:rPr sz="850" b="0" i="0">
                          <a:solidFill>
                            <a:srgbClr val="262626"/>
                          </a:solidFill>
                          <a:latin typeface="Arial"/>
                        </a:rPr>
                        <a:t>Blake Bullard</a:t>
                      </a:r>
                    </a:p>
                  </a:txBody>
                  <a:tcPr>
                    <a:solidFill>
                      <a:srgbClr val="F2F2F2"/>
                    </a:solidFill>
                  </a:tcPr>
                </a:tc>
                <a:tc>
                  <a:txBody>
                    <a:bodyPr/>
                    <a:lstStyle/>
                    <a:p>
                      <a:pPr algn="ctr"/>
                      <a:r>
                        <a:rPr sz="850" b="0" i="0">
                          <a:solidFill>
                            <a:srgbClr val="262626"/>
                          </a:solidFill>
                          <a:latin typeface="Arial"/>
                        </a:rPr>
                        <a:t>436</a:t>
                      </a:r>
                    </a:p>
                  </a:txBody>
                  <a:tcPr>
                    <a:solidFill>
                      <a:srgbClr val="F2F2F2"/>
                    </a:solidFill>
                  </a:tcPr>
                </a:tc>
                <a:tc>
                  <a:txBody>
                    <a:bodyPr/>
                    <a:lstStyle/>
                    <a:p>
                      <a:pPr algn="ctr"/>
                      <a:r>
                        <a:rPr sz="850" b="0" i="0">
                          <a:solidFill>
                            <a:srgbClr val="262626"/>
                          </a:solidFill>
                          <a:latin typeface="Arial"/>
                        </a:rPr>
                        <a:t>0</a:t>
                      </a:r>
                    </a:p>
                  </a:txBody>
                  <a:tcPr>
                    <a:solidFill>
                      <a:srgbClr val="F2F2F2"/>
                    </a:solidFill>
                  </a:tcPr>
                </a:tc>
                <a:tc>
                  <a:txBody>
                    <a:bodyPr/>
                    <a:lstStyle/>
                    <a:p>
                      <a:pPr algn="ctr"/>
                      <a:r>
                        <a:rPr sz="850" b="0" i="0">
                          <a:solidFill>
                            <a:srgbClr val="262626"/>
                          </a:solidFill>
                          <a:latin typeface="Arial"/>
                        </a:rPr>
                        <a:t>2</a:t>
                      </a:r>
                    </a:p>
                  </a:txBody>
                  <a:tcPr>
                    <a:solidFill>
                      <a:srgbClr val="F2F2F2"/>
                    </a:solidFill>
                  </a:tcPr>
                </a:tc>
                <a:extLst>
                  <a:ext uri="{0D108BD9-81ED-4DB2-BD59-A6C34878D82A}">
                    <a16:rowId xmlns:a16="http://schemas.microsoft.com/office/drawing/2014/main" val="10008"/>
                  </a:ext>
                </a:extLst>
              </a:tr>
              <a:tr h="224028">
                <a:tc>
                  <a:txBody>
                    <a:bodyPr/>
                    <a:lstStyle/>
                    <a:p>
                      <a:pPr algn="ctr"/>
                      <a:r>
                        <a:rPr sz="850" b="1" i="0">
                          <a:solidFill>
                            <a:srgbClr val="262626"/>
                          </a:solidFill>
                          <a:latin typeface="Arial"/>
                        </a:rPr>
                        <a:t>82</a:t>
                      </a:r>
                    </a:p>
                  </a:txBody>
                  <a:tcPr>
                    <a:solidFill>
                      <a:srgbClr val="FFFFFF"/>
                    </a:solidFill>
                  </a:tcPr>
                </a:tc>
                <a:tc>
                  <a:txBody>
                    <a:bodyPr/>
                    <a:lstStyle/>
                    <a:p>
                      <a:pPr algn="l"/>
                      <a:r>
                        <a:rPr sz="850" b="0" i="0">
                          <a:solidFill>
                            <a:srgbClr val="262626"/>
                          </a:solidFill>
                          <a:latin typeface="Arial"/>
                        </a:rPr>
                        <a:t>Zach Leachman</a:t>
                      </a:r>
                    </a:p>
                  </a:txBody>
                  <a:tcPr>
                    <a:solidFill>
                      <a:srgbClr val="FFFFFF"/>
                    </a:solidFill>
                  </a:tcPr>
                </a:tc>
                <a:tc>
                  <a:txBody>
                    <a:bodyPr/>
                    <a:lstStyle/>
                    <a:p>
                      <a:pPr algn="ctr"/>
                      <a:r>
                        <a:rPr sz="850" b="0" i="0">
                          <a:solidFill>
                            <a:srgbClr val="262626"/>
                          </a:solidFill>
                          <a:latin typeface="Arial"/>
                        </a:rPr>
                        <a:t>212</a:t>
                      </a:r>
                    </a:p>
                  </a:txBody>
                  <a:tcPr>
                    <a:solidFill>
                      <a:srgbClr val="FFFFFF"/>
                    </a:solidFill>
                  </a:tcPr>
                </a:tc>
                <a:tc>
                  <a:txBody>
                    <a:bodyPr/>
                    <a:lstStyle/>
                    <a:p>
                      <a:pPr algn="ctr"/>
                      <a:r>
                        <a:rPr sz="850" b="0" i="0">
                          <a:solidFill>
                            <a:srgbClr val="262626"/>
                          </a:solidFill>
                          <a:latin typeface="Arial"/>
                        </a:rPr>
                        <a:t>0</a:t>
                      </a:r>
                    </a:p>
                  </a:txBody>
                  <a:tcPr>
                    <a:solidFill>
                      <a:srgbClr val="FFFFFF"/>
                    </a:solidFill>
                  </a:tcPr>
                </a:tc>
                <a:tc>
                  <a:txBody>
                    <a:bodyPr/>
                    <a:lstStyle/>
                    <a:p>
                      <a:pPr algn="ctr"/>
                      <a:r>
                        <a:rPr sz="850" b="0" i="0">
                          <a:solidFill>
                            <a:srgbClr val="262626"/>
                          </a:solidFill>
                          <a:latin typeface="Arial"/>
                        </a:rPr>
                        <a:t>1</a:t>
                      </a:r>
                    </a:p>
                  </a:txBody>
                  <a:tcPr>
                    <a:solidFill>
                      <a:srgbClr val="FFFFFF"/>
                    </a:solidFill>
                  </a:tcPr>
                </a:tc>
                <a:extLst>
                  <a:ext uri="{0D108BD9-81ED-4DB2-BD59-A6C34878D82A}">
                    <a16:rowId xmlns:a16="http://schemas.microsoft.com/office/drawing/2014/main" val="10009"/>
                  </a:ext>
                </a:extLst>
              </a:tr>
              <a:tr h="224028">
                <a:tc>
                  <a:txBody>
                    <a:bodyPr/>
                    <a:lstStyle/>
                    <a:p>
                      <a:pPr algn="ctr"/>
                      <a:r>
                        <a:rPr sz="850" b="1" i="0">
                          <a:solidFill>
                            <a:srgbClr val="262626"/>
                          </a:solidFill>
                          <a:latin typeface="Arial"/>
                        </a:rPr>
                        <a:t>93</a:t>
                      </a:r>
                    </a:p>
                  </a:txBody>
                  <a:tcPr>
                    <a:solidFill>
                      <a:srgbClr val="F2F2F2"/>
                    </a:solidFill>
                  </a:tcPr>
                </a:tc>
                <a:tc>
                  <a:txBody>
                    <a:bodyPr/>
                    <a:lstStyle/>
                    <a:p>
                      <a:pPr algn="l"/>
                      <a:r>
                        <a:rPr sz="850" b="0" i="0">
                          <a:solidFill>
                            <a:srgbClr val="262626"/>
                          </a:solidFill>
                          <a:latin typeface="Arial"/>
                        </a:rPr>
                        <a:t>Cole Jamieson </a:t>
                      </a:r>
                    </a:p>
                  </a:txBody>
                  <a:tcPr>
                    <a:solidFill>
                      <a:srgbClr val="F2F2F2"/>
                    </a:solidFill>
                  </a:tcPr>
                </a:tc>
                <a:tc>
                  <a:txBody>
                    <a:bodyPr/>
                    <a:lstStyle/>
                    <a:p>
                      <a:pPr algn="ctr"/>
                      <a:r>
                        <a:rPr sz="850" b="0" i="0">
                          <a:solidFill>
                            <a:srgbClr val="262626"/>
                          </a:solidFill>
                          <a:latin typeface="Arial"/>
                        </a:rPr>
                        <a:t>169</a:t>
                      </a:r>
                    </a:p>
                  </a:txBody>
                  <a:tcPr>
                    <a:solidFill>
                      <a:srgbClr val="F2F2F2"/>
                    </a:solidFill>
                  </a:tcPr>
                </a:tc>
                <a:tc>
                  <a:txBody>
                    <a:bodyPr/>
                    <a:lstStyle/>
                    <a:p>
                      <a:pPr algn="ctr"/>
                      <a:r>
                        <a:rPr sz="850" b="0" i="0">
                          <a:solidFill>
                            <a:srgbClr val="262626"/>
                          </a:solidFill>
                          <a:latin typeface="Arial"/>
                        </a:rPr>
                        <a:t>0</a:t>
                      </a:r>
                    </a:p>
                  </a:txBody>
                  <a:tcPr>
                    <a:solidFill>
                      <a:srgbClr val="F2F2F2"/>
                    </a:solidFill>
                  </a:tcPr>
                </a:tc>
                <a:tc>
                  <a:txBody>
                    <a:bodyPr/>
                    <a:lstStyle/>
                    <a:p>
                      <a:pPr algn="ctr"/>
                      <a:r>
                        <a:rPr sz="850" b="0" i="0">
                          <a:solidFill>
                            <a:srgbClr val="262626"/>
                          </a:solidFill>
                          <a:latin typeface="Arial"/>
                        </a:rPr>
                        <a:t>1</a:t>
                      </a:r>
                    </a:p>
                  </a:txBody>
                  <a:tcPr>
                    <a:solidFill>
                      <a:srgbClr val="F2F2F2"/>
                    </a:solidFill>
                  </a:tcPr>
                </a:tc>
                <a:extLst>
                  <a:ext uri="{0D108BD9-81ED-4DB2-BD59-A6C34878D82A}">
                    <a16:rowId xmlns:a16="http://schemas.microsoft.com/office/drawing/2014/main" val="10010"/>
                  </a:ext>
                </a:extLst>
              </a:tr>
              <a:tr h="224028">
                <a:tc>
                  <a:txBody>
                    <a:bodyPr/>
                    <a:lstStyle/>
                    <a:p>
                      <a:pPr algn="ctr"/>
                      <a:r>
                        <a:rPr sz="850" b="1" i="0">
                          <a:solidFill>
                            <a:srgbClr val="262626"/>
                          </a:solidFill>
                          <a:latin typeface="Arial"/>
                        </a:rPr>
                        <a:t>110</a:t>
                      </a:r>
                    </a:p>
                  </a:txBody>
                  <a:tcPr>
                    <a:solidFill>
                      <a:srgbClr val="FFFFFF"/>
                    </a:solidFill>
                  </a:tcPr>
                </a:tc>
                <a:tc>
                  <a:txBody>
                    <a:bodyPr/>
                    <a:lstStyle/>
                    <a:p>
                      <a:pPr algn="l"/>
                      <a:r>
                        <a:rPr sz="850" b="0" i="0">
                          <a:solidFill>
                            <a:srgbClr val="262626"/>
                          </a:solidFill>
                          <a:latin typeface="Arial"/>
                        </a:rPr>
                        <a:t>Porter Middaugh</a:t>
                      </a:r>
                    </a:p>
                  </a:txBody>
                  <a:tcPr>
                    <a:solidFill>
                      <a:srgbClr val="FFFFFF"/>
                    </a:solidFill>
                  </a:tcPr>
                </a:tc>
                <a:tc>
                  <a:txBody>
                    <a:bodyPr/>
                    <a:lstStyle/>
                    <a:p>
                      <a:pPr algn="ctr"/>
                      <a:r>
                        <a:rPr sz="850" b="0" i="0">
                          <a:solidFill>
                            <a:srgbClr val="262626"/>
                          </a:solidFill>
                          <a:latin typeface="Arial"/>
                        </a:rPr>
                        <a:t>115</a:t>
                      </a:r>
                    </a:p>
                  </a:txBody>
                  <a:tcPr>
                    <a:solidFill>
                      <a:srgbClr val="FFFFFF"/>
                    </a:solidFill>
                  </a:tcPr>
                </a:tc>
                <a:tc>
                  <a:txBody>
                    <a:bodyPr/>
                    <a:lstStyle/>
                    <a:p>
                      <a:pPr algn="ctr"/>
                      <a:r>
                        <a:rPr sz="850" b="0" i="0">
                          <a:solidFill>
                            <a:srgbClr val="262626"/>
                          </a:solidFill>
                          <a:latin typeface="Arial"/>
                        </a:rPr>
                        <a:t>0</a:t>
                      </a:r>
                    </a:p>
                  </a:txBody>
                  <a:tcPr>
                    <a:solidFill>
                      <a:srgbClr val="FFFFFF"/>
                    </a:solidFill>
                  </a:tcPr>
                </a:tc>
                <a:tc>
                  <a:txBody>
                    <a:bodyPr/>
                    <a:lstStyle/>
                    <a:p>
                      <a:pPr algn="ctr"/>
                      <a:r>
                        <a:rPr sz="850" b="0" i="0">
                          <a:solidFill>
                            <a:srgbClr val="262626"/>
                          </a:solidFill>
                          <a:latin typeface="Arial"/>
                        </a:rPr>
                        <a:t>1</a:t>
                      </a:r>
                    </a:p>
                  </a:txBody>
                  <a:tcPr>
                    <a:solidFill>
                      <a:srgbClr val="FFFFFF"/>
                    </a:solidFill>
                  </a:tcPr>
                </a:tc>
                <a:extLst>
                  <a:ext uri="{0D108BD9-81ED-4DB2-BD59-A6C34878D82A}">
                    <a16:rowId xmlns:a16="http://schemas.microsoft.com/office/drawing/2014/main" val="10011"/>
                  </a:ext>
                </a:extLst>
              </a:tr>
              <a:tr h="224028">
                <a:tc>
                  <a:txBody>
                    <a:bodyPr/>
                    <a:lstStyle/>
                    <a:p>
                      <a:pPr algn="ctr"/>
                      <a:r>
                        <a:rPr sz="850" b="1" i="0">
                          <a:solidFill>
                            <a:srgbClr val="262626"/>
                          </a:solidFill>
                          <a:latin typeface="Arial"/>
                        </a:rPr>
                        <a:t>113</a:t>
                      </a:r>
                    </a:p>
                  </a:txBody>
                  <a:tcPr>
                    <a:solidFill>
                      <a:srgbClr val="F2F2F2"/>
                    </a:solidFill>
                  </a:tcPr>
                </a:tc>
                <a:tc>
                  <a:txBody>
                    <a:bodyPr/>
                    <a:lstStyle/>
                    <a:p>
                      <a:pPr algn="l"/>
                      <a:r>
                        <a:rPr sz="850" b="0" i="0">
                          <a:solidFill>
                            <a:srgbClr val="262626"/>
                          </a:solidFill>
                          <a:latin typeface="Arial"/>
                        </a:rPr>
                        <a:t>Morgan Pearson</a:t>
                      </a:r>
                    </a:p>
                  </a:txBody>
                  <a:tcPr>
                    <a:solidFill>
                      <a:srgbClr val="F2F2F2"/>
                    </a:solidFill>
                  </a:tcPr>
                </a:tc>
                <a:tc>
                  <a:txBody>
                    <a:bodyPr/>
                    <a:lstStyle/>
                    <a:p>
                      <a:pPr algn="ctr"/>
                      <a:r>
                        <a:rPr sz="850" b="0" i="0">
                          <a:solidFill>
                            <a:srgbClr val="262626"/>
                          </a:solidFill>
                          <a:latin typeface="Arial"/>
                        </a:rPr>
                        <a:t>112</a:t>
                      </a:r>
                    </a:p>
                  </a:txBody>
                  <a:tcPr>
                    <a:solidFill>
                      <a:srgbClr val="F2F2F2"/>
                    </a:solidFill>
                  </a:tcPr>
                </a:tc>
                <a:tc>
                  <a:txBody>
                    <a:bodyPr/>
                    <a:lstStyle/>
                    <a:p>
                      <a:pPr algn="ctr"/>
                      <a:r>
                        <a:rPr sz="850" b="0" i="0">
                          <a:solidFill>
                            <a:srgbClr val="262626"/>
                          </a:solidFill>
                          <a:latin typeface="Arial"/>
                        </a:rPr>
                        <a:t>0</a:t>
                      </a:r>
                    </a:p>
                  </a:txBody>
                  <a:tcPr>
                    <a:solidFill>
                      <a:srgbClr val="F2F2F2"/>
                    </a:solidFill>
                  </a:tcPr>
                </a:tc>
                <a:tc>
                  <a:txBody>
                    <a:bodyPr/>
                    <a:lstStyle/>
                    <a:p>
                      <a:pPr algn="ctr"/>
                      <a:r>
                        <a:rPr sz="850" b="0" i="0">
                          <a:solidFill>
                            <a:srgbClr val="262626"/>
                          </a:solidFill>
                          <a:latin typeface="Arial"/>
                        </a:rPr>
                        <a:t>1</a:t>
                      </a:r>
                    </a:p>
                  </a:txBody>
                  <a:tcPr>
                    <a:solidFill>
                      <a:srgbClr val="F2F2F2"/>
                    </a:solidFill>
                  </a:tcPr>
                </a:tc>
                <a:extLst>
                  <a:ext uri="{0D108BD9-81ED-4DB2-BD59-A6C34878D82A}">
                    <a16:rowId xmlns:a16="http://schemas.microsoft.com/office/drawing/2014/main" val="10012"/>
                  </a:ext>
                </a:extLst>
              </a:tr>
            </a:tbl>
          </a:graphicData>
        </a:graphic>
      </p:graphicFrame>
      <p:sp>
        <p:nvSpPr>
          <p:cNvPr id="13" name="Rectangle 12"/>
          <p:cNvSpPr/>
          <p:nvPr/>
        </p:nvSpPr>
        <p:spPr>
          <a:xfrm>
            <a:off x="6126480" y="1691640"/>
            <a:ext cx="5788152" cy="292608"/>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126480" y="1719072"/>
            <a:ext cx="5788152" cy="237744"/>
          </a:xfrm>
          <a:prstGeom prst="rect">
            <a:avLst/>
          </a:prstGeom>
          <a:noFill/>
        </p:spPr>
        <p:txBody>
          <a:bodyPr wrap="square">
            <a:spAutoFit/>
          </a:bodyPr>
          <a:lstStyle/>
          <a:p>
            <a:pPr algn="ctr"/>
            <a:r>
              <a:rPr sz="1100" b="1" i="0">
                <a:solidFill>
                  <a:srgbClr val="FFFFFF"/>
                </a:solidFill>
                <a:latin typeface="Arial"/>
              </a:rPr>
              <a:t>ELITE WOMEN</a:t>
            </a:r>
          </a:p>
        </p:txBody>
      </p:sp>
      <p:graphicFrame>
        <p:nvGraphicFramePr>
          <p:cNvPr id="15" name="Table 14"/>
          <p:cNvGraphicFramePr>
            <a:graphicFrameLocks noGrp="1"/>
          </p:cNvGraphicFramePr>
          <p:nvPr/>
        </p:nvGraphicFramePr>
        <p:xfrm>
          <a:off x="6126480" y="2020824"/>
          <a:ext cx="5787236" cy="2912364"/>
        </p:xfrm>
        <a:graphic>
          <a:graphicData uri="http://schemas.openxmlformats.org/drawingml/2006/table">
            <a:tbl>
              <a:tblPr firstRow="1" bandRow="1">
                <a:tableStyleId>{5C22544A-7EE6-4342-B048-85BDC9FD1C3A}</a:tableStyleId>
              </a:tblPr>
              <a:tblGrid>
                <a:gridCol w="783640">
                  <a:extLst>
                    <a:ext uri="{9D8B030D-6E8A-4147-A177-3AD203B41FA5}">
                      <a16:colId xmlns:a16="http://schemas.microsoft.com/office/drawing/2014/main" val="20000"/>
                    </a:ext>
                  </a:extLst>
                </a:gridCol>
                <a:gridCol w="2531973">
                  <a:extLst>
                    <a:ext uri="{9D8B030D-6E8A-4147-A177-3AD203B41FA5}">
                      <a16:colId xmlns:a16="http://schemas.microsoft.com/office/drawing/2014/main" val="20001"/>
                    </a:ext>
                  </a:extLst>
                </a:gridCol>
                <a:gridCol w="1136599">
                  <a:extLst>
                    <a:ext uri="{9D8B030D-6E8A-4147-A177-3AD203B41FA5}">
                      <a16:colId xmlns:a16="http://schemas.microsoft.com/office/drawing/2014/main" val="20002"/>
                    </a:ext>
                  </a:extLst>
                </a:gridCol>
                <a:gridCol w="672084">
                  <a:extLst>
                    <a:ext uri="{9D8B030D-6E8A-4147-A177-3AD203B41FA5}">
                      <a16:colId xmlns:a16="http://schemas.microsoft.com/office/drawing/2014/main" val="20003"/>
                    </a:ext>
                  </a:extLst>
                </a:gridCol>
                <a:gridCol w="662940">
                  <a:extLst>
                    <a:ext uri="{9D8B030D-6E8A-4147-A177-3AD203B41FA5}">
                      <a16:colId xmlns:a16="http://schemas.microsoft.com/office/drawing/2014/main" val="20004"/>
                    </a:ext>
                  </a:extLst>
                </a:gridCol>
              </a:tblGrid>
              <a:tr h="224028">
                <a:tc>
                  <a:txBody>
                    <a:bodyPr/>
                    <a:lstStyle/>
                    <a:p>
                      <a:pPr algn="ctr"/>
                      <a:r>
                        <a:rPr sz="900" b="1" i="0">
                          <a:solidFill>
                            <a:srgbClr val="FFFFFF"/>
                          </a:solidFill>
                          <a:latin typeface="Arial"/>
                        </a:rPr>
                        <a:t>Rank</a:t>
                      </a:r>
                    </a:p>
                  </a:txBody>
                  <a:tcPr>
                    <a:solidFill>
                      <a:srgbClr val="002060"/>
                    </a:solidFill>
                  </a:tcPr>
                </a:tc>
                <a:tc>
                  <a:txBody>
                    <a:bodyPr/>
                    <a:lstStyle/>
                    <a:p>
                      <a:pPr algn="l"/>
                      <a:r>
                        <a:rPr sz="900" b="1" i="0">
                          <a:solidFill>
                            <a:srgbClr val="FFFFFF"/>
                          </a:solidFill>
                          <a:latin typeface="Arial"/>
                        </a:rPr>
                        <a:t>Athlete</a:t>
                      </a:r>
                    </a:p>
                  </a:txBody>
                  <a:tcPr>
                    <a:solidFill>
                      <a:srgbClr val="002060"/>
                    </a:solidFill>
                  </a:tcPr>
                </a:tc>
                <a:tc>
                  <a:txBody>
                    <a:bodyPr/>
                    <a:lstStyle/>
                    <a:p>
                      <a:pPr algn="ctr"/>
                      <a:r>
                        <a:rPr sz="900" b="1" i="0">
                          <a:solidFill>
                            <a:srgbClr val="FFFFFF"/>
                          </a:solidFill>
                          <a:latin typeface="Arial"/>
                        </a:rPr>
                        <a:t>Points</a:t>
                      </a:r>
                    </a:p>
                  </a:txBody>
                  <a:tcPr>
                    <a:solidFill>
                      <a:srgbClr val="002060"/>
                    </a:solidFill>
                  </a:tcPr>
                </a:tc>
                <a:tc>
                  <a:txBody>
                    <a:bodyPr/>
                    <a:lstStyle/>
                    <a:p>
                      <a:pPr algn="ctr"/>
                      <a:r>
                        <a:rPr sz="900" b="1" i="0">
                          <a:solidFill>
                            <a:srgbClr val="FFFFFF"/>
                          </a:solidFill>
                          <a:latin typeface="Arial"/>
                        </a:rPr>
                        <a:t>Second</a:t>
                      </a:r>
                    </a:p>
                  </a:txBody>
                  <a:tcPr>
                    <a:solidFill>
                      <a:srgbClr val="002060"/>
                    </a:solidFill>
                  </a:tcPr>
                </a:tc>
                <a:tc>
                  <a:txBody>
                    <a:bodyPr/>
                    <a:lstStyle/>
                    <a:p>
                      <a:pPr algn="ctr"/>
                      <a:r>
                        <a:rPr sz="900" b="1" i="0">
                          <a:solidFill>
                            <a:srgbClr val="FFFFFF"/>
                          </a:solidFill>
                          <a:latin typeface="Arial"/>
                        </a:rPr>
                        <a:t>First</a:t>
                      </a:r>
                    </a:p>
                  </a:txBody>
                  <a:tcPr>
                    <a:solidFill>
                      <a:srgbClr val="002060"/>
                    </a:solidFill>
                  </a:tcPr>
                </a:tc>
                <a:extLst>
                  <a:ext uri="{0D108BD9-81ED-4DB2-BD59-A6C34878D82A}">
                    <a16:rowId xmlns:a16="http://schemas.microsoft.com/office/drawing/2014/main" val="10000"/>
                  </a:ext>
                </a:extLst>
              </a:tr>
              <a:tr h="224028">
                <a:tc>
                  <a:txBody>
                    <a:bodyPr/>
                    <a:lstStyle/>
                    <a:p>
                      <a:pPr algn="ctr"/>
                      <a:r>
                        <a:rPr sz="850" b="1" i="0">
                          <a:solidFill>
                            <a:srgbClr val="262626"/>
                          </a:solidFill>
                          <a:latin typeface="Arial"/>
                        </a:rPr>
                        <a:t>11</a:t>
                      </a:r>
                    </a:p>
                  </a:txBody>
                  <a:tcPr>
                    <a:solidFill>
                      <a:srgbClr val="FFFFFF"/>
                    </a:solidFill>
                  </a:tcPr>
                </a:tc>
                <a:tc>
                  <a:txBody>
                    <a:bodyPr/>
                    <a:lstStyle/>
                    <a:p>
                      <a:pPr algn="l"/>
                      <a:r>
                        <a:rPr sz="850" b="0" i="0">
                          <a:solidFill>
                            <a:srgbClr val="262626"/>
                          </a:solidFill>
                          <a:latin typeface="Arial"/>
                        </a:rPr>
                        <a:t>Taylor Spivey</a:t>
                      </a:r>
                    </a:p>
                  </a:txBody>
                  <a:tcPr>
                    <a:solidFill>
                      <a:srgbClr val="FFFFFF"/>
                    </a:solidFill>
                  </a:tcPr>
                </a:tc>
                <a:tc>
                  <a:txBody>
                    <a:bodyPr/>
                    <a:lstStyle/>
                    <a:p>
                      <a:pPr algn="ctr"/>
                      <a:r>
                        <a:rPr sz="850" b="0" i="0">
                          <a:solidFill>
                            <a:srgbClr val="262626"/>
                          </a:solidFill>
                          <a:latin typeface="Arial"/>
                        </a:rPr>
                        <a:t>1,370</a:t>
                      </a:r>
                    </a:p>
                  </a:txBody>
                  <a:tcPr>
                    <a:solidFill>
                      <a:srgbClr val="FFFFFF"/>
                    </a:solidFill>
                  </a:tcPr>
                </a:tc>
                <a:tc>
                  <a:txBody>
                    <a:bodyPr/>
                    <a:lstStyle/>
                    <a:p>
                      <a:pPr algn="ctr"/>
                      <a:r>
                        <a:rPr sz="850" b="0" i="0">
                          <a:solidFill>
                            <a:srgbClr val="262626"/>
                          </a:solidFill>
                          <a:latin typeface="Arial"/>
                        </a:rPr>
                        <a:t>0</a:t>
                      </a:r>
                    </a:p>
                  </a:txBody>
                  <a:tcPr>
                    <a:solidFill>
                      <a:srgbClr val="FFFFFF"/>
                    </a:solidFill>
                  </a:tcPr>
                </a:tc>
                <a:tc>
                  <a:txBody>
                    <a:bodyPr/>
                    <a:lstStyle/>
                    <a:p>
                      <a:pPr algn="ctr"/>
                      <a:r>
                        <a:rPr sz="850" b="0" i="0">
                          <a:solidFill>
                            <a:srgbClr val="262626"/>
                          </a:solidFill>
                          <a:latin typeface="Arial"/>
                        </a:rPr>
                        <a:t>2</a:t>
                      </a:r>
                    </a:p>
                  </a:txBody>
                  <a:tcPr>
                    <a:solidFill>
                      <a:srgbClr val="FFFFFF"/>
                    </a:solidFill>
                  </a:tcPr>
                </a:tc>
                <a:extLst>
                  <a:ext uri="{0D108BD9-81ED-4DB2-BD59-A6C34878D82A}">
                    <a16:rowId xmlns:a16="http://schemas.microsoft.com/office/drawing/2014/main" val="10001"/>
                  </a:ext>
                </a:extLst>
              </a:tr>
              <a:tr h="224028">
                <a:tc>
                  <a:txBody>
                    <a:bodyPr/>
                    <a:lstStyle/>
                    <a:p>
                      <a:pPr algn="ctr"/>
                      <a:r>
                        <a:rPr sz="850" b="1" i="0">
                          <a:solidFill>
                            <a:srgbClr val="262626"/>
                          </a:solidFill>
                          <a:latin typeface="Arial"/>
                        </a:rPr>
                        <a:t>14</a:t>
                      </a:r>
                    </a:p>
                  </a:txBody>
                  <a:tcPr>
                    <a:solidFill>
                      <a:srgbClr val="F2F2F2"/>
                    </a:solidFill>
                  </a:tcPr>
                </a:tc>
                <a:tc>
                  <a:txBody>
                    <a:bodyPr/>
                    <a:lstStyle/>
                    <a:p>
                      <a:pPr algn="l"/>
                      <a:r>
                        <a:rPr sz="850" b="0" i="0">
                          <a:solidFill>
                            <a:srgbClr val="262626"/>
                          </a:solidFill>
                          <a:latin typeface="Arial"/>
                        </a:rPr>
                        <a:t>Danielle Orie</a:t>
                      </a:r>
                    </a:p>
                  </a:txBody>
                  <a:tcPr>
                    <a:solidFill>
                      <a:srgbClr val="F2F2F2"/>
                    </a:solidFill>
                  </a:tcPr>
                </a:tc>
                <a:tc>
                  <a:txBody>
                    <a:bodyPr/>
                    <a:lstStyle/>
                    <a:p>
                      <a:pPr algn="ctr"/>
                      <a:r>
                        <a:rPr sz="850" b="0" i="0">
                          <a:solidFill>
                            <a:srgbClr val="262626"/>
                          </a:solidFill>
                          <a:latin typeface="Arial"/>
                        </a:rPr>
                        <a:t>1,146</a:t>
                      </a:r>
                    </a:p>
                  </a:txBody>
                  <a:tcPr>
                    <a:solidFill>
                      <a:srgbClr val="F2F2F2"/>
                    </a:solidFill>
                  </a:tcPr>
                </a:tc>
                <a:tc>
                  <a:txBody>
                    <a:bodyPr/>
                    <a:lstStyle/>
                    <a:p>
                      <a:pPr algn="ctr"/>
                      <a:r>
                        <a:rPr sz="850" b="0" i="0">
                          <a:solidFill>
                            <a:srgbClr val="262626"/>
                          </a:solidFill>
                          <a:latin typeface="Arial"/>
                        </a:rPr>
                        <a:t>0</a:t>
                      </a:r>
                    </a:p>
                  </a:txBody>
                  <a:tcPr>
                    <a:solidFill>
                      <a:srgbClr val="F2F2F2"/>
                    </a:solidFill>
                  </a:tcPr>
                </a:tc>
                <a:tc>
                  <a:txBody>
                    <a:bodyPr/>
                    <a:lstStyle/>
                    <a:p>
                      <a:pPr algn="ctr"/>
                      <a:r>
                        <a:rPr sz="850" b="0" i="0">
                          <a:solidFill>
                            <a:srgbClr val="262626"/>
                          </a:solidFill>
                          <a:latin typeface="Arial"/>
                        </a:rPr>
                        <a:t>4</a:t>
                      </a:r>
                    </a:p>
                  </a:txBody>
                  <a:tcPr>
                    <a:solidFill>
                      <a:srgbClr val="F2F2F2"/>
                    </a:solidFill>
                  </a:tcPr>
                </a:tc>
                <a:extLst>
                  <a:ext uri="{0D108BD9-81ED-4DB2-BD59-A6C34878D82A}">
                    <a16:rowId xmlns:a16="http://schemas.microsoft.com/office/drawing/2014/main" val="10002"/>
                  </a:ext>
                </a:extLst>
              </a:tr>
              <a:tr h="224028">
                <a:tc>
                  <a:txBody>
                    <a:bodyPr/>
                    <a:lstStyle/>
                    <a:p>
                      <a:pPr algn="ctr"/>
                      <a:r>
                        <a:rPr sz="850" b="1" i="0">
                          <a:solidFill>
                            <a:srgbClr val="262626"/>
                          </a:solidFill>
                          <a:latin typeface="Arial"/>
                        </a:rPr>
                        <a:t>18</a:t>
                      </a:r>
                    </a:p>
                  </a:txBody>
                  <a:tcPr>
                    <a:solidFill>
                      <a:srgbClr val="FFFFFF"/>
                    </a:solidFill>
                  </a:tcPr>
                </a:tc>
                <a:tc>
                  <a:txBody>
                    <a:bodyPr/>
                    <a:lstStyle/>
                    <a:p>
                      <a:pPr algn="l"/>
                      <a:r>
                        <a:rPr sz="850" b="0" i="0">
                          <a:solidFill>
                            <a:srgbClr val="262626"/>
                          </a:solidFill>
                          <a:latin typeface="Arial"/>
                        </a:rPr>
                        <a:t>Gina Sereno</a:t>
                      </a:r>
                    </a:p>
                  </a:txBody>
                  <a:tcPr>
                    <a:solidFill>
                      <a:srgbClr val="FFFFFF"/>
                    </a:solidFill>
                  </a:tcPr>
                </a:tc>
                <a:tc>
                  <a:txBody>
                    <a:bodyPr/>
                    <a:lstStyle/>
                    <a:p>
                      <a:pPr algn="ctr"/>
                      <a:r>
                        <a:rPr sz="850" b="0" i="0">
                          <a:solidFill>
                            <a:srgbClr val="262626"/>
                          </a:solidFill>
                          <a:latin typeface="Arial"/>
                        </a:rPr>
                        <a:t>991</a:t>
                      </a:r>
                    </a:p>
                  </a:txBody>
                  <a:tcPr>
                    <a:solidFill>
                      <a:srgbClr val="FFFFFF"/>
                    </a:solidFill>
                  </a:tcPr>
                </a:tc>
                <a:tc>
                  <a:txBody>
                    <a:bodyPr/>
                    <a:lstStyle/>
                    <a:p>
                      <a:pPr algn="ctr"/>
                      <a:r>
                        <a:rPr sz="850" b="0" i="0">
                          <a:solidFill>
                            <a:srgbClr val="262626"/>
                          </a:solidFill>
                          <a:latin typeface="Arial"/>
                        </a:rPr>
                        <a:t>0</a:t>
                      </a:r>
                    </a:p>
                  </a:txBody>
                  <a:tcPr>
                    <a:solidFill>
                      <a:srgbClr val="FFFFFF"/>
                    </a:solidFill>
                  </a:tcPr>
                </a:tc>
                <a:tc>
                  <a:txBody>
                    <a:bodyPr/>
                    <a:lstStyle/>
                    <a:p>
                      <a:pPr algn="ctr"/>
                      <a:r>
                        <a:rPr sz="850" b="0" i="0">
                          <a:solidFill>
                            <a:srgbClr val="262626"/>
                          </a:solidFill>
                          <a:latin typeface="Arial"/>
                        </a:rPr>
                        <a:t>3</a:t>
                      </a:r>
                    </a:p>
                  </a:txBody>
                  <a:tcPr>
                    <a:solidFill>
                      <a:srgbClr val="FFFFFF"/>
                    </a:solidFill>
                  </a:tcPr>
                </a:tc>
                <a:extLst>
                  <a:ext uri="{0D108BD9-81ED-4DB2-BD59-A6C34878D82A}">
                    <a16:rowId xmlns:a16="http://schemas.microsoft.com/office/drawing/2014/main" val="10003"/>
                  </a:ext>
                </a:extLst>
              </a:tr>
              <a:tr h="224028">
                <a:tc>
                  <a:txBody>
                    <a:bodyPr/>
                    <a:lstStyle/>
                    <a:p>
                      <a:pPr algn="ctr"/>
                      <a:r>
                        <a:rPr sz="850" b="1" i="0">
                          <a:solidFill>
                            <a:srgbClr val="262626"/>
                          </a:solidFill>
                          <a:latin typeface="Arial"/>
                        </a:rPr>
                        <a:t>20</a:t>
                      </a:r>
                    </a:p>
                  </a:txBody>
                  <a:tcPr>
                    <a:solidFill>
                      <a:srgbClr val="F2F2F2"/>
                    </a:solidFill>
                  </a:tcPr>
                </a:tc>
                <a:tc>
                  <a:txBody>
                    <a:bodyPr/>
                    <a:lstStyle/>
                    <a:p>
                      <a:pPr algn="l"/>
                      <a:r>
                        <a:rPr sz="850" b="0" i="0">
                          <a:solidFill>
                            <a:srgbClr val="262626"/>
                          </a:solidFill>
                          <a:latin typeface="Arial"/>
                        </a:rPr>
                        <a:t>Taylor Knibb</a:t>
                      </a:r>
                    </a:p>
                  </a:txBody>
                  <a:tcPr>
                    <a:solidFill>
                      <a:srgbClr val="F2F2F2"/>
                    </a:solidFill>
                  </a:tcPr>
                </a:tc>
                <a:tc>
                  <a:txBody>
                    <a:bodyPr/>
                    <a:lstStyle/>
                    <a:p>
                      <a:pPr algn="ctr"/>
                      <a:r>
                        <a:rPr sz="850" b="0" i="0">
                          <a:solidFill>
                            <a:srgbClr val="262626"/>
                          </a:solidFill>
                          <a:latin typeface="Arial"/>
                        </a:rPr>
                        <a:t>921</a:t>
                      </a:r>
                    </a:p>
                  </a:txBody>
                  <a:tcPr>
                    <a:solidFill>
                      <a:srgbClr val="F2F2F2"/>
                    </a:solidFill>
                  </a:tcPr>
                </a:tc>
                <a:tc>
                  <a:txBody>
                    <a:bodyPr/>
                    <a:lstStyle/>
                    <a:p>
                      <a:pPr algn="ctr"/>
                      <a:r>
                        <a:rPr sz="850" b="0" i="0">
                          <a:solidFill>
                            <a:srgbClr val="262626"/>
                          </a:solidFill>
                          <a:latin typeface="Arial"/>
                        </a:rPr>
                        <a:t>0</a:t>
                      </a:r>
                    </a:p>
                  </a:txBody>
                  <a:tcPr>
                    <a:solidFill>
                      <a:srgbClr val="F2F2F2"/>
                    </a:solidFill>
                  </a:tcPr>
                </a:tc>
                <a:tc>
                  <a:txBody>
                    <a:bodyPr/>
                    <a:lstStyle/>
                    <a:p>
                      <a:pPr algn="ctr"/>
                      <a:r>
                        <a:rPr sz="850" b="0" i="0">
                          <a:solidFill>
                            <a:srgbClr val="262626"/>
                          </a:solidFill>
                          <a:latin typeface="Arial"/>
                        </a:rPr>
                        <a:t>2</a:t>
                      </a:r>
                    </a:p>
                  </a:txBody>
                  <a:tcPr>
                    <a:solidFill>
                      <a:srgbClr val="F2F2F2"/>
                    </a:solidFill>
                  </a:tcPr>
                </a:tc>
                <a:extLst>
                  <a:ext uri="{0D108BD9-81ED-4DB2-BD59-A6C34878D82A}">
                    <a16:rowId xmlns:a16="http://schemas.microsoft.com/office/drawing/2014/main" val="10004"/>
                  </a:ext>
                </a:extLst>
              </a:tr>
              <a:tr h="224028">
                <a:tc>
                  <a:txBody>
                    <a:bodyPr/>
                    <a:lstStyle/>
                    <a:p>
                      <a:pPr algn="ctr"/>
                      <a:r>
                        <a:rPr sz="850" b="1" i="0">
                          <a:solidFill>
                            <a:srgbClr val="262626"/>
                          </a:solidFill>
                          <a:latin typeface="Arial"/>
                        </a:rPr>
                        <a:t>38</a:t>
                      </a:r>
                    </a:p>
                  </a:txBody>
                  <a:tcPr>
                    <a:solidFill>
                      <a:srgbClr val="FFFFFF"/>
                    </a:solidFill>
                  </a:tcPr>
                </a:tc>
                <a:tc>
                  <a:txBody>
                    <a:bodyPr/>
                    <a:lstStyle/>
                    <a:p>
                      <a:pPr algn="l"/>
                      <a:r>
                        <a:rPr sz="850" b="0" i="0">
                          <a:solidFill>
                            <a:srgbClr val="262626"/>
                          </a:solidFill>
                          <a:latin typeface="Arial"/>
                        </a:rPr>
                        <a:t>Eleanor Beveridge</a:t>
                      </a:r>
                    </a:p>
                  </a:txBody>
                  <a:tcPr>
                    <a:solidFill>
                      <a:srgbClr val="FFFFFF"/>
                    </a:solidFill>
                  </a:tcPr>
                </a:tc>
                <a:tc>
                  <a:txBody>
                    <a:bodyPr/>
                    <a:lstStyle/>
                    <a:p>
                      <a:pPr algn="ctr"/>
                      <a:r>
                        <a:rPr sz="850" b="0" i="0">
                          <a:solidFill>
                            <a:srgbClr val="262626"/>
                          </a:solidFill>
                          <a:latin typeface="Arial"/>
                        </a:rPr>
                        <a:t>519</a:t>
                      </a:r>
                    </a:p>
                  </a:txBody>
                  <a:tcPr>
                    <a:solidFill>
                      <a:srgbClr val="FFFFFF"/>
                    </a:solidFill>
                  </a:tcPr>
                </a:tc>
                <a:tc>
                  <a:txBody>
                    <a:bodyPr/>
                    <a:lstStyle/>
                    <a:p>
                      <a:pPr algn="ctr"/>
                      <a:r>
                        <a:rPr sz="850" b="0" i="0">
                          <a:solidFill>
                            <a:srgbClr val="262626"/>
                          </a:solidFill>
                          <a:latin typeface="Arial"/>
                        </a:rPr>
                        <a:t>0</a:t>
                      </a:r>
                    </a:p>
                  </a:txBody>
                  <a:tcPr>
                    <a:solidFill>
                      <a:srgbClr val="FFFFFF"/>
                    </a:solidFill>
                  </a:tcPr>
                </a:tc>
                <a:tc>
                  <a:txBody>
                    <a:bodyPr/>
                    <a:lstStyle/>
                    <a:p>
                      <a:pPr algn="ctr"/>
                      <a:r>
                        <a:rPr sz="850" b="0" i="0">
                          <a:solidFill>
                            <a:srgbClr val="262626"/>
                          </a:solidFill>
                          <a:latin typeface="Arial"/>
                        </a:rPr>
                        <a:t>2</a:t>
                      </a:r>
                    </a:p>
                  </a:txBody>
                  <a:tcPr>
                    <a:solidFill>
                      <a:srgbClr val="FFFFFF"/>
                    </a:solidFill>
                  </a:tcPr>
                </a:tc>
                <a:extLst>
                  <a:ext uri="{0D108BD9-81ED-4DB2-BD59-A6C34878D82A}">
                    <a16:rowId xmlns:a16="http://schemas.microsoft.com/office/drawing/2014/main" val="10005"/>
                  </a:ext>
                </a:extLst>
              </a:tr>
              <a:tr h="224028">
                <a:tc>
                  <a:txBody>
                    <a:bodyPr/>
                    <a:lstStyle/>
                    <a:p>
                      <a:pPr algn="ctr"/>
                      <a:r>
                        <a:rPr sz="850" b="1" i="0">
                          <a:solidFill>
                            <a:srgbClr val="262626"/>
                          </a:solidFill>
                          <a:latin typeface="Arial"/>
                        </a:rPr>
                        <a:t>44</a:t>
                      </a:r>
                    </a:p>
                  </a:txBody>
                  <a:tcPr>
                    <a:solidFill>
                      <a:srgbClr val="F2F2F2"/>
                    </a:solidFill>
                  </a:tcPr>
                </a:tc>
                <a:tc>
                  <a:txBody>
                    <a:bodyPr/>
                    <a:lstStyle/>
                    <a:p>
                      <a:pPr algn="l"/>
                      <a:r>
                        <a:rPr sz="850" b="0" i="0">
                          <a:solidFill>
                            <a:srgbClr val="262626"/>
                          </a:solidFill>
                          <a:latin typeface="Arial"/>
                        </a:rPr>
                        <a:t>Gwen Jorgensen</a:t>
                      </a:r>
                    </a:p>
                  </a:txBody>
                  <a:tcPr>
                    <a:solidFill>
                      <a:srgbClr val="F2F2F2"/>
                    </a:solidFill>
                  </a:tcPr>
                </a:tc>
                <a:tc>
                  <a:txBody>
                    <a:bodyPr/>
                    <a:lstStyle/>
                    <a:p>
                      <a:pPr algn="ctr"/>
                      <a:r>
                        <a:rPr sz="850" b="0" i="0">
                          <a:solidFill>
                            <a:srgbClr val="262626"/>
                          </a:solidFill>
                          <a:latin typeface="Arial"/>
                        </a:rPr>
                        <a:t>495</a:t>
                      </a:r>
                    </a:p>
                  </a:txBody>
                  <a:tcPr>
                    <a:solidFill>
                      <a:srgbClr val="F2F2F2"/>
                    </a:solidFill>
                  </a:tcPr>
                </a:tc>
                <a:tc>
                  <a:txBody>
                    <a:bodyPr/>
                    <a:lstStyle/>
                    <a:p>
                      <a:pPr algn="ctr"/>
                      <a:r>
                        <a:rPr sz="850" b="0" i="0">
                          <a:solidFill>
                            <a:srgbClr val="262626"/>
                          </a:solidFill>
                          <a:latin typeface="Arial"/>
                        </a:rPr>
                        <a:t>0</a:t>
                      </a:r>
                    </a:p>
                  </a:txBody>
                  <a:tcPr>
                    <a:solidFill>
                      <a:srgbClr val="F2F2F2"/>
                    </a:solidFill>
                  </a:tcPr>
                </a:tc>
                <a:tc>
                  <a:txBody>
                    <a:bodyPr/>
                    <a:lstStyle/>
                    <a:p>
                      <a:pPr algn="ctr"/>
                      <a:r>
                        <a:rPr sz="850" b="0" i="0">
                          <a:solidFill>
                            <a:srgbClr val="262626"/>
                          </a:solidFill>
                          <a:latin typeface="Arial"/>
                        </a:rPr>
                        <a:t>1</a:t>
                      </a:r>
                    </a:p>
                  </a:txBody>
                  <a:tcPr>
                    <a:solidFill>
                      <a:srgbClr val="F2F2F2"/>
                    </a:solidFill>
                  </a:tcPr>
                </a:tc>
                <a:extLst>
                  <a:ext uri="{0D108BD9-81ED-4DB2-BD59-A6C34878D82A}">
                    <a16:rowId xmlns:a16="http://schemas.microsoft.com/office/drawing/2014/main" val="10006"/>
                  </a:ext>
                </a:extLst>
              </a:tr>
              <a:tr h="224028">
                <a:tc>
                  <a:txBody>
                    <a:bodyPr/>
                    <a:lstStyle/>
                    <a:p>
                      <a:pPr algn="ctr"/>
                      <a:r>
                        <a:rPr sz="850" b="1" i="0">
                          <a:solidFill>
                            <a:srgbClr val="262626"/>
                          </a:solidFill>
                          <a:latin typeface="Arial"/>
                        </a:rPr>
                        <a:t>47</a:t>
                      </a:r>
                    </a:p>
                  </a:txBody>
                  <a:tcPr>
                    <a:solidFill>
                      <a:srgbClr val="FFFFFF"/>
                    </a:solidFill>
                  </a:tcPr>
                </a:tc>
                <a:tc>
                  <a:txBody>
                    <a:bodyPr/>
                    <a:lstStyle/>
                    <a:p>
                      <a:pPr algn="l"/>
                      <a:r>
                        <a:rPr sz="850" b="0" i="0">
                          <a:solidFill>
                            <a:srgbClr val="262626"/>
                          </a:solidFill>
                          <a:latin typeface="Arial"/>
                        </a:rPr>
                        <a:t>Kelly Wetteland</a:t>
                      </a:r>
                    </a:p>
                  </a:txBody>
                  <a:tcPr>
                    <a:solidFill>
                      <a:srgbClr val="FFFFFF"/>
                    </a:solidFill>
                  </a:tcPr>
                </a:tc>
                <a:tc>
                  <a:txBody>
                    <a:bodyPr/>
                    <a:lstStyle/>
                    <a:p>
                      <a:pPr algn="ctr"/>
                      <a:r>
                        <a:rPr sz="850" b="0" i="0">
                          <a:solidFill>
                            <a:srgbClr val="262626"/>
                          </a:solidFill>
                          <a:latin typeface="Arial"/>
                        </a:rPr>
                        <a:t>462</a:t>
                      </a:r>
                    </a:p>
                  </a:txBody>
                  <a:tcPr>
                    <a:solidFill>
                      <a:srgbClr val="FFFFFF"/>
                    </a:solidFill>
                  </a:tcPr>
                </a:tc>
                <a:tc>
                  <a:txBody>
                    <a:bodyPr/>
                    <a:lstStyle/>
                    <a:p>
                      <a:pPr algn="ctr"/>
                      <a:r>
                        <a:rPr sz="850" b="0" i="0">
                          <a:solidFill>
                            <a:srgbClr val="262626"/>
                          </a:solidFill>
                          <a:latin typeface="Arial"/>
                        </a:rPr>
                        <a:t>0</a:t>
                      </a:r>
                    </a:p>
                  </a:txBody>
                  <a:tcPr>
                    <a:solidFill>
                      <a:srgbClr val="FFFFFF"/>
                    </a:solidFill>
                  </a:tcPr>
                </a:tc>
                <a:tc>
                  <a:txBody>
                    <a:bodyPr/>
                    <a:lstStyle/>
                    <a:p>
                      <a:pPr algn="ctr"/>
                      <a:r>
                        <a:rPr sz="850" b="0" i="0">
                          <a:solidFill>
                            <a:srgbClr val="262626"/>
                          </a:solidFill>
                          <a:latin typeface="Arial"/>
                        </a:rPr>
                        <a:t>1</a:t>
                      </a:r>
                    </a:p>
                  </a:txBody>
                  <a:tcPr>
                    <a:solidFill>
                      <a:srgbClr val="FFFFFF"/>
                    </a:solidFill>
                  </a:tcPr>
                </a:tc>
                <a:extLst>
                  <a:ext uri="{0D108BD9-81ED-4DB2-BD59-A6C34878D82A}">
                    <a16:rowId xmlns:a16="http://schemas.microsoft.com/office/drawing/2014/main" val="10007"/>
                  </a:ext>
                </a:extLst>
              </a:tr>
              <a:tr h="224028">
                <a:tc>
                  <a:txBody>
                    <a:bodyPr/>
                    <a:lstStyle/>
                    <a:p>
                      <a:pPr algn="ctr"/>
                      <a:r>
                        <a:rPr sz="850" b="1" i="0">
                          <a:solidFill>
                            <a:srgbClr val="262626"/>
                          </a:solidFill>
                          <a:latin typeface="Arial"/>
                        </a:rPr>
                        <a:t>48</a:t>
                      </a:r>
                    </a:p>
                  </a:txBody>
                  <a:tcPr>
                    <a:solidFill>
                      <a:srgbClr val="F2F2F2"/>
                    </a:solidFill>
                  </a:tcPr>
                </a:tc>
                <a:tc>
                  <a:txBody>
                    <a:bodyPr/>
                    <a:lstStyle/>
                    <a:p>
                      <a:pPr algn="l"/>
                      <a:r>
                        <a:rPr sz="850" b="0" i="0">
                          <a:solidFill>
                            <a:srgbClr val="262626"/>
                          </a:solidFill>
                          <a:latin typeface="Arial"/>
                        </a:rPr>
                        <a:t>Naomi Ruff</a:t>
                      </a:r>
                    </a:p>
                  </a:txBody>
                  <a:tcPr>
                    <a:solidFill>
                      <a:srgbClr val="F2F2F2"/>
                    </a:solidFill>
                  </a:tcPr>
                </a:tc>
                <a:tc>
                  <a:txBody>
                    <a:bodyPr/>
                    <a:lstStyle/>
                    <a:p>
                      <a:pPr algn="ctr"/>
                      <a:r>
                        <a:rPr sz="850" b="0" i="0">
                          <a:solidFill>
                            <a:srgbClr val="262626"/>
                          </a:solidFill>
                          <a:latin typeface="Arial"/>
                        </a:rPr>
                        <a:t>460</a:t>
                      </a:r>
                    </a:p>
                  </a:txBody>
                  <a:tcPr>
                    <a:solidFill>
                      <a:srgbClr val="F2F2F2"/>
                    </a:solidFill>
                  </a:tcPr>
                </a:tc>
                <a:tc>
                  <a:txBody>
                    <a:bodyPr/>
                    <a:lstStyle/>
                    <a:p>
                      <a:pPr algn="ctr"/>
                      <a:r>
                        <a:rPr sz="850" b="0" i="0">
                          <a:solidFill>
                            <a:srgbClr val="262626"/>
                          </a:solidFill>
                          <a:latin typeface="Arial"/>
                        </a:rPr>
                        <a:t>0</a:t>
                      </a:r>
                    </a:p>
                  </a:txBody>
                  <a:tcPr>
                    <a:solidFill>
                      <a:srgbClr val="F2F2F2"/>
                    </a:solidFill>
                  </a:tcPr>
                </a:tc>
                <a:tc>
                  <a:txBody>
                    <a:bodyPr/>
                    <a:lstStyle/>
                    <a:p>
                      <a:pPr algn="ctr"/>
                      <a:r>
                        <a:rPr sz="850" b="0" i="0">
                          <a:solidFill>
                            <a:srgbClr val="262626"/>
                          </a:solidFill>
                          <a:latin typeface="Arial"/>
                        </a:rPr>
                        <a:t>1</a:t>
                      </a:r>
                    </a:p>
                  </a:txBody>
                  <a:tcPr>
                    <a:solidFill>
                      <a:srgbClr val="F2F2F2"/>
                    </a:solidFill>
                  </a:tcPr>
                </a:tc>
                <a:extLst>
                  <a:ext uri="{0D108BD9-81ED-4DB2-BD59-A6C34878D82A}">
                    <a16:rowId xmlns:a16="http://schemas.microsoft.com/office/drawing/2014/main" val="10008"/>
                  </a:ext>
                </a:extLst>
              </a:tr>
              <a:tr h="224028">
                <a:tc>
                  <a:txBody>
                    <a:bodyPr/>
                    <a:lstStyle/>
                    <a:p>
                      <a:pPr algn="ctr"/>
                      <a:r>
                        <a:rPr sz="850" b="1" i="0">
                          <a:solidFill>
                            <a:srgbClr val="262626"/>
                          </a:solidFill>
                          <a:latin typeface="Arial"/>
                        </a:rPr>
                        <a:t>91</a:t>
                      </a:r>
                    </a:p>
                  </a:txBody>
                  <a:tcPr>
                    <a:solidFill>
                      <a:srgbClr val="FFFFFF"/>
                    </a:solidFill>
                  </a:tcPr>
                </a:tc>
                <a:tc>
                  <a:txBody>
                    <a:bodyPr/>
                    <a:lstStyle/>
                    <a:p>
                      <a:pPr algn="l"/>
                      <a:r>
                        <a:rPr sz="850" b="0" i="0">
                          <a:solidFill>
                            <a:srgbClr val="262626"/>
                          </a:solidFill>
                          <a:latin typeface="Arial"/>
                        </a:rPr>
                        <a:t>Rachel Werking</a:t>
                      </a:r>
                    </a:p>
                  </a:txBody>
                  <a:tcPr>
                    <a:solidFill>
                      <a:srgbClr val="FFFFFF"/>
                    </a:solidFill>
                  </a:tcPr>
                </a:tc>
                <a:tc>
                  <a:txBody>
                    <a:bodyPr/>
                    <a:lstStyle/>
                    <a:p>
                      <a:pPr algn="ctr"/>
                      <a:r>
                        <a:rPr sz="850" b="0" i="0">
                          <a:solidFill>
                            <a:srgbClr val="262626"/>
                          </a:solidFill>
                          <a:latin typeface="Arial"/>
                        </a:rPr>
                        <a:t>181</a:t>
                      </a:r>
                    </a:p>
                  </a:txBody>
                  <a:tcPr>
                    <a:solidFill>
                      <a:srgbClr val="FFFFFF"/>
                    </a:solidFill>
                  </a:tcPr>
                </a:tc>
                <a:tc>
                  <a:txBody>
                    <a:bodyPr/>
                    <a:lstStyle/>
                    <a:p>
                      <a:pPr algn="ctr"/>
                      <a:r>
                        <a:rPr sz="850" b="0" i="0">
                          <a:solidFill>
                            <a:srgbClr val="262626"/>
                          </a:solidFill>
                          <a:latin typeface="Arial"/>
                        </a:rPr>
                        <a:t>0</a:t>
                      </a:r>
                    </a:p>
                  </a:txBody>
                  <a:tcPr>
                    <a:solidFill>
                      <a:srgbClr val="FFFFFF"/>
                    </a:solidFill>
                  </a:tcPr>
                </a:tc>
                <a:tc>
                  <a:txBody>
                    <a:bodyPr/>
                    <a:lstStyle/>
                    <a:p>
                      <a:pPr algn="ctr"/>
                      <a:r>
                        <a:rPr sz="850" b="0" i="0">
                          <a:solidFill>
                            <a:srgbClr val="262626"/>
                          </a:solidFill>
                          <a:latin typeface="Arial"/>
                        </a:rPr>
                        <a:t>1</a:t>
                      </a:r>
                    </a:p>
                  </a:txBody>
                  <a:tcPr>
                    <a:solidFill>
                      <a:srgbClr val="FFFFFF"/>
                    </a:solidFill>
                  </a:tcPr>
                </a:tc>
                <a:extLst>
                  <a:ext uri="{0D108BD9-81ED-4DB2-BD59-A6C34878D82A}">
                    <a16:rowId xmlns:a16="http://schemas.microsoft.com/office/drawing/2014/main" val="10009"/>
                  </a:ext>
                </a:extLst>
              </a:tr>
              <a:tr h="224028">
                <a:tc>
                  <a:txBody>
                    <a:bodyPr/>
                    <a:lstStyle/>
                    <a:p>
                      <a:pPr algn="ctr"/>
                      <a:r>
                        <a:rPr sz="850" b="1" i="0">
                          <a:solidFill>
                            <a:srgbClr val="262626"/>
                          </a:solidFill>
                          <a:latin typeface="Arial"/>
                        </a:rPr>
                        <a:t>93</a:t>
                      </a:r>
                    </a:p>
                  </a:txBody>
                  <a:tcPr>
                    <a:solidFill>
                      <a:srgbClr val="F2F2F2"/>
                    </a:solidFill>
                  </a:tcPr>
                </a:tc>
                <a:tc>
                  <a:txBody>
                    <a:bodyPr/>
                    <a:lstStyle/>
                    <a:p>
                      <a:pPr algn="l"/>
                      <a:r>
                        <a:rPr sz="850" b="0" i="0">
                          <a:solidFill>
                            <a:srgbClr val="262626"/>
                          </a:solidFill>
                          <a:latin typeface="Arial"/>
                        </a:rPr>
                        <a:t>Erika Ackerlund</a:t>
                      </a:r>
                    </a:p>
                  </a:txBody>
                  <a:tcPr>
                    <a:solidFill>
                      <a:srgbClr val="F2F2F2"/>
                    </a:solidFill>
                  </a:tcPr>
                </a:tc>
                <a:tc>
                  <a:txBody>
                    <a:bodyPr/>
                    <a:lstStyle/>
                    <a:p>
                      <a:pPr algn="ctr"/>
                      <a:r>
                        <a:rPr sz="850" b="0" i="0">
                          <a:solidFill>
                            <a:srgbClr val="262626"/>
                          </a:solidFill>
                          <a:latin typeface="Arial"/>
                        </a:rPr>
                        <a:t>179</a:t>
                      </a:r>
                    </a:p>
                  </a:txBody>
                  <a:tcPr>
                    <a:solidFill>
                      <a:srgbClr val="F2F2F2"/>
                    </a:solidFill>
                  </a:tcPr>
                </a:tc>
                <a:tc>
                  <a:txBody>
                    <a:bodyPr/>
                    <a:lstStyle/>
                    <a:p>
                      <a:pPr algn="ctr"/>
                      <a:r>
                        <a:rPr sz="850" b="0" i="0">
                          <a:solidFill>
                            <a:srgbClr val="262626"/>
                          </a:solidFill>
                          <a:latin typeface="Arial"/>
                        </a:rPr>
                        <a:t>0</a:t>
                      </a:r>
                    </a:p>
                  </a:txBody>
                  <a:tcPr>
                    <a:solidFill>
                      <a:srgbClr val="F2F2F2"/>
                    </a:solidFill>
                  </a:tcPr>
                </a:tc>
                <a:tc>
                  <a:txBody>
                    <a:bodyPr/>
                    <a:lstStyle/>
                    <a:p>
                      <a:pPr algn="ctr"/>
                      <a:r>
                        <a:rPr sz="850" b="0" i="0">
                          <a:solidFill>
                            <a:srgbClr val="262626"/>
                          </a:solidFill>
                          <a:latin typeface="Arial"/>
                        </a:rPr>
                        <a:t>1</a:t>
                      </a:r>
                    </a:p>
                  </a:txBody>
                  <a:tcPr>
                    <a:solidFill>
                      <a:srgbClr val="F2F2F2"/>
                    </a:solidFill>
                  </a:tcPr>
                </a:tc>
                <a:extLst>
                  <a:ext uri="{0D108BD9-81ED-4DB2-BD59-A6C34878D82A}">
                    <a16:rowId xmlns:a16="http://schemas.microsoft.com/office/drawing/2014/main" val="10010"/>
                  </a:ext>
                </a:extLst>
              </a:tr>
              <a:tr h="224028">
                <a:tc>
                  <a:txBody>
                    <a:bodyPr/>
                    <a:lstStyle/>
                    <a:p>
                      <a:pPr algn="ctr"/>
                      <a:r>
                        <a:rPr sz="850" b="1" i="0">
                          <a:solidFill>
                            <a:srgbClr val="262626"/>
                          </a:solidFill>
                          <a:latin typeface="Arial"/>
                        </a:rPr>
                        <a:t>96</a:t>
                      </a:r>
                    </a:p>
                  </a:txBody>
                  <a:tcPr>
                    <a:solidFill>
                      <a:srgbClr val="FFFFFF"/>
                    </a:solidFill>
                  </a:tcPr>
                </a:tc>
                <a:tc>
                  <a:txBody>
                    <a:bodyPr/>
                    <a:lstStyle/>
                    <a:p>
                      <a:pPr algn="l"/>
                      <a:r>
                        <a:rPr sz="850" b="0" i="0">
                          <a:solidFill>
                            <a:srgbClr val="262626"/>
                          </a:solidFill>
                          <a:latin typeface="Arial"/>
                        </a:rPr>
                        <a:t>Joy Gill</a:t>
                      </a:r>
                    </a:p>
                  </a:txBody>
                  <a:tcPr>
                    <a:solidFill>
                      <a:srgbClr val="FFFFFF"/>
                    </a:solidFill>
                  </a:tcPr>
                </a:tc>
                <a:tc>
                  <a:txBody>
                    <a:bodyPr/>
                    <a:lstStyle/>
                    <a:p>
                      <a:pPr algn="ctr"/>
                      <a:r>
                        <a:rPr sz="850" b="0" i="0">
                          <a:solidFill>
                            <a:srgbClr val="262626"/>
                          </a:solidFill>
                          <a:latin typeface="Arial"/>
                        </a:rPr>
                        <a:t>167</a:t>
                      </a:r>
                    </a:p>
                  </a:txBody>
                  <a:tcPr>
                    <a:solidFill>
                      <a:srgbClr val="FFFFFF"/>
                    </a:solidFill>
                  </a:tcPr>
                </a:tc>
                <a:tc>
                  <a:txBody>
                    <a:bodyPr/>
                    <a:lstStyle/>
                    <a:p>
                      <a:pPr algn="ctr"/>
                      <a:r>
                        <a:rPr sz="850" b="0" i="0">
                          <a:solidFill>
                            <a:srgbClr val="262626"/>
                          </a:solidFill>
                          <a:latin typeface="Arial"/>
                        </a:rPr>
                        <a:t>0</a:t>
                      </a:r>
                    </a:p>
                  </a:txBody>
                  <a:tcPr>
                    <a:solidFill>
                      <a:srgbClr val="FFFFFF"/>
                    </a:solidFill>
                  </a:tcPr>
                </a:tc>
                <a:tc>
                  <a:txBody>
                    <a:bodyPr/>
                    <a:lstStyle/>
                    <a:p>
                      <a:pPr algn="ctr"/>
                      <a:r>
                        <a:rPr sz="850" b="0" i="0">
                          <a:solidFill>
                            <a:srgbClr val="262626"/>
                          </a:solidFill>
                          <a:latin typeface="Arial"/>
                        </a:rPr>
                        <a:t>1</a:t>
                      </a:r>
                    </a:p>
                  </a:txBody>
                  <a:tcPr>
                    <a:solidFill>
                      <a:srgbClr val="FFFFFF"/>
                    </a:solidFill>
                  </a:tcPr>
                </a:tc>
                <a:extLst>
                  <a:ext uri="{0D108BD9-81ED-4DB2-BD59-A6C34878D82A}">
                    <a16:rowId xmlns:a16="http://schemas.microsoft.com/office/drawing/2014/main" val="10011"/>
                  </a:ext>
                </a:extLst>
              </a:tr>
              <a:tr h="224028">
                <a:tc>
                  <a:txBody>
                    <a:bodyPr/>
                    <a:lstStyle/>
                    <a:p>
                      <a:pPr algn="ctr"/>
                      <a:r>
                        <a:rPr sz="850" b="1" i="0">
                          <a:solidFill>
                            <a:srgbClr val="262626"/>
                          </a:solidFill>
                          <a:latin typeface="Arial"/>
                        </a:rPr>
                        <a:t>108</a:t>
                      </a:r>
                    </a:p>
                  </a:txBody>
                  <a:tcPr>
                    <a:solidFill>
                      <a:srgbClr val="F2F2F2"/>
                    </a:solidFill>
                  </a:tcPr>
                </a:tc>
                <a:tc>
                  <a:txBody>
                    <a:bodyPr/>
                    <a:lstStyle/>
                    <a:p>
                      <a:pPr algn="l"/>
                      <a:r>
                        <a:rPr sz="850" b="0" i="0">
                          <a:solidFill>
                            <a:srgbClr val="262626"/>
                          </a:solidFill>
                          <a:latin typeface="Arial"/>
                        </a:rPr>
                        <a:t>Kirsten Kasper</a:t>
                      </a:r>
                    </a:p>
                  </a:txBody>
                  <a:tcPr>
                    <a:solidFill>
                      <a:srgbClr val="F2F2F2"/>
                    </a:solidFill>
                  </a:tcPr>
                </a:tc>
                <a:tc>
                  <a:txBody>
                    <a:bodyPr/>
                    <a:lstStyle/>
                    <a:p>
                      <a:pPr algn="ctr"/>
                      <a:r>
                        <a:rPr sz="850" b="0" i="0">
                          <a:solidFill>
                            <a:srgbClr val="262626"/>
                          </a:solidFill>
                          <a:latin typeface="Arial"/>
                        </a:rPr>
                        <a:t>112</a:t>
                      </a:r>
                    </a:p>
                  </a:txBody>
                  <a:tcPr>
                    <a:solidFill>
                      <a:srgbClr val="F2F2F2"/>
                    </a:solidFill>
                  </a:tcPr>
                </a:tc>
                <a:tc>
                  <a:txBody>
                    <a:bodyPr/>
                    <a:lstStyle/>
                    <a:p>
                      <a:pPr algn="ctr"/>
                      <a:r>
                        <a:rPr sz="850" b="0" i="0">
                          <a:solidFill>
                            <a:srgbClr val="262626"/>
                          </a:solidFill>
                          <a:latin typeface="Arial"/>
                        </a:rPr>
                        <a:t>0</a:t>
                      </a:r>
                    </a:p>
                  </a:txBody>
                  <a:tcPr>
                    <a:solidFill>
                      <a:srgbClr val="F2F2F2"/>
                    </a:solidFill>
                  </a:tcPr>
                </a:tc>
                <a:tc>
                  <a:txBody>
                    <a:bodyPr/>
                    <a:lstStyle/>
                    <a:p>
                      <a:pPr algn="ctr"/>
                      <a:r>
                        <a:rPr sz="850" b="0" i="0">
                          <a:solidFill>
                            <a:srgbClr val="262626"/>
                          </a:solidFill>
                          <a:latin typeface="Arial"/>
                        </a:rPr>
                        <a:t>1</a:t>
                      </a:r>
                    </a:p>
                  </a:txBody>
                  <a:tcPr>
                    <a:solidFill>
                      <a:srgbClr val="F2F2F2"/>
                    </a:solidFill>
                  </a:tcPr>
                </a:tc>
                <a:extLst>
                  <a:ext uri="{0D108BD9-81ED-4DB2-BD59-A6C34878D82A}">
                    <a16:rowId xmlns:a16="http://schemas.microsoft.com/office/drawing/2014/main" val="10012"/>
                  </a:ext>
                </a:extLst>
              </a:tr>
            </a:tbl>
          </a:graphicData>
        </a:graphic>
      </p:graphicFrame>
      <p:sp>
        <p:nvSpPr>
          <p:cNvPr id="16" name="TextBox 15"/>
          <p:cNvSpPr txBox="1"/>
          <p:nvPr/>
        </p:nvSpPr>
        <p:spPr>
          <a:xfrm>
            <a:off x="274320" y="6419088"/>
            <a:ext cx="11640312" cy="274320"/>
          </a:xfrm>
          <a:prstGeom prst="rect">
            <a:avLst/>
          </a:prstGeom>
          <a:noFill/>
        </p:spPr>
        <p:txBody>
          <a:bodyPr wrap="square">
            <a:spAutoFit/>
          </a:bodyPr>
          <a:lstStyle/>
          <a:p>
            <a:pPr algn="ctr"/>
            <a:r>
              <a:rPr sz="800" b="0" i="1">
                <a:solidFill>
                  <a:srgbClr val="BFBFBF"/>
                </a:solidFill>
                <a:latin typeface="Arial"/>
              </a:rPr>
              <a:t>Rankings: latest weekly snapshot.  Second / First = events counted in the second vs first scoring period of the LA 2028 OQR cycle.  Because the cycle is still in its first year, most results appear under First.  Source: World Triathlon rankings database.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457200" cy="685800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 y="3840480"/>
            <a:ext cx="10515600" cy="54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2103120"/>
            <a:ext cx="10515600" cy="1645920"/>
          </a:xfrm>
          <a:prstGeom prst="rect">
            <a:avLst/>
          </a:prstGeom>
          <a:noFill/>
        </p:spPr>
        <p:txBody>
          <a:bodyPr wrap="square">
            <a:spAutoFit/>
          </a:bodyPr>
          <a:lstStyle/>
          <a:p>
            <a:pPr algn="ctr"/>
            <a:r>
              <a:rPr sz="6000" b="1" i="0">
                <a:solidFill>
                  <a:srgbClr val="FFFFFF"/>
                </a:solidFill>
                <a:latin typeface="Arial"/>
              </a:rPr>
              <a:t>ELITE MEN</a:t>
            </a:r>
          </a:p>
        </p:txBody>
      </p:sp>
      <p:pic>
        <p:nvPicPr>
          <p:cNvPr id="6" name="Picture 5" descr="USA_Triathlon_Logo.jpg"/>
          <p:cNvPicPr>
            <a:picLocks noChangeAspect="1"/>
          </p:cNvPicPr>
          <p:nvPr/>
        </p:nvPicPr>
        <p:blipFill>
          <a:blip r:embed="rId2"/>
          <a:stretch>
            <a:fillRect/>
          </a:stretch>
        </p:blipFill>
        <p:spPr>
          <a:xfrm>
            <a:off x="10058400" y="5760720"/>
            <a:ext cx="1828800" cy="100584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Race Overview  —  Elite 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Edmonton</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1097280"/>
            <a:ext cx="6400800"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20040" y="1115568"/>
            <a:ext cx="6035040" cy="274320"/>
          </a:xfrm>
          <a:prstGeom prst="rect">
            <a:avLst/>
          </a:prstGeom>
          <a:noFill/>
        </p:spPr>
        <p:txBody>
          <a:bodyPr wrap="square">
            <a:spAutoFit/>
          </a:bodyPr>
          <a:lstStyle/>
          <a:p>
            <a:pPr algn="l"/>
            <a:r>
              <a:rPr sz="1200" b="1" i="0">
                <a:solidFill>
                  <a:srgbClr val="FFFFFF"/>
                </a:solidFill>
                <a:latin typeface="Arial"/>
              </a:rPr>
              <a:t>RACE HISTORY AT EDMONTON</a:t>
            </a:r>
          </a:p>
        </p:txBody>
      </p:sp>
      <p:sp>
        <p:nvSpPr>
          <p:cNvPr id="10" name="TextBox 9"/>
          <p:cNvSpPr txBox="1"/>
          <p:nvPr/>
        </p:nvSpPr>
        <p:spPr>
          <a:xfrm>
            <a:off x="274320" y="1508760"/>
            <a:ext cx="6400800" cy="5074920"/>
          </a:xfrm>
          <a:prstGeom prst="rect">
            <a:avLst/>
          </a:prstGeom>
          <a:noFill/>
        </p:spPr>
        <p:txBody>
          <a:bodyPr wrap="square">
            <a:spAutoFit/>
          </a:bodyPr>
          <a:lstStyle/>
          <a:p>
            <a:pPr algn="l"/>
            <a:r>
              <a:rPr sz="1200" b="0" i="0">
                <a:solidFill>
                  <a:srgbClr val="262626"/>
                </a:solidFill>
                <a:latin typeface="Arial"/>
              </a:rPr>
              <a:t>The Elite Men race at Edmonton has been held 5 times in this analysis window (2018–2024). The event is staged as part of the World Championship Series / World Championships, World Championship Series calendar.
[PLACEHOLDER: Add 1–2 sentences on notable storylines, competitive history, or what makes this event significant for Elite Men athletes. E.g. defending champions, record performances, dramatic finishes.]</a:t>
            </a:r>
          </a:p>
        </p:txBody>
      </p:sp>
      <p:sp>
        <p:nvSpPr>
          <p:cNvPr id="11" name="Rectangle 10"/>
          <p:cNvSpPr/>
          <p:nvPr/>
        </p:nvSpPr>
        <p:spPr>
          <a:xfrm>
            <a:off x="6903720" y="1097280"/>
            <a:ext cx="4983480" cy="32004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949440" y="1115568"/>
            <a:ext cx="4663440" cy="274320"/>
          </a:xfrm>
          <a:prstGeom prst="rect">
            <a:avLst/>
          </a:prstGeom>
          <a:noFill/>
        </p:spPr>
        <p:txBody>
          <a:bodyPr wrap="square">
            <a:spAutoFit/>
          </a:bodyPr>
          <a:lstStyle/>
          <a:p>
            <a:pPr algn="l"/>
            <a:r>
              <a:rPr sz="1200" b="1" i="0">
                <a:solidFill>
                  <a:srgbClr val="FFFFFF"/>
                </a:solidFill>
                <a:latin typeface="Arial"/>
              </a:rPr>
              <a:t>3 KEYS TO SUCCESS</a:t>
            </a:r>
          </a:p>
        </p:txBody>
      </p:sp>
      <p:sp>
        <p:nvSpPr>
          <p:cNvPr id="13" name="Rectangle 12"/>
          <p:cNvSpPr/>
          <p:nvPr/>
        </p:nvSpPr>
        <p:spPr>
          <a:xfrm>
            <a:off x="6949440" y="1554480"/>
            <a:ext cx="384048" cy="384048"/>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1</a:t>
            </a:r>
          </a:p>
        </p:txBody>
      </p:sp>
      <p:sp>
        <p:nvSpPr>
          <p:cNvPr id="14" name="TextBox 13"/>
          <p:cNvSpPr txBox="1"/>
          <p:nvPr/>
        </p:nvSpPr>
        <p:spPr>
          <a:xfrm>
            <a:off x="7452360" y="1536192"/>
            <a:ext cx="4434840" cy="1572768"/>
          </a:xfrm>
          <a:prstGeom prst="rect">
            <a:avLst/>
          </a:prstGeom>
          <a:noFill/>
        </p:spPr>
        <p:txBody>
          <a:bodyPr wrap="square">
            <a:spAutoFit/>
          </a:bodyPr>
          <a:lstStyle/>
          <a:p>
            <a:pPr algn="l"/>
            <a:r>
              <a:rPr sz="1100" b="0" i="0">
                <a:solidFill>
                  <a:srgbClr val="262626"/>
                </a:solidFill>
                <a:latin typeface="Arial"/>
              </a:rPr>
              <a:t>Fast swimming is decisive — only ~13 athletes typically leave the water together. A strong swim directly builds a race-winning gap before T1.</a:t>
            </a:r>
          </a:p>
        </p:txBody>
      </p:sp>
      <p:sp>
        <p:nvSpPr>
          <p:cNvPr id="15" name="Rectangle 14"/>
          <p:cNvSpPr/>
          <p:nvPr/>
        </p:nvSpPr>
        <p:spPr>
          <a:xfrm>
            <a:off x="6949440" y="3246120"/>
            <a:ext cx="384048" cy="384048"/>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2</a:t>
            </a:r>
          </a:p>
        </p:txBody>
      </p:sp>
      <p:sp>
        <p:nvSpPr>
          <p:cNvPr id="16" name="TextBox 15"/>
          <p:cNvSpPr txBox="1"/>
          <p:nvPr/>
        </p:nvSpPr>
        <p:spPr>
          <a:xfrm>
            <a:off x="7452360" y="3227832"/>
            <a:ext cx="4434840" cy="1572768"/>
          </a:xfrm>
          <a:prstGeom prst="rect">
            <a:avLst/>
          </a:prstGeom>
          <a:noFill/>
        </p:spPr>
        <p:txBody>
          <a:bodyPr wrap="square">
            <a:spAutoFit/>
          </a:bodyPr>
          <a:lstStyle/>
          <a:p>
            <a:pPr algn="l"/>
            <a:r>
              <a:rPr sz="1100" b="0" i="0">
                <a:solidFill>
                  <a:srgbClr val="262626"/>
                </a:solidFill>
                <a:latin typeface="Arial"/>
              </a:rPr>
              <a:t>[PLACEHOLDER: Key 2 — Describe bike strategy: is this a pack race or do breakaways form? What power/tactics are needed to stay in the lead group?]</a:t>
            </a:r>
          </a:p>
        </p:txBody>
      </p:sp>
      <p:sp>
        <p:nvSpPr>
          <p:cNvPr id="17" name="Rectangle 16"/>
          <p:cNvSpPr/>
          <p:nvPr/>
        </p:nvSpPr>
        <p:spPr>
          <a:xfrm>
            <a:off x="6949440" y="4937760"/>
            <a:ext cx="384048" cy="384048"/>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3</a:t>
            </a:r>
          </a:p>
        </p:txBody>
      </p:sp>
      <p:sp>
        <p:nvSpPr>
          <p:cNvPr id="18" name="TextBox 17"/>
          <p:cNvSpPr txBox="1"/>
          <p:nvPr/>
        </p:nvSpPr>
        <p:spPr>
          <a:xfrm>
            <a:off x="7452360" y="4919472"/>
            <a:ext cx="4434840" cy="1572768"/>
          </a:xfrm>
          <a:prstGeom prst="rect">
            <a:avLst/>
          </a:prstGeom>
          <a:noFill/>
        </p:spPr>
        <p:txBody>
          <a:bodyPr wrap="square">
            <a:spAutoFit/>
          </a:bodyPr>
          <a:lstStyle/>
          <a:p>
            <a:pPr algn="l"/>
            <a:r>
              <a:rPr sz="1100" b="0" i="0">
                <a:solidFill>
                  <a:srgbClr val="262626"/>
                </a:solidFill>
                <a:latin typeface="Arial"/>
              </a:rPr>
              <a:t>Run speed separates the podium — the fastest run pace averages ~1:48/km with a ~115s spread between fastest and average finisher. Either a pre-built lead from the bike or exceptional run speed is required to win.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Results Summary  —  Elite 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Edmonton</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8" name="Table 7"/>
          <p:cNvGraphicFramePr>
            <a:graphicFrameLocks noGrp="1"/>
          </p:cNvGraphicFramePr>
          <p:nvPr/>
        </p:nvGraphicFramePr>
        <p:xfrm>
          <a:off x="274320" y="1143000"/>
          <a:ext cx="11640307" cy="3072384"/>
        </p:xfrm>
        <a:graphic>
          <a:graphicData uri="http://schemas.openxmlformats.org/drawingml/2006/table">
            <a:tbl>
              <a:tblPr firstRow="1" bandRow="1">
                <a:tableStyleId>{5C22544A-7EE6-4342-B048-85BDC9FD1C3A}</a:tableStyleId>
              </a:tblPr>
              <a:tblGrid>
                <a:gridCol w="655082">
                  <a:extLst>
                    <a:ext uri="{9D8B030D-6E8A-4147-A177-3AD203B41FA5}">
                      <a16:colId xmlns:a16="http://schemas.microsoft.com/office/drawing/2014/main" val="20000"/>
                    </a:ext>
                  </a:extLst>
                </a:gridCol>
                <a:gridCol w="957428">
                  <a:extLst>
                    <a:ext uri="{9D8B030D-6E8A-4147-A177-3AD203B41FA5}">
                      <a16:colId xmlns:a16="http://schemas.microsoft.com/office/drawing/2014/main" val="20001"/>
                    </a:ext>
                  </a:extLst>
                </a:gridCol>
                <a:gridCol w="1914856">
                  <a:extLst>
                    <a:ext uri="{9D8B030D-6E8A-4147-A177-3AD203B41FA5}">
                      <a16:colId xmlns:a16="http://schemas.microsoft.com/office/drawing/2014/main" val="20002"/>
                    </a:ext>
                  </a:extLst>
                </a:gridCol>
                <a:gridCol w="554300">
                  <a:extLst>
                    <a:ext uri="{9D8B030D-6E8A-4147-A177-3AD203B41FA5}">
                      <a16:colId xmlns:a16="http://schemas.microsoft.com/office/drawing/2014/main" val="20003"/>
                    </a:ext>
                  </a:extLst>
                </a:gridCol>
                <a:gridCol w="755864">
                  <a:extLst>
                    <a:ext uri="{9D8B030D-6E8A-4147-A177-3AD203B41FA5}">
                      <a16:colId xmlns:a16="http://schemas.microsoft.com/office/drawing/2014/main" val="20004"/>
                    </a:ext>
                  </a:extLst>
                </a:gridCol>
                <a:gridCol w="2015638">
                  <a:extLst>
                    <a:ext uri="{9D8B030D-6E8A-4147-A177-3AD203B41FA5}">
                      <a16:colId xmlns:a16="http://schemas.microsoft.com/office/drawing/2014/main" val="20005"/>
                    </a:ext>
                  </a:extLst>
                </a:gridCol>
                <a:gridCol w="1007819">
                  <a:extLst>
                    <a:ext uri="{9D8B030D-6E8A-4147-A177-3AD203B41FA5}">
                      <a16:colId xmlns:a16="http://schemas.microsoft.com/office/drawing/2014/main" val="20006"/>
                    </a:ext>
                  </a:extLst>
                </a:gridCol>
                <a:gridCol w="806255">
                  <a:extLst>
                    <a:ext uri="{9D8B030D-6E8A-4147-A177-3AD203B41FA5}">
                      <a16:colId xmlns:a16="http://schemas.microsoft.com/office/drawing/2014/main" val="20007"/>
                    </a:ext>
                  </a:extLst>
                </a:gridCol>
                <a:gridCol w="856646">
                  <a:extLst>
                    <a:ext uri="{9D8B030D-6E8A-4147-A177-3AD203B41FA5}">
                      <a16:colId xmlns:a16="http://schemas.microsoft.com/office/drawing/2014/main" val="20008"/>
                    </a:ext>
                  </a:extLst>
                </a:gridCol>
                <a:gridCol w="705473">
                  <a:extLst>
                    <a:ext uri="{9D8B030D-6E8A-4147-A177-3AD203B41FA5}">
                      <a16:colId xmlns:a16="http://schemas.microsoft.com/office/drawing/2014/main" val="20009"/>
                    </a:ext>
                  </a:extLst>
                </a:gridCol>
                <a:gridCol w="705473">
                  <a:extLst>
                    <a:ext uri="{9D8B030D-6E8A-4147-A177-3AD203B41FA5}">
                      <a16:colId xmlns:a16="http://schemas.microsoft.com/office/drawing/2014/main" val="20010"/>
                    </a:ext>
                  </a:extLst>
                </a:gridCol>
                <a:gridCol w="705473">
                  <a:extLst>
                    <a:ext uri="{9D8B030D-6E8A-4147-A177-3AD203B41FA5}">
                      <a16:colId xmlns:a16="http://schemas.microsoft.com/office/drawing/2014/main" val="20011"/>
                    </a:ext>
                  </a:extLst>
                </a:gridCol>
              </a:tblGrid>
              <a:tr h="512064">
                <a:tc>
                  <a:txBody>
                    <a:bodyPr/>
                    <a:lstStyle/>
                    <a:p>
                      <a:pPr algn="ctr"/>
                      <a:r>
                        <a:rPr sz="1400" b="1" i="0">
                          <a:solidFill>
                            <a:srgbClr val="FFFFFF"/>
                          </a:solidFill>
                          <a:latin typeface="Arial"/>
                        </a:rPr>
                        <a:t>Year</a:t>
                      </a:r>
                    </a:p>
                  </a:txBody>
                  <a:tcPr>
                    <a:solidFill>
                      <a:srgbClr val="002060"/>
                    </a:solidFill>
                  </a:tcPr>
                </a:tc>
                <a:tc>
                  <a:txBody>
                    <a:bodyPr/>
                    <a:lstStyle/>
                    <a:p>
                      <a:pPr algn="ctr"/>
                      <a:r>
                        <a:rPr sz="1400" b="1" i="0">
                          <a:solidFill>
                            <a:srgbClr val="FFFFFF"/>
                          </a:solidFill>
                          <a:latin typeface="Arial"/>
                        </a:rPr>
                        <a:t>Date</a:t>
                      </a:r>
                    </a:p>
                  </a:txBody>
                  <a:tcPr>
                    <a:solidFill>
                      <a:srgbClr val="002060"/>
                    </a:solidFill>
                  </a:tcPr>
                </a:tc>
                <a:tc>
                  <a:txBody>
                    <a:bodyPr/>
                    <a:lstStyle/>
                    <a:p>
                      <a:pPr algn="ctr"/>
                      <a:r>
                        <a:rPr sz="1400" b="1" i="0">
                          <a:solidFill>
                            <a:srgbClr val="FFFFFF"/>
                          </a:solidFill>
                          <a:latin typeface="Arial"/>
                        </a:rPr>
                        <a:t>Category</a:t>
                      </a:r>
                    </a:p>
                  </a:txBody>
                  <a:tcPr>
                    <a:solidFill>
                      <a:srgbClr val="002060"/>
                    </a:solidFill>
                  </a:tcPr>
                </a:tc>
                <a:tc>
                  <a:txBody>
                    <a:bodyPr/>
                    <a:lstStyle/>
                    <a:p>
                      <a:pPr algn="ctr"/>
                      <a:r>
                        <a:rPr sz="1400" b="1" i="0">
                          <a:solidFill>
                            <a:srgbClr val="FFFFFF"/>
                          </a:solidFill>
                          <a:latin typeface="Arial"/>
                        </a:rPr>
                        <a:t>Field</a:t>
                      </a:r>
                    </a:p>
                  </a:txBody>
                  <a:tcPr>
                    <a:solidFill>
                      <a:srgbClr val="002060"/>
                    </a:solidFill>
                  </a:tcPr>
                </a:tc>
                <a:tc>
                  <a:txBody>
                    <a:bodyPr/>
                    <a:lstStyle/>
                    <a:p>
                      <a:pPr algn="ctr"/>
                      <a:r>
                        <a:rPr sz="1400" b="1" i="0">
                          <a:solidFill>
                            <a:srgbClr val="FFFFFF"/>
                          </a:solidFill>
                          <a:latin typeface="Arial"/>
                        </a:rPr>
                        <a:t>DNF/LAP/DNS</a:t>
                      </a:r>
                    </a:p>
                  </a:txBody>
                  <a:tcPr>
                    <a:solidFill>
                      <a:srgbClr val="002060"/>
                    </a:solidFill>
                  </a:tcPr>
                </a:tc>
                <a:tc>
                  <a:txBody>
                    <a:bodyPr/>
                    <a:lstStyle/>
                    <a:p>
                      <a:pPr algn="ctr"/>
                      <a:r>
                        <a:rPr sz="1400" b="1" i="0">
                          <a:solidFill>
                            <a:srgbClr val="FFFFFF"/>
                          </a:solidFill>
                          <a:latin typeface="Arial"/>
                        </a:rPr>
                        <a:t>Winner</a:t>
                      </a:r>
                    </a:p>
                  </a:txBody>
                  <a:tcPr>
                    <a:solidFill>
                      <a:srgbClr val="002060"/>
                    </a:solidFill>
                  </a:tcPr>
                </a:tc>
                <a:tc>
                  <a:txBody>
                    <a:bodyPr/>
                    <a:lstStyle/>
                    <a:p>
                      <a:pPr algn="ctr"/>
                      <a:r>
                        <a:rPr sz="1400" b="1" i="0">
                          <a:solidFill>
                            <a:srgbClr val="FFFFFF"/>
                          </a:solidFill>
                          <a:latin typeface="Arial"/>
                        </a:rPr>
                        <a:t>Winner Time</a:t>
                      </a:r>
                    </a:p>
                  </a:txBody>
                  <a:tcPr>
                    <a:solidFill>
                      <a:srgbClr val="002060"/>
                    </a:solidFill>
                  </a:tcPr>
                </a:tc>
                <a:tc>
                  <a:txBody>
                    <a:bodyPr/>
                    <a:lstStyle/>
                    <a:p>
                      <a:pPr algn="ctr"/>
                      <a:r>
                        <a:rPr sz="1400" b="1" i="0">
                          <a:solidFill>
                            <a:srgbClr val="FFFFFF"/>
                          </a:solidFill>
                          <a:latin typeface="Arial"/>
                        </a:rPr>
                        <a:t>Air Temp</a:t>
                      </a:r>
                    </a:p>
                  </a:txBody>
                  <a:tcPr>
                    <a:solidFill>
                      <a:srgbClr val="002060"/>
                    </a:solidFill>
                  </a:tcPr>
                </a:tc>
                <a:tc>
                  <a:txBody>
                    <a:bodyPr/>
                    <a:lstStyle/>
                    <a:p>
                      <a:pPr algn="ctr"/>
                      <a:r>
                        <a:rPr sz="1400" b="1" i="0">
                          <a:solidFill>
                            <a:srgbClr val="FFFFFF"/>
                          </a:solidFill>
                          <a:latin typeface="Arial"/>
                        </a:rPr>
                        <a:t>Water Temp</a:t>
                      </a:r>
                    </a:p>
                  </a:txBody>
                  <a:tcPr>
                    <a:solidFill>
                      <a:srgbClr val="002060"/>
                    </a:solidFill>
                  </a:tcPr>
                </a:tc>
                <a:tc>
                  <a:txBody>
                    <a:bodyPr/>
                    <a:lstStyle/>
                    <a:p>
                      <a:pPr algn="ctr"/>
                      <a:r>
                        <a:rPr sz="1400" b="1" i="0">
                          <a:solidFill>
                            <a:srgbClr val="FFFFFF"/>
                          </a:solidFill>
                          <a:latin typeface="Arial"/>
                        </a:rPr>
                        <a:t>Swim km</a:t>
                      </a:r>
                    </a:p>
                  </a:txBody>
                  <a:tcPr>
                    <a:solidFill>
                      <a:srgbClr val="002060"/>
                    </a:solidFill>
                  </a:tcPr>
                </a:tc>
                <a:tc>
                  <a:txBody>
                    <a:bodyPr/>
                    <a:lstStyle/>
                    <a:p>
                      <a:pPr algn="ctr"/>
                      <a:r>
                        <a:rPr sz="1400" b="1" i="0">
                          <a:solidFill>
                            <a:srgbClr val="FFFFFF"/>
                          </a:solidFill>
                          <a:latin typeface="Arial"/>
                        </a:rPr>
                        <a:t>Bike km</a:t>
                      </a:r>
                    </a:p>
                  </a:txBody>
                  <a:tcPr>
                    <a:solidFill>
                      <a:srgbClr val="002060"/>
                    </a:solidFill>
                  </a:tcPr>
                </a:tc>
                <a:tc>
                  <a:txBody>
                    <a:bodyPr/>
                    <a:lstStyle/>
                    <a:p>
                      <a:pPr algn="ctr"/>
                      <a:r>
                        <a:rPr sz="1400" b="1" i="0">
                          <a:solidFill>
                            <a:srgbClr val="FFFFFF"/>
                          </a:solidFill>
                          <a:latin typeface="Arial"/>
                        </a:rPr>
                        <a:t>Run km</a:t>
                      </a:r>
                    </a:p>
                  </a:txBody>
                  <a:tcPr>
                    <a:solidFill>
                      <a:srgbClr val="002060"/>
                    </a:solidFill>
                  </a:tcPr>
                </a:tc>
                <a:extLst>
                  <a:ext uri="{0D108BD9-81ED-4DB2-BD59-A6C34878D82A}">
                    <a16:rowId xmlns:a16="http://schemas.microsoft.com/office/drawing/2014/main" val="10000"/>
                  </a:ext>
                </a:extLst>
              </a:tr>
              <a:tr h="512064">
                <a:tc>
                  <a:txBody>
                    <a:bodyPr/>
                    <a:lstStyle/>
                    <a:p>
                      <a:pPr algn="ctr"/>
                      <a:r>
                        <a:rPr sz="1400" b="0" i="0">
                          <a:solidFill>
                            <a:srgbClr val="262626"/>
                          </a:solidFill>
                          <a:latin typeface="Arial"/>
                        </a:rPr>
                        <a:t>2018</a:t>
                      </a:r>
                    </a:p>
                  </a:txBody>
                  <a:tcPr>
                    <a:solidFill>
                      <a:srgbClr val="FFFFFF"/>
                    </a:solidFill>
                  </a:tcPr>
                </a:tc>
                <a:tc>
                  <a:txBody>
                    <a:bodyPr/>
                    <a:lstStyle/>
                    <a:p>
                      <a:pPr algn="ctr"/>
                      <a:r>
                        <a:rPr sz="1400" b="0" i="0">
                          <a:solidFill>
                            <a:srgbClr val="262626"/>
                          </a:solidFill>
                          <a:latin typeface="Arial"/>
                        </a:rPr>
                        <a:t>Jul 27</a:t>
                      </a:r>
                    </a:p>
                  </a:txBody>
                  <a:tcPr>
                    <a:solidFill>
                      <a:srgbClr val="FFFFFF"/>
                    </a:solidFill>
                  </a:tcPr>
                </a:tc>
                <a:tc>
                  <a:txBody>
                    <a:bodyPr/>
                    <a:lstStyle/>
                    <a:p>
                      <a:pPr algn="l"/>
                      <a:r>
                        <a:rPr sz="1200" b="0" i="0">
                          <a:solidFill>
                            <a:srgbClr val="262626"/>
                          </a:solidFill>
                          <a:latin typeface="Arial"/>
                        </a:rPr>
                        <a:t>World Championship Series</a:t>
                      </a:r>
                    </a:p>
                  </a:txBody>
                  <a:tcPr>
                    <a:solidFill>
                      <a:srgbClr val="FFFFFF"/>
                    </a:solidFill>
                  </a:tcPr>
                </a:tc>
                <a:tc>
                  <a:txBody>
                    <a:bodyPr/>
                    <a:lstStyle/>
                    <a:p>
                      <a:pPr algn="ctr"/>
                      <a:r>
                        <a:rPr sz="1400" b="0" i="0">
                          <a:solidFill>
                            <a:srgbClr val="262626"/>
                          </a:solidFill>
                          <a:latin typeface="Arial"/>
                        </a:rPr>
                        <a:t>55</a:t>
                      </a:r>
                    </a:p>
                  </a:txBody>
                  <a:tcPr>
                    <a:solidFill>
                      <a:srgbClr val="FFFFFF"/>
                    </a:solidFill>
                  </a:tcPr>
                </a:tc>
                <a:tc>
                  <a:txBody>
                    <a:bodyPr/>
                    <a:lstStyle/>
                    <a:p>
                      <a:pPr algn="ctr"/>
                      <a:r>
                        <a:rPr sz="1400" b="0" i="0">
                          <a:solidFill>
                            <a:srgbClr val="262626"/>
                          </a:solidFill>
                          <a:latin typeface="Arial"/>
                        </a:rPr>
                        <a:t>9</a:t>
                      </a:r>
                    </a:p>
                  </a:txBody>
                  <a:tcPr>
                    <a:solidFill>
                      <a:srgbClr val="FFFFFF"/>
                    </a:solidFill>
                  </a:tcPr>
                </a:tc>
                <a:tc>
                  <a:txBody>
                    <a:bodyPr/>
                    <a:lstStyle/>
                    <a:p>
                      <a:pPr algn="l"/>
                      <a:r>
                        <a:rPr sz="1400" b="0" i="0">
                          <a:solidFill>
                            <a:srgbClr val="262626"/>
                          </a:solidFill>
                          <a:latin typeface="Arial"/>
                        </a:rPr>
                        <a:t>Mola</a:t>
                      </a:r>
                    </a:p>
                  </a:txBody>
                  <a:tcPr>
                    <a:solidFill>
                      <a:srgbClr val="FFFFFF"/>
                    </a:solidFill>
                  </a:tcPr>
                </a:tc>
                <a:tc>
                  <a:txBody>
                    <a:bodyPr/>
                    <a:lstStyle/>
                    <a:p>
                      <a:pPr algn="ctr"/>
                      <a:r>
                        <a:rPr sz="1400" b="0" i="0">
                          <a:solidFill>
                            <a:srgbClr val="262626"/>
                          </a:solidFill>
                          <a:latin typeface="Arial"/>
                        </a:rPr>
                        <a:t>51:15</a:t>
                      </a:r>
                    </a:p>
                  </a:txBody>
                  <a:tcPr>
                    <a:solidFill>
                      <a:srgbClr val="FFFFFF"/>
                    </a:solidFill>
                  </a:tcPr>
                </a:tc>
                <a:tc>
                  <a:txBody>
                    <a:bodyPr/>
                    <a:lstStyle/>
                    <a:p>
                      <a:pPr algn="ctr"/>
                      <a:r>
                        <a:rPr sz="1400" b="0" i="0">
                          <a:solidFill>
                            <a:srgbClr val="262626"/>
                          </a:solidFill>
                          <a:latin typeface="Arial"/>
                        </a:rPr>
                        <a:t>19.9</a:t>
                      </a:r>
                    </a:p>
                  </a:txBody>
                  <a:tcPr>
                    <a:solidFill>
                      <a:srgbClr val="FFFFFF"/>
                    </a:solidFill>
                  </a:tcPr>
                </a:tc>
                <a:tc>
                  <a:txBody>
                    <a:bodyPr/>
                    <a:lstStyle/>
                    <a:p>
                      <a:pPr algn="ctr"/>
                      <a:r>
                        <a:rPr sz="1400" b="0" i="0">
                          <a:solidFill>
                            <a:srgbClr val="262626"/>
                          </a:solidFill>
                          <a:latin typeface="Arial"/>
                        </a:rPr>
                        <a:t>—</a:t>
                      </a:r>
                    </a:p>
                  </a:txBody>
                  <a:tcPr>
                    <a:solidFill>
                      <a:srgbClr val="FFFFFF"/>
                    </a:solidFill>
                  </a:tcPr>
                </a:tc>
                <a:tc>
                  <a:txBody>
                    <a:bodyPr/>
                    <a:lstStyle/>
                    <a:p>
                      <a:pPr algn="ctr"/>
                      <a:r>
                        <a:rPr sz="1400" b="0" i="0">
                          <a:solidFill>
                            <a:srgbClr val="262626"/>
                          </a:solidFill>
                          <a:latin typeface="Arial"/>
                        </a:rPr>
                        <a:t>—</a:t>
                      </a:r>
                    </a:p>
                  </a:txBody>
                  <a:tcPr>
                    <a:solidFill>
                      <a:srgbClr val="FFFFFF"/>
                    </a:solidFill>
                  </a:tcPr>
                </a:tc>
                <a:tc>
                  <a:txBody>
                    <a:bodyPr/>
                    <a:lstStyle/>
                    <a:p>
                      <a:pPr algn="ctr"/>
                      <a:r>
                        <a:rPr sz="1400" b="0" i="0">
                          <a:solidFill>
                            <a:srgbClr val="262626"/>
                          </a:solidFill>
                          <a:latin typeface="Arial"/>
                        </a:rPr>
                        <a:t>—</a:t>
                      </a:r>
                    </a:p>
                  </a:txBody>
                  <a:tcPr>
                    <a:solidFill>
                      <a:srgbClr val="FFFFFF"/>
                    </a:solidFill>
                  </a:tcPr>
                </a:tc>
                <a:tc>
                  <a:txBody>
                    <a:bodyPr/>
                    <a:lstStyle/>
                    <a:p>
                      <a:pPr algn="ctr"/>
                      <a:r>
                        <a:rPr sz="1400" b="0" i="0">
                          <a:solidFill>
                            <a:srgbClr val="262626"/>
                          </a:solidFill>
                          <a:latin typeface="Arial"/>
                        </a:rPr>
                        <a:t>—</a:t>
                      </a:r>
                    </a:p>
                  </a:txBody>
                  <a:tcPr>
                    <a:solidFill>
                      <a:srgbClr val="FFFFFF"/>
                    </a:solidFill>
                  </a:tcPr>
                </a:tc>
                <a:extLst>
                  <a:ext uri="{0D108BD9-81ED-4DB2-BD59-A6C34878D82A}">
                    <a16:rowId xmlns:a16="http://schemas.microsoft.com/office/drawing/2014/main" val="10001"/>
                  </a:ext>
                </a:extLst>
              </a:tr>
              <a:tr h="512064">
                <a:tc>
                  <a:txBody>
                    <a:bodyPr/>
                    <a:lstStyle/>
                    <a:p>
                      <a:pPr algn="ctr"/>
                      <a:r>
                        <a:rPr sz="1400" b="0" i="0">
                          <a:solidFill>
                            <a:srgbClr val="262626"/>
                          </a:solidFill>
                          <a:latin typeface="Arial"/>
                        </a:rPr>
                        <a:t>2019</a:t>
                      </a:r>
                    </a:p>
                  </a:txBody>
                  <a:tcPr>
                    <a:solidFill>
                      <a:srgbClr val="F2F2F2"/>
                    </a:solidFill>
                  </a:tcPr>
                </a:tc>
                <a:tc>
                  <a:txBody>
                    <a:bodyPr/>
                    <a:lstStyle/>
                    <a:p>
                      <a:pPr algn="ctr"/>
                      <a:r>
                        <a:rPr sz="1400" b="0" i="0">
                          <a:solidFill>
                            <a:srgbClr val="262626"/>
                          </a:solidFill>
                          <a:latin typeface="Arial"/>
                        </a:rPr>
                        <a:t>Jul 20</a:t>
                      </a:r>
                    </a:p>
                  </a:txBody>
                  <a:tcPr>
                    <a:solidFill>
                      <a:srgbClr val="F2F2F2"/>
                    </a:solidFill>
                  </a:tcPr>
                </a:tc>
                <a:tc>
                  <a:txBody>
                    <a:bodyPr/>
                    <a:lstStyle/>
                    <a:p>
                      <a:pPr algn="l"/>
                      <a:r>
                        <a:rPr sz="1200" b="0" i="0">
                          <a:solidFill>
                            <a:srgbClr val="262626"/>
                          </a:solidFill>
                          <a:latin typeface="Arial"/>
                        </a:rPr>
                        <a:t>World Championship Series</a:t>
                      </a:r>
                    </a:p>
                  </a:txBody>
                  <a:tcPr>
                    <a:solidFill>
                      <a:srgbClr val="F2F2F2"/>
                    </a:solidFill>
                  </a:tcPr>
                </a:tc>
                <a:tc>
                  <a:txBody>
                    <a:bodyPr/>
                    <a:lstStyle/>
                    <a:p>
                      <a:pPr algn="ctr"/>
                      <a:r>
                        <a:rPr sz="1400" b="0" i="0">
                          <a:solidFill>
                            <a:srgbClr val="262626"/>
                          </a:solidFill>
                          <a:latin typeface="Arial"/>
                        </a:rPr>
                        <a:t>54</a:t>
                      </a:r>
                    </a:p>
                  </a:txBody>
                  <a:tcPr>
                    <a:solidFill>
                      <a:srgbClr val="F2F2F2"/>
                    </a:solidFill>
                  </a:tcPr>
                </a:tc>
                <a:tc>
                  <a:txBody>
                    <a:bodyPr/>
                    <a:lstStyle/>
                    <a:p>
                      <a:pPr algn="ctr"/>
                      <a:r>
                        <a:rPr sz="1400" b="0" i="0">
                          <a:solidFill>
                            <a:srgbClr val="262626"/>
                          </a:solidFill>
                          <a:latin typeface="Arial"/>
                        </a:rPr>
                        <a:t>15</a:t>
                      </a:r>
                    </a:p>
                  </a:txBody>
                  <a:tcPr>
                    <a:solidFill>
                      <a:srgbClr val="F2F2F2"/>
                    </a:solidFill>
                  </a:tcPr>
                </a:tc>
                <a:tc>
                  <a:txBody>
                    <a:bodyPr/>
                    <a:lstStyle/>
                    <a:p>
                      <a:pPr algn="l"/>
                      <a:r>
                        <a:rPr sz="1400" b="0" i="0">
                          <a:solidFill>
                            <a:srgbClr val="262626"/>
                          </a:solidFill>
                          <a:latin typeface="Arial"/>
                        </a:rPr>
                        <a:t>Brownlee</a:t>
                      </a:r>
                    </a:p>
                  </a:txBody>
                  <a:tcPr>
                    <a:solidFill>
                      <a:srgbClr val="F2F2F2"/>
                    </a:solidFill>
                  </a:tcPr>
                </a:tc>
                <a:tc>
                  <a:txBody>
                    <a:bodyPr/>
                    <a:lstStyle/>
                    <a:p>
                      <a:pPr algn="ctr"/>
                      <a:r>
                        <a:rPr sz="1400" b="0" i="0">
                          <a:solidFill>
                            <a:srgbClr val="262626"/>
                          </a:solidFill>
                          <a:latin typeface="Arial"/>
                        </a:rPr>
                        <a:t>54:52</a:t>
                      </a:r>
                    </a:p>
                  </a:txBody>
                  <a:tcPr>
                    <a:solidFill>
                      <a:srgbClr val="F2F2F2"/>
                    </a:solidFill>
                  </a:tcPr>
                </a:tc>
                <a:tc>
                  <a:txBody>
                    <a:bodyPr/>
                    <a:lstStyle/>
                    <a:p>
                      <a:pPr algn="ctr"/>
                      <a:r>
                        <a:rPr sz="1400" b="0" i="0">
                          <a:solidFill>
                            <a:srgbClr val="262626"/>
                          </a:solidFill>
                          <a:latin typeface="Arial"/>
                        </a:rPr>
                        <a:t>17.6</a:t>
                      </a:r>
                    </a:p>
                  </a:txBody>
                  <a:tcPr>
                    <a:solidFill>
                      <a:srgbClr val="F2F2F2"/>
                    </a:solidFill>
                  </a:tcPr>
                </a:tc>
                <a:tc>
                  <a:txBody>
                    <a:bodyPr/>
                    <a:lstStyle/>
                    <a:p>
                      <a:pPr algn="ctr"/>
                      <a:r>
                        <a:rPr sz="1400" b="0" i="0">
                          <a:solidFill>
                            <a:srgbClr val="262626"/>
                          </a:solidFill>
                          <a:latin typeface="Arial"/>
                        </a:rPr>
                        <a:t>—</a:t>
                      </a:r>
                    </a:p>
                  </a:txBody>
                  <a:tcPr>
                    <a:solidFill>
                      <a:srgbClr val="F2F2F2"/>
                    </a:solidFill>
                  </a:tcPr>
                </a:tc>
                <a:tc>
                  <a:txBody>
                    <a:bodyPr/>
                    <a:lstStyle/>
                    <a:p>
                      <a:pPr algn="ctr"/>
                      <a:r>
                        <a:rPr sz="1400" b="0" i="0">
                          <a:solidFill>
                            <a:srgbClr val="262626"/>
                          </a:solidFill>
                          <a:latin typeface="Arial"/>
                        </a:rPr>
                        <a:t>—</a:t>
                      </a:r>
                    </a:p>
                  </a:txBody>
                  <a:tcPr>
                    <a:solidFill>
                      <a:srgbClr val="F2F2F2"/>
                    </a:solidFill>
                  </a:tcPr>
                </a:tc>
                <a:tc>
                  <a:txBody>
                    <a:bodyPr/>
                    <a:lstStyle/>
                    <a:p>
                      <a:pPr algn="ctr"/>
                      <a:r>
                        <a:rPr sz="1400" b="0" i="0">
                          <a:solidFill>
                            <a:srgbClr val="262626"/>
                          </a:solidFill>
                          <a:latin typeface="Arial"/>
                        </a:rPr>
                        <a:t>—</a:t>
                      </a:r>
                    </a:p>
                  </a:txBody>
                  <a:tcPr>
                    <a:solidFill>
                      <a:srgbClr val="F2F2F2"/>
                    </a:solidFill>
                  </a:tcPr>
                </a:tc>
                <a:tc>
                  <a:txBody>
                    <a:bodyPr/>
                    <a:lstStyle/>
                    <a:p>
                      <a:pPr algn="ctr"/>
                      <a:r>
                        <a:rPr sz="1400" b="0" i="0">
                          <a:solidFill>
                            <a:srgbClr val="262626"/>
                          </a:solidFill>
                          <a:latin typeface="Arial"/>
                        </a:rPr>
                        <a:t>—</a:t>
                      </a:r>
                    </a:p>
                  </a:txBody>
                  <a:tcPr>
                    <a:solidFill>
                      <a:srgbClr val="F2F2F2"/>
                    </a:solidFill>
                  </a:tcPr>
                </a:tc>
                <a:extLst>
                  <a:ext uri="{0D108BD9-81ED-4DB2-BD59-A6C34878D82A}">
                    <a16:rowId xmlns:a16="http://schemas.microsoft.com/office/drawing/2014/main" val="10002"/>
                  </a:ext>
                </a:extLst>
              </a:tr>
              <a:tr h="512064">
                <a:tc>
                  <a:txBody>
                    <a:bodyPr/>
                    <a:lstStyle/>
                    <a:p>
                      <a:pPr algn="ctr"/>
                      <a:r>
                        <a:rPr sz="1400" b="0" i="0">
                          <a:solidFill>
                            <a:srgbClr val="262626"/>
                          </a:solidFill>
                          <a:latin typeface="Arial"/>
                        </a:rPr>
                        <a:t>2021</a:t>
                      </a:r>
                    </a:p>
                  </a:txBody>
                  <a:tcPr>
                    <a:solidFill>
                      <a:srgbClr val="FFFFFF"/>
                    </a:solidFill>
                  </a:tcPr>
                </a:tc>
                <a:tc>
                  <a:txBody>
                    <a:bodyPr/>
                    <a:lstStyle/>
                    <a:p>
                      <a:pPr algn="ctr"/>
                      <a:r>
                        <a:rPr sz="1400" b="0" i="0">
                          <a:solidFill>
                            <a:srgbClr val="262626"/>
                          </a:solidFill>
                          <a:latin typeface="Arial"/>
                        </a:rPr>
                        <a:t>Aug 21</a:t>
                      </a:r>
                    </a:p>
                  </a:txBody>
                  <a:tcPr>
                    <a:solidFill>
                      <a:srgbClr val="FFFFFF"/>
                    </a:solidFill>
                  </a:tcPr>
                </a:tc>
                <a:tc>
                  <a:txBody>
                    <a:bodyPr/>
                    <a:lstStyle/>
                    <a:p>
                      <a:pPr algn="l"/>
                      <a:r>
                        <a:rPr sz="1200" b="0" i="0">
                          <a:solidFill>
                            <a:srgbClr val="262626"/>
                          </a:solidFill>
                          <a:latin typeface="Arial"/>
                        </a:rPr>
                        <a:t>World Championships, World Championship Series</a:t>
                      </a:r>
                    </a:p>
                  </a:txBody>
                  <a:tcPr>
                    <a:solidFill>
                      <a:srgbClr val="FFFFFF"/>
                    </a:solidFill>
                  </a:tcPr>
                </a:tc>
                <a:tc>
                  <a:txBody>
                    <a:bodyPr/>
                    <a:lstStyle/>
                    <a:p>
                      <a:pPr algn="ctr"/>
                      <a:r>
                        <a:rPr sz="1400" b="0" i="0">
                          <a:solidFill>
                            <a:srgbClr val="262626"/>
                          </a:solidFill>
                          <a:latin typeface="Arial"/>
                        </a:rPr>
                        <a:t>40</a:t>
                      </a:r>
                    </a:p>
                  </a:txBody>
                  <a:tcPr>
                    <a:solidFill>
                      <a:srgbClr val="FFFFFF"/>
                    </a:solidFill>
                  </a:tcPr>
                </a:tc>
                <a:tc>
                  <a:txBody>
                    <a:bodyPr/>
                    <a:lstStyle/>
                    <a:p>
                      <a:pPr algn="ctr"/>
                      <a:r>
                        <a:rPr sz="1400" b="0" i="0">
                          <a:solidFill>
                            <a:srgbClr val="262626"/>
                          </a:solidFill>
                          <a:latin typeface="Arial"/>
                        </a:rPr>
                        <a:t>6</a:t>
                      </a:r>
                    </a:p>
                  </a:txBody>
                  <a:tcPr>
                    <a:solidFill>
                      <a:srgbClr val="FFFFFF"/>
                    </a:solidFill>
                  </a:tcPr>
                </a:tc>
                <a:tc>
                  <a:txBody>
                    <a:bodyPr/>
                    <a:lstStyle/>
                    <a:p>
                      <a:pPr algn="l"/>
                      <a:r>
                        <a:rPr sz="1400" b="0" i="0">
                          <a:solidFill>
                            <a:srgbClr val="262626"/>
                          </a:solidFill>
                          <a:latin typeface="Arial"/>
                        </a:rPr>
                        <a:t>Blummenfelt</a:t>
                      </a:r>
                    </a:p>
                  </a:txBody>
                  <a:tcPr>
                    <a:solidFill>
                      <a:srgbClr val="FFFFFF"/>
                    </a:solidFill>
                  </a:tcPr>
                </a:tc>
                <a:tc>
                  <a:txBody>
                    <a:bodyPr/>
                    <a:lstStyle/>
                    <a:p>
                      <a:pPr algn="ctr"/>
                      <a:r>
                        <a:rPr sz="1400" b="0" i="0">
                          <a:solidFill>
                            <a:srgbClr val="262626"/>
                          </a:solidFill>
                          <a:latin typeface="Arial"/>
                        </a:rPr>
                        <a:t>1:44:14</a:t>
                      </a:r>
                    </a:p>
                  </a:txBody>
                  <a:tcPr>
                    <a:solidFill>
                      <a:srgbClr val="FFFFFF"/>
                    </a:solidFill>
                  </a:tcPr>
                </a:tc>
                <a:tc>
                  <a:txBody>
                    <a:bodyPr/>
                    <a:lstStyle/>
                    <a:p>
                      <a:pPr algn="ctr"/>
                      <a:r>
                        <a:rPr sz="1400" b="0" i="0">
                          <a:solidFill>
                            <a:srgbClr val="262626"/>
                          </a:solidFill>
                          <a:latin typeface="Arial"/>
                        </a:rPr>
                        <a:t>15.4</a:t>
                      </a:r>
                    </a:p>
                  </a:txBody>
                  <a:tcPr>
                    <a:solidFill>
                      <a:srgbClr val="FFFFFF"/>
                    </a:solidFill>
                  </a:tcPr>
                </a:tc>
                <a:tc>
                  <a:txBody>
                    <a:bodyPr/>
                    <a:lstStyle/>
                    <a:p>
                      <a:pPr algn="ctr"/>
                      <a:r>
                        <a:rPr sz="1400" b="0" i="0">
                          <a:solidFill>
                            <a:srgbClr val="262626"/>
                          </a:solidFill>
                          <a:latin typeface="Arial"/>
                        </a:rPr>
                        <a:t>—</a:t>
                      </a:r>
                    </a:p>
                  </a:txBody>
                  <a:tcPr>
                    <a:solidFill>
                      <a:srgbClr val="FFFFFF"/>
                    </a:solidFill>
                  </a:tcPr>
                </a:tc>
                <a:tc>
                  <a:txBody>
                    <a:bodyPr/>
                    <a:lstStyle/>
                    <a:p>
                      <a:pPr algn="ctr"/>
                      <a:r>
                        <a:rPr sz="1400" b="0" i="0">
                          <a:solidFill>
                            <a:srgbClr val="262626"/>
                          </a:solidFill>
                          <a:latin typeface="Arial"/>
                        </a:rPr>
                        <a:t>—</a:t>
                      </a:r>
                    </a:p>
                  </a:txBody>
                  <a:tcPr>
                    <a:solidFill>
                      <a:srgbClr val="FFFFFF"/>
                    </a:solidFill>
                  </a:tcPr>
                </a:tc>
                <a:tc>
                  <a:txBody>
                    <a:bodyPr/>
                    <a:lstStyle/>
                    <a:p>
                      <a:pPr algn="ctr"/>
                      <a:r>
                        <a:rPr sz="1400" b="0" i="0">
                          <a:solidFill>
                            <a:srgbClr val="262626"/>
                          </a:solidFill>
                          <a:latin typeface="Arial"/>
                        </a:rPr>
                        <a:t>—</a:t>
                      </a:r>
                    </a:p>
                  </a:txBody>
                  <a:tcPr>
                    <a:solidFill>
                      <a:srgbClr val="FFFFFF"/>
                    </a:solidFill>
                  </a:tcPr>
                </a:tc>
                <a:tc>
                  <a:txBody>
                    <a:bodyPr/>
                    <a:lstStyle/>
                    <a:p>
                      <a:pPr algn="ctr"/>
                      <a:r>
                        <a:rPr sz="1400" b="0" i="0">
                          <a:solidFill>
                            <a:srgbClr val="262626"/>
                          </a:solidFill>
                          <a:latin typeface="Arial"/>
                        </a:rPr>
                        <a:t>—</a:t>
                      </a:r>
                    </a:p>
                  </a:txBody>
                  <a:tcPr>
                    <a:solidFill>
                      <a:srgbClr val="FFFFFF"/>
                    </a:solidFill>
                  </a:tcPr>
                </a:tc>
                <a:extLst>
                  <a:ext uri="{0D108BD9-81ED-4DB2-BD59-A6C34878D82A}">
                    <a16:rowId xmlns:a16="http://schemas.microsoft.com/office/drawing/2014/main" val="10003"/>
                  </a:ext>
                </a:extLst>
              </a:tr>
              <a:tr h="512064">
                <a:tc>
                  <a:txBody>
                    <a:bodyPr/>
                    <a:lstStyle/>
                    <a:p>
                      <a:pPr algn="ctr"/>
                      <a:r>
                        <a:rPr sz="1400" b="0" i="0">
                          <a:solidFill>
                            <a:srgbClr val="262626"/>
                          </a:solidFill>
                          <a:latin typeface="Arial"/>
                        </a:rPr>
                        <a:t>2023</a:t>
                      </a:r>
                    </a:p>
                  </a:txBody>
                  <a:tcPr>
                    <a:solidFill>
                      <a:srgbClr val="F2F2F2"/>
                    </a:solidFill>
                  </a:tcPr>
                </a:tc>
                <a:tc>
                  <a:txBody>
                    <a:bodyPr/>
                    <a:lstStyle/>
                    <a:p>
                      <a:pPr algn="ctr"/>
                      <a:r>
                        <a:rPr sz="1400" b="0" i="0">
                          <a:solidFill>
                            <a:srgbClr val="262626"/>
                          </a:solidFill>
                          <a:latin typeface="Arial"/>
                        </a:rPr>
                        <a:t>Aug 26</a:t>
                      </a:r>
                    </a:p>
                  </a:txBody>
                  <a:tcPr>
                    <a:solidFill>
                      <a:srgbClr val="F2F2F2"/>
                    </a:solidFill>
                  </a:tcPr>
                </a:tc>
                <a:tc>
                  <a:txBody>
                    <a:bodyPr/>
                    <a:lstStyle/>
                    <a:p>
                      <a:pPr algn="l"/>
                      <a:r>
                        <a:rPr sz="1200" b="0" i="0">
                          <a:solidFill>
                            <a:srgbClr val="262626"/>
                          </a:solidFill>
                          <a:latin typeface="Arial"/>
                        </a:rPr>
                        <a:t>Continental Cup *</a:t>
                      </a:r>
                    </a:p>
                  </a:txBody>
                  <a:tcPr>
                    <a:solidFill>
                      <a:srgbClr val="F2F2F2"/>
                    </a:solidFill>
                  </a:tcPr>
                </a:tc>
                <a:tc>
                  <a:txBody>
                    <a:bodyPr/>
                    <a:lstStyle/>
                    <a:p>
                      <a:pPr algn="ctr"/>
                      <a:r>
                        <a:rPr sz="1400" b="0" i="0">
                          <a:solidFill>
                            <a:srgbClr val="262626"/>
                          </a:solidFill>
                          <a:latin typeface="Arial"/>
                        </a:rPr>
                        <a:t>33</a:t>
                      </a:r>
                    </a:p>
                  </a:txBody>
                  <a:tcPr>
                    <a:solidFill>
                      <a:srgbClr val="F2F2F2"/>
                    </a:solidFill>
                  </a:tcPr>
                </a:tc>
                <a:tc>
                  <a:txBody>
                    <a:bodyPr/>
                    <a:lstStyle/>
                    <a:p>
                      <a:pPr algn="ctr"/>
                      <a:r>
                        <a:rPr sz="1400" b="0" i="0">
                          <a:solidFill>
                            <a:srgbClr val="262626"/>
                          </a:solidFill>
                          <a:latin typeface="Arial"/>
                        </a:rPr>
                        <a:t>3</a:t>
                      </a:r>
                    </a:p>
                  </a:txBody>
                  <a:tcPr>
                    <a:solidFill>
                      <a:srgbClr val="F2F2F2"/>
                    </a:solidFill>
                  </a:tcPr>
                </a:tc>
                <a:tc>
                  <a:txBody>
                    <a:bodyPr/>
                    <a:lstStyle/>
                    <a:p>
                      <a:pPr algn="l"/>
                      <a:r>
                        <a:rPr sz="1400" b="0" i="0">
                          <a:solidFill>
                            <a:srgbClr val="262626"/>
                          </a:solidFill>
                          <a:latin typeface="Arial"/>
                        </a:rPr>
                        <a:t>Briand</a:t>
                      </a:r>
                    </a:p>
                  </a:txBody>
                  <a:tcPr>
                    <a:solidFill>
                      <a:srgbClr val="F2F2F2"/>
                    </a:solidFill>
                  </a:tcPr>
                </a:tc>
                <a:tc>
                  <a:txBody>
                    <a:bodyPr/>
                    <a:lstStyle/>
                    <a:p>
                      <a:pPr algn="ctr"/>
                      <a:r>
                        <a:rPr sz="1400" b="0" i="0">
                          <a:solidFill>
                            <a:srgbClr val="262626"/>
                          </a:solidFill>
                          <a:latin typeface="Arial"/>
                        </a:rPr>
                        <a:t>49:39</a:t>
                      </a:r>
                    </a:p>
                  </a:txBody>
                  <a:tcPr>
                    <a:solidFill>
                      <a:srgbClr val="F2F2F2"/>
                    </a:solidFill>
                  </a:tcPr>
                </a:tc>
                <a:tc>
                  <a:txBody>
                    <a:bodyPr/>
                    <a:lstStyle/>
                    <a:p>
                      <a:pPr algn="ctr"/>
                      <a:r>
                        <a:rPr sz="1400" b="0" i="0">
                          <a:solidFill>
                            <a:srgbClr val="262626"/>
                          </a:solidFill>
                          <a:latin typeface="Arial"/>
                        </a:rPr>
                        <a:t>20</a:t>
                      </a:r>
                    </a:p>
                  </a:txBody>
                  <a:tcPr>
                    <a:solidFill>
                      <a:srgbClr val="F2F2F2"/>
                    </a:solidFill>
                  </a:tcPr>
                </a:tc>
                <a:tc>
                  <a:txBody>
                    <a:bodyPr/>
                    <a:lstStyle/>
                    <a:p>
                      <a:pPr algn="ctr"/>
                      <a:r>
                        <a:rPr sz="1400" b="0" i="0">
                          <a:solidFill>
                            <a:srgbClr val="262626"/>
                          </a:solidFill>
                          <a:latin typeface="Arial"/>
                        </a:rPr>
                        <a:t>—</a:t>
                      </a:r>
                    </a:p>
                  </a:txBody>
                  <a:tcPr>
                    <a:solidFill>
                      <a:srgbClr val="F2F2F2"/>
                    </a:solidFill>
                  </a:tcPr>
                </a:tc>
                <a:tc>
                  <a:txBody>
                    <a:bodyPr/>
                    <a:lstStyle/>
                    <a:p>
                      <a:pPr algn="ctr"/>
                      <a:r>
                        <a:rPr sz="1400" b="0" i="0">
                          <a:solidFill>
                            <a:srgbClr val="262626"/>
                          </a:solidFill>
                          <a:latin typeface="Arial"/>
                        </a:rPr>
                        <a:t>—</a:t>
                      </a:r>
                    </a:p>
                  </a:txBody>
                  <a:tcPr>
                    <a:solidFill>
                      <a:srgbClr val="F2F2F2"/>
                    </a:solidFill>
                  </a:tcPr>
                </a:tc>
                <a:tc>
                  <a:txBody>
                    <a:bodyPr/>
                    <a:lstStyle/>
                    <a:p>
                      <a:pPr algn="ctr"/>
                      <a:r>
                        <a:rPr sz="1400" b="0" i="0">
                          <a:solidFill>
                            <a:srgbClr val="262626"/>
                          </a:solidFill>
                          <a:latin typeface="Arial"/>
                        </a:rPr>
                        <a:t>18.8</a:t>
                      </a:r>
                    </a:p>
                  </a:txBody>
                  <a:tcPr>
                    <a:solidFill>
                      <a:srgbClr val="F2F2F2"/>
                    </a:solidFill>
                  </a:tcPr>
                </a:tc>
                <a:tc>
                  <a:txBody>
                    <a:bodyPr/>
                    <a:lstStyle/>
                    <a:p>
                      <a:pPr algn="ctr"/>
                      <a:r>
                        <a:rPr sz="1400" b="0" i="0">
                          <a:solidFill>
                            <a:srgbClr val="262626"/>
                          </a:solidFill>
                          <a:latin typeface="Arial"/>
                        </a:rPr>
                        <a:t>—</a:t>
                      </a:r>
                    </a:p>
                  </a:txBody>
                  <a:tcPr>
                    <a:solidFill>
                      <a:srgbClr val="F2F2F2"/>
                    </a:solidFill>
                  </a:tcPr>
                </a:tc>
                <a:extLst>
                  <a:ext uri="{0D108BD9-81ED-4DB2-BD59-A6C34878D82A}">
                    <a16:rowId xmlns:a16="http://schemas.microsoft.com/office/drawing/2014/main" val="10004"/>
                  </a:ext>
                </a:extLst>
              </a:tr>
              <a:tr h="512064">
                <a:tc>
                  <a:txBody>
                    <a:bodyPr/>
                    <a:lstStyle/>
                    <a:p>
                      <a:pPr algn="ctr"/>
                      <a:r>
                        <a:rPr sz="1400" b="0" i="0">
                          <a:solidFill>
                            <a:srgbClr val="262626"/>
                          </a:solidFill>
                          <a:latin typeface="Arial"/>
                        </a:rPr>
                        <a:t>2024</a:t>
                      </a:r>
                    </a:p>
                  </a:txBody>
                  <a:tcPr>
                    <a:solidFill>
                      <a:srgbClr val="FFFFFF"/>
                    </a:solidFill>
                  </a:tcPr>
                </a:tc>
                <a:tc>
                  <a:txBody>
                    <a:bodyPr/>
                    <a:lstStyle/>
                    <a:p>
                      <a:pPr algn="ctr"/>
                      <a:r>
                        <a:rPr sz="1400" b="0" i="0">
                          <a:solidFill>
                            <a:srgbClr val="262626"/>
                          </a:solidFill>
                          <a:latin typeface="Arial"/>
                        </a:rPr>
                        <a:t>Aug 24</a:t>
                      </a:r>
                    </a:p>
                  </a:txBody>
                  <a:tcPr>
                    <a:solidFill>
                      <a:srgbClr val="FFFFFF"/>
                    </a:solidFill>
                  </a:tcPr>
                </a:tc>
                <a:tc>
                  <a:txBody>
                    <a:bodyPr/>
                    <a:lstStyle/>
                    <a:p>
                      <a:pPr algn="l"/>
                      <a:r>
                        <a:rPr sz="1200" b="0" i="0">
                          <a:solidFill>
                            <a:srgbClr val="262626"/>
                          </a:solidFill>
                          <a:latin typeface="Arial"/>
                        </a:rPr>
                        <a:t>Continental Cup *</a:t>
                      </a:r>
                    </a:p>
                  </a:txBody>
                  <a:tcPr>
                    <a:solidFill>
                      <a:srgbClr val="FFFFFF"/>
                    </a:solidFill>
                  </a:tcPr>
                </a:tc>
                <a:tc>
                  <a:txBody>
                    <a:bodyPr/>
                    <a:lstStyle/>
                    <a:p>
                      <a:pPr algn="ctr"/>
                      <a:r>
                        <a:rPr sz="1400" b="0" i="0">
                          <a:solidFill>
                            <a:srgbClr val="262626"/>
                          </a:solidFill>
                          <a:latin typeface="Arial"/>
                        </a:rPr>
                        <a:t>35</a:t>
                      </a:r>
                    </a:p>
                  </a:txBody>
                  <a:tcPr>
                    <a:solidFill>
                      <a:srgbClr val="FFFFFF"/>
                    </a:solidFill>
                  </a:tcPr>
                </a:tc>
                <a:tc>
                  <a:txBody>
                    <a:bodyPr/>
                    <a:lstStyle/>
                    <a:p>
                      <a:pPr algn="ctr"/>
                      <a:r>
                        <a:rPr sz="1400" b="0" i="0">
                          <a:solidFill>
                            <a:srgbClr val="262626"/>
                          </a:solidFill>
                          <a:latin typeface="Arial"/>
                        </a:rPr>
                        <a:t>—</a:t>
                      </a:r>
                    </a:p>
                  </a:txBody>
                  <a:tcPr>
                    <a:solidFill>
                      <a:srgbClr val="FFFFFF"/>
                    </a:solidFill>
                  </a:tcPr>
                </a:tc>
                <a:tc>
                  <a:txBody>
                    <a:bodyPr/>
                    <a:lstStyle/>
                    <a:p>
                      <a:pPr algn="l"/>
                      <a:r>
                        <a:rPr sz="1400" b="0" i="0">
                          <a:solidFill>
                            <a:srgbClr val="262626"/>
                          </a:solidFill>
                          <a:latin typeface="Arial"/>
                        </a:rPr>
                        <a:t>Damian</a:t>
                      </a:r>
                    </a:p>
                  </a:txBody>
                  <a:tcPr>
                    <a:solidFill>
                      <a:srgbClr val="FFFFFF"/>
                    </a:solidFill>
                  </a:tcPr>
                </a:tc>
                <a:tc>
                  <a:txBody>
                    <a:bodyPr/>
                    <a:lstStyle/>
                    <a:p>
                      <a:pPr algn="ctr"/>
                      <a:r>
                        <a:rPr sz="1400" b="0" i="0">
                          <a:solidFill>
                            <a:srgbClr val="262626"/>
                          </a:solidFill>
                          <a:latin typeface="Arial"/>
                        </a:rPr>
                        <a:t>50:06</a:t>
                      </a:r>
                    </a:p>
                  </a:txBody>
                  <a:tcPr>
                    <a:solidFill>
                      <a:srgbClr val="FFFFFF"/>
                    </a:solidFill>
                  </a:tcPr>
                </a:tc>
                <a:tc>
                  <a:txBody>
                    <a:bodyPr/>
                    <a:lstStyle/>
                    <a:p>
                      <a:pPr algn="ctr"/>
                      <a:r>
                        <a:rPr sz="1400" b="0" i="0">
                          <a:solidFill>
                            <a:srgbClr val="262626"/>
                          </a:solidFill>
                          <a:latin typeface="Arial"/>
                        </a:rPr>
                        <a:t>19.6</a:t>
                      </a:r>
                    </a:p>
                  </a:txBody>
                  <a:tcPr>
                    <a:solidFill>
                      <a:srgbClr val="FFFFFF"/>
                    </a:solidFill>
                  </a:tcPr>
                </a:tc>
                <a:tc>
                  <a:txBody>
                    <a:bodyPr/>
                    <a:lstStyle/>
                    <a:p>
                      <a:pPr algn="ctr"/>
                      <a:r>
                        <a:rPr sz="1400" b="0" i="0">
                          <a:solidFill>
                            <a:srgbClr val="262626"/>
                          </a:solidFill>
                          <a:latin typeface="Arial"/>
                        </a:rPr>
                        <a:t>—</a:t>
                      </a:r>
                    </a:p>
                  </a:txBody>
                  <a:tcPr>
                    <a:solidFill>
                      <a:srgbClr val="FFFFFF"/>
                    </a:solidFill>
                  </a:tcPr>
                </a:tc>
                <a:tc>
                  <a:txBody>
                    <a:bodyPr/>
                    <a:lstStyle/>
                    <a:p>
                      <a:pPr algn="ctr"/>
                      <a:r>
                        <a:rPr sz="1400" b="0" i="0">
                          <a:solidFill>
                            <a:srgbClr val="262626"/>
                          </a:solidFill>
                          <a:latin typeface="Arial"/>
                        </a:rPr>
                        <a:t>—</a:t>
                      </a:r>
                    </a:p>
                  </a:txBody>
                  <a:tcPr>
                    <a:solidFill>
                      <a:srgbClr val="FFFFFF"/>
                    </a:solidFill>
                  </a:tcPr>
                </a:tc>
                <a:tc>
                  <a:txBody>
                    <a:bodyPr/>
                    <a:lstStyle/>
                    <a:p>
                      <a:pPr algn="ctr"/>
                      <a:r>
                        <a:rPr sz="1400" b="0" i="0">
                          <a:solidFill>
                            <a:srgbClr val="262626"/>
                          </a:solidFill>
                          <a:latin typeface="Arial"/>
                        </a:rPr>
                        <a:t>20.0</a:t>
                      </a:r>
                    </a:p>
                  </a:txBody>
                  <a:tcPr>
                    <a:solidFill>
                      <a:srgbClr val="FFFFFF"/>
                    </a:solidFill>
                  </a:tcPr>
                </a:tc>
                <a:tc>
                  <a:txBody>
                    <a:bodyPr/>
                    <a:lstStyle/>
                    <a:p>
                      <a:pPr algn="ctr"/>
                      <a:r>
                        <a:rPr sz="1400" b="0" i="0">
                          <a:solidFill>
                            <a:srgbClr val="262626"/>
                          </a:solidFill>
                          <a:latin typeface="Arial"/>
                        </a:rPr>
                        <a:t>—</a:t>
                      </a:r>
                    </a:p>
                  </a:txBody>
                  <a:tcPr>
                    <a:solidFill>
                      <a:srgbClr val="FFFFFF"/>
                    </a:solidFill>
                  </a:tcPr>
                </a:tc>
                <a:extLst>
                  <a:ext uri="{0D108BD9-81ED-4DB2-BD59-A6C34878D82A}">
                    <a16:rowId xmlns:a16="http://schemas.microsoft.com/office/drawing/2014/main" val="10005"/>
                  </a:ext>
                </a:extLst>
              </a:tr>
            </a:tbl>
          </a:graphicData>
        </a:graphic>
      </p:graphicFrame>
      <p:sp>
        <p:nvSpPr>
          <p:cNvPr id="9" name="TextBox 8"/>
          <p:cNvSpPr txBox="1"/>
          <p:nvPr/>
        </p:nvSpPr>
        <p:spPr>
          <a:xfrm>
            <a:off x="274320" y="6492240"/>
            <a:ext cx="5486400" cy="256032"/>
          </a:xfrm>
          <a:prstGeom prst="rect">
            <a:avLst/>
          </a:prstGeom>
          <a:noFill/>
        </p:spPr>
        <p:txBody>
          <a:bodyPr wrap="square">
            <a:spAutoFit/>
          </a:bodyPr>
          <a:lstStyle/>
          <a:p>
            <a:pPr algn="l"/>
            <a:r>
              <a:rPr sz="800" b="0" i="1">
                <a:solidFill>
                  <a:srgbClr val="BFBFBF"/>
                </a:solidFill>
                <a:latin typeface="Arial"/>
              </a:rPr>
              <a:t>* Course distance changed vs. prior year</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Swim Exit Dynamics  —  Elite 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Edmonton</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image.png"/>
          <p:cNvPicPr>
            <a:picLocks noChangeAspect="1"/>
          </p:cNvPicPr>
          <p:nvPr/>
        </p:nvPicPr>
        <p:blipFill>
          <a:blip r:embed="rId3"/>
          <a:stretch>
            <a:fillRect/>
          </a:stretch>
        </p:blipFill>
        <p:spPr>
          <a:xfrm>
            <a:off x="274320" y="1143000"/>
            <a:ext cx="11640312" cy="539496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Bike Pack Evolution  —  Elite 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Edmonton</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74320" y="1078992"/>
            <a:ext cx="11640312" cy="347472"/>
          </a:xfrm>
          <a:prstGeom prst="rect">
            <a:avLst/>
          </a:prstGeom>
          <a:noFill/>
        </p:spPr>
        <p:txBody>
          <a:bodyPr wrap="square">
            <a:spAutoFit/>
          </a:bodyPr>
          <a:lstStyle/>
          <a:p>
            <a:pPr algn="ctr"/>
            <a:r>
              <a:rPr sz="1050" b="0" i="1">
                <a:solidFill>
                  <a:srgbClr val="262626"/>
                </a:solidFill>
                <a:latin typeface="Arial"/>
              </a:rPr>
              <a:t>Lead pack = athletes within 15 sec of leader. T1 = lead group entering the bike; T2 = lead group exiting the bike.</a:t>
            </a:r>
          </a:p>
        </p:txBody>
      </p:sp>
      <p:pic>
        <p:nvPicPr>
          <p:cNvPr id="9" name="Picture 8" descr="image.png"/>
          <p:cNvPicPr>
            <a:picLocks noChangeAspect="1"/>
          </p:cNvPicPr>
          <p:nvPr/>
        </p:nvPicPr>
        <p:blipFill>
          <a:blip r:embed="rId3"/>
          <a:stretch>
            <a:fillRect/>
          </a:stretch>
        </p:blipFill>
        <p:spPr>
          <a:xfrm>
            <a:off x="274320" y="1481328"/>
            <a:ext cx="11640312" cy="3749039"/>
          </a:xfrm>
          <a:prstGeom prst="rect">
            <a:avLst/>
          </a:prstGeom>
        </p:spPr>
      </p:pic>
      <p:graphicFrame>
        <p:nvGraphicFramePr>
          <p:cNvPr id="10" name="Table 9"/>
          <p:cNvGraphicFramePr>
            <a:graphicFrameLocks noGrp="1"/>
          </p:cNvGraphicFramePr>
          <p:nvPr/>
        </p:nvGraphicFramePr>
        <p:xfrm>
          <a:off x="274320" y="5285232"/>
          <a:ext cx="11640311" cy="1417320"/>
        </p:xfrm>
        <a:graphic>
          <a:graphicData uri="http://schemas.openxmlformats.org/drawingml/2006/table">
            <a:tbl>
              <a:tblPr firstRow="1" bandRow="1">
                <a:tableStyleId>{5C22544A-7EE6-4342-B048-85BDC9FD1C3A}</a:tableStyleId>
              </a:tblPr>
              <a:tblGrid>
                <a:gridCol w="685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2286000">
                  <a:extLst>
                    <a:ext uri="{9D8B030D-6E8A-4147-A177-3AD203B41FA5}">
                      <a16:colId xmlns:a16="http://schemas.microsoft.com/office/drawing/2014/main" val="20004"/>
                    </a:ext>
                  </a:extLst>
                </a:gridCol>
                <a:gridCol w="3822191">
                  <a:extLst>
                    <a:ext uri="{9D8B030D-6E8A-4147-A177-3AD203B41FA5}">
                      <a16:colId xmlns:a16="http://schemas.microsoft.com/office/drawing/2014/main" val="20005"/>
                    </a:ext>
                  </a:extLst>
                </a:gridCol>
              </a:tblGrid>
              <a:tr h="236220">
                <a:tc>
                  <a:txBody>
                    <a:bodyPr/>
                    <a:lstStyle/>
                    <a:p>
                      <a:pPr algn="ctr"/>
                      <a:r>
                        <a:rPr sz="1000" b="1" i="0">
                          <a:solidFill>
                            <a:srgbClr val="FFFFFF"/>
                          </a:solidFill>
                          <a:latin typeface="Arial"/>
                        </a:rPr>
                        <a:t>Year</a:t>
                      </a:r>
                    </a:p>
                  </a:txBody>
                  <a:tcPr>
                    <a:solidFill>
                      <a:srgbClr val="002060"/>
                    </a:solidFill>
                  </a:tcPr>
                </a:tc>
                <a:tc>
                  <a:txBody>
                    <a:bodyPr/>
                    <a:lstStyle/>
                    <a:p>
                      <a:pPr algn="ctr"/>
                      <a:r>
                        <a:rPr sz="1000" b="1" i="0">
                          <a:solidFill>
                            <a:srgbClr val="FFFFFF"/>
                          </a:solidFill>
                          <a:latin typeface="Arial"/>
                        </a:rPr>
                        <a:t>Lead Size @ T1</a:t>
                      </a:r>
                    </a:p>
                  </a:txBody>
                  <a:tcPr>
                    <a:solidFill>
                      <a:srgbClr val="002060"/>
                    </a:solidFill>
                  </a:tcPr>
                </a:tc>
                <a:tc>
                  <a:txBody>
                    <a:bodyPr/>
                    <a:lstStyle/>
                    <a:p>
                      <a:pPr algn="ctr"/>
                      <a:r>
                        <a:rPr sz="1000" b="1" i="0">
                          <a:solidFill>
                            <a:srgbClr val="FFFFFF"/>
                          </a:solidFill>
                          <a:latin typeface="Arial"/>
                        </a:rPr>
                        <a:t>Lead Size @ T2</a:t>
                      </a:r>
                    </a:p>
                  </a:txBody>
                  <a:tcPr>
                    <a:solidFill>
                      <a:srgbClr val="002060"/>
                    </a:solidFill>
                  </a:tcPr>
                </a:tc>
                <a:tc>
                  <a:txBody>
                    <a:bodyPr/>
                    <a:lstStyle/>
                    <a:p>
                      <a:pPr algn="ctr"/>
                      <a:r>
                        <a:rPr sz="1000" b="1" i="0">
                          <a:solidFill>
                            <a:srgbClr val="FFFFFF"/>
                          </a:solidFill>
                          <a:latin typeface="Arial"/>
                        </a:rPr>
                        <a:t>Change</a:t>
                      </a:r>
                    </a:p>
                  </a:txBody>
                  <a:tcPr>
                    <a:solidFill>
                      <a:srgbClr val="002060"/>
                    </a:solidFill>
                  </a:tcPr>
                </a:tc>
                <a:tc>
                  <a:txBody>
                    <a:bodyPr/>
                    <a:lstStyle/>
                    <a:p>
                      <a:pPr algn="ctr"/>
                      <a:r>
                        <a:rPr sz="1000" b="1" i="0">
                          <a:solidFill>
                            <a:srgbClr val="FFFFFF"/>
                          </a:solidFill>
                          <a:latin typeface="Arial"/>
                        </a:rPr>
                        <a:t>Chase Group @ T2</a:t>
                      </a:r>
                    </a:p>
                  </a:txBody>
                  <a:tcPr>
                    <a:solidFill>
                      <a:srgbClr val="002060"/>
                    </a:solidFill>
                  </a:tcPr>
                </a:tc>
                <a:tc>
                  <a:txBody>
                    <a:bodyPr/>
                    <a:lstStyle/>
                    <a:p>
                      <a:pPr algn="ctr"/>
                      <a:r>
                        <a:rPr sz="1000" b="1" i="0">
                          <a:solidFill>
                            <a:srgbClr val="FFFFFF"/>
                          </a:solidFill>
                          <a:latin typeface="Arial"/>
                        </a:rPr>
                        <a:t>Chase Gap*</a:t>
                      </a:r>
                    </a:p>
                  </a:txBody>
                  <a:tcPr>
                    <a:solidFill>
                      <a:srgbClr val="002060"/>
                    </a:solidFill>
                  </a:tcPr>
                </a:tc>
                <a:extLst>
                  <a:ext uri="{0D108BD9-81ED-4DB2-BD59-A6C34878D82A}">
                    <a16:rowId xmlns:a16="http://schemas.microsoft.com/office/drawing/2014/main" val="10000"/>
                  </a:ext>
                </a:extLst>
              </a:tr>
              <a:tr h="236220">
                <a:tc>
                  <a:txBody>
                    <a:bodyPr/>
                    <a:lstStyle/>
                    <a:p>
                      <a:pPr algn="ctr"/>
                      <a:r>
                        <a:rPr sz="950" b="0" i="0">
                          <a:solidFill>
                            <a:srgbClr val="262626"/>
                          </a:solidFill>
                          <a:latin typeface="Arial"/>
                        </a:rPr>
                        <a:t>2018</a:t>
                      </a:r>
                    </a:p>
                  </a:txBody>
                  <a:tcPr>
                    <a:solidFill>
                      <a:srgbClr val="FFFFFF"/>
                    </a:solidFill>
                  </a:tcPr>
                </a:tc>
                <a:tc>
                  <a:txBody>
                    <a:bodyPr/>
                    <a:lstStyle/>
                    <a:p>
                      <a:pPr algn="ctr"/>
                      <a:r>
                        <a:rPr sz="950" b="0" i="0">
                          <a:solidFill>
                            <a:srgbClr val="262626"/>
                          </a:solidFill>
                          <a:latin typeface="Arial"/>
                        </a:rPr>
                        <a:t>8</a:t>
                      </a:r>
                    </a:p>
                  </a:txBody>
                  <a:tcPr>
                    <a:solidFill>
                      <a:srgbClr val="FFFFFF"/>
                    </a:solidFill>
                  </a:tcPr>
                </a:tc>
                <a:tc>
                  <a:txBody>
                    <a:bodyPr/>
                    <a:lstStyle/>
                    <a:p>
                      <a:pPr algn="ctr"/>
                      <a:r>
                        <a:rPr sz="950" b="0" i="0">
                          <a:solidFill>
                            <a:srgbClr val="262626"/>
                          </a:solidFill>
                          <a:latin typeface="Arial"/>
                        </a:rPr>
                        <a:t>27</a:t>
                      </a:r>
                    </a:p>
                  </a:txBody>
                  <a:tcPr>
                    <a:solidFill>
                      <a:srgbClr val="FFFFFF"/>
                    </a:solidFill>
                  </a:tcPr>
                </a:tc>
                <a:tc>
                  <a:txBody>
                    <a:bodyPr/>
                    <a:lstStyle/>
                    <a:p>
                      <a:pPr algn="ctr"/>
                      <a:r>
                        <a:rPr sz="950" b="0" i="0">
                          <a:solidFill>
                            <a:srgbClr val="262626"/>
                          </a:solidFill>
                          <a:latin typeface="Arial"/>
                        </a:rPr>
                        <a:t>+19</a:t>
                      </a:r>
                    </a:p>
                  </a:txBody>
                  <a:tcPr>
                    <a:solidFill>
                      <a:srgbClr val="FFFFFF"/>
                    </a:solidFill>
                  </a:tcPr>
                </a:tc>
                <a:tc>
                  <a:txBody>
                    <a:bodyPr/>
                    <a:lstStyle/>
                    <a:p>
                      <a:pPr algn="ctr"/>
                      <a:r>
                        <a:rPr sz="950" b="0" i="0">
                          <a:solidFill>
                            <a:srgbClr val="262626"/>
                          </a:solidFill>
                          <a:latin typeface="Arial"/>
                        </a:rPr>
                        <a:t>19</a:t>
                      </a:r>
                    </a:p>
                  </a:txBody>
                  <a:tcPr>
                    <a:solidFill>
                      <a:srgbClr val="FFFFFF"/>
                    </a:solidFill>
                  </a:tcPr>
                </a:tc>
                <a:tc>
                  <a:txBody>
                    <a:bodyPr/>
                    <a:lstStyle/>
                    <a:p>
                      <a:pPr algn="ctr"/>
                      <a:r>
                        <a:rPr sz="950" b="0" i="0">
                          <a:solidFill>
                            <a:srgbClr val="262626"/>
                          </a:solidFill>
                          <a:latin typeface="Arial"/>
                        </a:rPr>
                        <a:t>110s</a:t>
                      </a:r>
                    </a:p>
                  </a:txBody>
                  <a:tcPr>
                    <a:solidFill>
                      <a:srgbClr val="FFFFFF"/>
                    </a:solidFill>
                  </a:tcPr>
                </a:tc>
                <a:extLst>
                  <a:ext uri="{0D108BD9-81ED-4DB2-BD59-A6C34878D82A}">
                    <a16:rowId xmlns:a16="http://schemas.microsoft.com/office/drawing/2014/main" val="10001"/>
                  </a:ext>
                </a:extLst>
              </a:tr>
              <a:tr h="236220">
                <a:tc>
                  <a:txBody>
                    <a:bodyPr/>
                    <a:lstStyle/>
                    <a:p>
                      <a:pPr algn="ctr"/>
                      <a:r>
                        <a:rPr sz="950" b="0" i="0">
                          <a:solidFill>
                            <a:srgbClr val="262626"/>
                          </a:solidFill>
                          <a:latin typeface="Arial"/>
                        </a:rPr>
                        <a:t>2019</a:t>
                      </a:r>
                    </a:p>
                  </a:txBody>
                  <a:tcPr>
                    <a:solidFill>
                      <a:srgbClr val="F2F2F2"/>
                    </a:solidFill>
                  </a:tcPr>
                </a:tc>
                <a:tc>
                  <a:txBody>
                    <a:bodyPr/>
                    <a:lstStyle/>
                    <a:p>
                      <a:pPr algn="ctr"/>
                      <a:r>
                        <a:rPr sz="950" b="0" i="0">
                          <a:solidFill>
                            <a:srgbClr val="262626"/>
                          </a:solidFill>
                          <a:latin typeface="Arial"/>
                        </a:rPr>
                        <a:t>9</a:t>
                      </a:r>
                    </a:p>
                  </a:txBody>
                  <a:tcPr>
                    <a:solidFill>
                      <a:srgbClr val="F2F2F2"/>
                    </a:solidFill>
                  </a:tcPr>
                </a:tc>
                <a:tc>
                  <a:txBody>
                    <a:bodyPr/>
                    <a:lstStyle/>
                    <a:p>
                      <a:pPr algn="ctr"/>
                      <a:r>
                        <a:rPr sz="950" b="0" i="0">
                          <a:solidFill>
                            <a:srgbClr val="262626"/>
                          </a:solidFill>
                          <a:latin typeface="Arial"/>
                        </a:rPr>
                        <a:t>5</a:t>
                      </a:r>
                    </a:p>
                  </a:txBody>
                  <a:tcPr>
                    <a:solidFill>
                      <a:srgbClr val="F2F2F2"/>
                    </a:solidFill>
                  </a:tcPr>
                </a:tc>
                <a:tc>
                  <a:txBody>
                    <a:bodyPr/>
                    <a:lstStyle/>
                    <a:p>
                      <a:pPr algn="ctr"/>
                      <a:r>
                        <a:rPr sz="950" b="0" i="0">
                          <a:solidFill>
                            <a:srgbClr val="262626"/>
                          </a:solidFill>
                          <a:latin typeface="Arial"/>
                        </a:rPr>
                        <a:t>-4</a:t>
                      </a:r>
                    </a:p>
                  </a:txBody>
                  <a:tcPr>
                    <a:solidFill>
                      <a:srgbClr val="F2F2F2"/>
                    </a:solidFill>
                  </a:tcPr>
                </a:tc>
                <a:tc>
                  <a:txBody>
                    <a:bodyPr/>
                    <a:lstStyle/>
                    <a:p>
                      <a:pPr algn="ctr"/>
                      <a:r>
                        <a:rPr sz="950" b="0" i="0">
                          <a:solidFill>
                            <a:srgbClr val="262626"/>
                          </a:solidFill>
                          <a:latin typeface="Arial"/>
                        </a:rPr>
                        <a:t>22</a:t>
                      </a:r>
                    </a:p>
                  </a:txBody>
                  <a:tcPr>
                    <a:solidFill>
                      <a:srgbClr val="F2F2F2"/>
                    </a:solidFill>
                  </a:tcPr>
                </a:tc>
                <a:tc>
                  <a:txBody>
                    <a:bodyPr/>
                    <a:lstStyle/>
                    <a:p>
                      <a:pPr algn="ctr"/>
                      <a:r>
                        <a:rPr sz="950" b="0" i="0">
                          <a:solidFill>
                            <a:srgbClr val="262626"/>
                          </a:solidFill>
                          <a:latin typeface="Arial"/>
                        </a:rPr>
                        <a:t>15s</a:t>
                      </a:r>
                    </a:p>
                  </a:txBody>
                  <a:tcPr>
                    <a:solidFill>
                      <a:srgbClr val="F2F2F2"/>
                    </a:solidFill>
                  </a:tcPr>
                </a:tc>
                <a:extLst>
                  <a:ext uri="{0D108BD9-81ED-4DB2-BD59-A6C34878D82A}">
                    <a16:rowId xmlns:a16="http://schemas.microsoft.com/office/drawing/2014/main" val="10002"/>
                  </a:ext>
                </a:extLst>
              </a:tr>
              <a:tr h="236220">
                <a:tc>
                  <a:txBody>
                    <a:bodyPr/>
                    <a:lstStyle/>
                    <a:p>
                      <a:pPr algn="ctr"/>
                      <a:r>
                        <a:rPr sz="950" b="0" i="0">
                          <a:solidFill>
                            <a:srgbClr val="262626"/>
                          </a:solidFill>
                          <a:latin typeface="Arial"/>
                        </a:rPr>
                        <a:t>2021</a:t>
                      </a:r>
                    </a:p>
                  </a:txBody>
                  <a:tcPr>
                    <a:solidFill>
                      <a:srgbClr val="FFFFFF"/>
                    </a:solidFill>
                  </a:tcPr>
                </a:tc>
                <a:tc>
                  <a:txBody>
                    <a:bodyPr/>
                    <a:lstStyle/>
                    <a:p>
                      <a:pPr algn="ctr"/>
                      <a:r>
                        <a:rPr sz="950" b="0" i="0">
                          <a:solidFill>
                            <a:srgbClr val="262626"/>
                          </a:solidFill>
                          <a:latin typeface="Arial"/>
                        </a:rPr>
                        <a:t>4</a:t>
                      </a:r>
                    </a:p>
                  </a:txBody>
                  <a:tcPr>
                    <a:solidFill>
                      <a:srgbClr val="FFFFFF"/>
                    </a:solidFill>
                  </a:tcPr>
                </a:tc>
                <a:tc>
                  <a:txBody>
                    <a:bodyPr/>
                    <a:lstStyle/>
                    <a:p>
                      <a:pPr algn="ctr"/>
                      <a:r>
                        <a:rPr sz="950" b="0" i="0">
                          <a:solidFill>
                            <a:srgbClr val="262626"/>
                          </a:solidFill>
                          <a:latin typeface="Arial"/>
                        </a:rPr>
                        <a:t>20</a:t>
                      </a:r>
                    </a:p>
                  </a:txBody>
                  <a:tcPr>
                    <a:solidFill>
                      <a:srgbClr val="FFFFFF"/>
                    </a:solidFill>
                  </a:tcPr>
                </a:tc>
                <a:tc>
                  <a:txBody>
                    <a:bodyPr/>
                    <a:lstStyle/>
                    <a:p>
                      <a:pPr algn="ctr"/>
                      <a:r>
                        <a:rPr sz="950" b="0" i="0">
                          <a:solidFill>
                            <a:srgbClr val="262626"/>
                          </a:solidFill>
                          <a:latin typeface="Arial"/>
                        </a:rPr>
                        <a:t>+16</a:t>
                      </a:r>
                    </a:p>
                  </a:txBody>
                  <a:tcPr>
                    <a:solidFill>
                      <a:srgbClr val="FFFFFF"/>
                    </a:solidFill>
                  </a:tcPr>
                </a:tc>
                <a:tc>
                  <a:txBody>
                    <a:bodyPr/>
                    <a:lstStyle/>
                    <a:p>
                      <a:pPr algn="ctr"/>
                      <a:r>
                        <a:rPr sz="950" b="0" i="0">
                          <a:solidFill>
                            <a:srgbClr val="262626"/>
                          </a:solidFill>
                          <a:latin typeface="Arial"/>
                        </a:rPr>
                        <a:t>10</a:t>
                      </a:r>
                    </a:p>
                  </a:txBody>
                  <a:tcPr>
                    <a:solidFill>
                      <a:srgbClr val="FFFFFF"/>
                    </a:solidFill>
                  </a:tcPr>
                </a:tc>
                <a:tc>
                  <a:txBody>
                    <a:bodyPr/>
                    <a:lstStyle/>
                    <a:p>
                      <a:pPr algn="ctr"/>
                      <a:r>
                        <a:rPr sz="950" b="0" i="0">
                          <a:solidFill>
                            <a:srgbClr val="262626"/>
                          </a:solidFill>
                          <a:latin typeface="Arial"/>
                        </a:rPr>
                        <a:t>78s</a:t>
                      </a:r>
                    </a:p>
                  </a:txBody>
                  <a:tcPr>
                    <a:solidFill>
                      <a:srgbClr val="FFFFFF"/>
                    </a:solidFill>
                  </a:tcPr>
                </a:tc>
                <a:extLst>
                  <a:ext uri="{0D108BD9-81ED-4DB2-BD59-A6C34878D82A}">
                    <a16:rowId xmlns:a16="http://schemas.microsoft.com/office/drawing/2014/main" val="10003"/>
                  </a:ext>
                </a:extLst>
              </a:tr>
              <a:tr h="236220">
                <a:tc>
                  <a:txBody>
                    <a:bodyPr/>
                    <a:lstStyle/>
                    <a:p>
                      <a:pPr algn="ctr"/>
                      <a:r>
                        <a:rPr sz="950" b="0" i="0">
                          <a:solidFill>
                            <a:srgbClr val="262626"/>
                          </a:solidFill>
                          <a:latin typeface="Arial"/>
                        </a:rPr>
                        <a:t>2023</a:t>
                      </a:r>
                    </a:p>
                  </a:txBody>
                  <a:tcPr>
                    <a:solidFill>
                      <a:srgbClr val="F2F2F2"/>
                    </a:solidFill>
                  </a:tcPr>
                </a:tc>
                <a:tc>
                  <a:txBody>
                    <a:bodyPr/>
                    <a:lstStyle/>
                    <a:p>
                      <a:pPr algn="ctr"/>
                      <a:r>
                        <a:rPr sz="950" b="0" i="0">
                          <a:solidFill>
                            <a:srgbClr val="262626"/>
                          </a:solidFill>
                          <a:latin typeface="Arial"/>
                        </a:rPr>
                        <a:t>22</a:t>
                      </a:r>
                    </a:p>
                  </a:txBody>
                  <a:tcPr>
                    <a:solidFill>
                      <a:srgbClr val="F2F2F2"/>
                    </a:solidFill>
                  </a:tcPr>
                </a:tc>
                <a:tc>
                  <a:txBody>
                    <a:bodyPr/>
                    <a:lstStyle/>
                    <a:p>
                      <a:pPr algn="ctr"/>
                      <a:r>
                        <a:rPr sz="950" b="0" i="0">
                          <a:solidFill>
                            <a:srgbClr val="262626"/>
                          </a:solidFill>
                          <a:latin typeface="Arial"/>
                        </a:rPr>
                        <a:t>18</a:t>
                      </a:r>
                    </a:p>
                  </a:txBody>
                  <a:tcPr>
                    <a:solidFill>
                      <a:srgbClr val="F2F2F2"/>
                    </a:solidFill>
                  </a:tcPr>
                </a:tc>
                <a:tc>
                  <a:txBody>
                    <a:bodyPr/>
                    <a:lstStyle/>
                    <a:p>
                      <a:pPr algn="ctr"/>
                      <a:r>
                        <a:rPr sz="950" b="0" i="0">
                          <a:solidFill>
                            <a:srgbClr val="262626"/>
                          </a:solidFill>
                          <a:latin typeface="Arial"/>
                        </a:rPr>
                        <a:t>-4</a:t>
                      </a:r>
                    </a:p>
                  </a:txBody>
                  <a:tcPr>
                    <a:solidFill>
                      <a:srgbClr val="F2F2F2"/>
                    </a:solidFill>
                  </a:tcPr>
                </a:tc>
                <a:tc>
                  <a:txBody>
                    <a:bodyPr/>
                    <a:lstStyle/>
                    <a:p>
                      <a:pPr algn="ctr"/>
                      <a:r>
                        <a:rPr sz="950" b="0" i="0">
                          <a:solidFill>
                            <a:srgbClr val="262626"/>
                          </a:solidFill>
                          <a:latin typeface="Arial"/>
                        </a:rPr>
                        <a:t>8</a:t>
                      </a:r>
                    </a:p>
                  </a:txBody>
                  <a:tcPr>
                    <a:solidFill>
                      <a:srgbClr val="F2F2F2"/>
                    </a:solidFill>
                  </a:tcPr>
                </a:tc>
                <a:tc>
                  <a:txBody>
                    <a:bodyPr/>
                    <a:lstStyle/>
                    <a:p>
                      <a:pPr algn="ctr"/>
                      <a:r>
                        <a:rPr sz="950" b="0" i="0">
                          <a:solidFill>
                            <a:srgbClr val="262626"/>
                          </a:solidFill>
                          <a:latin typeface="Arial"/>
                        </a:rPr>
                        <a:t>82s</a:t>
                      </a:r>
                    </a:p>
                  </a:txBody>
                  <a:tcPr>
                    <a:solidFill>
                      <a:srgbClr val="F2F2F2"/>
                    </a:solidFill>
                  </a:tcPr>
                </a:tc>
                <a:extLst>
                  <a:ext uri="{0D108BD9-81ED-4DB2-BD59-A6C34878D82A}">
                    <a16:rowId xmlns:a16="http://schemas.microsoft.com/office/drawing/2014/main" val="10004"/>
                  </a:ext>
                </a:extLst>
              </a:tr>
              <a:tr h="236220">
                <a:tc>
                  <a:txBody>
                    <a:bodyPr/>
                    <a:lstStyle/>
                    <a:p>
                      <a:pPr algn="ctr"/>
                      <a:r>
                        <a:rPr sz="950" b="0" i="0">
                          <a:solidFill>
                            <a:srgbClr val="262626"/>
                          </a:solidFill>
                          <a:latin typeface="Arial"/>
                        </a:rPr>
                        <a:t>2024</a:t>
                      </a:r>
                    </a:p>
                  </a:txBody>
                  <a:tcPr>
                    <a:solidFill>
                      <a:srgbClr val="FFFFFF"/>
                    </a:solidFill>
                  </a:tcPr>
                </a:tc>
                <a:tc>
                  <a:txBody>
                    <a:bodyPr/>
                    <a:lstStyle/>
                    <a:p>
                      <a:pPr algn="ctr"/>
                      <a:r>
                        <a:rPr sz="950" b="0" i="0">
                          <a:solidFill>
                            <a:srgbClr val="262626"/>
                          </a:solidFill>
                          <a:latin typeface="Arial"/>
                        </a:rPr>
                        <a:t>23</a:t>
                      </a:r>
                    </a:p>
                  </a:txBody>
                  <a:tcPr>
                    <a:solidFill>
                      <a:srgbClr val="FFFFFF"/>
                    </a:solidFill>
                  </a:tcPr>
                </a:tc>
                <a:tc>
                  <a:txBody>
                    <a:bodyPr/>
                    <a:lstStyle/>
                    <a:p>
                      <a:pPr algn="ctr"/>
                      <a:r>
                        <a:rPr sz="950" b="0" i="0">
                          <a:solidFill>
                            <a:srgbClr val="262626"/>
                          </a:solidFill>
                          <a:latin typeface="Arial"/>
                        </a:rPr>
                        <a:t>1</a:t>
                      </a:r>
                    </a:p>
                  </a:txBody>
                  <a:tcPr>
                    <a:solidFill>
                      <a:srgbClr val="FFFFFF"/>
                    </a:solidFill>
                  </a:tcPr>
                </a:tc>
                <a:tc>
                  <a:txBody>
                    <a:bodyPr/>
                    <a:lstStyle/>
                    <a:p>
                      <a:pPr algn="ctr"/>
                      <a:r>
                        <a:rPr sz="950" b="0" i="0">
                          <a:solidFill>
                            <a:srgbClr val="262626"/>
                          </a:solidFill>
                          <a:latin typeface="Arial"/>
                        </a:rPr>
                        <a:t>-22</a:t>
                      </a:r>
                    </a:p>
                  </a:txBody>
                  <a:tcPr>
                    <a:solidFill>
                      <a:srgbClr val="FFFFFF"/>
                    </a:solidFill>
                  </a:tcPr>
                </a:tc>
                <a:tc>
                  <a:txBody>
                    <a:bodyPr/>
                    <a:lstStyle/>
                    <a:p>
                      <a:pPr algn="ctr"/>
                      <a:r>
                        <a:rPr sz="950" b="0" i="0">
                          <a:solidFill>
                            <a:srgbClr val="262626"/>
                          </a:solidFill>
                          <a:latin typeface="Arial"/>
                        </a:rPr>
                        <a:t>12</a:t>
                      </a:r>
                    </a:p>
                  </a:txBody>
                  <a:tcPr>
                    <a:solidFill>
                      <a:srgbClr val="FFFFFF"/>
                    </a:solidFill>
                  </a:tcPr>
                </a:tc>
                <a:tc>
                  <a:txBody>
                    <a:bodyPr/>
                    <a:lstStyle/>
                    <a:p>
                      <a:pPr algn="ctr"/>
                      <a:r>
                        <a:rPr sz="950" b="0" i="0">
                          <a:solidFill>
                            <a:srgbClr val="262626"/>
                          </a:solidFill>
                          <a:latin typeface="Arial"/>
                        </a:rPr>
                        <a:t>38s</a:t>
                      </a:r>
                    </a:p>
                  </a:txBody>
                  <a:tcPr>
                    <a:solidFill>
                      <a:srgbClr val="FFFFFF"/>
                    </a:solidFill>
                  </a:tcPr>
                </a:tc>
                <a:extLst>
                  <a:ext uri="{0D108BD9-81ED-4DB2-BD59-A6C34878D82A}">
                    <a16:rowId xmlns:a16="http://schemas.microsoft.com/office/drawing/2014/main" val="10005"/>
                  </a:ext>
                </a:extLst>
              </a:tr>
            </a:tbl>
          </a:graphicData>
        </a:graphic>
      </p:graphicFrame>
      <p:sp>
        <p:nvSpPr>
          <p:cNvPr id="11" name="TextBox 10"/>
          <p:cNvSpPr txBox="1"/>
          <p:nvPr/>
        </p:nvSpPr>
        <p:spPr>
          <a:xfrm>
            <a:off x="274320" y="6565392"/>
            <a:ext cx="11640312" cy="201168"/>
          </a:xfrm>
          <a:prstGeom prst="rect">
            <a:avLst/>
          </a:prstGeom>
          <a:noFill/>
        </p:spPr>
        <p:txBody>
          <a:bodyPr wrap="square">
            <a:spAutoFit/>
          </a:bodyPr>
          <a:lstStyle/>
          <a:p>
            <a:pPr algn="l"/>
            <a:r>
              <a:rPr sz="800" b="0" i="1">
                <a:solidFill>
                  <a:srgbClr val="BFBFBF"/>
                </a:solidFill>
                <a:latin typeface="Arial"/>
              </a:rPr>
              <a:t>Lead pack = athletes within 15 sec of leader. Chase group = athletes within 15 sec of the first athlete outside the lead pack. * Chase Gap = seconds from the last lead-pack athlete to the first chase-group athlete at T2.</a:t>
            </a:r>
          </a:p>
        </p:txBody>
      </p:sp>
      <p:sp>
        <p:nvSpPr>
          <p:cNvPr id="12" name="TextBox 11"/>
          <p:cNvSpPr txBox="1"/>
          <p:nvPr/>
        </p:nvSpPr>
        <p:spPr>
          <a:xfrm>
            <a:off x="274320" y="6720840"/>
            <a:ext cx="11640312" cy="164592"/>
          </a:xfrm>
          <a:prstGeom prst="rect">
            <a:avLst/>
          </a:prstGeom>
          <a:noFill/>
        </p:spPr>
        <p:txBody>
          <a:bodyPr wrap="square">
            <a:spAutoFit/>
          </a:bodyPr>
          <a:lstStyle/>
          <a:p>
            <a:pPr algn="l"/>
            <a:r>
              <a:rPr sz="750" b="0" i="1">
                <a:solidFill>
                  <a:srgbClr val="BFBFBF"/>
                </a:solidFill>
                <a:latin typeface="Arial"/>
              </a:rPr>
              <a:t>Dropouts: 2018: 9 DNF/LAP (2 in lead group at bike)  |  2019: 15 DNF/LAP  |  2021: 6 DNF/LAP  |  2023: 3 DNF/LAP (1 in lead group at t1)</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Run Split Analysis  —  Elite 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Edmonton</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image.png"/>
          <p:cNvPicPr>
            <a:picLocks noChangeAspect="1"/>
          </p:cNvPicPr>
          <p:nvPr/>
        </p:nvPicPr>
        <p:blipFill>
          <a:blip r:embed="rId3"/>
          <a:stretch>
            <a:fillRect/>
          </a:stretch>
        </p:blipFill>
        <p:spPr>
          <a:xfrm>
            <a:off x="457200" y="1115568"/>
            <a:ext cx="11247120" cy="544068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Key Position Times  —  Elite 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Edmonton</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image.png"/>
          <p:cNvPicPr>
            <a:picLocks noChangeAspect="1"/>
          </p:cNvPicPr>
          <p:nvPr/>
        </p:nvPicPr>
        <p:blipFill>
          <a:blip r:embed="rId3"/>
          <a:stretch>
            <a:fillRect/>
          </a:stretch>
        </p:blipFill>
        <p:spPr>
          <a:xfrm>
            <a:off x="274320" y="1078992"/>
            <a:ext cx="11640312" cy="3017520"/>
          </a:xfrm>
          <a:prstGeom prst="rect">
            <a:avLst/>
          </a:prstGeom>
        </p:spPr>
      </p:pic>
      <p:graphicFrame>
        <p:nvGraphicFramePr>
          <p:cNvPr id="9" name="Table 8"/>
          <p:cNvGraphicFramePr>
            <a:graphicFrameLocks noGrp="1"/>
          </p:cNvGraphicFramePr>
          <p:nvPr/>
        </p:nvGraphicFramePr>
        <p:xfrm>
          <a:off x="274320" y="4187952"/>
          <a:ext cx="11640312" cy="2084832"/>
        </p:xfrm>
        <a:graphic>
          <a:graphicData uri="http://schemas.openxmlformats.org/drawingml/2006/table">
            <a:tbl>
              <a:tblPr firstRow="1" bandRow="1">
                <a:tableStyleId>{5C22544A-7EE6-4342-B048-85BDC9FD1C3A}</a:tableStyleId>
              </a:tblPr>
              <a:tblGrid>
                <a:gridCol w="640080">
                  <a:extLst>
                    <a:ext uri="{9D8B030D-6E8A-4147-A177-3AD203B41FA5}">
                      <a16:colId xmlns:a16="http://schemas.microsoft.com/office/drawing/2014/main" val="20000"/>
                    </a:ext>
                  </a:extLst>
                </a:gridCol>
                <a:gridCol w="1833372">
                  <a:extLst>
                    <a:ext uri="{9D8B030D-6E8A-4147-A177-3AD203B41FA5}">
                      <a16:colId xmlns:a16="http://schemas.microsoft.com/office/drawing/2014/main" val="20001"/>
                    </a:ext>
                  </a:extLst>
                </a:gridCol>
                <a:gridCol w="1833372">
                  <a:extLst>
                    <a:ext uri="{9D8B030D-6E8A-4147-A177-3AD203B41FA5}">
                      <a16:colId xmlns:a16="http://schemas.microsoft.com/office/drawing/2014/main" val="20002"/>
                    </a:ext>
                  </a:extLst>
                </a:gridCol>
                <a:gridCol w="1833372">
                  <a:extLst>
                    <a:ext uri="{9D8B030D-6E8A-4147-A177-3AD203B41FA5}">
                      <a16:colId xmlns:a16="http://schemas.microsoft.com/office/drawing/2014/main" val="20003"/>
                    </a:ext>
                  </a:extLst>
                </a:gridCol>
                <a:gridCol w="1833372">
                  <a:extLst>
                    <a:ext uri="{9D8B030D-6E8A-4147-A177-3AD203B41FA5}">
                      <a16:colId xmlns:a16="http://schemas.microsoft.com/office/drawing/2014/main" val="20004"/>
                    </a:ext>
                  </a:extLst>
                </a:gridCol>
                <a:gridCol w="1833372">
                  <a:extLst>
                    <a:ext uri="{9D8B030D-6E8A-4147-A177-3AD203B41FA5}">
                      <a16:colId xmlns:a16="http://schemas.microsoft.com/office/drawing/2014/main" val="20005"/>
                    </a:ext>
                  </a:extLst>
                </a:gridCol>
                <a:gridCol w="1833372">
                  <a:extLst>
                    <a:ext uri="{9D8B030D-6E8A-4147-A177-3AD203B41FA5}">
                      <a16:colId xmlns:a16="http://schemas.microsoft.com/office/drawing/2014/main" val="20006"/>
                    </a:ext>
                  </a:extLst>
                </a:gridCol>
              </a:tblGrid>
              <a:tr h="347472">
                <a:tc>
                  <a:txBody>
                    <a:bodyPr/>
                    <a:lstStyle/>
                    <a:p>
                      <a:pPr algn="ctr"/>
                      <a:r>
                        <a:rPr sz="1000" b="1" i="0">
                          <a:solidFill>
                            <a:srgbClr val="FFFFFF"/>
                          </a:solidFill>
                          <a:latin typeface="Arial"/>
                        </a:rPr>
                        <a:t>Year</a:t>
                      </a:r>
                    </a:p>
                  </a:txBody>
                  <a:tcPr>
                    <a:solidFill>
                      <a:srgbClr val="002060"/>
                    </a:solidFill>
                  </a:tcPr>
                </a:tc>
                <a:tc>
                  <a:txBody>
                    <a:bodyPr/>
                    <a:lstStyle/>
                    <a:p>
                      <a:pPr algn="ctr"/>
                      <a:r>
                        <a:rPr sz="1000" b="1" i="0">
                          <a:solidFill>
                            <a:srgbClr val="FFFFFF"/>
                          </a:solidFill>
                          <a:latin typeface="Arial"/>
                        </a:rPr>
                        <a:t>1st</a:t>
                      </a:r>
                    </a:p>
                  </a:txBody>
                  <a:tcPr>
                    <a:solidFill>
                      <a:srgbClr val="002060"/>
                    </a:solidFill>
                  </a:tcPr>
                </a:tc>
                <a:tc>
                  <a:txBody>
                    <a:bodyPr/>
                    <a:lstStyle/>
                    <a:p>
                      <a:pPr algn="ctr"/>
                      <a:r>
                        <a:rPr sz="1000" b="1" i="0">
                          <a:solidFill>
                            <a:srgbClr val="FFFFFF"/>
                          </a:solidFill>
                          <a:latin typeface="Arial"/>
                        </a:rPr>
                        <a:t>2nd</a:t>
                      </a:r>
                    </a:p>
                  </a:txBody>
                  <a:tcPr>
                    <a:solidFill>
                      <a:srgbClr val="002060"/>
                    </a:solidFill>
                  </a:tcPr>
                </a:tc>
                <a:tc>
                  <a:txBody>
                    <a:bodyPr/>
                    <a:lstStyle/>
                    <a:p>
                      <a:pPr algn="ctr"/>
                      <a:r>
                        <a:rPr sz="1000" b="1" i="0">
                          <a:solidFill>
                            <a:srgbClr val="FFFFFF"/>
                          </a:solidFill>
                          <a:latin typeface="Arial"/>
                        </a:rPr>
                        <a:t>3rd</a:t>
                      </a:r>
                    </a:p>
                  </a:txBody>
                  <a:tcPr>
                    <a:solidFill>
                      <a:srgbClr val="002060"/>
                    </a:solidFill>
                  </a:tcPr>
                </a:tc>
                <a:tc>
                  <a:txBody>
                    <a:bodyPr/>
                    <a:lstStyle/>
                    <a:p>
                      <a:pPr algn="ctr"/>
                      <a:r>
                        <a:rPr sz="1000" b="1" i="0">
                          <a:solidFill>
                            <a:srgbClr val="FFFFFF"/>
                          </a:solidFill>
                          <a:latin typeface="Arial"/>
                        </a:rPr>
                        <a:t>5th</a:t>
                      </a:r>
                    </a:p>
                  </a:txBody>
                  <a:tcPr>
                    <a:solidFill>
                      <a:srgbClr val="002060"/>
                    </a:solidFill>
                  </a:tcPr>
                </a:tc>
                <a:tc>
                  <a:txBody>
                    <a:bodyPr/>
                    <a:lstStyle/>
                    <a:p>
                      <a:pPr algn="ctr"/>
                      <a:r>
                        <a:rPr sz="1000" b="1" i="0">
                          <a:solidFill>
                            <a:srgbClr val="FFFFFF"/>
                          </a:solidFill>
                          <a:latin typeface="Arial"/>
                        </a:rPr>
                        <a:t>10th</a:t>
                      </a:r>
                    </a:p>
                  </a:txBody>
                  <a:tcPr>
                    <a:solidFill>
                      <a:srgbClr val="002060"/>
                    </a:solidFill>
                  </a:tcPr>
                </a:tc>
                <a:tc>
                  <a:txBody>
                    <a:bodyPr/>
                    <a:lstStyle/>
                    <a:p>
                      <a:pPr algn="ctr"/>
                      <a:r>
                        <a:rPr sz="1000" b="1" i="0">
                          <a:solidFill>
                            <a:srgbClr val="FFFFFF"/>
                          </a:solidFill>
                          <a:latin typeface="Arial"/>
                        </a:rPr>
                        <a:t>20th</a:t>
                      </a:r>
                    </a:p>
                  </a:txBody>
                  <a:tcPr>
                    <a:solidFill>
                      <a:srgbClr val="002060"/>
                    </a:solidFill>
                  </a:tcPr>
                </a:tc>
                <a:extLst>
                  <a:ext uri="{0D108BD9-81ED-4DB2-BD59-A6C34878D82A}">
                    <a16:rowId xmlns:a16="http://schemas.microsoft.com/office/drawing/2014/main" val="10000"/>
                  </a:ext>
                </a:extLst>
              </a:tr>
              <a:tr h="347472">
                <a:tc>
                  <a:txBody>
                    <a:bodyPr/>
                    <a:lstStyle/>
                    <a:p>
                      <a:pPr algn="ctr"/>
                      <a:r>
                        <a:rPr sz="1000" b="1" i="0">
                          <a:solidFill>
                            <a:srgbClr val="262626"/>
                          </a:solidFill>
                          <a:latin typeface="Arial"/>
                        </a:rPr>
                        <a:t>2018</a:t>
                      </a:r>
                    </a:p>
                  </a:txBody>
                  <a:tcPr>
                    <a:solidFill>
                      <a:srgbClr val="FFFFFF"/>
                    </a:solidFill>
                  </a:tcPr>
                </a:tc>
                <a:tc>
                  <a:txBody>
                    <a:bodyPr/>
                    <a:lstStyle/>
                    <a:p>
                      <a:pPr algn="ctr"/>
                      <a:r>
                        <a:rPr sz="850" b="0" i="0">
                          <a:solidFill>
                            <a:srgbClr val="262626"/>
                          </a:solidFill>
                          <a:latin typeface="Arial"/>
                        </a:rPr>
                        <a:t>51:15</a:t>
                      </a:r>
                    </a:p>
                  </a:txBody>
                  <a:tcPr>
                    <a:solidFill>
                      <a:srgbClr val="FFFFFF"/>
                    </a:solidFill>
                  </a:tcPr>
                </a:tc>
                <a:tc>
                  <a:txBody>
                    <a:bodyPr/>
                    <a:lstStyle/>
                    <a:p>
                      <a:pPr algn="ctr"/>
                      <a:r>
                        <a:rPr sz="850" b="0" i="0">
                          <a:solidFill>
                            <a:srgbClr val="262626"/>
                          </a:solidFill>
                          <a:latin typeface="Arial"/>
                        </a:rPr>
                        <a:t>51:18
+3s</a:t>
                      </a:r>
                    </a:p>
                  </a:txBody>
                  <a:tcPr>
                    <a:solidFill>
                      <a:srgbClr val="FFFFFF"/>
                    </a:solidFill>
                  </a:tcPr>
                </a:tc>
                <a:tc>
                  <a:txBody>
                    <a:bodyPr/>
                    <a:lstStyle/>
                    <a:p>
                      <a:pPr algn="ctr"/>
                      <a:r>
                        <a:rPr sz="850" b="0" i="0">
                          <a:solidFill>
                            <a:srgbClr val="262626"/>
                          </a:solidFill>
                          <a:latin typeface="Arial"/>
                        </a:rPr>
                        <a:t>51:22
+7s</a:t>
                      </a:r>
                    </a:p>
                  </a:txBody>
                  <a:tcPr>
                    <a:solidFill>
                      <a:srgbClr val="FFFFFF"/>
                    </a:solidFill>
                  </a:tcPr>
                </a:tc>
                <a:tc>
                  <a:txBody>
                    <a:bodyPr/>
                    <a:lstStyle/>
                    <a:p>
                      <a:pPr algn="ctr"/>
                      <a:r>
                        <a:rPr sz="850" b="0" i="0">
                          <a:solidFill>
                            <a:srgbClr val="262626"/>
                          </a:solidFill>
                          <a:latin typeface="Arial"/>
                        </a:rPr>
                        <a:t>51:25
+10s</a:t>
                      </a:r>
                    </a:p>
                  </a:txBody>
                  <a:tcPr>
                    <a:solidFill>
                      <a:srgbClr val="FFFFFF"/>
                    </a:solidFill>
                  </a:tcPr>
                </a:tc>
                <a:tc>
                  <a:txBody>
                    <a:bodyPr/>
                    <a:lstStyle/>
                    <a:p>
                      <a:pPr algn="ctr"/>
                      <a:r>
                        <a:rPr sz="850" b="0" i="0">
                          <a:solidFill>
                            <a:srgbClr val="262626"/>
                          </a:solidFill>
                          <a:latin typeface="Arial"/>
                        </a:rPr>
                        <a:t>52:13
+58s</a:t>
                      </a:r>
                    </a:p>
                  </a:txBody>
                  <a:tcPr>
                    <a:solidFill>
                      <a:srgbClr val="FFFFFF"/>
                    </a:solidFill>
                  </a:tcPr>
                </a:tc>
                <a:tc>
                  <a:txBody>
                    <a:bodyPr/>
                    <a:lstStyle/>
                    <a:p>
                      <a:pPr algn="ctr"/>
                      <a:r>
                        <a:rPr sz="850" b="0" i="0">
                          <a:solidFill>
                            <a:srgbClr val="262626"/>
                          </a:solidFill>
                          <a:latin typeface="Arial"/>
                        </a:rPr>
                        <a:t>52:55
+100s</a:t>
                      </a:r>
                    </a:p>
                  </a:txBody>
                  <a:tcPr>
                    <a:solidFill>
                      <a:srgbClr val="FFFFFF"/>
                    </a:solidFill>
                  </a:tcPr>
                </a:tc>
                <a:extLst>
                  <a:ext uri="{0D108BD9-81ED-4DB2-BD59-A6C34878D82A}">
                    <a16:rowId xmlns:a16="http://schemas.microsoft.com/office/drawing/2014/main" val="10001"/>
                  </a:ext>
                </a:extLst>
              </a:tr>
              <a:tr h="347472">
                <a:tc>
                  <a:txBody>
                    <a:bodyPr/>
                    <a:lstStyle/>
                    <a:p>
                      <a:pPr algn="ctr"/>
                      <a:r>
                        <a:rPr sz="1000" b="1" i="0">
                          <a:solidFill>
                            <a:srgbClr val="262626"/>
                          </a:solidFill>
                          <a:latin typeface="Arial"/>
                        </a:rPr>
                        <a:t>2019</a:t>
                      </a:r>
                    </a:p>
                  </a:txBody>
                  <a:tcPr>
                    <a:solidFill>
                      <a:srgbClr val="F2F2F2"/>
                    </a:solidFill>
                  </a:tcPr>
                </a:tc>
                <a:tc>
                  <a:txBody>
                    <a:bodyPr/>
                    <a:lstStyle/>
                    <a:p>
                      <a:pPr algn="ctr"/>
                      <a:r>
                        <a:rPr sz="850" b="0" i="0">
                          <a:solidFill>
                            <a:srgbClr val="262626"/>
                          </a:solidFill>
                          <a:latin typeface="Arial"/>
                        </a:rPr>
                        <a:t>54:52</a:t>
                      </a:r>
                    </a:p>
                  </a:txBody>
                  <a:tcPr>
                    <a:solidFill>
                      <a:srgbClr val="F2F2F2"/>
                    </a:solidFill>
                  </a:tcPr>
                </a:tc>
                <a:tc>
                  <a:txBody>
                    <a:bodyPr/>
                    <a:lstStyle/>
                    <a:p>
                      <a:pPr algn="ctr"/>
                      <a:r>
                        <a:rPr sz="850" b="0" i="0">
                          <a:solidFill>
                            <a:srgbClr val="262626"/>
                          </a:solidFill>
                          <a:latin typeface="Arial"/>
                        </a:rPr>
                        <a:t>54:57
+5s</a:t>
                      </a:r>
                    </a:p>
                  </a:txBody>
                  <a:tcPr>
                    <a:solidFill>
                      <a:srgbClr val="F2F2F2"/>
                    </a:solidFill>
                  </a:tcPr>
                </a:tc>
                <a:tc>
                  <a:txBody>
                    <a:bodyPr/>
                    <a:lstStyle/>
                    <a:p>
                      <a:pPr algn="ctr"/>
                      <a:r>
                        <a:rPr sz="850" b="0" i="0">
                          <a:solidFill>
                            <a:srgbClr val="262626"/>
                          </a:solidFill>
                          <a:latin typeface="Arial"/>
                        </a:rPr>
                        <a:t>55:02
+10s</a:t>
                      </a:r>
                    </a:p>
                  </a:txBody>
                  <a:tcPr>
                    <a:solidFill>
                      <a:srgbClr val="F2F2F2"/>
                    </a:solidFill>
                  </a:tcPr>
                </a:tc>
                <a:tc>
                  <a:txBody>
                    <a:bodyPr/>
                    <a:lstStyle/>
                    <a:p>
                      <a:pPr algn="ctr"/>
                      <a:r>
                        <a:rPr sz="850" b="0" i="0">
                          <a:solidFill>
                            <a:srgbClr val="262626"/>
                          </a:solidFill>
                          <a:latin typeface="Arial"/>
                        </a:rPr>
                        <a:t>55:13
+21s</a:t>
                      </a:r>
                    </a:p>
                  </a:txBody>
                  <a:tcPr>
                    <a:solidFill>
                      <a:srgbClr val="F2F2F2"/>
                    </a:solidFill>
                  </a:tcPr>
                </a:tc>
                <a:tc>
                  <a:txBody>
                    <a:bodyPr/>
                    <a:lstStyle/>
                    <a:p>
                      <a:pPr algn="ctr"/>
                      <a:r>
                        <a:rPr sz="850" b="0" i="0">
                          <a:solidFill>
                            <a:srgbClr val="262626"/>
                          </a:solidFill>
                          <a:latin typeface="Arial"/>
                        </a:rPr>
                        <a:t>55:38
+46s</a:t>
                      </a:r>
                    </a:p>
                  </a:txBody>
                  <a:tcPr>
                    <a:solidFill>
                      <a:srgbClr val="F2F2F2"/>
                    </a:solidFill>
                  </a:tcPr>
                </a:tc>
                <a:tc>
                  <a:txBody>
                    <a:bodyPr/>
                    <a:lstStyle/>
                    <a:p>
                      <a:pPr algn="ctr"/>
                      <a:r>
                        <a:rPr sz="850" b="0" i="0">
                          <a:solidFill>
                            <a:srgbClr val="262626"/>
                          </a:solidFill>
                          <a:latin typeface="Arial"/>
                        </a:rPr>
                        <a:t>56:09
+77s</a:t>
                      </a:r>
                    </a:p>
                  </a:txBody>
                  <a:tcPr>
                    <a:solidFill>
                      <a:srgbClr val="F2F2F2"/>
                    </a:solidFill>
                  </a:tcPr>
                </a:tc>
                <a:extLst>
                  <a:ext uri="{0D108BD9-81ED-4DB2-BD59-A6C34878D82A}">
                    <a16:rowId xmlns:a16="http://schemas.microsoft.com/office/drawing/2014/main" val="10002"/>
                  </a:ext>
                </a:extLst>
              </a:tr>
              <a:tr h="347472">
                <a:tc>
                  <a:txBody>
                    <a:bodyPr/>
                    <a:lstStyle/>
                    <a:p>
                      <a:pPr algn="ctr"/>
                      <a:r>
                        <a:rPr sz="1000" b="1" i="0">
                          <a:solidFill>
                            <a:srgbClr val="262626"/>
                          </a:solidFill>
                          <a:latin typeface="Arial"/>
                        </a:rPr>
                        <a:t>2021</a:t>
                      </a:r>
                    </a:p>
                  </a:txBody>
                  <a:tcPr>
                    <a:solidFill>
                      <a:srgbClr val="FFFFFF"/>
                    </a:solidFill>
                  </a:tcPr>
                </a:tc>
                <a:tc>
                  <a:txBody>
                    <a:bodyPr/>
                    <a:lstStyle/>
                    <a:p>
                      <a:pPr algn="ctr"/>
                      <a:r>
                        <a:rPr sz="850" b="0" i="0">
                          <a:solidFill>
                            <a:srgbClr val="262626"/>
                          </a:solidFill>
                          <a:latin typeface="Arial"/>
                        </a:rPr>
                        <a:t>1:44:14</a:t>
                      </a:r>
                    </a:p>
                  </a:txBody>
                  <a:tcPr>
                    <a:solidFill>
                      <a:srgbClr val="FFFFFF"/>
                    </a:solidFill>
                  </a:tcPr>
                </a:tc>
                <a:tc>
                  <a:txBody>
                    <a:bodyPr/>
                    <a:lstStyle/>
                    <a:p>
                      <a:pPr algn="ctr"/>
                      <a:r>
                        <a:rPr sz="850" b="0" i="0">
                          <a:solidFill>
                            <a:srgbClr val="262626"/>
                          </a:solidFill>
                          <a:latin typeface="Arial"/>
                        </a:rPr>
                        <a:t>1:44:14</a:t>
                      </a:r>
                    </a:p>
                  </a:txBody>
                  <a:tcPr>
                    <a:solidFill>
                      <a:srgbClr val="FFFFFF"/>
                    </a:solidFill>
                  </a:tcPr>
                </a:tc>
                <a:tc>
                  <a:txBody>
                    <a:bodyPr/>
                    <a:lstStyle/>
                    <a:p>
                      <a:pPr algn="ctr"/>
                      <a:r>
                        <a:rPr sz="850" b="0" i="0">
                          <a:solidFill>
                            <a:srgbClr val="262626"/>
                          </a:solidFill>
                          <a:latin typeface="Arial"/>
                        </a:rPr>
                        <a:t>1:44:15
+1s</a:t>
                      </a:r>
                    </a:p>
                  </a:txBody>
                  <a:tcPr>
                    <a:solidFill>
                      <a:srgbClr val="FFFFFF"/>
                    </a:solidFill>
                  </a:tcPr>
                </a:tc>
                <a:tc>
                  <a:txBody>
                    <a:bodyPr/>
                    <a:lstStyle/>
                    <a:p>
                      <a:pPr algn="ctr"/>
                      <a:r>
                        <a:rPr sz="850" b="0" i="0">
                          <a:solidFill>
                            <a:srgbClr val="262626"/>
                          </a:solidFill>
                          <a:latin typeface="Arial"/>
                        </a:rPr>
                        <a:t>1:44:24
+10s</a:t>
                      </a:r>
                    </a:p>
                  </a:txBody>
                  <a:tcPr>
                    <a:solidFill>
                      <a:srgbClr val="FFFFFF"/>
                    </a:solidFill>
                  </a:tcPr>
                </a:tc>
                <a:tc>
                  <a:txBody>
                    <a:bodyPr/>
                    <a:lstStyle/>
                    <a:p>
                      <a:pPr algn="ctr"/>
                      <a:r>
                        <a:rPr sz="850" b="0" i="0">
                          <a:solidFill>
                            <a:srgbClr val="262626"/>
                          </a:solidFill>
                          <a:latin typeface="Arial"/>
                        </a:rPr>
                        <a:t>1:44:52
+38s</a:t>
                      </a:r>
                    </a:p>
                  </a:txBody>
                  <a:tcPr>
                    <a:solidFill>
                      <a:srgbClr val="FFFFFF"/>
                    </a:solidFill>
                  </a:tcPr>
                </a:tc>
                <a:tc>
                  <a:txBody>
                    <a:bodyPr/>
                    <a:lstStyle/>
                    <a:p>
                      <a:pPr algn="ctr"/>
                      <a:r>
                        <a:rPr sz="850" b="0" i="0">
                          <a:solidFill>
                            <a:srgbClr val="262626"/>
                          </a:solidFill>
                          <a:latin typeface="Arial"/>
                        </a:rPr>
                        <a:t>1:46:19
+125s</a:t>
                      </a:r>
                    </a:p>
                  </a:txBody>
                  <a:tcPr>
                    <a:solidFill>
                      <a:srgbClr val="FFFFFF"/>
                    </a:solidFill>
                  </a:tcPr>
                </a:tc>
                <a:extLst>
                  <a:ext uri="{0D108BD9-81ED-4DB2-BD59-A6C34878D82A}">
                    <a16:rowId xmlns:a16="http://schemas.microsoft.com/office/drawing/2014/main" val="10003"/>
                  </a:ext>
                </a:extLst>
              </a:tr>
              <a:tr h="347472">
                <a:tc>
                  <a:txBody>
                    <a:bodyPr/>
                    <a:lstStyle/>
                    <a:p>
                      <a:pPr algn="ctr"/>
                      <a:r>
                        <a:rPr sz="1000" b="1" i="0">
                          <a:solidFill>
                            <a:srgbClr val="262626"/>
                          </a:solidFill>
                          <a:latin typeface="Arial"/>
                        </a:rPr>
                        <a:t>2023</a:t>
                      </a:r>
                    </a:p>
                  </a:txBody>
                  <a:tcPr>
                    <a:solidFill>
                      <a:srgbClr val="F2F2F2"/>
                    </a:solidFill>
                  </a:tcPr>
                </a:tc>
                <a:tc>
                  <a:txBody>
                    <a:bodyPr/>
                    <a:lstStyle/>
                    <a:p>
                      <a:pPr algn="ctr"/>
                      <a:r>
                        <a:rPr sz="850" b="0" i="0">
                          <a:solidFill>
                            <a:srgbClr val="262626"/>
                          </a:solidFill>
                          <a:latin typeface="Arial"/>
                        </a:rPr>
                        <a:t>49:39</a:t>
                      </a:r>
                    </a:p>
                  </a:txBody>
                  <a:tcPr>
                    <a:solidFill>
                      <a:srgbClr val="F2F2F2"/>
                    </a:solidFill>
                  </a:tcPr>
                </a:tc>
                <a:tc>
                  <a:txBody>
                    <a:bodyPr/>
                    <a:lstStyle/>
                    <a:p>
                      <a:pPr algn="ctr"/>
                      <a:r>
                        <a:rPr sz="850" b="0" i="0">
                          <a:solidFill>
                            <a:srgbClr val="262626"/>
                          </a:solidFill>
                          <a:latin typeface="Arial"/>
                        </a:rPr>
                        <a:t>49:56
+17s</a:t>
                      </a:r>
                    </a:p>
                  </a:txBody>
                  <a:tcPr>
                    <a:solidFill>
                      <a:srgbClr val="F2F2F2"/>
                    </a:solidFill>
                  </a:tcPr>
                </a:tc>
                <a:tc>
                  <a:txBody>
                    <a:bodyPr/>
                    <a:lstStyle/>
                    <a:p>
                      <a:pPr algn="ctr"/>
                      <a:r>
                        <a:rPr sz="850" b="0" i="0">
                          <a:solidFill>
                            <a:srgbClr val="262626"/>
                          </a:solidFill>
                          <a:latin typeface="Arial"/>
                        </a:rPr>
                        <a:t>50:10
+31s</a:t>
                      </a:r>
                    </a:p>
                  </a:txBody>
                  <a:tcPr>
                    <a:solidFill>
                      <a:srgbClr val="F2F2F2"/>
                    </a:solidFill>
                  </a:tcPr>
                </a:tc>
                <a:tc>
                  <a:txBody>
                    <a:bodyPr/>
                    <a:lstStyle/>
                    <a:p>
                      <a:pPr algn="ctr"/>
                      <a:r>
                        <a:rPr sz="850" b="0" i="0">
                          <a:solidFill>
                            <a:srgbClr val="262626"/>
                          </a:solidFill>
                          <a:latin typeface="Arial"/>
                        </a:rPr>
                        <a:t>50:54
+75s</a:t>
                      </a:r>
                    </a:p>
                  </a:txBody>
                  <a:tcPr>
                    <a:solidFill>
                      <a:srgbClr val="F2F2F2"/>
                    </a:solidFill>
                  </a:tcPr>
                </a:tc>
                <a:tc>
                  <a:txBody>
                    <a:bodyPr/>
                    <a:lstStyle/>
                    <a:p>
                      <a:pPr algn="ctr"/>
                      <a:r>
                        <a:rPr sz="850" b="0" i="0">
                          <a:solidFill>
                            <a:srgbClr val="262626"/>
                          </a:solidFill>
                          <a:latin typeface="Arial"/>
                        </a:rPr>
                        <a:t>51:18
+99s</a:t>
                      </a:r>
                    </a:p>
                  </a:txBody>
                  <a:tcPr>
                    <a:solidFill>
                      <a:srgbClr val="F2F2F2"/>
                    </a:solidFill>
                  </a:tcPr>
                </a:tc>
                <a:tc>
                  <a:txBody>
                    <a:bodyPr/>
                    <a:lstStyle/>
                    <a:p>
                      <a:pPr algn="ctr"/>
                      <a:r>
                        <a:rPr sz="850" b="0" i="0">
                          <a:solidFill>
                            <a:srgbClr val="262626"/>
                          </a:solidFill>
                          <a:latin typeface="Arial"/>
                        </a:rPr>
                        <a:t>53:25
+226s</a:t>
                      </a:r>
                    </a:p>
                  </a:txBody>
                  <a:tcPr>
                    <a:solidFill>
                      <a:srgbClr val="F2F2F2"/>
                    </a:solidFill>
                  </a:tcPr>
                </a:tc>
                <a:extLst>
                  <a:ext uri="{0D108BD9-81ED-4DB2-BD59-A6C34878D82A}">
                    <a16:rowId xmlns:a16="http://schemas.microsoft.com/office/drawing/2014/main" val="10004"/>
                  </a:ext>
                </a:extLst>
              </a:tr>
              <a:tr h="347472">
                <a:tc>
                  <a:txBody>
                    <a:bodyPr/>
                    <a:lstStyle/>
                    <a:p>
                      <a:pPr algn="ctr"/>
                      <a:r>
                        <a:rPr sz="1000" b="1" i="0">
                          <a:solidFill>
                            <a:srgbClr val="262626"/>
                          </a:solidFill>
                          <a:latin typeface="Arial"/>
                        </a:rPr>
                        <a:t>2024</a:t>
                      </a:r>
                    </a:p>
                  </a:txBody>
                  <a:tcPr>
                    <a:solidFill>
                      <a:srgbClr val="FFFFFF"/>
                    </a:solidFill>
                  </a:tcPr>
                </a:tc>
                <a:tc>
                  <a:txBody>
                    <a:bodyPr/>
                    <a:lstStyle/>
                    <a:p>
                      <a:pPr algn="ctr"/>
                      <a:r>
                        <a:rPr sz="850" b="0" i="0">
                          <a:solidFill>
                            <a:srgbClr val="262626"/>
                          </a:solidFill>
                          <a:latin typeface="Arial"/>
                        </a:rPr>
                        <a:t>50:06</a:t>
                      </a:r>
                    </a:p>
                  </a:txBody>
                  <a:tcPr>
                    <a:solidFill>
                      <a:srgbClr val="FFFFFF"/>
                    </a:solidFill>
                  </a:tcPr>
                </a:tc>
                <a:tc>
                  <a:txBody>
                    <a:bodyPr/>
                    <a:lstStyle/>
                    <a:p>
                      <a:pPr algn="ctr"/>
                      <a:r>
                        <a:rPr sz="850" b="0" i="0">
                          <a:solidFill>
                            <a:srgbClr val="262626"/>
                          </a:solidFill>
                          <a:latin typeface="Arial"/>
                        </a:rPr>
                        <a:t>50:08
+2s</a:t>
                      </a:r>
                    </a:p>
                  </a:txBody>
                  <a:tcPr>
                    <a:solidFill>
                      <a:srgbClr val="FFFFFF"/>
                    </a:solidFill>
                  </a:tcPr>
                </a:tc>
                <a:tc>
                  <a:txBody>
                    <a:bodyPr/>
                    <a:lstStyle/>
                    <a:p>
                      <a:pPr algn="ctr"/>
                      <a:r>
                        <a:rPr sz="850" b="0" i="0">
                          <a:solidFill>
                            <a:srgbClr val="262626"/>
                          </a:solidFill>
                          <a:latin typeface="Arial"/>
                        </a:rPr>
                        <a:t>50:10
+4s</a:t>
                      </a:r>
                    </a:p>
                  </a:txBody>
                  <a:tcPr>
                    <a:solidFill>
                      <a:srgbClr val="FFFFFF"/>
                    </a:solidFill>
                  </a:tcPr>
                </a:tc>
                <a:tc>
                  <a:txBody>
                    <a:bodyPr/>
                    <a:lstStyle/>
                    <a:p>
                      <a:pPr algn="ctr"/>
                      <a:r>
                        <a:rPr sz="850" b="0" i="0">
                          <a:solidFill>
                            <a:srgbClr val="262626"/>
                          </a:solidFill>
                          <a:latin typeface="Arial"/>
                        </a:rPr>
                        <a:t>50:31
+25s</a:t>
                      </a:r>
                    </a:p>
                  </a:txBody>
                  <a:tcPr>
                    <a:solidFill>
                      <a:srgbClr val="FFFFFF"/>
                    </a:solidFill>
                  </a:tcPr>
                </a:tc>
                <a:tc>
                  <a:txBody>
                    <a:bodyPr/>
                    <a:lstStyle/>
                    <a:p>
                      <a:pPr algn="ctr"/>
                      <a:r>
                        <a:rPr sz="850" b="0" i="0">
                          <a:solidFill>
                            <a:srgbClr val="262626"/>
                          </a:solidFill>
                          <a:latin typeface="Arial"/>
                        </a:rPr>
                        <a:t>51:24
+78s</a:t>
                      </a:r>
                    </a:p>
                  </a:txBody>
                  <a:tcPr>
                    <a:solidFill>
                      <a:srgbClr val="FFFFFF"/>
                    </a:solidFill>
                  </a:tcPr>
                </a:tc>
                <a:tc>
                  <a:txBody>
                    <a:bodyPr/>
                    <a:lstStyle/>
                    <a:p>
                      <a:pPr algn="ctr"/>
                      <a:r>
                        <a:rPr sz="850" b="0" i="0">
                          <a:solidFill>
                            <a:srgbClr val="262626"/>
                          </a:solidFill>
                          <a:latin typeface="Arial"/>
                        </a:rPr>
                        <a:t>53:31
+205s</a:t>
                      </a:r>
                    </a:p>
                  </a:txBody>
                  <a:tcP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Race Conditions  —  Elite 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Edmonton</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8" name="Table 7"/>
          <p:cNvGraphicFramePr>
            <a:graphicFrameLocks noGrp="1"/>
          </p:cNvGraphicFramePr>
          <p:nvPr/>
        </p:nvGraphicFramePr>
        <p:xfrm>
          <a:off x="274320" y="1143000"/>
          <a:ext cx="11640307" cy="2743200"/>
        </p:xfrm>
        <a:graphic>
          <a:graphicData uri="http://schemas.openxmlformats.org/drawingml/2006/table">
            <a:tbl>
              <a:tblPr firstRow="1" bandRow="1">
                <a:tableStyleId>{5C22544A-7EE6-4342-B048-85BDC9FD1C3A}</a:tableStyleId>
              </a:tblPr>
              <a:tblGrid>
                <a:gridCol w="591571">
                  <a:extLst>
                    <a:ext uri="{9D8B030D-6E8A-4147-A177-3AD203B41FA5}">
                      <a16:colId xmlns:a16="http://schemas.microsoft.com/office/drawing/2014/main" val="20000"/>
                    </a:ext>
                  </a:extLst>
                </a:gridCol>
                <a:gridCol w="864604">
                  <a:extLst>
                    <a:ext uri="{9D8B030D-6E8A-4147-A177-3AD203B41FA5}">
                      <a16:colId xmlns:a16="http://schemas.microsoft.com/office/drawing/2014/main" val="20001"/>
                    </a:ext>
                  </a:extLst>
                </a:gridCol>
                <a:gridCol w="910110">
                  <a:extLst>
                    <a:ext uri="{9D8B030D-6E8A-4147-A177-3AD203B41FA5}">
                      <a16:colId xmlns:a16="http://schemas.microsoft.com/office/drawing/2014/main" val="20002"/>
                    </a:ext>
                  </a:extLst>
                </a:gridCol>
                <a:gridCol w="819099">
                  <a:extLst>
                    <a:ext uri="{9D8B030D-6E8A-4147-A177-3AD203B41FA5}">
                      <a16:colId xmlns:a16="http://schemas.microsoft.com/office/drawing/2014/main" val="20003"/>
                    </a:ext>
                  </a:extLst>
                </a:gridCol>
                <a:gridCol w="910110">
                  <a:extLst>
                    <a:ext uri="{9D8B030D-6E8A-4147-A177-3AD203B41FA5}">
                      <a16:colId xmlns:a16="http://schemas.microsoft.com/office/drawing/2014/main" val="20004"/>
                    </a:ext>
                  </a:extLst>
                </a:gridCol>
                <a:gridCol w="864604">
                  <a:extLst>
                    <a:ext uri="{9D8B030D-6E8A-4147-A177-3AD203B41FA5}">
                      <a16:colId xmlns:a16="http://schemas.microsoft.com/office/drawing/2014/main" val="20005"/>
                    </a:ext>
                  </a:extLst>
                </a:gridCol>
                <a:gridCol w="864604">
                  <a:extLst>
                    <a:ext uri="{9D8B030D-6E8A-4147-A177-3AD203B41FA5}">
                      <a16:colId xmlns:a16="http://schemas.microsoft.com/office/drawing/2014/main" val="20006"/>
                    </a:ext>
                  </a:extLst>
                </a:gridCol>
                <a:gridCol w="819099">
                  <a:extLst>
                    <a:ext uri="{9D8B030D-6E8A-4147-A177-3AD203B41FA5}">
                      <a16:colId xmlns:a16="http://schemas.microsoft.com/office/drawing/2014/main" val="20007"/>
                    </a:ext>
                  </a:extLst>
                </a:gridCol>
                <a:gridCol w="4996506">
                  <a:extLst>
                    <a:ext uri="{9D8B030D-6E8A-4147-A177-3AD203B41FA5}">
                      <a16:colId xmlns:a16="http://schemas.microsoft.com/office/drawing/2014/main" val="20008"/>
                    </a:ext>
                  </a:extLst>
                </a:gridCol>
              </a:tblGrid>
              <a:tr h="457200">
                <a:tc>
                  <a:txBody>
                    <a:bodyPr/>
                    <a:lstStyle/>
                    <a:p>
                      <a:pPr algn="ctr"/>
                      <a:r>
                        <a:rPr sz="1200" b="1" i="0">
                          <a:solidFill>
                            <a:srgbClr val="FFFFFF"/>
                          </a:solidFill>
                          <a:latin typeface="Arial"/>
                        </a:rPr>
                        <a:t>Year</a:t>
                      </a:r>
                    </a:p>
                  </a:txBody>
                  <a:tcPr>
                    <a:solidFill>
                      <a:srgbClr val="002060"/>
                    </a:solidFill>
                  </a:tcPr>
                </a:tc>
                <a:tc>
                  <a:txBody>
                    <a:bodyPr/>
                    <a:lstStyle/>
                    <a:p>
                      <a:pPr algn="ctr"/>
                      <a:r>
                        <a:rPr sz="1200" b="1" i="0">
                          <a:solidFill>
                            <a:srgbClr val="FFFFFF"/>
                          </a:solidFill>
                          <a:latin typeface="Arial"/>
                        </a:rPr>
                        <a:t>Date</a:t>
                      </a:r>
                    </a:p>
                  </a:txBody>
                  <a:tcPr>
                    <a:solidFill>
                      <a:srgbClr val="002060"/>
                    </a:solidFill>
                  </a:tcPr>
                </a:tc>
                <a:tc>
                  <a:txBody>
                    <a:bodyPr/>
                    <a:lstStyle/>
                    <a:p>
                      <a:pPr algn="ctr"/>
                      <a:r>
                        <a:rPr sz="1200" b="1" i="0">
                          <a:solidFill>
                            <a:srgbClr val="FFFFFF"/>
                          </a:solidFill>
                          <a:latin typeface="Arial"/>
                        </a:rPr>
                        <a:t>Air Temp</a:t>
                      </a:r>
                    </a:p>
                  </a:txBody>
                  <a:tcPr>
                    <a:solidFill>
                      <a:srgbClr val="002060"/>
                    </a:solidFill>
                  </a:tcPr>
                </a:tc>
                <a:tc>
                  <a:txBody>
                    <a:bodyPr/>
                    <a:lstStyle/>
                    <a:p>
                      <a:pPr algn="ctr"/>
                      <a:r>
                        <a:rPr sz="1200" b="1" i="0">
                          <a:solidFill>
                            <a:srgbClr val="FFFFFF"/>
                          </a:solidFill>
                          <a:latin typeface="Arial"/>
                        </a:rPr>
                        <a:t>Humidity</a:t>
                      </a:r>
                    </a:p>
                  </a:txBody>
                  <a:tcPr>
                    <a:solidFill>
                      <a:srgbClr val="002060"/>
                    </a:solidFill>
                  </a:tcPr>
                </a:tc>
                <a:tc>
                  <a:txBody>
                    <a:bodyPr/>
                    <a:lstStyle/>
                    <a:p>
                      <a:pPr algn="ctr"/>
                      <a:r>
                        <a:rPr sz="1200" b="1" i="0">
                          <a:solidFill>
                            <a:srgbClr val="FFFFFF"/>
                          </a:solidFill>
                          <a:latin typeface="Arial"/>
                        </a:rPr>
                        <a:t>Wind (km/h)</a:t>
                      </a:r>
                    </a:p>
                  </a:txBody>
                  <a:tcPr>
                    <a:solidFill>
                      <a:srgbClr val="002060"/>
                    </a:solidFill>
                  </a:tcPr>
                </a:tc>
                <a:tc>
                  <a:txBody>
                    <a:bodyPr/>
                    <a:lstStyle/>
                    <a:p>
                      <a:pPr algn="ctr"/>
                      <a:r>
                        <a:rPr sz="1200" b="1" i="0">
                          <a:solidFill>
                            <a:srgbClr val="FFFFFF"/>
                          </a:solidFill>
                          <a:latin typeface="Arial"/>
                        </a:rPr>
                        <a:t>Precip (mm)</a:t>
                      </a:r>
                    </a:p>
                  </a:txBody>
                  <a:tcPr>
                    <a:solidFill>
                      <a:srgbClr val="002060"/>
                    </a:solidFill>
                  </a:tcPr>
                </a:tc>
                <a:tc>
                  <a:txBody>
                    <a:bodyPr/>
                    <a:lstStyle/>
                    <a:p>
                      <a:pPr algn="ctr"/>
                      <a:r>
                        <a:rPr sz="1200" b="1" i="0">
                          <a:solidFill>
                            <a:srgbClr val="FFFFFF"/>
                          </a:solidFill>
                          <a:latin typeface="Arial"/>
                        </a:rPr>
                        <a:t>Water Temp</a:t>
                      </a:r>
                    </a:p>
                  </a:txBody>
                  <a:tcPr>
                    <a:solidFill>
                      <a:srgbClr val="002060"/>
                    </a:solidFill>
                  </a:tcPr>
                </a:tc>
                <a:tc>
                  <a:txBody>
                    <a:bodyPr/>
                    <a:lstStyle/>
                    <a:p>
                      <a:pPr algn="ctr"/>
                      <a:r>
                        <a:rPr sz="1200" b="1" i="0">
                          <a:solidFill>
                            <a:srgbClr val="FFFFFF"/>
                          </a:solidFill>
                          <a:latin typeface="Arial"/>
                        </a:rPr>
                        <a:t>Wetsuit</a:t>
                      </a:r>
                    </a:p>
                  </a:txBody>
                  <a:tcPr>
                    <a:solidFill>
                      <a:srgbClr val="002060"/>
                    </a:solidFill>
                  </a:tcPr>
                </a:tc>
                <a:tc>
                  <a:txBody>
                    <a:bodyPr/>
                    <a:lstStyle/>
                    <a:p>
                      <a:pPr algn="ctr"/>
                      <a:r>
                        <a:rPr sz="1200" b="1" i="0">
                          <a:solidFill>
                            <a:srgbClr val="FFFFFF"/>
                          </a:solidFill>
                          <a:latin typeface="Arial"/>
                        </a:rPr>
                        <a:t>Conditions</a:t>
                      </a:r>
                    </a:p>
                  </a:txBody>
                  <a:tcPr>
                    <a:solidFill>
                      <a:srgbClr val="002060"/>
                    </a:solidFill>
                  </a:tcPr>
                </a:tc>
                <a:extLst>
                  <a:ext uri="{0D108BD9-81ED-4DB2-BD59-A6C34878D82A}">
                    <a16:rowId xmlns:a16="http://schemas.microsoft.com/office/drawing/2014/main" val="10000"/>
                  </a:ext>
                </a:extLst>
              </a:tr>
              <a:tr h="457200">
                <a:tc>
                  <a:txBody>
                    <a:bodyPr/>
                    <a:lstStyle/>
                    <a:p>
                      <a:pPr algn="ctr"/>
                      <a:r>
                        <a:rPr sz="1000" b="0" i="0">
                          <a:solidFill>
                            <a:srgbClr val="262626"/>
                          </a:solidFill>
                          <a:latin typeface="Arial"/>
                        </a:rPr>
                        <a:t>2018</a:t>
                      </a:r>
                    </a:p>
                  </a:txBody>
                  <a:tcPr>
                    <a:solidFill>
                      <a:srgbClr val="FFFFFF"/>
                    </a:solidFill>
                  </a:tcPr>
                </a:tc>
                <a:tc>
                  <a:txBody>
                    <a:bodyPr/>
                    <a:lstStyle/>
                    <a:p>
                      <a:pPr algn="ctr"/>
                      <a:r>
                        <a:rPr sz="1000" b="0" i="0">
                          <a:solidFill>
                            <a:srgbClr val="262626"/>
                          </a:solidFill>
                          <a:latin typeface="Arial"/>
                        </a:rPr>
                        <a:t>Jul 27</a:t>
                      </a:r>
                    </a:p>
                  </a:txBody>
                  <a:tcPr>
                    <a:solidFill>
                      <a:srgbClr val="FFFFFF"/>
                    </a:solidFill>
                  </a:tcPr>
                </a:tc>
                <a:tc>
                  <a:txBody>
                    <a:bodyPr/>
                    <a:lstStyle/>
                    <a:p>
                      <a:pPr algn="ctr"/>
                      <a:r>
                        <a:rPr sz="1000" b="0" i="0">
                          <a:solidFill>
                            <a:srgbClr val="262626"/>
                          </a:solidFill>
                          <a:latin typeface="Arial"/>
                        </a:rPr>
                        <a:t>19.9</a:t>
                      </a:r>
                    </a:p>
                  </a:txBody>
                  <a:tcPr>
                    <a:solidFill>
                      <a:srgbClr val="FFFFFF"/>
                    </a:solidFill>
                  </a:tcPr>
                </a:tc>
                <a:tc>
                  <a:txBody>
                    <a:bodyPr/>
                    <a:lstStyle/>
                    <a:p>
                      <a:pPr algn="ctr"/>
                      <a:r>
                        <a:rPr sz="1000" b="0" i="0">
                          <a:solidFill>
                            <a:srgbClr val="262626"/>
                          </a:solidFill>
                          <a:latin typeface="Arial"/>
                        </a:rPr>
                        <a:t>69%</a:t>
                      </a:r>
                    </a:p>
                  </a:txBody>
                  <a:tcPr>
                    <a:solidFill>
                      <a:srgbClr val="FFFFFF"/>
                    </a:solidFill>
                  </a:tcPr>
                </a:tc>
                <a:tc>
                  <a:txBody>
                    <a:bodyPr/>
                    <a:lstStyle/>
                    <a:p>
                      <a:pPr algn="ctr"/>
                      <a:r>
                        <a:rPr sz="1000" b="0" i="0">
                          <a:solidFill>
                            <a:srgbClr val="262626"/>
                          </a:solidFill>
                          <a:latin typeface="Arial"/>
                        </a:rPr>
                        <a:t>3</a:t>
                      </a:r>
                    </a:p>
                  </a:txBody>
                  <a:tcPr>
                    <a:solidFill>
                      <a:srgbClr val="FFFFFF"/>
                    </a:solidFill>
                  </a:tcPr>
                </a:tc>
                <a:tc>
                  <a:txBody>
                    <a:bodyPr/>
                    <a:lstStyle/>
                    <a:p>
                      <a:pPr algn="ctr"/>
                      <a:r>
                        <a:rPr sz="1000" b="0" i="0">
                          <a:solidFill>
                            <a:srgbClr val="262626"/>
                          </a:solidFill>
                          <a:latin typeface="Arial"/>
                        </a:rPr>
                        <a:t>0.0</a:t>
                      </a:r>
                    </a:p>
                  </a:txBody>
                  <a:tcPr>
                    <a:solidFill>
                      <a:srgbClr val="FFFFFF"/>
                    </a:solidFill>
                  </a:tcPr>
                </a:tc>
                <a:tc>
                  <a:txBody>
                    <a:bodyPr/>
                    <a:lstStyle/>
                    <a:p>
                      <a:pPr algn="ctr"/>
                      <a:r>
                        <a:rPr sz="1000" b="0" i="0">
                          <a:solidFill>
                            <a:srgbClr val="262626"/>
                          </a:solidFill>
                          <a:latin typeface="Arial"/>
                        </a:rPr>
                        <a:t>—</a:t>
                      </a:r>
                    </a:p>
                  </a:txBody>
                  <a:tcPr>
                    <a:solidFill>
                      <a:srgbClr val="FFFFFF"/>
                    </a:solidFill>
                  </a:tcPr>
                </a:tc>
                <a:tc>
                  <a:txBody>
                    <a:bodyPr/>
                    <a:lstStyle/>
                    <a:p>
                      <a:pPr algn="ctr"/>
                      <a:r>
                        <a:rPr sz="1000" b="0" i="0">
                          <a:solidFill>
                            <a:srgbClr val="262626"/>
                          </a:solidFill>
                          <a:latin typeface="Arial"/>
                        </a:rPr>
                        <a:t>—</a:t>
                      </a:r>
                    </a:p>
                  </a:txBody>
                  <a:tcPr>
                    <a:solidFill>
                      <a:srgbClr val="FFFFFF"/>
                    </a:solidFill>
                  </a:tcPr>
                </a:tc>
                <a:tc>
                  <a:txBody>
                    <a:bodyPr/>
                    <a:lstStyle/>
                    <a:p>
                      <a:pPr algn="l"/>
                      <a:r>
                        <a:rPr sz="1000" b="0" i="0">
                          <a:solidFill>
                            <a:srgbClr val="262626"/>
                          </a:solidFill>
                          <a:latin typeface="Arial"/>
                        </a:rPr>
                        <a:t>—</a:t>
                      </a:r>
                    </a:p>
                  </a:txBody>
                  <a:tcPr>
                    <a:solidFill>
                      <a:srgbClr val="FFFFFF"/>
                    </a:solidFill>
                  </a:tcPr>
                </a:tc>
                <a:extLst>
                  <a:ext uri="{0D108BD9-81ED-4DB2-BD59-A6C34878D82A}">
                    <a16:rowId xmlns:a16="http://schemas.microsoft.com/office/drawing/2014/main" val="10001"/>
                  </a:ext>
                </a:extLst>
              </a:tr>
              <a:tr h="457200">
                <a:tc>
                  <a:txBody>
                    <a:bodyPr/>
                    <a:lstStyle/>
                    <a:p>
                      <a:pPr algn="ctr"/>
                      <a:r>
                        <a:rPr sz="1000" b="0" i="0">
                          <a:solidFill>
                            <a:srgbClr val="262626"/>
                          </a:solidFill>
                          <a:latin typeface="Arial"/>
                        </a:rPr>
                        <a:t>2019</a:t>
                      </a:r>
                    </a:p>
                  </a:txBody>
                  <a:tcPr>
                    <a:solidFill>
                      <a:srgbClr val="F2F2F2"/>
                    </a:solidFill>
                  </a:tcPr>
                </a:tc>
                <a:tc>
                  <a:txBody>
                    <a:bodyPr/>
                    <a:lstStyle/>
                    <a:p>
                      <a:pPr algn="ctr"/>
                      <a:r>
                        <a:rPr sz="1000" b="0" i="0">
                          <a:solidFill>
                            <a:srgbClr val="262626"/>
                          </a:solidFill>
                          <a:latin typeface="Arial"/>
                        </a:rPr>
                        <a:t>Jul 20</a:t>
                      </a:r>
                    </a:p>
                  </a:txBody>
                  <a:tcPr>
                    <a:solidFill>
                      <a:srgbClr val="F2F2F2"/>
                    </a:solidFill>
                  </a:tcPr>
                </a:tc>
                <a:tc>
                  <a:txBody>
                    <a:bodyPr/>
                    <a:lstStyle/>
                    <a:p>
                      <a:pPr algn="ctr"/>
                      <a:r>
                        <a:rPr sz="1000" b="0" i="0">
                          <a:solidFill>
                            <a:srgbClr val="262626"/>
                          </a:solidFill>
                          <a:latin typeface="Arial"/>
                        </a:rPr>
                        <a:t>17.6</a:t>
                      </a:r>
                    </a:p>
                  </a:txBody>
                  <a:tcPr>
                    <a:solidFill>
                      <a:srgbClr val="F2F2F2"/>
                    </a:solidFill>
                  </a:tcPr>
                </a:tc>
                <a:tc>
                  <a:txBody>
                    <a:bodyPr/>
                    <a:lstStyle/>
                    <a:p>
                      <a:pPr algn="ctr"/>
                      <a:r>
                        <a:rPr sz="1000" b="0" i="0">
                          <a:solidFill>
                            <a:srgbClr val="262626"/>
                          </a:solidFill>
                          <a:latin typeface="Arial"/>
                        </a:rPr>
                        <a:t>83%</a:t>
                      </a:r>
                    </a:p>
                  </a:txBody>
                  <a:tcPr>
                    <a:solidFill>
                      <a:srgbClr val="F2F2F2"/>
                    </a:solidFill>
                  </a:tcPr>
                </a:tc>
                <a:tc>
                  <a:txBody>
                    <a:bodyPr/>
                    <a:lstStyle/>
                    <a:p>
                      <a:pPr algn="ctr"/>
                      <a:r>
                        <a:rPr sz="1000" b="0" i="0">
                          <a:solidFill>
                            <a:srgbClr val="262626"/>
                          </a:solidFill>
                          <a:latin typeface="Arial"/>
                        </a:rPr>
                        <a:t>10</a:t>
                      </a:r>
                    </a:p>
                  </a:txBody>
                  <a:tcPr>
                    <a:solidFill>
                      <a:srgbClr val="F2F2F2"/>
                    </a:solidFill>
                  </a:tcPr>
                </a:tc>
                <a:tc>
                  <a:txBody>
                    <a:bodyPr/>
                    <a:lstStyle/>
                    <a:p>
                      <a:pPr algn="ctr"/>
                      <a:r>
                        <a:rPr sz="1000" b="0" i="0">
                          <a:solidFill>
                            <a:srgbClr val="262626"/>
                          </a:solidFill>
                          <a:latin typeface="Arial"/>
                        </a:rPr>
                        <a:t>0.0</a:t>
                      </a:r>
                    </a:p>
                  </a:txBody>
                  <a:tcPr>
                    <a:solidFill>
                      <a:srgbClr val="F2F2F2"/>
                    </a:solidFill>
                  </a:tcPr>
                </a:tc>
                <a:tc>
                  <a:txBody>
                    <a:bodyPr/>
                    <a:lstStyle/>
                    <a:p>
                      <a:pPr algn="ctr"/>
                      <a:r>
                        <a:rPr sz="1000" b="0" i="0">
                          <a:solidFill>
                            <a:srgbClr val="262626"/>
                          </a:solidFill>
                          <a:latin typeface="Arial"/>
                        </a:rPr>
                        <a:t>—</a:t>
                      </a:r>
                    </a:p>
                  </a:txBody>
                  <a:tcPr>
                    <a:solidFill>
                      <a:srgbClr val="F2F2F2"/>
                    </a:solidFill>
                  </a:tcPr>
                </a:tc>
                <a:tc>
                  <a:txBody>
                    <a:bodyPr/>
                    <a:lstStyle/>
                    <a:p>
                      <a:pPr algn="ctr"/>
                      <a:r>
                        <a:rPr sz="1000" b="0" i="0">
                          <a:solidFill>
                            <a:srgbClr val="262626"/>
                          </a:solidFill>
                          <a:latin typeface="Arial"/>
                        </a:rPr>
                        <a:t>—</a:t>
                      </a:r>
                    </a:p>
                  </a:txBody>
                  <a:tcPr>
                    <a:solidFill>
                      <a:srgbClr val="F2F2F2"/>
                    </a:solidFill>
                  </a:tcPr>
                </a:tc>
                <a:tc>
                  <a:txBody>
                    <a:bodyPr/>
                    <a:lstStyle/>
                    <a:p>
                      <a:pPr algn="l"/>
                      <a:r>
                        <a:rPr sz="1000" b="0" i="0">
                          <a:solidFill>
                            <a:srgbClr val="262626"/>
                          </a:solidFill>
                          <a:latin typeface="Arial"/>
                        </a:rPr>
                        <a:t>—</a:t>
                      </a:r>
                    </a:p>
                  </a:txBody>
                  <a:tcPr>
                    <a:solidFill>
                      <a:srgbClr val="F2F2F2"/>
                    </a:solidFill>
                  </a:tcPr>
                </a:tc>
                <a:extLst>
                  <a:ext uri="{0D108BD9-81ED-4DB2-BD59-A6C34878D82A}">
                    <a16:rowId xmlns:a16="http://schemas.microsoft.com/office/drawing/2014/main" val="10002"/>
                  </a:ext>
                </a:extLst>
              </a:tr>
              <a:tr h="457200">
                <a:tc>
                  <a:txBody>
                    <a:bodyPr/>
                    <a:lstStyle/>
                    <a:p>
                      <a:pPr algn="ctr"/>
                      <a:r>
                        <a:rPr sz="1000" b="0" i="0">
                          <a:solidFill>
                            <a:srgbClr val="262626"/>
                          </a:solidFill>
                          <a:latin typeface="Arial"/>
                        </a:rPr>
                        <a:t>2021</a:t>
                      </a:r>
                    </a:p>
                  </a:txBody>
                  <a:tcPr>
                    <a:solidFill>
                      <a:srgbClr val="FFFFFF"/>
                    </a:solidFill>
                  </a:tcPr>
                </a:tc>
                <a:tc>
                  <a:txBody>
                    <a:bodyPr/>
                    <a:lstStyle/>
                    <a:p>
                      <a:pPr algn="ctr"/>
                      <a:r>
                        <a:rPr sz="1000" b="0" i="0">
                          <a:solidFill>
                            <a:srgbClr val="262626"/>
                          </a:solidFill>
                          <a:latin typeface="Arial"/>
                        </a:rPr>
                        <a:t>Aug 21</a:t>
                      </a:r>
                    </a:p>
                  </a:txBody>
                  <a:tcPr>
                    <a:solidFill>
                      <a:srgbClr val="FFFFFF"/>
                    </a:solidFill>
                  </a:tcPr>
                </a:tc>
                <a:tc>
                  <a:txBody>
                    <a:bodyPr/>
                    <a:lstStyle/>
                    <a:p>
                      <a:pPr algn="ctr"/>
                      <a:r>
                        <a:rPr sz="1000" b="0" i="0">
                          <a:solidFill>
                            <a:srgbClr val="262626"/>
                          </a:solidFill>
                          <a:latin typeface="Arial"/>
                        </a:rPr>
                        <a:t>15.4</a:t>
                      </a:r>
                    </a:p>
                  </a:txBody>
                  <a:tcPr>
                    <a:solidFill>
                      <a:srgbClr val="FFFFFF"/>
                    </a:solidFill>
                  </a:tcPr>
                </a:tc>
                <a:tc>
                  <a:txBody>
                    <a:bodyPr/>
                    <a:lstStyle/>
                    <a:p>
                      <a:pPr algn="ctr"/>
                      <a:r>
                        <a:rPr sz="1000" b="0" i="0">
                          <a:solidFill>
                            <a:srgbClr val="262626"/>
                          </a:solidFill>
                          <a:latin typeface="Arial"/>
                        </a:rPr>
                        <a:t>80%</a:t>
                      </a:r>
                    </a:p>
                  </a:txBody>
                  <a:tcPr>
                    <a:solidFill>
                      <a:srgbClr val="FFFFFF"/>
                    </a:solidFill>
                  </a:tcPr>
                </a:tc>
                <a:tc>
                  <a:txBody>
                    <a:bodyPr/>
                    <a:lstStyle/>
                    <a:p>
                      <a:pPr algn="ctr"/>
                      <a:r>
                        <a:rPr sz="1000" b="0" i="0">
                          <a:solidFill>
                            <a:srgbClr val="262626"/>
                          </a:solidFill>
                          <a:latin typeface="Arial"/>
                        </a:rPr>
                        <a:t>11</a:t>
                      </a:r>
                    </a:p>
                  </a:txBody>
                  <a:tcPr>
                    <a:solidFill>
                      <a:srgbClr val="FFFFFF"/>
                    </a:solidFill>
                  </a:tcPr>
                </a:tc>
                <a:tc>
                  <a:txBody>
                    <a:bodyPr/>
                    <a:lstStyle/>
                    <a:p>
                      <a:pPr algn="ctr"/>
                      <a:r>
                        <a:rPr sz="1000" b="0" i="0">
                          <a:solidFill>
                            <a:srgbClr val="262626"/>
                          </a:solidFill>
                          <a:latin typeface="Arial"/>
                        </a:rPr>
                        <a:t>0.0</a:t>
                      </a:r>
                    </a:p>
                  </a:txBody>
                  <a:tcPr>
                    <a:solidFill>
                      <a:srgbClr val="FFFFFF"/>
                    </a:solidFill>
                  </a:tcPr>
                </a:tc>
                <a:tc>
                  <a:txBody>
                    <a:bodyPr/>
                    <a:lstStyle/>
                    <a:p>
                      <a:pPr algn="ctr"/>
                      <a:r>
                        <a:rPr sz="1000" b="0" i="0">
                          <a:solidFill>
                            <a:srgbClr val="262626"/>
                          </a:solidFill>
                          <a:latin typeface="Arial"/>
                        </a:rPr>
                        <a:t>—</a:t>
                      </a:r>
                    </a:p>
                  </a:txBody>
                  <a:tcPr>
                    <a:solidFill>
                      <a:srgbClr val="FFFFFF"/>
                    </a:solidFill>
                  </a:tcPr>
                </a:tc>
                <a:tc>
                  <a:txBody>
                    <a:bodyPr/>
                    <a:lstStyle/>
                    <a:p>
                      <a:pPr algn="ctr"/>
                      <a:r>
                        <a:rPr sz="1000" b="0" i="0">
                          <a:solidFill>
                            <a:srgbClr val="262626"/>
                          </a:solidFill>
                          <a:latin typeface="Arial"/>
                        </a:rPr>
                        <a:t>—</a:t>
                      </a:r>
                    </a:p>
                  </a:txBody>
                  <a:tcPr>
                    <a:solidFill>
                      <a:srgbClr val="FFFFFF"/>
                    </a:solidFill>
                  </a:tcPr>
                </a:tc>
                <a:tc>
                  <a:txBody>
                    <a:bodyPr/>
                    <a:lstStyle/>
                    <a:p>
                      <a:pPr algn="l"/>
                      <a:r>
                        <a:rPr sz="1000" b="0" i="0">
                          <a:solidFill>
                            <a:srgbClr val="262626"/>
                          </a:solidFill>
                          <a:latin typeface="Arial"/>
                        </a:rPr>
                        <a:t>—</a:t>
                      </a:r>
                    </a:p>
                  </a:txBody>
                  <a:tcPr>
                    <a:solidFill>
                      <a:srgbClr val="FFFFFF"/>
                    </a:solidFill>
                  </a:tcPr>
                </a:tc>
                <a:extLst>
                  <a:ext uri="{0D108BD9-81ED-4DB2-BD59-A6C34878D82A}">
                    <a16:rowId xmlns:a16="http://schemas.microsoft.com/office/drawing/2014/main" val="10003"/>
                  </a:ext>
                </a:extLst>
              </a:tr>
              <a:tr h="457200">
                <a:tc>
                  <a:txBody>
                    <a:bodyPr/>
                    <a:lstStyle/>
                    <a:p>
                      <a:pPr algn="ctr"/>
                      <a:r>
                        <a:rPr sz="1000" b="0" i="0">
                          <a:solidFill>
                            <a:srgbClr val="262626"/>
                          </a:solidFill>
                          <a:latin typeface="Arial"/>
                        </a:rPr>
                        <a:t>2023</a:t>
                      </a:r>
                    </a:p>
                  </a:txBody>
                  <a:tcPr>
                    <a:solidFill>
                      <a:srgbClr val="F2F2F2"/>
                    </a:solidFill>
                  </a:tcPr>
                </a:tc>
                <a:tc>
                  <a:txBody>
                    <a:bodyPr/>
                    <a:lstStyle/>
                    <a:p>
                      <a:pPr algn="ctr"/>
                      <a:r>
                        <a:rPr sz="1000" b="0" i="0">
                          <a:solidFill>
                            <a:srgbClr val="262626"/>
                          </a:solidFill>
                          <a:latin typeface="Arial"/>
                        </a:rPr>
                        <a:t>Aug 26</a:t>
                      </a:r>
                    </a:p>
                  </a:txBody>
                  <a:tcPr>
                    <a:solidFill>
                      <a:srgbClr val="F2F2F2"/>
                    </a:solidFill>
                  </a:tcPr>
                </a:tc>
                <a:tc>
                  <a:txBody>
                    <a:bodyPr/>
                    <a:lstStyle/>
                    <a:p>
                      <a:pPr algn="ctr"/>
                      <a:r>
                        <a:rPr sz="1000" b="0" i="0">
                          <a:solidFill>
                            <a:srgbClr val="262626"/>
                          </a:solidFill>
                          <a:latin typeface="Arial"/>
                        </a:rPr>
                        <a:t>20</a:t>
                      </a:r>
                    </a:p>
                  </a:txBody>
                  <a:tcPr>
                    <a:solidFill>
                      <a:srgbClr val="F2F2F2"/>
                    </a:solidFill>
                  </a:tcPr>
                </a:tc>
                <a:tc>
                  <a:txBody>
                    <a:bodyPr/>
                    <a:lstStyle/>
                    <a:p>
                      <a:pPr algn="ctr"/>
                      <a:r>
                        <a:rPr sz="1000" b="0" i="0">
                          <a:solidFill>
                            <a:srgbClr val="262626"/>
                          </a:solidFill>
                          <a:latin typeface="Arial"/>
                        </a:rPr>
                        <a:t>82%</a:t>
                      </a:r>
                    </a:p>
                  </a:txBody>
                  <a:tcPr>
                    <a:solidFill>
                      <a:srgbClr val="F2F2F2"/>
                    </a:solidFill>
                  </a:tcPr>
                </a:tc>
                <a:tc>
                  <a:txBody>
                    <a:bodyPr/>
                    <a:lstStyle/>
                    <a:p>
                      <a:pPr algn="ctr"/>
                      <a:r>
                        <a:rPr sz="1000" b="0" i="0">
                          <a:solidFill>
                            <a:srgbClr val="262626"/>
                          </a:solidFill>
                          <a:latin typeface="Arial"/>
                        </a:rPr>
                        <a:t>9</a:t>
                      </a:r>
                    </a:p>
                  </a:txBody>
                  <a:tcPr>
                    <a:solidFill>
                      <a:srgbClr val="F2F2F2"/>
                    </a:solidFill>
                  </a:tcPr>
                </a:tc>
                <a:tc>
                  <a:txBody>
                    <a:bodyPr/>
                    <a:lstStyle/>
                    <a:p>
                      <a:pPr algn="ctr"/>
                      <a:r>
                        <a:rPr sz="1000" b="0" i="0">
                          <a:solidFill>
                            <a:srgbClr val="262626"/>
                          </a:solidFill>
                          <a:latin typeface="Arial"/>
                        </a:rPr>
                        <a:t>0.0</a:t>
                      </a:r>
                    </a:p>
                  </a:txBody>
                  <a:tcPr>
                    <a:solidFill>
                      <a:srgbClr val="F2F2F2"/>
                    </a:solidFill>
                  </a:tcPr>
                </a:tc>
                <a:tc>
                  <a:txBody>
                    <a:bodyPr/>
                    <a:lstStyle/>
                    <a:p>
                      <a:pPr algn="ctr"/>
                      <a:r>
                        <a:rPr sz="1000" b="0" i="0">
                          <a:solidFill>
                            <a:srgbClr val="262626"/>
                          </a:solidFill>
                          <a:latin typeface="Arial"/>
                        </a:rPr>
                        <a:t>—</a:t>
                      </a:r>
                    </a:p>
                  </a:txBody>
                  <a:tcPr>
                    <a:solidFill>
                      <a:srgbClr val="F2F2F2"/>
                    </a:solidFill>
                  </a:tcPr>
                </a:tc>
                <a:tc>
                  <a:txBody>
                    <a:bodyPr/>
                    <a:lstStyle/>
                    <a:p>
                      <a:pPr algn="ctr"/>
                      <a:r>
                        <a:rPr sz="1000" b="0" i="0">
                          <a:solidFill>
                            <a:srgbClr val="262626"/>
                          </a:solidFill>
                          <a:latin typeface="Arial"/>
                        </a:rPr>
                        <a:t>—</a:t>
                      </a:r>
                    </a:p>
                  </a:txBody>
                  <a:tcPr>
                    <a:solidFill>
                      <a:srgbClr val="F2F2F2"/>
                    </a:solidFill>
                  </a:tcPr>
                </a:tc>
                <a:tc>
                  <a:txBody>
                    <a:bodyPr/>
                    <a:lstStyle/>
                    <a:p>
                      <a:pPr algn="l"/>
                      <a:r>
                        <a:rPr sz="1000" b="0" i="0">
                          <a:solidFill>
                            <a:srgbClr val="262626"/>
                          </a:solidFill>
                          <a:latin typeface="Arial"/>
                        </a:rPr>
                        <a:t>—</a:t>
                      </a:r>
                    </a:p>
                  </a:txBody>
                  <a:tcPr>
                    <a:solidFill>
                      <a:srgbClr val="F2F2F2"/>
                    </a:solidFill>
                  </a:tcPr>
                </a:tc>
                <a:extLst>
                  <a:ext uri="{0D108BD9-81ED-4DB2-BD59-A6C34878D82A}">
                    <a16:rowId xmlns:a16="http://schemas.microsoft.com/office/drawing/2014/main" val="10004"/>
                  </a:ext>
                </a:extLst>
              </a:tr>
              <a:tr h="457200">
                <a:tc>
                  <a:txBody>
                    <a:bodyPr/>
                    <a:lstStyle/>
                    <a:p>
                      <a:pPr algn="ctr"/>
                      <a:r>
                        <a:rPr sz="1000" b="0" i="0">
                          <a:solidFill>
                            <a:srgbClr val="262626"/>
                          </a:solidFill>
                          <a:latin typeface="Arial"/>
                        </a:rPr>
                        <a:t>2024</a:t>
                      </a:r>
                    </a:p>
                  </a:txBody>
                  <a:tcPr>
                    <a:solidFill>
                      <a:srgbClr val="FFFFFF"/>
                    </a:solidFill>
                  </a:tcPr>
                </a:tc>
                <a:tc>
                  <a:txBody>
                    <a:bodyPr/>
                    <a:lstStyle/>
                    <a:p>
                      <a:pPr algn="ctr"/>
                      <a:r>
                        <a:rPr sz="1000" b="0" i="0">
                          <a:solidFill>
                            <a:srgbClr val="262626"/>
                          </a:solidFill>
                          <a:latin typeface="Arial"/>
                        </a:rPr>
                        <a:t>Aug 24</a:t>
                      </a:r>
                    </a:p>
                  </a:txBody>
                  <a:tcPr>
                    <a:solidFill>
                      <a:srgbClr val="FFFFFF"/>
                    </a:solidFill>
                  </a:tcPr>
                </a:tc>
                <a:tc>
                  <a:txBody>
                    <a:bodyPr/>
                    <a:lstStyle/>
                    <a:p>
                      <a:pPr algn="ctr"/>
                      <a:r>
                        <a:rPr sz="1000" b="0" i="0">
                          <a:solidFill>
                            <a:srgbClr val="262626"/>
                          </a:solidFill>
                          <a:latin typeface="Arial"/>
                        </a:rPr>
                        <a:t>19.6</a:t>
                      </a:r>
                    </a:p>
                  </a:txBody>
                  <a:tcPr>
                    <a:solidFill>
                      <a:srgbClr val="FFFFFF"/>
                    </a:solidFill>
                  </a:tcPr>
                </a:tc>
                <a:tc>
                  <a:txBody>
                    <a:bodyPr/>
                    <a:lstStyle/>
                    <a:p>
                      <a:pPr algn="ctr"/>
                      <a:r>
                        <a:rPr sz="1000" b="0" i="0">
                          <a:solidFill>
                            <a:srgbClr val="262626"/>
                          </a:solidFill>
                          <a:latin typeface="Arial"/>
                        </a:rPr>
                        <a:t>81%</a:t>
                      </a:r>
                    </a:p>
                  </a:txBody>
                  <a:tcPr>
                    <a:solidFill>
                      <a:srgbClr val="FFFFFF"/>
                    </a:solidFill>
                  </a:tcPr>
                </a:tc>
                <a:tc>
                  <a:txBody>
                    <a:bodyPr/>
                    <a:lstStyle/>
                    <a:p>
                      <a:pPr algn="ctr"/>
                      <a:r>
                        <a:rPr sz="1000" b="0" i="0">
                          <a:solidFill>
                            <a:srgbClr val="262626"/>
                          </a:solidFill>
                          <a:latin typeface="Arial"/>
                        </a:rPr>
                        <a:t>21</a:t>
                      </a:r>
                    </a:p>
                  </a:txBody>
                  <a:tcPr>
                    <a:solidFill>
                      <a:srgbClr val="FFFFFF"/>
                    </a:solidFill>
                  </a:tcPr>
                </a:tc>
                <a:tc>
                  <a:txBody>
                    <a:bodyPr/>
                    <a:lstStyle/>
                    <a:p>
                      <a:pPr algn="ctr"/>
                      <a:r>
                        <a:rPr sz="1000" b="0" i="0">
                          <a:solidFill>
                            <a:srgbClr val="262626"/>
                          </a:solidFill>
                          <a:latin typeface="Arial"/>
                        </a:rPr>
                        <a:t>0.1</a:t>
                      </a:r>
                    </a:p>
                  </a:txBody>
                  <a:tcPr>
                    <a:solidFill>
                      <a:srgbClr val="FFFFFF"/>
                    </a:solidFill>
                  </a:tcPr>
                </a:tc>
                <a:tc>
                  <a:txBody>
                    <a:bodyPr/>
                    <a:lstStyle/>
                    <a:p>
                      <a:pPr algn="ctr"/>
                      <a:r>
                        <a:rPr sz="1000" b="0" i="0">
                          <a:solidFill>
                            <a:srgbClr val="262626"/>
                          </a:solidFill>
                          <a:latin typeface="Arial"/>
                        </a:rPr>
                        <a:t>—</a:t>
                      </a:r>
                    </a:p>
                  </a:txBody>
                  <a:tcPr>
                    <a:solidFill>
                      <a:srgbClr val="FFFFFF"/>
                    </a:solidFill>
                  </a:tcPr>
                </a:tc>
                <a:tc>
                  <a:txBody>
                    <a:bodyPr/>
                    <a:lstStyle/>
                    <a:p>
                      <a:pPr algn="ctr"/>
                      <a:r>
                        <a:rPr sz="1000" b="0" i="0">
                          <a:solidFill>
                            <a:srgbClr val="262626"/>
                          </a:solidFill>
                          <a:latin typeface="Arial"/>
                        </a:rPr>
                        <a:t>—</a:t>
                      </a:r>
                    </a:p>
                  </a:txBody>
                  <a:tcPr>
                    <a:solidFill>
                      <a:srgbClr val="FFFFFF"/>
                    </a:solidFill>
                  </a:tcPr>
                </a:tc>
                <a:tc>
                  <a:txBody>
                    <a:bodyPr/>
                    <a:lstStyle/>
                    <a:p>
                      <a:pPr algn="l"/>
                      <a:r>
                        <a:rPr sz="1000" b="0" i="0">
                          <a:solidFill>
                            <a:srgbClr val="262626"/>
                          </a:solidFill>
                          <a:latin typeface="Arial"/>
                        </a:rPr>
                        <a:t>—</a:t>
                      </a:r>
                    </a:p>
                  </a:txBody>
                  <a:tcPr>
                    <a:solidFill>
                      <a:srgbClr val="FFFFFF"/>
                    </a:solidFill>
                  </a:tcPr>
                </a:tc>
                <a:extLst>
                  <a:ext uri="{0D108BD9-81ED-4DB2-BD59-A6C34878D82A}">
                    <a16:rowId xmlns:a16="http://schemas.microsoft.com/office/drawing/2014/main" val="10005"/>
                  </a:ext>
                </a:extLst>
              </a:tr>
            </a:tbl>
          </a:graphicData>
        </a:graphic>
      </p:graphicFrame>
      <p:sp>
        <p:nvSpPr>
          <p:cNvPr id="9" name="TextBox 8"/>
          <p:cNvSpPr txBox="1"/>
          <p:nvPr/>
        </p:nvSpPr>
        <p:spPr>
          <a:xfrm>
            <a:off x="274320" y="6035040"/>
            <a:ext cx="11640312" cy="658368"/>
          </a:xfrm>
          <a:prstGeom prst="rect">
            <a:avLst/>
          </a:prstGeom>
          <a:noFill/>
        </p:spPr>
        <p:txBody>
          <a:bodyPr wrap="square">
            <a:spAutoFit/>
          </a:bodyPr>
          <a:lstStyle/>
          <a:p>
            <a:pPr algn="l"/>
            <a:r>
              <a:rPr sz="900" b="0" i="1">
                <a:solidFill>
                  <a:srgbClr val="BFBFBF"/>
                </a:solidFill>
                <a:latin typeface="Arial"/>
              </a:rPr>
              <a:t>Air temp, humidity, wind, and precipitation sourced from Open-Meteo historical archive (race window 08:00–11:00 local) where WT API data is absent. Values marked * are Open-Meteo estimates. Water temp and wetsuit ruling are from the World Triathlon API per program.</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457200" cy="685800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 y="3840480"/>
            <a:ext cx="10515600" cy="54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2103120"/>
            <a:ext cx="10515600" cy="1645920"/>
          </a:xfrm>
          <a:prstGeom prst="rect">
            <a:avLst/>
          </a:prstGeom>
          <a:noFill/>
        </p:spPr>
        <p:txBody>
          <a:bodyPr wrap="square">
            <a:spAutoFit/>
          </a:bodyPr>
          <a:lstStyle/>
          <a:p>
            <a:pPr algn="ctr"/>
            <a:r>
              <a:rPr sz="6000" b="1" i="0">
                <a:solidFill>
                  <a:srgbClr val="FFFFFF"/>
                </a:solidFill>
                <a:latin typeface="Arial"/>
              </a:rPr>
              <a:t>ELITE WOMEN</a:t>
            </a:r>
          </a:p>
        </p:txBody>
      </p:sp>
      <p:pic>
        <p:nvPicPr>
          <p:cNvPr id="6" name="Picture 5" descr="USA_Triathlon_Logo.jpg"/>
          <p:cNvPicPr>
            <a:picLocks noChangeAspect="1"/>
          </p:cNvPicPr>
          <p:nvPr/>
        </p:nvPicPr>
        <p:blipFill>
          <a:blip r:embed="rId2"/>
          <a:stretch>
            <a:fillRect/>
          </a:stretch>
        </p:blipFill>
        <p:spPr>
          <a:xfrm>
            <a:off x="10058400" y="5760720"/>
            <a:ext cx="1828800" cy="100584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Race Overview  —  Elite Women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Edmonton</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1097280"/>
            <a:ext cx="6400800"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20040" y="1115568"/>
            <a:ext cx="6035040" cy="274320"/>
          </a:xfrm>
          <a:prstGeom prst="rect">
            <a:avLst/>
          </a:prstGeom>
          <a:noFill/>
        </p:spPr>
        <p:txBody>
          <a:bodyPr wrap="square">
            <a:spAutoFit/>
          </a:bodyPr>
          <a:lstStyle/>
          <a:p>
            <a:pPr algn="l"/>
            <a:r>
              <a:rPr sz="1200" b="1" i="0">
                <a:solidFill>
                  <a:srgbClr val="FFFFFF"/>
                </a:solidFill>
                <a:latin typeface="Arial"/>
              </a:rPr>
              <a:t>RACE HISTORY AT EDMONTON</a:t>
            </a:r>
          </a:p>
        </p:txBody>
      </p:sp>
      <p:sp>
        <p:nvSpPr>
          <p:cNvPr id="10" name="TextBox 9"/>
          <p:cNvSpPr txBox="1"/>
          <p:nvPr/>
        </p:nvSpPr>
        <p:spPr>
          <a:xfrm>
            <a:off x="274320" y="1508760"/>
            <a:ext cx="6400800" cy="5074920"/>
          </a:xfrm>
          <a:prstGeom prst="rect">
            <a:avLst/>
          </a:prstGeom>
          <a:noFill/>
        </p:spPr>
        <p:txBody>
          <a:bodyPr wrap="square">
            <a:spAutoFit/>
          </a:bodyPr>
          <a:lstStyle/>
          <a:p>
            <a:pPr algn="l"/>
            <a:r>
              <a:rPr sz="1200" b="0" i="0">
                <a:solidFill>
                  <a:srgbClr val="262626"/>
                </a:solidFill>
                <a:latin typeface="Arial"/>
              </a:rPr>
              <a:t>The Elite Women race at Edmonton has been held 5 times in this analysis window (2018–2024). The event is staged as part of the World Championship Series / World Championships, World Championship Series calendar.
[PLACEHOLDER: Add 1–2 sentences on notable storylines, competitive history, or what makes this event significant for Elite Women athletes. E.g. defending champions, record performances, dramatic finishes.]</a:t>
            </a:r>
          </a:p>
        </p:txBody>
      </p:sp>
      <p:sp>
        <p:nvSpPr>
          <p:cNvPr id="11" name="Rectangle 10"/>
          <p:cNvSpPr/>
          <p:nvPr/>
        </p:nvSpPr>
        <p:spPr>
          <a:xfrm>
            <a:off x="6903720" y="1097280"/>
            <a:ext cx="4983480" cy="32004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949440" y="1115568"/>
            <a:ext cx="4663440" cy="274320"/>
          </a:xfrm>
          <a:prstGeom prst="rect">
            <a:avLst/>
          </a:prstGeom>
          <a:noFill/>
        </p:spPr>
        <p:txBody>
          <a:bodyPr wrap="square">
            <a:spAutoFit/>
          </a:bodyPr>
          <a:lstStyle/>
          <a:p>
            <a:pPr algn="l"/>
            <a:r>
              <a:rPr sz="1200" b="1" i="0">
                <a:solidFill>
                  <a:srgbClr val="FFFFFF"/>
                </a:solidFill>
                <a:latin typeface="Arial"/>
              </a:rPr>
              <a:t>3 KEYS TO SUCCESS</a:t>
            </a:r>
          </a:p>
        </p:txBody>
      </p:sp>
      <p:sp>
        <p:nvSpPr>
          <p:cNvPr id="13" name="Rectangle 12"/>
          <p:cNvSpPr/>
          <p:nvPr/>
        </p:nvSpPr>
        <p:spPr>
          <a:xfrm>
            <a:off x="6949440" y="1554480"/>
            <a:ext cx="384048" cy="384048"/>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1</a:t>
            </a:r>
          </a:p>
        </p:txBody>
      </p:sp>
      <p:sp>
        <p:nvSpPr>
          <p:cNvPr id="14" name="TextBox 13"/>
          <p:cNvSpPr txBox="1"/>
          <p:nvPr/>
        </p:nvSpPr>
        <p:spPr>
          <a:xfrm>
            <a:off x="7452360" y="1536192"/>
            <a:ext cx="4434840" cy="1572768"/>
          </a:xfrm>
          <a:prstGeom prst="rect">
            <a:avLst/>
          </a:prstGeom>
          <a:noFill/>
        </p:spPr>
        <p:txBody>
          <a:bodyPr wrap="square">
            <a:spAutoFit/>
          </a:bodyPr>
          <a:lstStyle/>
          <a:p>
            <a:pPr algn="l"/>
            <a:r>
              <a:rPr sz="1100" b="0" i="0">
                <a:solidFill>
                  <a:srgbClr val="262626"/>
                </a:solidFill>
                <a:latin typeface="Arial"/>
              </a:rPr>
              <a:t>Fast swimming is decisive — only ~11 athletes typically leave the water together. A strong swim directly builds a race-winning gap before T1.</a:t>
            </a:r>
          </a:p>
        </p:txBody>
      </p:sp>
      <p:sp>
        <p:nvSpPr>
          <p:cNvPr id="15" name="Rectangle 14"/>
          <p:cNvSpPr/>
          <p:nvPr/>
        </p:nvSpPr>
        <p:spPr>
          <a:xfrm>
            <a:off x="6949440" y="3246120"/>
            <a:ext cx="384048" cy="384048"/>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2</a:t>
            </a:r>
          </a:p>
        </p:txBody>
      </p:sp>
      <p:sp>
        <p:nvSpPr>
          <p:cNvPr id="16" name="TextBox 15"/>
          <p:cNvSpPr txBox="1"/>
          <p:nvPr/>
        </p:nvSpPr>
        <p:spPr>
          <a:xfrm>
            <a:off x="7452360" y="3227832"/>
            <a:ext cx="4434840" cy="1572768"/>
          </a:xfrm>
          <a:prstGeom prst="rect">
            <a:avLst/>
          </a:prstGeom>
          <a:noFill/>
        </p:spPr>
        <p:txBody>
          <a:bodyPr wrap="square">
            <a:spAutoFit/>
          </a:bodyPr>
          <a:lstStyle/>
          <a:p>
            <a:pPr algn="l"/>
            <a:r>
              <a:rPr sz="1100" b="0" i="0">
                <a:solidFill>
                  <a:srgbClr val="262626"/>
                </a:solidFill>
                <a:latin typeface="Arial"/>
              </a:rPr>
              <a:t>[PLACEHOLDER: Key 2 — Describe bike strategy: is this a pack race or do breakaways form? What power/tactics are needed to stay in the lead group?]</a:t>
            </a:r>
          </a:p>
        </p:txBody>
      </p:sp>
      <p:sp>
        <p:nvSpPr>
          <p:cNvPr id="17" name="Rectangle 16"/>
          <p:cNvSpPr/>
          <p:nvPr/>
        </p:nvSpPr>
        <p:spPr>
          <a:xfrm>
            <a:off x="6949440" y="4937760"/>
            <a:ext cx="384048" cy="384048"/>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3</a:t>
            </a:r>
          </a:p>
        </p:txBody>
      </p:sp>
      <p:sp>
        <p:nvSpPr>
          <p:cNvPr id="18" name="TextBox 17"/>
          <p:cNvSpPr txBox="1"/>
          <p:nvPr/>
        </p:nvSpPr>
        <p:spPr>
          <a:xfrm>
            <a:off x="7452360" y="4919472"/>
            <a:ext cx="4434840" cy="1572768"/>
          </a:xfrm>
          <a:prstGeom prst="rect">
            <a:avLst/>
          </a:prstGeom>
          <a:noFill/>
        </p:spPr>
        <p:txBody>
          <a:bodyPr wrap="square">
            <a:spAutoFit/>
          </a:bodyPr>
          <a:lstStyle/>
          <a:p>
            <a:pPr algn="l"/>
            <a:r>
              <a:rPr sz="1100" b="0" i="0">
                <a:solidFill>
                  <a:srgbClr val="262626"/>
                </a:solidFill>
                <a:latin typeface="Arial"/>
              </a:rPr>
              <a:t>Run speed separates the podium — the fastest run pace averages ~2:02/km with a ~131s spread between fastest and average finisher. Either a pre-built lead from the bike or exceptional run speed is required to win.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Results Summary  —  Elite Women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Edmonton</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8" name="Table 7"/>
          <p:cNvGraphicFramePr>
            <a:graphicFrameLocks noGrp="1"/>
          </p:cNvGraphicFramePr>
          <p:nvPr/>
        </p:nvGraphicFramePr>
        <p:xfrm>
          <a:off x="274320" y="1143000"/>
          <a:ext cx="11640307" cy="3072384"/>
        </p:xfrm>
        <a:graphic>
          <a:graphicData uri="http://schemas.openxmlformats.org/drawingml/2006/table">
            <a:tbl>
              <a:tblPr firstRow="1" bandRow="1">
                <a:tableStyleId>{5C22544A-7EE6-4342-B048-85BDC9FD1C3A}</a:tableStyleId>
              </a:tblPr>
              <a:tblGrid>
                <a:gridCol w="655082">
                  <a:extLst>
                    <a:ext uri="{9D8B030D-6E8A-4147-A177-3AD203B41FA5}">
                      <a16:colId xmlns:a16="http://schemas.microsoft.com/office/drawing/2014/main" val="20000"/>
                    </a:ext>
                  </a:extLst>
                </a:gridCol>
                <a:gridCol w="957428">
                  <a:extLst>
                    <a:ext uri="{9D8B030D-6E8A-4147-A177-3AD203B41FA5}">
                      <a16:colId xmlns:a16="http://schemas.microsoft.com/office/drawing/2014/main" val="20001"/>
                    </a:ext>
                  </a:extLst>
                </a:gridCol>
                <a:gridCol w="1914856">
                  <a:extLst>
                    <a:ext uri="{9D8B030D-6E8A-4147-A177-3AD203B41FA5}">
                      <a16:colId xmlns:a16="http://schemas.microsoft.com/office/drawing/2014/main" val="20002"/>
                    </a:ext>
                  </a:extLst>
                </a:gridCol>
                <a:gridCol w="554300">
                  <a:extLst>
                    <a:ext uri="{9D8B030D-6E8A-4147-A177-3AD203B41FA5}">
                      <a16:colId xmlns:a16="http://schemas.microsoft.com/office/drawing/2014/main" val="20003"/>
                    </a:ext>
                  </a:extLst>
                </a:gridCol>
                <a:gridCol w="755864">
                  <a:extLst>
                    <a:ext uri="{9D8B030D-6E8A-4147-A177-3AD203B41FA5}">
                      <a16:colId xmlns:a16="http://schemas.microsoft.com/office/drawing/2014/main" val="20004"/>
                    </a:ext>
                  </a:extLst>
                </a:gridCol>
                <a:gridCol w="2015638">
                  <a:extLst>
                    <a:ext uri="{9D8B030D-6E8A-4147-A177-3AD203B41FA5}">
                      <a16:colId xmlns:a16="http://schemas.microsoft.com/office/drawing/2014/main" val="20005"/>
                    </a:ext>
                  </a:extLst>
                </a:gridCol>
                <a:gridCol w="1007819">
                  <a:extLst>
                    <a:ext uri="{9D8B030D-6E8A-4147-A177-3AD203B41FA5}">
                      <a16:colId xmlns:a16="http://schemas.microsoft.com/office/drawing/2014/main" val="20006"/>
                    </a:ext>
                  </a:extLst>
                </a:gridCol>
                <a:gridCol w="806255">
                  <a:extLst>
                    <a:ext uri="{9D8B030D-6E8A-4147-A177-3AD203B41FA5}">
                      <a16:colId xmlns:a16="http://schemas.microsoft.com/office/drawing/2014/main" val="20007"/>
                    </a:ext>
                  </a:extLst>
                </a:gridCol>
                <a:gridCol w="856646">
                  <a:extLst>
                    <a:ext uri="{9D8B030D-6E8A-4147-A177-3AD203B41FA5}">
                      <a16:colId xmlns:a16="http://schemas.microsoft.com/office/drawing/2014/main" val="20008"/>
                    </a:ext>
                  </a:extLst>
                </a:gridCol>
                <a:gridCol w="705473">
                  <a:extLst>
                    <a:ext uri="{9D8B030D-6E8A-4147-A177-3AD203B41FA5}">
                      <a16:colId xmlns:a16="http://schemas.microsoft.com/office/drawing/2014/main" val="20009"/>
                    </a:ext>
                  </a:extLst>
                </a:gridCol>
                <a:gridCol w="705473">
                  <a:extLst>
                    <a:ext uri="{9D8B030D-6E8A-4147-A177-3AD203B41FA5}">
                      <a16:colId xmlns:a16="http://schemas.microsoft.com/office/drawing/2014/main" val="20010"/>
                    </a:ext>
                  </a:extLst>
                </a:gridCol>
                <a:gridCol w="705473">
                  <a:extLst>
                    <a:ext uri="{9D8B030D-6E8A-4147-A177-3AD203B41FA5}">
                      <a16:colId xmlns:a16="http://schemas.microsoft.com/office/drawing/2014/main" val="20011"/>
                    </a:ext>
                  </a:extLst>
                </a:gridCol>
              </a:tblGrid>
              <a:tr h="512064">
                <a:tc>
                  <a:txBody>
                    <a:bodyPr/>
                    <a:lstStyle/>
                    <a:p>
                      <a:pPr algn="ctr"/>
                      <a:r>
                        <a:rPr sz="1400" b="1" i="0">
                          <a:solidFill>
                            <a:srgbClr val="FFFFFF"/>
                          </a:solidFill>
                          <a:latin typeface="Arial"/>
                        </a:rPr>
                        <a:t>Year</a:t>
                      </a:r>
                    </a:p>
                  </a:txBody>
                  <a:tcPr>
                    <a:solidFill>
                      <a:srgbClr val="002060"/>
                    </a:solidFill>
                  </a:tcPr>
                </a:tc>
                <a:tc>
                  <a:txBody>
                    <a:bodyPr/>
                    <a:lstStyle/>
                    <a:p>
                      <a:pPr algn="ctr"/>
                      <a:r>
                        <a:rPr sz="1400" b="1" i="0">
                          <a:solidFill>
                            <a:srgbClr val="FFFFFF"/>
                          </a:solidFill>
                          <a:latin typeface="Arial"/>
                        </a:rPr>
                        <a:t>Date</a:t>
                      </a:r>
                    </a:p>
                  </a:txBody>
                  <a:tcPr>
                    <a:solidFill>
                      <a:srgbClr val="002060"/>
                    </a:solidFill>
                  </a:tcPr>
                </a:tc>
                <a:tc>
                  <a:txBody>
                    <a:bodyPr/>
                    <a:lstStyle/>
                    <a:p>
                      <a:pPr algn="ctr"/>
                      <a:r>
                        <a:rPr sz="1400" b="1" i="0">
                          <a:solidFill>
                            <a:srgbClr val="FFFFFF"/>
                          </a:solidFill>
                          <a:latin typeface="Arial"/>
                        </a:rPr>
                        <a:t>Category</a:t>
                      </a:r>
                    </a:p>
                  </a:txBody>
                  <a:tcPr>
                    <a:solidFill>
                      <a:srgbClr val="002060"/>
                    </a:solidFill>
                  </a:tcPr>
                </a:tc>
                <a:tc>
                  <a:txBody>
                    <a:bodyPr/>
                    <a:lstStyle/>
                    <a:p>
                      <a:pPr algn="ctr"/>
                      <a:r>
                        <a:rPr sz="1400" b="1" i="0">
                          <a:solidFill>
                            <a:srgbClr val="FFFFFF"/>
                          </a:solidFill>
                          <a:latin typeface="Arial"/>
                        </a:rPr>
                        <a:t>Field</a:t>
                      </a:r>
                    </a:p>
                  </a:txBody>
                  <a:tcPr>
                    <a:solidFill>
                      <a:srgbClr val="002060"/>
                    </a:solidFill>
                  </a:tcPr>
                </a:tc>
                <a:tc>
                  <a:txBody>
                    <a:bodyPr/>
                    <a:lstStyle/>
                    <a:p>
                      <a:pPr algn="ctr"/>
                      <a:r>
                        <a:rPr sz="1400" b="1" i="0">
                          <a:solidFill>
                            <a:srgbClr val="FFFFFF"/>
                          </a:solidFill>
                          <a:latin typeface="Arial"/>
                        </a:rPr>
                        <a:t>DNF/LAP/DNS</a:t>
                      </a:r>
                    </a:p>
                  </a:txBody>
                  <a:tcPr>
                    <a:solidFill>
                      <a:srgbClr val="002060"/>
                    </a:solidFill>
                  </a:tcPr>
                </a:tc>
                <a:tc>
                  <a:txBody>
                    <a:bodyPr/>
                    <a:lstStyle/>
                    <a:p>
                      <a:pPr algn="ctr"/>
                      <a:r>
                        <a:rPr sz="1400" b="1" i="0">
                          <a:solidFill>
                            <a:srgbClr val="FFFFFF"/>
                          </a:solidFill>
                          <a:latin typeface="Arial"/>
                        </a:rPr>
                        <a:t>Winner</a:t>
                      </a:r>
                    </a:p>
                  </a:txBody>
                  <a:tcPr>
                    <a:solidFill>
                      <a:srgbClr val="002060"/>
                    </a:solidFill>
                  </a:tcPr>
                </a:tc>
                <a:tc>
                  <a:txBody>
                    <a:bodyPr/>
                    <a:lstStyle/>
                    <a:p>
                      <a:pPr algn="ctr"/>
                      <a:r>
                        <a:rPr sz="1400" b="1" i="0">
                          <a:solidFill>
                            <a:srgbClr val="FFFFFF"/>
                          </a:solidFill>
                          <a:latin typeface="Arial"/>
                        </a:rPr>
                        <a:t>Winner Time</a:t>
                      </a:r>
                    </a:p>
                  </a:txBody>
                  <a:tcPr>
                    <a:solidFill>
                      <a:srgbClr val="002060"/>
                    </a:solidFill>
                  </a:tcPr>
                </a:tc>
                <a:tc>
                  <a:txBody>
                    <a:bodyPr/>
                    <a:lstStyle/>
                    <a:p>
                      <a:pPr algn="ctr"/>
                      <a:r>
                        <a:rPr sz="1400" b="1" i="0">
                          <a:solidFill>
                            <a:srgbClr val="FFFFFF"/>
                          </a:solidFill>
                          <a:latin typeface="Arial"/>
                        </a:rPr>
                        <a:t>Air Temp</a:t>
                      </a:r>
                    </a:p>
                  </a:txBody>
                  <a:tcPr>
                    <a:solidFill>
                      <a:srgbClr val="002060"/>
                    </a:solidFill>
                  </a:tcPr>
                </a:tc>
                <a:tc>
                  <a:txBody>
                    <a:bodyPr/>
                    <a:lstStyle/>
                    <a:p>
                      <a:pPr algn="ctr"/>
                      <a:r>
                        <a:rPr sz="1400" b="1" i="0">
                          <a:solidFill>
                            <a:srgbClr val="FFFFFF"/>
                          </a:solidFill>
                          <a:latin typeface="Arial"/>
                        </a:rPr>
                        <a:t>Water Temp</a:t>
                      </a:r>
                    </a:p>
                  </a:txBody>
                  <a:tcPr>
                    <a:solidFill>
                      <a:srgbClr val="002060"/>
                    </a:solidFill>
                  </a:tcPr>
                </a:tc>
                <a:tc>
                  <a:txBody>
                    <a:bodyPr/>
                    <a:lstStyle/>
                    <a:p>
                      <a:pPr algn="ctr"/>
                      <a:r>
                        <a:rPr sz="1400" b="1" i="0">
                          <a:solidFill>
                            <a:srgbClr val="FFFFFF"/>
                          </a:solidFill>
                          <a:latin typeface="Arial"/>
                        </a:rPr>
                        <a:t>Swim km</a:t>
                      </a:r>
                    </a:p>
                  </a:txBody>
                  <a:tcPr>
                    <a:solidFill>
                      <a:srgbClr val="002060"/>
                    </a:solidFill>
                  </a:tcPr>
                </a:tc>
                <a:tc>
                  <a:txBody>
                    <a:bodyPr/>
                    <a:lstStyle/>
                    <a:p>
                      <a:pPr algn="ctr"/>
                      <a:r>
                        <a:rPr sz="1400" b="1" i="0">
                          <a:solidFill>
                            <a:srgbClr val="FFFFFF"/>
                          </a:solidFill>
                          <a:latin typeface="Arial"/>
                        </a:rPr>
                        <a:t>Bike km</a:t>
                      </a:r>
                    </a:p>
                  </a:txBody>
                  <a:tcPr>
                    <a:solidFill>
                      <a:srgbClr val="002060"/>
                    </a:solidFill>
                  </a:tcPr>
                </a:tc>
                <a:tc>
                  <a:txBody>
                    <a:bodyPr/>
                    <a:lstStyle/>
                    <a:p>
                      <a:pPr algn="ctr"/>
                      <a:r>
                        <a:rPr sz="1400" b="1" i="0">
                          <a:solidFill>
                            <a:srgbClr val="FFFFFF"/>
                          </a:solidFill>
                          <a:latin typeface="Arial"/>
                        </a:rPr>
                        <a:t>Run km</a:t>
                      </a:r>
                    </a:p>
                  </a:txBody>
                  <a:tcPr>
                    <a:solidFill>
                      <a:srgbClr val="002060"/>
                    </a:solidFill>
                  </a:tcPr>
                </a:tc>
                <a:extLst>
                  <a:ext uri="{0D108BD9-81ED-4DB2-BD59-A6C34878D82A}">
                    <a16:rowId xmlns:a16="http://schemas.microsoft.com/office/drawing/2014/main" val="10000"/>
                  </a:ext>
                </a:extLst>
              </a:tr>
              <a:tr h="512064">
                <a:tc>
                  <a:txBody>
                    <a:bodyPr/>
                    <a:lstStyle/>
                    <a:p>
                      <a:pPr algn="ctr"/>
                      <a:r>
                        <a:rPr sz="1400" b="0" i="0">
                          <a:solidFill>
                            <a:srgbClr val="262626"/>
                          </a:solidFill>
                          <a:latin typeface="Arial"/>
                        </a:rPr>
                        <a:t>2018</a:t>
                      </a:r>
                    </a:p>
                  </a:txBody>
                  <a:tcPr>
                    <a:solidFill>
                      <a:srgbClr val="FFFFFF"/>
                    </a:solidFill>
                  </a:tcPr>
                </a:tc>
                <a:tc>
                  <a:txBody>
                    <a:bodyPr/>
                    <a:lstStyle/>
                    <a:p>
                      <a:pPr algn="ctr"/>
                      <a:r>
                        <a:rPr sz="1400" b="0" i="0">
                          <a:solidFill>
                            <a:srgbClr val="262626"/>
                          </a:solidFill>
                          <a:latin typeface="Arial"/>
                        </a:rPr>
                        <a:t>Jul 27</a:t>
                      </a:r>
                    </a:p>
                  </a:txBody>
                  <a:tcPr>
                    <a:solidFill>
                      <a:srgbClr val="FFFFFF"/>
                    </a:solidFill>
                  </a:tcPr>
                </a:tc>
                <a:tc>
                  <a:txBody>
                    <a:bodyPr/>
                    <a:lstStyle/>
                    <a:p>
                      <a:pPr algn="l"/>
                      <a:r>
                        <a:rPr sz="1200" b="0" i="0">
                          <a:solidFill>
                            <a:srgbClr val="262626"/>
                          </a:solidFill>
                          <a:latin typeface="Arial"/>
                        </a:rPr>
                        <a:t>World Championship Series</a:t>
                      </a:r>
                    </a:p>
                  </a:txBody>
                  <a:tcPr>
                    <a:solidFill>
                      <a:srgbClr val="FFFFFF"/>
                    </a:solidFill>
                  </a:tcPr>
                </a:tc>
                <a:tc>
                  <a:txBody>
                    <a:bodyPr/>
                    <a:lstStyle/>
                    <a:p>
                      <a:pPr algn="ctr"/>
                      <a:r>
                        <a:rPr sz="1400" b="0" i="0">
                          <a:solidFill>
                            <a:srgbClr val="262626"/>
                          </a:solidFill>
                          <a:latin typeface="Arial"/>
                        </a:rPr>
                        <a:t>55</a:t>
                      </a:r>
                    </a:p>
                  </a:txBody>
                  <a:tcPr>
                    <a:solidFill>
                      <a:srgbClr val="FFFFFF"/>
                    </a:solidFill>
                  </a:tcPr>
                </a:tc>
                <a:tc>
                  <a:txBody>
                    <a:bodyPr/>
                    <a:lstStyle/>
                    <a:p>
                      <a:pPr algn="ctr"/>
                      <a:r>
                        <a:rPr sz="1400" b="0" i="0">
                          <a:solidFill>
                            <a:srgbClr val="262626"/>
                          </a:solidFill>
                          <a:latin typeface="Arial"/>
                        </a:rPr>
                        <a:t>13</a:t>
                      </a:r>
                    </a:p>
                  </a:txBody>
                  <a:tcPr>
                    <a:solidFill>
                      <a:srgbClr val="FFFFFF"/>
                    </a:solidFill>
                  </a:tcPr>
                </a:tc>
                <a:tc>
                  <a:txBody>
                    <a:bodyPr/>
                    <a:lstStyle/>
                    <a:p>
                      <a:pPr algn="l"/>
                      <a:r>
                        <a:rPr sz="1400" b="0" i="0">
                          <a:solidFill>
                            <a:srgbClr val="262626"/>
                          </a:solidFill>
                          <a:latin typeface="Arial"/>
                        </a:rPr>
                        <a:t>Holland</a:t>
                      </a:r>
                    </a:p>
                  </a:txBody>
                  <a:tcPr>
                    <a:solidFill>
                      <a:srgbClr val="FFFFFF"/>
                    </a:solidFill>
                  </a:tcPr>
                </a:tc>
                <a:tc>
                  <a:txBody>
                    <a:bodyPr/>
                    <a:lstStyle/>
                    <a:p>
                      <a:pPr algn="ctr"/>
                      <a:r>
                        <a:rPr sz="1400" b="0" i="0">
                          <a:solidFill>
                            <a:srgbClr val="262626"/>
                          </a:solidFill>
                          <a:latin typeface="Arial"/>
                        </a:rPr>
                        <a:t>56:51</a:t>
                      </a:r>
                    </a:p>
                  </a:txBody>
                  <a:tcPr>
                    <a:solidFill>
                      <a:srgbClr val="FFFFFF"/>
                    </a:solidFill>
                  </a:tcPr>
                </a:tc>
                <a:tc>
                  <a:txBody>
                    <a:bodyPr/>
                    <a:lstStyle/>
                    <a:p>
                      <a:pPr algn="ctr"/>
                      <a:r>
                        <a:rPr sz="1400" b="0" i="0">
                          <a:solidFill>
                            <a:srgbClr val="262626"/>
                          </a:solidFill>
                          <a:latin typeface="Arial"/>
                        </a:rPr>
                        <a:t>19.9</a:t>
                      </a:r>
                    </a:p>
                  </a:txBody>
                  <a:tcPr>
                    <a:solidFill>
                      <a:srgbClr val="FFFFFF"/>
                    </a:solidFill>
                  </a:tcPr>
                </a:tc>
                <a:tc>
                  <a:txBody>
                    <a:bodyPr/>
                    <a:lstStyle/>
                    <a:p>
                      <a:pPr algn="ctr"/>
                      <a:r>
                        <a:rPr sz="1400" b="0" i="0">
                          <a:solidFill>
                            <a:srgbClr val="262626"/>
                          </a:solidFill>
                          <a:latin typeface="Arial"/>
                        </a:rPr>
                        <a:t>—</a:t>
                      </a:r>
                    </a:p>
                  </a:txBody>
                  <a:tcPr>
                    <a:solidFill>
                      <a:srgbClr val="FFFFFF"/>
                    </a:solidFill>
                  </a:tcPr>
                </a:tc>
                <a:tc>
                  <a:txBody>
                    <a:bodyPr/>
                    <a:lstStyle/>
                    <a:p>
                      <a:pPr algn="ctr"/>
                      <a:r>
                        <a:rPr sz="1400" b="0" i="0">
                          <a:solidFill>
                            <a:srgbClr val="262626"/>
                          </a:solidFill>
                          <a:latin typeface="Arial"/>
                        </a:rPr>
                        <a:t>—</a:t>
                      </a:r>
                    </a:p>
                  </a:txBody>
                  <a:tcPr>
                    <a:solidFill>
                      <a:srgbClr val="FFFFFF"/>
                    </a:solidFill>
                  </a:tcPr>
                </a:tc>
                <a:tc>
                  <a:txBody>
                    <a:bodyPr/>
                    <a:lstStyle/>
                    <a:p>
                      <a:pPr algn="ctr"/>
                      <a:r>
                        <a:rPr sz="1400" b="0" i="0">
                          <a:solidFill>
                            <a:srgbClr val="262626"/>
                          </a:solidFill>
                          <a:latin typeface="Arial"/>
                        </a:rPr>
                        <a:t>—</a:t>
                      </a:r>
                    </a:p>
                  </a:txBody>
                  <a:tcPr>
                    <a:solidFill>
                      <a:srgbClr val="FFFFFF"/>
                    </a:solidFill>
                  </a:tcPr>
                </a:tc>
                <a:tc>
                  <a:txBody>
                    <a:bodyPr/>
                    <a:lstStyle/>
                    <a:p>
                      <a:pPr algn="ctr"/>
                      <a:r>
                        <a:rPr sz="1400" b="0" i="0">
                          <a:solidFill>
                            <a:srgbClr val="262626"/>
                          </a:solidFill>
                          <a:latin typeface="Arial"/>
                        </a:rPr>
                        <a:t>—</a:t>
                      </a:r>
                    </a:p>
                  </a:txBody>
                  <a:tcPr>
                    <a:solidFill>
                      <a:srgbClr val="FFFFFF"/>
                    </a:solidFill>
                  </a:tcPr>
                </a:tc>
                <a:extLst>
                  <a:ext uri="{0D108BD9-81ED-4DB2-BD59-A6C34878D82A}">
                    <a16:rowId xmlns:a16="http://schemas.microsoft.com/office/drawing/2014/main" val="10001"/>
                  </a:ext>
                </a:extLst>
              </a:tr>
              <a:tr h="512064">
                <a:tc>
                  <a:txBody>
                    <a:bodyPr/>
                    <a:lstStyle/>
                    <a:p>
                      <a:pPr algn="ctr"/>
                      <a:r>
                        <a:rPr sz="1400" b="0" i="0">
                          <a:solidFill>
                            <a:srgbClr val="262626"/>
                          </a:solidFill>
                          <a:latin typeface="Arial"/>
                        </a:rPr>
                        <a:t>2019</a:t>
                      </a:r>
                    </a:p>
                  </a:txBody>
                  <a:tcPr>
                    <a:solidFill>
                      <a:srgbClr val="F2F2F2"/>
                    </a:solidFill>
                  </a:tcPr>
                </a:tc>
                <a:tc>
                  <a:txBody>
                    <a:bodyPr/>
                    <a:lstStyle/>
                    <a:p>
                      <a:pPr algn="ctr"/>
                      <a:r>
                        <a:rPr sz="1400" b="0" i="0">
                          <a:solidFill>
                            <a:srgbClr val="262626"/>
                          </a:solidFill>
                          <a:latin typeface="Arial"/>
                        </a:rPr>
                        <a:t>Jul 20</a:t>
                      </a:r>
                    </a:p>
                  </a:txBody>
                  <a:tcPr>
                    <a:solidFill>
                      <a:srgbClr val="F2F2F2"/>
                    </a:solidFill>
                  </a:tcPr>
                </a:tc>
                <a:tc>
                  <a:txBody>
                    <a:bodyPr/>
                    <a:lstStyle/>
                    <a:p>
                      <a:pPr algn="l"/>
                      <a:r>
                        <a:rPr sz="1200" b="0" i="0">
                          <a:solidFill>
                            <a:srgbClr val="262626"/>
                          </a:solidFill>
                          <a:latin typeface="Arial"/>
                        </a:rPr>
                        <a:t>World Championship Series</a:t>
                      </a:r>
                    </a:p>
                  </a:txBody>
                  <a:tcPr>
                    <a:solidFill>
                      <a:srgbClr val="F2F2F2"/>
                    </a:solidFill>
                  </a:tcPr>
                </a:tc>
                <a:tc>
                  <a:txBody>
                    <a:bodyPr/>
                    <a:lstStyle/>
                    <a:p>
                      <a:pPr algn="ctr"/>
                      <a:r>
                        <a:rPr sz="1400" b="0" i="0">
                          <a:solidFill>
                            <a:srgbClr val="262626"/>
                          </a:solidFill>
                          <a:latin typeface="Arial"/>
                        </a:rPr>
                        <a:t>41</a:t>
                      </a:r>
                    </a:p>
                  </a:txBody>
                  <a:tcPr>
                    <a:solidFill>
                      <a:srgbClr val="F2F2F2"/>
                    </a:solidFill>
                  </a:tcPr>
                </a:tc>
                <a:tc>
                  <a:txBody>
                    <a:bodyPr/>
                    <a:lstStyle/>
                    <a:p>
                      <a:pPr algn="ctr"/>
                      <a:r>
                        <a:rPr sz="1400" b="0" i="0">
                          <a:solidFill>
                            <a:srgbClr val="262626"/>
                          </a:solidFill>
                          <a:latin typeface="Arial"/>
                        </a:rPr>
                        <a:t>3</a:t>
                      </a:r>
                    </a:p>
                  </a:txBody>
                  <a:tcPr>
                    <a:solidFill>
                      <a:srgbClr val="F2F2F2"/>
                    </a:solidFill>
                  </a:tcPr>
                </a:tc>
                <a:tc>
                  <a:txBody>
                    <a:bodyPr/>
                    <a:lstStyle/>
                    <a:p>
                      <a:pPr algn="l"/>
                      <a:r>
                        <a:rPr sz="1400" b="0" i="0">
                          <a:solidFill>
                            <a:srgbClr val="262626"/>
                          </a:solidFill>
                          <a:latin typeface="Arial"/>
                        </a:rPr>
                        <a:t>Jackson</a:t>
                      </a:r>
                    </a:p>
                  </a:txBody>
                  <a:tcPr>
                    <a:solidFill>
                      <a:srgbClr val="F2F2F2"/>
                    </a:solidFill>
                  </a:tcPr>
                </a:tc>
                <a:tc>
                  <a:txBody>
                    <a:bodyPr/>
                    <a:lstStyle/>
                    <a:p>
                      <a:pPr algn="ctr"/>
                      <a:r>
                        <a:rPr sz="1400" b="0" i="0">
                          <a:solidFill>
                            <a:srgbClr val="262626"/>
                          </a:solidFill>
                          <a:latin typeface="Arial"/>
                        </a:rPr>
                        <a:t>1:01:23</a:t>
                      </a:r>
                    </a:p>
                  </a:txBody>
                  <a:tcPr>
                    <a:solidFill>
                      <a:srgbClr val="F2F2F2"/>
                    </a:solidFill>
                  </a:tcPr>
                </a:tc>
                <a:tc>
                  <a:txBody>
                    <a:bodyPr/>
                    <a:lstStyle/>
                    <a:p>
                      <a:pPr algn="ctr"/>
                      <a:r>
                        <a:rPr sz="1400" b="0" i="0">
                          <a:solidFill>
                            <a:srgbClr val="262626"/>
                          </a:solidFill>
                          <a:latin typeface="Arial"/>
                        </a:rPr>
                        <a:t>17.6</a:t>
                      </a:r>
                    </a:p>
                  </a:txBody>
                  <a:tcPr>
                    <a:solidFill>
                      <a:srgbClr val="F2F2F2"/>
                    </a:solidFill>
                  </a:tcPr>
                </a:tc>
                <a:tc>
                  <a:txBody>
                    <a:bodyPr/>
                    <a:lstStyle/>
                    <a:p>
                      <a:pPr algn="ctr"/>
                      <a:r>
                        <a:rPr sz="1400" b="0" i="0">
                          <a:solidFill>
                            <a:srgbClr val="262626"/>
                          </a:solidFill>
                          <a:latin typeface="Arial"/>
                        </a:rPr>
                        <a:t>—</a:t>
                      </a:r>
                    </a:p>
                  </a:txBody>
                  <a:tcPr>
                    <a:solidFill>
                      <a:srgbClr val="F2F2F2"/>
                    </a:solidFill>
                  </a:tcPr>
                </a:tc>
                <a:tc>
                  <a:txBody>
                    <a:bodyPr/>
                    <a:lstStyle/>
                    <a:p>
                      <a:pPr algn="ctr"/>
                      <a:r>
                        <a:rPr sz="1400" b="0" i="0">
                          <a:solidFill>
                            <a:srgbClr val="262626"/>
                          </a:solidFill>
                          <a:latin typeface="Arial"/>
                        </a:rPr>
                        <a:t>—</a:t>
                      </a:r>
                    </a:p>
                  </a:txBody>
                  <a:tcPr>
                    <a:solidFill>
                      <a:srgbClr val="F2F2F2"/>
                    </a:solidFill>
                  </a:tcPr>
                </a:tc>
                <a:tc>
                  <a:txBody>
                    <a:bodyPr/>
                    <a:lstStyle/>
                    <a:p>
                      <a:pPr algn="ctr"/>
                      <a:r>
                        <a:rPr sz="1400" b="0" i="0">
                          <a:solidFill>
                            <a:srgbClr val="262626"/>
                          </a:solidFill>
                          <a:latin typeface="Arial"/>
                        </a:rPr>
                        <a:t>—</a:t>
                      </a:r>
                    </a:p>
                  </a:txBody>
                  <a:tcPr>
                    <a:solidFill>
                      <a:srgbClr val="F2F2F2"/>
                    </a:solidFill>
                  </a:tcPr>
                </a:tc>
                <a:tc>
                  <a:txBody>
                    <a:bodyPr/>
                    <a:lstStyle/>
                    <a:p>
                      <a:pPr algn="ctr"/>
                      <a:r>
                        <a:rPr sz="1400" b="0" i="0">
                          <a:solidFill>
                            <a:srgbClr val="262626"/>
                          </a:solidFill>
                          <a:latin typeface="Arial"/>
                        </a:rPr>
                        <a:t>—</a:t>
                      </a:r>
                    </a:p>
                  </a:txBody>
                  <a:tcPr>
                    <a:solidFill>
                      <a:srgbClr val="F2F2F2"/>
                    </a:solidFill>
                  </a:tcPr>
                </a:tc>
                <a:extLst>
                  <a:ext uri="{0D108BD9-81ED-4DB2-BD59-A6C34878D82A}">
                    <a16:rowId xmlns:a16="http://schemas.microsoft.com/office/drawing/2014/main" val="10002"/>
                  </a:ext>
                </a:extLst>
              </a:tr>
              <a:tr h="512064">
                <a:tc>
                  <a:txBody>
                    <a:bodyPr/>
                    <a:lstStyle/>
                    <a:p>
                      <a:pPr algn="ctr"/>
                      <a:r>
                        <a:rPr sz="1400" b="0" i="0">
                          <a:solidFill>
                            <a:srgbClr val="262626"/>
                          </a:solidFill>
                          <a:latin typeface="Arial"/>
                        </a:rPr>
                        <a:t>2021</a:t>
                      </a:r>
                    </a:p>
                  </a:txBody>
                  <a:tcPr>
                    <a:solidFill>
                      <a:srgbClr val="FFFFFF"/>
                    </a:solidFill>
                  </a:tcPr>
                </a:tc>
                <a:tc>
                  <a:txBody>
                    <a:bodyPr/>
                    <a:lstStyle/>
                    <a:p>
                      <a:pPr algn="ctr"/>
                      <a:r>
                        <a:rPr sz="1400" b="0" i="0">
                          <a:solidFill>
                            <a:srgbClr val="262626"/>
                          </a:solidFill>
                          <a:latin typeface="Arial"/>
                        </a:rPr>
                        <a:t>Aug 21</a:t>
                      </a:r>
                    </a:p>
                  </a:txBody>
                  <a:tcPr>
                    <a:solidFill>
                      <a:srgbClr val="FFFFFF"/>
                    </a:solidFill>
                  </a:tcPr>
                </a:tc>
                <a:tc>
                  <a:txBody>
                    <a:bodyPr/>
                    <a:lstStyle/>
                    <a:p>
                      <a:pPr algn="l"/>
                      <a:r>
                        <a:rPr sz="1200" b="0" i="0">
                          <a:solidFill>
                            <a:srgbClr val="262626"/>
                          </a:solidFill>
                          <a:latin typeface="Arial"/>
                        </a:rPr>
                        <a:t>World Championships, World Championship Series</a:t>
                      </a:r>
                    </a:p>
                  </a:txBody>
                  <a:tcPr>
                    <a:solidFill>
                      <a:srgbClr val="FFFFFF"/>
                    </a:solidFill>
                  </a:tcPr>
                </a:tc>
                <a:tc>
                  <a:txBody>
                    <a:bodyPr/>
                    <a:lstStyle/>
                    <a:p>
                      <a:pPr algn="ctr"/>
                      <a:r>
                        <a:rPr sz="1400" b="0" i="0">
                          <a:solidFill>
                            <a:srgbClr val="262626"/>
                          </a:solidFill>
                          <a:latin typeface="Arial"/>
                        </a:rPr>
                        <a:t>38</a:t>
                      </a:r>
                    </a:p>
                  </a:txBody>
                  <a:tcPr>
                    <a:solidFill>
                      <a:srgbClr val="FFFFFF"/>
                    </a:solidFill>
                  </a:tcPr>
                </a:tc>
                <a:tc>
                  <a:txBody>
                    <a:bodyPr/>
                    <a:lstStyle/>
                    <a:p>
                      <a:pPr algn="ctr"/>
                      <a:r>
                        <a:rPr sz="1400" b="0" i="0">
                          <a:solidFill>
                            <a:srgbClr val="262626"/>
                          </a:solidFill>
                          <a:latin typeface="Arial"/>
                        </a:rPr>
                        <a:t>5</a:t>
                      </a:r>
                    </a:p>
                  </a:txBody>
                  <a:tcPr>
                    <a:solidFill>
                      <a:srgbClr val="FFFFFF"/>
                    </a:solidFill>
                  </a:tcPr>
                </a:tc>
                <a:tc>
                  <a:txBody>
                    <a:bodyPr/>
                    <a:lstStyle/>
                    <a:p>
                      <a:pPr algn="l"/>
                      <a:r>
                        <a:rPr sz="1400" b="0" i="0">
                          <a:solidFill>
                            <a:srgbClr val="262626"/>
                          </a:solidFill>
                          <a:latin typeface="Arial"/>
                        </a:rPr>
                        <a:t>Knibb</a:t>
                      </a:r>
                    </a:p>
                  </a:txBody>
                  <a:tcPr>
                    <a:solidFill>
                      <a:srgbClr val="FFFFFF"/>
                    </a:solidFill>
                  </a:tcPr>
                </a:tc>
                <a:tc>
                  <a:txBody>
                    <a:bodyPr/>
                    <a:lstStyle/>
                    <a:p>
                      <a:pPr algn="ctr"/>
                      <a:r>
                        <a:rPr sz="1400" b="0" i="0">
                          <a:solidFill>
                            <a:srgbClr val="262626"/>
                          </a:solidFill>
                          <a:latin typeface="Arial"/>
                        </a:rPr>
                        <a:t>1:54:47</a:t>
                      </a:r>
                    </a:p>
                  </a:txBody>
                  <a:tcPr>
                    <a:solidFill>
                      <a:srgbClr val="FFFFFF"/>
                    </a:solidFill>
                  </a:tcPr>
                </a:tc>
                <a:tc>
                  <a:txBody>
                    <a:bodyPr/>
                    <a:lstStyle/>
                    <a:p>
                      <a:pPr algn="ctr"/>
                      <a:r>
                        <a:rPr sz="1400" b="0" i="0">
                          <a:solidFill>
                            <a:srgbClr val="262626"/>
                          </a:solidFill>
                          <a:latin typeface="Arial"/>
                        </a:rPr>
                        <a:t>15.4</a:t>
                      </a:r>
                    </a:p>
                  </a:txBody>
                  <a:tcPr>
                    <a:solidFill>
                      <a:srgbClr val="FFFFFF"/>
                    </a:solidFill>
                  </a:tcPr>
                </a:tc>
                <a:tc>
                  <a:txBody>
                    <a:bodyPr/>
                    <a:lstStyle/>
                    <a:p>
                      <a:pPr algn="ctr"/>
                      <a:r>
                        <a:rPr sz="1400" b="0" i="0">
                          <a:solidFill>
                            <a:srgbClr val="262626"/>
                          </a:solidFill>
                          <a:latin typeface="Arial"/>
                        </a:rPr>
                        <a:t>—</a:t>
                      </a:r>
                    </a:p>
                  </a:txBody>
                  <a:tcPr>
                    <a:solidFill>
                      <a:srgbClr val="FFFFFF"/>
                    </a:solidFill>
                  </a:tcPr>
                </a:tc>
                <a:tc>
                  <a:txBody>
                    <a:bodyPr/>
                    <a:lstStyle/>
                    <a:p>
                      <a:pPr algn="ctr"/>
                      <a:r>
                        <a:rPr sz="1400" b="0" i="0">
                          <a:solidFill>
                            <a:srgbClr val="262626"/>
                          </a:solidFill>
                          <a:latin typeface="Arial"/>
                        </a:rPr>
                        <a:t>—</a:t>
                      </a:r>
                    </a:p>
                  </a:txBody>
                  <a:tcPr>
                    <a:solidFill>
                      <a:srgbClr val="FFFFFF"/>
                    </a:solidFill>
                  </a:tcPr>
                </a:tc>
                <a:tc>
                  <a:txBody>
                    <a:bodyPr/>
                    <a:lstStyle/>
                    <a:p>
                      <a:pPr algn="ctr"/>
                      <a:r>
                        <a:rPr sz="1400" b="0" i="0">
                          <a:solidFill>
                            <a:srgbClr val="262626"/>
                          </a:solidFill>
                          <a:latin typeface="Arial"/>
                        </a:rPr>
                        <a:t>—</a:t>
                      </a:r>
                    </a:p>
                  </a:txBody>
                  <a:tcPr>
                    <a:solidFill>
                      <a:srgbClr val="FFFFFF"/>
                    </a:solidFill>
                  </a:tcPr>
                </a:tc>
                <a:tc>
                  <a:txBody>
                    <a:bodyPr/>
                    <a:lstStyle/>
                    <a:p>
                      <a:pPr algn="ctr"/>
                      <a:r>
                        <a:rPr sz="1400" b="0" i="0">
                          <a:solidFill>
                            <a:srgbClr val="262626"/>
                          </a:solidFill>
                          <a:latin typeface="Arial"/>
                        </a:rPr>
                        <a:t>—</a:t>
                      </a:r>
                    </a:p>
                  </a:txBody>
                  <a:tcPr>
                    <a:solidFill>
                      <a:srgbClr val="FFFFFF"/>
                    </a:solidFill>
                  </a:tcPr>
                </a:tc>
                <a:extLst>
                  <a:ext uri="{0D108BD9-81ED-4DB2-BD59-A6C34878D82A}">
                    <a16:rowId xmlns:a16="http://schemas.microsoft.com/office/drawing/2014/main" val="10003"/>
                  </a:ext>
                </a:extLst>
              </a:tr>
              <a:tr h="512064">
                <a:tc>
                  <a:txBody>
                    <a:bodyPr/>
                    <a:lstStyle/>
                    <a:p>
                      <a:pPr algn="ctr"/>
                      <a:r>
                        <a:rPr sz="1400" b="0" i="0">
                          <a:solidFill>
                            <a:srgbClr val="262626"/>
                          </a:solidFill>
                          <a:latin typeface="Arial"/>
                        </a:rPr>
                        <a:t>2023</a:t>
                      </a:r>
                    </a:p>
                  </a:txBody>
                  <a:tcPr>
                    <a:solidFill>
                      <a:srgbClr val="F2F2F2"/>
                    </a:solidFill>
                  </a:tcPr>
                </a:tc>
                <a:tc>
                  <a:txBody>
                    <a:bodyPr/>
                    <a:lstStyle/>
                    <a:p>
                      <a:pPr algn="ctr"/>
                      <a:r>
                        <a:rPr sz="1400" b="0" i="0">
                          <a:solidFill>
                            <a:srgbClr val="262626"/>
                          </a:solidFill>
                          <a:latin typeface="Arial"/>
                        </a:rPr>
                        <a:t>Aug 26</a:t>
                      </a:r>
                    </a:p>
                  </a:txBody>
                  <a:tcPr>
                    <a:solidFill>
                      <a:srgbClr val="F2F2F2"/>
                    </a:solidFill>
                  </a:tcPr>
                </a:tc>
                <a:tc>
                  <a:txBody>
                    <a:bodyPr/>
                    <a:lstStyle/>
                    <a:p>
                      <a:pPr algn="l"/>
                      <a:r>
                        <a:rPr sz="1200" b="0" i="0">
                          <a:solidFill>
                            <a:srgbClr val="262626"/>
                          </a:solidFill>
                          <a:latin typeface="Arial"/>
                        </a:rPr>
                        <a:t>Continental Cup *</a:t>
                      </a:r>
                    </a:p>
                  </a:txBody>
                  <a:tcPr>
                    <a:solidFill>
                      <a:srgbClr val="F2F2F2"/>
                    </a:solidFill>
                  </a:tcPr>
                </a:tc>
                <a:tc>
                  <a:txBody>
                    <a:bodyPr/>
                    <a:lstStyle/>
                    <a:p>
                      <a:pPr algn="ctr"/>
                      <a:r>
                        <a:rPr sz="1400" b="0" i="0">
                          <a:solidFill>
                            <a:srgbClr val="262626"/>
                          </a:solidFill>
                          <a:latin typeface="Arial"/>
                        </a:rPr>
                        <a:t>25</a:t>
                      </a:r>
                    </a:p>
                  </a:txBody>
                  <a:tcPr>
                    <a:solidFill>
                      <a:srgbClr val="F2F2F2"/>
                    </a:solidFill>
                  </a:tcPr>
                </a:tc>
                <a:tc>
                  <a:txBody>
                    <a:bodyPr/>
                    <a:lstStyle/>
                    <a:p>
                      <a:pPr algn="ctr"/>
                      <a:r>
                        <a:rPr sz="1400" b="0" i="0">
                          <a:solidFill>
                            <a:srgbClr val="262626"/>
                          </a:solidFill>
                          <a:latin typeface="Arial"/>
                        </a:rPr>
                        <a:t>3</a:t>
                      </a:r>
                    </a:p>
                  </a:txBody>
                  <a:tcPr>
                    <a:solidFill>
                      <a:srgbClr val="F2F2F2"/>
                    </a:solidFill>
                  </a:tcPr>
                </a:tc>
                <a:tc>
                  <a:txBody>
                    <a:bodyPr/>
                    <a:lstStyle/>
                    <a:p>
                      <a:pPr algn="l"/>
                      <a:r>
                        <a:rPr sz="1400" b="0" i="0">
                          <a:solidFill>
                            <a:srgbClr val="262626"/>
                          </a:solidFill>
                          <a:latin typeface="Arial"/>
                        </a:rPr>
                        <a:t>Casas</a:t>
                      </a:r>
                    </a:p>
                  </a:txBody>
                  <a:tcPr>
                    <a:solidFill>
                      <a:srgbClr val="F2F2F2"/>
                    </a:solidFill>
                  </a:tcPr>
                </a:tc>
                <a:tc>
                  <a:txBody>
                    <a:bodyPr/>
                    <a:lstStyle/>
                    <a:p>
                      <a:pPr algn="ctr"/>
                      <a:r>
                        <a:rPr sz="1400" b="0" i="0">
                          <a:solidFill>
                            <a:srgbClr val="262626"/>
                          </a:solidFill>
                          <a:latin typeface="Arial"/>
                        </a:rPr>
                        <a:t>56:27</a:t>
                      </a:r>
                    </a:p>
                  </a:txBody>
                  <a:tcPr>
                    <a:solidFill>
                      <a:srgbClr val="F2F2F2"/>
                    </a:solidFill>
                  </a:tcPr>
                </a:tc>
                <a:tc>
                  <a:txBody>
                    <a:bodyPr/>
                    <a:lstStyle/>
                    <a:p>
                      <a:pPr algn="ctr"/>
                      <a:r>
                        <a:rPr sz="1400" b="0" i="0">
                          <a:solidFill>
                            <a:srgbClr val="262626"/>
                          </a:solidFill>
                          <a:latin typeface="Arial"/>
                        </a:rPr>
                        <a:t>20</a:t>
                      </a:r>
                    </a:p>
                  </a:txBody>
                  <a:tcPr>
                    <a:solidFill>
                      <a:srgbClr val="F2F2F2"/>
                    </a:solidFill>
                  </a:tcPr>
                </a:tc>
                <a:tc>
                  <a:txBody>
                    <a:bodyPr/>
                    <a:lstStyle/>
                    <a:p>
                      <a:pPr algn="ctr"/>
                      <a:r>
                        <a:rPr sz="1400" b="0" i="0">
                          <a:solidFill>
                            <a:srgbClr val="262626"/>
                          </a:solidFill>
                          <a:latin typeface="Arial"/>
                        </a:rPr>
                        <a:t>—</a:t>
                      </a:r>
                    </a:p>
                  </a:txBody>
                  <a:tcPr>
                    <a:solidFill>
                      <a:srgbClr val="F2F2F2"/>
                    </a:solidFill>
                  </a:tcPr>
                </a:tc>
                <a:tc>
                  <a:txBody>
                    <a:bodyPr/>
                    <a:lstStyle/>
                    <a:p>
                      <a:pPr algn="ctr"/>
                      <a:r>
                        <a:rPr sz="1400" b="0" i="0">
                          <a:solidFill>
                            <a:srgbClr val="262626"/>
                          </a:solidFill>
                          <a:latin typeface="Arial"/>
                        </a:rPr>
                        <a:t>—</a:t>
                      </a:r>
                    </a:p>
                  </a:txBody>
                  <a:tcPr>
                    <a:solidFill>
                      <a:srgbClr val="F2F2F2"/>
                    </a:solidFill>
                  </a:tcPr>
                </a:tc>
                <a:tc>
                  <a:txBody>
                    <a:bodyPr/>
                    <a:lstStyle/>
                    <a:p>
                      <a:pPr algn="ctr"/>
                      <a:r>
                        <a:rPr sz="1400" b="0" i="0">
                          <a:solidFill>
                            <a:srgbClr val="262626"/>
                          </a:solidFill>
                          <a:latin typeface="Arial"/>
                        </a:rPr>
                        <a:t>18.8</a:t>
                      </a:r>
                    </a:p>
                  </a:txBody>
                  <a:tcPr>
                    <a:solidFill>
                      <a:srgbClr val="F2F2F2"/>
                    </a:solidFill>
                  </a:tcPr>
                </a:tc>
                <a:tc>
                  <a:txBody>
                    <a:bodyPr/>
                    <a:lstStyle/>
                    <a:p>
                      <a:pPr algn="ctr"/>
                      <a:r>
                        <a:rPr sz="1400" b="0" i="0">
                          <a:solidFill>
                            <a:srgbClr val="262626"/>
                          </a:solidFill>
                          <a:latin typeface="Arial"/>
                        </a:rPr>
                        <a:t>—</a:t>
                      </a:r>
                    </a:p>
                  </a:txBody>
                  <a:tcPr>
                    <a:solidFill>
                      <a:srgbClr val="F2F2F2"/>
                    </a:solidFill>
                  </a:tcPr>
                </a:tc>
                <a:extLst>
                  <a:ext uri="{0D108BD9-81ED-4DB2-BD59-A6C34878D82A}">
                    <a16:rowId xmlns:a16="http://schemas.microsoft.com/office/drawing/2014/main" val="10004"/>
                  </a:ext>
                </a:extLst>
              </a:tr>
              <a:tr h="512064">
                <a:tc>
                  <a:txBody>
                    <a:bodyPr/>
                    <a:lstStyle/>
                    <a:p>
                      <a:pPr algn="ctr"/>
                      <a:r>
                        <a:rPr sz="1400" b="0" i="0">
                          <a:solidFill>
                            <a:srgbClr val="262626"/>
                          </a:solidFill>
                          <a:latin typeface="Arial"/>
                        </a:rPr>
                        <a:t>2024</a:t>
                      </a:r>
                    </a:p>
                  </a:txBody>
                  <a:tcPr>
                    <a:solidFill>
                      <a:srgbClr val="FFFFFF"/>
                    </a:solidFill>
                  </a:tcPr>
                </a:tc>
                <a:tc>
                  <a:txBody>
                    <a:bodyPr/>
                    <a:lstStyle/>
                    <a:p>
                      <a:pPr algn="ctr"/>
                      <a:r>
                        <a:rPr sz="1400" b="0" i="0">
                          <a:solidFill>
                            <a:srgbClr val="262626"/>
                          </a:solidFill>
                          <a:latin typeface="Arial"/>
                        </a:rPr>
                        <a:t>Aug 24</a:t>
                      </a:r>
                    </a:p>
                  </a:txBody>
                  <a:tcPr>
                    <a:solidFill>
                      <a:srgbClr val="FFFFFF"/>
                    </a:solidFill>
                  </a:tcPr>
                </a:tc>
                <a:tc>
                  <a:txBody>
                    <a:bodyPr/>
                    <a:lstStyle/>
                    <a:p>
                      <a:pPr algn="l"/>
                      <a:r>
                        <a:rPr sz="1200" b="0" i="0">
                          <a:solidFill>
                            <a:srgbClr val="262626"/>
                          </a:solidFill>
                          <a:latin typeface="Arial"/>
                        </a:rPr>
                        <a:t>Continental Cup *</a:t>
                      </a:r>
                    </a:p>
                  </a:txBody>
                  <a:tcPr>
                    <a:solidFill>
                      <a:srgbClr val="FFFFFF"/>
                    </a:solidFill>
                  </a:tcPr>
                </a:tc>
                <a:tc>
                  <a:txBody>
                    <a:bodyPr/>
                    <a:lstStyle/>
                    <a:p>
                      <a:pPr algn="ctr"/>
                      <a:r>
                        <a:rPr sz="1400" b="0" i="0">
                          <a:solidFill>
                            <a:srgbClr val="262626"/>
                          </a:solidFill>
                          <a:latin typeface="Arial"/>
                        </a:rPr>
                        <a:t>33</a:t>
                      </a:r>
                    </a:p>
                  </a:txBody>
                  <a:tcPr>
                    <a:solidFill>
                      <a:srgbClr val="FFFFFF"/>
                    </a:solidFill>
                  </a:tcPr>
                </a:tc>
                <a:tc>
                  <a:txBody>
                    <a:bodyPr/>
                    <a:lstStyle/>
                    <a:p>
                      <a:pPr algn="ctr"/>
                      <a:r>
                        <a:rPr sz="1400" b="0" i="0">
                          <a:solidFill>
                            <a:srgbClr val="262626"/>
                          </a:solidFill>
                          <a:latin typeface="Arial"/>
                        </a:rPr>
                        <a:t>3</a:t>
                      </a:r>
                    </a:p>
                  </a:txBody>
                  <a:tcPr>
                    <a:solidFill>
                      <a:srgbClr val="FFFFFF"/>
                    </a:solidFill>
                  </a:tcPr>
                </a:tc>
                <a:tc>
                  <a:txBody>
                    <a:bodyPr/>
                    <a:lstStyle/>
                    <a:p>
                      <a:pPr algn="l"/>
                      <a:r>
                        <a:rPr sz="1400" b="0" i="0">
                          <a:solidFill>
                            <a:srgbClr val="262626"/>
                          </a:solidFill>
                          <a:latin typeface="Arial"/>
                        </a:rPr>
                        <a:t>Russell</a:t>
                      </a:r>
                    </a:p>
                  </a:txBody>
                  <a:tcPr>
                    <a:solidFill>
                      <a:srgbClr val="FFFFFF"/>
                    </a:solidFill>
                  </a:tcPr>
                </a:tc>
                <a:tc>
                  <a:txBody>
                    <a:bodyPr/>
                    <a:lstStyle/>
                    <a:p>
                      <a:pPr algn="ctr"/>
                      <a:r>
                        <a:rPr sz="1400" b="0" i="0">
                          <a:solidFill>
                            <a:srgbClr val="262626"/>
                          </a:solidFill>
                          <a:latin typeface="Arial"/>
                        </a:rPr>
                        <a:t>56:04</a:t>
                      </a:r>
                    </a:p>
                  </a:txBody>
                  <a:tcPr>
                    <a:solidFill>
                      <a:srgbClr val="FFFFFF"/>
                    </a:solidFill>
                  </a:tcPr>
                </a:tc>
                <a:tc>
                  <a:txBody>
                    <a:bodyPr/>
                    <a:lstStyle/>
                    <a:p>
                      <a:pPr algn="ctr"/>
                      <a:r>
                        <a:rPr sz="1400" b="0" i="0">
                          <a:solidFill>
                            <a:srgbClr val="262626"/>
                          </a:solidFill>
                          <a:latin typeface="Arial"/>
                        </a:rPr>
                        <a:t>19.6</a:t>
                      </a:r>
                    </a:p>
                  </a:txBody>
                  <a:tcPr>
                    <a:solidFill>
                      <a:srgbClr val="FFFFFF"/>
                    </a:solidFill>
                  </a:tcPr>
                </a:tc>
                <a:tc>
                  <a:txBody>
                    <a:bodyPr/>
                    <a:lstStyle/>
                    <a:p>
                      <a:pPr algn="ctr"/>
                      <a:r>
                        <a:rPr sz="1400" b="0" i="0">
                          <a:solidFill>
                            <a:srgbClr val="262626"/>
                          </a:solidFill>
                          <a:latin typeface="Arial"/>
                        </a:rPr>
                        <a:t>—</a:t>
                      </a:r>
                    </a:p>
                  </a:txBody>
                  <a:tcPr>
                    <a:solidFill>
                      <a:srgbClr val="FFFFFF"/>
                    </a:solidFill>
                  </a:tcPr>
                </a:tc>
                <a:tc>
                  <a:txBody>
                    <a:bodyPr/>
                    <a:lstStyle/>
                    <a:p>
                      <a:pPr algn="ctr"/>
                      <a:r>
                        <a:rPr sz="1400" b="0" i="0">
                          <a:solidFill>
                            <a:srgbClr val="262626"/>
                          </a:solidFill>
                          <a:latin typeface="Arial"/>
                        </a:rPr>
                        <a:t>—</a:t>
                      </a:r>
                    </a:p>
                  </a:txBody>
                  <a:tcPr>
                    <a:solidFill>
                      <a:srgbClr val="FFFFFF"/>
                    </a:solidFill>
                  </a:tcPr>
                </a:tc>
                <a:tc>
                  <a:txBody>
                    <a:bodyPr/>
                    <a:lstStyle/>
                    <a:p>
                      <a:pPr algn="ctr"/>
                      <a:r>
                        <a:rPr sz="1400" b="0" i="0">
                          <a:solidFill>
                            <a:srgbClr val="262626"/>
                          </a:solidFill>
                          <a:latin typeface="Arial"/>
                        </a:rPr>
                        <a:t>20.0</a:t>
                      </a:r>
                    </a:p>
                  </a:txBody>
                  <a:tcPr>
                    <a:solidFill>
                      <a:srgbClr val="FFFFFF"/>
                    </a:solidFill>
                  </a:tcPr>
                </a:tc>
                <a:tc>
                  <a:txBody>
                    <a:bodyPr/>
                    <a:lstStyle/>
                    <a:p>
                      <a:pPr algn="ctr"/>
                      <a:r>
                        <a:rPr sz="1400" b="0" i="0">
                          <a:solidFill>
                            <a:srgbClr val="262626"/>
                          </a:solidFill>
                          <a:latin typeface="Arial"/>
                        </a:rPr>
                        <a:t>—</a:t>
                      </a:r>
                    </a:p>
                  </a:txBody>
                  <a:tcPr>
                    <a:solidFill>
                      <a:srgbClr val="FFFFFF"/>
                    </a:solidFill>
                  </a:tcPr>
                </a:tc>
                <a:extLst>
                  <a:ext uri="{0D108BD9-81ED-4DB2-BD59-A6C34878D82A}">
                    <a16:rowId xmlns:a16="http://schemas.microsoft.com/office/drawing/2014/main" val="10005"/>
                  </a:ext>
                </a:extLst>
              </a:tr>
            </a:tbl>
          </a:graphicData>
        </a:graphic>
      </p:graphicFrame>
      <p:sp>
        <p:nvSpPr>
          <p:cNvPr id="9" name="TextBox 8"/>
          <p:cNvSpPr txBox="1"/>
          <p:nvPr/>
        </p:nvSpPr>
        <p:spPr>
          <a:xfrm>
            <a:off x="274320" y="6492240"/>
            <a:ext cx="5486400" cy="256032"/>
          </a:xfrm>
          <a:prstGeom prst="rect">
            <a:avLst/>
          </a:prstGeom>
          <a:noFill/>
        </p:spPr>
        <p:txBody>
          <a:bodyPr wrap="square">
            <a:spAutoFit/>
          </a:bodyPr>
          <a:lstStyle/>
          <a:p>
            <a:pPr algn="l"/>
            <a:r>
              <a:rPr sz="800" b="0" i="1">
                <a:solidFill>
                  <a:srgbClr val="BFBFBF"/>
                </a:solidFill>
                <a:latin typeface="Arial"/>
              </a:rPr>
              <a:t>* Course distance changed vs. prior year</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Swim Exit Dynamics  —  Elite Women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Edmonton</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image.png"/>
          <p:cNvPicPr>
            <a:picLocks noChangeAspect="1"/>
          </p:cNvPicPr>
          <p:nvPr/>
        </p:nvPicPr>
        <p:blipFill>
          <a:blip r:embed="rId3"/>
          <a:stretch>
            <a:fillRect/>
          </a:stretch>
        </p:blipFill>
        <p:spPr>
          <a:xfrm>
            <a:off x="274320" y="1143000"/>
            <a:ext cx="11640312" cy="539496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Bike Pack Evolution  —  Elite Women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Edmonton</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74320" y="1078992"/>
            <a:ext cx="11640312" cy="347472"/>
          </a:xfrm>
          <a:prstGeom prst="rect">
            <a:avLst/>
          </a:prstGeom>
          <a:noFill/>
        </p:spPr>
        <p:txBody>
          <a:bodyPr wrap="square">
            <a:spAutoFit/>
          </a:bodyPr>
          <a:lstStyle/>
          <a:p>
            <a:pPr algn="ctr"/>
            <a:r>
              <a:rPr sz="1050" b="0" i="1">
                <a:solidFill>
                  <a:srgbClr val="262626"/>
                </a:solidFill>
                <a:latin typeface="Arial"/>
              </a:rPr>
              <a:t>Lead pack = athletes within 15 sec of leader. T1 = lead group entering the bike; T2 = lead group exiting the bike.</a:t>
            </a:r>
          </a:p>
        </p:txBody>
      </p:sp>
      <p:pic>
        <p:nvPicPr>
          <p:cNvPr id="9" name="Picture 8" descr="image.png"/>
          <p:cNvPicPr>
            <a:picLocks noChangeAspect="1"/>
          </p:cNvPicPr>
          <p:nvPr/>
        </p:nvPicPr>
        <p:blipFill>
          <a:blip r:embed="rId3"/>
          <a:stretch>
            <a:fillRect/>
          </a:stretch>
        </p:blipFill>
        <p:spPr>
          <a:xfrm>
            <a:off x="274320" y="1481328"/>
            <a:ext cx="11640312" cy="3749039"/>
          </a:xfrm>
          <a:prstGeom prst="rect">
            <a:avLst/>
          </a:prstGeom>
        </p:spPr>
      </p:pic>
      <p:graphicFrame>
        <p:nvGraphicFramePr>
          <p:cNvPr id="10" name="Table 9"/>
          <p:cNvGraphicFramePr>
            <a:graphicFrameLocks noGrp="1"/>
          </p:cNvGraphicFramePr>
          <p:nvPr/>
        </p:nvGraphicFramePr>
        <p:xfrm>
          <a:off x="274320" y="5285232"/>
          <a:ext cx="11640311" cy="1417320"/>
        </p:xfrm>
        <a:graphic>
          <a:graphicData uri="http://schemas.openxmlformats.org/drawingml/2006/table">
            <a:tbl>
              <a:tblPr firstRow="1" bandRow="1">
                <a:tableStyleId>{5C22544A-7EE6-4342-B048-85BDC9FD1C3A}</a:tableStyleId>
              </a:tblPr>
              <a:tblGrid>
                <a:gridCol w="685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2286000">
                  <a:extLst>
                    <a:ext uri="{9D8B030D-6E8A-4147-A177-3AD203B41FA5}">
                      <a16:colId xmlns:a16="http://schemas.microsoft.com/office/drawing/2014/main" val="20004"/>
                    </a:ext>
                  </a:extLst>
                </a:gridCol>
                <a:gridCol w="3822191">
                  <a:extLst>
                    <a:ext uri="{9D8B030D-6E8A-4147-A177-3AD203B41FA5}">
                      <a16:colId xmlns:a16="http://schemas.microsoft.com/office/drawing/2014/main" val="20005"/>
                    </a:ext>
                  </a:extLst>
                </a:gridCol>
              </a:tblGrid>
              <a:tr h="236220">
                <a:tc>
                  <a:txBody>
                    <a:bodyPr/>
                    <a:lstStyle/>
                    <a:p>
                      <a:pPr algn="ctr"/>
                      <a:r>
                        <a:rPr sz="1000" b="1" i="0">
                          <a:solidFill>
                            <a:srgbClr val="FFFFFF"/>
                          </a:solidFill>
                          <a:latin typeface="Arial"/>
                        </a:rPr>
                        <a:t>Year</a:t>
                      </a:r>
                    </a:p>
                  </a:txBody>
                  <a:tcPr>
                    <a:solidFill>
                      <a:srgbClr val="002060"/>
                    </a:solidFill>
                  </a:tcPr>
                </a:tc>
                <a:tc>
                  <a:txBody>
                    <a:bodyPr/>
                    <a:lstStyle/>
                    <a:p>
                      <a:pPr algn="ctr"/>
                      <a:r>
                        <a:rPr sz="1000" b="1" i="0">
                          <a:solidFill>
                            <a:srgbClr val="FFFFFF"/>
                          </a:solidFill>
                          <a:latin typeface="Arial"/>
                        </a:rPr>
                        <a:t>Lead Size @ T1</a:t>
                      </a:r>
                    </a:p>
                  </a:txBody>
                  <a:tcPr>
                    <a:solidFill>
                      <a:srgbClr val="002060"/>
                    </a:solidFill>
                  </a:tcPr>
                </a:tc>
                <a:tc>
                  <a:txBody>
                    <a:bodyPr/>
                    <a:lstStyle/>
                    <a:p>
                      <a:pPr algn="ctr"/>
                      <a:r>
                        <a:rPr sz="1000" b="1" i="0">
                          <a:solidFill>
                            <a:srgbClr val="FFFFFF"/>
                          </a:solidFill>
                          <a:latin typeface="Arial"/>
                        </a:rPr>
                        <a:t>Lead Size @ T2</a:t>
                      </a:r>
                    </a:p>
                  </a:txBody>
                  <a:tcPr>
                    <a:solidFill>
                      <a:srgbClr val="002060"/>
                    </a:solidFill>
                  </a:tcPr>
                </a:tc>
                <a:tc>
                  <a:txBody>
                    <a:bodyPr/>
                    <a:lstStyle/>
                    <a:p>
                      <a:pPr algn="ctr"/>
                      <a:r>
                        <a:rPr sz="1000" b="1" i="0">
                          <a:solidFill>
                            <a:srgbClr val="FFFFFF"/>
                          </a:solidFill>
                          <a:latin typeface="Arial"/>
                        </a:rPr>
                        <a:t>Change</a:t>
                      </a:r>
                    </a:p>
                  </a:txBody>
                  <a:tcPr>
                    <a:solidFill>
                      <a:srgbClr val="002060"/>
                    </a:solidFill>
                  </a:tcPr>
                </a:tc>
                <a:tc>
                  <a:txBody>
                    <a:bodyPr/>
                    <a:lstStyle/>
                    <a:p>
                      <a:pPr algn="ctr"/>
                      <a:r>
                        <a:rPr sz="1000" b="1" i="0">
                          <a:solidFill>
                            <a:srgbClr val="FFFFFF"/>
                          </a:solidFill>
                          <a:latin typeface="Arial"/>
                        </a:rPr>
                        <a:t>Chase Group @ T2</a:t>
                      </a:r>
                    </a:p>
                  </a:txBody>
                  <a:tcPr>
                    <a:solidFill>
                      <a:srgbClr val="002060"/>
                    </a:solidFill>
                  </a:tcPr>
                </a:tc>
                <a:tc>
                  <a:txBody>
                    <a:bodyPr/>
                    <a:lstStyle/>
                    <a:p>
                      <a:pPr algn="ctr"/>
                      <a:r>
                        <a:rPr sz="1000" b="1" i="0">
                          <a:solidFill>
                            <a:srgbClr val="FFFFFF"/>
                          </a:solidFill>
                          <a:latin typeface="Arial"/>
                        </a:rPr>
                        <a:t>Chase Gap*</a:t>
                      </a:r>
                    </a:p>
                  </a:txBody>
                  <a:tcPr>
                    <a:solidFill>
                      <a:srgbClr val="002060"/>
                    </a:solidFill>
                  </a:tcPr>
                </a:tc>
                <a:extLst>
                  <a:ext uri="{0D108BD9-81ED-4DB2-BD59-A6C34878D82A}">
                    <a16:rowId xmlns:a16="http://schemas.microsoft.com/office/drawing/2014/main" val="10000"/>
                  </a:ext>
                </a:extLst>
              </a:tr>
              <a:tr h="236220">
                <a:tc>
                  <a:txBody>
                    <a:bodyPr/>
                    <a:lstStyle/>
                    <a:p>
                      <a:pPr algn="ctr"/>
                      <a:r>
                        <a:rPr sz="950" b="0" i="0">
                          <a:solidFill>
                            <a:srgbClr val="262626"/>
                          </a:solidFill>
                          <a:latin typeface="Arial"/>
                        </a:rPr>
                        <a:t>2018</a:t>
                      </a:r>
                    </a:p>
                  </a:txBody>
                  <a:tcPr>
                    <a:solidFill>
                      <a:srgbClr val="FFFFFF"/>
                    </a:solidFill>
                  </a:tcPr>
                </a:tc>
                <a:tc>
                  <a:txBody>
                    <a:bodyPr/>
                    <a:lstStyle/>
                    <a:p>
                      <a:pPr algn="ctr"/>
                      <a:r>
                        <a:rPr sz="950" b="0" i="0">
                          <a:solidFill>
                            <a:srgbClr val="262626"/>
                          </a:solidFill>
                          <a:latin typeface="Arial"/>
                        </a:rPr>
                        <a:t>14</a:t>
                      </a:r>
                    </a:p>
                  </a:txBody>
                  <a:tcPr>
                    <a:solidFill>
                      <a:srgbClr val="FFFFFF"/>
                    </a:solidFill>
                  </a:tcPr>
                </a:tc>
                <a:tc>
                  <a:txBody>
                    <a:bodyPr/>
                    <a:lstStyle/>
                    <a:p>
                      <a:pPr algn="ctr"/>
                      <a:r>
                        <a:rPr sz="950" b="0" i="0">
                          <a:solidFill>
                            <a:srgbClr val="262626"/>
                          </a:solidFill>
                          <a:latin typeface="Arial"/>
                        </a:rPr>
                        <a:t>19</a:t>
                      </a:r>
                    </a:p>
                  </a:txBody>
                  <a:tcPr>
                    <a:solidFill>
                      <a:srgbClr val="FFFFFF"/>
                    </a:solidFill>
                  </a:tcPr>
                </a:tc>
                <a:tc>
                  <a:txBody>
                    <a:bodyPr/>
                    <a:lstStyle/>
                    <a:p>
                      <a:pPr algn="ctr"/>
                      <a:r>
                        <a:rPr sz="950" b="0" i="0">
                          <a:solidFill>
                            <a:srgbClr val="262626"/>
                          </a:solidFill>
                          <a:latin typeface="Arial"/>
                        </a:rPr>
                        <a:t>+5</a:t>
                      </a:r>
                    </a:p>
                  </a:txBody>
                  <a:tcPr>
                    <a:solidFill>
                      <a:srgbClr val="FFFFFF"/>
                    </a:solidFill>
                  </a:tcPr>
                </a:tc>
                <a:tc>
                  <a:txBody>
                    <a:bodyPr/>
                    <a:lstStyle/>
                    <a:p>
                      <a:pPr algn="ctr"/>
                      <a:r>
                        <a:rPr sz="950" b="0" i="0">
                          <a:solidFill>
                            <a:srgbClr val="262626"/>
                          </a:solidFill>
                          <a:latin typeface="Arial"/>
                        </a:rPr>
                        <a:t>6</a:t>
                      </a:r>
                    </a:p>
                  </a:txBody>
                  <a:tcPr>
                    <a:solidFill>
                      <a:srgbClr val="FFFFFF"/>
                    </a:solidFill>
                  </a:tcPr>
                </a:tc>
                <a:tc>
                  <a:txBody>
                    <a:bodyPr/>
                    <a:lstStyle/>
                    <a:p>
                      <a:pPr algn="ctr"/>
                      <a:r>
                        <a:rPr sz="950" b="0" i="0">
                          <a:solidFill>
                            <a:srgbClr val="262626"/>
                          </a:solidFill>
                          <a:latin typeface="Arial"/>
                        </a:rPr>
                        <a:t>86s</a:t>
                      </a:r>
                    </a:p>
                  </a:txBody>
                  <a:tcPr>
                    <a:solidFill>
                      <a:srgbClr val="FFFFFF"/>
                    </a:solidFill>
                  </a:tcPr>
                </a:tc>
                <a:extLst>
                  <a:ext uri="{0D108BD9-81ED-4DB2-BD59-A6C34878D82A}">
                    <a16:rowId xmlns:a16="http://schemas.microsoft.com/office/drawing/2014/main" val="10001"/>
                  </a:ext>
                </a:extLst>
              </a:tr>
              <a:tr h="236220">
                <a:tc>
                  <a:txBody>
                    <a:bodyPr/>
                    <a:lstStyle/>
                    <a:p>
                      <a:pPr algn="ctr"/>
                      <a:r>
                        <a:rPr sz="950" b="0" i="0">
                          <a:solidFill>
                            <a:srgbClr val="262626"/>
                          </a:solidFill>
                          <a:latin typeface="Arial"/>
                        </a:rPr>
                        <a:t>2019</a:t>
                      </a:r>
                    </a:p>
                  </a:txBody>
                  <a:tcPr>
                    <a:solidFill>
                      <a:srgbClr val="F2F2F2"/>
                    </a:solidFill>
                  </a:tcPr>
                </a:tc>
                <a:tc>
                  <a:txBody>
                    <a:bodyPr/>
                    <a:lstStyle/>
                    <a:p>
                      <a:pPr algn="ctr"/>
                      <a:r>
                        <a:rPr sz="950" b="0" i="0">
                          <a:solidFill>
                            <a:srgbClr val="262626"/>
                          </a:solidFill>
                          <a:latin typeface="Arial"/>
                        </a:rPr>
                        <a:t>11</a:t>
                      </a:r>
                    </a:p>
                  </a:txBody>
                  <a:tcPr>
                    <a:solidFill>
                      <a:srgbClr val="F2F2F2"/>
                    </a:solidFill>
                  </a:tcPr>
                </a:tc>
                <a:tc>
                  <a:txBody>
                    <a:bodyPr/>
                    <a:lstStyle/>
                    <a:p>
                      <a:pPr algn="ctr"/>
                      <a:r>
                        <a:rPr sz="950" b="0" i="0">
                          <a:solidFill>
                            <a:srgbClr val="262626"/>
                          </a:solidFill>
                          <a:latin typeface="Arial"/>
                        </a:rPr>
                        <a:t>17</a:t>
                      </a:r>
                    </a:p>
                  </a:txBody>
                  <a:tcPr>
                    <a:solidFill>
                      <a:srgbClr val="F2F2F2"/>
                    </a:solidFill>
                  </a:tcPr>
                </a:tc>
                <a:tc>
                  <a:txBody>
                    <a:bodyPr/>
                    <a:lstStyle/>
                    <a:p>
                      <a:pPr algn="ctr"/>
                      <a:r>
                        <a:rPr sz="950" b="0" i="0">
                          <a:solidFill>
                            <a:srgbClr val="262626"/>
                          </a:solidFill>
                          <a:latin typeface="Arial"/>
                        </a:rPr>
                        <a:t>+6</a:t>
                      </a:r>
                    </a:p>
                  </a:txBody>
                  <a:tcPr>
                    <a:solidFill>
                      <a:srgbClr val="F2F2F2"/>
                    </a:solidFill>
                  </a:tcPr>
                </a:tc>
                <a:tc>
                  <a:txBody>
                    <a:bodyPr/>
                    <a:lstStyle/>
                    <a:p>
                      <a:pPr algn="ctr"/>
                      <a:r>
                        <a:rPr sz="950" b="0" i="0">
                          <a:solidFill>
                            <a:srgbClr val="262626"/>
                          </a:solidFill>
                          <a:latin typeface="Arial"/>
                        </a:rPr>
                        <a:t>11</a:t>
                      </a:r>
                    </a:p>
                  </a:txBody>
                  <a:tcPr>
                    <a:solidFill>
                      <a:srgbClr val="F2F2F2"/>
                    </a:solidFill>
                  </a:tcPr>
                </a:tc>
                <a:tc>
                  <a:txBody>
                    <a:bodyPr/>
                    <a:lstStyle/>
                    <a:p>
                      <a:pPr algn="ctr"/>
                      <a:r>
                        <a:rPr sz="950" b="0" i="0">
                          <a:solidFill>
                            <a:srgbClr val="262626"/>
                          </a:solidFill>
                          <a:latin typeface="Arial"/>
                        </a:rPr>
                        <a:t>31s</a:t>
                      </a:r>
                    </a:p>
                  </a:txBody>
                  <a:tcPr>
                    <a:solidFill>
                      <a:srgbClr val="F2F2F2"/>
                    </a:solidFill>
                  </a:tcPr>
                </a:tc>
                <a:extLst>
                  <a:ext uri="{0D108BD9-81ED-4DB2-BD59-A6C34878D82A}">
                    <a16:rowId xmlns:a16="http://schemas.microsoft.com/office/drawing/2014/main" val="10002"/>
                  </a:ext>
                </a:extLst>
              </a:tr>
              <a:tr h="236220">
                <a:tc>
                  <a:txBody>
                    <a:bodyPr/>
                    <a:lstStyle/>
                    <a:p>
                      <a:pPr algn="ctr"/>
                      <a:r>
                        <a:rPr sz="950" b="0" i="0">
                          <a:solidFill>
                            <a:srgbClr val="262626"/>
                          </a:solidFill>
                          <a:latin typeface="Arial"/>
                        </a:rPr>
                        <a:t>2021</a:t>
                      </a:r>
                    </a:p>
                  </a:txBody>
                  <a:tcPr>
                    <a:solidFill>
                      <a:srgbClr val="FFFFFF"/>
                    </a:solidFill>
                  </a:tcPr>
                </a:tc>
                <a:tc>
                  <a:txBody>
                    <a:bodyPr/>
                    <a:lstStyle/>
                    <a:p>
                      <a:pPr algn="ctr"/>
                      <a:r>
                        <a:rPr sz="950" b="0" i="0">
                          <a:solidFill>
                            <a:srgbClr val="262626"/>
                          </a:solidFill>
                          <a:latin typeface="Arial"/>
                        </a:rPr>
                        <a:t>10</a:t>
                      </a:r>
                    </a:p>
                  </a:txBody>
                  <a:tcPr>
                    <a:solidFill>
                      <a:srgbClr val="FFFFFF"/>
                    </a:solidFill>
                  </a:tcPr>
                </a:tc>
                <a:tc>
                  <a:txBody>
                    <a:bodyPr/>
                    <a:lstStyle/>
                    <a:p>
                      <a:pPr algn="ctr"/>
                      <a:r>
                        <a:rPr sz="950" b="0" i="0">
                          <a:solidFill>
                            <a:srgbClr val="262626"/>
                          </a:solidFill>
                          <a:latin typeface="Arial"/>
                        </a:rPr>
                        <a:t>1</a:t>
                      </a:r>
                    </a:p>
                  </a:txBody>
                  <a:tcPr>
                    <a:solidFill>
                      <a:srgbClr val="FFFFFF"/>
                    </a:solidFill>
                  </a:tcPr>
                </a:tc>
                <a:tc>
                  <a:txBody>
                    <a:bodyPr/>
                    <a:lstStyle/>
                    <a:p>
                      <a:pPr algn="ctr"/>
                      <a:r>
                        <a:rPr sz="950" b="0" i="0">
                          <a:solidFill>
                            <a:srgbClr val="262626"/>
                          </a:solidFill>
                          <a:latin typeface="Arial"/>
                        </a:rPr>
                        <a:t>-9</a:t>
                      </a:r>
                    </a:p>
                  </a:txBody>
                  <a:tcPr>
                    <a:solidFill>
                      <a:srgbClr val="FFFFFF"/>
                    </a:solidFill>
                  </a:tcPr>
                </a:tc>
                <a:tc>
                  <a:txBody>
                    <a:bodyPr/>
                    <a:lstStyle/>
                    <a:p>
                      <a:pPr algn="ctr"/>
                      <a:r>
                        <a:rPr sz="950" b="0" i="0">
                          <a:solidFill>
                            <a:srgbClr val="262626"/>
                          </a:solidFill>
                          <a:latin typeface="Arial"/>
                        </a:rPr>
                        <a:t>10</a:t>
                      </a:r>
                    </a:p>
                  </a:txBody>
                  <a:tcPr>
                    <a:solidFill>
                      <a:srgbClr val="FFFFFF"/>
                    </a:solidFill>
                  </a:tcPr>
                </a:tc>
                <a:tc>
                  <a:txBody>
                    <a:bodyPr/>
                    <a:lstStyle/>
                    <a:p>
                      <a:pPr algn="ctr"/>
                      <a:r>
                        <a:rPr sz="950" b="0" i="0">
                          <a:solidFill>
                            <a:srgbClr val="262626"/>
                          </a:solidFill>
                          <a:latin typeface="Arial"/>
                        </a:rPr>
                        <a:t>169s</a:t>
                      </a:r>
                    </a:p>
                  </a:txBody>
                  <a:tcPr>
                    <a:solidFill>
                      <a:srgbClr val="FFFFFF"/>
                    </a:solidFill>
                  </a:tcPr>
                </a:tc>
                <a:extLst>
                  <a:ext uri="{0D108BD9-81ED-4DB2-BD59-A6C34878D82A}">
                    <a16:rowId xmlns:a16="http://schemas.microsoft.com/office/drawing/2014/main" val="10003"/>
                  </a:ext>
                </a:extLst>
              </a:tr>
              <a:tr h="236220">
                <a:tc>
                  <a:txBody>
                    <a:bodyPr/>
                    <a:lstStyle/>
                    <a:p>
                      <a:pPr algn="ctr"/>
                      <a:r>
                        <a:rPr sz="950" b="0" i="0">
                          <a:solidFill>
                            <a:srgbClr val="262626"/>
                          </a:solidFill>
                          <a:latin typeface="Arial"/>
                        </a:rPr>
                        <a:t>2023</a:t>
                      </a:r>
                    </a:p>
                  </a:txBody>
                  <a:tcPr>
                    <a:solidFill>
                      <a:srgbClr val="F2F2F2"/>
                    </a:solidFill>
                  </a:tcPr>
                </a:tc>
                <a:tc>
                  <a:txBody>
                    <a:bodyPr/>
                    <a:lstStyle/>
                    <a:p>
                      <a:pPr algn="ctr"/>
                      <a:r>
                        <a:rPr sz="950" b="0" i="0">
                          <a:solidFill>
                            <a:srgbClr val="262626"/>
                          </a:solidFill>
                          <a:latin typeface="Arial"/>
                        </a:rPr>
                        <a:t>11</a:t>
                      </a:r>
                    </a:p>
                  </a:txBody>
                  <a:tcPr>
                    <a:solidFill>
                      <a:srgbClr val="F2F2F2"/>
                    </a:solidFill>
                  </a:tcPr>
                </a:tc>
                <a:tc>
                  <a:txBody>
                    <a:bodyPr/>
                    <a:lstStyle/>
                    <a:p>
                      <a:pPr algn="ctr"/>
                      <a:r>
                        <a:rPr sz="950" b="0" i="0">
                          <a:solidFill>
                            <a:srgbClr val="262626"/>
                          </a:solidFill>
                          <a:latin typeface="Arial"/>
                        </a:rPr>
                        <a:t>8</a:t>
                      </a:r>
                    </a:p>
                  </a:txBody>
                  <a:tcPr>
                    <a:solidFill>
                      <a:srgbClr val="F2F2F2"/>
                    </a:solidFill>
                  </a:tcPr>
                </a:tc>
                <a:tc>
                  <a:txBody>
                    <a:bodyPr/>
                    <a:lstStyle/>
                    <a:p>
                      <a:pPr algn="ctr"/>
                      <a:r>
                        <a:rPr sz="950" b="0" i="0">
                          <a:solidFill>
                            <a:srgbClr val="262626"/>
                          </a:solidFill>
                          <a:latin typeface="Arial"/>
                        </a:rPr>
                        <a:t>-3</a:t>
                      </a:r>
                    </a:p>
                  </a:txBody>
                  <a:tcPr>
                    <a:solidFill>
                      <a:srgbClr val="F2F2F2"/>
                    </a:solidFill>
                  </a:tcPr>
                </a:tc>
                <a:tc>
                  <a:txBody>
                    <a:bodyPr/>
                    <a:lstStyle/>
                    <a:p>
                      <a:pPr algn="ctr"/>
                      <a:r>
                        <a:rPr sz="950" b="0" i="0">
                          <a:solidFill>
                            <a:srgbClr val="262626"/>
                          </a:solidFill>
                          <a:latin typeface="Arial"/>
                        </a:rPr>
                        <a:t>3</a:t>
                      </a:r>
                    </a:p>
                  </a:txBody>
                  <a:tcPr>
                    <a:solidFill>
                      <a:srgbClr val="F2F2F2"/>
                    </a:solidFill>
                  </a:tcPr>
                </a:tc>
                <a:tc>
                  <a:txBody>
                    <a:bodyPr/>
                    <a:lstStyle/>
                    <a:p>
                      <a:pPr algn="ctr"/>
                      <a:r>
                        <a:rPr sz="950" b="0" i="0">
                          <a:solidFill>
                            <a:srgbClr val="262626"/>
                          </a:solidFill>
                          <a:latin typeface="Arial"/>
                        </a:rPr>
                        <a:t>95s</a:t>
                      </a:r>
                    </a:p>
                  </a:txBody>
                  <a:tcPr>
                    <a:solidFill>
                      <a:srgbClr val="F2F2F2"/>
                    </a:solidFill>
                  </a:tcPr>
                </a:tc>
                <a:extLst>
                  <a:ext uri="{0D108BD9-81ED-4DB2-BD59-A6C34878D82A}">
                    <a16:rowId xmlns:a16="http://schemas.microsoft.com/office/drawing/2014/main" val="10004"/>
                  </a:ext>
                </a:extLst>
              </a:tr>
              <a:tr h="236220">
                <a:tc>
                  <a:txBody>
                    <a:bodyPr/>
                    <a:lstStyle/>
                    <a:p>
                      <a:pPr algn="ctr"/>
                      <a:r>
                        <a:rPr sz="950" b="0" i="0">
                          <a:solidFill>
                            <a:srgbClr val="262626"/>
                          </a:solidFill>
                          <a:latin typeface="Arial"/>
                        </a:rPr>
                        <a:t>2024</a:t>
                      </a:r>
                    </a:p>
                  </a:txBody>
                  <a:tcPr>
                    <a:solidFill>
                      <a:srgbClr val="FFFFFF"/>
                    </a:solidFill>
                  </a:tcPr>
                </a:tc>
                <a:tc>
                  <a:txBody>
                    <a:bodyPr/>
                    <a:lstStyle/>
                    <a:p>
                      <a:pPr algn="ctr"/>
                      <a:r>
                        <a:rPr sz="950" b="0" i="0">
                          <a:solidFill>
                            <a:srgbClr val="262626"/>
                          </a:solidFill>
                          <a:latin typeface="Arial"/>
                        </a:rPr>
                        <a:t>5</a:t>
                      </a:r>
                    </a:p>
                  </a:txBody>
                  <a:tcPr>
                    <a:solidFill>
                      <a:srgbClr val="FFFFFF"/>
                    </a:solidFill>
                  </a:tcPr>
                </a:tc>
                <a:tc>
                  <a:txBody>
                    <a:bodyPr/>
                    <a:lstStyle/>
                    <a:p>
                      <a:pPr algn="ctr"/>
                      <a:r>
                        <a:rPr sz="950" b="0" i="0">
                          <a:solidFill>
                            <a:srgbClr val="262626"/>
                          </a:solidFill>
                          <a:latin typeface="Arial"/>
                        </a:rPr>
                        <a:t>10</a:t>
                      </a:r>
                    </a:p>
                  </a:txBody>
                  <a:tcPr>
                    <a:solidFill>
                      <a:srgbClr val="FFFFFF"/>
                    </a:solidFill>
                  </a:tcPr>
                </a:tc>
                <a:tc>
                  <a:txBody>
                    <a:bodyPr/>
                    <a:lstStyle/>
                    <a:p>
                      <a:pPr algn="ctr"/>
                      <a:r>
                        <a:rPr sz="950" b="0" i="0">
                          <a:solidFill>
                            <a:srgbClr val="262626"/>
                          </a:solidFill>
                          <a:latin typeface="Arial"/>
                        </a:rPr>
                        <a:t>+5</a:t>
                      </a:r>
                    </a:p>
                  </a:txBody>
                  <a:tcPr>
                    <a:solidFill>
                      <a:srgbClr val="FFFFFF"/>
                    </a:solidFill>
                  </a:tcPr>
                </a:tc>
                <a:tc>
                  <a:txBody>
                    <a:bodyPr/>
                    <a:lstStyle/>
                    <a:p>
                      <a:pPr algn="ctr"/>
                      <a:r>
                        <a:rPr sz="950" b="0" i="0">
                          <a:solidFill>
                            <a:srgbClr val="262626"/>
                          </a:solidFill>
                          <a:latin typeface="Arial"/>
                        </a:rPr>
                        <a:t>11</a:t>
                      </a:r>
                    </a:p>
                  </a:txBody>
                  <a:tcPr>
                    <a:solidFill>
                      <a:srgbClr val="FFFFFF"/>
                    </a:solidFill>
                  </a:tcPr>
                </a:tc>
                <a:tc>
                  <a:txBody>
                    <a:bodyPr/>
                    <a:lstStyle/>
                    <a:p>
                      <a:pPr algn="ctr"/>
                      <a:r>
                        <a:rPr sz="950" b="0" i="0">
                          <a:solidFill>
                            <a:srgbClr val="262626"/>
                          </a:solidFill>
                          <a:latin typeface="Arial"/>
                        </a:rPr>
                        <a:t>66s</a:t>
                      </a:r>
                    </a:p>
                  </a:txBody>
                  <a:tcPr>
                    <a:solidFill>
                      <a:srgbClr val="FFFFFF"/>
                    </a:solidFill>
                  </a:tcPr>
                </a:tc>
                <a:extLst>
                  <a:ext uri="{0D108BD9-81ED-4DB2-BD59-A6C34878D82A}">
                    <a16:rowId xmlns:a16="http://schemas.microsoft.com/office/drawing/2014/main" val="10005"/>
                  </a:ext>
                </a:extLst>
              </a:tr>
            </a:tbl>
          </a:graphicData>
        </a:graphic>
      </p:graphicFrame>
      <p:sp>
        <p:nvSpPr>
          <p:cNvPr id="11" name="TextBox 10"/>
          <p:cNvSpPr txBox="1"/>
          <p:nvPr/>
        </p:nvSpPr>
        <p:spPr>
          <a:xfrm>
            <a:off x="274320" y="6565392"/>
            <a:ext cx="11640312" cy="201168"/>
          </a:xfrm>
          <a:prstGeom prst="rect">
            <a:avLst/>
          </a:prstGeom>
          <a:noFill/>
        </p:spPr>
        <p:txBody>
          <a:bodyPr wrap="square">
            <a:spAutoFit/>
          </a:bodyPr>
          <a:lstStyle/>
          <a:p>
            <a:pPr algn="l"/>
            <a:r>
              <a:rPr sz="800" b="0" i="1">
                <a:solidFill>
                  <a:srgbClr val="BFBFBF"/>
                </a:solidFill>
                <a:latin typeface="Arial"/>
              </a:rPr>
              <a:t>Lead pack = athletes within 15 sec of leader. Chase group = athletes within 15 sec of the first athlete outside the lead pack. * Chase Gap = seconds from the last lead-pack athlete to the first chase-group athlete at T2.</a:t>
            </a:r>
          </a:p>
        </p:txBody>
      </p:sp>
      <p:sp>
        <p:nvSpPr>
          <p:cNvPr id="12" name="TextBox 11"/>
          <p:cNvSpPr txBox="1"/>
          <p:nvPr/>
        </p:nvSpPr>
        <p:spPr>
          <a:xfrm>
            <a:off x="274320" y="6720840"/>
            <a:ext cx="11640312" cy="164592"/>
          </a:xfrm>
          <a:prstGeom prst="rect">
            <a:avLst/>
          </a:prstGeom>
          <a:noFill/>
        </p:spPr>
        <p:txBody>
          <a:bodyPr wrap="square">
            <a:spAutoFit/>
          </a:bodyPr>
          <a:lstStyle/>
          <a:p>
            <a:pPr algn="l"/>
            <a:r>
              <a:rPr sz="750" b="0" i="1">
                <a:solidFill>
                  <a:srgbClr val="BFBFBF"/>
                </a:solidFill>
                <a:latin typeface="Arial"/>
              </a:rPr>
              <a:t>Dropouts: 2018: 13 DNF/LAP (1 in lead group at t1)  |  2019: 3 DNF/LAP (1 in lead group at bike)  |  2021: 5 DNF/LAP  |  2023: 3 DNF/LAP (2 in lead group at swim, t1)  |  2024: 1 DNF/LAP</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Run Split Analysis  —  Elite Women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Edmonton</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image.png"/>
          <p:cNvPicPr>
            <a:picLocks noChangeAspect="1"/>
          </p:cNvPicPr>
          <p:nvPr/>
        </p:nvPicPr>
        <p:blipFill>
          <a:blip r:embed="rId3"/>
          <a:stretch>
            <a:fillRect/>
          </a:stretch>
        </p:blipFill>
        <p:spPr>
          <a:xfrm>
            <a:off x="457200" y="1115568"/>
            <a:ext cx="11247120" cy="544068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Key Position Times  —  Elite Women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Edmonton</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image.png"/>
          <p:cNvPicPr>
            <a:picLocks noChangeAspect="1"/>
          </p:cNvPicPr>
          <p:nvPr/>
        </p:nvPicPr>
        <p:blipFill>
          <a:blip r:embed="rId3"/>
          <a:stretch>
            <a:fillRect/>
          </a:stretch>
        </p:blipFill>
        <p:spPr>
          <a:xfrm>
            <a:off x="274320" y="1078992"/>
            <a:ext cx="11640312" cy="3017520"/>
          </a:xfrm>
          <a:prstGeom prst="rect">
            <a:avLst/>
          </a:prstGeom>
        </p:spPr>
      </p:pic>
      <p:graphicFrame>
        <p:nvGraphicFramePr>
          <p:cNvPr id="9" name="Table 8"/>
          <p:cNvGraphicFramePr>
            <a:graphicFrameLocks noGrp="1"/>
          </p:cNvGraphicFramePr>
          <p:nvPr/>
        </p:nvGraphicFramePr>
        <p:xfrm>
          <a:off x="274320" y="4187952"/>
          <a:ext cx="11640312" cy="2084832"/>
        </p:xfrm>
        <a:graphic>
          <a:graphicData uri="http://schemas.openxmlformats.org/drawingml/2006/table">
            <a:tbl>
              <a:tblPr firstRow="1" bandRow="1">
                <a:tableStyleId>{5C22544A-7EE6-4342-B048-85BDC9FD1C3A}</a:tableStyleId>
              </a:tblPr>
              <a:tblGrid>
                <a:gridCol w="640080">
                  <a:extLst>
                    <a:ext uri="{9D8B030D-6E8A-4147-A177-3AD203B41FA5}">
                      <a16:colId xmlns:a16="http://schemas.microsoft.com/office/drawing/2014/main" val="20000"/>
                    </a:ext>
                  </a:extLst>
                </a:gridCol>
                <a:gridCol w="1833372">
                  <a:extLst>
                    <a:ext uri="{9D8B030D-6E8A-4147-A177-3AD203B41FA5}">
                      <a16:colId xmlns:a16="http://schemas.microsoft.com/office/drawing/2014/main" val="20001"/>
                    </a:ext>
                  </a:extLst>
                </a:gridCol>
                <a:gridCol w="1833372">
                  <a:extLst>
                    <a:ext uri="{9D8B030D-6E8A-4147-A177-3AD203B41FA5}">
                      <a16:colId xmlns:a16="http://schemas.microsoft.com/office/drawing/2014/main" val="20002"/>
                    </a:ext>
                  </a:extLst>
                </a:gridCol>
                <a:gridCol w="1833372">
                  <a:extLst>
                    <a:ext uri="{9D8B030D-6E8A-4147-A177-3AD203B41FA5}">
                      <a16:colId xmlns:a16="http://schemas.microsoft.com/office/drawing/2014/main" val="20003"/>
                    </a:ext>
                  </a:extLst>
                </a:gridCol>
                <a:gridCol w="1833372">
                  <a:extLst>
                    <a:ext uri="{9D8B030D-6E8A-4147-A177-3AD203B41FA5}">
                      <a16:colId xmlns:a16="http://schemas.microsoft.com/office/drawing/2014/main" val="20004"/>
                    </a:ext>
                  </a:extLst>
                </a:gridCol>
                <a:gridCol w="1833372">
                  <a:extLst>
                    <a:ext uri="{9D8B030D-6E8A-4147-A177-3AD203B41FA5}">
                      <a16:colId xmlns:a16="http://schemas.microsoft.com/office/drawing/2014/main" val="20005"/>
                    </a:ext>
                  </a:extLst>
                </a:gridCol>
                <a:gridCol w="1833372">
                  <a:extLst>
                    <a:ext uri="{9D8B030D-6E8A-4147-A177-3AD203B41FA5}">
                      <a16:colId xmlns:a16="http://schemas.microsoft.com/office/drawing/2014/main" val="20006"/>
                    </a:ext>
                  </a:extLst>
                </a:gridCol>
              </a:tblGrid>
              <a:tr h="347472">
                <a:tc>
                  <a:txBody>
                    <a:bodyPr/>
                    <a:lstStyle/>
                    <a:p>
                      <a:pPr algn="ctr"/>
                      <a:r>
                        <a:rPr sz="1000" b="1" i="0">
                          <a:solidFill>
                            <a:srgbClr val="FFFFFF"/>
                          </a:solidFill>
                          <a:latin typeface="Arial"/>
                        </a:rPr>
                        <a:t>Year</a:t>
                      </a:r>
                    </a:p>
                  </a:txBody>
                  <a:tcPr>
                    <a:solidFill>
                      <a:srgbClr val="002060"/>
                    </a:solidFill>
                  </a:tcPr>
                </a:tc>
                <a:tc>
                  <a:txBody>
                    <a:bodyPr/>
                    <a:lstStyle/>
                    <a:p>
                      <a:pPr algn="ctr"/>
                      <a:r>
                        <a:rPr sz="1000" b="1" i="0">
                          <a:solidFill>
                            <a:srgbClr val="FFFFFF"/>
                          </a:solidFill>
                          <a:latin typeface="Arial"/>
                        </a:rPr>
                        <a:t>1st</a:t>
                      </a:r>
                    </a:p>
                  </a:txBody>
                  <a:tcPr>
                    <a:solidFill>
                      <a:srgbClr val="002060"/>
                    </a:solidFill>
                  </a:tcPr>
                </a:tc>
                <a:tc>
                  <a:txBody>
                    <a:bodyPr/>
                    <a:lstStyle/>
                    <a:p>
                      <a:pPr algn="ctr"/>
                      <a:r>
                        <a:rPr sz="1000" b="1" i="0">
                          <a:solidFill>
                            <a:srgbClr val="FFFFFF"/>
                          </a:solidFill>
                          <a:latin typeface="Arial"/>
                        </a:rPr>
                        <a:t>2nd</a:t>
                      </a:r>
                    </a:p>
                  </a:txBody>
                  <a:tcPr>
                    <a:solidFill>
                      <a:srgbClr val="002060"/>
                    </a:solidFill>
                  </a:tcPr>
                </a:tc>
                <a:tc>
                  <a:txBody>
                    <a:bodyPr/>
                    <a:lstStyle/>
                    <a:p>
                      <a:pPr algn="ctr"/>
                      <a:r>
                        <a:rPr sz="1000" b="1" i="0">
                          <a:solidFill>
                            <a:srgbClr val="FFFFFF"/>
                          </a:solidFill>
                          <a:latin typeface="Arial"/>
                        </a:rPr>
                        <a:t>3rd</a:t>
                      </a:r>
                    </a:p>
                  </a:txBody>
                  <a:tcPr>
                    <a:solidFill>
                      <a:srgbClr val="002060"/>
                    </a:solidFill>
                  </a:tcPr>
                </a:tc>
                <a:tc>
                  <a:txBody>
                    <a:bodyPr/>
                    <a:lstStyle/>
                    <a:p>
                      <a:pPr algn="ctr"/>
                      <a:r>
                        <a:rPr sz="1000" b="1" i="0">
                          <a:solidFill>
                            <a:srgbClr val="FFFFFF"/>
                          </a:solidFill>
                          <a:latin typeface="Arial"/>
                        </a:rPr>
                        <a:t>5th</a:t>
                      </a:r>
                    </a:p>
                  </a:txBody>
                  <a:tcPr>
                    <a:solidFill>
                      <a:srgbClr val="002060"/>
                    </a:solidFill>
                  </a:tcPr>
                </a:tc>
                <a:tc>
                  <a:txBody>
                    <a:bodyPr/>
                    <a:lstStyle/>
                    <a:p>
                      <a:pPr algn="ctr"/>
                      <a:r>
                        <a:rPr sz="1000" b="1" i="0">
                          <a:solidFill>
                            <a:srgbClr val="FFFFFF"/>
                          </a:solidFill>
                          <a:latin typeface="Arial"/>
                        </a:rPr>
                        <a:t>10th</a:t>
                      </a:r>
                    </a:p>
                  </a:txBody>
                  <a:tcPr>
                    <a:solidFill>
                      <a:srgbClr val="002060"/>
                    </a:solidFill>
                  </a:tcPr>
                </a:tc>
                <a:tc>
                  <a:txBody>
                    <a:bodyPr/>
                    <a:lstStyle/>
                    <a:p>
                      <a:pPr algn="ctr"/>
                      <a:r>
                        <a:rPr sz="1000" b="1" i="0">
                          <a:solidFill>
                            <a:srgbClr val="FFFFFF"/>
                          </a:solidFill>
                          <a:latin typeface="Arial"/>
                        </a:rPr>
                        <a:t>20th</a:t>
                      </a:r>
                    </a:p>
                  </a:txBody>
                  <a:tcPr>
                    <a:solidFill>
                      <a:srgbClr val="002060"/>
                    </a:solidFill>
                  </a:tcPr>
                </a:tc>
                <a:extLst>
                  <a:ext uri="{0D108BD9-81ED-4DB2-BD59-A6C34878D82A}">
                    <a16:rowId xmlns:a16="http://schemas.microsoft.com/office/drawing/2014/main" val="10000"/>
                  </a:ext>
                </a:extLst>
              </a:tr>
              <a:tr h="347472">
                <a:tc>
                  <a:txBody>
                    <a:bodyPr/>
                    <a:lstStyle/>
                    <a:p>
                      <a:pPr algn="ctr"/>
                      <a:r>
                        <a:rPr sz="1000" b="1" i="0">
                          <a:solidFill>
                            <a:srgbClr val="262626"/>
                          </a:solidFill>
                          <a:latin typeface="Arial"/>
                        </a:rPr>
                        <a:t>2018</a:t>
                      </a:r>
                    </a:p>
                  </a:txBody>
                  <a:tcPr>
                    <a:solidFill>
                      <a:srgbClr val="FFFFFF"/>
                    </a:solidFill>
                  </a:tcPr>
                </a:tc>
                <a:tc>
                  <a:txBody>
                    <a:bodyPr/>
                    <a:lstStyle/>
                    <a:p>
                      <a:pPr algn="ctr"/>
                      <a:r>
                        <a:rPr sz="850" b="0" i="0">
                          <a:solidFill>
                            <a:srgbClr val="262626"/>
                          </a:solidFill>
                          <a:latin typeface="Arial"/>
                        </a:rPr>
                        <a:t>56:51</a:t>
                      </a:r>
                    </a:p>
                  </a:txBody>
                  <a:tcPr>
                    <a:solidFill>
                      <a:srgbClr val="FFFFFF"/>
                    </a:solidFill>
                  </a:tcPr>
                </a:tc>
                <a:tc>
                  <a:txBody>
                    <a:bodyPr/>
                    <a:lstStyle/>
                    <a:p>
                      <a:pPr algn="ctr"/>
                      <a:r>
                        <a:rPr sz="850" b="0" i="0">
                          <a:solidFill>
                            <a:srgbClr val="262626"/>
                          </a:solidFill>
                          <a:latin typeface="Arial"/>
                        </a:rPr>
                        <a:t>57:02
+11s</a:t>
                      </a:r>
                    </a:p>
                  </a:txBody>
                  <a:tcPr>
                    <a:solidFill>
                      <a:srgbClr val="FFFFFF"/>
                    </a:solidFill>
                  </a:tcPr>
                </a:tc>
                <a:tc>
                  <a:txBody>
                    <a:bodyPr/>
                    <a:lstStyle/>
                    <a:p>
                      <a:pPr algn="ctr"/>
                      <a:r>
                        <a:rPr sz="850" b="0" i="0">
                          <a:solidFill>
                            <a:srgbClr val="262626"/>
                          </a:solidFill>
                          <a:latin typeface="Arial"/>
                        </a:rPr>
                        <a:t>57:08
+17s</a:t>
                      </a:r>
                    </a:p>
                  </a:txBody>
                  <a:tcPr>
                    <a:solidFill>
                      <a:srgbClr val="FFFFFF"/>
                    </a:solidFill>
                  </a:tcPr>
                </a:tc>
                <a:tc>
                  <a:txBody>
                    <a:bodyPr/>
                    <a:lstStyle/>
                    <a:p>
                      <a:pPr algn="ctr"/>
                      <a:r>
                        <a:rPr sz="850" b="0" i="0">
                          <a:solidFill>
                            <a:srgbClr val="262626"/>
                          </a:solidFill>
                          <a:latin typeface="Arial"/>
                        </a:rPr>
                        <a:t>57:14
+23s</a:t>
                      </a:r>
                    </a:p>
                  </a:txBody>
                  <a:tcPr>
                    <a:solidFill>
                      <a:srgbClr val="FFFFFF"/>
                    </a:solidFill>
                  </a:tcPr>
                </a:tc>
                <a:tc>
                  <a:txBody>
                    <a:bodyPr/>
                    <a:lstStyle/>
                    <a:p>
                      <a:pPr algn="ctr"/>
                      <a:r>
                        <a:rPr sz="850" b="0" i="0">
                          <a:solidFill>
                            <a:srgbClr val="262626"/>
                          </a:solidFill>
                          <a:latin typeface="Arial"/>
                        </a:rPr>
                        <a:t>57:50
+59s</a:t>
                      </a:r>
                    </a:p>
                  </a:txBody>
                  <a:tcPr>
                    <a:solidFill>
                      <a:srgbClr val="FFFFFF"/>
                    </a:solidFill>
                  </a:tcPr>
                </a:tc>
                <a:tc>
                  <a:txBody>
                    <a:bodyPr/>
                    <a:lstStyle/>
                    <a:p>
                      <a:pPr algn="ctr"/>
                      <a:r>
                        <a:rPr sz="850" b="0" i="0">
                          <a:solidFill>
                            <a:srgbClr val="262626"/>
                          </a:solidFill>
                          <a:latin typeface="Arial"/>
                        </a:rPr>
                        <a:t>59:19
+148s</a:t>
                      </a:r>
                    </a:p>
                  </a:txBody>
                  <a:tcPr>
                    <a:solidFill>
                      <a:srgbClr val="FFFFFF"/>
                    </a:solidFill>
                  </a:tcPr>
                </a:tc>
                <a:extLst>
                  <a:ext uri="{0D108BD9-81ED-4DB2-BD59-A6C34878D82A}">
                    <a16:rowId xmlns:a16="http://schemas.microsoft.com/office/drawing/2014/main" val="10001"/>
                  </a:ext>
                </a:extLst>
              </a:tr>
              <a:tr h="347472">
                <a:tc>
                  <a:txBody>
                    <a:bodyPr/>
                    <a:lstStyle/>
                    <a:p>
                      <a:pPr algn="ctr"/>
                      <a:r>
                        <a:rPr sz="1000" b="1" i="0">
                          <a:solidFill>
                            <a:srgbClr val="262626"/>
                          </a:solidFill>
                          <a:latin typeface="Arial"/>
                        </a:rPr>
                        <a:t>2019</a:t>
                      </a:r>
                    </a:p>
                  </a:txBody>
                  <a:tcPr>
                    <a:solidFill>
                      <a:srgbClr val="F2F2F2"/>
                    </a:solidFill>
                  </a:tcPr>
                </a:tc>
                <a:tc>
                  <a:txBody>
                    <a:bodyPr/>
                    <a:lstStyle/>
                    <a:p>
                      <a:pPr algn="ctr"/>
                      <a:r>
                        <a:rPr sz="850" b="0" i="0">
                          <a:solidFill>
                            <a:srgbClr val="262626"/>
                          </a:solidFill>
                          <a:latin typeface="Arial"/>
                        </a:rPr>
                        <a:t>1:01:23</a:t>
                      </a:r>
                    </a:p>
                  </a:txBody>
                  <a:tcPr>
                    <a:solidFill>
                      <a:srgbClr val="F2F2F2"/>
                    </a:solidFill>
                  </a:tcPr>
                </a:tc>
                <a:tc>
                  <a:txBody>
                    <a:bodyPr/>
                    <a:lstStyle/>
                    <a:p>
                      <a:pPr algn="ctr"/>
                      <a:r>
                        <a:rPr sz="850" b="0" i="0">
                          <a:solidFill>
                            <a:srgbClr val="262626"/>
                          </a:solidFill>
                          <a:latin typeface="Arial"/>
                        </a:rPr>
                        <a:t>1:01:25
+2s</a:t>
                      </a:r>
                    </a:p>
                  </a:txBody>
                  <a:tcPr>
                    <a:solidFill>
                      <a:srgbClr val="F2F2F2"/>
                    </a:solidFill>
                  </a:tcPr>
                </a:tc>
                <a:tc>
                  <a:txBody>
                    <a:bodyPr/>
                    <a:lstStyle/>
                    <a:p>
                      <a:pPr algn="ctr"/>
                      <a:r>
                        <a:rPr sz="850" b="0" i="0">
                          <a:solidFill>
                            <a:srgbClr val="262626"/>
                          </a:solidFill>
                          <a:latin typeface="Arial"/>
                        </a:rPr>
                        <a:t>1:01:27
+4s</a:t>
                      </a:r>
                    </a:p>
                  </a:txBody>
                  <a:tcPr>
                    <a:solidFill>
                      <a:srgbClr val="F2F2F2"/>
                    </a:solidFill>
                  </a:tcPr>
                </a:tc>
                <a:tc>
                  <a:txBody>
                    <a:bodyPr/>
                    <a:lstStyle/>
                    <a:p>
                      <a:pPr algn="ctr"/>
                      <a:r>
                        <a:rPr sz="850" b="0" i="0">
                          <a:solidFill>
                            <a:srgbClr val="262626"/>
                          </a:solidFill>
                          <a:latin typeface="Arial"/>
                        </a:rPr>
                        <a:t>1:01:47
+24s</a:t>
                      </a:r>
                    </a:p>
                  </a:txBody>
                  <a:tcPr>
                    <a:solidFill>
                      <a:srgbClr val="F2F2F2"/>
                    </a:solidFill>
                  </a:tcPr>
                </a:tc>
                <a:tc>
                  <a:txBody>
                    <a:bodyPr/>
                    <a:lstStyle/>
                    <a:p>
                      <a:pPr algn="ctr"/>
                      <a:r>
                        <a:rPr sz="850" b="0" i="0">
                          <a:solidFill>
                            <a:srgbClr val="262626"/>
                          </a:solidFill>
                          <a:latin typeface="Arial"/>
                        </a:rPr>
                        <a:t>1:02:09
+46s</a:t>
                      </a:r>
                    </a:p>
                  </a:txBody>
                  <a:tcPr>
                    <a:solidFill>
                      <a:srgbClr val="F2F2F2"/>
                    </a:solidFill>
                  </a:tcPr>
                </a:tc>
                <a:tc>
                  <a:txBody>
                    <a:bodyPr/>
                    <a:lstStyle/>
                    <a:p>
                      <a:pPr algn="ctr"/>
                      <a:r>
                        <a:rPr sz="850" b="0" i="0">
                          <a:solidFill>
                            <a:srgbClr val="262626"/>
                          </a:solidFill>
                          <a:latin typeface="Arial"/>
                        </a:rPr>
                        <a:t>1:03:39
+136s</a:t>
                      </a:r>
                    </a:p>
                  </a:txBody>
                  <a:tcPr>
                    <a:solidFill>
                      <a:srgbClr val="F2F2F2"/>
                    </a:solidFill>
                  </a:tcPr>
                </a:tc>
                <a:extLst>
                  <a:ext uri="{0D108BD9-81ED-4DB2-BD59-A6C34878D82A}">
                    <a16:rowId xmlns:a16="http://schemas.microsoft.com/office/drawing/2014/main" val="10002"/>
                  </a:ext>
                </a:extLst>
              </a:tr>
              <a:tr h="347472">
                <a:tc>
                  <a:txBody>
                    <a:bodyPr/>
                    <a:lstStyle/>
                    <a:p>
                      <a:pPr algn="ctr"/>
                      <a:r>
                        <a:rPr sz="1000" b="1" i="0">
                          <a:solidFill>
                            <a:srgbClr val="262626"/>
                          </a:solidFill>
                          <a:latin typeface="Arial"/>
                        </a:rPr>
                        <a:t>2021</a:t>
                      </a:r>
                    </a:p>
                  </a:txBody>
                  <a:tcPr>
                    <a:solidFill>
                      <a:srgbClr val="FFFFFF"/>
                    </a:solidFill>
                  </a:tcPr>
                </a:tc>
                <a:tc>
                  <a:txBody>
                    <a:bodyPr/>
                    <a:lstStyle/>
                    <a:p>
                      <a:pPr algn="ctr"/>
                      <a:r>
                        <a:rPr sz="850" b="0" i="0">
                          <a:solidFill>
                            <a:srgbClr val="262626"/>
                          </a:solidFill>
                          <a:latin typeface="Arial"/>
                        </a:rPr>
                        <a:t>1:54:47</a:t>
                      </a:r>
                    </a:p>
                  </a:txBody>
                  <a:tcPr>
                    <a:solidFill>
                      <a:srgbClr val="FFFFFF"/>
                    </a:solidFill>
                  </a:tcPr>
                </a:tc>
                <a:tc>
                  <a:txBody>
                    <a:bodyPr/>
                    <a:lstStyle/>
                    <a:p>
                      <a:pPr algn="ctr"/>
                      <a:r>
                        <a:rPr sz="850" b="0" i="0">
                          <a:solidFill>
                            <a:srgbClr val="262626"/>
                          </a:solidFill>
                          <a:latin typeface="Arial"/>
                        </a:rPr>
                        <a:t>1:55:43
+56s</a:t>
                      </a:r>
                    </a:p>
                  </a:txBody>
                  <a:tcPr>
                    <a:solidFill>
                      <a:srgbClr val="FFFFFF"/>
                    </a:solidFill>
                  </a:tcPr>
                </a:tc>
                <a:tc>
                  <a:txBody>
                    <a:bodyPr/>
                    <a:lstStyle/>
                    <a:p>
                      <a:pPr algn="ctr"/>
                      <a:r>
                        <a:rPr sz="850" b="0" i="0">
                          <a:solidFill>
                            <a:srgbClr val="262626"/>
                          </a:solidFill>
                          <a:latin typeface="Arial"/>
                        </a:rPr>
                        <a:t>1:56:11
+84s</a:t>
                      </a:r>
                    </a:p>
                  </a:txBody>
                  <a:tcPr>
                    <a:solidFill>
                      <a:srgbClr val="FFFFFF"/>
                    </a:solidFill>
                  </a:tcPr>
                </a:tc>
                <a:tc>
                  <a:txBody>
                    <a:bodyPr/>
                    <a:lstStyle/>
                    <a:p>
                      <a:pPr algn="ctr"/>
                      <a:r>
                        <a:rPr sz="850" b="0" i="0">
                          <a:solidFill>
                            <a:srgbClr val="262626"/>
                          </a:solidFill>
                          <a:latin typeface="Arial"/>
                        </a:rPr>
                        <a:t>1:56:16
+89s</a:t>
                      </a:r>
                    </a:p>
                  </a:txBody>
                  <a:tcPr>
                    <a:solidFill>
                      <a:srgbClr val="FFFFFF"/>
                    </a:solidFill>
                  </a:tcPr>
                </a:tc>
                <a:tc>
                  <a:txBody>
                    <a:bodyPr/>
                    <a:lstStyle/>
                    <a:p>
                      <a:pPr algn="ctr"/>
                      <a:r>
                        <a:rPr sz="850" b="0" i="0">
                          <a:solidFill>
                            <a:srgbClr val="262626"/>
                          </a:solidFill>
                          <a:latin typeface="Arial"/>
                        </a:rPr>
                        <a:t>1:57:47
+180s</a:t>
                      </a:r>
                    </a:p>
                  </a:txBody>
                  <a:tcPr>
                    <a:solidFill>
                      <a:srgbClr val="FFFFFF"/>
                    </a:solidFill>
                  </a:tcPr>
                </a:tc>
                <a:tc>
                  <a:txBody>
                    <a:bodyPr/>
                    <a:lstStyle/>
                    <a:p>
                      <a:pPr algn="ctr"/>
                      <a:r>
                        <a:rPr sz="850" b="0" i="0">
                          <a:solidFill>
                            <a:srgbClr val="262626"/>
                          </a:solidFill>
                          <a:latin typeface="Arial"/>
                        </a:rPr>
                        <a:t>1:59:55
+308s</a:t>
                      </a:r>
                    </a:p>
                  </a:txBody>
                  <a:tcPr>
                    <a:solidFill>
                      <a:srgbClr val="FFFFFF"/>
                    </a:solidFill>
                  </a:tcPr>
                </a:tc>
                <a:extLst>
                  <a:ext uri="{0D108BD9-81ED-4DB2-BD59-A6C34878D82A}">
                    <a16:rowId xmlns:a16="http://schemas.microsoft.com/office/drawing/2014/main" val="10003"/>
                  </a:ext>
                </a:extLst>
              </a:tr>
              <a:tr h="347472">
                <a:tc>
                  <a:txBody>
                    <a:bodyPr/>
                    <a:lstStyle/>
                    <a:p>
                      <a:pPr algn="ctr"/>
                      <a:r>
                        <a:rPr sz="1000" b="1" i="0">
                          <a:solidFill>
                            <a:srgbClr val="262626"/>
                          </a:solidFill>
                          <a:latin typeface="Arial"/>
                        </a:rPr>
                        <a:t>2023</a:t>
                      </a:r>
                    </a:p>
                  </a:txBody>
                  <a:tcPr>
                    <a:solidFill>
                      <a:srgbClr val="F2F2F2"/>
                    </a:solidFill>
                  </a:tcPr>
                </a:tc>
                <a:tc>
                  <a:txBody>
                    <a:bodyPr/>
                    <a:lstStyle/>
                    <a:p>
                      <a:pPr algn="ctr"/>
                      <a:r>
                        <a:rPr sz="850" b="0" i="0">
                          <a:solidFill>
                            <a:srgbClr val="262626"/>
                          </a:solidFill>
                          <a:latin typeface="Arial"/>
                        </a:rPr>
                        <a:t>56:27</a:t>
                      </a:r>
                    </a:p>
                  </a:txBody>
                  <a:tcPr>
                    <a:solidFill>
                      <a:srgbClr val="F2F2F2"/>
                    </a:solidFill>
                  </a:tcPr>
                </a:tc>
                <a:tc>
                  <a:txBody>
                    <a:bodyPr/>
                    <a:lstStyle/>
                    <a:p>
                      <a:pPr algn="ctr"/>
                      <a:r>
                        <a:rPr sz="850" b="0" i="0">
                          <a:solidFill>
                            <a:srgbClr val="262626"/>
                          </a:solidFill>
                          <a:latin typeface="Arial"/>
                        </a:rPr>
                        <a:t>57:17
+50s</a:t>
                      </a:r>
                    </a:p>
                  </a:txBody>
                  <a:tcPr>
                    <a:solidFill>
                      <a:srgbClr val="F2F2F2"/>
                    </a:solidFill>
                  </a:tcPr>
                </a:tc>
                <a:tc>
                  <a:txBody>
                    <a:bodyPr/>
                    <a:lstStyle/>
                    <a:p>
                      <a:pPr algn="ctr"/>
                      <a:r>
                        <a:rPr sz="850" b="0" i="0">
                          <a:solidFill>
                            <a:srgbClr val="262626"/>
                          </a:solidFill>
                          <a:latin typeface="Arial"/>
                        </a:rPr>
                        <a:t>57:21
+54s</a:t>
                      </a:r>
                    </a:p>
                  </a:txBody>
                  <a:tcPr>
                    <a:solidFill>
                      <a:srgbClr val="F2F2F2"/>
                    </a:solidFill>
                  </a:tcPr>
                </a:tc>
                <a:tc>
                  <a:txBody>
                    <a:bodyPr/>
                    <a:lstStyle/>
                    <a:p>
                      <a:pPr algn="ctr"/>
                      <a:r>
                        <a:rPr sz="850" b="0" i="0">
                          <a:solidFill>
                            <a:srgbClr val="262626"/>
                          </a:solidFill>
                          <a:latin typeface="Arial"/>
                        </a:rPr>
                        <a:t>57:32
+65s</a:t>
                      </a:r>
                    </a:p>
                  </a:txBody>
                  <a:tcPr>
                    <a:solidFill>
                      <a:srgbClr val="F2F2F2"/>
                    </a:solidFill>
                  </a:tcPr>
                </a:tc>
                <a:tc>
                  <a:txBody>
                    <a:bodyPr/>
                    <a:lstStyle/>
                    <a:p>
                      <a:pPr algn="ctr"/>
                      <a:r>
                        <a:rPr sz="850" b="0" i="0">
                          <a:solidFill>
                            <a:srgbClr val="262626"/>
                          </a:solidFill>
                          <a:latin typeface="Arial"/>
                        </a:rPr>
                        <a:t>1:00:38
+251s</a:t>
                      </a:r>
                    </a:p>
                  </a:txBody>
                  <a:tcPr>
                    <a:solidFill>
                      <a:srgbClr val="F2F2F2"/>
                    </a:solidFill>
                  </a:tcPr>
                </a:tc>
                <a:tc>
                  <a:txBody>
                    <a:bodyPr/>
                    <a:lstStyle/>
                    <a:p>
                      <a:pPr algn="ctr"/>
                      <a:r>
                        <a:rPr sz="850" b="0" i="0">
                          <a:solidFill>
                            <a:srgbClr val="262626"/>
                          </a:solidFill>
                          <a:latin typeface="Arial"/>
                        </a:rPr>
                        <a:t>1:07:32
+665s</a:t>
                      </a:r>
                    </a:p>
                  </a:txBody>
                  <a:tcPr>
                    <a:solidFill>
                      <a:srgbClr val="F2F2F2"/>
                    </a:solidFill>
                  </a:tcPr>
                </a:tc>
                <a:extLst>
                  <a:ext uri="{0D108BD9-81ED-4DB2-BD59-A6C34878D82A}">
                    <a16:rowId xmlns:a16="http://schemas.microsoft.com/office/drawing/2014/main" val="10004"/>
                  </a:ext>
                </a:extLst>
              </a:tr>
              <a:tr h="347472">
                <a:tc>
                  <a:txBody>
                    <a:bodyPr/>
                    <a:lstStyle/>
                    <a:p>
                      <a:pPr algn="ctr"/>
                      <a:r>
                        <a:rPr sz="1000" b="1" i="0">
                          <a:solidFill>
                            <a:srgbClr val="262626"/>
                          </a:solidFill>
                          <a:latin typeface="Arial"/>
                        </a:rPr>
                        <a:t>2024</a:t>
                      </a:r>
                    </a:p>
                  </a:txBody>
                  <a:tcPr>
                    <a:solidFill>
                      <a:srgbClr val="FFFFFF"/>
                    </a:solidFill>
                  </a:tcPr>
                </a:tc>
                <a:tc>
                  <a:txBody>
                    <a:bodyPr/>
                    <a:lstStyle/>
                    <a:p>
                      <a:pPr algn="ctr"/>
                      <a:r>
                        <a:rPr sz="850" b="0" i="0">
                          <a:solidFill>
                            <a:srgbClr val="262626"/>
                          </a:solidFill>
                          <a:latin typeface="Arial"/>
                        </a:rPr>
                        <a:t>56:04</a:t>
                      </a:r>
                    </a:p>
                  </a:txBody>
                  <a:tcPr>
                    <a:solidFill>
                      <a:srgbClr val="FFFFFF"/>
                    </a:solidFill>
                  </a:tcPr>
                </a:tc>
                <a:tc>
                  <a:txBody>
                    <a:bodyPr/>
                    <a:lstStyle/>
                    <a:p>
                      <a:pPr algn="ctr"/>
                      <a:r>
                        <a:rPr sz="850" b="0" i="0">
                          <a:solidFill>
                            <a:srgbClr val="262626"/>
                          </a:solidFill>
                          <a:latin typeface="Arial"/>
                        </a:rPr>
                        <a:t>56:14
+10s</a:t>
                      </a:r>
                    </a:p>
                  </a:txBody>
                  <a:tcPr>
                    <a:solidFill>
                      <a:srgbClr val="FFFFFF"/>
                    </a:solidFill>
                  </a:tcPr>
                </a:tc>
                <a:tc>
                  <a:txBody>
                    <a:bodyPr/>
                    <a:lstStyle/>
                    <a:p>
                      <a:pPr algn="ctr"/>
                      <a:r>
                        <a:rPr sz="850" b="0" i="0">
                          <a:solidFill>
                            <a:srgbClr val="262626"/>
                          </a:solidFill>
                          <a:latin typeface="Arial"/>
                        </a:rPr>
                        <a:t>56:31
+27s</a:t>
                      </a:r>
                    </a:p>
                  </a:txBody>
                  <a:tcPr>
                    <a:solidFill>
                      <a:srgbClr val="FFFFFF"/>
                    </a:solidFill>
                  </a:tcPr>
                </a:tc>
                <a:tc>
                  <a:txBody>
                    <a:bodyPr/>
                    <a:lstStyle/>
                    <a:p>
                      <a:pPr algn="ctr"/>
                      <a:r>
                        <a:rPr sz="850" b="0" i="0">
                          <a:solidFill>
                            <a:srgbClr val="262626"/>
                          </a:solidFill>
                          <a:latin typeface="Arial"/>
                        </a:rPr>
                        <a:t>56:58
+54s</a:t>
                      </a:r>
                    </a:p>
                  </a:txBody>
                  <a:tcPr>
                    <a:solidFill>
                      <a:srgbClr val="FFFFFF"/>
                    </a:solidFill>
                  </a:tcPr>
                </a:tc>
                <a:tc>
                  <a:txBody>
                    <a:bodyPr/>
                    <a:lstStyle/>
                    <a:p>
                      <a:pPr algn="ctr"/>
                      <a:r>
                        <a:rPr sz="850" b="0" i="0">
                          <a:solidFill>
                            <a:srgbClr val="262626"/>
                          </a:solidFill>
                          <a:latin typeface="Arial"/>
                        </a:rPr>
                        <a:t>58:20
+136s</a:t>
                      </a:r>
                    </a:p>
                  </a:txBody>
                  <a:tcPr>
                    <a:solidFill>
                      <a:srgbClr val="FFFFFF"/>
                    </a:solidFill>
                  </a:tcPr>
                </a:tc>
                <a:tc>
                  <a:txBody>
                    <a:bodyPr/>
                    <a:lstStyle/>
                    <a:p>
                      <a:pPr algn="ctr"/>
                      <a:r>
                        <a:rPr sz="850" b="0" i="0">
                          <a:solidFill>
                            <a:srgbClr val="262626"/>
                          </a:solidFill>
                          <a:latin typeface="Arial"/>
                        </a:rPr>
                        <a:t>1:00:49
+285s</a:t>
                      </a:r>
                    </a:p>
                  </a:txBody>
                  <a:tcP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Race Conditions  —  Elite Women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Edmonton</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8" name="Table 7"/>
          <p:cNvGraphicFramePr>
            <a:graphicFrameLocks noGrp="1"/>
          </p:cNvGraphicFramePr>
          <p:nvPr/>
        </p:nvGraphicFramePr>
        <p:xfrm>
          <a:off x="274320" y="1143000"/>
          <a:ext cx="11640307" cy="2743200"/>
        </p:xfrm>
        <a:graphic>
          <a:graphicData uri="http://schemas.openxmlformats.org/drawingml/2006/table">
            <a:tbl>
              <a:tblPr firstRow="1" bandRow="1">
                <a:tableStyleId>{5C22544A-7EE6-4342-B048-85BDC9FD1C3A}</a:tableStyleId>
              </a:tblPr>
              <a:tblGrid>
                <a:gridCol w="591571">
                  <a:extLst>
                    <a:ext uri="{9D8B030D-6E8A-4147-A177-3AD203B41FA5}">
                      <a16:colId xmlns:a16="http://schemas.microsoft.com/office/drawing/2014/main" val="20000"/>
                    </a:ext>
                  </a:extLst>
                </a:gridCol>
                <a:gridCol w="864604">
                  <a:extLst>
                    <a:ext uri="{9D8B030D-6E8A-4147-A177-3AD203B41FA5}">
                      <a16:colId xmlns:a16="http://schemas.microsoft.com/office/drawing/2014/main" val="20001"/>
                    </a:ext>
                  </a:extLst>
                </a:gridCol>
                <a:gridCol w="910110">
                  <a:extLst>
                    <a:ext uri="{9D8B030D-6E8A-4147-A177-3AD203B41FA5}">
                      <a16:colId xmlns:a16="http://schemas.microsoft.com/office/drawing/2014/main" val="20002"/>
                    </a:ext>
                  </a:extLst>
                </a:gridCol>
                <a:gridCol w="819099">
                  <a:extLst>
                    <a:ext uri="{9D8B030D-6E8A-4147-A177-3AD203B41FA5}">
                      <a16:colId xmlns:a16="http://schemas.microsoft.com/office/drawing/2014/main" val="20003"/>
                    </a:ext>
                  </a:extLst>
                </a:gridCol>
                <a:gridCol w="910110">
                  <a:extLst>
                    <a:ext uri="{9D8B030D-6E8A-4147-A177-3AD203B41FA5}">
                      <a16:colId xmlns:a16="http://schemas.microsoft.com/office/drawing/2014/main" val="20004"/>
                    </a:ext>
                  </a:extLst>
                </a:gridCol>
                <a:gridCol w="864604">
                  <a:extLst>
                    <a:ext uri="{9D8B030D-6E8A-4147-A177-3AD203B41FA5}">
                      <a16:colId xmlns:a16="http://schemas.microsoft.com/office/drawing/2014/main" val="20005"/>
                    </a:ext>
                  </a:extLst>
                </a:gridCol>
                <a:gridCol w="864604">
                  <a:extLst>
                    <a:ext uri="{9D8B030D-6E8A-4147-A177-3AD203B41FA5}">
                      <a16:colId xmlns:a16="http://schemas.microsoft.com/office/drawing/2014/main" val="20006"/>
                    </a:ext>
                  </a:extLst>
                </a:gridCol>
                <a:gridCol w="819099">
                  <a:extLst>
                    <a:ext uri="{9D8B030D-6E8A-4147-A177-3AD203B41FA5}">
                      <a16:colId xmlns:a16="http://schemas.microsoft.com/office/drawing/2014/main" val="20007"/>
                    </a:ext>
                  </a:extLst>
                </a:gridCol>
                <a:gridCol w="4996506">
                  <a:extLst>
                    <a:ext uri="{9D8B030D-6E8A-4147-A177-3AD203B41FA5}">
                      <a16:colId xmlns:a16="http://schemas.microsoft.com/office/drawing/2014/main" val="20008"/>
                    </a:ext>
                  </a:extLst>
                </a:gridCol>
              </a:tblGrid>
              <a:tr h="457200">
                <a:tc>
                  <a:txBody>
                    <a:bodyPr/>
                    <a:lstStyle/>
                    <a:p>
                      <a:pPr algn="ctr"/>
                      <a:r>
                        <a:rPr sz="1200" b="1" i="0">
                          <a:solidFill>
                            <a:srgbClr val="FFFFFF"/>
                          </a:solidFill>
                          <a:latin typeface="Arial"/>
                        </a:rPr>
                        <a:t>Year</a:t>
                      </a:r>
                    </a:p>
                  </a:txBody>
                  <a:tcPr>
                    <a:solidFill>
                      <a:srgbClr val="002060"/>
                    </a:solidFill>
                  </a:tcPr>
                </a:tc>
                <a:tc>
                  <a:txBody>
                    <a:bodyPr/>
                    <a:lstStyle/>
                    <a:p>
                      <a:pPr algn="ctr"/>
                      <a:r>
                        <a:rPr sz="1200" b="1" i="0">
                          <a:solidFill>
                            <a:srgbClr val="FFFFFF"/>
                          </a:solidFill>
                          <a:latin typeface="Arial"/>
                        </a:rPr>
                        <a:t>Date</a:t>
                      </a:r>
                    </a:p>
                  </a:txBody>
                  <a:tcPr>
                    <a:solidFill>
                      <a:srgbClr val="002060"/>
                    </a:solidFill>
                  </a:tcPr>
                </a:tc>
                <a:tc>
                  <a:txBody>
                    <a:bodyPr/>
                    <a:lstStyle/>
                    <a:p>
                      <a:pPr algn="ctr"/>
                      <a:r>
                        <a:rPr sz="1200" b="1" i="0">
                          <a:solidFill>
                            <a:srgbClr val="FFFFFF"/>
                          </a:solidFill>
                          <a:latin typeface="Arial"/>
                        </a:rPr>
                        <a:t>Air Temp</a:t>
                      </a:r>
                    </a:p>
                  </a:txBody>
                  <a:tcPr>
                    <a:solidFill>
                      <a:srgbClr val="002060"/>
                    </a:solidFill>
                  </a:tcPr>
                </a:tc>
                <a:tc>
                  <a:txBody>
                    <a:bodyPr/>
                    <a:lstStyle/>
                    <a:p>
                      <a:pPr algn="ctr"/>
                      <a:r>
                        <a:rPr sz="1200" b="1" i="0">
                          <a:solidFill>
                            <a:srgbClr val="FFFFFF"/>
                          </a:solidFill>
                          <a:latin typeface="Arial"/>
                        </a:rPr>
                        <a:t>Humidity</a:t>
                      </a:r>
                    </a:p>
                  </a:txBody>
                  <a:tcPr>
                    <a:solidFill>
                      <a:srgbClr val="002060"/>
                    </a:solidFill>
                  </a:tcPr>
                </a:tc>
                <a:tc>
                  <a:txBody>
                    <a:bodyPr/>
                    <a:lstStyle/>
                    <a:p>
                      <a:pPr algn="ctr"/>
                      <a:r>
                        <a:rPr sz="1200" b="1" i="0">
                          <a:solidFill>
                            <a:srgbClr val="FFFFFF"/>
                          </a:solidFill>
                          <a:latin typeface="Arial"/>
                        </a:rPr>
                        <a:t>Wind (km/h)</a:t>
                      </a:r>
                    </a:p>
                  </a:txBody>
                  <a:tcPr>
                    <a:solidFill>
                      <a:srgbClr val="002060"/>
                    </a:solidFill>
                  </a:tcPr>
                </a:tc>
                <a:tc>
                  <a:txBody>
                    <a:bodyPr/>
                    <a:lstStyle/>
                    <a:p>
                      <a:pPr algn="ctr"/>
                      <a:r>
                        <a:rPr sz="1200" b="1" i="0">
                          <a:solidFill>
                            <a:srgbClr val="FFFFFF"/>
                          </a:solidFill>
                          <a:latin typeface="Arial"/>
                        </a:rPr>
                        <a:t>Precip (mm)</a:t>
                      </a:r>
                    </a:p>
                  </a:txBody>
                  <a:tcPr>
                    <a:solidFill>
                      <a:srgbClr val="002060"/>
                    </a:solidFill>
                  </a:tcPr>
                </a:tc>
                <a:tc>
                  <a:txBody>
                    <a:bodyPr/>
                    <a:lstStyle/>
                    <a:p>
                      <a:pPr algn="ctr"/>
                      <a:r>
                        <a:rPr sz="1200" b="1" i="0">
                          <a:solidFill>
                            <a:srgbClr val="FFFFFF"/>
                          </a:solidFill>
                          <a:latin typeface="Arial"/>
                        </a:rPr>
                        <a:t>Water Temp</a:t>
                      </a:r>
                    </a:p>
                  </a:txBody>
                  <a:tcPr>
                    <a:solidFill>
                      <a:srgbClr val="002060"/>
                    </a:solidFill>
                  </a:tcPr>
                </a:tc>
                <a:tc>
                  <a:txBody>
                    <a:bodyPr/>
                    <a:lstStyle/>
                    <a:p>
                      <a:pPr algn="ctr"/>
                      <a:r>
                        <a:rPr sz="1200" b="1" i="0">
                          <a:solidFill>
                            <a:srgbClr val="FFFFFF"/>
                          </a:solidFill>
                          <a:latin typeface="Arial"/>
                        </a:rPr>
                        <a:t>Wetsuit</a:t>
                      </a:r>
                    </a:p>
                  </a:txBody>
                  <a:tcPr>
                    <a:solidFill>
                      <a:srgbClr val="002060"/>
                    </a:solidFill>
                  </a:tcPr>
                </a:tc>
                <a:tc>
                  <a:txBody>
                    <a:bodyPr/>
                    <a:lstStyle/>
                    <a:p>
                      <a:pPr algn="ctr"/>
                      <a:r>
                        <a:rPr sz="1200" b="1" i="0">
                          <a:solidFill>
                            <a:srgbClr val="FFFFFF"/>
                          </a:solidFill>
                          <a:latin typeface="Arial"/>
                        </a:rPr>
                        <a:t>Conditions</a:t>
                      </a:r>
                    </a:p>
                  </a:txBody>
                  <a:tcPr>
                    <a:solidFill>
                      <a:srgbClr val="002060"/>
                    </a:solidFill>
                  </a:tcPr>
                </a:tc>
                <a:extLst>
                  <a:ext uri="{0D108BD9-81ED-4DB2-BD59-A6C34878D82A}">
                    <a16:rowId xmlns:a16="http://schemas.microsoft.com/office/drawing/2014/main" val="10000"/>
                  </a:ext>
                </a:extLst>
              </a:tr>
              <a:tr h="457200">
                <a:tc>
                  <a:txBody>
                    <a:bodyPr/>
                    <a:lstStyle/>
                    <a:p>
                      <a:pPr algn="ctr"/>
                      <a:r>
                        <a:rPr sz="1000" b="0" i="0">
                          <a:solidFill>
                            <a:srgbClr val="262626"/>
                          </a:solidFill>
                          <a:latin typeface="Arial"/>
                        </a:rPr>
                        <a:t>2018</a:t>
                      </a:r>
                    </a:p>
                  </a:txBody>
                  <a:tcPr>
                    <a:solidFill>
                      <a:srgbClr val="FFFFFF"/>
                    </a:solidFill>
                  </a:tcPr>
                </a:tc>
                <a:tc>
                  <a:txBody>
                    <a:bodyPr/>
                    <a:lstStyle/>
                    <a:p>
                      <a:pPr algn="ctr"/>
                      <a:r>
                        <a:rPr sz="1000" b="0" i="0">
                          <a:solidFill>
                            <a:srgbClr val="262626"/>
                          </a:solidFill>
                          <a:latin typeface="Arial"/>
                        </a:rPr>
                        <a:t>Jul 27</a:t>
                      </a:r>
                    </a:p>
                  </a:txBody>
                  <a:tcPr>
                    <a:solidFill>
                      <a:srgbClr val="FFFFFF"/>
                    </a:solidFill>
                  </a:tcPr>
                </a:tc>
                <a:tc>
                  <a:txBody>
                    <a:bodyPr/>
                    <a:lstStyle/>
                    <a:p>
                      <a:pPr algn="ctr"/>
                      <a:r>
                        <a:rPr sz="1000" b="0" i="0">
                          <a:solidFill>
                            <a:srgbClr val="262626"/>
                          </a:solidFill>
                          <a:latin typeface="Arial"/>
                        </a:rPr>
                        <a:t>19.9</a:t>
                      </a:r>
                    </a:p>
                  </a:txBody>
                  <a:tcPr>
                    <a:solidFill>
                      <a:srgbClr val="FFFFFF"/>
                    </a:solidFill>
                  </a:tcPr>
                </a:tc>
                <a:tc>
                  <a:txBody>
                    <a:bodyPr/>
                    <a:lstStyle/>
                    <a:p>
                      <a:pPr algn="ctr"/>
                      <a:r>
                        <a:rPr sz="1000" b="0" i="0">
                          <a:solidFill>
                            <a:srgbClr val="262626"/>
                          </a:solidFill>
                          <a:latin typeface="Arial"/>
                        </a:rPr>
                        <a:t>69%</a:t>
                      </a:r>
                    </a:p>
                  </a:txBody>
                  <a:tcPr>
                    <a:solidFill>
                      <a:srgbClr val="FFFFFF"/>
                    </a:solidFill>
                  </a:tcPr>
                </a:tc>
                <a:tc>
                  <a:txBody>
                    <a:bodyPr/>
                    <a:lstStyle/>
                    <a:p>
                      <a:pPr algn="ctr"/>
                      <a:r>
                        <a:rPr sz="1000" b="0" i="0">
                          <a:solidFill>
                            <a:srgbClr val="262626"/>
                          </a:solidFill>
                          <a:latin typeface="Arial"/>
                        </a:rPr>
                        <a:t>3</a:t>
                      </a:r>
                    </a:p>
                  </a:txBody>
                  <a:tcPr>
                    <a:solidFill>
                      <a:srgbClr val="FFFFFF"/>
                    </a:solidFill>
                  </a:tcPr>
                </a:tc>
                <a:tc>
                  <a:txBody>
                    <a:bodyPr/>
                    <a:lstStyle/>
                    <a:p>
                      <a:pPr algn="ctr"/>
                      <a:r>
                        <a:rPr sz="1000" b="0" i="0">
                          <a:solidFill>
                            <a:srgbClr val="262626"/>
                          </a:solidFill>
                          <a:latin typeface="Arial"/>
                        </a:rPr>
                        <a:t>0.0</a:t>
                      </a:r>
                    </a:p>
                  </a:txBody>
                  <a:tcPr>
                    <a:solidFill>
                      <a:srgbClr val="FFFFFF"/>
                    </a:solidFill>
                  </a:tcPr>
                </a:tc>
                <a:tc>
                  <a:txBody>
                    <a:bodyPr/>
                    <a:lstStyle/>
                    <a:p>
                      <a:pPr algn="ctr"/>
                      <a:r>
                        <a:rPr sz="1000" b="0" i="0">
                          <a:solidFill>
                            <a:srgbClr val="262626"/>
                          </a:solidFill>
                          <a:latin typeface="Arial"/>
                        </a:rPr>
                        <a:t>—</a:t>
                      </a:r>
                    </a:p>
                  </a:txBody>
                  <a:tcPr>
                    <a:solidFill>
                      <a:srgbClr val="FFFFFF"/>
                    </a:solidFill>
                  </a:tcPr>
                </a:tc>
                <a:tc>
                  <a:txBody>
                    <a:bodyPr/>
                    <a:lstStyle/>
                    <a:p>
                      <a:pPr algn="ctr"/>
                      <a:r>
                        <a:rPr sz="1000" b="0" i="0">
                          <a:solidFill>
                            <a:srgbClr val="262626"/>
                          </a:solidFill>
                          <a:latin typeface="Arial"/>
                        </a:rPr>
                        <a:t>—</a:t>
                      </a:r>
                    </a:p>
                  </a:txBody>
                  <a:tcPr>
                    <a:solidFill>
                      <a:srgbClr val="FFFFFF"/>
                    </a:solidFill>
                  </a:tcPr>
                </a:tc>
                <a:tc>
                  <a:txBody>
                    <a:bodyPr/>
                    <a:lstStyle/>
                    <a:p>
                      <a:pPr algn="l"/>
                      <a:r>
                        <a:rPr sz="1000" b="0" i="0">
                          <a:solidFill>
                            <a:srgbClr val="262626"/>
                          </a:solidFill>
                          <a:latin typeface="Arial"/>
                        </a:rPr>
                        <a:t>—</a:t>
                      </a:r>
                    </a:p>
                  </a:txBody>
                  <a:tcPr>
                    <a:solidFill>
                      <a:srgbClr val="FFFFFF"/>
                    </a:solidFill>
                  </a:tcPr>
                </a:tc>
                <a:extLst>
                  <a:ext uri="{0D108BD9-81ED-4DB2-BD59-A6C34878D82A}">
                    <a16:rowId xmlns:a16="http://schemas.microsoft.com/office/drawing/2014/main" val="10001"/>
                  </a:ext>
                </a:extLst>
              </a:tr>
              <a:tr h="457200">
                <a:tc>
                  <a:txBody>
                    <a:bodyPr/>
                    <a:lstStyle/>
                    <a:p>
                      <a:pPr algn="ctr"/>
                      <a:r>
                        <a:rPr sz="1000" b="0" i="0">
                          <a:solidFill>
                            <a:srgbClr val="262626"/>
                          </a:solidFill>
                          <a:latin typeface="Arial"/>
                        </a:rPr>
                        <a:t>2019</a:t>
                      </a:r>
                    </a:p>
                  </a:txBody>
                  <a:tcPr>
                    <a:solidFill>
                      <a:srgbClr val="F2F2F2"/>
                    </a:solidFill>
                  </a:tcPr>
                </a:tc>
                <a:tc>
                  <a:txBody>
                    <a:bodyPr/>
                    <a:lstStyle/>
                    <a:p>
                      <a:pPr algn="ctr"/>
                      <a:r>
                        <a:rPr sz="1000" b="0" i="0">
                          <a:solidFill>
                            <a:srgbClr val="262626"/>
                          </a:solidFill>
                          <a:latin typeface="Arial"/>
                        </a:rPr>
                        <a:t>Jul 20</a:t>
                      </a:r>
                    </a:p>
                  </a:txBody>
                  <a:tcPr>
                    <a:solidFill>
                      <a:srgbClr val="F2F2F2"/>
                    </a:solidFill>
                  </a:tcPr>
                </a:tc>
                <a:tc>
                  <a:txBody>
                    <a:bodyPr/>
                    <a:lstStyle/>
                    <a:p>
                      <a:pPr algn="ctr"/>
                      <a:r>
                        <a:rPr sz="1000" b="0" i="0">
                          <a:solidFill>
                            <a:srgbClr val="262626"/>
                          </a:solidFill>
                          <a:latin typeface="Arial"/>
                        </a:rPr>
                        <a:t>17.6</a:t>
                      </a:r>
                    </a:p>
                  </a:txBody>
                  <a:tcPr>
                    <a:solidFill>
                      <a:srgbClr val="F2F2F2"/>
                    </a:solidFill>
                  </a:tcPr>
                </a:tc>
                <a:tc>
                  <a:txBody>
                    <a:bodyPr/>
                    <a:lstStyle/>
                    <a:p>
                      <a:pPr algn="ctr"/>
                      <a:r>
                        <a:rPr sz="1000" b="0" i="0">
                          <a:solidFill>
                            <a:srgbClr val="262626"/>
                          </a:solidFill>
                          <a:latin typeface="Arial"/>
                        </a:rPr>
                        <a:t>83%</a:t>
                      </a:r>
                    </a:p>
                  </a:txBody>
                  <a:tcPr>
                    <a:solidFill>
                      <a:srgbClr val="F2F2F2"/>
                    </a:solidFill>
                  </a:tcPr>
                </a:tc>
                <a:tc>
                  <a:txBody>
                    <a:bodyPr/>
                    <a:lstStyle/>
                    <a:p>
                      <a:pPr algn="ctr"/>
                      <a:r>
                        <a:rPr sz="1000" b="0" i="0">
                          <a:solidFill>
                            <a:srgbClr val="262626"/>
                          </a:solidFill>
                          <a:latin typeface="Arial"/>
                        </a:rPr>
                        <a:t>10</a:t>
                      </a:r>
                    </a:p>
                  </a:txBody>
                  <a:tcPr>
                    <a:solidFill>
                      <a:srgbClr val="F2F2F2"/>
                    </a:solidFill>
                  </a:tcPr>
                </a:tc>
                <a:tc>
                  <a:txBody>
                    <a:bodyPr/>
                    <a:lstStyle/>
                    <a:p>
                      <a:pPr algn="ctr"/>
                      <a:r>
                        <a:rPr sz="1000" b="0" i="0">
                          <a:solidFill>
                            <a:srgbClr val="262626"/>
                          </a:solidFill>
                          <a:latin typeface="Arial"/>
                        </a:rPr>
                        <a:t>0.0</a:t>
                      </a:r>
                    </a:p>
                  </a:txBody>
                  <a:tcPr>
                    <a:solidFill>
                      <a:srgbClr val="F2F2F2"/>
                    </a:solidFill>
                  </a:tcPr>
                </a:tc>
                <a:tc>
                  <a:txBody>
                    <a:bodyPr/>
                    <a:lstStyle/>
                    <a:p>
                      <a:pPr algn="ctr"/>
                      <a:r>
                        <a:rPr sz="1000" b="0" i="0">
                          <a:solidFill>
                            <a:srgbClr val="262626"/>
                          </a:solidFill>
                          <a:latin typeface="Arial"/>
                        </a:rPr>
                        <a:t>—</a:t>
                      </a:r>
                    </a:p>
                  </a:txBody>
                  <a:tcPr>
                    <a:solidFill>
                      <a:srgbClr val="F2F2F2"/>
                    </a:solidFill>
                  </a:tcPr>
                </a:tc>
                <a:tc>
                  <a:txBody>
                    <a:bodyPr/>
                    <a:lstStyle/>
                    <a:p>
                      <a:pPr algn="ctr"/>
                      <a:r>
                        <a:rPr sz="1000" b="0" i="0">
                          <a:solidFill>
                            <a:srgbClr val="262626"/>
                          </a:solidFill>
                          <a:latin typeface="Arial"/>
                        </a:rPr>
                        <a:t>—</a:t>
                      </a:r>
                    </a:p>
                  </a:txBody>
                  <a:tcPr>
                    <a:solidFill>
                      <a:srgbClr val="F2F2F2"/>
                    </a:solidFill>
                  </a:tcPr>
                </a:tc>
                <a:tc>
                  <a:txBody>
                    <a:bodyPr/>
                    <a:lstStyle/>
                    <a:p>
                      <a:pPr algn="l"/>
                      <a:r>
                        <a:rPr sz="1000" b="0" i="0">
                          <a:solidFill>
                            <a:srgbClr val="262626"/>
                          </a:solidFill>
                          <a:latin typeface="Arial"/>
                        </a:rPr>
                        <a:t>—</a:t>
                      </a:r>
                    </a:p>
                  </a:txBody>
                  <a:tcPr>
                    <a:solidFill>
                      <a:srgbClr val="F2F2F2"/>
                    </a:solidFill>
                  </a:tcPr>
                </a:tc>
                <a:extLst>
                  <a:ext uri="{0D108BD9-81ED-4DB2-BD59-A6C34878D82A}">
                    <a16:rowId xmlns:a16="http://schemas.microsoft.com/office/drawing/2014/main" val="10002"/>
                  </a:ext>
                </a:extLst>
              </a:tr>
              <a:tr h="457200">
                <a:tc>
                  <a:txBody>
                    <a:bodyPr/>
                    <a:lstStyle/>
                    <a:p>
                      <a:pPr algn="ctr"/>
                      <a:r>
                        <a:rPr sz="1000" b="0" i="0">
                          <a:solidFill>
                            <a:srgbClr val="262626"/>
                          </a:solidFill>
                          <a:latin typeface="Arial"/>
                        </a:rPr>
                        <a:t>2021</a:t>
                      </a:r>
                    </a:p>
                  </a:txBody>
                  <a:tcPr>
                    <a:solidFill>
                      <a:srgbClr val="FFFFFF"/>
                    </a:solidFill>
                  </a:tcPr>
                </a:tc>
                <a:tc>
                  <a:txBody>
                    <a:bodyPr/>
                    <a:lstStyle/>
                    <a:p>
                      <a:pPr algn="ctr"/>
                      <a:r>
                        <a:rPr sz="1000" b="0" i="0">
                          <a:solidFill>
                            <a:srgbClr val="262626"/>
                          </a:solidFill>
                          <a:latin typeface="Arial"/>
                        </a:rPr>
                        <a:t>Aug 21</a:t>
                      </a:r>
                    </a:p>
                  </a:txBody>
                  <a:tcPr>
                    <a:solidFill>
                      <a:srgbClr val="FFFFFF"/>
                    </a:solidFill>
                  </a:tcPr>
                </a:tc>
                <a:tc>
                  <a:txBody>
                    <a:bodyPr/>
                    <a:lstStyle/>
                    <a:p>
                      <a:pPr algn="ctr"/>
                      <a:r>
                        <a:rPr sz="1000" b="0" i="0">
                          <a:solidFill>
                            <a:srgbClr val="262626"/>
                          </a:solidFill>
                          <a:latin typeface="Arial"/>
                        </a:rPr>
                        <a:t>15.4</a:t>
                      </a:r>
                    </a:p>
                  </a:txBody>
                  <a:tcPr>
                    <a:solidFill>
                      <a:srgbClr val="FFFFFF"/>
                    </a:solidFill>
                  </a:tcPr>
                </a:tc>
                <a:tc>
                  <a:txBody>
                    <a:bodyPr/>
                    <a:lstStyle/>
                    <a:p>
                      <a:pPr algn="ctr"/>
                      <a:r>
                        <a:rPr sz="1000" b="0" i="0">
                          <a:solidFill>
                            <a:srgbClr val="262626"/>
                          </a:solidFill>
                          <a:latin typeface="Arial"/>
                        </a:rPr>
                        <a:t>80%</a:t>
                      </a:r>
                    </a:p>
                  </a:txBody>
                  <a:tcPr>
                    <a:solidFill>
                      <a:srgbClr val="FFFFFF"/>
                    </a:solidFill>
                  </a:tcPr>
                </a:tc>
                <a:tc>
                  <a:txBody>
                    <a:bodyPr/>
                    <a:lstStyle/>
                    <a:p>
                      <a:pPr algn="ctr"/>
                      <a:r>
                        <a:rPr sz="1000" b="0" i="0">
                          <a:solidFill>
                            <a:srgbClr val="262626"/>
                          </a:solidFill>
                          <a:latin typeface="Arial"/>
                        </a:rPr>
                        <a:t>11</a:t>
                      </a:r>
                    </a:p>
                  </a:txBody>
                  <a:tcPr>
                    <a:solidFill>
                      <a:srgbClr val="FFFFFF"/>
                    </a:solidFill>
                  </a:tcPr>
                </a:tc>
                <a:tc>
                  <a:txBody>
                    <a:bodyPr/>
                    <a:lstStyle/>
                    <a:p>
                      <a:pPr algn="ctr"/>
                      <a:r>
                        <a:rPr sz="1000" b="0" i="0">
                          <a:solidFill>
                            <a:srgbClr val="262626"/>
                          </a:solidFill>
                          <a:latin typeface="Arial"/>
                        </a:rPr>
                        <a:t>0.0</a:t>
                      </a:r>
                    </a:p>
                  </a:txBody>
                  <a:tcPr>
                    <a:solidFill>
                      <a:srgbClr val="FFFFFF"/>
                    </a:solidFill>
                  </a:tcPr>
                </a:tc>
                <a:tc>
                  <a:txBody>
                    <a:bodyPr/>
                    <a:lstStyle/>
                    <a:p>
                      <a:pPr algn="ctr"/>
                      <a:r>
                        <a:rPr sz="1000" b="0" i="0">
                          <a:solidFill>
                            <a:srgbClr val="262626"/>
                          </a:solidFill>
                          <a:latin typeface="Arial"/>
                        </a:rPr>
                        <a:t>—</a:t>
                      </a:r>
                    </a:p>
                  </a:txBody>
                  <a:tcPr>
                    <a:solidFill>
                      <a:srgbClr val="FFFFFF"/>
                    </a:solidFill>
                  </a:tcPr>
                </a:tc>
                <a:tc>
                  <a:txBody>
                    <a:bodyPr/>
                    <a:lstStyle/>
                    <a:p>
                      <a:pPr algn="ctr"/>
                      <a:r>
                        <a:rPr sz="1000" b="0" i="0">
                          <a:solidFill>
                            <a:srgbClr val="262626"/>
                          </a:solidFill>
                          <a:latin typeface="Arial"/>
                        </a:rPr>
                        <a:t>—</a:t>
                      </a:r>
                    </a:p>
                  </a:txBody>
                  <a:tcPr>
                    <a:solidFill>
                      <a:srgbClr val="FFFFFF"/>
                    </a:solidFill>
                  </a:tcPr>
                </a:tc>
                <a:tc>
                  <a:txBody>
                    <a:bodyPr/>
                    <a:lstStyle/>
                    <a:p>
                      <a:pPr algn="l"/>
                      <a:r>
                        <a:rPr sz="1000" b="0" i="0">
                          <a:solidFill>
                            <a:srgbClr val="262626"/>
                          </a:solidFill>
                          <a:latin typeface="Arial"/>
                        </a:rPr>
                        <a:t>—</a:t>
                      </a:r>
                    </a:p>
                  </a:txBody>
                  <a:tcPr>
                    <a:solidFill>
                      <a:srgbClr val="FFFFFF"/>
                    </a:solidFill>
                  </a:tcPr>
                </a:tc>
                <a:extLst>
                  <a:ext uri="{0D108BD9-81ED-4DB2-BD59-A6C34878D82A}">
                    <a16:rowId xmlns:a16="http://schemas.microsoft.com/office/drawing/2014/main" val="10003"/>
                  </a:ext>
                </a:extLst>
              </a:tr>
              <a:tr h="457200">
                <a:tc>
                  <a:txBody>
                    <a:bodyPr/>
                    <a:lstStyle/>
                    <a:p>
                      <a:pPr algn="ctr"/>
                      <a:r>
                        <a:rPr sz="1000" b="0" i="0">
                          <a:solidFill>
                            <a:srgbClr val="262626"/>
                          </a:solidFill>
                          <a:latin typeface="Arial"/>
                        </a:rPr>
                        <a:t>2023</a:t>
                      </a:r>
                    </a:p>
                  </a:txBody>
                  <a:tcPr>
                    <a:solidFill>
                      <a:srgbClr val="F2F2F2"/>
                    </a:solidFill>
                  </a:tcPr>
                </a:tc>
                <a:tc>
                  <a:txBody>
                    <a:bodyPr/>
                    <a:lstStyle/>
                    <a:p>
                      <a:pPr algn="ctr"/>
                      <a:r>
                        <a:rPr sz="1000" b="0" i="0">
                          <a:solidFill>
                            <a:srgbClr val="262626"/>
                          </a:solidFill>
                          <a:latin typeface="Arial"/>
                        </a:rPr>
                        <a:t>Aug 26</a:t>
                      </a:r>
                    </a:p>
                  </a:txBody>
                  <a:tcPr>
                    <a:solidFill>
                      <a:srgbClr val="F2F2F2"/>
                    </a:solidFill>
                  </a:tcPr>
                </a:tc>
                <a:tc>
                  <a:txBody>
                    <a:bodyPr/>
                    <a:lstStyle/>
                    <a:p>
                      <a:pPr algn="ctr"/>
                      <a:r>
                        <a:rPr sz="1000" b="0" i="0">
                          <a:solidFill>
                            <a:srgbClr val="262626"/>
                          </a:solidFill>
                          <a:latin typeface="Arial"/>
                        </a:rPr>
                        <a:t>20</a:t>
                      </a:r>
                    </a:p>
                  </a:txBody>
                  <a:tcPr>
                    <a:solidFill>
                      <a:srgbClr val="F2F2F2"/>
                    </a:solidFill>
                  </a:tcPr>
                </a:tc>
                <a:tc>
                  <a:txBody>
                    <a:bodyPr/>
                    <a:lstStyle/>
                    <a:p>
                      <a:pPr algn="ctr"/>
                      <a:r>
                        <a:rPr sz="1000" b="0" i="0">
                          <a:solidFill>
                            <a:srgbClr val="262626"/>
                          </a:solidFill>
                          <a:latin typeface="Arial"/>
                        </a:rPr>
                        <a:t>82%</a:t>
                      </a:r>
                    </a:p>
                  </a:txBody>
                  <a:tcPr>
                    <a:solidFill>
                      <a:srgbClr val="F2F2F2"/>
                    </a:solidFill>
                  </a:tcPr>
                </a:tc>
                <a:tc>
                  <a:txBody>
                    <a:bodyPr/>
                    <a:lstStyle/>
                    <a:p>
                      <a:pPr algn="ctr"/>
                      <a:r>
                        <a:rPr sz="1000" b="0" i="0">
                          <a:solidFill>
                            <a:srgbClr val="262626"/>
                          </a:solidFill>
                          <a:latin typeface="Arial"/>
                        </a:rPr>
                        <a:t>9</a:t>
                      </a:r>
                    </a:p>
                  </a:txBody>
                  <a:tcPr>
                    <a:solidFill>
                      <a:srgbClr val="F2F2F2"/>
                    </a:solidFill>
                  </a:tcPr>
                </a:tc>
                <a:tc>
                  <a:txBody>
                    <a:bodyPr/>
                    <a:lstStyle/>
                    <a:p>
                      <a:pPr algn="ctr"/>
                      <a:r>
                        <a:rPr sz="1000" b="0" i="0">
                          <a:solidFill>
                            <a:srgbClr val="262626"/>
                          </a:solidFill>
                          <a:latin typeface="Arial"/>
                        </a:rPr>
                        <a:t>0.0</a:t>
                      </a:r>
                    </a:p>
                  </a:txBody>
                  <a:tcPr>
                    <a:solidFill>
                      <a:srgbClr val="F2F2F2"/>
                    </a:solidFill>
                  </a:tcPr>
                </a:tc>
                <a:tc>
                  <a:txBody>
                    <a:bodyPr/>
                    <a:lstStyle/>
                    <a:p>
                      <a:pPr algn="ctr"/>
                      <a:r>
                        <a:rPr sz="1000" b="0" i="0">
                          <a:solidFill>
                            <a:srgbClr val="262626"/>
                          </a:solidFill>
                          <a:latin typeface="Arial"/>
                        </a:rPr>
                        <a:t>—</a:t>
                      </a:r>
                    </a:p>
                  </a:txBody>
                  <a:tcPr>
                    <a:solidFill>
                      <a:srgbClr val="F2F2F2"/>
                    </a:solidFill>
                  </a:tcPr>
                </a:tc>
                <a:tc>
                  <a:txBody>
                    <a:bodyPr/>
                    <a:lstStyle/>
                    <a:p>
                      <a:pPr algn="ctr"/>
                      <a:r>
                        <a:rPr sz="1000" b="0" i="0">
                          <a:solidFill>
                            <a:srgbClr val="262626"/>
                          </a:solidFill>
                          <a:latin typeface="Arial"/>
                        </a:rPr>
                        <a:t>—</a:t>
                      </a:r>
                    </a:p>
                  </a:txBody>
                  <a:tcPr>
                    <a:solidFill>
                      <a:srgbClr val="F2F2F2"/>
                    </a:solidFill>
                  </a:tcPr>
                </a:tc>
                <a:tc>
                  <a:txBody>
                    <a:bodyPr/>
                    <a:lstStyle/>
                    <a:p>
                      <a:pPr algn="l"/>
                      <a:r>
                        <a:rPr sz="1000" b="0" i="0">
                          <a:solidFill>
                            <a:srgbClr val="262626"/>
                          </a:solidFill>
                          <a:latin typeface="Arial"/>
                        </a:rPr>
                        <a:t>—</a:t>
                      </a:r>
                    </a:p>
                  </a:txBody>
                  <a:tcPr>
                    <a:solidFill>
                      <a:srgbClr val="F2F2F2"/>
                    </a:solidFill>
                  </a:tcPr>
                </a:tc>
                <a:extLst>
                  <a:ext uri="{0D108BD9-81ED-4DB2-BD59-A6C34878D82A}">
                    <a16:rowId xmlns:a16="http://schemas.microsoft.com/office/drawing/2014/main" val="10004"/>
                  </a:ext>
                </a:extLst>
              </a:tr>
              <a:tr h="457200">
                <a:tc>
                  <a:txBody>
                    <a:bodyPr/>
                    <a:lstStyle/>
                    <a:p>
                      <a:pPr algn="ctr"/>
                      <a:r>
                        <a:rPr sz="1000" b="0" i="0">
                          <a:solidFill>
                            <a:srgbClr val="262626"/>
                          </a:solidFill>
                          <a:latin typeface="Arial"/>
                        </a:rPr>
                        <a:t>2024</a:t>
                      </a:r>
                    </a:p>
                  </a:txBody>
                  <a:tcPr>
                    <a:solidFill>
                      <a:srgbClr val="FFFFFF"/>
                    </a:solidFill>
                  </a:tcPr>
                </a:tc>
                <a:tc>
                  <a:txBody>
                    <a:bodyPr/>
                    <a:lstStyle/>
                    <a:p>
                      <a:pPr algn="ctr"/>
                      <a:r>
                        <a:rPr sz="1000" b="0" i="0">
                          <a:solidFill>
                            <a:srgbClr val="262626"/>
                          </a:solidFill>
                          <a:latin typeface="Arial"/>
                        </a:rPr>
                        <a:t>Aug 24</a:t>
                      </a:r>
                    </a:p>
                  </a:txBody>
                  <a:tcPr>
                    <a:solidFill>
                      <a:srgbClr val="FFFFFF"/>
                    </a:solidFill>
                  </a:tcPr>
                </a:tc>
                <a:tc>
                  <a:txBody>
                    <a:bodyPr/>
                    <a:lstStyle/>
                    <a:p>
                      <a:pPr algn="ctr"/>
                      <a:r>
                        <a:rPr sz="1000" b="0" i="0">
                          <a:solidFill>
                            <a:srgbClr val="262626"/>
                          </a:solidFill>
                          <a:latin typeface="Arial"/>
                        </a:rPr>
                        <a:t>19.6</a:t>
                      </a:r>
                    </a:p>
                  </a:txBody>
                  <a:tcPr>
                    <a:solidFill>
                      <a:srgbClr val="FFFFFF"/>
                    </a:solidFill>
                  </a:tcPr>
                </a:tc>
                <a:tc>
                  <a:txBody>
                    <a:bodyPr/>
                    <a:lstStyle/>
                    <a:p>
                      <a:pPr algn="ctr"/>
                      <a:r>
                        <a:rPr sz="1000" b="0" i="0">
                          <a:solidFill>
                            <a:srgbClr val="262626"/>
                          </a:solidFill>
                          <a:latin typeface="Arial"/>
                        </a:rPr>
                        <a:t>81%</a:t>
                      </a:r>
                    </a:p>
                  </a:txBody>
                  <a:tcPr>
                    <a:solidFill>
                      <a:srgbClr val="FFFFFF"/>
                    </a:solidFill>
                  </a:tcPr>
                </a:tc>
                <a:tc>
                  <a:txBody>
                    <a:bodyPr/>
                    <a:lstStyle/>
                    <a:p>
                      <a:pPr algn="ctr"/>
                      <a:r>
                        <a:rPr sz="1000" b="0" i="0">
                          <a:solidFill>
                            <a:srgbClr val="262626"/>
                          </a:solidFill>
                          <a:latin typeface="Arial"/>
                        </a:rPr>
                        <a:t>21</a:t>
                      </a:r>
                    </a:p>
                  </a:txBody>
                  <a:tcPr>
                    <a:solidFill>
                      <a:srgbClr val="FFFFFF"/>
                    </a:solidFill>
                  </a:tcPr>
                </a:tc>
                <a:tc>
                  <a:txBody>
                    <a:bodyPr/>
                    <a:lstStyle/>
                    <a:p>
                      <a:pPr algn="ctr"/>
                      <a:r>
                        <a:rPr sz="1000" b="0" i="0">
                          <a:solidFill>
                            <a:srgbClr val="262626"/>
                          </a:solidFill>
                          <a:latin typeface="Arial"/>
                        </a:rPr>
                        <a:t>0.1</a:t>
                      </a:r>
                    </a:p>
                  </a:txBody>
                  <a:tcPr>
                    <a:solidFill>
                      <a:srgbClr val="FFFFFF"/>
                    </a:solidFill>
                  </a:tcPr>
                </a:tc>
                <a:tc>
                  <a:txBody>
                    <a:bodyPr/>
                    <a:lstStyle/>
                    <a:p>
                      <a:pPr algn="ctr"/>
                      <a:r>
                        <a:rPr sz="1000" b="0" i="0">
                          <a:solidFill>
                            <a:srgbClr val="262626"/>
                          </a:solidFill>
                          <a:latin typeface="Arial"/>
                        </a:rPr>
                        <a:t>—</a:t>
                      </a:r>
                    </a:p>
                  </a:txBody>
                  <a:tcPr>
                    <a:solidFill>
                      <a:srgbClr val="FFFFFF"/>
                    </a:solidFill>
                  </a:tcPr>
                </a:tc>
                <a:tc>
                  <a:txBody>
                    <a:bodyPr/>
                    <a:lstStyle/>
                    <a:p>
                      <a:pPr algn="ctr"/>
                      <a:r>
                        <a:rPr sz="1000" b="0" i="0">
                          <a:solidFill>
                            <a:srgbClr val="262626"/>
                          </a:solidFill>
                          <a:latin typeface="Arial"/>
                        </a:rPr>
                        <a:t>—</a:t>
                      </a:r>
                    </a:p>
                  </a:txBody>
                  <a:tcPr>
                    <a:solidFill>
                      <a:srgbClr val="FFFFFF"/>
                    </a:solidFill>
                  </a:tcPr>
                </a:tc>
                <a:tc>
                  <a:txBody>
                    <a:bodyPr/>
                    <a:lstStyle/>
                    <a:p>
                      <a:pPr algn="l"/>
                      <a:r>
                        <a:rPr sz="1000" b="0" i="0">
                          <a:solidFill>
                            <a:srgbClr val="262626"/>
                          </a:solidFill>
                          <a:latin typeface="Arial"/>
                        </a:rPr>
                        <a:t>—</a:t>
                      </a:r>
                    </a:p>
                  </a:txBody>
                  <a:tcPr>
                    <a:solidFill>
                      <a:srgbClr val="FFFFFF"/>
                    </a:solidFill>
                  </a:tcPr>
                </a:tc>
                <a:extLst>
                  <a:ext uri="{0D108BD9-81ED-4DB2-BD59-A6C34878D82A}">
                    <a16:rowId xmlns:a16="http://schemas.microsoft.com/office/drawing/2014/main" val="10005"/>
                  </a:ext>
                </a:extLst>
              </a:tr>
            </a:tbl>
          </a:graphicData>
        </a:graphic>
      </p:graphicFrame>
      <p:sp>
        <p:nvSpPr>
          <p:cNvPr id="9" name="TextBox 8"/>
          <p:cNvSpPr txBox="1"/>
          <p:nvPr/>
        </p:nvSpPr>
        <p:spPr>
          <a:xfrm>
            <a:off x="274320" y="6035040"/>
            <a:ext cx="11640312" cy="658368"/>
          </a:xfrm>
          <a:prstGeom prst="rect">
            <a:avLst/>
          </a:prstGeom>
          <a:noFill/>
        </p:spPr>
        <p:txBody>
          <a:bodyPr wrap="square">
            <a:spAutoFit/>
          </a:bodyPr>
          <a:lstStyle/>
          <a:p>
            <a:pPr algn="l"/>
            <a:r>
              <a:rPr sz="900" b="0" i="1">
                <a:solidFill>
                  <a:srgbClr val="BFBFBF"/>
                </a:solidFill>
                <a:latin typeface="Arial"/>
              </a:rPr>
              <a:t>Air temp, humidity, wind, and precipitation sourced from Open-Meteo historical archive (race window 08:00–11:00 local) where WT API data is absent. Values marked * are Open-Meteo estimates. Water temp and wetsuit ruling are from the World Triathlon API per program.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224</TotalTime>
  <Words>4834</Words>
  <Application>Microsoft Office PowerPoint</Application>
  <PresentationFormat>Custom</PresentationFormat>
  <Paragraphs>1381</Paragraphs>
  <Slides>30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John High</cp:lastModifiedBy>
  <cp:revision>2</cp:revision>
  <dcterms:created xsi:type="dcterms:W3CDTF">2013-01-27T09:14:16Z</dcterms:created>
  <dcterms:modified xsi:type="dcterms:W3CDTF">2026-07-15T03:54:58Z</dcterms:modified>
  <cp:category/>
</cp:coreProperties>
</file>