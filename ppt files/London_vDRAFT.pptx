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86" r:id="rId8"/>
    <p:sldId id="287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vents.triathlon.org/2026-wtcs-london/race-info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LONDON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July 24 – 25,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London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July 24 – 25, 2026   •   ExCeL London, Royal Docks (BST, UTC+1)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5705856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728216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 • July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240280"/>
          <a:ext cx="570585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4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1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13:30 – 15:30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Athlete lounge open — ExCeL South Halls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14:00 – 14:30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course familiarization — Dockside (via Elite Transition)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15:30 – 16:00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Athlete sign-in for race briefing — South Halls 23/24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16:00 – 16:30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Mandatory Elite Athletes' race briefing — South Halls 23/24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16:30 – 17:00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Race pack + accreditation distribution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16:30 – 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Team Medical Meeting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208776" y="1691640"/>
            <a:ext cx="5705856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0216" y="1728216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 • July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929384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WTCS SPRINT RACE DAY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579102"/>
              </p:ext>
            </p:extLst>
          </p:nvPr>
        </p:nvGraphicFramePr>
        <p:xfrm>
          <a:off x="6208777" y="2236076"/>
          <a:ext cx="5705855" cy="407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4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1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440"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08:30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 course familiarization check-in — Elite Transition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44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09:00 – 09:20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 course familiarization (escorted)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44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12:30 – 14:00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Athletes' lounge check-in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44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13:45 – 14:15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Transition check-in + swim warm-up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44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Athlete introductions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44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14:30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WOMEN WTCS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44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14:45 – 15:45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Athletes' lounge check-in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44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15:30 – 16:00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Transition check-in + swim warm-up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44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Athlete introductions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44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16:15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MEN WTCS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44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17:15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awards ceremony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44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17:30 – 17:40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Elite Women awards (immediately after men)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74320" y="6355080"/>
            <a:ext cx="116403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BFBFBF"/>
                </a:solidFill>
                <a:latin typeface="Arial"/>
              </a:rPr>
              <a:t>Times </a:t>
            </a:r>
            <a:r>
              <a:rPr sz="900" b="0" i="1" dirty="0" err="1">
                <a:solidFill>
                  <a:srgbClr val="BFBFBF"/>
                </a:solidFill>
                <a:latin typeface="Arial"/>
              </a:rPr>
              <a:t>ExCeL</a:t>
            </a:r>
            <a:r>
              <a:rPr sz="900" b="0" i="1" dirty="0">
                <a:solidFill>
                  <a:srgbClr val="BFBFBF"/>
                </a:solidFill>
                <a:latin typeface="Arial"/>
              </a:rPr>
              <a:t> London, Royal Docks (BST, UTC+1). Schedule confirmed from World Triathlon race-info page / athlete guide;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London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WTCS London moves to the </a:t>
            </a:r>
            <a:r>
              <a:rPr sz="1400" b="0" i="0" dirty="0" err="1">
                <a:solidFill>
                  <a:srgbClr val="262626"/>
                </a:solidFill>
                <a:latin typeface="Arial"/>
              </a:rPr>
              <a:t>ExCeL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in the Royal </a:t>
            </a:r>
            <a:r>
              <a:rPr sz="1400" b="0" i="0" dirty="0" err="1">
                <a:solidFill>
                  <a:srgbClr val="262626"/>
                </a:solidFill>
                <a:latin typeface="Arial"/>
              </a:rPr>
              <a:t>Docks</a:t>
            </a:r>
            <a:r>
              <a:rPr lang="en-US" sz="1400" dirty="0" err="1">
                <a:solidFill>
                  <a:srgbClr val="262626"/>
                </a:solidFill>
                <a:latin typeface="Arial"/>
              </a:rPr>
              <a:t>m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,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a sprint-distance, stadium-style race with an afternoon start (Women 14:30, Men 16:15). The swim is a single 750 m loop in the enclosed Royal Victoria Dock, followed by a dead-flat, fast 20.64 km bike (7 short out-and-back laps on Royal Albert Way) and a 4.92 km run that weaves through the </a:t>
            </a:r>
            <a:r>
              <a:rPr sz="1400" b="0" i="0" dirty="0" err="1">
                <a:solidFill>
                  <a:srgbClr val="262626"/>
                </a:solidFill>
                <a:latin typeface="Arial"/>
              </a:rPr>
              <a:t>ExCeL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venue hall on each of 3 laps. Cool UK-summer conditions and a flat, fast layout mean this race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should be ripping from the start.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3282354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332364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93834"/>
            <a:ext cx="5852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750 m single-loop swim in the enclosed Royal Victoria Dock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Pontoon start. Water temperature ranges from 18-21 C, thu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s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 athletes/coaches need to get accurate sample in the lead up to race for wetsuit ruling.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4487278"/>
            <a:ext cx="5852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Flat &amp; fast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crit style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bike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 course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: 7 × 2.64 km out-and-back laps (20.64 km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5065278"/>
            <a:ext cx="5852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4.92 km run, 3 laps partly indoors through the </a:t>
            </a:r>
            <a:r>
              <a:rPr sz="1400" b="0" i="0" dirty="0" err="1">
                <a:solidFill>
                  <a:srgbClr val="262626"/>
                </a:solidFill>
                <a:latin typeface="Arial"/>
              </a:rPr>
              <a:t>ExCeL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hal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l. Short distance, flat terrain, and potential for cool conditions should enable fast runners to leverage their run speed.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" y="5858721"/>
            <a:ext cx="585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Afternoon start (W 14:30 / M 16:15)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750 m – 1 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20.64 km – 7 laps × 2.64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4.92 km – 3 laps × 1.64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Sprint Triathlon (WTCS)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82371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284199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23519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536942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262626"/>
                </a:solidFill>
                <a:latin typeface="Arial"/>
                <a:hlinkClick r:id="rId3"/>
              </a:rPr>
              <a:t>Race Info | 2026 WTCS London</a:t>
            </a:r>
            <a:endParaRPr sz="1000" b="0" i="1" dirty="0">
              <a:solidFill>
                <a:srgbClr val="262626"/>
              </a:solidFill>
              <a:latin typeface="Arial"/>
            </a:endParaRPr>
          </a:p>
        </p:txBody>
      </p:sp>
      <p:pic>
        <p:nvPicPr>
          <p:cNvPr id="35" name="Picture 34" descr="The image depicts a map layout showcasing various locations and distances related to the World Triathlon Championships in London, including venues, distances, and travel times between locations.&#10;&#10;AI-generated content may be incorrect.">
            <a:extLst>
              <a:ext uri="{FF2B5EF4-FFF2-40B4-BE49-F238E27FC236}">
                <a16:creationId xmlns:a16="http://schemas.microsoft.com/office/drawing/2014/main" id="{A0EB78B3-191D-B07D-3389-80C3D5D30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677" y="3810595"/>
            <a:ext cx="5186400" cy="27776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London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files/support/london_swim_course.png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2026 WTCS London Elite Athlete's Guide (Royal Docks, ExCeL)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750 m   •   single 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Enclosed freshwater dock — no current, urban dock water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750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Royal Victoria Dock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62626"/>
                </a:solidFill>
                <a:latin typeface="Arial"/>
              </a:rPr>
              <a:t>Pontoon star</a:t>
            </a:r>
            <a:r>
              <a:rPr lang="en-US" sz="1400" b="1" i="0" dirty="0">
                <a:solidFill>
                  <a:srgbClr val="262626"/>
                </a:solidFill>
                <a:latin typeface="Arial"/>
              </a:rPr>
              <a:t>t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262626"/>
                </a:solidFill>
                <a:latin typeface="Arial"/>
              </a:rPr>
              <a:t>18.0–21.0 °C (expected)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262626"/>
                </a:solidFill>
                <a:latin typeface="Arial"/>
              </a:rPr>
              <a:t>Borderline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62626"/>
                </a:solidFill>
                <a:latin typeface="Arial"/>
              </a:rPr>
              <a:t>•  Single 750 m clockwise loop in the Royal Victoria Dock, off the </a:t>
            </a:r>
            <a:r>
              <a:rPr sz="1300" b="0" i="0" dirty="0" err="1">
                <a:solidFill>
                  <a:srgbClr val="262626"/>
                </a:solidFill>
                <a:latin typeface="Arial"/>
              </a:rPr>
              <a:t>ExCeL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 dockside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. Enclosed dock should result in flat water conditions. </a:t>
            </a:r>
            <a:endParaRPr sz="13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0" y="4709160"/>
            <a:ext cx="6126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lang="en-US" sz="1300" dirty="0">
                <a:solidFill>
                  <a:srgbClr val="262626"/>
                </a:solidFill>
                <a:latin typeface="Arial"/>
              </a:rPr>
              <a:t>Pontoon start with a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315 m leg to the first buoy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. Hard start to ensure good positioning at the turnaround.  </a:t>
            </a:r>
            <a:endParaRPr sz="13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69280" y="5440680"/>
            <a:ext cx="6126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62626"/>
                </a:solidFill>
                <a:latin typeface="Arial"/>
              </a:rPr>
              <a:t>•  Afternoon starts (W 14:30 / M 16:15)</a:t>
            </a:r>
            <a:r>
              <a:rPr lang="en-US" sz="1300" dirty="0">
                <a:solidFill>
                  <a:srgbClr val="262626"/>
                </a:solidFill>
                <a:latin typeface="Arial"/>
              </a:rPr>
              <a:t>. W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ater will be at its warmest of the day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. Potential to be non wetsuit. Get an idea of water temp in afternoon prior to race.</a:t>
            </a:r>
            <a:endParaRPr sz="13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 dirty="0">
                <a:solidFill>
                  <a:srgbClr val="262626"/>
                </a:solidFill>
                <a:latin typeface="Arial"/>
              </a:rPr>
              <a:t>Not in race brief: Confirmed race-day water temperature (published at the pre-race reading)</a:t>
            </a:r>
          </a:p>
        </p:txBody>
      </p:sp>
      <p:pic>
        <p:nvPicPr>
          <p:cNvPr id="43" name="Picture 42" descr="The diagram depicts a swimming area with designated starting and exit points marked by red flags.&#10;&#10;AI-generated content may be incorrect.">
            <a:extLst>
              <a:ext uri="{FF2B5EF4-FFF2-40B4-BE49-F238E27FC236}">
                <a16:creationId xmlns:a16="http://schemas.microsoft.com/office/drawing/2014/main" id="{5CC025A5-ED87-9BEB-E6AA-2D959EBBA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05637"/>
            <a:ext cx="5166360" cy="3905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118292" y="5316550"/>
            <a:ext cx="5764364" cy="126704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London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files/support/london_bike_course.png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2026 WTCS London Elite Athlete's Guide (ExCeL, Royal Docks)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20.64 km   •   7 × 2.64 km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private roads + national highways (contraflow) — Royal Albert 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Flat (&lt; 10 ft / lap)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i="0" dirty="0">
                <a:solidFill>
                  <a:srgbClr val="262626"/>
                </a:solidFill>
                <a:latin typeface="Arial"/>
              </a:rPr>
              <a:t>~60 ft (small incline on final section)</a:t>
            </a:r>
            <a:endParaRPr sz="11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0%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262626"/>
                </a:solidFill>
                <a:latin typeface="Arial"/>
              </a:rPr>
              <a:t>Potential for exposure along dock</a:t>
            </a:r>
            <a:endParaRPr sz="12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7 × 2.64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39577" y="4097835"/>
            <a:ext cx="61264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sz="1300" b="1" i="0" dirty="0">
                <a:solidFill>
                  <a:srgbClr val="262626"/>
                </a:solidFill>
                <a:latin typeface="Arial"/>
              </a:rPr>
              <a:t>Flat and fast: 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7 × 2.64 km out-and-back laps on Royal Albert Way (+0.75 km bike-out, +1.23 km bike-in) = 20.64 km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. Dead flat dockside course favors the ability to put down raw power. </a:t>
            </a:r>
            <a:endParaRPr sz="13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39577" y="4892347"/>
            <a:ext cx="6126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62626"/>
                </a:solidFill>
                <a:latin typeface="Arial"/>
              </a:rPr>
              <a:t>•  Out-and-back on a wide highway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. Strong likelihood for 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big lead packs 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to form. </a:t>
            </a:r>
            <a:r>
              <a:rPr lang="en-US" sz="1300" dirty="0">
                <a:solidFill>
                  <a:srgbClr val="262626"/>
                </a:solidFill>
                <a:latin typeface="Arial"/>
              </a:rPr>
              <a:t>P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ositioning into the U-turns is key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33826" y="5486805"/>
            <a:ext cx="6126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62626"/>
                </a:solidFill>
                <a:latin typeface="Arial"/>
              </a:rPr>
              <a:t>•  Course uses private roads/highways only open during official familiarization (Sat 09:00–09:20) — no race-direction preview otherwise</a:t>
            </a:r>
          </a:p>
        </p:txBody>
      </p:sp>
      <p:pic>
        <p:nvPicPr>
          <p:cNvPr id="43" name="Picture 42" descr="The diagram represents a range of elevations, with values ranging from -59 to 594.&#10;&#10;AI-generated content may be incorrect.">
            <a:extLst>
              <a:ext uri="{FF2B5EF4-FFF2-40B4-BE49-F238E27FC236}">
                <a16:creationId xmlns:a16="http://schemas.microsoft.com/office/drawing/2014/main" id="{E75943B8-2BB4-119B-85CB-38F421F0A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91" y="5155338"/>
            <a:ext cx="5725060" cy="1463795"/>
          </a:xfrm>
          <a:prstGeom prst="rect">
            <a:avLst/>
          </a:prstGeom>
        </p:spPr>
      </p:pic>
      <p:pic>
        <p:nvPicPr>
          <p:cNvPr id="45" name="Picture 44" descr="The image depicts a detailed map of various locations and transportation points around a waterfront area, including a harbor, dock, roads, parks, hotels, and cycling routes.&#10;&#10;AI-generated content may be incorrect.">
            <a:extLst>
              <a:ext uri="{FF2B5EF4-FFF2-40B4-BE49-F238E27FC236}">
                <a16:creationId xmlns:a16="http://schemas.microsoft.com/office/drawing/2014/main" id="{578802D4-9420-6293-0E5D-C0C0B06E6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39" y="1069848"/>
            <a:ext cx="5266722" cy="37356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London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files/support/london_run_course.png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2026 WTCS London Elite Athlete's Guide (ExCeL, Royal Docks)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/>
              </a:rPr>
              <a:t>4.9</a:t>
            </a:r>
            <a:r>
              <a:rPr lang="en-US" sz="2200" b="1" i="0" dirty="0">
                <a:solidFill>
                  <a:srgbClr val="FFFFFF"/>
                </a:solidFill>
                <a:latin typeface="Arial"/>
              </a:rPr>
              <a:t>2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 km   •   3 × 1.6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Mixed indoor/outdoor — through the ExCeL venue hub each lap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62626"/>
                </a:solidFill>
                <a:latin typeface="Arial"/>
              </a:rPr>
              <a:t>4.9</a:t>
            </a:r>
            <a:r>
              <a:rPr lang="en-US" sz="1400" b="1" i="0" dirty="0">
                <a:solidFill>
                  <a:srgbClr val="262626"/>
                </a:solidFill>
                <a:latin typeface="Arial"/>
              </a:rPr>
              <a:t>2</a:t>
            </a:r>
            <a:r>
              <a:rPr sz="1400" b="1" i="0" dirty="0">
                <a:solidFill>
                  <a:srgbClr val="262626"/>
                </a:solidFill>
                <a:latin typeface="Arial"/>
              </a:rPr>
              <a:t>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3 × 1.6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62626"/>
                </a:solidFill>
                <a:latin typeface="Arial"/>
              </a:rPr>
              <a:t>•  3 anti-clockwise laps (1.76 + 1.76 + 1.34 km = 4.92 km) routed through the main </a:t>
            </a:r>
            <a:r>
              <a:rPr sz="1300" b="0" i="0" dirty="0" err="1">
                <a:solidFill>
                  <a:srgbClr val="262626"/>
                </a:solidFill>
                <a:latin typeface="Arial"/>
              </a:rPr>
              <a:t>ExCeL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 venue hub each lap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. </a:t>
            </a:r>
            <a:endParaRPr sz="13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0" y="4559981"/>
            <a:ext cx="6126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62626"/>
                </a:solidFill>
                <a:latin typeface="Arial"/>
              </a:rPr>
              <a:t>•  Flat 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and partly indoors course should make for fast conditions. Same venue that the T100 utilized should make for a l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oud and atmospheric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 environment. </a:t>
            </a:r>
            <a:endParaRPr sz="13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0" y="5142321"/>
            <a:ext cx="6126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Three </a:t>
            </a:r>
            <a:r>
              <a:rPr lang="en-US" sz="1300" dirty="0">
                <a:solidFill>
                  <a:srgbClr val="262626"/>
                </a:solidFill>
                <a:latin typeface="Arial"/>
              </a:rPr>
              <a:t>l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ap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s is atypical for sprint race. Lap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 counter 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will be at 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transition exit</a:t>
            </a:r>
            <a:r>
              <a:rPr lang="en-US" sz="1300" dirty="0">
                <a:solidFill>
                  <a:srgbClr val="262626"/>
                </a:solidFill>
                <a:latin typeface="Arial"/>
              </a:rPr>
              <a:t> and make sure to note the 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finish chute is a left-hand turn on lap 3 (final 62 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6080760"/>
            <a:ext cx="11430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 dirty="0">
                <a:solidFill>
                  <a:srgbClr val="262626"/>
                </a:solidFill>
                <a:latin typeface="Arial"/>
              </a:rPr>
              <a:t>Not in race brief: Elevation profile (course is flat — no published grade data)</a:t>
            </a:r>
            <a:r>
              <a:rPr lang="en-US" sz="950" b="0" i="1" dirty="0">
                <a:solidFill>
                  <a:srgbClr val="262626"/>
                </a:solidFill>
                <a:latin typeface="Arial"/>
              </a:rPr>
              <a:t>. Can’t build on Garmin Connect due to building </a:t>
            </a:r>
            <a:r>
              <a:rPr lang="en-US" sz="950" b="0" i="1" dirty="0" err="1">
                <a:solidFill>
                  <a:srgbClr val="262626"/>
                </a:solidFill>
                <a:latin typeface="Arial"/>
              </a:rPr>
              <a:t>inclosure</a:t>
            </a:r>
            <a:r>
              <a:rPr lang="en-US" sz="950" b="0" i="1" dirty="0">
                <a:solidFill>
                  <a:srgbClr val="262626"/>
                </a:solidFill>
                <a:latin typeface="Arial"/>
              </a:rPr>
              <a:t>.</a:t>
            </a:r>
            <a:endParaRPr sz="950" b="0" i="1" dirty="0">
              <a:solidFill>
                <a:srgbClr val="262626"/>
              </a:solidFill>
              <a:latin typeface="Arial"/>
            </a:endParaRPr>
          </a:p>
        </p:txBody>
      </p:sp>
      <p:pic>
        <p:nvPicPr>
          <p:cNvPr id="43" name="Picture 42" descr="The image shows a layout of the London E-Prix race track, with various locations and amenities marked, including cafes and a floating walkway.&#10;&#10;AI-generated content may be incorrect.">
            <a:extLst>
              <a:ext uri="{FF2B5EF4-FFF2-40B4-BE49-F238E27FC236}">
                <a16:creationId xmlns:a16="http://schemas.microsoft.com/office/drawing/2014/main" id="{1ABC9F66-40D6-FCD4-D3CD-BB4A9B945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1144705"/>
            <a:ext cx="5120640" cy="3884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B69A0-65C6-96E9-A20B-FB38094BE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036A26-6B40-D1C6-1318-3E62449C6258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B463A-362A-155F-943F-33D33D2EF921}"/>
              </a:ext>
            </a:extLst>
          </p:cNvPr>
          <p:cNvSpPr txBox="1"/>
          <p:nvPr/>
        </p:nvSpPr>
        <p:spPr>
          <a:xfrm>
            <a:off x="228600" y="45720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Arial"/>
              </a:rPr>
              <a:t>Course Photos</a:t>
            </a:r>
            <a:endParaRPr sz="2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AE0AE-64FE-26D1-896A-48DD5B92102A}"/>
              </a:ext>
            </a:extLst>
          </p:cNvPr>
          <p:cNvSpPr txBox="1"/>
          <p:nvPr/>
        </p:nvSpPr>
        <p:spPr>
          <a:xfrm>
            <a:off x="228600" y="621792"/>
            <a:ext cx="9601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AABBDD"/>
                </a:solidFill>
                <a:latin typeface="Arial"/>
              </a:rPr>
              <a:t>London</a:t>
            </a:r>
            <a:endParaRPr sz="1200" b="0" i="0" dirty="0">
              <a:solidFill>
                <a:srgbClr val="AABBDD"/>
              </a:solidFill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3073E9-434E-3930-6FFC-31BD6603F2F5}"/>
              </a:ext>
            </a:extLst>
          </p:cNvPr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>
            <a:extLst>
              <a:ext uri="{FF2B5EF4-FFF2-40B4-BE49-F238E27FC236}">
                <a16:creationId xmlns:a16="http://schemas.microsoft.com/office/drawing/2014/main" id="{D44948B8-9264-8202-F318-A1B3AC5D7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3436C4D-1E0F-A63C-1BD7-FA0DC4832037}"/>
              </a:ext>
            </a:extLst>
          </p:cNvPr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Speech Bubble: Rectangle 44">
            <a:extLst>
              <a:ext uri="{FF2B5EF4-FFF2-40B4-BE49-F238E27FC236}">
                <a16:creationId xmlns:a16="http://schemas.microsoft.com/office/drawing/2014/main" id="{D54DE021-5F3B-B2A9-E300-715AE37740D5}"/>
              </a:ext>
            </a:extLst>
          </p:cNvPr>
          <p:cNvSpPr/>
          <p:nvPr/>
        </p:nvSpPr>
        <p:spPr>
          <a:xfrm>
            <a:off x="5575459" y="4172772"/>
            <a:ext cx="914400" cy="612648"/>
          </a:xfrm>
          <a:prstGeom prst="wedgeRectCallout">
            <a:avLst>
              <a:gd name="adj1" fmla="val -42073"/>
              <a:gd name="adj2" fmla="val -114406"/>
            </a:avLst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Swim Area</a:t>
            </a:r>
          </a:p>
        </p:txBody>
      </p:sp>
      <p:sp>
        <p:nvSpPr>
          <p:cNvPr id="49" name="Speech Bubble: Rectangle 48">
            <a:extLst>
              <a:ext uri="{FF2B5EF4-FFF2-40B4-BE49-F238E27FC236}">
                <a16:creationId xmlns:a16="http://schemas.microsoft.com/office/drawing/2014/main" id="{3C612AB9-E711-E95B-E719-1542F125ED7F}"/>
              </a:ext>
            </a:extLst>
          </p:cNvPr>
          <p:cNvSpPr/>
          <p:nvPr/>
        </p:nvSpPr>
        <p:spPr>
          <a:xfrm>
            <a:off x="5734049" y="5511054"/>
            <a:ext cx="2202253" cy="981730"/>
          </a:xfrm>
          <a:prstGeom prst="wedgeRectCallout">
            <a:avLst>
              <a:gd name="adj1" fmla="val -59173"/>
              <a:gd name="adj2" fmla="val 311"/>
            </a:avLst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First Left Turn off the side alley bike course</a:t>
            </a:r>
          </a:p>
        </p:txBody>
      </p:sp>
      <p:sp>
        <p:nvSpPr>
          <p:cNvPr id="51" name="Speech Bubble: Rectangle 50">
            <a:extLst>
              <a:ext uri="{FF2B5EF4-FFF2-40B4-BE49-F238E27FC236}">
                <a16:creationId xmlns:a16="http://schemas.microsoft.com/office/drawing/2014/main" id="{13AD81E9-BCC1-9324-62CF-107D9F404C7A}"/>
              </a:ext>
            </a:extLst>
          </p:cNvPr>
          <p:cNvSpPr/>
          <p:nvPr/>
        </p:nvSpPr>
        <p:spPr>
          <a:xfrm>
            <a:off x="8816195" y="5128466"/>
            <a:ext cx="2007079" cy="981730"/>
          </a:xfrm>
          <a:prstGeom prst="wedgeRectCallout">
            <a:avLst>
              <a:gd name="adj1" fmla="val 17184"/>
              <a:gd name="adj2" fmla="val -91220"/>
            </a:avLst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Exit From Building onto Bike Course</a:t>
            </a:r>
          </a:p>
        </p:txBody>
      </p:sp>
      <p:pic>
        <p:nvPicPr>
          <p:cNvPr id="9" name="Picture 8" descr="Vodafone&#10;&#10;AI-generated content may be incorrect.">
            <a:extLst>
              <a:ext uri="{FF2B5EF4-FFF2-40B4-BE49-F238E27FC236}">
                <a16:creationId xmlns:a16="http://schemas.microsoft.com/office/drawing/2014/main" id="{AF33B166-0EA7-BDA2-EF82-52E4F8C47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51" y="1042141"/>
            <a:ext cx="5541716" cy="2649615"/>
          </a:xfrm>
          <a:prstGeom prst="rect">
            <a:avLst/>
          </a:prstGeom>
        </p:spPr>
      </p:pic>
      <p:pic>
        <p:nvPicPr>
          <p:cNvPr id="11" name="Picture 10" descr="The image shows a calm waterfront with a modern building, a paved sidewalk, and a cloudy sky, likely depicting an urban or coastal setting.&#10;&#10;AI-generated content may be incorrect.">
            <a:extLst>
              <a:ext uri="{FF2B5EF4-FFF2-40B4-BE49-F238E27FC236}">
                <a16:creationId xmlns:a16="http://schemas.microsoft.com/office/drawing/2014/main" id="{E5A8B852-5303-A0D2-7F66-596252EC4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158" y="1159764"/>
            <a:ext cx="5541716" cy="3284754"/>
          </a:xfrm>
          <a:prstGeom prst="rect">
            <a:avLst/>
          </a:prstGeom>
        </p:spPr>
      </p:pic>
      <p:pic>
        <p:nvPicPr>
          <p:cNvPr id="13" name="Picture 12" descr="The image shows an EXCEL London building with a no-parking sign, surrounded by a paved area and some green grass.&#10;&#10;AI-generated content may be incorrect.">
            <a:extLst>
              <a:ext uri="{FF2B5EF4-FFF2-40B4-BE49-F238E27FC236}">
                <a16:creationId xmlns:a16="http://schemas.microsoft.com/office/drawing/2014/main" id="{B98D8736-589B-0C7C-AF3B-39A19E028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863954"/>
            <a:ext cx="5299230" cy="283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0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E8CDB-7105-3F07-DDEC-6B9F83AD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362A46-A9A2-F3C5-5759-CC85859BD68E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05CE0-B288-9172-89B0-7CFBB0408079}"/>
              </a:ext>
            </a:extLst>
          </p:cNvPr>
          <p:cNvSpPr txBox="1"/>
          <p:nvPr/>
        </p:nvSpPr>
        <p:spPr>
          <a:xfrm>
            <a:off x="228600" y="45720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Arial"/>
              </a:rPr>
              <a:t>Course Photos</a:t>
            </a:r>
            <a:endParaRPr sz="2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E013ED-9E33-A118-BDD1-E3CBEE18A5BC}"/>
              </a:ext>
            </a:extLst>
          </p:cNvPr>
          <p:cNvSpPr txBox="1"/>
          <p:nvPr/>
        </p:nvSpPr>
        <p:spPr>
          <a:xfrm>
            <a:off x="228600" y="621792"/>
            <a:ext cx="9601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AABBDD"/>
                </a:solidFill>
                <a:latin typeface="Arial"/>
              </a:rPr>
              <a:t>London</a:t>
            </a:r>
            <a:endParaRPr sz="1200" b="0" i="0" dirty="0">
              <a:solidFill>
                <a:srgbClr val="AABBDD"/>
              </a:solidFill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A6C87-7EC0-04CE-D5A2-8D2439C54589}"/>
              </a:ext>
            </a:extLst>
          </p:cNvPr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>
            <a:extLst>
              <a:ext uri="{FF2B5EF4-FFF2-40B4-BE49-F238E27FC236}">
                <a16:creationId xmlns:a16="http://schemas.microsoft.com/office/drawing/2014/main" id="{2A62597E-600F-8778-6EA5-AB4CE65E0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821E0A0-4043-5592-52BB-722C69463EF4}"/>
              </a:ext>
            </a:extLst>
          </p:cNvPr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Speech Bubble: Rectangle 44">
            <a:extLst>
              <a:ext uri="{FF2B5EF4-FFF2-40B4-BE49-F238E27FC236}">
                <a16:creationId xmlns:a16="http://schemas.microsoft.com/office/drawing/2014/main" id="{7F84C184-B3F3-1DC2-652A-4B11467B761B}"/>
              </a:ext>
            </a:extLst>
          </p:cNvPr>
          <p:cNvSpPr/>
          <p:nvPr/>
        </p:nvSpPr>
        <p:spPr>
          <a:xfrm>
            <a:off x="1121793" y="4796692"/>
            <a:ext cx="2271263" cy="1546908"/>
          </a:xfrm>
          <a:prstGeom prst="wedgeRectCallout">
            <a:avLst>
              <a:gd name="adj1" fmla="val -23687"/>
              <a:gd name="adj2" fmla="val -96142"/>
            </a:avLst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First Roundabout on Bike Course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C862C56E-5EB0-25E8-81FD-2B02CB1A48FA}"/>
              </a:ext>
            </a:extLst>
          </p:cNvPr>
          <p:cNvSpPr/>
          <p:nvPr/>
        </p:nvSpPr>
        <p:spPr>
          <a:xfrm>
            <a:off x="7389962" y="1401368"/>
            <a:ext cx="1743823" cy="1358526"/>
          </a:xfrm>
          <a:prstGeom prst="wedgeRectCallout">
            <a:avLst>
              <a:gd name="adj1" fmla="val 15616"/>
              <a:gd name="adj2" fmla="val 78640"/>
            </a:avLst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Far Turnaround on Bike Course</a:t>
            </a:r>
            <a:endParaRPr lang="en-US" dirty="0"/>
          </a:p>
        </p:txBody>
      </p:sp>
      <p:sp>
        <p:nvSpPr>
          <p:cNvPr id="49" name="Speech Bubble: Rectangle 48">
            <a:extLst>
              <a:ext uri="{FF2B5EF4-FFF2-40B4-BE49-F238E27FC236}">
                <a16:creationId xmlns:a16="http://schemas.microsoft.com/office/drawing/2014/main" id="{486953EF-71B8-FD8E-A340-83BB5C24D748}"/>
              </a:ext>
            </a:extLst>
          </p:cNvPr>
          <p:cNvSpPr/>
          <p:nvPr/>
        </p:nvSpPr>
        <p:spPr>
          <a:xfrm>
            <a:off x="5391150" y="3641832"/>
            <a:ext cx="1236662" cy="981730"/>
          </a:xfrm>
          <a:prstGeom prst="wedgeRectCallout">
            <a:avLst>
              <a:gd name="adj1" fmla="val -59173"/>
              <a:gd name="adj2" fmla="val 311"/>
            </a:avLst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Beginning of Bike Climb</a:t>
            </a:r>
          </a:p>
        </p:txBody>
      </p:sp>
      <p:sp>
        <p:nvSpPr>
          <p:cNvPr id="51" name="Speech Bubble: Rectangle 50">
            <a:extLst>
              <a:ext uri="{FF2B5EF4-FFF2-40B4-BE49-F238E27FC236}">
                <a16:creationId xmlns:a16="http://schemas.microsoft.com/office/drawing/2014/main" id="{A8D96C5A-1FE2-997F-3736-F50AD0DF6B80}"/>
              </a:ext>
            </a:extLst>
          </p:cNvPr>
          <p:cNvSpPr/>
          <p:nvPr/>
        </p:nvSpPr>
        <p:spPr>
          <a:xfrm>
            <a:off x="6248400" y="5079281"/>
            <a:ext cx="1236662" cy="981730"/>
          </a:xfrm>
          <a:prstGeom prst="wedgeRectCallout">
            <a:avLst>
              <a:gd name="adj1" fmla="val 63035"/>
              <a:gd name="adj2" fmla="val 23596"/>
            </a:avLst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Halfway / End of Bike Climb</a:t>
            </a:r>
          </a:p>
        </p:txBody>
      </p:sp>
      <p:pic>
        <p:nvPicPr>
          <p:cNvPr id="17" name="Picture 16" descr="The image shows a roadside scene with a road leading to Beckton Park, under a bridge with industrial buildings in the background under a cloudy sky.&#10;&#10;AI-generated content may be incorrect.">
            <a:extLst>
              <a:ext uri="{FF2B5EF4-FFF2-40B4-BE49-F238E27FC236}">
                <a16:creationId xmlns:a16="http://schemas.microsoft.com/office/drawing/2014/main" id="{29F9A1E9-F936-8566-8C51-4CAD5CAD7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654" y="3218178"/>
            <a:ext cx="7845194" cy="3420366"/>
          </a:xfrm>
          <a:prstGeom prst="rect">
            <a:avLst/>
          </a:prstGeom>
        </p:spPr>
      </p:pic>
      <p:pic>
        <p:nvPicPr>
          <p:cNvPr id="15" name="Picture 14" descr="The image shows an urban setting with a modern building, a road with a red and blue traffic light, and some trees and bushes in the foreground.&#10;&#10;AI-generated content may be incorrect.">
            <a:extLst>
              <a:ext uri="{FF2B5EF4-FFF2-40B4-BE49-F238E27FC236}">
                <a16:creationId xmlns:a16="http://schemas.microsoft.com/office/drawing/2014/main" id="{5DF2C1A7-C867-B10A-3FF2-E366BDB32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39" y="1159764"/>
            <a:ext cx="5447087" cy="282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6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Race-Day Weather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London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2026-07-25   •   Historical climatology — same calendar day, 7-year mean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7040880" cy="3108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98079" y="16459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19" y="16824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 — 14:30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7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34655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5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23.0 °C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1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39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22.1 °C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60735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79023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3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60%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34655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5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17.8 km/h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1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6839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0735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79023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3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2461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19" y="32826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 — 16:15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7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34655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22.9 °C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8551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06839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39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21.7 °C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0735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79023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9023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62%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6367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34655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5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18.0 km/h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88551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06839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39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60735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479023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9023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84632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48737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Hydration &amp; Cooling Cues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21208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Cool to mild outlook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S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tandard fluid plan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no special pre-cooling required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562198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Notable wind (19 km/h)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D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rafting protection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key on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exposed coastal bike sections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.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BFBFBF"/>
                </a:solidFill>
                <a:latin typeface="Arial"/>
              </a:rPr>
              <a:t>Data source: Open-</a:t>
            </a:r>
            <a:r>
              <a:rPr sz="900" b="0" i="1" dirty="0" err="1">
                <a:solidFill>
                  <a:srgbClr val="BFBFBF"/>
                </a:solidFill>
                <a:latin typeface="Arial"/>
              </a:rPr>
              <a:t>Meteo</a:t>
            </a:r>
            <a:r>
              <a:rPr sz="900" b="0" i="1" dirty="0">
                <a:solidFill>
                  <a:srgbClr val="BFBFB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Denver, CO → London race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960120"/>
          </a:xfrm>
          <a:prstGeom prst="rect">
            <a:avLst/>
          </a:prstGeom>
          <a:solidFill>
            <a:srgbClr val="E9EFF9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Core travel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112471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262626"/>
                </a:solidFill>
                <a:latin typeface="Arial"/>
              </a:rPr>
              <a:t>Denver → London is a single long-haul leg — British Airways runs a DEN → LHR nonstop, plus many one-stop options via ORD / EWR / JFK into LHR or LGW. Overnight eastbound, ~9 h flight + 7 h time-zone shift (MDT → BST).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From Heathrow, the </a:t>
            </a:r>
            <a:r>
              <a:rPr sz="1050" b="0" i="0" dirty="0" err="1">
                <a:solidFill>
                  <a:srgbClr val="262626"/>
                </a:solidFill>
                <a:latin typeface="Arial"/>
              </a:rPr>
              <a:t>ExCeL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 is ~1 h by taxi or the Elizabeth Line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No LOC airport shuttle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S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elf-arrange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 with 60 pound reimbursement.</a:t>
            </a:r>
            <a:endParaRPr sz="105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DEN → LHR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BA nonstop / 1-stop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9814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02966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Flight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966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~9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966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Overnight eastbound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5308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58460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Time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+7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8460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London ahead of Denver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0803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13955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Airport → 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955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LHR →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955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Elizabeth Line + DLR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6297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69449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Transfer 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9449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~40 km / 60–75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9449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Custom House stn = venue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2" name="TextBox 31"/>
          <p:cNvSpPr txBox="1"/>
          <p:nvPr/>
        </p:nvSpPr>
        <p:spPr>
          <a:xfrm>
            <a:off x="4114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Host Hotel / Accommodation 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749040"/>
            <a:ext cx="5340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Venue is the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ExCeL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London (Royal Docks)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A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thlete access via Door S5, South Halls.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225123"/>
            <a:ext cx="5340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On-site / adjacent hotels: Aloft, Novotel, Sunborn Yacht,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CopperBox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and Premier Inn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ExCeL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. All w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alkable to transition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. 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8912" y="4701206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Custom House (Elizabeth Line + DLR) is the venue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 tube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station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.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912" y="4992624"/>
            <a:ext cx="5340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UK entry: US athletes need an ETA (Electronic Travel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Authorisation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) before travel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A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pply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 i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n advance.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Food / Grocery Options Near 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749040"/>
            <a:ext cx="5340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Grocery: Waitrose / Tesco / Sainsbury's around Canary Wharf (2 DLR stops) for staples, water, and room food.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412314"/>
            <a:ext cx="5340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On-site: the </a:t>
            </a:r>
            <a:r>
              <a:rPr sz="1200" b="0" i="0" dirty="0" err="1">
                <a:solidFill>
                  <a:srgbClr val="262626"/>
                </a:solidFill>
                <a:latin typeface="Arial"/>
              </a:rPr>
              <a:t>ExCeL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boulevard has cafés and chains, but options thin outside event hours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. 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82512" y="499262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Water is tap-safe throughout London.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London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176154"/>
              </p:ext>
            </p:extLst>
          </p:nvPr>
        </p:nvGraphicFramePr>
        <p:xfrm>
          <a:off x="274320" y="1517904"/>
          <a:ext cx="4709158" cy="1342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Apr 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Aug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108813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2060"/>
                </a:solidFill>
                <a:latin typeface="Arial"/>
              </a:rPr>
              <a:t>RACE-DAY WEATHER (14:00–18:00 local)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9913" y="1110996"/>
            <a:ext cx="6504719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32408" y="1142136"/>
            <a:ext cx="5943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  <p:pic>
        <p:nvPicPr>
          <p:cNvPr id="21" name="Picture 20" descr="The image depicts a Water Quality Results Certificate for the Royal Victoria Dock, London, issued by LME PTO, showing excellent microbiological results for E. coli and Enterococci across three samples.&#10;&#10;AI-generated content may be incorrect.">
            <a:extLst>
              <a:ext uri="{FF2B5EF4-FFF2-40B4-BE49-F238E27FC236}">
                <a16:creationId xmlns:a16="http://schemas.microsoft.com/office/drawing/2014/main" id="{27268B23-F12A-D1E6-CD67-D9CFCF18B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477" y="1517904"/>
            <a:ext cx="5467390" cy="4866766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7C11891-C62C-0C10-C421-EEE1785F7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619306"/>
              </p:ext>
            </p:extLst>
          </p:nvPr>
        </p:nvGraphicFramePr>
        <p:xfrm>
          <a:off x="253617" y="4078224"/>
          <a:ext cx="4069078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AE1BA8F-64E2-8458-A3BA-9D2773CF3A41}"/>
              </a:ext>
            </a:extLst>
          </p:cNvPr>
          <p:cNvSpPr txBox="1"/>
          <p:nvPr/>
        </p:nvSpPr>
        <p:spPr>
          <a:xfrm>
            <a:off x="299337" y="3648456"/>
            <a:ext cx="393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2060"/>
                </a:solidFill>
                <a:latin typeface="Arial"/>
              </a:rPr>
              <a:t>AIR QUALTY (Open-</a:t>
            </a:r>
            <a:r>
              <a:rPr sz="1200" b="1" i="0" dirty="0" err="1">
                <a:solidFill>
                  <a:srgbClr val="002060"/>
                </a:solidFill>
                <a:latin typeface="Arial"/>
              </a:rPr>
              <a:t>Meteo</a:t>
            </a:r>
            <a:r>
              <a:rPr sz="1200" b="1" i="0" dirty="0">
                <a:solidFill>
                  <a:srgbClr val="002060"/>
                </a:solidFill>
                <a:latin typeface="Arial"/>
              </a:rPr>
              <a:t> archive)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London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Ranked on Startlist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Vasco Vilaca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Miguel Hidalgo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6,808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Matthew Hauser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Henry Graf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6,009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Csongor Lehmann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Luke Willian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4,496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Ricardo Batista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Charles Paquet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4,128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Oliver Conway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3,615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52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Tom Richard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3,482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Ranked on Startlist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1965960"/>
          <a:ext cx="548640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Beth Potter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7,347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Lisa Tertsch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7,136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Leonie Periault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Jeanne Lehair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6,306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Jolien Vermeylen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5,095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Emma Lombardi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Cassandre Beaugrand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4,725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Diana Isakova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52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Bianca Seregni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4,659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Top Swim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London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40312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41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0" b="1" i="0" dirty="0">
                <a:solidFill>
                  <a:srgbClr val="002060"/>
                </a:solidFill>
                <a:latin typeface="Arial"/>
              </a:rPr>
              <a:t>Ranked by Lead Pack % (within 15 s of swim leader)   •   EWMA swim split shown per distance</a:t>
            </a:r>
            <a:r>
              <a:rPr lang="en-US" sz="970" b="1" dirty="0">
                <a:solidFill>
                  <a:srgbClr val="002060"/>
                </a:solidFill>
                <a:latin typeface="Arial"/>
              </a:rPr>
              <a:t> </a:t>
            </a:r>
            <a:r>
              <a:rPr sz="970" b="1" i="0" dirty="0">
                <a:solidFill>
                  <a:srgbClr val="002060"/>
                </a:solidFill>
                <a:latin typeface="Arial"/>
              </a:rPr>
              <a:t>•   WTCS / World Cup / Continental, last 4 yrs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828800"/>
          <a:ext cx="58064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6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Lead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EWMA Spr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EWMA Std ▸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Spr/Std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Alessio Crociani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17/4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Michael Gar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6/2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Márk Dévay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10/24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Miguel Tiago Silva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8/14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Matthew Hauser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8/12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Brayden Mercer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13/7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Max Stapley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10/11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Csongor Lehmann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7/16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Henry Graf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12/5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18:02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10/14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Alberto Gonzalez Garcia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18/8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Diego Moya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19/11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Tom Lerno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16/2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Jules Rethoret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17:53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9/4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8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80" y="1828800"/>
          <a:ext cx="58064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6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Lead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EWMA Spr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EWMA Std ▸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Spr/Std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Vittoria Lopes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18:56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8/9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Tilly Anema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18:57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5/6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Bianca Seregni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8/20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Cassandre Beaugrand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19:42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5/10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Sophie Evans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19:22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4/6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Olivia Mathias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18:58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14/10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Jolien Vermeylen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18:41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19/19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1/6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Sophia Howell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19:46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27/8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19:14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6/14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Sian Rainsley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11/11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Kate Waugh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20:20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9/11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Emma Lombardi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19:54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7/11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Eva Goodisson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19:33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18/11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World Rankings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London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2026-07-13   •   World Triathlon Rankings   •   Heading into London   •   Race tier: WTCS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Max Points Available at this 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Arial"/>
              </a:rPr>
              <a:t>1,000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2108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42108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Podium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2108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855 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9896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9896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9896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732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7684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7684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7684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495 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5472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45472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5472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335 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13260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13260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13260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BFBF"/>
                </a:solidFill>
                <a:latin typeface="Arial"/>
              </a:rPr>
              <a:t>227 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060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26334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4320" y="2935224"/>
          <a:ext cx="5787236" cy="3589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Morgan Pearson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1,901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Carter Stuhlmacher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Cole Jamieson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Matthew McGoey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126480" y="26060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26334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126480" y="2935224"/>
          <a:ext cx="5787236" cy="3589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2,747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2,432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Erika Ackerlund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1,928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Ellison Wolfe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Katie McCune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Olympic Qualification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London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66476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Paris 2024 OQR cutoff (30th): 3,626.69 pts   ÷   12-event cap =   302 pts / event on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584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An athlete who averages ~302 pts per event across their best 12 events is on pace to clear the LA 2028 qualifying threshold.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1234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8397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FINISH POSITION AT EACH TIER THAT HITS 302-PT PACE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712121"/>
              </p:ext>
            </p:extLst>
          </p:nvPr>
        </p:nvGraphicFramePr>
        <p:xfrm>
          <a:off x="274320" y="2202139"/>
          <a:ext cx="11640309" cy="1232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9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6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871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Win pts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Last on-pace pos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First off-pace pos (pts)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71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#17 (287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71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#8 (290 pts)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dirty="0">
                          <a:solidFill>
                            <a:srgbClr val="1B7F3A"/>
                          </a:solidFill>
                          <a:latin typeface="Arial"/>
                        </a:rPr>
                        <a:t>Top 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74320" y="36118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36393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MEN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3931920"/>
          <a:ext cx="5806440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845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3,381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4,063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3,384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6,234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2,621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Cole Jamieson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2,038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126480" y="36118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36393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WOMEN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126480" y="3931920"/>
          <a:ext cx="5806440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8,225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1,146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3,439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3,966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5,949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Erika Ackerlund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2,159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74320" y="64190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On = events scoring ≥ pace.  Off = events &lt; pace.  Pace = total breakdown pts ÷ events raced.  Proj @12 = current total + (avg pts × remaining events to cap); green if ≥ Paris cutoff.  Cutoff estimate: Paris 2024 = 3,627 pts / 12 events = 302 pts/event.  Tier positions use a geometric 0.925 points model.  Source: World Triathlon rankings database.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2754</Words>
  <Application>Microsoft Office PowerPoint</Application>
  <PresentationFormat>Custom</PresentationFormat>
  <Paragraphs>908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High</cp:lastModifiedBy>
  <cp:revision>5</cp:revision>
  <dcterms:created xsi:type="dcterms:W3CDTF">2013-01-27T09:14:16Z</dcterms:created>
  <dcterms:modified xsi:type="dcterms:W3CDTF">2026-07-15T22:58:20Z</dcterms:modified>
  <cp:category/>
</cp:coreProperties>
</file>