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430000" y="0"/>
            <a:ext cx="758952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749039"/>
            <a:ext cx="1078992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1920240" cy="1463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Arial"/>
              </a:rPr>
              <a:t>LONDON RACE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ABBDD"/>
                </a:solidFill>
                <a:latin typeface="Arial"/>
              </a:rPr>
              <a:t>Elite Analysis  ·  July 24 – 25,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090B0"/>
                </a:solidFill>
                <a:latin typeface="Arial"/>
              </a:rPr>
              <a:t>USA Triathlon High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Race Week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384048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61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2060"/>
                </a:solidFill>
                <a:latin typeface="Arial"/>
              </a:rPr>
              <a:t>July 24 – 25, 2026   •   ExCeL London, Royal Docks (BST, UTC+1)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91640"/>
            <a:ext cx="5705856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28216"/>
            <a:ext cx="55229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Fri • July 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9384"/>
            <a:ext cx="55229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AABBDD"/>
                </a:solidFill>
                <a:latin typeface="Arial"/>
              </a:rPr>
              <a:t>Familiarization &amp; Briefing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" y="2240280"/>
          <a:ext cx="570585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4108"/>
                <a:gridCol w="3651747"/>
              </a:tblGrid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13:30 – 15:30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Athlete lounge open — ExCeL South Halls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14:00 – 14:30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Swim course familiarization — Dockside (via Elite Transition)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15:30 – 16:00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Athlete sign-in for race briefing — South Halls 23/24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Arial"/>
                        </a:rPr>
                        <a:t>16:00 – 16:30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1" i="0">
                          <a:solidFill>
                            <a:srgbClr val="C00000"/>
                          </a:solidFill>
                          <a:latin typeface="Arial"/>
                        </a:rPr>
                        <a:t>★ Mandatory Elite Athletes' race briefing — South Halls 23/24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16:30 – 17:00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Race pack + accreditation distribution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16:30 – 17:00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WTCS Team Medical Meeting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208776" y="1691640"/>
            <a:ext cx="5705856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728216"/>
            <a:ext cx="55229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Sat • July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929384"/>
            <a:ext cx="55229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AABBDD"/>
                </a:solidFill>
                <a:latin typeface="Arial"/>
              </a:rPr>
              <a:t>WTCS SPRINT RACE DAY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208776" y="2240280"/>
          <a:ext cx="5705855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4108"/>
                <a:gridCol w="3651747"/>
              </a:tblGrid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08:30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Bike course familiarization check-in — Elite Transition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09:00 – 09:20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Bike course familiarization (escorted)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12:30 – 14:00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Elite Women — Athletes' lounge check-in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13:45 – 14:15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Elite Women — Transition check-in + swim warm-up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14:23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Elite Women — Athlete introductions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Arial"/>
                        </a:rPr>
                        <a:t>14:30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1" i="0">
                          <a:solidFill>
                            <a:srgbClr val="C00000"/>
                          </a:solidFill>
                          <a:latin typeface="Arial"/>
                        </a:rPr>
                        <a:t>★ ELITE WOMEN WTCS START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14:45 – 15:45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Elite Men — Athletes' lounge check-in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15:30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Elite Men — Transition check-in + swim warm-up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16:08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Elite Men — Athlete introductions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Arial"/>
                        </a:rPr>
                        <a:t>16:15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1" i="0">
                          <a:solidFill>
                            <a:srgbClr val="C00000"/>
                          </a:solidFill>
                          <a:latin typeface="Arial"/>
                        </a:rPr>
                        <a:t>★ ELITE MEN WTCS START</a:t>
                      </a:r>
                    </a:p>
                  </a:txBody>
                  <a:tcPr>
                    <a:solidFill>
                      <a:srgbClr val="FDECEC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17:15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Elite Men awards ceremony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17:30 – 17:40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Elite Women awards (immediately after men)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74320" y="63550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Times ExCeL London, Royal Docks (BST, UTC+1). Schedule confirmed from World Triathlon race-info page / athlete guide; subject to organiser updates.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Key Course 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060"/>
                </a:solidFill>
                <a:latin typeface="Arial"/>
              </a:rPr>
              <a:t>LONDON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627632"/>
            <a:ext cx="6035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WTCS London moves to the ExCeL in the Royal Docks — a sprint-distance, stadium-style race with an afternoon start (Women 14:30, Men 16:15). The swim is a single 750 m loop in the enclosed Royal Victoria Dock, followed by a dead-flat, fast 20.64 km bike (7 short out-and-back laps on Royal Albert Way) and a 4.92 km run that weaves through the ExCeL venue hall on each of 3 laps. Cool UK-summer conditions and a flat, fast layout mean this race is decided on the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971800"/>
            <a:ext cx="6035040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990088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COURSE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•  750 m single-loop swim in the enclosed Royal Victoria Dock — flat freshwater, 315 m to the first buoy, pontoon start.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041648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•  Flat &amp; fast bike: 7 × 2.64 km out-and-back laps (20.64 km) on Royal Albert Way — pure power, big lead packs.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700016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•  4.92 km run, 3 laps partly indoors through the ExCeL hall — atmospheric and very fast.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358384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•  Afternoon start (W 14:30 / M 16:15) — unusual for WTCS; weather + water are at the day's warmest.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097280"/>
            <a:ext cx="5303520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111556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COURSE AT A GLANCE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508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Swim: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750 m – 1 lap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847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Bike: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20.64 km – 7 laps × 2.64 km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185415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Run: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185415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4.92 km – 3 laps × 1.64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5237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Format: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52374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Sprint Triathlon (WTCS)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2862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Bike Laps: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862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200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Arial"/>
              </a:rPr>
              <a:t>Run Laps: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3657600"/>
            <a:ext cx="5303520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367588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QUICK 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069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Arial"/>
              </a:rPr>
              <a:t>Current Race Info: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7083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62626"/>
                </a:solidFill>
                <a:latin typeface="Arial"/>
              </a:rPr>
              <a:t>Race Info | 2026 WTCS London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Course Profile &amp;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15568"/>
            <a:ext cx="5669280" cy="333756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FBFBF"/>
                </a:solidFill>
                <a:latin typeface="Arial"/>
              </a:rPr>
              <a:t>[PLACEHOLDER: Insert upcoming course map or race photo here]
Right-click → Replace Image, or paste screenshot
of the World Triathlon course map 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507992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060"/>
                </a:solidFill>
                <a:latin typeface="Arial"/>
              </a:rPr>
              <a:t>2026 Course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73168"/>
            <a:ext cx="5669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Source: [PLACEHOLDER: World Triathlon event page URL]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115568"/>
            <a:ext cx="5669280" cy="333756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488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FBFBF"/>
                </a:solidFill>
                <a:latin typeface="Arial"/>
              </a:rPr>
              <a:t>[PLACEHOLDER: Insert previous year course map or race photo here]
Right-click → Replace Image, or paste screenshot
of the World Triathlon course map PDF.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07992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060"/>
                </a:solidFill>
                <a:latin typeface="Arial"/>
              </a:rPr>
              <a:t>2025 Course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773168"/>
            <a:ext cx="5669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Source: https://www.triathlon.org/events/event/2025_t100_triathlon_world_tour_london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274320" y="4956048"/>
          <a:ext cx="1164031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554480"/>
                <a:gridCol w="914400"/>
                <a:gridCol w="7708392"/>
              </a:tblGrid>
              <a:tr h="411480">
                <a:tc>
                  <a:txBody>
                    <a:bodyPr wrap="non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Discipline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Distance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Laps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Terrain / Notes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Swim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[PLACEHOLDER: e.g. Open-water, Bay of London]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Bike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[PLACEHOLDER: e.g. Flat coastal road circuit, closed course]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[PLACEHOLDER: e.g. Flat multi-lap, cobblestone city-centre finish]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Swim Course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5120640" cy="38404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FBFBF"/>
                </a:solidFill>
                <a:latin typeface="Arial"/>
              </a:rPr>
              <a:t>[Drop swim course map here]
Save the organiser map as:
ppt files/support/london_swim_course.png
It will be embedded automatically on the next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02920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Source: 2026 WTCS London Elite Athlete's Guide (Royal Docks, ExCeL)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1143000"/>
            <a:ext cx="6309360" cy="8229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1252728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750 m   •   single lap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636776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DD"/>
                </a:solidFill>
                <a:latin typeface="Arial"/>
              </a:rPr>
              <a:t>Enclosed freshwater dock — no current, urban dock water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Distance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750 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2668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Layout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Royal Victoria Dock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2980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Pontoon start, anti-clockwise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356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Water Temp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18.0–21.0 °C (expected)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8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Wetsuit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Wetsuit optional (20 °C)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2980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Lap Count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3611880"/>
            <a:ext cx="630936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3639312"/>
            <a:ext cx="6126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Tactical Notes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977640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Single 750 m anti-clockwise loop in the Royal Victoria Dock, off the ExCeL dockside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270248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Long 315 m leg to the first buoy — a hard, honest opening straight that stretches the field before any turn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562856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Enclosed dock = flat water, no current or chop; a pure swim-fitness course with no navigation tricks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4855464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Pontoon start; last-minute gear bagged at the start and ferried to the athlete lounge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5148072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Dock is closed to swimming outside the Friday 14:00–14:30 familiarization window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5440680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Afternoon starts (W 14:30 / M 16:15) — water will be at its warmest of the day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6035040"/>
            <a:ext cx="11640312" cy="292608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08076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Arial"/>
              </a:rPr>
              <a:t>Not in race brief: Confirmed race-day water temperature (published at the pre-race reading)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Bike Course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5120640" cy="329184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FBFBF"/>
                </a:solidFill>
                <a:latin typeface="Arial"/>
              </a:rPr>
              <a:t>[Drop course map here]
Save the organiser course map as:
ppt files/support/london_bike_course.png
It will be embedded automatically on the next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8056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Source: 2026 WTCS London Elite Athlete's Guide (ExCeL, Royal Docks)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1143000"/>
            <a:ext cx="6309360" cy="8229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1252728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20.64 km   •   7 × 2.64 km loops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636776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DD"/>
                </a:solidFill>
                <a:latin typeface="Arial"/>
              </a:rPr>
              <a:t>Closed private roads + national highways (contraflow) — Royal Albert 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Elevation / Lap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62626"/>
                </a:solidFill>
                <a:latin typeface="Arial"/>
              </a:rPr>
              <a:t>Flat (no data)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2668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Total Climb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62626"/>
                </a:solidFill>
                <a:latin typeface="Arial"/>
              </a:rP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2980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Avg Grade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62626"/>
                </a:solidFill>
                <a:latin typeface="Arial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356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Max Climb 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62626"/>
                </a:solidFill>
                <a:latin typeface="Arial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8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Wind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62626"/>
                </a:solidFill>
                <a:latin typeface="Arial"/>
              </a:rPr>
              <a:t>Royal Docks — exposed dockside straights, variable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2980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Loops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62626"/>
                </a:solidFill>
                <a:latin typeface="Arial"/>
              </a:rPr>
              <a:t>7 × 2.64 km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3703320"/>
            <a:ext cx="630936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3730752"/>
            <a:ext cx="6126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Tactical Implications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069080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Flat and fast: 7 × 2.64 km out-and-back laps on Royal Albert Way (+0.75 km bike-out, +1.23 km bike-in) = 20.64 km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361688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Anti-clockwise; short 2.64 km laps mean lapped athletes are allowed to stay on course (WT rule exception)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654296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Dead-flat dockside course — pure power/aero; the race will very likely come down to the run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4946904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Out-and-back on a wide highway in contraflow — big lead packs form easily; positioning into the U-turns is key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5239512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Course uses private roads/highways only open during official familiarization (Sat 09:00–09:20) — no race-direction preview otherwise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5532120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Wheel stations on the Lorry Way / dockside; mark position early on the short laps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120640"/>
            <a:ext cx="11640312" cy="14173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5577840"/>
            <a:ext cx="11640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FBFBF"/>
                </a:solidFill>
                <a:latin typeface="Arial"/>
              </a:rPr>
              <a:t>Flat course — published profile shows no significant climbs.
No elevation chart synthesized; if a race GPS FIT becomes available, real contours will replace this block.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Run Course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5120640" cy="38404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BFBFBF"/>
                </a:solidFill>
                <a:latin typeface="Arial"/>
              </a:rPr>
              <a:t>[Drop run course map here]
Save the organiser map as:
ppt files/support/london_run_course.png
It will be embedded automatically on the next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02920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Source: 2026 WTCS London Elite Athlete's Guide (ExCeL, Royal Docks)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1143000"/>
            <a:ext cx="6309360" cy="8229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1252728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4.9 km   •   3 × 1.6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636776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DD"/>
                </a:solidFill>
                <a:latin typeface="Arial"/>
              </a:rPr>
              <a:t>Mixed indoor/outdoor — through the ExCeL venue hub each lap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Distance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4.9 km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2668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Lap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3 × 1.6 km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29800" y="2103120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139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Total Climb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Not published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356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Avg 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8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Max ▲ / 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Not published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29800" y="2816352"/>
            <a:ext cx="2011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28529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Heat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30540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LOW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3611880"/>
            <a:ext cx="630936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3639312"/>
            <a:ext cx="6126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Tactical Notes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977640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3 anti-clockwise laps (1.76 + 1.76 + 1.34 km = 4.92 km) routed through the main ExCeL venue hub each lap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270248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Flat and fast; the run runs partly indoors through the venue — crowd-loud and atmospheric, a signature London feature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562856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2 aid stations per lap (sealed water only); litter zones 20 m before / 80 m after each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4855464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Penalty box sits just ahead of the finish chute on the right — easy to see, no excuse for a missed stand-down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5148072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Lap counter at transition exit; finish chute is a left-hand turn on lap 3 (final 62 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5440680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Cool UK summer conditions + partly-indoor route = negligible heat stress; expect very fast run splits to decide the race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6035040"/>
            <a:ext cx="11640312" cy="292608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08076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Arial"/>
              </a:rPr>
              <a:t>Not in race brief: Elevation profile (course is flat — no published grade data)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Race-Day Weather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384048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61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060"/>
                </a:solidFill>
                <a:latin typeface="Arial"/>
              </a:rPr>
              <a:t>2026-07-25   •   Historical climatology — same calendar day, 7-year mean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00200"/>
            <a:ext cx="7040880" cy="31089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498079" y="1645920"/>
            <a:ext cx="4416552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19" y="1682496"/>
            <a:ext cx="4233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Women — 14:30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16367" y="20116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34655" y="20391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Temperature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34655" y="22128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23.0 °C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88551" y="20116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39" y="20391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Apparent / Heat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39" y="22128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22.1 °C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60735" y="20116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79023" y="20391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Humidity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9023" y="22128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60%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16367" y="25786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5" y="26060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Wind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4655" y="27797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17.8 km/h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8551" y="25786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39" y="26060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UV peak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39" y="27797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60735" y="25786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79023" y="26060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Heat Stress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9023" y="27797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7F3A"/>
                </a:solidFill>
                <a:latin typeface="Arial"/>
              </a:rPr>
              <a:t>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79" y="3246120"/>
            <a:ext cx="4416552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19" y="3282696"/>
            <a:ext cx="4233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Men — 16:15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16367" y="36118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4655" y="36393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Temperature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34655" y="38130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22.9 °C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88551" y="36118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39" y="36393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Apparent / Heat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39" y="38130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21.7 °C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60735" y="3611880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79023" y="3639312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Humidity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9023" y="3813048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62%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16367" y="41788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34655" y="42062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Wind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34655" y="43799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18.0 km/h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8551" y="41788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39" y="42062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UV peak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39" y="43799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62626"/>
                </a:solidFill>
                <a:latin typeface="Arial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60735" y="4178808"/>
            <a:ext cx="1435608" cy="530352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479023" y="4206240"/>
            <a:ext cx="13990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Arial"/>
              </a:rPr>
              <a:t>Heat Stress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9023" y="4379976"/>
            <a:ext cx="1399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7F3A"/>
                </a:solidFill>
                <a:latin typeface="Arial"/>
              </a:rPr>
              <a:t>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846320"/>
            <a:ext cx="1164031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487375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Hydration &amp; Cooling Cues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5212080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Cool to mild outlook — standard fluid plan (~500 ml/h), no special pre-cooling required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504688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rial"/>
              </a:rPr>
              <a:t>•  Notable wind (19 km/h) — drafting protection matters on exposed coastal bike sections; sight more frequently in chop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4320" y="6446520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Data source: Open-Meteo. Forecast will replace climatology once race day is within 16 days. Historical Race Conditions slide shows what actually happened in prior years.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Travel &amp; Arrival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Denver, CO → London race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960120"/>
          </a:xfrm>
          <a:prstGeom prst="rect">
            <a:avLst/>
          </a:prstGeom>
          <a:solidFill>
            <a:srgbClr val="E9EFF9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61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060"/>
                </a:solidFill>
                <a:latin typeface="Arial"/>
              </a:rPr>
              <a:t>Core travel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62626"/>
                </a:solidFill>
                <a:latin typeface="Arial"/>
              </a:rPr>
              <a:t>Denver → London is a single long-haul leg — British Airways runs a DEN → LHR nonstop, plus many one-stop options via ORD / EWR / JFK into LHR or LGW. Overnight eastbound, ~9 h flight + 7 h time-zone shift (MDT → BST). Land at least 3–4 days early to adapt to the +7 h shift AND the unusual afternoon race times (W 14:30 / M 16:15) — body-clock management is a real factor here. From Heathrow, the ExCeL is ~1 h by taxi or the Elizabeth Line (change to DLR at Custom House). No LOC airport shuttle — self-arrange.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40280"/>
            <a:ext cx="2218334" cy="86868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2286000"/>
            <a:ext cx="207203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rial"/>
              </a:rPr>
              <a:t>Primary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496312"/>
            <a:ext cx="207203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DEN → LHR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2807208"/>
            <a:ext cx="207203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BA nonstop / 1-stop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9814" y="2240280"/>
            <a:ext cx="2218334" cy="86868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02966" y="2286000"/>
            <a:ext cx="207203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rial"/>
              </a:rPr>
              <a:t>Flight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2966" y="2496312"/>
            <a:ext cx="207203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~9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2966" y="2807208"/>
            <a:ext cx="207203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Overnight eastbound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85308" y="2240280"/>
            <a:ext cx="2218334" cy="86868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8460" y="2286000"/>
            <a:ext cx="207203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rial"/>
              </a:rPr>
              <a:t>Time zones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8460" y="2496312"/>
            <a:ext cx="207203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+7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58460" y="2807208"/>
            <a:ext cx="207203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London ahead of Denver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40803" y="2240280"/>
            <a:ext cx="2218334" cy="86868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13955" y="2286000"/>
            <a:ext cx="207203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rial"/>
              </a:rPr>
              <a:t>Airport → Venue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3955" y="2496312"/>
            <a:ext cx="207203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LHR → ExCeL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3955" y="2807208"/>
            <a:ext cx="207203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Elizabeth Line + DLR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6297" y="2240280"/>
            <a:ext cx="2218334" cy="86868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9449" y="2286000"/>
            <a:ext cx="207203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rial"/>
              </a:rPr>
              <a:t>Transfer Distance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9449" y="2496312"/>
            <a:ext cx="207203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Arial"/>
              </a:rPr>
              <a:t>~40 km / 60–75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9449" y="2807208"/>
            <a:ext cx="207203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Custom House stn = venue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291840"/>
            <a:ext cx="566928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40156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2060"/>
                </a:solidFill>
                <a:latin typeface="Arial"/>
              </a:rPr>
              <a:t>Host Hotel / Accommodation Read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3749040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 Venue is the ExCeL London (Royal Docks) — athlete access via Door S5, South Halls.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4059936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 On-site / adjacent hotels: Aloft, Novotel, Sunborn Yacht, CopperBox and Premier Inn ExCeL — walkable to transition, ideal for an afternoon race (no early commute).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4370832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 Custom House (Elizabeth Line + DLR) is the venue station — anything on those lines is a fast, low-stress commute.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4681728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 Late-July London is peak season — book early; the Docklands fills up around ExCeL events.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4992624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 UK entry: US athletes need an ETA (Electronic Travel Authorisation) before travel — apply well in advance.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3291840"/>
            <a:ext cx="566928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340156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2060"/>
                </a:solidFill>
                <a:latin typeface="Arial"/>
              </a:rPr>
              <a:t>Food / Grocery Options Near Venue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3749040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 Grocery: Waitrose / Tesco / Sainsbury's around Canary Wharf (2 DLR stops) for staples, water, and room food.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059936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 On-site: the ExCeL boulevard has cafés and chains, but options thin outside event hours — stock the room.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4370832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 Athlete-friendly: Canary Wharf (Crossrail Place / Jubilee Place) has extensive protein-forward and quick-serve options a short DLR hop away.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681728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 Afternoon-race fueling note: with a 14:30 / 16:15 start, plan a full breakfast + measured lunch — this is not a dawn race; the pre-race timeline is longer than usual.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4992624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 Water is tap-safe throughout London.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Environmental Risk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170432"/>
          <a:ext cx="4709158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190"/>
                <a:gridCol w="800557"/>
                <a:gridCol w="894740"/>
                <a:gridCol w="800557"/>
                <a:gridCol w="800557"/>
                <a:gridCol w="800557"/>
              </a:tblGrid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Air Temp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Humidity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Wind km/h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Precip mm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Jul 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Apr 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13.3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Aug 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74320" y="1078992"/>
            <a:ext cx="4709160" cy="914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088136"/>
            <a:ext cx="45720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2060"/>
                </a:solidFill>
                <a:latin typeface="Arial"/>
              </a:rPr>
              <a:t>RACE-DAY WEATHER (14:00–18:00 local)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66360" y="1170432"/>
          <a:ext cx="4069078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9738"/>
                <a:gridCol w="823504"/>
                <a:gridCol w="726621"/>
                <a:gridCol w="823504"/>
                <a:gridCol w="1065711"/>
              </a:tblGrid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PM2.5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EU AQI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UV Index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Fair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7.7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Fair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Fair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12080" y="1088136"/>
            <a:ext cx="3931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2060"/>
                </a:solidFill>
                <a:latin typeface="Arial"/>
              </a:rPr>
              <a:t>AIR QUALITY (Open-Meteo archive)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08376"/>
            <a:ext cx="11640312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026664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HEALTH &amp; WATER QUALITY RISK FACTORS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392424"/>
            <a:ext cx="114300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Water Quality: [PLACEHOLDER: Historical water quality data for London — e.g. bacterial counts, EU Bathing Water Directive status, known algae / pollution events. Check local environmental agency reports for May race window.]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13098"/>
            <a:ext cx="114300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Athlete Health Incidents: [PLACEHOLDER: Any known GI illness, respiratory, or heat-related incidents at this or comparable venues. E.g. Sunderland 2023 — reported GI illness post-swim for multiple athletes.]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033772"/>
            <a:ext cx="114300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Water Temperature: [PLACEHOLDER: Historical open-water temperature for London in May (not available from Open-Meteo; check Copernicus Marine / NOAA or WT historical results).]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854446"/>
            <a:ext cx="114300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  <a:latin typeface="Arial"/>
              </a:rPr>
              <a:t>• Heat / Humidity Risk: Auto-derived from above table — flag if humidity &gt;70% or air temp &gt;25°C at race time.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1640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BFBFBF"/>
                </a:solidFill>
                <a:latin typeface="Arial"/>
              </a:rPr>
              <a:t>Weather and AQ data: Open-Meteo historical archive (archive-api.open-meteo.com). EU AQI: Good ≤20, Fair ≤40, Moderate ≤60, Poor ≤80, Very Poor &gt;80.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Who to Watch — London Race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669280" cy="3657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ELITE 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45920"/>
            <a:ext cx="566928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6420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Top 10 Ranked on Startlist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1965960"/>
          <a:ext cx="5486400" cy="2907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1463040"/>
              </a:tblGrid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Vasco Vilaca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6,866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Miguel Hidalgo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6,808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Matthew Hauser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6,424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Henry Graf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6,009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Csongor Lehmann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4,789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Luke Willian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4,496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Ricardo Batista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Charles Paquet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4,128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Oliver Conway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3,615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352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Tom Richard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3,482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74320" y="5056632"/>
            <a:ext cx="566928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074920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Returning Podium Athletes on Startlist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42239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2626"/>
                </a:solidFill>
                <a:latin typeface="Arial"/>
              </a:rPr>
              <a:t>1.  Hayden Wilde   (03:17:37)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5669280" cy="3657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23444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ELITE WOMEN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645920"/>
            <a:ext cx="566928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66420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Top 10 Ranked on Startlist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217920" y="1965960"/>
          <a:ext cx="5486400" cy="2907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1463040"/>
              </a:tblGrid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Beth Potter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7,347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Lisa Tertsch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7,136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Leonie Periault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6,468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Jeanne Lehair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6,306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Taylor Spivey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5,256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Jolien Vermeylen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5,095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Emma Lombardi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4,930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Cassandre Beaugrand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4,725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344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Diana Isakova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4,710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352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Bianca Seregni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4,659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6217920" y="5056632"/>
            <a:ext cx="566928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5074920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Returning Podium Athletes on Startlist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42239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62626"/>
                </a:solidFill>
                <a:latin typeface="Arial"/>
              </a:rPr>
              <a:t>2.  Kate Waugh   (03:36:46)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71500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3.  Taylor Knibb   (03:39:07)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446520"/>
            <a:ext cx="11640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BFBFBF"/>
                </a:solidFill>
                <a:latin typeface="Arial"/>
              </a:rPr>
              <a:t>Rankings = current World Triathlon rankings snapshot; startlist intersect uses program_entries when available.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Top Swim Threats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78992"/>
            <a:ext cx="11640312" cy="32004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15568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rial"/>
              </a:rPr>
              <a:t>Ranked by Lead Pack % (within 15 s of swim leader — robust to course speed)   •   EWMA swim split (span-5) shown per distance; Standard = this race   •   WTCS / World Cup / Continental, last 4 yrs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5806440" cy="2743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536192"/>
            <a:ext cx="5806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MEN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1828800"/>
          <a:ext cx="58064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985"/>
                <a:gridCol w="1783080"/>
                <a:gridCol w="822960"/>
                <a:gridCol w="950976"/>
                <a:gridCol w="950976"/>
                <a:gridCol w="956462"/>
              </a:tblGrid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Lead %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EWMA Spr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EWMA Std ▸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Spr/Std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Alessio Crociani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17/4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Michael Gar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6/2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Márk Dévay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10/24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Miguel Tiago Silva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8/14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Matthew Hauser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8/12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Brayden Mercer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13/7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Max Stapley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10/11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Csongor Lehmann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7/16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Henry Graf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12/5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Chase McQueen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18:02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10/14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Alberto Gonzalez Garcia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18:08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18/8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Diego Moya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19/11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Tom Lerno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16/2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Jules Rethoret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17:53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9/4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126480" y="1508760"/>
            <a:ext cx="5806440" cy="2743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536192"/>
            <a:ext cx="5806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WOMEN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26480" y="1828800"/>
          <a:ext cx="58064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985"/>
                <a:gridCol w="1783080"/>
                <a:gridCol w="822960"/>
                <a:gridCol w="950976"/>
                <a:gridCol w="950976"/>
                <a:gridCol w="956462"/>
              </a:tblGrid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Lead %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EWMA Spr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EWMA Std ▸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Spr/Std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Vittoria Lopes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10:10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18:56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8/9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Tilly Anema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18:57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5/6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Bianca Seregni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19:03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8/20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Cassandre Beaugrand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19:42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5/10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Sophie Evans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19:22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4/6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Olivia Mathias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18:58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14/10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Jolien Vermeylen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18:41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19/19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Taylor Knibb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8:52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19:00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1/6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Sophia Howell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19:46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27/8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Taylor Spivey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19:14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6/14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Sian Rainsley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19:15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11/11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Kate Waugh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9:49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20:20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9/11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Emma Lombardi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10:01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19:54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7/11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00206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Eva Goodisson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10:25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19:33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BFBFBF"/>
                          </a:solidFill>
                          <a:latin typeface="Arial"/>
                        </a:rPr>
                        <a:t>18/11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USA World Rankings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704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060"/>
                </a:solidFill>
                <a:latin typeface="Arial"/>
              </a:rPr>
              <a:t>As of 2026-07-13   •   World Triathlon Rankings   •   Heading into London   •   Race tier: WTCS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00200"/>
            <a:ext cx="11640312" cy="29260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27632"/>
            <a:ext cx="11430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Max Points Available at this Race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1803196" cy="502920"/>
          </a:xfrm>
          <a:prstGeom prst="rect">
            <a:avLst/>
          </a:prstGeom>
          <a:solidFill>
            <a:srgbClr val="F2F2F2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011680"/>
            <a:ext cx="18031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185416"/>
            <a:ext cx="180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Arial"/>
              </a:rPr>
              <a:t>1,000 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2108" y="1984248"/>
            <a:ext cx="1803196" cy="5029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2108" y="2011680"/>
            <a:ext cx="18031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Podium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2108" y="2185416"/>
            <a:ext cx="180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Arial"/>
              </a:rPr>
              <a:t>855 pts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9896" y="1984248"/>
            <a:ext cx="1803196" cy="5029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9896" y="2011680"/>
            <a:ext cx="18031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Top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9896" y="2185416"/>
            <a:ext cx="180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Arial"/>
              </a:rPr>
              <a:t>732 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7684" y="1984248"/>
            <a:ext cx="1803196" cy="5029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7684" y="2011680"/>
            <a:ext cx="18031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Top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7684" y="2185416"/>
            <a:ext cx="180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Arial"/>
              </a:rPr>
              <a:t>495 pts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45472" y="1984248"/>
            <a:ext cx="1803196" cy="5029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45472" y="2011680"/>
            <a:ext cx="18031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Top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5472" y="2185416"/>
            <a:ext cx="180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Arial"/>
              </a:rPr>
              <a:t>335 pts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13260" y="1984248"/>
            <a:ext cx="1803196" cy="502920"/>
          </a:xfrm>
          <a:prstGeom prst="rect">
            <a:avLst/>
          </a:prstGeom>
          <a:solidFill>
            <a:srgbClr val="F2F2F2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13260" y="2011680"/>
            <a:ext cx="18031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Arial"/>
              </a:rPr>
              <a:t>Top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13260" y="2185416"/>
            <a:ext cx="180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FBFBF"/>
                </a:solidFill>
                <a:latin typeface="Arial"/>
              </a:rPr>
              <a:t>227 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606040"/>
            <a:ext cx="5788152" cy="2926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2633472"/>
            <a:ext cx="5788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MEN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274320" y="2935224"/>
          <a:ext cx="5787236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3640"/>
                <a:gridCol w="2531973"/>
                <a:gridCol w="1145743"/>
                <a:gridCol w="662940"/>
                <a:gridCol w="662940"/>
              </a:tblGrid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Curr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Prev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John Reed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Reese Vannerson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2,628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Braxton Legg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Morgan Pearson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2,093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Seth Rider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Sullivan Middaugh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1,901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Keller Norland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Blake Bullard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1,761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Chase McQueen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Darr Smith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1,452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Zach Leachman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Porter Middaugh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1,223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Carter Stuhlmacher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Cole Jamieson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Matthew McGoey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6126480" y="2606040"/>
            <a:ext cx="5788152" cy="2926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2633472"/>
            <a:ext cx="5788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WOMEN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26480" y="2935224"/>
          <a:ext cx="5787236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3640"/>
                <a:gridCol w="2531973"/>
                <a:gridCol w="1145743"/>
                <a:gridCol w="662940"/>
                <a:gridCol w="662940"/>
              </a:tblGrid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Curr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Prev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Taylor Spivey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5,256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Gina Sereno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2,747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Gwen Jorgensen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2,639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Danielle Orie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2,432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Erika Ackerlund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Naomi Ruff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1,928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Kelly Wetteland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1,843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Kirsten Kasper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1,551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Eleanor Beveridge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1,544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Joy Gill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1,514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Michelle Magnani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1,319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Rachel Werking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1,302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Ellison Wolfe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Katie McCune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1,042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Taylor Knibb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Olympic Qualification 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66476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Paris 2024 OQR cutoff (30th): 3,626.69 pts   ÷   12-event cap =   302 pts / event on 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584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BBDD"/>
                </a:solidFill>
                <a:latin typeface="Arial"/>
              </a:rPr>
              <a:t>An athlete who averages ~302 pts per event across their best 12 events is on pace to clear the LA 2028 qualifying threshold.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12340"/>
            <a:ext cx="11640312" cy="29260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8397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FINISH POSITION AT EACH TIER THAT HITS 302-PT PACE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" y="2196388"/>
          <a:ext cx="1164030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9178"/>
                <a:gridCol w="1375257"/>
                <a:gridCol w="2200046"/>
                <a:gridCol w="2749600"/>
                <a:gridCol w="916228"/>
              </a:tblGrid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Win pts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Last on-pace pos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First off-pace pos (pts)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World Championship Series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#16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#17 (287 pts)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1B7F3A"/>
                          </a:solidFill>
                          <a:latin typeface="Arial"/>
                        </a:rPr>
                        <a:t>Top 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World Cup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#7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#8 (290 pts)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1B7F3A"/>
                          </a:solidFill>
                          <a:latin typeface="Arial"/>
                        </a:rPr>
                        <a:t>Top 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Continental Championships (Americas)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#9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#10 (293 pts)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1B7F3A"/>
                          </a:solidFill>
                          <a:latin typeface="Arial"/>
                        </a:rPr>
                        <a:t>Top 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Continental Cup (Americas)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Arial"/>
                        </a:rPr>
                        <a:t>None (win = 280)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Arial"/>
                        </a:rPr>
                        <a:t>Not achievable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274320" y="3611880"/>
            <a:ext cx="5806440" cy="2743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639312"/>
            <a:ext cx="5806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USA MEN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274320" y="3931920"/>
          <a:ext cx="58064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920240"/>
                <a:gridCol w="731520"/>
                <a:gridCol w="502920"/>
                <a:gridCol w="411480"/>
                <a:gridCol w="411480"/>
                <a:gridCol w="685800"/>
                <a:gridCol w="731520"/>
              </a:tblGrid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Rk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Races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Off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Pace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Proj @12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Reese Vannerson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5,884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Seth Rider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845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3,381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Chase McQueen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3,059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Sullivan Middaugh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4,063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John Reed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3,598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Braxton Legg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3,384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Keller Norland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6,234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Blake Bullard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2,621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Zach Leachman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Cole Jamieson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2,038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Porter Middaugh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6126480" y="3611880"/>
            <a:ext cx="5806440" cy="2743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3639312"/>
            <a:ext cx="5806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USA WOMEN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126480" y="3931920"/>
          <a:ext cx="58064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920240"/>
                <a:gridCol w="731520"/>
                <a:gridCol w="502920"/>
                <a:gridCol w="411480"/>
                <a:gridCol w="411480"/>
                <a:gridCol w="685800"/>
                <a:gridCol w="731520"/>
              </a:tblGrid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Rk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Races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Off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Pace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Proj @12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Taylor Spivey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1,370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8,225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Danielle Orie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1,146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3,439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Gina Sereno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3,966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Taylor Knibb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5,526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Eleanor Beveridge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3,114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Gwen Jorgensen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5,949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Kelly Wetteland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Naomi Ruff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5,526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Rachel Werking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Erika Ackerlund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2,159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Joy Gill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1B7F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C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0" i="0">
                          <a:solidFill>
                            <a:srgbClr val="262626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 i="0">
                          <a:solidFill>
                            <a:srgbClr val="262626"/>
                          </a:solidFill>
                          <a:latin typeface="Arial"/>
                        </a:rPr>
                        <a:t>2,014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274320" y="641908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BFBFBF"/>
                </a:solidFill>
                <a:latin typeface="Arial"/>
              </a:rPr>
              <a:t>On = events scoring ≥ pace.  Off = events &lt; pace.  Pace = total breakdown pts ÷ events raced.  Proj @12 = current total + (avg pts × remaining events to cap); green if ≥ Paris cutoff.  Cutoff estimate: Paris 2024 = 3,627 pts / 12 events = 302 pts/event.  Tier positions use a geometric 0.925 points model.  Source: World Triathlon rankings database.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USA Olympic Qualification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11640312" cy="38404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704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060"/>
                </a:solidFill>
                <a:latin typeface="Arial"/>
              </a:rPr>
              <a:t>As of 2026-07-11   •   Olympic Qualification Rankings (LA 2028 cycle)   •   Heading into London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91640"/>
            <a:ext cx="5788152" cy="2926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719072"/>
            <a:ext cx="5788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MEN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2020824"/>
          <a:ext cx="5787236" cy="2912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3640"/>
                <a:gridCol w="2531973"/>
                <a:gridCol w="1136599"/>
                <a:gridCol w="672084"/>
                <a:gridCol w="662940"/>
              </a:tblGrid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Second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First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Reese Vannerson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Seth Rider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845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Chase McQueen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Sullivan Middaugh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John Reed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Braxton Legg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Keller Norland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Blake Bullard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Zach Leachman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Cole Jamieson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Porter Middaugh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Morgan Pearson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126480" y="1691640"/>
            <a:ext cx="5788152" cy="2926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719072"/>
            <a:ext cx="57881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ELITE WOMEN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26480" y="2020824"/>
          <a:ext cx="5787236" cy="2912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3640"/>
                <a:gridCol w="2531973"/>
                <a:gridCol w="1136599"/>
                <a:gridCol w="672084"/>
                <a:gridCol w="662940"/>
              </a:tblGrid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Athlete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Second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First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Taylor Spivey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Danielle Orie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1,146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Gina Sereno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Taylor Knibb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Eleanor Beveridge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Gwen Jorgensen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Kelly Wetteland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Naomi Ruff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Rachel Werking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Erika Ackerlund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Joy Gill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ctr"/>
                      <a:r>
                        <a:rPr sz="850" b="1" i="0">
                          <a:solidFill>
                            <a:srgbClr val="262626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Kirsten Kasper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274320" y="641908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BFBFBF"/>
                </a:solidFill>
                <a:latin typeface="Arial"/>
              </a:rPr>
              <a:t>Rankings: latest weekly snapshot.  Second / First = events counted in the second vs first scoring period of the LA 2028 OQR cycle.  Because the cycle is still in its first year, most results appear under First.  Source: World Triathlon rankings database.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5156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Arial"/>
              </a:rPr>
              <a:t>ELITE MEN</a:t>
            </a:r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760720"/>
            <a:ext cx="182880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Race Overview  —  Elite 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6400800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1556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RACE HISTORY AT LONDON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08760"/>
            <a:ext cx="6400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The Elite Men race at London has been held 3 times in this analysis window (2024–2025). The event is staged as part of the T100 Triathlon World Tour / Supertri E Finals, World Cup calendar.
[PLACEHOLDER: Add 1–2 sentences on notable storylines, competitive history, or what makes this event significant for Elite Men athletes. E.g. defending champions, record performances, dramatic finishes.]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3720" y="1097280"/>
            <a:ext cx="4983480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11556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3 KEYS TO SUCCESS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1554480"/>
            <a:ext cx="384048" cy="38404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536192"/>
            <a:ext cx="44348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Fast swimming is decisive — only ~14 athletes typically leave the water together. A strong swim directly builds a race-winning gap before T1.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3246120"/>
            <a:ext cx="384048" cy="38404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27832"/>
            <a:ext cx="44348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[PLACEHOLDER: Key 2 — Describe bike strategy: is this a pack race or do breakaways form? What power/tactics are needed to stay in the lead group?]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4937760"/>
            <a:ext cx="384048" cy="38404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919472"/>
            <a:ext cx="44348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Run speed separates the podium — the fastest run pace averages ~6:00/km with a ~285s spread between fastest and average finisher. Either a pre-built lead from the bike or exceptional run speed is required to win.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Results Summary  —  Elite 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143000"/>
          <a:ext cx="11640307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082"/>
                <a:gridCol w="957428"/>
                <a:gridCol w="1914856"/>
                <a:gridCol w="554300"/>
                <a:gridCol w="755864"/>
                <a:gridCol w="2015638"/>
                <a:gridCol w="1007819"/>
                <a:gridCol w="806255"/>
                <a:gridCol w="856646"/>
                <a:gridCol w="705473"/>
                <a:gridCol w="705473"/>
                <a:gridCol w="705473"/>
              </a:tblGrid>
              <a:tr h="512064"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Field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DNF/LAP/DNS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Winner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Winner Time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Air Temp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Water Temp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Swim km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Bike km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Run km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Jul 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</a:rPr>
                        <a:t>T100 Triathlon World Tour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Laidlow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3:13:38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80.0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Apr 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</a:rPr>
                        <a:t>Supertri E Finals, World Cup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Hueber-Moosbrugger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36:43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13.3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Aug 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</a:rPr>
                        <a:t>T100 Triathlon World Tour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Wilde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3:17:37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81.2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922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BFBFBF"/>
                </a:solidFill>
                <a:latin typeface="Arial"/>
              </a:rPr>
              <a:t>* Course distance changed vs. prior year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Swim Exit Dynamics  —  Elite 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43000"/>
            <a:ext cx="1164031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Bike Pack Evolution  —  Elite 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7899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262626"/>
                </a:solidFill>
                <a:latin typeface="Arial"/>
              </a:rPr>
              <a:t>Lead pack = athletes within 15 sec of leader. T1 = lead group entering the bike; T2 = lead group exiting the bike.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81328"/>
            <a:ext cx="11640312" cy="374903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5285232"/>
          <a:ext cx="11640311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1828800"/>
                <a:gridCol w="1828800"/>
                <a:gridCol w="1188720"/>
                <a:gridCol w="2286000"/>
                <a:gridCol w="3822191"/>
              </a:tblGrid>
              <a:tr h="354330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Lead Size @ T1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Lead Size @ T2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Chase Group @ T2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Chase Gap*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354330"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90s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4330"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75s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6565392"/>
            <a:ext cx="11640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BFBFBF"/>
                </a:solidFill>
                <a:latin typeface="Arial"/>
              </a:rPr>
              <a:t>Lead pack = athletes within 15 sec of leader. Chase group = athletes within 15 sec of the first athlete outside the lead pack. * Chase Gap = seconds from the last lead-pack athlete to the first chase-group athlete at T2.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720840"/>
            <a:ext cx="1164031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BFBFBF"/>
                </a:solidFill>
                <a:latin typeface="Arial"/>
              </a:rPr>
              <a:t>Dropouts: 2024: 1 DNF/LAP (1 in lead group at t1)  |  2025: 3 DNF/LAP (1 in lead group at t1)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Run Split Analysis  —  Elite 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15568"/>
            <a:ext cx="1124712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Key Position Times  —  Elite 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78992"/>
            <a:ext cx="11640312" cy="30175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187952"/>
          <a:ext cx="11640312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833372"/>
                <a:gridCol w="1833372"/>
                <a:gridCol w="1833372"/>
                <a:gridCol w="1833372"/>
                <a:gridCol w="1833372"/>
                <a:gridCol w="1833372"/>
              </a:tblGrid>
              <a:tr h="347472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5th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10th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20th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3:13:38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3:14:03
+25s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3:16:41
+183s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3:17:53
+255s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3:21:05
+447s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36:43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36:43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37:03
+20s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37:17
+34s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39:32
+169s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25:49
+-654s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3:17:37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3:18:44
+67s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3:19:50
+133s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3:21:20
+223s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3:25:24
+467s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Race Conditions  —  Elite 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143000"/>
          <a:ext cx="1164030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571"/>
                <a:gridCol w="864604"/>
                <a:gridCol w="910110"/>
                <a:gridCol w="819099"/>
                <a:gridCol w="910110"/>
                <a:gridCol w="864604"/>
                <a:gridCol w="864604"/>
                <a:gridCol w="819099"/>
                <a:gridCol w="4996506"/>
              </a:tblGrid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Air Temp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Humidity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Wind (km/h)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Precip (mm)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Water Temp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Wetsuit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Conditions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Jul 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allowed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Apr 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13.3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Aug 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035040"/>
            <a:ext cx="116403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Arial"/>
              </a:rPr>
              <a:t>Air temp, humidity, wind, and precipitation sourced from Open-Meteo historical archive (race window 14:00–18:00 local) where WT API data is absent. Values marked * are Open-Meteo estimates. Water temp and wetsuit ruling are from the World Triathlon API per program.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5156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Arial"/>
              </a:rPr>
              <a:t>ELITE WOMEN</a:t>
            </a:r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760720"/>
            <a:ext cx="182880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Race Overview  —  Elite Women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6400800" cy="3200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1556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RACE HISTORY AT LONDON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508760"/>
            <a:ext cx="6400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Arial"/>
              </a:rPr>
              <a:t>The Elite Women race at London has been held 3 times in this analysis window (2024–2025). The event is staged as part of the T100 Triathlon World Tour / Supertri E Finals, World Cup calendar.
[PLACEHOLDER: Add 1–2 sentences on notable storylines, competitive history, or what makes this event significant for Elite Women athletes. E.g. defending champions, record performances, dramatic finishes.]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3720" y="1097280"/>
            <a:ext cx="4983480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11556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3 KEYS TO SUCCESS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1554480"/>
            <a:ext cx="384048" cy="38404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536192"/>
            <a:ext cx="44348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Fast swimming is decisive — only ~10 athletes typically leave the water together. A strong swim directly builds a race-winning gap before T1.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3246120"/>
            <a:ext cx="384048" cy="38404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27832"/>
            <a:ext cx="44348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[PLACEHOLDER: Key 2 — Describe bike strategy: is this a pack race or do breakaways form? What power/tactics are needed to stay in the lead group?]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4937760"/>
            <a:ext cx="384048" cy="38404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919472"/>
            <a:ext cx="44348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Arial"/>
              </a:rPr>
              <a:t>Run speed separates the podium — the fastest run pace averages ~6:32/km with a ~343s spread between fastest and average finisher. Either a pre-built lead from the bike or exceptional run speed is required to win.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Results Summary  —  Elite Women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143000"/>
          <a:ext cx="11640307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082"/>
                <a:gridCol w="957428"/>
                <a:gridCol w="1914856"/>
                <a:gridCol w="554300"/>
                <a:gridCol w="755864"/>
                <a:gridCol w="2015638"/>
                <a:gridCol w="1007819"/>
                <a:gridCol w="806255"/>
                <a:gridCol w="856646"/>
                <a:gridCol w="705473"/>
                <a:gridCol w="705473"/>
                <a:gridCol w="705473"/>
              </a:tblGrid>
              <a:tr h="512064"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Field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DNF/LAP/DNS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Winner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Winner Time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Air Temp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Water Temp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Swim km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Bike km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Run km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Jul 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</a:rPr>
                        <a:t>T100 Triathlon World Tour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Gentle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3:36:17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80.0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Apr 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</a:rPr>
                        <a:t>Supertri E Finals, World Cup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Beaugrand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39:46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13.3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Aug 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</a:rPr>
                        <a:t>T100 Triathlon World Tour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Charles-Barclay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3:35:51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81.2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922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BFBFBF"/>
                </a:solidFill>
                <a:latin typeface="Arial"/>
              </a:rPr>
              <a:t>* Course distance changed vs. prior year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Swim Exit Dynamics  —  Elite Women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43000"/>
            <a:ext cx="1164031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Bike Pack Evolution  —  Elite Women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7899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262626"/>
                </a:solidFill>
                <a:latin typeface="Arial"/>
              </a:rPr>
              <a:t>Lead pack = athletes within 15 sec of leader. T1 = lead group entering the bike; T2 = lead group exiting the bike.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81328"/>
            <a:ext cx="11640312" cy="374903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5285232"/>
          <a:ext cx="11640311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1828800"/>
                <a:gridCol w="1828800"/>
                <a:gridCol w="1188720"/>
                <a:gridCol w="2286000"/>
                <a:gridCol w="3822191"/>
              </a:tblGrid>
              <a:tr h="354330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Lead Size @ T1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Lead Size @ T2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Chase Group @ T2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Chase Gap*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354330"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85s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4330"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Arial"/>
                        </a:rPr>
                        <a:t>11s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6565392"/>
            <a:ext cx="11640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BFBFBF"/>
                </a:solidFill>
                <a:latin typeface="Arial"/>
              </a:rPr>
              <a:t>Lead pack = athletes within 15 sec of leader. Chase group = athletes within 15 sec of the first athlete outside the lead pack. * Chase Gap = seconds from the last lead-pack athlete to the first chase-group athlete at T2.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720840"/>
            <a:ext cx="1164031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BFBFBF"/>
                </a:solidFill>
                <a:latin typeface="Arial"/>
              </a:rPr>
              <a:t>Dropouts: 2024: 1 DNF/LAP  |  2025: 1 DNF/LAP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Run Split Analysis  —  Elite Women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15568"/>
            <a:ext cx="1124712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Key Position Times  —  Elite Women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78992"/>
            <a:ext cx="11640312" cy="30175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187952"/>
          <a:ext cx="11640312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833372"/>
                <a:gridCol w="1833372"/>
                <a:gridCol w="1833372"/>
                <a:gridCol w="1833372"/>
                <a:gridCol w="1833372"/>
                <a:gridCol w="1833372"/>
              </a:tblGrid>
              <a:tr h="347472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5th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10th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20th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3:36:17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3:39:11
+174s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3:39:29
+192s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3:40:26
+249s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3:46:21
+604s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39:46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40:21
+35s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41:07
+81s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41:58
+132s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43:09
+203s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28:52
+-654s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/>
                      <a:r>
                        <a:rPr sz="1000" b="1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3:35:51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3:36:46
+55s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3:39:07
+196s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3:41:48
+357s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3:47:58
+727s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Race Conditions  —  Elite Women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  <a:latin typeface="Arial"/>
              </a:rPr>
              <a:t>London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A_Triathlon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27432"/>
            <a:ext cx="1234440" cy="914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143000"/>
          <a:ext cx="1164030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571"/>
                <a:gridCol w="864604"/>
                <a:gridCol w="910110"/>
                <a:gridCol w="819099"/>
                <a:gridCol w="910110"/>
                <a:gridCol w="864604"/>
                <a:gridCol w="864604"/>
                <a:gridCol w="819099"/>
                <a:gridCol w="4996506"/>
              </a:tblGrid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Air Temp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Humidity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Wind (km/h)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Precip (mm)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Water Temp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Wetsuit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Conditions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Jul 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allowed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Apr 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13.3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Aug 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allowed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035040"/>
            <a:ext cx="116403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Arial"/>
              </a:rPr>
              <a:t>Air temp, humidity, wind, and precipitation sourced from Open-Meteo historical archive (race window 14:00–18:00 local) where WT API data is absent. Values marked * are Open-Meteo estimates. Water temp and wetsuit ruling are from the World Triathlon API per program.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