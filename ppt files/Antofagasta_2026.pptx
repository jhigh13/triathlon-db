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430000" y="0"/>
            <a:ext cx="758952" cy="68580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3749039"/>
            <a:ext cx="1078992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SA_Triathlon_Logo.jpg"/>
          <p:cNvPicPr>
            <a:picLocks noChangeAspect="1"/>
          </p:cNvPicPr>
          <p:nvPr/>
        </p:nvPicPr>
        <p:blipFill>
          <a:blip r:embed="rId2"/>
          <a:stretch>
            <a:fillRect/>
          </a:stretch>
        </p:blipFill>
        <p:spPr>
          <a:xfrm>
            <a:off x="548640" y="365760"/>
            <a:ext cx="1920240" cy="1463040"/>
          </a:xfrm>
          <a:prstGeom prst="rect">
            <a:avLst/>
          </a:prstGeom>
        </p:spPr>
      </p:pic>
      <p:sp>
        <p:nvSpPr>
          <p:cNvPr id="6" name="TextBox 5"/>
          <p:cNvSpPr txBox="1"/>
          <p:nvPr/>
        </p:nvSpPr>
        <p:spPr>
          <a:xfrm>
            <a:off x="457200" y="1828800"/>
            <a:ext cx="10789920" cy="1280160"/>
          </a:xfrm>
          <a:prstGeom prst="rect">
            <a:avLst/>
          </a:prstGeom>
          <a:noFill/>
        </p:spPr>
        <p:txBody>
          <a:bodyPr wrap="square">
            <a:spAutoFit/>
          </a:bodyPr>
          <a:lstStyle/>
          <a:p>
            <a:pPr algn="ctr"/>
            <a:r>
              <a:rPr sz="5400" b="1" i="0">
                <a:solidFill>
                  <a:srgbClr val="FFFFFF"/>
                </a:solidFill>
                <a:latin typeface="Arial"/>
              </a:rPr>
              <a:t>ANTOFAGASTA RACE PREVIEW</a:t>
            </a:r>
          </a:p>
        </p:txBody>
      </p:sp>
      <p:sp>
        <p:nvSpPr>
          <p:cNvPr id="7" name="TextBox 6"/>
          <p:cNvSpPr txBox="1"/>
          <p:nvPr/>
        </p:nvSpPr>
        <p:spPr>
          <a:xfrm>
            <a:off x="457200" y="3931920"/>
            <a:ext cx="10789920" cy="548640"/>
          </a:xfrm>
          <a:prstGeom prst="rect">
            <a:avLst/>
          </a:prstGeom>
          <a:noFill/>
        </p:spPr>
        <p:txBody>
          <a:bodyPr wrap="square">
            <a:spAutoFit/>
          </a:bodyPr>
          <a:lstStyle/>
          <a:p>
            <a:pPr algn="ctr"/>
            <a:r>
              <a:rPr sz="1800" b="0" i="0">
                <a:solidFill>
                  <a:srgbClr val="AABBDD"/>
                </a:solidFill>
                <a:latin typeface="Arial"/>
              </a:rPr>
              <a:t>Elite Analysis  ·  July 3 to 5, 2026</a:t>
            </a:r>
          </a:p>
        </p:txBody>
      </p:sp>
      <p:sp>
        <p:nvSpPr>
          <p:cNvPr id="8" name="TextBox 7"/>
          <p:cNvSpPr txBox="1"/>
          <p:nvPr/>
        </p:nvSpPr>
        <p:spPr>
          <a:xfrm>
            <a:off x="457200" y="4572000"/>
            <a:ext cx="10789920" cy="457200"/>
          </a:xfrm>
          <a:prstGeom prst="rect">
            <a:avLst/>
          </a:prstGeom>
          <a:noFill/>
        </p:spPr>
        <p:txBody>
          <a:bodyPr wrap="square">
            <a:spAutoFit/>
          </a:bodyPr>
          <a:lstStyle/>
          <a:p>
            <a:pPr algn="ctr"/>
            <a:r>
              <a:rPr sz="1400" b="0" i="0">
                <a:solidFill>
                  <a:srgbClr val="8090B0"/>
                </a:solidFill>
                <a:latin typeface="Arial"/>
              </a:rPr>
              <a:t>USA Triathlon High Performance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Week Schedule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Antofagasta</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97280"/>
            <a:ext cx="11640312" cy="384048"/>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161288"/>
            <a:ext cx="11430000" cy="274320"/>
          </a:xfrm>
          <a:prstGeom prst="rect">
            <a:avLst/>
          </a:prstGeom>
          <a:noFill/>
        </p:spPr>
        <p:txBody>
          <a:bodyPr wrap="square">
            <a:spAutoFit/>
          </a:bodyPr>
          <a:lstStyle/>
          <a:p>
            <a:pPr algn="ctr"/>
            <a:r>
              <a:rPr sz="1300" b="1" i="0">
                <a:solidFill>
                  <a:srgbClr val="002060"/>
                </a:solidFill>
                <a:latin typeface="Arial"/>
              </a:rPr>
              <a:t>July 3 to 5, 2026   •   Balneario Municipal, Av. República de Croacia, Antofagasta, Chile (CLT, UTC-4)</a:t>
            </a:r>
          </a:p>
        </p:txBody>
      </p:sp>
      <p:sp>
        <p:nvSpPr>
          <p:cNvPr id="10" name="Rectangle 9"/>
          <p:cNvSpPr/>
          <p:nvPr/>
        </p:nvSpPr>
        <p:spPr>
          <a:xfrm>
            <a:off x="274320" y="1691640"/>
            <a:ext cx="3727704" cy="4572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728216"/>
            <a:ext cx="3544824" cy="201168"/>
          </a:xfrm>
          <a:prstGeom prst="rect">
            <a:avLst/>
          </a:prstGeom>
          <a:noFill/>
        </p:spPr>
        <p:txBody>
          <a:bodyPr wrap="square">
            <a:spAutoFit/>
          </a:bodyPr>
          <a:lstStyle/>
          <a:p>
            <a:pPr algn="ctr"/>
            <a:r>
              <a:rPr sz="1200" b="1" i="0">
                <a:solidFill>
                  <a:srgbClr val="FFFFFF"/>
                </a:solidFill>
                <a:latin typeface="Arial"/>
              </a:rPr>
              <a:t>Fri • July 3</a:t>
            </a:r>
          </a:p>
        </p:txBody>
      </p:sp>
      <p:sp>
        <p:nvSpPr>
          <p:cNvPr id="12" name="TextBox 11"/>
          <p:cNvSpPr txBox="1"/>
          <p:nvPr/>
        </p:nvSpPr>
        <p:spPr>
          <a:xfrm>
            <a:off x="365760" y="1929384"/>
            <a:ext cx="3544824" cy="201168"/>
          </a:xfrm>
          <a:prstGeom prst="rect">
            <a:avLst/>
          </a:prstGeom>
          <a:noFill/>
        </p:spPr>
        <p:txBody>
          <a:bodyPr wrap="square">
            <a:spAutoFit/>
          </a:bodyPr>
          <a:lstStyle/>
          <a:p>
            <a:pPr algn="ctr"/>
            <a:r>
              <a:rPr sz="950" b="0" i="1">
                <a:solidFill>
                  <a:srgbClr val="AABBDD"/>
                </a:solidFill>
                <a:latin typeface="Arial"/>
              </a:rPr>
              <a:t>Familiarization &amp; Briefing</a:t>
            </a:r>
          </a:p>
        </p:txBody>
      </p:sp>
      <p:graphicFrame>
        <p:nvGraphicFramePr>
          <p:cNvPr id="13" name="Table 12"/>
          <p:cNvGraphicFramePr>
            <a:graphicFrameLocks noGrp="1"/>
          </p:cNvGraphicFramePr>
          <p:nvPr/>
        </p:nvGraphicFramePr>
        <p:xfrm>
          <a:off x="274320" y="2240280"/>
          <a:ext cx="3727703" cy="2514600"/>
        </p:xfrm>
        <a:graphic>
          <a:graphicData uri="http://schemas.openxmlformats.org/drawingml/2006/table">
            <a:tbl>
              <a:tblPr firstRow="1" bandRow="1">
                <a:tableStyleId>{5C22544A-7EE6-4342-B048-85BDC9FD1C3A}</a:tableStyleId>
              </a:tblPr>
              <a:tblGrid>
                <a:gridCol w="1341973"/>
                <a:gridCol w="2385730"/>
              </a:tblGrid>
              <a:tr h="502920">
                <a:tc>
                  <a:txBody>
                    <a:bodyPr wrap="none"/>
                    <a:lstStyle/>
                    <a:p>
                      <a:pPr algn="ctr"/>
                      <a:r>
                        <a:rPr sz="1000" b="0" i="0">
                          <a:solidFill>
                            <a:srgbClr val="262626"/>
                          </a:solidFill>
                          <a:latin typeface="Arial"/>
                        </a:rPr>
                        <a:t>Morning</a:t>
                      </a:r>
                    </a:p>
                  </a:txBody>
                  <a:tcPr>
                    <a:solidFill>
                      <a:srgbClr val="F2F2F2"/>
                    </a:solidFill>
                  </a:tcPr>
                </a:tc>
                <a:tc>
                  <a:txBody>
                    <a:bodyPr wrap="none"/>
                    <a:lstStyle/>
                    <a:p>
                      <a:pPr algn="l"/>
                      <a:r>
                        <a:rPr sz="1000" b="0" i="0">
                          <a:solidFill>
                            <a:srgbClr val="262626"/>
                          </a:solidFill>
                          <a:latin typeface="Arial"/>
                        </a:rPr>
                        <a:t>Elite and Junior swim and bike familiarisation</a:t>
                      </a:r>
                    </a:p>
                  </a:txBody>
                  <a:tcPr>
                    <a:solidFill>
                      <a:srgbClr val="F2F2F2"/>
                    </a:solidFill>
                  </a:tcPr>
                </a:tc>
              </a:tr>
              <a:tr h="502920">
                <a:tc>
                  <a:txBody>
                    <a:bodyPr wrap="none"/>
                    <a:lstStyle/>
                    <a:p>
                      <a:pPr algn="ctr"/>
                      <a:r>
                        <a:rPr sz="1000" b="0" i="0">
                          <a:solidFill>
                            <a:srgbClr val="262626"/>
                          </a:solidFill>
                          <a:latin typeface="Arial"/>
                        </a:rPr>
                        <a:t>Morning</a:t>
                      </a:r>
                    </a:p>
                  </a:txBody>
                  <a:tcPr>
                    <a:solidFill>
                      <a:srgbClr val="FFFFFF"/>
                    </a:solidFill>
                  </a:tcPr>
                </a:tc>
                <a:tc>
                  <a:txBody>
                    <a:bodyPr wrap="none"/>
                    <a:lstStyle/>
                    <a:p>
                      <a:pPr algn="l"/>
                      <a:r>
                        <a:rPr sz="1000" b="0" i="0">
                          <a:solidFill>
                            <a:srgbClr val="262626"/>
                          </a:solidFill>
                          <a:latin typeface="Arial"/>
                        </a:rPr>
                        <a:t>Para triathlon swim and bike familiarisation</a:t>
                      </a:r>
                    </a:p>
                  </a:txBody>
                  <a:tcPr>
                    <a:solidFill>
                      <a:srgbClr val="FFFFFF"/>
                    </a:solidFill>
                  </a:tcPr>
                </a:tc>
              </a:tr>
              <a:tr h="502920">
                <a:tc>
                  <a:txBody>
                    <a:bodyPr wrap="none"/>
                    <a:lstStyle/>
                    <a:p>
                      <a:pPr algn="ctr"/>
                      <a:r>
                        <a:rPr sz="1000" b="0" i="0">
                          <a:solidFill>
                            <a:srgbClr val="262626"/>
                          </a:solidFill>
                          <a:latin typeface="Arial"/>
                        </a:rPr>
                        <a:t>13:00 – 18:00</a:t>
                      </a:r>
                    </a:p>
                  </a:txBody>
                  <a:tcPr>
                    <a:solidFill>
                      <a:srgbClr val="F2F2F2"/>
                    </a:solidFill>
                  </a:tcPr>
                </a:tc>
                <a:tc>
                  <a:txBody>
                    <a:bodyPr wrap="none"/>
                    <a:lstStyle/>
                    <a:p>
                      <a:pPr algn="l"/>
                      <a:r>
                        <a:rPr sz="1000" b="0" i="0">
                          <a:solidFill>
                            <a:srgbClr val="262626"/>
                          </a:solidFill>
                          <a:latin typeface="Arial"/>
                        </a:rPr>
                        <a:t>Age-Group registration and kit collection</a:t>
                      </a:r>
                    </a:p>
                  </a:txBody>
                  <a:tcPr>
                    <a:solidFill>
                      <a:srgbClr val="F2F2F2"/>
                    </a:solidFill>
                  </a:tcPr>
                </a:tc>
              </a:tr>
              <a:tr h="502920">
                <a:tc>
                  <a:txBody>
                    <a:bodyPr wrap="none"/>
                    <a:lstStyle/>
                    <a:p>
                      <a:pPr algn="ctr"/>
                      <a:r>
                        <a:rPr sz="1000" b="1" i="0">
                          <a:solidFill>
                            <a:srgbClr val="C00000"/>
                          </a:solidFill>
                          <a:latin typeface="Arial"/>
                        </a:rPr>
                        <a:t>16:00</a:t>
                      </a:r>
                    </a:p>
                  </a:txBody>
                  <a:tcPr>
                    <a:solidFill>
                      <a:srgbClr val="FDECEC"/>
                    </a:solidFill>
                  </a:tcPr>
                </a:tc>
                <a:tc>
                  <a:txBody>
                    <a:bodyPr wrap="none"/>
                    <a:lstStyle/>
                    <a:p>
                      <a:pPr algn="l"/>
                      <a:r>
                        <a:rPr sz="1000" b="1" i="0">
                          <a:solidFill>
                            <a:srgbClr val="C00000"/>
                          </a:solidFill>
                          <a:latin typeface="Arial"/>
                        </a:rPr>
                        <a:t>★ Elite and Junior pre-race briefing</a:t>
                      </a:r>
                    </a:p>
                  </a:txBody>
                  <a:tcPr>
                    <a:solidFill>
                      <a:srgbClr val="FDECEC"/>
                    </a:solidFill>
                  </a:tcPr>
                </a:tc>
              </a:tr>
              <a:tr h="502920">
                <a:tc>
                  <a:txBody>
                    <a:bodyPr wrap="none"/>
                    <a:lstStyle/>
                    <a:p>
                      <a:pPr algn="ctr"/>
                      <a:r>
                        <a:rPr sz="1000" b="0" i="0">
                          <a:solidFill>
                            <a:srgbClr val="262626"/>
                          </a:solidFill>
                          <a:latin typeface="Arial"/>
                        </a:rPr>
                        <a:t>16:45 – 18:15</a:t>
                      </a:r>
                    </a:p>
                  </a:txBody>
                  <a:tcPr>
                    <a:solidFill>
                      <a:srgbClr val="F2F2F2"/>
                    </a:solidFill>
                  </a:tcPr>
                </a:tc>
                <a:tc>
                  <a:txBody>
                    <a:bodyPr wrap="none"/>
                    <a:lstStyle/>
                    <a:p>
                      <a:pPr algn="l"/>
                      <a:r>
                        <a:rPr sz="1000" b="0" i="0">
                          <a:solidFill>
                            <a:srgbClr val="262626"/>
                          </a:solidFill>
                          <a:latin typeface="Arial"/>
                        </a:rPr>
                        <a:t>Elite and Junior registration and kit collection</a:t>
                      </a:r>
                    </a:p>
                  </a:txBody>
                  <a:tcPr>
                    <a:solidFill>
                      <a:srgbClr val="F2F2F2"/>
                    </a:solidFill>
                  </a:tcPr>
                </a:tc>
              </a:tr>
            </a:tbl>
          </a:graphicData>
        </a:graphic>
      </p:graphicFrame>
      <p:sp>
        <p:nvSpPr>
          <p:cNvPr id="14" name="Rectangle 13"/>
          <p:cNvSpPr/>
          <p:nvPr/>
        </p:nvSpPr>
        <p:spPr>
          <a:xfrm>
            <a:off x="4230624" y="1691640"/>
            <a:ext cx="3727704" cy="4572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22064" y="1728216"/>
            <a:ext cx="3544824" cy="201168"/>
          </a:xfrm>
          <a:prstGeom prst="rect">
            <a:avLst/>
          </a:prstGeom>
          <a:noFill/>
        </p:spPr>
        <p:txBody>
          <a:bodyPr wrap="square">
            <a:spAutoFit/>
          </a:bodyPr>
          <a:lstStyle/>
          <a:p>
            <a:pPr algn="ctr"/>
            <a:r>
              <a:rPr sz="1200" b="1" i="0">
                <a:solidFill>
                  <a:srgbClr val="FFFFFF"/>
                </a:solidFill>
                <a:latin typeface="Arial"/>
              </a:rPr>
              <a:t>Sat • July 4</a:t>
            </a:r>
          </a:p>
        </p:txBody>
      </p:sp>
      <p:sp>
        <p:nvSpPr>
          <p:cNvPr id="16" name="TextBox 15"/>
          <p:cNvSpPr txBox="1"/>
          <p:nvPr/>
        </p:nvSpPr>
        <p:spPr>
          <a:xfrm>
            <a:off x="4322064" y="1929384"/>
            <a:ext cx="3544824" cy="201168"/>
          </a:xfrm>
          <a:prstGeom prst="rect">
            <a:avLst/>
          </a:prstGeom>
          <a:noFill/>
        </p:spPr>
        <p:txBody>
          <a:bodyPr wrap="square">
            <a:spAutoFit/>
          </a:bodyPr>
          <a:lstStyle/>
          <a:p>
            <a:pPr algn="ctr"/>
            <a:r>
              <a:rPr sz="950" b="0" i="1">
                <a:solidFill>
                  <a:srgbClr val="AABBDD"/>
                </a:solidFill>
                <a:latin typeface="Arial"/>
              </a:rPr>
              <a:t>CHAMPIONSHIP RACE DAY</a:t>
            </a:r>
          </a:p>
        </p:txBody>
      </p:sp>
      <p:graphicFrame>
        <p:nvGraphicFramePr>
          <p:cNvPr id="17" name="Table 16"/>
          <p:cNvGraphicFramePr>
            <a:graphicFrameLocks noGrp="1"/>
          </p:cNvGraphicFramePr>
          <p:nvPr/>
        </p:nvGraphicFramePr>
        <p:xfrm>
          <a:off x="4230624" y="2240280"/>
          <a:ext cx="3727703" cy="3017520"/>
        </p:xfrm>
        <a:graphic>
          <a:graphicData uri="http://schemas.openxmlformats.org/drawingml/2006/table">
            <a:tbl>
              <a:tblPr firstRow="1" bandRow="1">
                <a:tableStyleId>{5C22544A-7EE6-4342-B048-85BDC9FD1C3A}</a:tableStyleId>
              </a:tblPr>
              <a:tblGrid>
                <a:gridCol w="1341973"/>
                <a:gridCol w="2385730"/>
              </a:tblGrid>
              <a:tr h="502920">
                <a:tc>
                  <a:txBody>
                    <a:bodyPr wrap="none"/>
                    <a:lstStyle/>
                    <a:p>
                      <a:pPr algn="ctr"/>
                      <a:r>
                        <a:rPr sz="1000" b="0" i="0">
                          <a:solidFill>
                            <a:srgbClr val="262626"/>
                          </a:solidFill>
                          <a:latin typeface="Arial"/>
                        </a:rPr>
                        <a:t>TBD</a:t>
                      </a:r>
                    </a:p>
                  </a:txBody>
                  <a:tcPr>
                    <a:solidFill>
                      <a:srgbClr val="F2F2F2"/>
                    </a:solidFill>
                  </a:tcPr>
                </a:tc>
                <a:tc>
                  <a:txBody>
                    <a:bodyPr wrap="none"/>
                    <a:lstStyle/>
                    <a:p>
                      <a:pPr algn="l"/>
                      <a:r>
                        <a:rPr sz="1000" b="0" i="0">
                          <a:solidFill>
                            <a:srgbClr val="262626"/>
                          </a:solidFill>
                          <a:latin typeface="Arial"/>
                        </a:rPr>
                        <a:t>Junior Women Championship, Sprint</a:t>
                      </a:r>
                    </a:p>
                  </a:txBody>
                  <a:tcPr>
                    <a:solidFill>
                      <a:srgbClr val="F2F2F2"/>
                    </a:solidFill>
                  </a:tcPr>
                </a:tc>
              </a:tr>
              <a:tr h="502920">
                <a:tc>
                  <a:txBody>
                    <a:bodyPr wrap="none"/>
                    <a:lstStyle/>
                    <a:p>
                      <a:pPr algn="ctr"/>
                      <a:r>
                        <a:rPr sz="1000" b="0" i="0">
                          <a:solidFill>
                            <a:srgbClr val="262626"/>
                          </a:solidFill>
                          <a:latin typeface="Arial"/>
                        </a:rPr>
                        <a:t>TBD</a:t>
                      </a:r>
                    </a:p>
                  </a:txBody>
                  <a:tcPr>
                    <a:solidFill>
                      <a:srgbClr val="FFFFFF"/>
                    </a:solidFill>
                  </a:tcPr>
                </a:tc>
                <a:tc>
                  <a:txBody>
                    <a:bodyPr wrap="none"/>
                    <a:lstStyle/>
                    <a:p>
                      <a:pPr algn="l"/>
                      <a:r>
                        <a:rPr sz="1000" b="0" i="0">
                          <a:solidFill>
                            <a:srgbClr val="262626"/>
                          </a:solidFill>
                          <a:latin typeface="Arial"/>
                        </a:rPr>
                        <a:t>Junior Men Championship, Sprint</a:t>
                      </a:r>
                    </a:p>
                  </a:txBody>
                  <a:tcPr>
                    <a:solidFill>
                      <a:srgbClr val="FFFFFF"/>
                    </a:solidFill>
                  </a:tcPr>
                </a:tc>
              </a:tr>
              <a:tr h="502920">
                <a:tc>
                  <a:txBody>
                    <a:bodyPr wrap="none"/>
                    <a:lstStyle/>
                    <a:p>
                      <a:pPr algn="ctr"/>
                      <a:r>
                        <a:rPr sz="1000" b="1" i="0">
                          <a:solidFill>
                            <a:srgbClr val="C00000"/>
                          </a:solidFill>
                          <a:latin typeface="Arial"/>
                        </a:rPr>
                        <a:t>TBD</a:t>
                      </a:r>
                    </a:p>
                  </a:txBody>
                  <a:tcPr>
                    <a:solidFill>
                      <a:srgbClr val="FDECEC"/>
                    </a:solidFill>
                  </a:tcPr>
                </a:tc>
                <a:tc>
                  <a:txBody>
                    <a:bodyPr wrap="none"/>
                    <a:lstStyle/>
                    <a:p>
                      <a:pPr algn="l"/>
                      <a:r>
                        <a:rPr sz="1000" b="1" i="0">
                          <a:solidFill>
                            <a:srgbClr val="C00000"/>
                          </a:solidFill>
                          <a:latin typeface="Arial"/>
                        </a:rPr>
                        <a:t>★ Elite / U23 Women Championship, Standard</a:t>
                      </a:r>
                    </a:p>
                  </a:txBody>
                  <a:tcPr>
                    <a:solidFill>
                      <a:srgbClr val="FDECEC"/>
                    </a:solidFill>
                  </a:tcPr>
                </a:tc>
              </a:tr>
              <a:tr h="502920">
                <a:tc>
                  <a:txBody>
                    <a:bodyPr wrap="none"/>
                    <a:lstStyle/>
                    <a:p>
                      <a:pPr algn="ctr"/>
                      <a:r>
                        <a:rPr sz="1000" b="1" i="0">
                          <a:solidFill>
                            <a:srgbClr val="C00000"/>
                          </a:solidFill>
                          <a:latin typeface="Arial"/>
                        </a:rPr>
                        <a:t>TBD</a:t>
                      </a:r>
                    </a:p>
                  </a:txBody>
                  <a:tcPr>
                    <a:solidFill>
                      <a:srgbClr val="FDECEC"/>
                    </a:solidFill>
                  </a:tcPr>
                </a:tc>
                <a:tc>
                  <a:txBody>
                    <a:bodyPr wrap="none"/>
                    <a:lstStyle/>
                    <a:p>
                      <a:pPr algn="l"/>
                      <a:r>
                        <a:rPr sz="1000" b="1" i="0">
                          <a:solidFill>
                            <a:srgbClr val="C00000"/>
                          </a:solidFill>
                          <a:latin typeface="Arial"/>
                        </a:rPr>
                        <a:t>★ Elite / U23 Men Championship, Standard</a:t>
                      </a:r>
                    </a:p>
                  </a:txBody>
                  <a:tcPr>
                    <a:solidFill>
                      <a:srgbClr val="FDECEC"/>
                    </a:solidFill>
                  </a:tcPr>
                </a:tc>
              </a:tr>
              <a:tr h="502920">
                <a:tc>
                  <a:txBody>
                    <a:bodyPr wrap="none"/>
                    <a:lstStyle/>
                    <a:p>
                      <a:pPr algn="ctr"/>
                      <a:r>
                        <a:rPr sz="1000" b="0" i="0">
                          <a:solidFill>
                            <a:srgbClr val="262626"/>
                          </a:solidFill>
                          <a:latin typeface="Arial"/>
                        </a:rPr>
                        <a:t>16:00</a:t>
                      </a:r>
                    </a:p>
                  </a:txBody>
                  <a:tcPr>
                    <a:solidFill>
                      <a:srgbClr val="F2F2F2"/>
                    </a:solidFill>
                  </a:tcPr>
                </a:tc>
                <a:tc>
                  <a:txBody>
                    <a:bodyPr wrap="none"/>
                    <a:lstStyle/>
                    <a:p>
                      <a:pPr algn="l"/>
                      <a:r>
                        <a:rPr sz="1000" b="0" i="0">
                          <a:solidFill>
                            <a:srgbClr val="262626"/>
                          </a:solidFill>
                          <a:latin typeface="Arial"/>
                        </a:rPr>
                        <a:t>Para triathlon briefing</a:t>
                      </a:r>
                    </a:p>
                  </a:txBody>
                  <a:tcPr>
                    <a:solidFill>
                      <a:srgbClr val="F2F2F2"/>
                    </a:solidFill>
                  </a:tcPr>
                </a:tc>
              </a:tr>
              <a:tr h="502920">
                <a:tc>
                  <a:txBody>
                    <a:bodyPr wrap="none"/>
                    <a:lstStyle/>
                    <a:p>
                      <a:pPr algn="ctr"/>
                      <a:r>
                        <a:rPr sz="1000" b="0" i="0">
                          <a:solidFill>
                            <a:srgbClr val="262626"/>
                          </a:solidFill>
                          <a:latin typeface="Arial"/>
                        </a:rPr>
                        <a:t>18:00</a:t>
                      </a:r>
                    </a:p>
                  </a:txBody>
                  <a:tcPr>
                    <a:solidFill>
                      <a:srgbClr val="FFFFFF"/>
                    </a:solidFill>
                  </a:tcPr>
                </a:tc>
                <a:tc>
                  <a:txBody>
                    <a:bodyPr wrap="none"/>
                    <a:lstStyle/>
                    <a:p>
                      <a:pPr algn="l"/>
                      <a:r>
                        <a:rPr sz="1000" b="0" i="0">
                          <a:solidFill>
                            <a:srgbClr val="262626"/>
                          </a:solidFill>
                          <a:latin typeface="Arial"/>
                        </a:rPr>
                        <a:t>Age-Group briefing</a:t>
                      </a:r>
                    </a:p>
                  </a:txBody>
                  <a:tcPr>
                    <a:solidFill>
                      <a:srgbClr val="FFFFFF"/>
                    </a:solidFill>
                  </a:tcPr>
                </a:tc>
              </a:tr>
            </a:tbl>
          </a:graphicData>
        </a:graphic>
      </p:graphicFrame>
      <p:sp>
        <p:nvSpPr>
          <p:cNvPr id="18" name="Rectangle 17"/>
          <p:cNvSpPr/>
          <p:nvPr/>
        </p:nvSpPr>
        <p:spPr>
          <a:xfrm>
            <a:off x="8186928" y="1691640"/>
            <a:ext cx="3727704" cy="4572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8368" y="1728216"/>
            <a:ext cx="3544824" cy="201168"/>
          </a:xfrm>
          <a:prstGeom prst="rect">
            <a:avLst/>
          </a:prstGeom>
          <a:noFill/>
        </p:spPr>
        <p:txBody>
          <a:bodyPr wrap="square">
            <a:spAutoFit/>
          </a:bodyPr>
          <a:lstStyle/>
          <a:p>
            <a:pPr algn="ctr"/>
            <a:r>
              <a:rPr sz="1200" b="1" i="0">
                <a:solidFill>
                  <a:srgbClr val="FFFFFF"/>
                </a:solidFill>
                <a:latin typeface="Arial"/>
              </a:rPr>
              <a:t>Sun • July 5</a:t>
            </a:r>
          </a:p>
        </p:txBody>
      </p:sp>
      <p:sp>
        <p:nvSpPr>
          <p:cNvPr id="20" name="TextBox 19"/>
          <p:cNvSpPr txBox="1"/>
          <p:nvPr/>
        </p:nvSpPr>
        <p:spPr>
          <a:xfrm>
            <a:off x="8278368" y="1929384"/>
            <a:ext cx="3544824" cy="201168"/>
          </a:xfrm>
          <a:prstGeom prst="rect">
            <a:avLst/>
          </a:prstGeom>
          <a:noFill/>
        </p:spPr>
        <p:txBody>
          <a:bodyPr wrap="square">
            <a:spAutoFit/>
          </a:bodyPr>
          <a:lstStyle/>
          <a:p>
            <a:pPr algn="ctr"/>
            <a:r>
              <a:rPr sz="950" b="0" i="1">
                <a:solidFill>
                  <a:srgbClr val="AABBDD"/>
                </a:solidFill>
                <a:latin typeface="Arial"/>
              </a:rPr>
              <a:t>Para / Youth / AG / Relay</a:t>
            </a:r>
          </a:p>
        </p:txBody>
      </p:sp>
      <p:graphicFrame>
        <p:nvGraphicFramePr>
          <p:cNvPr id="21" name="Table 20"/>
          <p:cNvGraphicFramePr>
            <a:graphicFrameLocks noGrp="1"/>
          </p:cNvGraphicFramePr>
          <p:nvPr/>
        </p:nvGraphicFramePr>
        <p:xfrm>
          <a:off x="8186928" y="2240280"/>
          <a:ext cx="3727703" cy="2514600"/>
        </p:xfrm>
        <a:graphic>
          <a:graphicData uri="http://schemas.openxmlformats.org/drawingml/2006/table">
            <a:tbl>
              <a:tblPr firstRow="1" bandRow="1">
                <a:tableStyleId>{5C22544A-7EE6-4342-B048-85BDC9FD1C3A}</a:tableStyleId>
              </a:tblPr>
              <a:tblGrid>
                <a:gridCol w="1341973"/>
                <a:gridCol w="2385730"/>
              </a:tblGrid>
              <a:tr h="502920">
                <a:tc>
                  <a:txBody>
                    <a:bodyPr wrap="none"/>
                    <a:lstStyle/>
                    <a:p>
                      <a:pPr algn="ctr"/>
                      <a:r>
                        <a:rPr sz="1000" b="0" i="0">
                          <a:solidFill>
                            <a:srgbClr val="262626"/>
                          </a:solidFill>
                          <a:latin typeface="Arial"/>
                        </a:rPr>
                        <a:t>TBD</a:t>
                      </a:r>
                    </a:p>
                  </a:txBody>
                  <a:tcPr>
                    <a:solidFill>
                      <a:srgbClr val="F2F2F2"/>
                    </a:solidFill>
                  </a:tcPr>
                </a:tc>
                <a:tc>
                  <a:txBody>
                    <a:bodyPr wrap="none"/>
                    <a:lstStyle/>
                    <a:p>
                      <a:pPr algn="l"/>
                      <a:r>
                        <a:rPr sz="1000" b="0" i="0">
                          <a:solidFill>
                            <a:srgbClr val="262626"/>
                          </a:solidFill>
                          <a:latin typeface="Arial"/>
                        </a:rPr>
                        <a:t>Para Triathlon Championship, Sprint</a:t>
                      </a:r>
                    </a:p>
                  </a:txBody>
                  <a:tcPr>
                    <a:solidFill>
                      <a:srgbClr val="F2F2F2"/>
                    </a:solidFill>
                  </a:tcPr>
                </a:tc>
              </a:tr>
              <a:tr h="502920">
                <a:tc>
                  <a:txBody>
                    <a:bodyPr wrap="none"/>
                    <a:lstStyle/>
                    <a:p>
                      <a:pPr algn="ctr"/>
                      <a:r>
                        <a:rPr sz="1000" b="0" i="0">
                          <a:solidFill>
                            <a:srgbClr val="262626"/>
                          </a:solidFill>
                          <a:latin typeface="Arial"/>
                        </a:rPr>
                        <a:t>TBD</a:t>
                      </a:r>
                    </a:p>
                  </a:txBody>
                  <a:tcPr>
                    <a:solidFill>
                      <a:srgbClr val="FFFFFF"/>
                    </a:solidFill>
                  </a:tcPr>
                </a:tc>
                <a:tc>
                  <a:txBody>
                    <a:bodyPr wrap="none"/>
                    <a:lstStyle/>
                    <a:p>
                      <a:pPr algn="l"/>
                      <a:r>
                        <a:rPr sz="1000" b="0" i="0">
                          <a:solidFill>
                            <a:srgbClr val="262626"/>
                          </a:solidFill>
                          <a:latin typeface="Arial"/>
                        </a:rPr>
                        <a:t>Youth Women Championship, Super Sprint</a:t>
                      </a:r>
                    </a:p>
                  </a:txBody>
                  <a:tcPr>
                    <a:solidFill>
                      <a:srgbClr val="FFFFFF"/>
                    </a:solidFill>
                  </a:tcPr>
                </a:tc>
              </a:tr>
              <a:tr h="502920">
                <a:tc>
                  <a:txBody>
                    <a:bodyPr wrap="none"/>
                    <a:lstStyle/>
                    <a:p>
                      <a:pPr algn="ctr"/>
                      <a:r>
                        <a:rPr sz="1000" b="0" i="0">
                          <a:solidFill>
                            <a:srgbClr val="262626"/>
                          </a:solidFill>
                          <a:latin typeface="Arial"/>
                        </a:rPr>
                        <a:t>TBD</a:t>
                      </a:r>
                    </a:p>
                  </a:txBody>
                  <a:tcPr>
                    <a:solidFill>
                      <a:srgbClr val="F2F2F2"/>
                    </a:solidFill>
                  </a:tcPr>
                </a:tc>
                <a:tc>
                  <a:txBody>
                    <a:bodyPr wrap="none"/>
                    <a:lstStyle/>
                    <a:p>
                      <a:pPr algn="l"/>
                      <a:r>
                        <a:rPr sz="1000" b="0" i="0">
                          <a:solidFill>
                            <a:srgbClr val="262626"/>
                          </a:solidFill>
                          <a:latin typeface="Arial"/>
                        </a:rPr>
                        <a:t>Youth Men Championship, Super Sprint</a:t>
                      </a:r>
                    </a:p>
                  </a:txBody>
                  <a:tcPr>
                    <a:solidFill>
                      <a:srgbClr val="F2F2F2"/>
                    </a:solidFill>
                  </a:tcPr>
                </a:tc>
              </a:tr>
              <a:tr h="502920">
                <a:tc>
                  <a:txBody>
                    <a:bodyPr wrap="none"/>
                    <a:lstStyle/>
                    <a:p>
                      <a:pPr algn="ctr"/>
                      <a:r>
                        <a:rPr sz="1000" b="0" i="0">
                          <a:solidFill>
                            <a:srgbClr val="262626"/>
                          </a:solidFill>
                          <a:latin typeface="Arial"/>
                        </a:rPr>
                        <a:t>TBD</a:t>
                      </a:r>
                    </a:p>
                  </a:txBody>
                  <a:tcPr>
                    <a:solidFill>
                      <a:srgbClr val="FFFFFF"/>
                    </a:solidFill>
                  </a:tcPr>
                </a:tc>
                <a:tc>
                  <a:txBody>
                    <a:bodyPr wrap="none"/>
                    <a:lstStyle/>
                    <a:p>
                      <a:pPr algn="l"/>
                      <a:r>
                        <a:rPr sz="1000" b="0" i="0">
                          <a:solidFill>
                            <a:srgbClr val="262626"/>
                          </a:solidFill>
                          <a:latin typeface="Arial"/>
                        </a:rPr>
                        <a:t>Age-Group Championship, Standard</a:t>
                      </a:r>
                    </a:p>
                  </a:txBody>
                  <a:tcPr>
                    <a:solidFill>
                      <a:srgbClr val="FFFFFF"/>
                    </a:solidFill>
                  </a:tcPr>
                </a:tc>
              </a:tr>
              <a:tr h="502920">
                <a:tc>
                  <a:txBody>
                    <a:bodyPr wrap="none"/>
                    <a:lstStyle/>
                    <a:p>
                      <a:pPr algn="ctr"/>
                      <a:r>
                        <a:rPr sz="1000" b="0" i="0">
                          <a:solidFill>
                            <a:srgbClr val="262626"/>
                          </a:solidFill>
                          <a:latin typeface="Arial"/>
                        </a:rPr>
                        <a:t>TBD</a:t>
                      </a:r>
                    </a:p>
                  </a:txBody>
                  <a:tcPr>
                    <a:solidFill>
                      <a:srgbClr val="F2F2F2"/>
                    </a:solidFill>
                  </a:tcPr>
                </a:tc>
                <a:tc>
                  <a:txBody>
                    <a:bodyPr wrap="none"/>
                    <a:lstStyle/>
                    <a:p>
                      <a:pPr algn="l"/>
                      <a:r>
                        <a:rPr sz="1000" b="0" i="0">
                          <a:solidFill>
                            <a:srgbClr val="262626"/>
                          </a:solidFill>
                          <a:latin typeface="Arial"/>
                        </a:rPr>
                        <a:t>2x2 Mixed Relay, Elite and Juniors</a:t>
                      </a:r>
                    </a:p>
                  </a:txBody>
                  <a:tcPr>
                    <a:solidFill>
                      <a:srgbClr val="F2F2F2"/>
                    </a:solidFill>
                  </a:tcPr>
                </a:tc>
              </a:tr>
            </a:tbl>
          </a:graphicData>
        </a:graphic>
      </p:graphicFrame>
      <p:sp>
        <p:nvSpPr>
          <p:cNvPr id="22" name="TextBox 21"/>
          <p:cNvSpPr txBox="1"/>
          <p:nvPr/>
        </p:nvSpPr>
        <p:spPr>
          <a:xfrm>
            <a:off x="274320" y="6355080"/>
            <a:ext cx="11640312" cy="274320"/>
          </a:xfrm>
          <a:prstGeom prst="rect">
            <a:avLst/>
          </a:prstGeom>
          <a:noFill/>
        </p:spPr>
        <p:txBody>
          <a:bodyPr wrap="square">
            <a:spAutoFit/>
          </a:bodyPr>
          <a:lstStyle/>
          <a:p>
            <a:pPr algn="ctr"/>
            <a:r>
              <a:rPr sz="900" b="0" i="1">
                <a:solidFill>
                  <a:srgbClr val="BFBFBF"/>
                </a:solidFill>
                <a:latin typeface="Arial"/>
              </a:rPr>
              <a:t>Times Balneario Municipal, Av. República de Croacia, Antofagasta, Chile (CLT, UTC-4). Schedule confirmed from World Triathlon race-info page / athlete guide; subject to organiser updates.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Key Course Differentiators</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Antofagasta</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097280"/>
            <a:ext cx="6035040" cy="502920"/>
          </a:xfrm>
          <a:prstGeom prst="rect">
            <a:avLst/>
          </a:prstGeom>
          <a:noFill/>
        </p:spPr>
        <p:txBody>
          <a:bodyPr wrap="square">
            <a:spAutoFit/>
          </a:bodyPr>
          <a:lstStyle/>
          <a:p>
            <a:pPr algn="l"/>
            <a:r>
              <a:rPr sz="2000" b="1" i="0">
                <a:solidFill>
                  <a:srgbClr val="002060"/>
                </a:solidFill>
                <a:latin typeface="Arial"/>
              </a:rPr>
              <a:t>ANTOFAGASTA</a:t>
            </a:r>
          </a:p>
        </p:txBody>
      </p:sp>
      <p:sp>
        <p:nvSpPr>
          <p:cNvPr id="9" name="TextBox 8"/>
          <p:cNvSpPr txBox="1"/>
          <p:nvPr/>
        </p:nvSpPr>
        <p:spPr>
          <a:xfrm>
            <a:off x="274320" y="1627632"/>
            <a:ext cx="6035040" cy="1280160"/>
          </a:xfrm>
          <a:prstGeom prst="rect">
            <a:avLst/>
          </a:prstGeom>
          <a:noFill/>
        </p:spPr>
        <p:txBody>
          <a:bodyPr wrap="square">
            <a:spAutoFit/>
          </a:bodyPr>
          <a:lstStyle/>
          <a:p>
            <a:pPr algn="l"/>
            <a:r>
              <a:rPr sz="1400" b="0" i="0">
                <a:solidFill>
                  <a:srgbClr val="262626"/>
                </a:solidFill>
                <a:latin typeface="Arial"/>
              </a:rPr>
              <a:t>The 2026 Americas Triathlon Championships bring continental title racing to Antofagasta on Chile's northern desert coast. Racing is staged at the Balneario Municipal on Avenida República de Croacia, where the elite and U23 fields contest the standard distance on Saturday 4 July. Expect a cold Pacific swim cooled by the Humboldt Current, a flat, fast multi-lap bike on closed coastal avenues, and a flat seafront run. July is dry Atacama winter: mild highs near 18 C, cool mornings, and almost no rain.</a:t>
            </a:r>
          </a:p>
        </p:txBody>
      </p:sp>
      <p:sp>
        <p:nvSpPr>
          <p:cNvPr id="10" name="Rectangle 9"/>
          <p:cNvSpPr/>
          <p:nvPr/>
        </p:nvSpPr>
        <p:spPr>
          <a:xfrm>
            <a:off x="274320" y="2971800"/>
            <a:ext cx="603504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2990088"/>
            <a:ext cx="5669280" cy="274320"/>
          </a:xfrm>
          <a:prstGeom prst="rect">
            <a:avLst/>
          </a:prstGeom>
          <a:noFill/>
        </p:spPr>
        <p:txBody>
          <a:bodyPr wrap="square">
            <a:spAutoFit/>
          </a:bodyPr>
          <a:lstStyle/>
          <a:p>
            <a:pPr algn="l"/>
            <a:r>
              <a:rPr sz="1200" b="1" i="0">
                <a:solidFill>
                  <a:srgbClr val="FFFFFF"/>
                </a:solidFill>
                <a:latin typeface="Arial"/>
              </a:rPr>
              <a:t>COURSE FEATURES</a:t>
            </a:r>
          </a:p>
        </p:txBody>
      </p:sp>
      <p:sp>
        <p:nvSpPr>
          <p:cNvPr id="12" name="TextBox 11"/>
          <p:cNvSpPr txBox="1"/>
          <p:nvPr/>
        </p:nvSpPr>
        <p:spPr>
          <a:xfrm>
            <a:off x="365760" y="3401568"/>
            <a:ext cx="5852160" cy="590702"/>
          </a:xfrm>
          <a:prstGeom prst="rect">
            <a:avLst/>
          </a:prstGeom>
          <a:noFill/>
        </p:spPr>
        <p:txBody>
          <a:bodyPr wrap="square">
            <a:spAutoFit/>
          </a:bodyPr>
          <a:lstStyle/>
          <a:p>
            <a:pPr algn="l"/>
            <a:r>
              <a:rPr sz="1250" b="0" i="0">
                <a:solidFill>
                  <a:srgbClr val="262626"/>
                </a:solidFill>
                <a:latin typeface="Arial"/>
              </a:rPr>
              <a:t>•  Cold Pacific swim off the Balneario Municipal; the Humboldt Current holds water near 15 to 17 C, so plan for a wetsuit</a:t>
            </a:r>
          </a:p>
        </p:txBody>
      </p:sp>
      <p:sp>
        <p:nvSpPr>
          <p:cNvPr id="13" name="TextBox 12"/>
          <p:cNvSpPr txBox="1"/>
          <p:nvPr/>
        </p:nvSpPr>
        <p:spPr>
          <a:xfrm>
            <a:off x="365760" y="4010558"/>
            <a:ext cx="5852160" cy="590702"/>
          </a:xfrm>
          <a:prstGeom prst="rect">
            <a:avLst/>
          </a:prstGeom>
          <a:noFill/>
        </p:spPr>
        <p:txBody>
          <a:bodyPr wrap="square">
            <a:spAutoFit/>
          </a:bodyPr>
          <a:lstStyle/>
          <a:p>
            <a:pPr algn="l"/>
            <a:r>
              <a:rPr sz="1250" b="0" i="0">
                <a:solidFill>
                  <a:srgbClr val="262626"/>
                </a:solidFill>
                <a:latin typeface="Arial"/>
              </a:rPr>
              <a:t>•  Standard bike of 43.3 km over eight closed-road laps with a turnaround at each end; flat but technical on the U-turns</a:t>
            </a:r>
          </a:p>
        </p:txBody>
      </p:sp>
      <p:sp>
        <p:nvSpPr>
          <p:cNvPr id="14" name="TextBox 13"/>
          <p:cNvSpPr txBox="1"/>
          <p:nvPr/>
        </p:nvSpPr>
        <p:spPr>
          <a:xfrm>
            <a:off x="365760" y="4619548"/>
            <a:ext cx="5852160" cy="590702"/>
          </a:xfrm>
          <a:prstGeom prst="rect">
            <a:avLst/>
          </a:prstGeom>
          <a:noFill/>
        </p:spPr>
        <p:txBody>
          <a:bodyPr wrap="square">
            <a:spAutoFit/>
          </a:bodyPr>
          <a:lstStyle/>
          <a:p>
            <a:pPr algn="l"/>
            <a:r>
              <a:rPr sz="1250" b="0" i="0">
                <a:solidFill>
                  <a:srgbClr val="262626"/>
                </a:solidFill>
                <a:latin typeface="Arial"/>
              </a:rPr>
              <a:t>•  Flat 10 km seafront run, four laps on Avenida Grecia, with cool winter air keeping heat stress low</a:t>
            </a:r>
          </a:p>
        </p:txBody>
      </p:sp>
      <p:sp>
        <p:nvSpPr>
          <p:cNvPr id="15" name="TextBox 14"/>
          <p:cNvSpPr txBox="1"/>
          <p:nvPr/>
        </p:nvSpPr>
        <p:spPr>
          <a:xfrm>
            <a:off x="365760" y="5228539"/>
            <a:ext cx="5852160" cy="590702"/>
          </a:xfrm>
          <a:prstGeom prst="rect">
            <a:avLst/>
          </a:prstGeom>
          <a:noFill/>
        </p:spPr>
        <p:txBody>
          <a:bodyPr wrap="square">
            <a:spAutoFit/>
          </a:bodyPr>
          <a:lstStyle/>
          <a:p>
            <a:pPr algn="l"/>
            <a:r>
              <a:rPr sz="1250" b="0" i="0">
                <a:solidFill>
                  <a:srgbClr val="262626"/>
                </a:solidFill>
                <a:latin typeface="Arial"/>
              </a:rPr>
              <a:t>•  Compact, spectator-friendly venue with transition, finish, and athlete services along the beachfront esplanade</a:t>
            </a:r>
          </a:p>
        </p:txBody>
      </p:sp>
      <p:sp>
        <p:nvSpPr>
          <p:cNvPr id="16" name="TextBox 15"/>
          <p:cNvSpPr txBox="1"/>
          <p:nvPr/>
        </p:nvSpPr>
        <p:spPr>
          <a:xfrm>
            <a:off x="365760" y="5837529"/>
            <a:ext cx="5852160" cy="590702"/>
          </a:xfrm>
          <a:prstGeom prst="rect">
            <a:avLst/>
          </a:prstGeom>
          <a:noFill/>
        </p:spPr>
        <p:txBody>
          <a:bodyPr wrap="square">
            <a:spAutoFit/>
          </a:bodyPr>
          <a:lstStyle/>
          <a:p>
            <a:pPr algn="l"/>
            <a:r>
              <a:rPr sz="1250" b="0" i="0">
                <a:solidFill>
                  <a:srgbClr val="262626"/>
                </a:solidFill>
                <a:latin typeface="Arial"/>
              </a:rPr>
              <a:t>•  Continental title race; Elite and U23 contest the standard distance on Saturday 4 July</a:t>
            </a:r>
          </a:p>
        </p:txBody>
      </p:sp>
      <p:sp>
        <p:nvSpPr>
          <p:cNvPr id="17" name="Rectangle 16"/>
          <p:cNvSpPr/>
          <p:nvPr/>
        </p:nvSpPr>
        <p:spPr>
          <a:xfrm>
            <a:off x="6583680" y="1097280"/>
            <a:ext cx="530352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9400" y="1115568"/>
            <a:ext cx="4937760" cy="274320"/>
          </a:xfrm>
          <a:prstGeom prst="rect">
            <a:avLst/>
          </a:prstGeom>
          <a:noFill/>
        </p:spPr>
        <p:txBody>
          <a:bodyPr wrap="square">
            <a:spAutoFit/>
          </a:bodyPr>
          <a:lstStyle/>
          <a:p>
            <a:pPr algn="l"/>
            <a:r>
              <a:rPr sz="1200" b="1" i="0">
                <a:solidFill>
                  <a:srgbClr val="FFFFFF"/>
                </a:solidFill>
                <a:latin typeface="Arial"/>
              </a:rPr>
              <a:t>COURSE AT A GLANCE</a:t>
            </a:r>
          </a:p>
        </p:txBody>
      </p:sp>
      <p:sp>
        <p:nvSpPr>
          <p:cNvPr id="19" name="TextBox 18"/>
          <p:cNvSpPr txBox="1"/>
          <p:nvPr/>
        </p:nvSpPr>
        <p:spPr>
          <a:xfrm>
            <a:off x="6675120" y="1508760"/>
            <a:ext cx="1828800" cy="320040"/>
          </a:xfrm>
          <a:prstGeom prst="rect">
            <a:avLst/>
          </a:prstGeom>
          <a:noFill/>
        </p:spPr>
        <p:txBody>
          <a:bodyPr wrap="square">
            <a:spAutoFit/>
          </a:bodyPr>
          <a:lstStyle/>
          <a:p>
            <a:pPr algn="l"/>
            <a:r>
              <a:rPr sz="1200" b="1" i="0">
                <a:solidFill>
                  <a:srgbClr val="002060"/>
                </a:solidFill>
                <a:latin typeface="Arial"/>
              </a:rPr>
              <a:t>Swim:</a:t>
            </a:r>
          </a:p>
        </p:txBody>
      </p:sp>
      <p:sp>
        <p:nvSpPr>
          <p:cNvPr id="20" name="TextBox 19"/>
          <p:cNvSpPr txBox="1"/>
          <p:nvPr/>
        </p:nvSpPr>
        <p:spPr>
          <a:xfrm>
            <a:off x="8229600" y="1508760"/>
            <a:ext cx="3657600" cy="320040"/>
          </a:xfrm>
          <a:prstGeom prst="rect">
            <a:avLst/>
          </a:prstGeom>
          <a:noFill/>
        </p:spPr>
        <p:txBody>
          <a:bodyPr wrap="square">
            <a:spAutoFit/>
          </a:bodyPr>
          <a:lstStyle/>
          <a:p>
            <a:pPr algn="l"/>
            <a:r>
              <a:rPr sz="1200" b="0" i="0">
                <a:solidFill>
                  <a:srgbClr val="262626"/>
                </a:solidFill>
                <a:latin typeface="Arial"/>
              </a:rPr>
              <a:t>1.5 km, 2 laps × 750 m</a:t>
            </a:r>
          </a:p>
        </p:txBody>
      </p:sp>
      <p:sp>
        <p:nvSpPr>
          <p:cNvPr id="21" name="TextBox 20"/>
          <p:cNvSpPr txBox="1"/>
          <p:nvPr/>
        </p:nvSpPr>
        <p:spPr>
          <a:xfrm>
            <a:off x="6675120" y="1847088"/>
            <a:ext cx="1828800" cy="320040"/>
          </a:xfrm>
          <a:prstGeom prst="rect">
            <a:avLst/>
          </a:prstGeom>
          <a:noFill/>
        </p:spPr>
        <p:txBody>
          <a:bodyPr wrap="square">
            <a:spAutoFit/>
          </a:bodyPr>
          <a:lstStyle/>
          <a:p>
            <a:pPr algn="l"/>
            <a:r>
              <a:rPr sz="1200" b="1" i="0">
                <a:solidFill>
                  <a:srgbClr val="002060"/>
                </a:solidFill>
                <a:latin typeface="Arial"/>
              </a:rPr>
              <a:t>Bike:</a:t>
            </a:r>
          </a:p>
        </p:txBody>
      </p:sp>
      <p:sp>
        <p:nvSpPr>
          <p:cNvPr id="22" name="TextBox 21"/>
          <p:cNvSpPr txBox="1"/>
          <p:nvPr/>
        </p:nvSpPr>
        <p:spPr>
          <a:xfrm>
            <a:off x="8229600" y="1847088"/>
            <a:ext cx="3657600" cy="320040"/>
          </a:xfrm>
          <a:prstGeom prst="rect">
            <a:avLst/>
          </a:prstGeom>
          <a:noFill/>
        </p:spPr>
        <p:txBody>
          <a:bodyPr wrap="square">
            <a:spAutoFit/>
          </a:bodyPr>
          <a:lstStyle/>
          <a:p>
            <a:pPr algn="l"/>
            <a:r>
              <a:rPr sz="1200" b="0" i="0">
                <a:solidFill>
                  <a:srgbClr val="262626"/>
                </a:solidFill>
                <a:latin typeface="Arial"/>
              </a:rPr>
              <a:t>43.3 km, 8 laps × 5.41 km</a:t>
            </a:r>
          </a:p>
        </p:txBody>
      </p:sp>
      <p:sp>
        <p:nvSpPr>
          <p:cNvPr id="23" name="TextBox 22"/>
          <p:cNvSpPr txBox="1"/>
          <p:nvPr/>
        </p:nvSpPr>
        <p:spPr>
          <a:xfrm>
            <a:off x="6675120" y="2185415"/>
            <a:ext cx="1828800" cy="320040"/>
          </a:xfrm>
          <a:prstGeom prst="rect">
            <a:avLst/>
          </a:prstGeom>
          <a:noFill/>
        </p:spPr>
        <p:txBody>
          <a:bodyPr wrap="square">
            <a:spAutoFit/>
          </a:bodyPr>
          <a:lstStyle/>
          <a:p>
            <a:pPr algn="l"/>
            <a:r>
              <a:rPr sz="1200" b="1" i="0">
                <a:solidFill>
                  <a:srgbClr val="002060"/>
                </a:solidFill>
                <a:latin typeface="Arial"/>
              </a:rPr>
              <a:t>Run:</a:t>
            </a:r>
          </a:p>
        </p:txBody>
      </p:sp>
      <p:sp>
        <p:nvSpPr>
          <p:cNvPr id="24" name="TextBox 23"/>
          <p:cNvSpPr txBox="1"/>
          <p:nvPr/>
        </p:nvSpPr>
        <p:spPr>
          <a:xfrm>
            <a:off x="8229600" y="2185415"/>
            <a:ext cx="3657600" cy="320040"/>
          </a:xfrm>
          <a:prstGeom prst="rect">
            <a:avLst/>
          </a:prstGeom>
          <a:noFill/>
        </p:spPr>
        <p:txBody>
          <a:bodyPr wrap="square">
            <a:spAutoFit/>
          </a:bodyPr>
          <a:lstStyle/>
          <a:p>
            <a:pPr algn="l"/>
            <a:r>
              <a:rPr sz="1200" b="0" i="0">
                <a:solidFill>
                  <a:srgbClr val="262626"/>
                </a:solidFill>
                <a:latin typeface="Arial"/>
              </a:rPr>
              <a:t>10 km, 4 laps × 2.5 km</a:t>
            </a:r>
          </a:p>
        </p:txBody>
      </p:sp>
      <p:sp>
        <p:nvSpPr>
          <p:cNvPr id="25" name="TextBox 24"/>
          <p:cNvSpPr txBox="1"/>
          <p:nvPr/>
        </p:nvSpPr>
        <p:spPr>
          <a:xfrm>
            <a:off x="6675120" y="2523744"/>
            <a:ext cx="1828800" cy="320040"/>
          </a:xfrm>
          <a:prstGeom prst="rect">
            <a:avLst/>
          </a:prstGeom>
          <a:noFill/>
        </p:spPr>
        <p:txBody>
          <a:bodyPr wrap="square">
            <a:spAutoFit/>
          </a:bodyPr>
          <a:lstStyle/>
          <a:p>
            <a:pPr algn="l"/>
            <a:r>
              <a:rPr sz="1200" b="1" i="0">
                <a:solidFill>
                  <a:srgbClr val="002060"/>
                </a:solidFill>
                <a:latin typeface="Arial"/>
              </a:rPr>
              <a:t>Format:</a:t>
            </a:r>
          </a:p>
        </p:txBody>
      </p:sp>
      <p:sp>
        <p:nvSpPr>
          <p:cNvPr id="26" name="TextBox 25"/>
          <p:cNvSpPr txBox="1"/>
          <p:nvPr/>
        </p:nvSpPr>
        <p:spPr>
          <a:xfrm>
            <a:off x="8229600" y="2523744"/>
            <a:ext cx="3657600" cy="320040"/>
          </a:xfrm>
          <a:prstGeom prst="rect">
            <a:avLst/>
          </a:prstGeom>
          <a:noFill/>
        </p:spPr>
        <p:txBody>
          <a:bodyPr wrap="square">
            <a:spAutoFit/>
          </a:bodyPr>
          <a:lstStyle/>
          <a:p>
            <a:pPr algn="l"/>
            <a:r>
              <a:rPr sz="1200" b="0" i="0">
                <a:solidFill>
                  <a:srgbClr val="262626"/>
                </a:solidFill>
                <a:latin typeface="Arial"/>
              </a:rPr>
              <a:t>Standard-Distance Triathlon</a:t>
            </a:r>
          </a:p>
        </p:txBody>
      </p:sp>
      <p:sp>
        <p:nvSpPr>
          <p:cNvPr id="27" name="TextBox 26"/>
          <p:cNvSpPr txBox="1"/>
          <p:nvPr/>
        </p:nvSpPr>
        <p:spPr>
          <a:xfrm>
            <a:off x="6675120" y="2862072"/>
            <a:ext cx="1828800" cy="320040"/>
          </a:xfrm>
          <a:prstGeom prst="rect">
            <a:avLst/>
          </a:prstGeom>
          <a:noFill/>
        </p:spPr>
        <p:txBody>
          <a:bodyPr wrap="square">
            <a:spAutoFit/>
          </a:bodyPr>
          <a:lstStyle/>
          <a:p>
            <a:pPr algn="l"/>
            <a:r>
              <a:rPr sz="1200" b="1" i="0">
                <a:solidFill>
                  <a:srgbClr val="002060"/>
                </a:solidFill>
                <a:latin typeface="Arial"/>
              </a:rPr>
              <a:t>Bike Laps:</a:t>
            </a:r>
          </a:p>
        </p:txBody>
      </p:sp>
      <p:sp>
        <p:nvSpPr>
          <p:cNvPr id="28" name="TextBox 27"/>
          <p:cNvSpPr txBox="1"/>
          <p:nvPr/>
        </p:nvSpPr>
        <p:spPr>
          <a:xfrm>
            <a:off x="8229600" y="2862072"/>
            <a:ext cx="3657600" cy="320040"/>
          </a:xfrm>
          <a:prstGeom prst="rect">
            <a:avLst/>
          </a:prstGeom>
          <a:noFill/>
        </p:spPr>
        <p:txBody>
          <a:bodyPr wrap="square">
            <a:spAutoFit/>
          </a:bodyPr>
          <a:lstStyle/>
          <a:p>
            <a:pPr algn="l"/>
            <a:r>
              <a:rPr sz="1200" b="0" i="0">
                <a:solidFill>
                  <a:srgbClr val="262626"/>
                </a:solidFill>
                <a:latin typeface="Arial"/>
              </a:rPr>
              <a:t>8</a:t>
            </a:r>
          </a:p>
        </p:txBody>
      </p:sp>
      <p:sp>
        <p:nvSpPr>
          <p:cNvPr id="29" name="TextBox 28"/>
          <p:cNvSpPr txBox="1"/>
          <p:nvPr/>
        </p:nvSpPr>
        <p:spPr>
          <a:xfrm>
            <a:off x="6675120" y="3200400"/>
            <a:ext cx="1828800" cy="320040"/>
          </a:xfrm>
          <a:prstGeom prst="rect">
            <a:avLst/>
          </a:prstGeom>
          <a:noFill/>
        </p:spPr>
        <p:txBody>
          <a:bodyPr wrap="square">
            <a:spAutoFit/>
          </a:bodyPr>
          <a:lstStyle/>
          <a:p>
            <a:pPr algn="l"/>
            <a:r>
              <a:rPr sz="1200" b="1" i="0">
                <a:solidFill>
                  <a:srgbClr val="002060"/>
                </a:solidFill>
                <a:latin typeface="Arial"/>
              </a:rPr>
              <a:t>Run Laps:</a:t>
            </a:r>
          </a:p>
        </p:txBody>
      </p:sp>
      <p:sp>
        <p:nvSpPr>
          <p:cNvPr id="30" name="TextBox 29"/>
          <p:cNvSpPr txBox="1"/>
          <p:nvPr/>
        </p:nvSpPr>
        <p:spPr>
          <a:xfrm>
            <a:off x="8229600" y="3200400"/>
            <a:ext cx="3657600" cy="320040"/>
          </a:xfrm>
          <a:prstGeom prst="rect">
            <a:avLst/>
          </a:prstGeom>
          <a:noFill/>
        </p:spPr>
        <p:txBody>
          <a:bodyPr wrap="square">
            <a:spAutoFit/>
          </a:bodyPr>
          <a:lstStyle/>
          <a:p>
            <a:pPr algn="l"/>
            <a:r>
              <a:rPr sz="1200" b="0" i="0">
                <a:solidFill>
                  <a:srgbClr val="262626"/>
                </a:solidFill>
                <a:latin typeface="Arial"/>
              </a:rPr>
              <a:t>4</a:t>
            </a:r>
          </a:p>
        </p:txBody>
      </p:sp>
      <p:sp>
        <p:nvSpPr>
          <p:cNvPr id="31" name="Rectangle 30"/>
          <p:cNvSpPr/>
          <p:nvPr/>
        </p:nvSpPr>
        <p:spPr>
          <a:xfrm>
            <a:off x="6583680" y="3657600"/>
            <a:ext cx="530352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29400" y="3675887"/>
            <a:ext cx="4937760" cy="274320"/>
          </a:xfrm>
          <a:prstGeom prst="rect">
            <a:avLst/>
          </a:prstGeom>
          <a:noFill/>
        </p:spPr>
        <p:txBody>
          <a:bodyPr wrap="square">
            <a:spAutoFit/>
          </a:bodyPr>
          <a:lstStyle/>
          <a:p>
            <a:pPr algn="l"/>
            <a:r>
              <a:rPr sz="1200" b="1" i="0">
                <a:solidFill>
                  <a:srgbClr val="FFFFFF"/>
                </a:solidFill>
                <a:latin typeface="Arial"/>
              </a:rPr>
              <a:t>QUICK LINKS</a:t>
            </a:r>
          </a:p>
        </p:txBody>
      </p:sp>
      <p:sp>
        <p:nvSpPr>
          <p:cNvPr id="33" name="TextBox 32"/>
          <p:cNvSpPr txBox="1"/>
          <p:nvPr/>
        </p:nvSpPr>
        <p:spPr>
          <a:xfrm>
            <a:off x="6675120" y="4069080"/>
            <a:ext cx="5120640" cy="274320"/>
          </a:xfrm>
          <a:prstGeom prst="rect">
            <a:avLst/>
          </a:prstGeom>
          <a:noFill/>
        </p:spPr>
        <p:txBody>
          <a:bodyPr wrap="square">
            <a:spAutoFit/>
          </a:bodyPr>
          <a:lstStyle/>
          <a:p>
            <a:pPr algn="l"/>
            <a:r>
              <a:rPr sz="1100" b="1" i="0">
                <a:solidFill>
                  <a:srgbClr val="002060"/>
                </a:solidFill>
                <a:latin typeface="Arial"/>
              </a:rPr>
              <a:t>Current Race Info:</a:t>
            </a:r>
          </a:p>
        </p:txBody>
      </p:sp>
      <p:sp>
        <p:nvSpPr>
          <p:cNvPr id="34" name="TextBox 33"/>
          <p:cNvSpPr txBox="1"/>
          <p:nvPr/>
        </p:nvSpPr>
        <p:spPr>
          <a:xfrm>
            <a:off x="6675120" y="4370832"/>
            <a:ext cx="5120640" cy="384048"/>
          </a:xfrm>
          <a:prstGeom prst="rect">
            <a:avLst/>
          </a:prstGeom>
          <a:noFill/>
        </p:spPr>
        <p:txBody>
          <a:bodyPr wrap="square">
            <a:spAutoFit/>
          </a:bodyPr>
          <a:lstStyle/>
          <a:p>
            <a:pPr algn="l"/>
            <a:r>
              <a:rPr sz="1000" b="0" i="1">
                <a:solidFill>
                  <a:srgbClr val="262626"/>
                </a:solidFill>
                <a:latin typeface="Arial"/>
              </a:rPr>
              <a:t>Race Info | 2026 Americas Triathlon Championships Antofagasta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Course Profile &amp; Map</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Antofagasta</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15568"/>
            <a:ext cx="5669280" cy="333756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148840"/>
            <a:ext cx="5303520" cy="914400"/>
          </a:xfrm>
          <a:prstGeom prst="rect">
            <a:avLst/>
          </a:prstGeom>
          <a:noFill/>
        </p:spPr>
        <p:txBody>
          <a:bodyPr wrap="square">
            <a:spAutoFit/>
          </a:bodyPr>
          <a:lstStyle/>
          <a:p>
            <a:pPr algn="ctr"/>
            <a:r>
              <a:rPr sz="1000" b="0" i="1">
                <a:solidFill>
                  <a:srgbClr val="BFBFBF"/>
                </a:solidFill>
                <a:latin typeface="Arial"/>
              </a:rPr>
              <a:t>[PLACEHOLDER: Insert upcoming course map or race photo here]
Right-click → Replace Image, or paste screenshot
of the World Triathlon course map PDF.</a:t>
            </a:r>
          </a:p>
        </p:txBody>
      </p:sp>
      <p:sp>
        <p:nvSpPr>
          <p:cNvPr id="10" name="TextBox 9"/>
          <p:cNvSpPr txBox="1"/>
          <p:nvPr/>
        </p:nvSpPr>
        <p:spPr>
          <a:xfrm>
            <a:off x="274320" y="4507992"/>
            <a:ext cx="5669280" cy="274320"/>
          </a:xfrm>
          <a:prstGeom prst="rect">
            <a:avLst/>
          </a:prstGeom>
          <a:noFill/>
        </p:spPr>
        <p:txBody>
          <a:bodyPr wrap="square">
            <a:spAutoFit/>
          </a:bodyPr>
          <a:lstStyle/>
          <a:p>
            <a:pPr algn="ctr"/>
            <a:r>
              <a:rPr sz="1200" b="1" i="0">
                <a:solidFill>
                  <a:srgbClr val="002060"/>
                </a:solidFill>
                <a:latin typeface="Arial"/>
              </a:rPr>
              <a:t>2026 Course</a:t>
            </a:r>
          </a:p>
        </p:txBody>
      </p:sp>
      <p:sp>
        <p:nvSpPr>
          <p:cNvPr id="11" name="TextBox 10"/>
          <p:cNvSpPr txBox="1"/>
          <p:nvPr/>
        </p:nvSpPr>
        <p:spPr>
          <a:xfrm>
            <a:off x="274320" y="4773168"/>
            <a:ext cx="5669280" cy="246888"/>
          </a:xfrm>
          <a:prstGeom prst="rect">
            <a:avLst/>
          </a:prstGeom>
          <a:noFill/>
        </p:spPr>
        <p:txBody>
          <a:bodyPr wrap="square">
            <a:spAutoFit/>
          </a:bodyPr>
          <a:lstStyle/>
          <a:p>
            <a:pPr algn="ctr"/>
            <a:r>
              <a:rPr sz="900" b="0" i="1">
                <a:solidFill>
                  <a:srgbClr val="BFBFBF"/>
                </a:solidFill>
                <a:latin typeface="Arial"/>
              </a:rPr>
              <a:t>Source: [PLACEHOLDER: World Triathlon event page URL]</a:t>
            </a:r>
          </a:p>
        </p:txBody>
      </p:sp>
      <p:sp>
        <p:nvSpPr>
          <p:cNvPr id="12" name="Rectangle 11"/>
          <p:cNvSpPr/>
          <p:nvPr/>
        </p:nvSpPr>
        <p:spPr>
          <a:xfrm>
            <a:off x="6263640" y="1115568"/>
            <a:ext cx="5669280" cy="333756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2148840"/>
            <a:ext cx="5303520" cy="914400"/>
          </a:xfrm>
          <a:prstGeom prst="rect">
            <a:avLst/>
          </a:prstGeom>
          <a:noFill/>
        </p:spPr>
        <p:txBody>
          <a:bodyPr wrap="square">
            <a:spAutoFit/>
          </a:bodyPr>
          <a:lstStyle/>
          <a:p>
            <a:pPr algn="ctr"/>
            <a:r>
              <a:rPr sz="1000" b="0" i="1">
                <a:solidFill>
                  <a:srgbClr val="BFBFBF"/>
                </a:solidFill>
                <a:latin typeface="Arial"/>
              </a:rPr>
              <a:t>[PLACEHOLDER: Insert previous year course map or race photo here]
Right-click → Replace Image, or paste screenshot
of the World Triathlon course map PDF.</a:t>
            </a:r>
          </a:p>
        </p:txBody>
      </p:sp>
      <p:sp>
        <p:nvSpPr>
          <p:cNvPr id="14" name="TextBox 13"/>
          <p:cNvSpPr txBox="1"/>
          <p:nvPr/>
        </p:nvSpPr>
        <p:spPr>
          <a:xfrm>
            <a:off x="6263640" y="4507992"/>
            <a:ext cx="5669280" cy="274320"/>
          </a:xfrm>
          <a:prstGeom prst="rect">
            <a:avLst/>
          </a:prstGeom>
          <a:noFill/>
        </p:spPr>
        <p:txBody>
          <a:bodyPr wrap="square">
            <a:spAutoFit/>
          </a:bodyPr>
          <a:lstStyle/>
          <a:p>
            <a:pPr algn="ctr"/>
            <a:r>
              <a:rPr sz="1200" b="1" i="0">
                <a:solidFill>
                  <a:srgbClr val="002060"/>
                </a:solidFill>
                <a:latin typeface="Arial"/>
              </a:rPr>
              <a:t>2025 Course</a:t>
            </a:r>
          </a:p>
        </p:txBody>
      </p:sp>
      <p:sp>
        <p:nvSpPr>
          <p:cNvPr id="15" name="TextBox 14"/>
          <p:cNvSpPr txBox="1"/>
          <p:nvPr/>
        </p:nvSpPr>
        <p:spPr>
          <a:xfrm>
            <a:off x="6263640" y="4773168"/>
            <a:ext cx="5669280" cy="246888"/>
          </a:xfrm>
          <a:prstGeom prst="rect">
            <a:avLst/>
          </a:prstGeom>
          <a:noFill/>
        </p:spPr>
        <p:txBody>
          <a:bodyPr wrap="square">
            <a:spAutoFit/>
          </a:bodyPr>
          <a:lstStyle/>
          <a:p>
            <a:pPr algn="ctr"/>
            <a:r>
              <a:rPr sz="900" b="0" i="1">
                <a:solidFill>
                  <a:srgbClr val="BFBFBF"/>
                </a:solidFill>
                <a:latin typeface="Arial"/>
              </a:rPr>
              <a:t>Source: [PLACEHOLDER: World Triathlon event page URL]</a:t>
            </a:r>
          </a:p>
        </p:txBody>
      </p:sp>
      <p:graphicFrame>
        <p:nvGraphicFramePr>
          <p:cNvPr id="16" name="Table 15"/>
          <p:cNvGraphicFramePr>
            <a:graphicFrameLocks noGrp="1"/>
          </p:cNvGraphicFramePr>
          <p:nvPr/>
        </p:nvGraphicFramePr>
        <p:xfrm>
          <a:off x="274320" y="4956048"/>
          <a:ext cx="11640312" cy="1645920"/>
        </p:xfrm>
        <a:graphic>
          <a:graphicData uri="http://schemas.openxmlformats.org/drawingml/2006/table">
            <a:tbl>
              <a:tblPr firstRow="1" bandRow="1">
                <a:tableStyleId>{5C22544A-7EE6-4342-B048-85BDC9FD1C3A}</a:tableStyleId>
              </a:tblPr>
              <a:tblGrid>
                <a:gridCol w="1463040"/>
                <a:gridCol w="1554480"/>
                <a:gridCol w="914400"/>
                <a:gridCol w="7708392"/>
              </a:tblGrid>
              <a:tr h="411480">
                <a:tc>
                  <a:txBody>
                    <a:bodyPr wrap="none"/>
                    <a:lstStyle/>
                    <a:p>
                      <a:pPr algn="ctr"/>
                      <a:r>
                        <a:rPr sz="1100" b="1" i="0">
                          <a:solidFill>
                            <a:srgbClr val="FFFFFF"/>
                          </a:solidFill>
                          <a:latin typeface="Arial"/>
                        </a:rPr>
                        <a:t>Discipline</a:t>
                      </a:r>
                    </a:p>
                  </a:txBody>
                  <a:tcPr>
                    <a:solidFill>
                      <a:srgbClr val="002060"/>
                    </a:solidFill>
                  </a:tcPr>
                </a:tc>
                <a:tc>
                  <a:txBody>
                    <a:bodyPr wrap="none"/>
                    <a:lstStyle/>
                    <a:p>
                      <a:pPr algn="ctr"/>
                      <a:r>
                        <a:rPr sz="1100" b="1" i="0">
                          <a:solidFill>
                            <a:srgbClr val="FFFFFF"/>
                          </a:solidFill>
                          <a:latin typeface="Arial"/>
                        </a:rPr>
                        <a:t>Distance</a:t>
                      </a:r>
                    </a:p>
                  </a:txBody>
                  <a:tcPr>
                    <a:solidFill>
                      <a:srgbClr val="002060"/>
                    </a:solidFill>
                  </a:tcPr>
                </a:tc>
                <a:tc>
                  <a:txBody>
                    <a:bodyPr wrap="none"/>
                    <a:lstStyle/>
                    <a:p>
                      <a:pPr algn="ctr"/>
                      <a:r>
                        <a:rPr sz="1100" b="1" i="0">
                          <a:solidFill>
                            <a:srgbClr val="FFFFFF"/>
                          </a:solidFill>
                          <a:latin typeface="Arial"/>
                        </a:rPr>
                        <a:t>Laps</a:t>
                      </a:r>
                    </a:p>
                  </a:txBody>
                  <a:tcPr>
                    <a:solidFill>
                      <a:srgbClr val="002060"/>
                    </a:solidFill>
                  </a:tcPr>
                </a:tc>
                <a:tc>
                  <a:txBody>
                    <a:bodyPr wrap="none"/>
                    <a:lstStyle/>
                    <a:p>
                      <a:pPr algn="l"/>
                      <a:r>
                        <a:rPr sz="1100" b="1" i="0">
                          <a:solidFill>
                            <a:srgbClr val="FFFFFF"/>
                          </a:solidFill>
                          <a:latin typeface="Arial"/>
                        </a:rPr>
                        <a:t>Terrain / Notes</a:t>
                      </a:r>
                    </a:p>
                  </a:txBody>
                  <a:tcPr>
                    <a:solidFill>
                      <a:srgbClr val="002060"/>
                    </a:solidFill>
                  </a:tcPr>
                </a:tc>
              </a:tr>
              <a:tr h="411480">
                <a:tc>
                  <a:txBody>
                    <a:bodyPr wrap="none"/>
                    <a:lstStyle/>
                    <a:p>
                      <a:pPr algn="ctr"/>
                      <a:r>
                        <a:rPr sz="1000" b="0" i="0">
                          <a:solidFill>
                            <a:srgbClr val="262626"/>
                          </a:solidFill>
                          <a:latin typeface="Arial"/>
                        </a:rPr>
                        <a:t>Swim</a:t>
                      </a:r>
                    </a:p>
                  </a:txBody>
                  <a:tcPr>
                    <a:solidFill>
                      <a:srgbClr val="FFFFFF"/>
                    </a:solidFill>
                  </a:tcPr>
                </a:tc>
                <a:tc>
                  <a:txBody>
                    <a:bodyPr wrap="none"/>
                    <a:lstStyle/>
                    <a:p>
                      <a:pPr algn="ctr"/>
                      <a:r>
                        <a:rPr sz="1000" b="0" i="0">
                          <a:solidFill>
                            <a:srgbClr val="262626"/>
                          </a:solidFill>
                          <a:latin typeface="Arial"/>
                        </a:rPr>
                        <a:t>—</a:t>
                      </a:r>
                    </a:p>
                  </a:txBody>
                  <a:tcPr>
                    <a:solidFill>
                      <a:srgbClr val="FFFFFF"/>
                    </a:solidFill>
                  </a:tcPr>
                </a:tc>
                <a:tc>
                  <a:txBody>
                    <a:bodyPr wrap="none"/>
                    <a:lstStyle/>
                    <a:p>
                      <a:pPr algn="ctr"/>
                      <a:r>
                        <a:rPr sz="1000" b="0" i="0">
                          <a:solidFill>
                            <a:srgbClr val="262626"/>
                          </a:solidFill>
                          <a:latin typeface="Arial"/>
                        </a:rPr>
                        <a:t>—</a:t>
                      </a:r>
                    </a:p>
                  </a:txBody>
                  <a:tcPr>
                    <a:solidFill>
                      <a:srgbClr val="FFFFFF"/>
                    </a:solidFill>
                  </a:tcPr>
                </a:tc>
                <a:tc>
                  <a:txBody>
                    <a:bodyPr wrap="none"/>
                    <a:lstStyle/>
                    <a:p>
                      <a:pPr algn="l"/>
                      <a:r>
                        <a:rPr sz="1000" b="0" i="0">
                          <a:solidFill>
                            <a:srgbClr val="262626"/>
                          </a:solidFill>
                          <a:latin typeface="Arial"/>
                        </a:rPr>
                        <a:t>[PLACEHOLDER: e.g. Open-water, Bay of Antofagasta]</a:t>
                      </a:r>
                    </a:p>
                  </a:txBody>
                  <a:tcPr>
                    <a:solidFill>
                      <a:srgbClr val="FFFFFF"/>
                    </a:solidFill>
                  </a:tcPr>
                </a:tc>
              </a:tr>
              <a:tr h="411480">
                <a:tc>
                  <a:txBody>
                    <a:bodyPr wrap="none"/>
                    <a:lstStyle/>
                    <a:p>
                      <a:pPr algn="ctr"/>
                      <a:r>
                        <a:rPr sz="1000" b="0" i="0">
                          <a:solidFill>
                            <a:srgbClr val="262626"/>
                          </a:solidFill>
                          <a:latin typeface="Arial"/>
                        </a:rPr>
                        <a:t>Bike</a:t>
                      </a:r>
                    </a:p>
                  </a:txBody>
                  <a:tcPr>
                    <a:solidFill>
                      <a:srgbClr val="F2F2F2"/>
                    </a:solidFill>
                  </a:tcPr>
                </a:tc>
                <a:tc>
                  <a:txBody>
                    <a:bodyPr wrap="none"/>
                    <a:lstStyle/>
                    <a:p>
                      <a:pPr algn="ctr"/>
                      <a:r>
                        <a:rPr sz="1000" b="0" i="0">
                          <a:solidFill>
                            <a:srgbClr val="262626"/>
                          </a:solidFill>
                          <a:latin typeface="Arial"/>
                        </a:rPr>
                        <a:t>—</a:t>
                      </a:r>
                    </a:p>
                  </a:txBody>
                  <a:tcPr>
                    <a:solidFill>
                      <a:srgbClr val="F2F2F2"/>
                    </a:solidFill>
                  </a:tcPr>
                </a:tc>
                <a:tc>
                  <a:txBody>
                    <a:bodyPr wrap="none"/>
                    <a:lstStyle/>
                    <a:p>
                      <a:pPr algn="ctr"/>
                      <a:r>
                        <a:rPr sz="1000" b="0" i="0">
                          <a:solidFill>
                            <a:srgbClr val="262626"/>
                          </a:solidFill>
                          <a:latin typeface="Arial"/>
                        </a:rPr>
                        <a:t>—</a:t>
                      </a:r>
                    </a:p>
                  </a:txBody>
                  <a:tcPr>
                    <a:solidFill>
                      <a:srgbClr val="F2F2F2"/>
                    </a:solidFill>
                  </a:tcPr>
                </a:tc>
                <a:tc>
                  <a:txBody>
                    <a:bodyPr wrap="none"/>
                    <a:lstStyle/>
                    <a:p>
                      <a:pPr algn="l"/>
                      <a:r>
                        <a:rPr sz="1000" b="0" i="0">
                          <a:solidFill>
                            <a:srgbClr val="262626"/>
                          </a:solidFill>
                          <a:latin typeface="Arial"/>
                        </a:rPr>
                        <a:t>[PLACEHOLDER: e.g. Flat coastal road circuit, closed course]</a:t>
                      </a:r>
                    </a:p>
                  </a:txBody>
                  <a:tcPr>
                    <a:solidFill>
                      <a:srgbClr val="F2F2F2"/>
                    </a:solidFill>
                  </a:tcPr>
                </a:tc>
              </a:tr>
              <a:tr h="411480">
                <a:tc>
                  <a:txBody>
                    <a:bodyPr wrap="none"/>
                    <a:lstStyle/>
                    <a:p>
                      <a:pPr algn="ctr"/>
                      <a:r>
                        <a:rPr sz="1000" b="0" i="0">
                          <a:solidFill>
                            <a:srgbClr val="262626"/>
                          </a:solidFill>
                          <a:latin typeface="Arial"/>
                        </a:rPr>
                        <a:t>Run</a:t>
                      </a:r>
                    </a:p>
                  </a:txBody>
                  <a:tcPr>
                    <a:solidFill>
                      <a:srgbClr val="FFFFFF"/>
                    </a:solidFill>
                  </a:tcPr>
                </a:tc>
                <a:tc>
                  <a:txBody>
                    <a:bodyPr wrap="none"/>
                    <a:lstStyle/>
                    <a:p>
                      <a:pPr algn="ctr"/>
                      <a:r>
                        <a:rPr sz="1000" b="0" i="0">
                          <a:solidFill>
                            <a:srgbClr val="262626"/>
                          </a:solidFill>
                          <a:latin typeface="Arial"/>
                        </a:rPr>
                        <a:t>—</a:t>
                      </a:r>
                    </a:p>
                  </a:txBody>
                  <a:tcPr>
                    <a:solidFill>
                      <a:srgbClr val="FFFFFF"/>
                    </a:solidFill>
                  </a:tcPr>
                </a:tc>
                <a:tc>
                  <a:txBody>
                    <a:bodyPr wrap="none"/>
                    <a:lstStyle/>
                    <a:p>
                      <a:pPr algn="ctr"/>
                      <a:r>
                        <a:rPr sz="1000" b="0" i="0">
                          <a:solidFill>
                            <a:srgbClr val="262626"/>
                          </a:solidFill>
                          <a:latin typeface="Arial"/>
                        </a:rPr>
                        <a:t>—</a:t>
                      </a:r>
                    </a:p>
                  </a:txBody>
                  <a:tcPr>
                    <a:solidFill>
                      <a:srgbClr val="FFFFFF"/>
                    </a:solidFill>
                  </a:tcPr>
                </a:tc>
                <a:tc>
                  <a:txBody>
                    <a:bodyPr wrap="none"/>
                    <a:lstStyle/>
                    <a:p>
                      <a:pPr algn="l"/>
                      <a:r>
                        <a:rPr sz="1000" b="0" i="0">
                          <a:solidFill>
                            <a:srgbClr val="262626"/>
                          </a:solidFill>
                          <a:latin typeface="Arial"/>
                        </a:rPr>
                        <a:t>[PLACEHOLDER: e.g. Flat multi-lap, cobblestone city-centre finish]</a:t>
                      </a:r>
                    </a:p>
                  </a:txBody>
                  <a:tcP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Swim Course Profile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Antofagasta</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43000"/>
            <a:ext cx="5120640" cy="38404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514600"/>
            <a:ext cx="4754880" cy="1280160"/>
          </a:xfrm>
          <a:prstGeom prst="rect">
            <a:avLst/>
          </a:prstGeom>
          <a:noFill/>
        </p:spPr>
        <p:txBody>
          <a:bodyPr wrap="square">
            <a:spAutoFit/>
          </a:bodyPr>
          <a:lstStyle/>
          <a:p>
            <a:pPr algn="ctr"/>
            <a:r>
              <a:rPr sz="1000" b="0" i="1">
                <a:solidFill>
                  <a:srgbClr val="BFBFBF"/>
                </a:solidFill>
                <a:latin typeface="Arial"/>
              </a:rPr>
              <a:t>[Drop swim course map here]
Save the organiser map as:
ppt files/support/antofagasta_swim_course.png
It will be embedded automatically on the next run.</a:t>
            </a:r>
          </a:p>
        </p:txBody>
      </p:sp>
      <p:sp>
        <p:nvSpPr>
          <p:cNvPr id="10" name="TextBox 9"/>
          <p:cNvSpPr txBox="1"/>
          <p:nvPr/>
        </p:nvSpPr>
        <p:spPr>
          <a:xfrm>
            <a:off x="274320" y="5029200"/>
            <a:ext cx="5120640" cy="228600"/>
          </a:xfrm>
          <a:prstGeom prst="rect">
            <a:avLst/>
          </a:prstGeom>
          <a:noFill/>
        </p:spPr>
        <p:txBody>
          <a:bodyPr wrap="square">
            <a:spAutoFit/>
          </a:bodyPr>
          <a:lstStyle/>
          <a:p>
            <a:pPr algn="ctr"/>
            <a:r>
              <a:rPr sz="900" b="0" i="1">
                <a:solidFill>
                  <a:srgbClr val="BFBFBF"/>
                </a:solidFill>
                <a:latin typeface="Arial"/>
              </a:rPr>
              <a:t>Source: 2026 Americas Triathlon Championships Antofagasta — NF Information Package</a:t>
            </a:r>
          </a:p>
        </p:txBody>
      </p:sp>
      <p:sp>
        <p:nvSpPr>
          <p:cNvPr id="11" name="Rectangle 10"/>
          <p:cNvSpPr/>
          <p:nvPr/>
        </p:nvSpPr>
        <p:spPr>
          <a:xfrm>
            <a:off x="5577840" y="1143000"/>
            <a:ext cx="6309360" cy="8229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77840" y="1252728"/>
            <a:ext cx="6309360" cy="365760"/>
          </a:xfrm>
          <a:prstGeom prst="rect">
            <a:avLst/>
          </a:prstGeom>
          <a:noFill/>
        </p:spPr>
        <p:txBody>
          <a:bodyPr wrap="square">
            <a:spAutoFit/>
          </a:bodyPr>
          <a:lstStyle/>
          <a:p>
            <a:pPr algn="ctr"/>
            <a:r>
              <a:rPr sz="2200" b="1" i="0">
                <a:solidFill>
                  <a:srgbClr val="FFFFFF"/>
                </a:solidFill>
                <a:latin typeface="Arial"/>
              </a:rPr>
              <a:t>1.5 km   •   2 × 750 m</a:t>
            </a:r>
          </a:p>
        </p:txBody>
      </p:sp>
      <p:sp>
        <p:nvSpPr>
          <p:cNvPr id="13" name="TextBox 12"/>
          <p:cNvSpPr txBox="1"/>
          <p:nvPr/>
        </p:nvSpPr>
        <p:spPr>
          <a:xfrm>
            <a:off x="5577840" y="1636776"/>
            <a:ext cx="6309360" cy="292608"/>
          </a:xfrm>
          <a:prstGeom prst="rect">
            <a:avLst/>
          </a:prstGeom>
          <a:noFill/>
        </p:spPr>
        <p:txBody>
          <a:bodyPr wrap="square">
            <a:spAutoFit/>
          </a:bodyPr>
          <a:lstStyle/>
          <a:p>
            <a:pPr algn="ctr"/>
            <a:r>
              <a:rPr sz="1100" b="0" i="1">
                <a:solidFill>
                  <a:srgbClr val="AABBDD"/>
                </a:solidFill>
                <a:latin typeface="Arial"/>
              </a:rPr>
              <a:t>Open ocean, Pacific coast cooled by the Humboldt Current</a:t>
            </a:r>
          </a:p>
        </p:txBody>
      </p:sp>
      <p:sp>
        <p:nvSpPr>
          <p:cNvPr id="14" name="Rectangle 13"/>
          <p:cNvSpPr/>
          <p:nvPr/>
        </p:nvSpPr>
        <p:spPr>
          <a:xfrm>
            <a:off x="562356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0" y="2139696"/>
            <a:ext cx="1920240" cy="201168"/>
          </a:xfrm>
          <a:prstGeom prst="rect">
            <a:avLst/>
          </a:prstGeom>
          <a:noFill/>
        </p:spPr>
        <p:txBody>
          <a:bodyPr wrap="square">
            <a:spAutoFit/>
          </a:bodyPr>
          <a:lstStyle/>
          <a:p>
            <a:pPr algn="ctr"/>
            <a:r>
              <a:rPr sz="900" b="1" i="0">
                <a:solidFill>
                  <a:srgbClr val="002060"/>
                </a:solidFill>
                <a:latin typeface="Arial"/>
              </a:rPr>
              <a:t>Distance</a:t>
            </a:r>
          </a:p>
        </p:txBody>
      </p:sp>
      <p:sp>
        <p:nvSpPr>
          <p:cNvPr id="16" name="TextBox 15"/>
          <p:cNvSpPr txBox="1"/>
          <p:nvPr/>
        </p:nvSpPr>
        <p:spPr>
          <a:xfrm>
            <a:off x="5669280" y="2340864"/>
            <a:ext cx="1920240" cy="347472"/>
          </a:xfrm>
          <a:prstGeom prst="rect">
            <a:avLst/>
          </a:prstGeom>
          <a:noFill/>
        </p:spPr>
        <p:txBody>
          <a:bodyPr wrap="square">
            <a:spAutoFit/>
          </a:bodyPr>
          <a:lstStyle/>
          <a:p>
            <a:pPr algn="ctr"/>
            <a:r>
              <a:rPr sz="1400" b="1" i="0">
                <a:solidFill>
                  <a:srgbClr val="262626"/>
                </a:solidFill>
                <a:latin typeface="Arial"/>
              </a:rPr>
              <a:t>1.5 km</a:t>
            </a:r>
          </a:p>
        </p:txBody>
      </p:sp>
      <p:sp>
        <p:nvSpPr>
          <p:cNvPr id="17" name="Rectangle 16"/>
          <p:cNvSpPr/>
          <p:nvPr/>
        </p:nvSpPr>
        <p:spPr>
          <a:xfrm>
            <a:off x="772668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0" y="2139696"/>
            <a:ext cx="1920240" cy="201168"/>
          </a:xfrm>
          <a:prstGeom prst="rect">
            <a:avLst/>
          </a:prstGeom>
          <a:noFill/>
        </p:spPr>
        <p:txBody>
          <a:bodyPr wrap="square">
            <a:spAutoFit/>
          </a:bodyPr>
          <a:lstStyle/>
          <a:p>
            <a:pPr algn="ctr"/>
            <a:r>
              <a:rPr sz="900" b="1" i="0">
                <a:solidFill>
                  <a:srgbClr val="002060"/>
                </a:solidFill>
                <a:latin typeface="Arial"/>
              </a:rPr>
              <a:t>Layout</a:t>
            </a:r>
          </a:p>
        </p:txBody>
      </p:sp>
      <p:sp>
        <p:nvSpPr>
          <p:cNvPr id="19" name="TextBox 18"/>
          <p:cNvSpPr txBox="1"/>
          <p:nvPr/>
        </p:nvSpPr>
        <p:spPr>
          <a:xfrm>
            <a:off x="7772400" y="2340864"/>
            <a:ext cx="1920240" cy="347472"/>
          </a:xfrm>
          <a:prstGeom prst="rect">
            <a:avLst/>
          </a:prstGeom>
          <a:noFill/>
        </p:spPr>
        <p:txBody>
          <a:bodyPr wrap="square">
            <a:spAutoFit/>
          </a:bodyPr>
          <a:lstStyle/>
          <a:p>
            <a:pPr algn="ctr"/>
            <a:r>
              <a:rPr sz="1400" b="1" i="0">
                <a:solidFill>
                  <a:srgbClr val="262626"/>
                </a:solidFill>
                <a:latin typeface="Arial"/>
              </a:rPr>
              <a:t>Pacific Ocean off the Balneario Municipal, buoy-marked, counter-clockwise</a:t>
            </a:r>
          </a:p>
        </p:txBody>
      </p:sp>
      <p:sp>
        <p:nvSpPr>
          <p:cNvPr id="20" name="Rectangle 19"/>
          <p:cNvSpPr/>
          <p:nvPr/>
        </p:nvSpPr>
        <p:spPr>
          <a:xfrm>
            <a:off x="982980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0" y="2139696"/>
            <a:ext cx="1920240" cy="201168"/>
          </a:xfrm>
          <a:prstGeom prst="rect">
            <a:avLst/>
          </a:prstGeom>
          <a:noFill/>
        </p:spPr>
        <p:txBody>
          <a:bodyPr wrap="square">
            <a:spAutoFit/>
          </a:bodyPr>
          <a:lstStyle/>
          <a:p>
            <a:pPr algn="ctr"/>
            <a:r>
              <a:rPr sz="900" b="1" i="0">
                <a:solidFill>
                  <a:srgbClr val="002060"/>
                </a:solidFill>
                <a:latin typeface="Arial"/>
              </a:rPr>
              <a:t>Start</a:t>
            </a:r>
          </a:p>
        </p:txBody>
      </p:sp>
      <p:sp>
        <p:nvSpPr>
          <p:cNvPr id="22" name="TextBox 21"/>
          <p:cNvSpPr txBox="1"/>
          <p:nvPr/>
        </p:nvSpPr>
        <p:spPr>
          <a:xfrm>
            <a:off x="9875520" y="2340864"/>
            <a:ext cx="1920240" cy="347472"/>
          </a:xfrm>
          <a:prstGeom prst="rect">
            <a:avLst/>
          </a:prstGeom>
          <a:noFill/>
        </p:spPr>
        <p:txBody>
          <a:bodyPr wrap="square">
            <a:spAutoFit/>
          </a:bodyPr>
          <a:lstStyle/>
          <a:p>
            <a:pPr algn="ctr"/>
            <a:r>
              <a:rPr sz="1400" b="1" i="0">
                <a:solidFill>
                  <a:srgbClr val="262626"/>
                </a:solidFill>
                <a:latin typeface="Arial"/>
              </a:rPr>
              <a:t>Beach start on the Balneario Municipal esplanade</a:t>
            </a:r>
          </a:p>
        </p:txBody>
      </p:sp>
      <p:sp>
        <p:nvSpPr>
          <p:cNvPr id="23" name="Rectangle 22"/>
          <p:cNvSpPr/>
          <p:nvPr/>
        </p:nvSpPr>
        <p:spPr>
          <a:xfrm>
            <a:off x="562356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0" y="2852928"/>
            <a:ext cx="1920240" cy="201168"/>
          </a:xfrm>
          <a:prstGeom prst="rect">
            <a:avLst/>
          </a:prstGeom>
          <a:noFill/>
        </p:spPr>
        <p:txBody>
          <a:bodyPr wrap="square">
            <a:spAutoFit/>
          </a:bodyPr>
          <a:lstStyle/>
          <a:p>
            <a:pPr algn="ctr"/>
            <a:r>
              <a:rPr sz="900" b="1" i="0">
                <a:solidFill>
                  <a:srgbClr val="002060"/>
                </a:solidFill>
                <a:latin typeface="Arial"/>
              </a:rPr>
              <a:t>Water Temp</a:t>
            </a:r>
          </a:p>
        </p:txBody>
      </p:sp>
      <p:sp>
        <p:nvSpPr>
          <p:cNvPr id="25" name="TextBox 24"/>
          <p:cNvSpPr txBox="1"/>
          <p:nvPr/>
        </p:nvSpPr>
        <p:spPr>
          <a:xfrm>
            <a:off x="5669280" y="3054096"/>
            <a:ext cx="1920240" cy="347472"/>
          </a:xfrm>
          <a:prstGeom prst="rect">
            <a:avLst/>
          </a:prstGeom>
          <a:noFill/>
        </p:spPr>
        <p:txBody>
          <a:bodyPr wrap="square">
            <a:spAutoFit/>
          </a:bodyPr>
          <a:lstStyle/>
          <a:p>
            <a:pPr algn="ctr"/>
            <a:r>
              <a:rPr sz="1400" b="1" i="0">
                <a:solidFill>
                  <a:srgbClr val="262626"/>
                </a:solidFill>
                <a:latin typeface="Arial"/>
              </a:rPr>
              <a:t>15.0–17.0 °C (expected)</a:t>
            </a:r>
          </a:p>
        </p:txBody>
      </p:sp>
      <p:sp>
        <p:nvSpPr>
          <p:cNvPr id="26" name="Rectangle 25"/>
          <p:cNvSpPr/>
          <p:nvPr/>
        </p:nvSpPr>
        <p:spPr>
          <a:xfrm>
            <a:off x="772668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0" y="2852928"/>
            <a:ext cx="1920240" cy="201168"/>
          </a:xfrm>
          <a:prstGeom prst="rect">
            <a:avLst/>
          </a:prstGeom>
          <a:noFill/>
        </p:spPr>
        <p:txBody>
          <a:bodyPr wrap="square">
            <a:spAutoFit/>
          </a:bodyPr>
          <a:lstStyle/>
          <a:p>
            <a:pPr algn="ctr"/>
            <a:r>
              <a:rPr sz="900" b="1" i="0">
                <a:solidFill>
                  <a:srgbClr val="002060"/>
                </a:solidFill>
                <a:latin typeface="Arial"/>
              </a:rPr>
              <a:t>Wetsuit</a:t>
            </a:r>
          </a:p>
        </p:txBody>
      </p:sp>
      <p:sp>
        <p:nvSpPr>
          <p:cNvPr id="28" name="TextBox 27"/>
          <p:cNvSpPr txBox="1"/>
          <p:nvPr/>
        </p:nvSpPr>
        <p:spPr>
          <a:xfrm>
            <a:off x="7772400" y="3054096"/>
            <a:ext cx="1920240" cy="347472"/>
          </a:xfrm>
          <a:prstGeom prst="rect">
            <a:avLst/>
          </a:prstGeom>
          <a:noFill/>
        </p:spPr>
        <p:txBody>
          <a:bodyPr wrap="square">
            <a:spAutoFit/>
          </a:bodyPr>
          <a:lstStyle/>
          <a:p>
            <a:pPr algn="ctr"/>
            <a:r>
              <a:rPr sz="1400" b="1" i="0">
                <a:solidFill>
                  <a:srgbClr val="262626"/>
                </a:solidFill>
                <a:latin typeface="Arial"/>
              </a:rPr>
              <a:t>Wetsuit optional (16 °C)</a:t>
            </a:r>
          </a:p>
        </p:txBody>
      </p:sp>
      <p:sp>
        <p:nvSpPr>
          <p:cNvPr id="29" name="Rectangle 28"/>
          <p:cNvSpPr/>
          <p:nvPr/>
        </p:nvSpPr>
        <p:spPr>
          <a:xfrm>
            <a:off x="982980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75520" y="2852928"/>
            <a:ext cx="1920240" cy="201168"/>
          </a:xfrm>
          <a:prstGeom prst="rect">
            <a:avLst/>
          </a:prstGeom>
          <a:noFill/>
        </p:spPr>
        <p:txBody>
          <a:bodyPr wrap="square">
            <a:spAutoFit/>
          </a:bodyPr>
          <a:lstStyle/>
          <a:p>
            <a:pPr algn="ctr"/>
            <a:r>
              <a:rPr sz="900" b="1" i="0">
                <a:solidFill>
                  <a:srgbClr val="002060"/>
                </a:solidFill>
                <a:latin typeface="Arial"/>
              </a:rPr>
              <a:t>Lap Count</a:t>
            </a:r>
          </a:p>
        </p:txBody>
      </p:sp>
      <p:sp>
        <p:nvSpPr>
          <p:cNvPr id="31" name="TextBox 30"/>
          <p:cNvSpPr txBox="1"/>
          <p:nvPr/>
        </p:nvSpPr>
        <p:spPr>
          <a:xfrm>
            <a:off x="9875520" y="3054096"/>
            <a:ext cx="1920240" cy="347472"/>
          </a:xfrm>
          <a:prstGeom prst="rect">
            <a:avLst/>
          </a:prstGeom>
          <a:noFill/>
        </p:spPr>
        <p:txBody>
          <a:bodyPr wrap="square">
            <a:spAutoFit/>
          </a:bodyPr>
          <a:lstStyle/>
          <a:p>
            <a:pPr algn="ctr"/>
            <a:r>
              <a:rPr sz="1400" b="1" i="0">
                <a:solidFill>
                  <a:srgbClr val="262626"/>
                </a:solidFill>
                <a:latin typeface="Arial"/>
              </a:rPr>
              <a:t>2</a:t>
            </a:r>
          </a:p>
        </p:txBody>
      </p:sp>
      <p:sp>
        <p:nvSpPr>
          <p:cNvPr id="32" name="Rectangle 31"/>
          <p:cNvSpPr/>
          <p:nvPr/>
        </p:nvSpPr>
        <p:spPr>
          <a:xfrm>
            <a:off x="5577840" y="3611880"/>
            <a:ext cx="6309360" cy="2926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0" y="3639312"/>
            <a:ext cx="6126480" cy="237744"/>
          </a:xfrm>
          <a:prstGeom prst="rect">
            <a:avLst/>
          </a:prstGeom>
          <a:noFill/>
        </p:spPr>
        <p:txBody>
          <a:bodyPr wrap="square">
            <a:spAutoFit/>
          </a:bodyPr>
          <a:lstStyle/>
          <a:p>
            <a:pPr algn="l"/>
            <a:r>
              <a:rPr sz="1200" b="1" i="0">
                <a:solidFill>
                  <a:srgbClr val="FFFFFF"/>
                </a:solidFill>
                <a:latin typeface="Arial"/>
              </a:rPr>
              <a:t>Tactical Notes</a:t>
            </a:r>
          </a:p>
        </p:txBody>
      </p:sp>
      <p:sp>
        <p:nvSpPr>
          <p:cNvPr id="34" name="TextBox 33"/>
          <p:cNvSpPr txBox="1"/>
          <p:nvPr/>
        </p:nvSpPr>
        <p:spPr>
          <a:xfrm>
            <a:off x="5669280" y="3977639"/>
            <a:ext cx="6126480" cy="374904"/>
          </a:xfrm>
          <a:prstGeom prst="rect">
            <a:avLst/>
          </a:prstGeom>
          <a:noFill/>
        </p:spPr>
        <p:txBody>
          <a:bodyPr wrap="square">
            <a:spAutoFit/>
          </a:bodyPr>
          <a:lstStyle/>
          <a:p>
            <a:pPr algn="l"/>
            <a:r>
              <a:rPr sz="1200" b="0" i="0">
                <a:solidFill>
                  <a:srgbClr val="262626"/>
                </a:solidFill>
                <a:latin typeface="Arial"/>
              </a:rPr>
              <a:t>•  Standard swim is two laps of 750 m with a beach exit and re-entry between laps</a:t>
            </a:r>
          </a:p>
        </p:txBody>
      </p:sp>
      <p:sp>
        <p:nvSpPr>
          <p:cNvPr id="35" name="TextBox 34"/>
          <p:cNvSpPr txBox="1"/>
          <p:nvPr/>
        </p:nvSpPr>
        <p:spPr>
          <a:xfrm>
            <a:off x="5669280" y="4370831"/>
            <a:ext cx="6126480" cy="374904"/>
          </a:xfrm>
          <a:prstGeom prst="rect">
            <a:avLst/>
          </a:prstGeom>
          <a:noFill/>
        </p:spPr>
        <p:txBody>
          <a:bodyPr wrap="square">
            <a:spAutoFit/>
          </a:bodyPr>
          <a:lstStyle/>
          <a:p>
            <a:pPr algn="l"/>
            <a:r>
              <a:rPr sz="1200" b="0" i="0">
                <a:solidFill>
                  <a:srgbClr val="262626"/>
                </a:solidFill>
                <a:latin typeface="Arial"/>
              </a:rPr>
              <a:t>•  Counter-clockwise, buoy-marked rectangle directly in front of the Balneario Municipal</a:t>
            </a:r>
          </a:p>
        </p:txBody>
      </p:sp>
      <p:sp>
        <p:nvSpPr>
          <p:cNvPr id="36" name="TextBox 35"/>
          <p:cNvSpPr txBox="1"/>
          <p:nvPr/>
        </p:nvSpPr>
        <p:spPr>
          <a:xfrm>
            <a:off x="5669280" y="4764024"/>
            <a:ext cx="6126480" cy="374904"/>
          </a:xfrm>
          <a:prstGeom prst="rect">
            <a:avLst/>
          </a:prstGeom>
          <a:noFill/>
        </p:spPr>
        <p:txBody>
          <a:bodyPr wrap="square">
            <a:spAutoFit/>
          </a:bodyPr>
          <a:lstStyle/>
          <a:p>
            <a:pPr algn="l"/>
            <a:r>
              <a:rPr sz="1200" b="0" i="0">
                <a:solidFill>
                  <a:srgbClr val="262626"/>
                </a:solidFill>
                <a:latin typeface="Arial"/>
              </a:rPr>
              <a:t>•  Cold Humboldt-cooled water near 15 to 17 C makes wetsuits and a strong first 100 m breath plan important</a:t>
            </a:r>
          </a:p>
        </p:txBody>
      </p:sp>
      <p:sp>
        <p:nvSpPr>
          <p:cNvPr id="37" name="TextBox 36"/>
          <p:cNvSpPr txBox="1"/>
          <p:nvPr/>
        </p:nvSpPr>
        <p:spPr>
          <a:xfrm>
            <a:off x="5669280" y="5157216"/>
            <a:ext cx="6126480" cy="374904"/>
          </a:xfrm>
          <a:prstGeom prst="rect">
            <a:avLst/>
          </a:prstGeom>
          <a:noFill/>
        </p:spPr>
        <p:txBody>
          <a:bodyPr wrap="square">
            <a:spAutoFit/>
          </a:bodyPr>
          <a:lstStyle/>
          <a:p>
            <a:pPr algn="l"/>
            <a:r>
              <a:rPr sz="1200" b="0" i="0">
                <a:solidFill>
                  <a:srgbClr val="262626"/>
                </a:solidFill>
                <a:latin typeface="Arial"/>
              </a:rPr>
              <a:t>•  Pacific swell and sea state can build off the open coast, so practice sighting on larger surface waves</a:t>
            </a:r>
          </a:p>
        </p:txBody>
      </p:sp>
      <p:sp>
        <p:nvSpPr>
          <p:cNvPr id="38" name="TextBox 37"/>
          <p:cNvSpPr txBox="1"/>
          <p:nvPr/>
        </p:nvSpPr>
        <p:spPr>
          <a:xfrm>
            <a:off x="5669280" y="5550408"/>
            <a:ext cx="6126480" cy="374904"/>
          </a:xfrm>
          <a:prstGeom prst="rect">
            <a:avLst/>
          </a:prstGeom>
          <a:noFill/>
        </p:spPr>
        <p:txBody>
          <a:bodyPr wrap="square">
            <a:spAutoFit/>
          </a:bodyPr>
          <a:lstStyle/>
          <a:p>
            <a:pPr algn="l"/>
            <a:r>
              <a:rPr sz="1200" b="0" i="0">
                <a:solidFill>
                  <a:srgbClr val="262626"/>
                </a:solidFill>
                <a:latin typeface="Arial"/>
              </a:rPr>
              <a:t>•  Short beach run from the water into a transition that lines the seafront esplanade</a:t>
            </a:r>
          </a:p>
        </p:txBody>
      </p:sp>
      <p:sp>
        <p:nvSpPr>
          <p:cNvPr id="39" name="Rectangle 38"/>
          <p:cNvSpPr/>
          <p:nvPr/>
        </p:nvSpPr>
        <p:spPr>
          <a:xfrm>
            <a:off x="274320" y="6035040"/>
            <a:ext cx="11640312" cy="292608"/>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6080760"/>
            <a:ext cx="11430000" cy="228600"/>
          </a:xfrm>
          <a:prstGeom prst="rect">
            <a:avLst/>
          </a:prstGeom>
          <a:noFill/>
        </p:spPr>
        <p:txBody>
          <a:bodyPr wrap="square">
            <a:spAutoFit/>
          </a:bodyPr>
          <a:lstStyle/>
          <a:p>
            <a:pPr algn="l"/>
            <a:r>
              <a:rPr sz="950" b="0" i="1">
                <a:solidFill>
                  <a:srgbClr val="262626"/>
                </a:solidFill>
                <a:latin typeface="Arial"/>
              </a:rPr>
              <a:t>Not in race brief: Exact buoy count and turn layout (confirmed at familiarisation)  •  Day-of water temperature (filled from Open-Meteo Marine when available)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Bike Course Profile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Antofagasta</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43000"/>
            <a:ext cx="5120640" cy="329184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240280"/>
            <a:ext cx="4754880" cy="1280160"/>
          </a:xfrm>
          <a:prstGeom prst="rect">
            <a:avLst/>
          </a:prstGeom>
          <a:noFill/>
        </p:spPr>
        <p:txBody>
          <a:bodyPr wrap="square">
            <a:spAutoFit/>
          </a:bodyPr>
          <a:lstStyle/>
          <a:p>
            <a:pPr algn="ctr"/>
            <a:r>
              <a:rPr sz="1000" b="0" i="1">
                <a:solidFill>
                  <a:srgbClr val="BFBFBF"/>
                </a:solidFill>
                <a:latin typeface="Arial"/>
              </a:rPr>
              <a:t>[Drop course map here]
Save the organiser course map as:
ppt files/support/antofagasta_bike_course.png
It will be embedded automatically on the next run.</a:t>
            </a:r>
          </a:p>
        </p:txBody>
      </p:sp>
      <p:sp>
        <p:nvSpPr>
          <p:cNvPr id="10" name="TextBox 9"/>
          <p:cNvSpPr txBox="1"/>
          <p:nvPr/>
        </p:nvSpPr>
        <p:spPr>
          <a:xfrm>
            <a:off x="274320" y="4480560"/>
            <a:ext cx="5120640" cy="228600"/>
          </a:xfrm>
          <a:prstGeom prst="rect">
            <a:avLst/>
          </a:prstGeom>
          <a:noFill/>
        </p:spPr>
        <p:txBody>
          <a:bodyPr wrap="square">
            <a:spAutoFit/>
          </a:bodyPr>
          <a:lstStyle/>
          <a:p>
            <a:pPr algn="ctr"/>
            <a:r>
              <a:rPr sz="900" b="0" i="1">
                <a:solidFill>
                  <a:srgbClr val="BFBFBF"/>
                </a:solidFill>
                <a:latin typeface="Arial"/>
              </a:rPr>
              <a:t>Source: 2026 Americas Triathlon Championships Antofagasta — NF Information Package</a:t>
            </a:r>
          </a:p>
        </p:txBody>
      </p:sp>
      <p:sp>
        <p:nvSpPr>
          <p:cNvPr id="11" name="Rectangle 10"/>
          <p:cNvSpPr/>
          <p:nvPr/>
        </p:nvSpPr>
        <p:spPr>
          <a:xfrm>
            <a:off x="5577840" y="1143000"/>
            <a:ext cx="6309360" cy="8229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77840" y="1252728"/>
            <a:ext cx="6309360" cy="365760"/>
          </a:xfrm>
          <a:prstGeom prst="rect">
            <a:avLst/>
          </a:prstGeom>
          <a:noFill/>
        </p:spPr>
        <p:txBody>
          <a:bodyPr wrap="square">
            <a:spAutoFit/>
          </a:bodyPr>
          <a:lstStyle/>
          <a:p>
            <a:pPr algn="ctr"/>
            <a:r>
              <a:rPr sz="2200" b="1" i="0">
                <a:solidFill>
                  <a:srgbClr val="FFFFFF"/>
                </a:solidFill>
                <a:latin typeface="Arial"/>
              </a:rPr>
              <a:t>43.3 km   •   8 × 5.41 km loops</a:t>
            </a:r>
          </a:p>
        </p:txBody>
      </p:sp>
      <p:sp>
        <p:nvSpPr>
          <p:cNvPr id="13" name="TextBox 12"/>
          <p:cNvSpPr txBox="1"/>
          <p:nvPr/>
        </p:nvSpPr>
        <p:spPr>
          <a:xfrm>
            <a:off x="5577840" y="1636776"/>
            <a:ext cx="6309360" cy="292608"/>
          </a:xfrm>
          <a:prstGeom prst="rect">
            <a:avLst/>
          </a:prstGeom>
          <a:noFill/>
        </p:spPr>
        <p:txBody>
          <a:bodyPr wrap="square">
            <a:spAutoFit/>
          </a:bodyPr>
          <a:lstStyle/>
          <a:p>
            <a:pPr algn="ctr"/>
            <a:r>
              <a:rPr sz="1100" b="0" i="1">
                <a:solidFill>
                  <a:srgbClr val="AABBDD"/>
                </a:solidFill>
                <a:latin typeface="Arial"/>
              </a:rPr>
              <a:t>Closed coastal avenues, Av. República de Croacia and Av. Ejército</a:t>
            </a:r>
          </a:p>
        </p:txBody>
      </p:sp>
      <p:sp>
        <p:nvSpPr>
          <p:cNvPr id="14" name="Rectangle 13"/>
          <p:cNvSpPr/>
          <p:nvPr/>
        </p:nvSpPr>
        <p:spPr>
          <a:xfrm>
            <a:off x="562356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0" y="2139696"/>
            <a:ext cx="1920240" cy="201168"/>
          </a:xfrm>
          <a:prstGeom prst="rect">
            <a:avLst/>
          </a:prstGeom>
          <a:noFill/>
        </p:spPr>
        <p:txBody>
          <a:bodyPr wrap="square">
            <a:spAutoFit/>
          </a:bodyPr>
          <a:lstStyle/>
          <a:p>
            <a:pPr algn="ctr"/>
            <a:r>
              <a:rPr sz="900" b="1" i="0">
                <a:solidFill>
                  <a:srgbClr val="002060"/>
                </a:solidFill>
                <a:latin typeface="Arial"/>
              </a:rPr>
              <a:t>Elevation / Lap</a:t>
            </a:r>
          </a:p>
        </p:txBody>
      </p:sp>
      <p:sp>
        <p:nvSpPr>
          <p:cNvPr id="16" name="TextBox 15"/>
          <p:cNvSpPr txBox="1"/>
          <p:nvPr/>
        </p:nvSpPr>
        <p:spPr>
          <a:xfrm>
            <a:off x="5669280" y="2340864"/>
            <a:ext cx="1920240" cy="347472"/>
          </a:xfrm>
          <a:prstGeom prst="rect">
            <a:avLst/>
          </a:prstGeom>
          <a:noFill/>
        </p:spPr>
        <p:txBody>
          <a:bodyPr wrap="square">
            <a:spAutoFit/>
          </a:bodyPr>
          <a:lstStyle/>
          <a:p>
            <a:pPr algn="ctr"/>
            <a:r>
              <a:rPr sz="1500" b="1" i="0">
                <a:solidFill>
                  <a:srgbClr val="262626"/>
                </a:solidFill>
                <a:latin typeface="Arial"/>
              </a:rPr>
              <a:t>Flat (no data)</a:t>
            </a:r>
          </a:p>
        </p:txBody>
      </p:sp>
      <p:sp>
        <p:nvSpPr>
          <p:cNvPr id="17" name="Rectangle 16"/>
          <p:cNvSpPr/>
          <p:nvPr/>
        </p:nvSpPr>
        <p:spPr>
          <a:xfrm>
            <a:off x="772668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0" y="2139696"/>
            <a:ext cx="1920240" cy="201168"/>
          </a:xfrm>
          <a:prstGeom prst="rect">
            <a:avLst/>
          </a:prstGeom>
          <a:noFill/>
        </p:spPr>
        <p:txBody>
          <a:bodyPr wrap="square">
            <a:spAutoFit/>
          </a:bodyPr>
          <a:lstStyle/>
          <a:p>
            <a:pPr algn="ctr"/>
            <a:r>
              <a:rPr sz="900" b="1" i="0">
                <a:solidFill>
                  <a:srgbClr val="002060"/>
                </a:solidFill>
                <a:latin typeface="Arial"/>
              </a:rPr>
              <a:t>Total Climb</a:t>
            </a:r>
          </a:p>
        </p:txBody>
      </p:sp>
      <p:sp>
        <p:nvSpPr>
          <p:cNvPr id="19" name="TextBox 18"/>
          <p:cNvSpPr txBox="1"/>
          <p:nvPr/>
        </p:nvSpPr>
        <p:spPr>
          <a:xfrm>
            <a:off x="7772400" y="2340864"/>
            <a:ext cx="1920240" cy="347472"/>
          </a:xfrm>
          <a:prstGeom prst="rect">
            <a:avLst/>
          </a:prstGeom>
          <a:noFill/>
        </p:spPr>
        <p:txBody>
          <a:bodyPr wrap="square">
            <a:spAutoFit/>
          </a:bodyPr>
          <a:lstStyle/>
          <a:p>
            <a:pPr algn="ctr"/>
            <a:r>
              <a:rPr sz="1500" b="1" i="0">
                <a:solidFill>
                  <a:srgbClr val="262626"/>
                </a:solidFill>
                <a:latin typeface="Arial"/>
              </a:rPr>
              <a:t>—</a:t>
            </a:r>
          </a:p>
        </p:txBody>
      </p:sp>
      <p:sp>
        <p:nvSpPr>
          <p:cNvPr id="20" name="Rectangle 19"/>
          <p:cNvSpPr/>
          <p:nvPr/>
        </p:nvSpPr>
        <p:spPr>
          <a:xfrm>
            <a:off x="982980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0" y="2139696"/>
            <a:ext cx="1920240" cy="201168"/>
          </a:xfrm>
          <a:prstGeom prst="rect">
            <a:avLst/>
          </a:prstGeom>
          <a:noFill/>
        </p:spPr>
        <p:txBody>
          <a:bodyPr wrap="square">
            <a:spAutoFit/>
          </a:bodyPr>
          <a:lstStyle/>
          <a:p>
            <a:pPr algn="ctr"/>
            <a:r>
              <a:rPr sz="900" b="1" i="0">
                <a:solidFill>
                  <a:srgbClr val="002060"/>
                </a:solidFill>
                <a:latin typeface="Arial"/>
              </a:rPr>
              <a:t>Avg Grade</a:t>
            </a:r>
          </a:p>
        </p:txBody>
      </p:sp>
      <p:sp>
        <p:nvSpPr>
          <p:cNvPr id="22" name="TextBox 21"/>
          <p:cNvSpPr txBox="1"/>
          <p:nvPr/>
        </p:nvSpPr>
        <p:spPr>
          <a:xfrm>
            <a:off x="9875520" y="2340864"/>
            <a:ext cx="1920240" cy="347472"/>
          </a:xfrm>
          <a:prstGeom prst="rect">
            <a:avLst/>
          </a:prstGeom>
          <a:noFill/>
        </p:spPr>
        <p:txBody>
          <a:bodyPr wrap="square">
            <a:spAutoFit/>
          </a:bodyPr>
          <a:lstStyle/>
          <a:p>
            <a:pPr algn="ctr"/>
            <a:r>
              <a:rPr sz="1500" b="1" i="0">
                <a:solidFill>
                  <a:srgbClr val="262626"/>
                </a:solidFill>
                <a:latin typeface="Arial"/>
              </a:rPr>
              <a:t>—</a:t>
            </a:r>
          </a:p>
        </p:txBody>
      </p:sp>
      <p:sp>
        <p:nvSpPr>
          <p:cNvPr id="23" name="Rectangle 22"/>
          <p:cNvSpPr/>
          <p:nvPr/>
        </p:nvSpPr>
        <p:spPr>
          <a:xfrm>
            <a:off x="562356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0" y="2852928"/>
            <a:ext cx="1920240" cy="201168"/>
          </a:xfrm>
          <a:prstGeom prst="rect">
            <a:avLst/>
          </a:prstGeom>
          <a:noFill/>
        </p:spPr>
        <p:txBody>
          <a:bodyPr wrap="square">
            <a:spAutoFit/>
          </a:bodyPr>
          <a:lstStyle/>
          <a:p>
            <a:pPr algn="ctr"/>
            <a:r>
              <a:rPr sz="900" b="1" i="0">
                <a:solidFill>
                  <a:srgbClr val="002060"/>
                </a:solidFill>
                <a:latin typeface="Arial"/>
              </a:rPr>
              <a:t>Max Climb Grade</a:t>
            </a:r>
          </a:p>
        </p:txBody>
      </p:sp>
      <p:sp>
        <p:nvSpPr>
          <p:cNvPr id="25" name="TextBox 24"/>
          <p:cNvSpPr txBox="1"/>
          <p:nvPr/>
        </p:nvSpPr>
        <p:spPr>
          <a:xfrm>
            <a:off x="5669280" y="3054096"/>
            <a:ext cx="1920240" cy="347472"/>
          </a:xfrm>
          <a:prstGeom prst="rect">
            <a:avLst/>
          </a:prstGeom>
          <a:noFill/>
        </p:spPr>
        <p:txBody>
          <a:bodyPr wrap="square">
            <a:spAutoFit/>
          </a:bodyPr>
          <a:lstStyle/>
          <a:p>
            <a:pPr algn="ctr"/>
            <a:r>
              <a:rPr sz="1500" b="1" i="0">
                <a:solidFill>
                  <a:srgbClr val="262626"/>
                </a:solidFill>
                <a:latin typeface="Arial"/>
              </a:rPr>
              <a:t>—</a:t>
            </a:r>
          </a:p>
        </p:txBody>
      </p:sp>
      <p:sp>
        <p:nvSpPr>
          <p:cNvPr id="26" name="Rectangle 25"/>
          <p:cNvSpPr/>
          <p:nvPr/>
        </p:nvSpPr>
        <p:spPr>
          <a:xfrm>
            <a:off x="772668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0" y="2852928"/>
            <a:ext cx="1920240" cy="201168"/>
          </a:xfrm>
          <a:prstGeom prst="rect">
            <a:avLst/>
          </a:prstGeom>
          <a:noFill/>
        </p:spPr>
        <p:txBody>
          <a:bodyPr wrap="square">
            <a:spAutoFit/>
          </a:bodyPr>
          <a:lstStyle/>
          <a:p>
            <a:pPr algn="ctr"/>
            <a:r>
              <a:rPr sz="900" b="1" i="0">
                <a:solidFill>
                  <a:srgbClr val="002060"/>
                </a:solidFill>
                <a:latin typeface="Arial"/>
              </a:rPr>
              <a:t>Wind</a:t>
            </a:r>
          </a:p>
        </p:txBody>
      </p:sp>
      <p:sp>
        <p:nvSpPr>
          <p:cNvPr id="28" name="TextBox 27"/>
          <p:cNvSpPr txBox="1"/>
          <p:nvPr/>
        </p:nvSpPr>
        <p:spPr>
          <a:xfrm>
            <a:off x="7772400" y="3054096"/>
            <a:ext cx="1920240" cy="347472"/>
          </a:xfrm>
          <a:prstGeom prst="rect">
            <a:avLst/>
          </a:prstGeom>
          <a:noFill/>
        </p:spPr>
        <p:txBody>
          <a:bodyPr wrap="square">
            <a:spAutoFit/>
          </a:bodyPr>
          <a:lstStyle/>
          <a:p>
            <a:pPr algn="ctr"/>
            <a:r>
              <a:rPr sz="1500" b="1" i="0">
                <a:solidFill>
                  <a:srgbClr val="262626"/>
                </a:solidFill>
                <a:latin typeface="Arial"/>
              </a:rPr>
              <a:t>Pacific coast (sea breeze)</a:t>
            </a:r>
          </a:p>
        </p:txBody>
      </p:sp>
      <p:sp>
        <p:nvSpPr>
          <p:cNvPr id="29" name="Rectangle 28"/>
          <p:cNvSpPr/>
          <p:nvPr/>
        </p:nvSpPr>
        <p:spPr>
          <a:xfrm>
            <a:off x="982980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75520" y="2852928"/>
            <a:ext cx="1920240" cy="201168"/>
          </a:xfrm>
          <a:prstGeom prst="rect">
            <a:avLst/>
          </a:prstGeom>
          <a:noFill/>
        </p:spPr>
        <p:txBody>
          <a:bodyPr wrap="square">
            <a:spAutoFit/>
          </a:bodyPr>
          <a:lstStyle/>
          <a:p>
            <a:pPr algn="ctr"/>
            <a:r>
              <a:rPr sz="900" b="1" i="0">
                <a:solidFill>
                  <a:srgbClr val="002060"/>
                </a:solidFill>
                <a:latin typeface="Arial"/>
              </a:rPr>
              <a:t>Loops</a:t>
            </a:r>
          </a:p>
        </p:txBody>
      </p:sp>
      <p:sp>
        <p:nvSpPr>
          <p:cNvPr id="31" name="TextBox 30"/>
          <p:cNvSpPr txBox="1"/>
          <p:nvPr/>
        </p:nvSpPr>
        <p:spPr>
          <a:xfrm>
            <a:off x="9875520" y="3054096"/>
            <a:ext cx="1920240" cy="347472"/>
          </a:xfrm>
          <a:prstGeom prst="rect">
            <a:avLst/>
          </a:prstGeom>
          <a:noFill/>
        </p:spPr>
        <p:txBody>
          <a:bodyPr wrap="square">
            <a:spAutoFit/>
          </a:bodyPr>
          <a:lstStyle/>
          <a:p>
            <a:pPr algn="ctr"/>
            <a:r>
              <a:rPr sz="1500" b="1" i="0">
                <a:solidFill>
                  <a:srgbClr val="262626"/>
                </a:solidFill>
                <a:latin typeface="Arial"/>
              </a:rPr>
              <a:t>8 × 5.41 km</a:t>
            </a:r>
          </a:p>
        </p:txBody>
      </p:sp>
      <p:sp>
        <p:nvSpPr>
          <p:cNvPr id="32" name="Rectangle 31"/>
          <p:cNvSpPr/>
          <p:nvPr/>
        </p:nvSpPr>
        <p:spPr>
          <a:xfrm>
            <a:off x="5577840" y="3703320"/>
            <a:ext cx="6309360" cy="2926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0" y="3730752"/>
            <a:ext cx="6126480" cy="237744"/>
          </a:xfrm>
          <a:prstGeom prst="rect">
            <a:avLst/>
          </a:prstGeom>
          <a:noFill/>
        </p:spPr>
        <p:txBody>
          <a:bodyPr wrap="square">
            <a:spAutoFit/>
          </a:bodyPr>
          <a:lstStyle/>
          <a:p>
            <a:pPr algn="l"/>
            <a:r>
              <a:rPr sz="1200" b="1" i="0">
                <a:solidFill>
                  <a:srgbClr val="FFFFFF"/>
                </a:solidFill>
                <a:latin typeface="Arial"/>
              </a:rPr>
              <a:t>Tactical Implications</a:t>
            </a:r>
          </a:p>
        </p:txBody>
      </p:sp>
      <p:sp>
        <p:nvSpPr>
          <p:cNvPr id="34" name="TextBox 33"/>
          <p:cNvSpPr txBox="1"/>
          <p:nvPr/>
        </p:nvSpPr>
        <p:spPr>
          <a:xfrm>
            <a:off x="5669280" y="4069080"/>
            <a:ext cx="6126480" cy="438912"/>
          </a:xfrm>
          <a:prstGeom prst="rect">
            <a:avLst/>
          </a:prstGeom>
          <a:noFill/>
        </p:spPr>
        <p:txBody>
          <a:bodyPr wrap="square">
            <a:spAutoFit/>
          </a:bodyPr>
          <a:lstStyle/>
          <a:p>
            <a:pPr algn="l"/>
            <a:r>
              <a:rPr sz="1200" b="0" i="0">
                <a:solidFill>
                  <a:srgbClr val="262626"/>
                </a:solidFill>
                <a:latin typeface="Arial"/>
              </a:rPr>
              <a:t>•  Standard bike is 43.3 km, eight laps of 5.41 km on closed seafront avenues</a:t>
            </a:r>
          </a:p>
        </p:txBody>
      </p:sp>
      <p:sp>
        <p:nvSpPr>
          <p:cNvPr id="35" name="TextBox 34"/>
          <p:cNvSpPr txBox="1"/>
          <p:nvPr/>
        </p:nvSpPr>
        <p:spPr>
          <a:xfrm>
            <a:off x="5669280" y="4526280"/>
            <a:ext cx="6126480" cy="438912"/>
          </a:xfrm>
          <a:prstGeom prst="rect">
            <a:avLst/>
          </a:prstGeom>
          <a:noFill/>
        </p:spPr>
        <p:txBody>
          <a:bodyPr wrap="square">
            <a:spAutoFit/>
          </a:bodyPr>
          <a:lstStyle/>
          <a:p>
            <a:pPr algn="l"/>
            <a:r>
              <a:rPr sz="1200" b="0" i="0">
                <a:solidFill>
                  <a:srgbClr val="262626"/>
                </a:solidFill>
                <a:latin typeface="Arial"/>
              </a:rPr>
              <a:t>•  Southbound on Av. República de Croacia then Av. Ejército to the turnaround at the Military Facility access</a:t>
            </a:r>
          </a:p>
        </p:txBody>
      </p:sp>
      <p:sp>
        <p:nvSpPr>
          <p:cNvPr id="36" name="TextBox 35"/>
          <p:cNvSpPr txBox="1"/>
          <p:nvPr/>
        </p:nvSpPr>
        <p:spPr>
          <a:xfrm>
            <a:off x="5669280" y="4983480"/>
            <a:ext cx="6126480" cy="438912"/>
          </a:xfrm>
          <a:prstGeom prst="rect">
            <a:avLst/>
          </a:prstGeom>
          <a:noFill/>
        </p:spPr>
        <p:txBody>
          <a:bodyPr wrap="square">
            <a:spAutoFit/>
          </a:bodyPr>
          <a:lstStyle/>
          <a:p>
            <a:pPr algn="l"/>
            <a:r>
              <a:rPr sz="1200" b="0" i="0">
                <a:solidFill>
                  <a:srgbClr val="262626"/>
                </a:solidFill>
                <a:latin typeface="Arial"/>
              </a:rPr>
              <a:t>•  Northbound return on Av. Ejército then Av. República de Croacia to the turnaround at Plaza Rotonda Croacia Grecia</a:t>
            </a:r>
          </a:p>
        </p:txBody>
      </p:sp>
      <p:sp>
        <p:nvSpPr>
          <p:cNvPr id="37" name="TextBox 36"/>
          <p:cNvSpPr txBox="1"/>
          <p:nvPr/>
        </p:nvSpPr>
        <p:spPr>
          <a:xfrm>
            <a:off x="5669280" y="5440680"/>
            <a:ext cx="6126480" cy="438912"/>
          </a:xfrm>
          <a:prstGeom prst="rect">
            <a:avLst/>
          </a:prstGeom>
          <a:noFill/>
        </p:spPr>
        <p:txBody>
          <a:bodyPr wrap="square">
            <a:spAutoFit/>
          </a:bodyPr>
          <a:lstStyle/>
          <a:p>
            <a:pPr algn="l"/>
            <a:r>
              <a:rPr sz="1200" b="0" i="0">
                <a:solidFill>
                  <a:srgbClr val="262626"/>
                </a:solidFill>
                <a:latin typeface="Arial"/>
              </a:rPr>
              <a:t>•  Pancake-flat coastal road; the two turnarounds each lap reward bike handling and repeated re-accelerations</a:t>
            </a:r>
          </a:p>
        </p:txBody>
      </p:sp>
      <p:sp>
        <p:nvSpPr>
          <p:cNvPr id="38" name="TextBox 37"/>
          <p:cNvSpPr txBox="1"/>
          <p:nvPr/>
        </p:nvSpPr>
        <p:spPr>
          <a:xfrm>
            <a:off x="5669280" y="5897880"/>
            <a:ext cx="6126480" cy="438912"/>
          </a:xfrm>
          <a:prstGeom prst="rect">
            <a:avLst/>
          </a:prstGeom>
          <a:noFill/>
        </p:spPr>
        <p:txBody>
          <a:bodyPr wrap="square">
            <a:spAutoFit/>
          </a:bodyPr>
          <a:lstStyle/>
          <a:p>
            <a:pPr algn="l"/>
            <a:r>
              <a:rPr sz="1200" b="0" i="0">
                <a:solidFill>
                  <a:srgbClr val="262626"/>
                </a:solidFill>
                <a:latin typeface="Arial"/>
              </a:rPr>
              <a:t>•  Exposed oceanfront means a sea breeze can build through the morning and reshape the lead group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Run Course Profile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Antofagasta</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43000"/>
            <a:ext cx="5120640" cy="38404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514600"/>
            <a:ext cx="4754880" cy="1280160"/>
          </a:xfrm>
          <a:prstGeom prst="rect">
            <a:avLst/>
          </a:prstGeom>
          <a:noFill/>
        </p:spPr>
        <p:txBody>
          <a:bodyPr wrap="square">
            <a:spAutoFit/>
          </a:bodyPr>
          <a:lstStyle/>
          <a:p>
            <a:pPr algn="ctr"/>
            <a:r>
              <a:rPr sz="1000" b="0" i="1">
                <a:solidFill>
                  <a:srgbClr val="BFBFBF"/>
                </a:solidFill>
                <a:latin typeface="Arial"/>
              </a:rPr>
              <a:t>[Drop run course map here]
Save the organiser map as:
ppt files/support/antofagasta_run_course.png
It will be embedded automatically on the next run.</a:t>
            </a:r>
          </a:p>
        </p:txBody>
      </p:sp>
      <p:sp>
        <p:nvSpPr>
          <p:cNvPr id="10" name="TextBox 9"/>
          <p:cNvSpPr txBox="1"/>
          <p:nvPr/>
        </p:nvSpPr>
        <p:spPr>
          <a:xfrm>
            <a:off x="274320" y="5029200"/>
            <a:ext cx="5120640" cy="228600"/>
          </a:xfrm>
          <a:prstGeom prst="rect">
            <a:avLst/>
          </a:prstGeom>
          <a:noFill/>
        </p:spPr>
        <p:txBody>
          <a:bodyPr wrap="square">
            <a:spAutoFit/>
          </a:bodyPr>
          <a:lstStyle/>
          <a:p>
            <a:pPr algn="ctr"/>
            <a:r>
              <a:rPr sz="900" b="0" i="1">
                <a:solidFill>
                  <a:srgbClr val="BFBFBF"/>
                </a:solidFill>
                <a:latin typeface="Arial"/>
              </a:rPr>
              <a:t>Source: 2026 Americas Triathlon Championships Antofagasta — NF Information Package</a:t>
            </a:r>
          </a:p>
        </p:txBody>
      </p:sp>
      <p:sp>
        <p:nvSpPr>
          <p:cNvPr id="11" name="Rectangle 10"/>
          <p:cNvSpPr/>
          <p:nvPr/>
        </p:nvSpPr>
        <p:spPr>
          <a:xfrm>
            <a:off x="5577840" y="1143000"/>
            <a:ext cx="6309360" cy="8229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77840" y="1252728"/>
            <a:ext cx="6309360" cy="365760"/>
          </a:xfrm>
          <a:prstGeom prst="rect">
            <a:avLst/>
          </a:prstGeom>
          <a:noFill/>
        </p:spPr>
        <p:txBody>
          <a:bodyPr wrap="square">
            <a:spAutoFit/>
          </a:bodyPr>
          <a:lstStyle/>
          <a:p>
            <a:pPr algn="ctr"/>
            <a:r>
              <a:rPr sz="2200" b="1" i="0">
                <a:solidFill>
                  <a:srgbClr val="FFFFFF"/>
                </a:solidFill>
                <a:latin typeface="Arial"/>
              </a:rPr>
              <a:t>10.0 km   •   4 × 2.5 km</a:t>
            </a:r>
          </a:p>
        </p:txBody>
      </p:sp>
      <p:sp>
        <p:nvSpPr>
          <p:cNvPr id="13" name="TextBox 12"/>
          <p:cNvSpPr txBox="1"/>
          <p:nvPr/>
        </p:nvSpPr>
        <p:spPr>
          <a:xfrm>
            <a:off x="5577840" y="1636776"/>
            <a:ext cx="6309360" cy="292608"/>
          </a:xfrm>
          <a:prstGeom prst="rect">
            <a:avLst/>
          </a:prstGeom>
          <a:noFill/>
        </p:spPr>
        <p:txBody>
          <a:bodyPr wrap="square">
            <a:spAutoFit/>
          </a:bodyPr>
          <a:lstStyle/>
          <a:p>
            <a:pPr algn="ctr"/>
            <a:r>
              <a:rPr sz="1100" b="0" i="1">
                <a:solidFill>
                  <a:srgbClr val="AABBDD"/>
                </a:solidFill>
                <a:latin typeface="Arial"/>
              </a:rPr>
              <a:t>Paved seafront, Avenida Grecia along the Balneario</a:t>
            </a:r>
          </a:p>
        </p:txBody>
      </p:sp>
      <p:sp>
        <p:nvSpPr>
          <p:cNvPr id="14" name="Rectangle 13"/>
          <p:cNvSpPr/>
          <p:nvPr/>
        </p:nvSpPr>
        <p:spPr>
          <a:xfrm>
            <a:off x="562356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0" y="2139696"/>
            <a:ext cx="1920240" cy="201168"/>
          </a:xfrm>
          <a:prstGeom prst="rect">
            <a:avLst/>
          </a:prstGeom>
          <a:noFill/>
        </p:spPr>
        <p:txBody>
          <a:bodyPr wrap="square">
            <a:spAutoFit/>
          </a:bodyPr>
          <a:lstStyle/>
          <a:p>
            <a:pPr algn="ctr"/>
            <a:r>
              <a:rPr sz="900" b="1" i="0">
                <a:solidFill>
                  <a:srgbClr val="002060"/>
                </a:solidFill>
                <a:latin typeface="Arial"/>
              </a:rPr>
              <a:t>Distance</a:t>
            </a:r>
          </a:p>
        </p:txBody>
      </p:sp>
      <p:sp>
        <p:nvSpPr>
          <p:cNvPr id="16" name="TextBox 15"/>
          <p:cNvSpPr txBox="1"/>
          <p:nvPr/>
        </p:nvSpPr>
        <p:spPr>
          <a:xfrm>
            <a:off x="5669280" y="2340864"/>
            <a:ext cx="1920240" cy="347472"/>
          </a:xfrm>
          <a:prstGeom prst="rect">
            <a:avLst/>
          </a:prstGeom>
          <a:noFill/>
        </p:spPr>
        <p:txBody>
          <a:bodyPr wrap="square">
            <a:spAutoFit/>
          </a:bodyPr>
          <a:lstStyle/>
          <a:p>
            <a:pPr algn="ctr"/>
            <a:r>
              <a:rPr sz="1400" b="1" i="0">
                <a:solidFill>
                  <a:srgbClr val="262626"/>
                </a:solidFill>
                <a:latin typeface="Arial"/>
              </a:rPr>
              <a:t>10.0 km</a:t>
            </a:r>
          </a:p>
        </p:txBody>
      </p:sp>
      <p:sp>
        <p:nvSpPr>
          <p:cNvPr id="17" name="Rectangle 16"/>
          <p:cNvSpPr/>
          <p:nvPr/>
        </p:nvSpPr>
        <p:spPr>
          <a:xfrm>
            <a:off x="772668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0" y="2139696"/>
            <a:ext cx="1920240" cy="201168"/>
          </a:xfrm>
          <a:prstGeom prst="rect">
            <a:avLst/>
          </a:prstGeom>
          <a:noFill/>
        </p:spPr>
        <p:txBody>
          <a:bodyPr wrap="square">
            <a:spAutoFit/>
          </a:bodyPr>
          <a:lstStyle/>
          <a:p>
            <a:pPr algn="ctr"/>
            <a:r>
              <a:rPr sz="900" b="1" i="0">
                <a:solidFill>
                  <a:srgbClr val="002060"/>
                </a:solidFill>
                <a:latin typeface="Arial"/>
              </a:rPr>
              <a:t>Lap Structure</a:t>
            </a:r>
          </a:p>
        </p:txBody>
      </p:sp>
      <p:sp>
        <p:nvSpPr>
          <p:cNvPr id="19" name="TextBox 18"/>
          <p:cNvSpPr txBox="1"/>
          <p:nvPr/>
        </p:nvSpPr>
        <p:spPr>
          <a:xfrm>
            <a:off x="7772400" y="2340864"/>
            <a:ext cx="1920240" cy="347472"/>
          </a:xfrm>
          <a:prstGeom prst="rect">
            <a:avLst/>
          </a:prstGeom>
          <a:noFill/>
        </p:spPr>
        <p:txBody>
          <a:bodyPr wrap="square">
            <a:spAutoFit/>
          </a:bodyPr>
          <a:lstStyle/>
          <a:p>
            <a:pPr algn="ctr"/>
            <a:r>
              <a:rPr sz="1400" b="1" i="0">
                <a:solidFill>
                  <a:srgbClr val="262626"/>
                </a:solidFill>
                <a:latin typeface="Arial"/>
              </a:rPr>
              <a:t>4 × 2.5 km</a:t>
            </a:r>
          </a:p>
        </p:txBody>
      </p:sp>
      <p:sp>
        <p:nvSpPr>
          <p:cNvPr id="20" name="Rectangle 19"/>
          <p:cNvSpPr/>
          <p:nvPr/>
        </p:nvSpPr>
        <p:spPr>
          <a:xfrm>
            <a:off x="982980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0" y="2139696"/>
            <a:ext cx="1920240" cy="201168"/>
          </a:xfrm>
          <a:prstGeom prst="rect">
            <a:avLst/>
          </a:prstGeom>
          <a:noFill/>
        </p:spPr>
        <p:txBody>
          <a:bodyPr wrap="square">
            <a:spAutoFit/>
          </a:bodyPr>
          <a:lstStyle/>
          <a:p>
            <a:pPr algn="ctr"/>
            <a:r>
              <a:rPr sz="900" b="1" i="0">
                <a:solidFill>
                  <a:srgbClr val="002060"/>
                </a:solidFill>
                <a:latin typeface="Arial"/>
              </a:rPr>
              <a:t>Total Climb</a:t>
            </a:r>
          </a:p>
        </p:txBody>
      </p:sp>
      <p:sp>
        <p:nvSpPr>
          <p:cNvPr id="22" name="TextBox 21"/>
          <p:cNvSpPr txBox="1"/>
          <p:nvPr/>
        </p:nvSpPr>
        <p:spPr>
          <a:xfrm>
            <a:off x="9875520" y="2340864"/>
            <a:ext cx="1920240" cy="347472"/>
          </a:xfrm>
          <a:prstGeom prst="rect">
            <a:avLst/>
          </a:prstGeom>
          <a:noFill/>
        </p:spPr>
        <p:txBody>
          <a:bodyPr wrap="square">
            <a:spAutoFit/>
          </a:bodyPr>
          <a:lstStyle/>
          <a:p>
            <a:pPr algn="ctr"/>
            <a:r>
              <a:rPr sz="1400" b="1" i="0">
                <a:solidFill>
                  <a:srgbClr val="262626"/>
                </a:solidFill>
                <a:latin typeface="Arial"/>
              </a:rPr>
              <a:t>Not published</a:t>
            </a:r>
          </a:p>
        </p:txBody>
      </p:sp>
      <p:sp>
        <p:nvSpPr>
          <p:cNvPr id="23" name="Rectangle 22"/>
          <p:cNvSpPr/>
          <p:nvPr/>
        </p:nvSpPr>
        <p:spPr>
          <a:xfrm>
            <a:off x="562356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0" y="2852928"/>
            <a:ext cx="1920240" cy="201168"/>
          </a:xfrm>
          <a:prstGeom prst="rect">
            <a:avLst/>
          </a:prstGeom>
          <a:noFill/>
        </p:spPr>
        <p:txBody>
          <a:bodyPr wrap="square">
            <a:spAutoFit/>
          </a:bodyPr>
          <a:lstStyle/>
          <a:p>
            <a:pPr algn="ctr"/>
            <a:r>
              <a:rPr sz="900" b="1" i="0">
                <a:solidFill>
                  <a:srgbClr val="002060"/>
                </a:solidFill>
                <a:latin typeface="Arial"/>
              </a:rPr>
              <a:t>Avg Grade</a:t>
            </a:r>
          </a:p>
        </p:txBody>
      </p:sp>
      <p:sp>
        <p:nvSpPr>
          <p:cNvPr id="25" name="TextBox 24"/>
          <p:cNvSpPr txBox="1"/>
          <p:nvPr/>
        </p:nvSpPr>
        <p:spPr>
          <a:xfrm>
            <a:off x="5669280" y="3054096"/>
            <a:ext cx="1920240" cy="347472"/>
          </a:xfrm>
          <a:prstGeom prst="rect">
            <a:avLst/>
          </a:prstGeom>
          <a:noFill/>
        </p:spPr>
        <p:txBody>
          <a:bodyPr wrap="square">
            <a:spAutoFit/>
          </a:bodyPr>
          <a:lstStyle/>
          <a:p>
            <a:pPr algn="ctr"/>
            <a:r>
              <a:rPr sz="1400" b="1" i="0">
                <a:solidFill>
                  <a:srgbClr val="262626"/>
                </a:solidFill>
                <a:latin typeface="Arial"/>
              </a:rPr>
              <a:t>—</a:t>
            </a:r>
          </a:p>
        </p:txBody>
      </p:sp>
      <p:sp>
        <p:nvSpPr>
          <p:cNvPr id="26" name="Rectangle 25"/>
          <p:cNvSpPr/>
          <p:nvPr/>
        </p:nvSpPr>
        <p:spPr>
          <a:xfrm>
            <a:off x="772668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0" y="2852928"/>
            <a:ext cx="1920240" cy="201168"/>
          </a:xfrm>
          <a:prstGeom prst="rect">
            <a:avLst/>
          </a:prstGeom>
          <a:noFill/>
        </p:spPr>
        <p:txBody>
          <a:bodyPr wrap="square">
            <a:spAutoFit/>
          </a:bodyPr>
          <a:lstStyle/>
          <a:p>
            <a:pPr algn="ctr"/>
            <a:r>
              <a:rPr sz="900" b="1" i="0">
                <a:solidFill>
                  <a:srgbClr val="002060"/>
                </a:solidFill>
                <a:latin typeface="Arial"/>
              </a:rPr>
              <a:t>Max ▲ / ▼</a:t>
            </a:r>
          </a:p>
        </p:txBody>
      </p:sp>
      <p:sp>
        <p:nvSpPr>
          <p:cNvPr id="28" name="TextBox 27"/>
          <p:cNvSpPr txBox="1"/>
          <p:nvPr/>
        </p:nvSpPr>
        <p:spPr>
          <a:xfrm>
            <a:off x="7772400" y="3054096"/>
            <a:ext cx="1920240" cy="347472"/>
          </a:xfrm>
          <a:prstGeom prst="rect">
            <a:avLst/>
          </a:prstGeom>
          <a:noFill/>
        </p:spPr>
        <p:txBody>
          <a:bodyPr wrap="square">
            <a:spAutoFit/>
          </a:bodyPr>
          <a:lstStyle/>
          <a:p>
            <a:pPr algn="ctr"/>
            <a:r>
              <a:rPr sz="1400" b="1" i="0">
                <a:solidFill>
                  <a:srgbClr val="262626"/>
                </a:solidFill>
                <a:latin typeface="Arial"/>
              </a:rPr>
              <a:t>Not published</a:t>
            </a:r>
          </a:p>
        </p:txBody>
      </p:sp>
      <p:sp>
        <p:nvSpPr>
          <p:cNvPr id="29" name="Rectangle 28"/>
          <p:cNvSpPr/>
          <p:nvPr/>
        </p:nvSpPr>
        <p:spPr>
          <a:xfrm>
            <a:off x="982980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75520" y="2852928"/>
            <a:ext cx="1920240" cy="201168"/>
          </a:xfrm>
          <a:prstGeom prst="rect">
            <a:avLst/>
          </a:prstGeom>
          <a:noFill/>
        </p:spPr>
        <p:txBody>
          <a:bodyPr wrap="square">
            <a:spAutoFit/>
          </a:bodyPr>
          <a:lstStyle/>
          <a:p>
            <a:pPr algn="ctr"/>
            <a:r>
              <a:rPr sz="900" b="1" i="0">
                <a:solidFill>
                  <a:srgbClr val="002060"/>
                </a:solidFill>
                <a:latin typeface="Arial"/>
              </a:rPr>
              <a:t>Heat Risk</a:t>
            </a:r>
          </a:p>
        </p:txBody>
      </p:sp>
      <p:sp>
        <p:nvSpPr>
          <p:cNvPr id="31" name="TextBox 30"/>
          <p:cNvSpPr txBox="1"/>
          <p:nvPr/>
        </p:nvSpPr>
        <p:spPr>
          <a:xfrm>
            <a:off x="9875520" y="3054096"/>
            <a:ext cx="1920240" cy="347472"/>
          </a:xfrm>
          <a:prstGeom prst="rect">
            <a:avLst/>
          </a:prstGeom>
          <a:noFill/>
        </p:spPr>
        <p:txBody>
          <a:bodyPr wrap="square">
            <a:spAutoFit/>
          </a:bodyPr>
          <a:lstStyle/>
          <a:p>
            <a:pPr algn="ctr"/>
            <a:r>
              <a:rPr sz="1400" b="1" i="0">
                <a:solidFill>
                  <a:srgbClr val="262626"/>
                </a:solidFill>
                <a:latin typeface="Arial"/>
              </a:rPr>
              <a:t>LOW</a:t>
            </a:r>
          </a:p>
        </p:txBody>
      </p:sp>
      <p:sp>
        <p:nvSpPr>
          <p:cNvPr id="32" name="Rectangle 31"/>
          <p:cNvSpPr/>
          <p:nvPr/>
        </p:nvSpPr>
        <p:spPr>
          <a:xfrm>
            <a:off x="5577840" y="3611880"/>
            <a:ext cx="6309360" cy="2926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0" y="3639312"/>
            <a:ext cx="6126480" cy="237744"/>
          </a:xfrm>
          <a:prstGeom prst="rect">
            <a:avLst/>
          </a:prstGeom>
          <a:noFill/>
        </p:spPr>
        <p:txBody>
          <a:bodyPr wrap="square">
            <a:spAutoFit/>
          </a:bodyPr>
          <a:lstStyle/>
          <a:p>
            <a:pPr algn="l"/>
            <a:r>
              <a:rPr sz="1200" b="1" i="0">
                <a:solidFill>
                  <a:srgbClr val="FFFFFF"/>
                </a:solidFill>
                <a:latin typeface="Arial"/>
              </a:rPr>
              <a:t>Tactical Notes</a:t>
            </a:r>
          </a:p>
        </p:txBody>
      </p:sp>
      <p:sp>
        <p:nvSpPr>
          <p:cNvPr id="34" name="TextBox 33"/>
          <p:cNvSpPr txBox="1"/>
          <p:nvPr/>
        </p:nvSpPr>
        <p:spPr>
          <a:xfrm>
            <a:off x="5669280" y="3977639"/>
            <a:ext cx="6126480" cy="374904"/>
          </a:xfrm>
          <a:prstGeom prst="rect">
            <a:avLst/>
          </a:prstGeom>
          <a:noFill/>
        </p:spPr>
        <p:txBody>
          <a:bodyPr wrap="square">
            <a:spAutoFit/>
          </a:bodyPr>
          <a:lstStyle/>
          <a:p>
            <a:pPr algn="l"/>
            <a:r>
              <a:rPr sz="1200" b="0" i="0">
                <a:solidFill>
                  <a:srgbClr val="262626"/>
                </a:solidFill>
                <a:latin typeface="Arial"/>
              </a:rPr>
              <a:t>•  Standard run is 10 km, four laps of 2.5 km on a flat paved seafront</a:t>
            </a:r>
          </a:p>
        </p:txBody>
      </p:sp>
      <p:sp>
        <p:nvSpPr>
          <p:cNvPr id="35" name="TextBox 34"/>
          <p:cNvSpPr txBox="1"/>
          <p:nvPr/>
        </p:nvSpPr>
        <p:spPr>
          <a:xfrm>
            <a:off x="5669280" y="4370831"/>
            <a:ext cx="6126480" cy="374904"/>
          </a:xfrm>
          <a:prstGeom prst="rect">
            <a:avLst/>
          </a:prstGeom>
          <a:noFill/>
        </p:spPr>
        <p:txBody>
          <a:bodyPr wrap="square">
            <a:spAutoFit/>
          </a:bodyPr>
          <a:lstStyle/>
          <a:p>
            <a:pPr algn="l"/>
            <a:r>
              <a:rPr sz="1200" b="0" i="0">
                <a:solidFill>
                  <a:srgbClr val="262626"/>
                </a:solidFill>
                <a:latin typeface="Arial"/>
              </a:rPr>
              <a:t>•  Heads north on Avenida Grecia, west-side lane, to the turnaround at Antonio Toro Street</a:t>
            </a:r>
          </a:p>
        </p:txBody>
      </p:sp>
      <p:sp>
        <p:nvSpPr>
          <p:cNvPr id="36" name="TextBox 35"/>
          <p:cNvSpPr txBox="1"/>
          <p:nvPr/>
        </p:nvSpPr>
        <p:spPr>
          <a:xfrm>
            <a:off x="5669280" y="4764024"/>
            <a:ext cx="6126480" cy="374904"/>
          </a:xfrm>
          <a:prstGeom prst="rect">
            <a:avLst/>
          </a:prstGeom>
          <a:noFill/>
        </p:spPr>
        <p:txBody>
          <a:bodyPr wrap="square">
            <a:spAutoFit/>
          </a:bodyPr>
          <a:lstStyle/>
          <a:p>
            <a:pPr algn="l"/>
            <a:r>
              <a:rPr sz="1200" b="0" i="0">
                <a:solidFill>
                  <a:srgbClr val="262626"/>
                </a:solidFill>
                <a:latin typeface="Arial"/>
              </a:rPr>
              <a:t>•  Returns south on Avenida Grecia to the esplanade in front of the Balneario Municipal</a:t>
            </a:r>
          </a:p>
        </p:txBody>
      </p:sp>
      <p:sp>
        <p:nvSpPr>
          <p:cNvPr id="37" name="TextBox 36"/>
          <p:cNvSpPr txBox="1"/>
          <p:nvPr/>
        </p:nvSpPr>
        <p:spPr>
          <a:xfrm>
            <a:off x="5669280" y="5157216"/>
            <a:ext cx="6126480" cy="374904"/>
          </a:xfrm>
          <a:prstGeom prst="rect">
            <a:avLst/>
          </a:prstGeom>
          <a:noFill/>
        </p:spPr>
        <p:txBody>
          <a:bodyPr wrap="square">
            <a:spAutoFit/>
          </a:bodyPr>
          <a:lstStyle/>
          <a:p>
            <a:pPr algn="l"/>
            <a:r>
              <a:rPr sz="1200" b="0" i="0">
                <a:solidFill>
                  <a:srgbClr val="262626"/>
                </a:solidFill>
                <a:latin typeface="Arial"/>
              </a:rPr>
              <a:t>•  Flat and fast with eight passes through the turnaround zones over the four laps</a:t>
            </a:r>
          </a:p>
        </p:txBody>
      </p:sp>
      <p:sp>
        <p:nvSpPr>
          <p:cNvPr id="38" name="TextBox 37"/>
          <p:cNvSpPr txBox="1"/>
          <p:nvPr/>
        </p:nvSpPr>
        <p:spPr>
          <a:xfrm>
            <a:off x="5669280" y="5550408"/>
            <a:ext cx="6126480" cy="374904"/>
          </a:xfrm>
          <a:prstGeom prst="rect">
            <a:avLst/>
          </a:prstGeom>
          <a:noFill/>
        </p:spPr>
        <p:txBody>
          <a:bodyPr wrap="square">
            <a:spAutoFit/>
          </a:bodyPr>
          <a:lstStyle/>
          <a:p>
            <a:pPr algn="l"/>
            <a:r>
              <a:rPr sz="1200" b="0" i="0">
                <a:solidFill>
                  <a:srgbClr val="262626"/>
                </a:solidFill>
                <a:latin typeface="Arial"/>
              </a:rPr>
              <a:t>•  Cool Atacama winter air near 18 C keeps heat stress low even for the midday fields</a:t>
            </a:r>
          </a:p>
        </p:txBody>
      </p:sp>
      <p:sp>
        <p:nvSpPr>
          <p:cNvPr id="39" name="Rectangle 38"/>
          <p:cNvSpPr/>
          <p:nvPr/>
        </p:nvSpPr>
        <p:spPr>
          <a:xfrm>
            <a:off x="274320" y="6035040"/>
            <a:ext cx="11640312" cy="292608"/>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6080760"/>
            <a:ext cx="11430000" cy="228600"/>
          </a:xfrm>
          <a:prstGeom prst="rect">
            <a:avLst/>
          </a:prstGeom>
          <a:noFill/>
        </p:spPr>
        <p:txBody>
          <a:bodyPr wrap="square">
            <a:spAutoFit/>
          </a:bodyPr>
          <a:lstStyle/>
          <a:p>
            <a:pPr algn="l"/>
            <a:r>
              <a:rPr sz="950" b="0" i="1">
                <a:solidFill>
                  <a:srgbClr val="262626"/>
                </a:solidFill>
                <a:latin typeface="Arial"/>
              </a:rPr>
              <a:t>Not in race brief: Aid-station spacing and penalty-box location (confirmed in the athlete guide)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Travel &amp; Arrival Load</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Denver, CO → Antofagasta race week</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97280"/>
            <a:ext cx="11640312" cy="960120"/>
          </a:xfrm>
          <a:prstGeom prst="rect">
            <a:avLst/>
          </a:prstGeom>
          <a:solidFill>
            <a:srgbClr val="E9EFF9"/>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161288"/>
            <a:ext cx="11430000" cy="274320"/>
          </a:xfrm>
          <a:prstGeom prst="rect">
            <a:avLst/>
          </a:prstGeom>
          <a:noFill/>
        </p:spPr>
        <p:txBody>
          <a:bodyPr wrap="square">
            <a:spAutoFit/>
          </a:bodyPr>
          <a:lstStyle/>
          <a:p>
            <a:pPr algn="ctr"/>
            <a:r>
              <a:rPr sz="1200" b="1" i="0">
                <a:solidFill>
                  <a:srgbClr val="002060"/>
                </a:solidFill>
                <a:latin typeface="Arial"/>
              </a:rPr>
              <a:t>Core travel read</a:t>
            </a:r>
          </a:p>
        </p:txBody>
      </p:sp>
      <p:sp>
        <p:nvSpPr>
          <p:cNvPr id="10" name="TextBox 9"/>
          <p:cNvSpPr txBox="1"/>
          <p:nvPr/>
        </p:nvSpPr>
        <p:spPr>
          <a:xfrm>
            <a:off x="457200" y="1444752"/>
            <a:ext cx="11247120" cy="566928"/>
          </a:xfrm>
          <a:prstGeom prst="rect">
            <a:avLst/>
          </a:prstGeom>
          <a:noFill/>
        </p:spPr>
        <p:txBody>
          <a:bodyPr wrap="square">
            <a:spAutoFit/>
          </a:bodyPr>
          <a:lstStyle/>
          <a:p>
            <a:pPr algn="ctr"/>
            <a:r>
              <a:rPr sz="1050" b="0" i="0">
                <a:solidFill>
                  <a:srgbClr val="262626"/>
                </a:solidFill>
                <a:latin typeface="Arial"/>
              </a:rPr>
              <a:t>Denver to Antofagasta is a long-haul with no nonstop option. The cleanest athlete route runs through a US gateway to Santiago (SCL), then a domestic Chilean flight to Andrés Sabella Gálvez Airport (ANF), about 2 hours. Total door-to-door is typically a full day with an overnight long-haul leg. The time-zone shift is small (Antofagasta is 2 hours ahead of Denver), so jet lag is mild, but arrive several days early to absorb the travel and use the Friday familiarisation windows.</a:t>
            </a:r>
          </a:p>
        </p:txBody>
      </p:sp>
      <p:sp>
        <p:nvSpPr>
          <p:cNvPr id="11" name="Rectangle 10"/>
          <p:cNvSpPr/>
          <p:nvPr/>
        </p:nvSpPr>
        <p:spPr>
          <a:xfrm>
            <a:off x="274320" y="2240280"/>
            <a:ext cx="2218334" cy="86868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2286000"/>
            <a:ext cx="2072030" cy="201168"/>
          </a:xfrm>
          <a:prstGeom prst="rect">
            <a:avLst/>
          </a:prstGeom>
          <a:noFill/>
        </p:spPr>
        <p:txBody>
          <a:bodyPr wrap="square">
            <a:spAutoFit/>
          </a:bodyPr>
          <a:lstStyle/>
          <a:p>
            <a:pPr algn="ctr"/>
            <a:r>
              <a:rPr sz="1000" b="1" i="0">
                <a:solidFill>
                  <a:srgbClr val="002060"/>
                </a:solidFill>
                <a:latin typeface="Arial"/>
              </a:rPr>
              <a:t>Primary route</a:t>
            </a:r>
          </a:p>
        </p:txBody>
      </p:sp>
      <p:sp>
        <p:nvSpPr>
          <p:cNvPr id="13" name="TextBox 12"/>
          <p:cNvSpPr txBox="1"/>
          <p:nvPr/>
        </p:nvSpPr>
        <p:spPr>
          <a:xfrm>
            <a:off x="347472" y="2496312"/>
            <a:ext cx="2072030" cy="292608"/>
          </a:xfrm>
          <a:prstGeom prst="rect">
            <a:avLst/>
          </a:prstGeom>
          <a:noFill/>
        </p:spPr>
        <p:txBody>
          <a:bodyPr wrap="square">
            <a:spAutoFit/>
          </a:bodyPr>
          <a:lstStyle/>
          <a:p>
            <a:pPr algn="ctr"/>
            <a:r>
              <a:rPr sz="1400" b="1" i="0">
                <a:solidFill>
                  <a:srgbClr val="262626"/>
                </a:solidFill>
                <a:latin typeface="Arial"/>
              </a:rPr>
              <a:t>DEN → SCL → ANF</a:t>
            </a:r>
          </a:p>
        </p:txBody>
      </p:sp>
      <p:sp>
        <p:nvSpPr>
          <p:cNvPr id="14" name="TextBox 13"/>
          <p:cNvSpPr txBox="1"/>
          <p:nvPr/>
        </p:nvSpPr>
        <p:spPr>
          <a:xfrm>
            <a:off x="347472" y="2807208"/>
            <a:ext cx="2072030" cy="256032"/>
          </a:xfrm>
          <a:prstGeom prst="rect">
            <a:avLst/>
          </a:prstGeom>
          <a:noFill/>
        </p:spPr>
        <p:txBody>
          <a:bodyPr wrap="square">
            <a:spAutoFit/>
          </a:bodyPr>
          <a:lstStyle/>
          <a:p>
            <a:pPr algn="ctr"/>
            <a:r>
              <a:rPr sz="900" b="0" i="1">
                <a:solidFill>
                  <a:srgbClr val="BFBFBF"/>
                </a:solidFill>
                <a:latin typeface="Arial"/>
              </a:rPr>
              <a:t>2 stops likely</a:t>
            </a:r>
          </a:p>
        </p:txBody>
      </p:sp>
      <p:sp>
        <p:nvSpPr>
          <p:cNvPr id="15" name="Rectangle 14"/>
          <p:cNvSpPr/>
          <p:nvPr/>
        </p:nvSpPr>
        <p:spPr>
          <a:xfrm>
            <a:off x="2629814" y="2240280"/>
            <a:ext cx="2218334" cy="86868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02966" y="2286000"/>
            <a:ext cx="2072030" cy="201168"/>
          </a:xfrm>
          <a:prstGeom prst="rect">
            <a:avLst/>
          </a:prstGeom>
          <a:noFill/>
        </p:spPr>
        <p:txBody>
          <a:bodyPr wrap="square">
            <a:spAutoFit/>
          </a:bodyPr>
          <a:lstStyle/>
          <a:p>
            <a:pPr algn="ctr"/>
            <a:r>
              <a:rPr sz="1000" b="1" i="0">
                <a:solidFill>
                  <a:srgbClr val="002060"/>
                </a:solidFill>
                <a:latin typeface="Arial"/>
              </a:rPr>
              <a:t>Flight time</a:t>
            </a:r>
          </a:p>
        </p:txBody>
      </p:sp>
      <p:sp>
        <p:nvSpPr>
          <p:cNvPr id="17" name="TextBox 16"/>
          <p:cNvSpPr txBox="1"/>
          <p:nvPr/>
        </p:nvSpPr>
        <p:spPr>
          <a:xfrm>
            <a:off x="2702966" y="2496312"/>
            <a:ext cx="2072030" cy="292608"/>
          </a:xfrm>
          <a:prstGeom prst="rect">
            <a:avLst/>
          </a:prstGeom>
          <a:noFill/>
        </p:spPr>
        <p:txBody>
          <a:bodyPr wrap="square">
            <a:spAutoFit/>
          </a:bodyPr>
          <a:lstStyle/>
          <a:p>
            <a:pPr algn="ctr"/>
            <a:r>
              <a:rPr sz="1400" b="1" i="0">
                <a:solidFill>
                  <a:srgbClr val="262626"/>
                </a:solidFill>
                <a:latin typeface="Arial"/>
              </a:rPr>
              <a:t>~16 to 20h</a:t>
            </a:r>
          </a:p>
        </p:txBody>
      </p:sp>
      <p:sp>
        <p:nvSpPr>
          <p:cNvPr id="18" name="TextBox 17"/>
          <p:cNvSpPr txBox="1"/>
          <p:nvPr/>
        </p:nvSpPr>
        <p:spPr>
          <a:xfrm>
            <a:off x="2702966" y="2807208"/>
            <a:ext cx="2072030" cy="256032"/>
          </a:xfrm>
          <a:prstGeom prst="rect">
            <a:avLst/>
          </a:prstGeom>
          <a:noFill/>
        </p:spPr>
        <p:txBody>
          <a:bodyPr wrap="square">
            <a:spAutoFit/>
          </a:bodyPr>
          <a:lstStyle/>
          <a:p>
            <a:pPr algn="ctr"/>
            <a:r>
              <a:rPr sz="900" b="0" i="1">
                <a:solidFill>
                  <a:srgbClr val="BFBFBF"/>
                </a:solidFill>
                <a:latin typeface="Arial"/>
              </a:rPr>
              <a:t>Plus layovers</a:t>
            </a:r>
          </a:p>
        </p:txBody>
      </p:sp>
      <p:sp>
        <p:nvSpPr>
          <p:cNvPr id="19" name="Rectangle 18"/>
          <p:cNvSpPr/>
          <p:nvPr/>
        </p:nvSpPr>
        <p:spPr>
          <a:xfrm>
            <a:off x="4985308" y="2240280"/>
            <a:ext cx="2218334" cy="86868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58460" y="2286000"/>
            <a:ext cx="2072030" cy="201168"/>
          </a:xfrm>
          <a:prstGeom prst="rect">
            <a:avLst/>
          </a:prstGeom>
          <a:noFill/>
        </p:spPr>
        <p:txBody>
          <a:bodyPr wrap="square">
            <a:spAutoFit/>
          </a:bodyPr>
          <a:lstStyle/>
          <a:p>
            <a:pPr algn="ctr"/>
            <a:r>
              <a:rPr sz="1000" b="1" i="0">
                <a:solidFill>
                  <a:srgbClr val="002060"/>
                </a:solidFill>
                <a:latin typeface="Arial"/>
              </a:rPr>
              <a:t>Time zones</a:t>
            </a:r>
          </a:p>
        </p:txBody>
      </p:sp>
      <p:sp>
        <p:nvSpPr>
          <p:cNvPr id="21" name="TextBox 20"/>
          <p:cNvSpPr txBox="1"/>
          <p:nvPr/>
        </p:nvSpPr>
        <p:spPr>
          <a:xfrm>
            <a:off x="5058460" y="2496312"/>
            <a:ext cx="2072030" cy="292608"/>
          </a:xfrm>
          <a:prstGeom prst="rect">
            <a:avLst/>
          </a:prstGeom>
          <a:noFill/>
        </p:spPr>
        <p:txBody>
          <a:bodyPr wrap="square">
            <a:spAutoFit/>
          </a:bodyPr>
          <a:lstStyle/>
          <a:p>
            <a:pPr algn="ctr"/>
            <a:r>
              <a:rPr sz="1400" b="1" i="0">
                <a:solidFill>
                  <a:srgbClr val="262626"/>
                </a:solidFill>
                <a:latin typeface="Arial"/>
              </a:rPr>
              <a:t>+2h</a:t>
            </a:r>
          </a:p>
        </p:txBody>
      </p:sp>
      <p:sp>
        <p:nvSpPr>
          <p:cNvPr id="22" name="TextBox 21"/>
          <p:cNvSpPr txBox="1"/>
          <p:nvPr/>
        </p:nvSpPr>
        <p:spPr>
          <a:xfrm>
            <a:off x="5058460" y="2807208"/>
            <a:ext cx="2072030" cy="256032"/>
          </a:xfrm>
          <a:prstGeom prst="rect">
            <a:avLst/>
          </a:prstGeom>
          <a:noFill/>
        </p:spPr>
        <p:txBody>
          <a:bodyPr wrap="square">
            <a:spAutoFit/>
          </a:bodyPr>
          <a:lstStyle/>
          <a:p>
            <a:pPr algn="ctr"/>
            <a:r>
              <a:rPr sz="900" b="0" i="1">
                <a:solidFill>
                  <a:srgbClr val="BFBFBF"/>
                </a:solidFill>
                <a:latin typeface="Arial"/>
              </a:rPr>
              <a:t>Antofagasta ahead of Denver</a:t>
            </a:r>
          </a:p>
        </p:txBody>
      </p:sp>
      <p:sp>
        <p:nvSpPr>
          <p:cNvPr id="23" name="Rectangle 22"/>
          <p:cNvSpPr/>
          <p:nvPr/>
        </p:nvSpPr>
        <p:spPr>
          <a:xfrm>
            <a:off x="7340803" y="2240280"/>
            <a:ext cx="2218334" cy="86868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13955" y="2286000"/>
            <a:ext cx="2072030" cy="201168"/>
          </a:xfrm>
          <a:prstGeom prst="rect">
            <a:avLst/>
          </a:prstGeom>
          <a:noFill/>
        </p:spPr>
        <p:txBody>
          <a:bodyPr wrap="square">
            <a:spAutoFit/>
          </a:bodyPr>
          <a:lstStyle/>
          <a:p>
            <a:pPr algn="ctr"/>
            <a:r>
              <a:rPr sz="1000" b="1" i="0">
                <a:solidFill>
                  <a:srgbClr val="002060"/>
                </a:solidFill>
                <a:latin typeface="Arial"/>
              </a:rPr>
              <a:t>Arrival airport</a:t>
            </a:r>
          </a:p>
        </p:txBody>
      </p:sp>
      <p:sp>
        <p:nvSpPr>
          <p:cNvPr id="25" name="TextBox 24"/>
          <p:cNvSpPr txBox="1"/>
          <p:nvPr/>
        </p:nvSpPr>
        <p:spPr>
          <a:xfrm>
            <a:off x="7413955" y="2496312"/>
            <a:ext cx="2072030" cy="292608"/>
          </a:xfrm>
          <a:prstGeom prst="rect">
            <a:avLst/>
          </a:prstGeom>
          <a:noFill/>
        </p:spPr>
        <p:txBody>
          <a:bodyPr wrap="square">
            <a:spAutoFit/>
          </a:bodyPr>
          <a:lstStyle/>
          <a:p>
            <a:pPr algn="ctr"/>
            <a:r>
              <a:rPr sz="1400" b="1" i="0">
                <a:solidFill>
                  <a:srgbClr val="262626"/>
                </a:solidFill>
                <a:latin typeface="Arial"/>
              </a:rPr>
              <a:t>ANF (A. Sabella)</a:t>
            </a:r>
          </a:p>
        </p:txBody>
      </p:sp>
      <p:sp>
        <p:nvSpPr>
          <p:cNvPr id="26" name="TextBox 25"/>
          <p:cNvSpPr txBox="1"/>
          <p:nvPr/>
        </p:nvSpPr>
        <p:spPr>
          <a:xfrm>
            <a:off x="7413955" y="2807208"/>
            <a:ext cx="2072030" cy="256032"/>
          </a:xfrm>
          <a:prstGeom prst="rect">
            <a:avLst/>
          </a:prstGeom>
          <a:noFill/>
        </p:spPr>
        <p:txBody>
          <a:bodyPr wrap="square">
            <a:spAutoFit/>
          </a:bodyPr>
          <a:lstStyle/>
          <a:p>
            <a:pPr algn="ctr"/>
            <a:r>
              <a:rPr sz="900" b="0" i="1">
                <a:solidFill>
                  <a:srgbClr val="BFBFBF"/>
                </a:solidFill>
                <a:latin typeface="Arial"/>
              </a:rPr>
              <a:t>~25 km north of city</a:t>
            </a:r>
          </a:p>
        </p:txBody>
      </p:sp>
      <p:sp>
        <p:nvSpPr>
          <p:cNvPr id="27" name="Rectangle 26"/>
          <p:cNvSpPr/>
          <p:nvPr/>
        </p:nvSpPr>
        <p:spPr>
          <a:xfrm>
            <a:off x="9696297" y="2240280"/>
            <a:ext cx="2218334" cy="86868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69449" y="2286000"/>
            <a:ext cx="2072030" cy="201168"/>
          </a:xfrm>
          <a:prstGeom prst="rect">
            <a:avLst/>
          </a:prstGeom>
          <a:noFill/>
        </p:spPr>
        <p:txBody>
          <a:bodyPr wrap="square">
            <a:spAutoFit/>
          </a:bodyPr>
          <a:lstStyle/>
          <a:p>
            <a:pPr algn="ctr"/>
            <a:r>
              <a:rPr sz="1000" b="1" i="0">
                <a:solidFill>
                  <a:srgbClr val="002060"/>
                </a:solidFill>
                <a:latin typeface="Arial"/>
              </a:rPr>
              <a:t>Transfer Distance</a:t>
            </a:r>
          </a:p>
        </p:txBody>
      </p:sp>
      <p:sp>
        <p:nvSpPr>
          <p:cNvPr id="29" name="TextBox 28"/>
          <p:cNvSpPr txBox="1"/>
          <p:nvPr/>
        </p:nvSpPr>
        <p:spPr>
          <a:xfrm>
            <a:off x="9769449" y="2496312"/>
            <a:ext cx="2072030" cy="292608"/>
          </a:xfrm>
          <a:prstGeom prst="rect">
            <a:avLst/>
          </a:prstGeom>
          <a:noFill/>
        </p:spPr>
        <p:txBody>
          <a:bodyPr wrap="square">
            <a:spAutoFit/>
          </a:bodyPr>
          <a:lstStyle/>
          <a:p>
            <a:pPr algn="ctr"/>
            <a:r>
              <a:rPr sz="1400" b="1" i="0">
                <a:solidFill>
                  <a:srgbClr val="262626"/>
                </a:solidFill>
                <a:latin typeface="Arial"/>
              </a:rPr>
              <a:t>ANF → venue</a:t>
            </a:r>
          </a:p>
        </p:txBody>
      </p:sp>
      <p:sp>
        <p:nvSpPr>
          <p:cNvPr id="30" name="TextBox 29"/>
          <p:cNvSpPr txBox="1"/>
          <p:nvPr/>
        </p:nvSpPr>
        <p:spPr>
          <a:xfrm>
            <a:off x="9769449" y="2807208"/>
            <a:ext cx="2072030" cy="256032"/>
          </a:xfrm>
          <a:prstGeom prst="rect">
            <a:avLst/>
          </a:prstGeom>
          <a:noFill/>
        </p:spPr>
        <p:txBody>
          <a:bodyPr wrap="square">
            <a:spAutoFit/>
          </a:bodyPr>
          <a:lstStyle/>
          <a:p>
            <a:pPr algn="ctr"/>
            <a:r>
              <a:rPr sz="900" b="0" i="1">
                <a:solidFill>
                  <a:srgbClr val="BFBFBF"/>
                </a:solidFill>
                <a:latin typeface="Arial"/>
              </a:rPr>
              <a:t>~30 min by car</a:t>
            </a:r>
          </a:p>
        </p:txBody>
      </p:sp>
      <p:sp>
        <p:nvSpPr>
          <p:cNvPr id="31" name="Rectangle 30"/>
          <p:cNvSpPr/>
          <p:nvPr/>
        </p:nvSpPr>
        <p:spPr>
          <a:xfrm>
            <a:off x="274320" y="3291840"/>
            <a:ext cx="5669280" cy="237744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80" y="3401568"/>
            <a:ext cx="5394960" cy="292608"/>
          </a:xfrm>
          <a:prstGeom prst="rect">
            <a:avLst/>
          </a:prstGeom>
          <a:noFill/>
        </p:spPr>
        <p:txBody>
          <a:bodyPr wrap="square">
            <a:spAutoFit/>
          </a:bodyPr>
          <a:lstStyle/>
          <a:p>
            <a:pPr algn="ctr"/>
            <a:r>
              <a:rPr sz="1300" b="1" i="0">
                <a:solidFill>
                  <a:srgbClr val="002060"/>
                </a:solidFill>
                <a:latin typeface="Arial"/>
              </a:rPr>
              <a:t>Host Hotel / Official Accommodation Read</a:t>
            </a:r>
          </a:p>
        </p:txBody>
      </p:sp>
      <p:sp>
        <p:nvSpPr>
          <p:cNvPr id="33" name="TextBox 32"/>
          <p:cNvSpPr txBox="1"/>
          <p:nvPr/>
        </p:nvSpPr>
        <p:spPr>
          <a:xfrm>
            <a:off x="438912" y="3749040"/>
            <a:ext cx="5340096" cy="329184"/>
          </a:xfrm>
          <a:prstGeom prst="rect">
            <a:avLst/>
          </a:prstGeom>
          <a:noFill/>
        </p:spPr>
        <p:txBody>
          <a:bodyPr wrap="square">
            <a:spAutoFit/>
          </a:bodyPr>
          <a:lstStyle/>
          <a:p>
            <a:pPr algn="l"/>
            <a:r>
              <a:rPr sz="1000" b="0" i="0">
                <a:solidFill>
                  <a:srgbClr val="262626"/>
                </a:solidFill>
                <a:latin typeface="Arial"/>
              </a:rPr>
              <a:t>•  Official hotel: Enjoy Antofagasta, Av. Angamos 1455 (+56 55 265 3000), the venue for all briefings.</a:t>
            </a:r>
          </a:p>
        </p:txBody>
      </p:sp>
      <p:sp>
        <p:nvSpPr>
          <p:cNvPr id="34" name="TextBox 33"/>
          <p:cNvSpPr txBox="1"/>
          <p:nvPr/>
        </p:nvSpPr>
        <p:spPr>
          <a:xfrm>
            <a:off x="438912" y="4059936"/>
            <a:ext cx="5340096" cy="329184"/>
          </a:xfrm>
          <a:prstGeom prst="rect">
            <a:avLst/>
          </a:prstGeom>
          <a:noFill/>
        </p:spPr>
        <p:txBody>
          <a:bodyPr wrap="square">
            <a:spAutoFit/>
          </a:bodyPr>
          <a:lstStyle/>
          <a:p>
            <a:pPr algn="l"/>
            <a:r>
              <a:rPr sz="1000" b="0" i="0">
                <a:solidFill>
                  <a:srgbClr val="262626"/>
                </a:solidFill>
                <a:latin typeface="Arial"/>
              </a:rPr>
              <a:t>•  Recommended overflow: Holiday Inn Express Antofagasta (Av. Grecia esq. Antonio Poupin 1490).</a:t>
            </a:r>
          </a:p>
        </p:txBody>
      </p:sp>
      <p:sp>
        <p:nvSpPr>
          <p:cNvPr id="35" name="TextBox 34"/>
          <p:cNvSpPr txBox="1"/>
          <p:nvPr/>
        </p:nvSpPr>
        <p:spPr>
          <a:xfrm>
            <a:off x="438912" y="4370832"/>
            <a:ext cx="5340096" cy="329184"/>
          </a:xfrm>
          <a:prstGeom prst="rect">
            <a:avLst/>
          </a:prstGeom>
          <a:noFill/>
        </p:spPr>
        <p:txBody>
          <a:bodyPr wrap="square">
            <a:spAutoFit/>
          </a:bodyPr>
          <a:lstStyle/>
          <a:p>
            <a:pPr algn="l"/>
            <a:r>
              <a:rPr sz="1000" b="0" i="0">
                <a:solidFill>
                  <a:srgbClr val="262626"/>
                </a:solidFill>
                <a:latin typeface="Arial"/>
              </a:rPr>
              <a:t>•  Also recommended: Hotel Florencia Suites &amp; Apartments, and NH Antofagasta.</a:t>
            </a:r>
          </a:p>
        </p:txBody>
      </p:sp>
      <p:sp>
        <p:nvSpPr>
          <p:cNvPr id="36" name="TextBox 35"/>
          <p:cNvSpPr txBox="1"/>
          <p:nvPr/>
        </p:nvSpPr>
        <p:spPr>
          <a:xfrm>
            <a:off x="438912" y="4681728"/>
            <a:ext cx="5340096" cy="329184"/>
          </a:xfrm>
          <a:prstGeom prst="rect">
            <a:avLst/>
          </a:prstGeom>
          <a:noFill/>
        </p:spPr>
        <p:txBody>
          <a:bodyPr wrap="square">
            <a:spAutoFit/>
          </a:bodyPr>
          <a:lstStyle/>
          <a:p>
            <a:pPr algn="l"/>
            <a:r>
              <a:rPr sz="1000" b="0" i="0">
                <a:solidFill>
                  <a:srgbClr val="262626"/>
                </a:solidFill>
                <a:latin typeface="Arial"/>
              </a:rPr>
              <a:t>•  All recommended hotels sit close to the Balneario Municipal race venue with easy access to the course.</a:t>
            </a:r>
          </a:p>
        </p:txBody>
      </p:sp>
      <p:sp>
        <p:nvSpPr>
          <p:cNvPr id="37" name="Rectangle 36"/>
          <p:cNvSpPr/>
          <p:nvPr/>
        </p:nvSpPr>
        <p:spPr>
          <a:xfrm>
            <a:off x="6217920" y="3291840"/>
            <a:ext cx="5669280" cy="237744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55080" y="3401568"/>
            <a:ext cx="5394960" cy="292608"/>
          </a:xfrm>
          <a:prstGeom prst="rect">
            <a:avLst/>
          </a:prstGeom>
          <a:noFill/>
        </p:spPr>
        <p:txBody>
          <a:bodyPr wrap="square">
            <a:spAutoFit/>
          </a:bodyPr>
          <a:lstStyle/>
          <a:p>
            <a:pPr algn="ctr"/>
            <a:r>
              <a:rPr sz="1300" b="1" i="0">
                <a:solidFill>
                  <a:srgbClr val="002060"/>
                </a:solidFill>
                <a:latin typeface="Arial"/>
              </a:rPr>
              <a:t>Food / Grocery Options Near Hotel + Venue</a:t>
            </a:r>
          </a:p>
        </p:txBody>
      </p:sp>
      <p:sp>
        <p:nvSpPr>
          <p:cNvPr id="39" name="TextBox 38"/>
          <p:cNvSpPr txBox="1"/>
          <p:nvPr/>
        </p:nvSpPr>
        <p:spPr>
          <a:xfrm>
            <a:off x="6382512" y="3749040"/>
            <a:ext cx="5340096" cy="329184"/>
          </a:xfrm>
          <a:prstGeom prst="rect">
            <a:avLst/>
          </a:prstGeom>
          <a:noFill/>
        </p:spPr>
        <p:txBody>
          <a:bodyPr wrap="square">
            <a:spAutoFit/>
          </a:bodyPr>
          <a:lstStyle/>
          <a:p>
            <a:pPr algn="l"/>
            <a:r>
              <a:rPr sz="1000" b="0" i="0">
                <a:solidFill>
                  <a:srgbClr val="262626"/>
                </a:solidFill>
                <a:latin typeface="Arial"/>
              </a:rPr>
              <a:t>•  Best stock-up: large supermarkets (Jumbo, Líder, Unimarc) and the Mall Plaza Antofagasta near the coast road.</a:t>
            </a:r>
          </a:p>
        </p:txBody>
      </p:sp>
      <p:sp>
        <p:nvSpPr>
          <p:cNvPr id="40" name="TextBox 39"/>
          <p:cNvSpPr txBox="1"/>
          <p:nvPr/>
        </p:nvSpPr>
        <p:spPr>
          <a:xfrm>
            <a:off x="6382512" y="4059936"/>
            <a:ext cx="5340096" cy="329184"/>
          </a:xfrm>
          <a:prstGeom prst="rect">
            <a:avLst/>
          </a:prstGeom>
          <a:noFill/>
        </p:spPr>
        <p:txBody>
          <a:bodyPr wrap="square">
            <a:spAutoFit/>
          </a:bodyPr>
          <a:lstStyle/>
          <a:p>
            <a:pPr algn="l"/>
            <a:r>
              <a:rPr sz="1000" b="0" i="0">
                <a:solidFill>
                  <a:srgbClr val="262626"/>
                </a:solidFill>
                <a:latin typeface="Arial"/>
              </a:rPr>
              <a:t>•  Quick basics: pharmacies (Cruz Verde, Salcobrand) for electrolytes and sports nutrition; convenience stores along Av. Grecia.</a:t>
            </a:r>
          </a:p>
        </p:txBody>
      </p:sp>
      <p:sp>
        <p:nvSpPr>
          <p:cNvPr id="41" name="TextBox 40"/>
          <p:cNvSpPr txBox="1"/>
          <p:nvPr/>
        </p:nvSpPr>
        <p:spPr>
          <a:xfrm>
            <a:off x="6382512" y="4370832"/>
            <a:ext cx="5340096" cy="329184"/>
          </a:xfrm>
          <a:prstGeom prst="rect">
            <a:avLst/>
          </a:prstGeom>
          <a:noFill/>
        </p:spPr>
        <p:txBody>
          <a:bodyPr wrap="square">
            <a:spAutoFit/>
          </a:bodyPr>
          <a:lstStyle/>
          <a:p>
            <a:pPr algn="l"/>
            <a:r>
              <a:rPr sz="1000" b="0" i="0">
                <a:solidFill>
                  <a:srgbClr val="262626"/>
                </a:solidFill>
                <a:latin typeface="Arial"/>
              </a:rPr>
              <a:t>•  Restaurant read: seafront restaurants line the Balneario; plan simple athlete meals and be cautious with raw shellfish.</a:t>
            </a:r>
          </a:p>
        </p:txBody>
      </p:sp>
      <p:sp>
        <p:nvSpPr>
          <p:cNvPr id="42" name="TextBox 41"/>
          <p:cNvSpPr txBox="1"/>
          <p:nvPr/>
        </p:nvSpPr>
        <p:spPr>
          <a:xfrm>
            <a:off x="6382512" y="4681728"/>
            <a:ext cx="5340096" cy="329184"/>
          </a:xfrm>
          <a:prstGeom prst="rect">
            <a:avLst/>
          </a:prstGeom>
          <a:noFill/>
        </p:spPr>
        <p:txBody>
          <a:bodyPr wrap="square">
            <a:spAutoFit/>
          </a:bodyPr>
          <a:lstStyle/>
          <a:p>
            <a:pPr algn="l"/>
            <a:r>
              <a:rPr sz="1000" b="0" i="0">
                <a:solidFill>
                  <a:srgbClr val="262626"/>
                </a:solidFill>
                <a:latin typeface="Arial"/>
              </a:rPr>
              <a:t>•  Venue note: the race precinct is compact and walkable from the beachfront hotels, so bring race-morning food from the hotel.</a:t>
            </a:r>
          </a:p>
        </p:txBody>
      </p:sp>
      <p:sp>
        <p:nvSpPr>
          <p:cNvPr id="43" name="TextBox 42"/>
          <p:cNvSpPr txBox="1"/>
          <p:nvPr/>
        </p:nvSpPr>
        <p:spPr>
          <a:xfrm>
            <a:off x="6382512" y="4992624"/>
            <a:ext cx="5340096" cy="329184"/>
          </a:xfrm>
          <a:prstGeom prst="rect">
            <a:avLst/>
          </a:prstGeom>
          <a:noFill/>
        </p:spPr>
        <p:txBody>
          <a:bodyPr wrap="square">
            <a:spAutoFit/>
          </a:bodyPr>
          <a:lstStyle/>
          <a:p>
            <a:pPr algn="l"/>
            <a:r>
              <a:rPr sz="1000" b="0" i="0">
                <a:solidFill>
                  <a:srgbClr val="262626"/>
                </a:solidFill>
                <a:latin typeface="Arial"/>
              </a:rPr>
              <a:t>•  Climate note: dry Atacama winter air is comfortable but dehydrating; keep fluids and lip/skin protection topped up.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Environmental Risk Profile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Antofagasta</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274320" y="1481328"/>
          <a:ext cx="4709158" cy="402336"/>
        </p:xfrm>
        <a:graphic>
          <a:graphicData uri="http://schemas.openxmlformats.org/drawingml/2006/table">
            <a:tbl>
              <a:tblPr firstRow="1" bandRow="1">
                <a:tableStyleId>{5C22544A-7EE6-4342-B048-85BDC9FD1C3A}</a:tableStyleId>
              </a:tblPr>
              <a:tblGrid>
                <a:gridCol w="612190"/>
                <a:gridCol w="800557"/>
                <a:gridCol w="894740"/>
                <a:gridCol w="800557"/>
                <a:gridCol w="800557"/>
                <a:gridCol w="800557"/>
              </a:tblGrid>
              <a:tr h="402336">
                <a:tc>
                  <a:txBody>
                    <a:bodyPr wrap="none"/>
                    <a:lstStyle/>
                    <a:p>
                      <a:pPr algn="ctr"/>
                      <a:r>
                        <a:rPr sz="1000" b="1" i="0">
                          <a:solidFill>
                            <a:srgbClr val="FFFFFF"/>
                          </a:solidFill>
                          <a:latin typeface="Arial"/>
                        </a:rPr>
                        <a:t>Year</a:t>
                      </a:r>
                    </a:p>
                  </a:txBody>
                  <a:tcPr>
                    <a:solidFill>
                      <a:srgbClr val="002060"/>
                    </a:solidFill>
                  </a:tcPr>
                </a:tc>
                <a:tc>
                  <a:txBody>
                    <a:bodyPr wrap="none"/>
                    <a:lstStyle/>
                    <a:p>
                      <a:pPr algn="ctr"/>
                      <a:r>
                        <a:rPr sz="1000" b="1" i="0">
                          <a:solidFill>
                            <a:srgbClr val="FFFFFF"/>
                          </a:solidFill>
                          <a:latin typeface="Arial"/>
                        </a:rPr>
                        <a:t>Date</a:t>
                      </a:r>
                    </a:p>
                  </a:txBody>
                  <a:tcPr>
                    <a:solidFill>
                      <a:srgbClr val="002060"/>
                    </a:solidFill>
                  </a:tcPr>
                </a:tc>
                <a:tc>
                  <a:txBody>
                    <a:bodyPr wrap="none"/>
                    <a:lstStyle/>
                    <a:p>
                      <a:pPr algn="ctr"/>
                      <a:r>
                        <a:rPr sz="1000" b="1" i="0">
                          <a:solidFill>
                            <a:srgbClr val="FFFFFF"/>
                          </a:solidFill>
                          <a:latin typeface="Arial"/>
                        </a:rPr>
                        <a:t>Air Temp</a:t>
                      </a:r>
                    </a:p>
                  </a:txBody>
                  <a:tcPr>
                    <a:solidFill>
                      <a:srgbClr val="002060"/>
                    </a:solidFill>
                  </a:tcPr>
                </a:tc>
                <a:tc>
                  <a:txBody>
                    <a:bodyPr wrap="none"/>
                    <a:lstStyle/>
                    <a:p>
                      <a:pPr algn="ctr"/>
                      <a:r>
                        <a:rPr sz="1000" b="1" i="0">
                          <a:solidFill>
                            <a:srgbClr val="FFFFFF"/>
                          </a:solidFill>
                          <a:latin typeface="Arial"/>
                        </a:rPr>
                        <a:t>Humidity</a:t>
                      </a:r>
                    </a:p>
                  </a:txBody>
                  <a:tcPr>
                    <a:solidFill>
                      <a:srgbClr val="002060"/>
                    </a:solidFill>
                  </a:tcPr>
                </a:tc>
                <a:tc>
                  <a:txBody>
                    <a:bodyPr wrap="none"/>
                    <a:lstStyle/>
                    <a:p>
                      <a:pPr algn="ctr"/>
                      <a:r>
                        <a:rPr sz="1000" b="1" i="0">
                          <a:solidFill>
                            <a:srgbClr val="FFFFFF"/>
                          </a:solidFill>
                          <a:latin typeface="Arial"/>
                        </a:rPr>
                        <a:t>Wind km/h</a:t>
                      </a:r>
                    </a:p>
                  </a:txBody>
                  <a:tcPr>
                    <a:solidFill>
                      <a:srgbClr val="002060"/>
                    </a:solidFill>
                  </a:tcPr>
                </a:tc>
                <a:tc>
                  <a:txBody>
                    <a:bodyPr wrap="none"/>
                    <a:lstStyle/>
                    <a:p>
                      <a:pPr algn="ctr"/>
                      <a:r>
                        <a:rPr sz="1000" b="1" i="0">
                          <a:solidFill>
                            <a:srgbClr val="FFFFFF"/>
                          </a:solidFill>
                          <a:latin typeface="Arial"/>
                        </a:rPr>
                        <a:t>Precip mm</a:t>
                      </a:r>
                    </a:p>
                  </a:txBody>
                  <a:tcPr>
                    <a:solidFill>
                      <a:srgbClr val="002060"/>
                    </a:solidFill>
                  </a:tcPr>
                </a:tc>
              </a:tr>
            </a:tbl>
          </a:graphicData>
        </a:graphic>
      </p:graphicFrame>
      <p:sp>
        <p:nvSpPr>
          <p:cNvPr id="9" name="TextBox 8"/>
          <p:cNvSpPr txBox="1"/>
          <p:nvPr/>
        </p:nvSpPr>
        <p:spPr>
          <a:xfrm>
            <a:off x="274320" y="1133856"/>
            <a:ext cx="4709160" cy="274320"/>
          </a:xfrm>
          <a:prstGeom prst="rect">
            <a:avLst/>
          </a:prstGeom>
          <a:noFill/>
        </p:spPr>
        <p:txBody>
          <a:bodyPr wrap="square">
            <a:spAutoFit/>
          </a:bodyPr>
          <a:lstStyle/>
          <a:p>
            <a:pPr algn="l"/>
            <a:r>
              <a:rPr sz="1100" b="1" i="0">
                <a:solidFill>
                  <a:srgbClr val="002060"/>
                </a:solidFill>
                <a:latin typeface="Arial"/>
              </a:rPr>
              <a:t>RACE-DAY WEATHER (08:00 to 11:00 local)</a:t>
            </a:r>
          </a:p>
        </p:txBody>
      </p:sp>
      <p:graphicFrame>
        <p:nvGraphicFramePr>
          <p:cNvPr id="10" name="Table 9"/>
          <p:cNvGraphicFramePr>
            <a:graphicFrameLocks noGrp="1"/>
          </p:cNvGraphicFramePr>
          <p:nvPr/>
        </p:nvGraphicFramePr>
        <p:xfrm>
          <a:off x="5166360" y="1481328"/>
          <a:ext cx="4069078" cy="402336"/>
        </p:xfrm>
        <a:graphic>
          <a:graphicData uri="http://schemas.openxmlformats.org/drawingml/2006/table">
            <a:tbl>
              <a:tblPr firstRow="1" bandRow="1">
                <a:tableStyleId>{5C22544A-7EE6-4342-B048-85BDC9FD1C3A}</a:tableStyleId>
              </a:tblPr>
              <a:tblGrid>
                <a:gridCol w="629738"/>
                <a:gridCol w="823504"/>
                <a:gridCol w="726621"/>
                <a:gridCol w="823504"/>
                <a:gridCol w="1065711"/>
              </a:tblGrid>
              <a:tr h="402336">
                <a:tc>
                  <a:txBody>
                    <a:bodyPr wrap="none"/>
                    <a:lstStyle/>
                    <a:p>
                      <a:pPr algn="ctr"/>
                      <a:r>
                        <a:rPr sz="1000" b="1" i="0">
                          <a:solidFill>
                            <a:srgbClr val="FFFFFF"/>
                          </a:solidFill>
                          <a:latin typeface="Arial"/>
                        </a:rPr>
                        <a:t>Year</a:t>
                      </a:r>
                    </a:p>
                  </a:txBody>
                  <a:tcPr>
                    <a:solidFill>
                      <a:srgbClr val="002060"/>
                    </a:solidFill>
                  </a:tcPr>
                </a:tc>
                <a:tc>
                  <a:txBody>
                    <a:bodyPr wrap="none"/>
                    <a:lstStyle/>
                    <a:p>
                      <a:pPr algn="ctr"/>
                      <a:r>
                        <a:rPr sz="1000" b="1" i="0">
                          <a:solidFill>
                            <a:srgbClr val="FFFFFF"/>
                          </a:solidFill>
                          <a:latin typeface="Arial"/>
                        </a:rPr>
                        <a:t>PM2.5</a:t>
                      </a:r>
                    </a:p>
                  </a:txBody>
                  <a:tcPr>
                    <a:solidFill>
                      <a:srgbClr val="002060"/>
                    </a:solidFill>
                  </a:tcPr>
                </a:tc>
                <a:tc>
                  <a:txBody>
                    <a:bodyPr wrap="none"/>
                    <a:lstStyle/>
                    <a:p>
                      <a:pPr algn="ctr"/>
                      <a:r>
                        <a:rPr sz="1000" b="1" i="0">
                          <a:solidFill>
                            <a:srgbClr val="FFFFFF"/>
                          </a:solidFill>
                          <a:latin typeface="Arial"/>
                        </a:rPr>
                        <a:t>EU AQI</a:t>
                      </a:r>
                    </a:p>
                  </a:txBody>
                  <a:tcPr>
                    <a:solidFill>
                      <a:srgbClr val="002060"/>
                    </a:solidFill>
                  </a:tcPr>
                </a:tc>
                <a:tc>
                  <a:txBody>
                    <a:bodyPr wrap="none"/>
                    <a:lstStyle/>
                    <a:p>
                      <a:pPr algn="ctr"/>
                      <a:r>
                        <a:rPr sz="1000" b="1" i="0">
                          <a:solidFill>
                            <a:srgbClr val="FFFFFF"/>
                          </a:solidFill>
                          <a:latin typeface="Arial"/>
                        </a:rPr>
                        <a:t>UV Index</a:t>
                      </a:r>
                    </a:p>
                  </a:txBody>
                  <a:tcPr>
                    <a:solidFill>
                      <a:srgbClr val="002060"/>
                    </a:solidFill>
                  </a:tcPr>
                </a:tc>
                <a:tc>
                  <a:txBody>
                    <a:bodyPr wrap="none"/>
                    <a:lstStyle/>
                    <a:p>
                      <a:pPr algn="ctr"/>
                      <a:r>
                        <a:rPr sz="1000" b="1" i="0">
                          <a:solidFill>
                            <a:srgbClr val="FFFFFF"/>
                          </a:solidFill>
                          <a:latin typeface="Arial"/>
                        </a:rPr>
                        <a:t>Risk</a:t>
                      </a:r>
                    </a:p>
                  </a:txBody>
                  <a:tcPr>
                    <a:solidFill>
                      <a:srgbClr val="002060"/>
                    </a:solidFill>
                  </a:tcPr>
                </a:tc>
              </a:tr>
            </a:tbl>
          </a:graphicData>
        </a:graphic>
      </p:graphicFrame>
      <p:sp>
        <p:nvSpPr>
          <p:cNvPr id="11" name="TextBox 10"/>
          <p:cNvSpPr txBox="1"/>
          <p:nvPr/>
        </p:nvSpPr>
        <p:spPr>
          <a:xfrm>
            <a:off x="5166360" y="1133856"/>
            <a:ext cx="4069080" cy="274320"/>
          </a:xfrm>
          <a:prstGeom prst="rect">
            <a:avLst/>
          </a:prstGeom>
          <a:noFill/>
        </p:spPr>
        <p:txBody>
          <a:bodyPr wrap="square">
            <a:spAutoFit/>
          </a:bodyPr>
          <a:lstStyle/>
          <a:p>
            <a:pPr algn="l"/>
            <a:r>
              <a:rPr sz="1100" b="1" i="0">
                <a:solidFill>
                  <a:srgbClr val="002060"/>
                </a:solidFill>
                <a:latin typeface="Arial"/>
              </a:rPr>
              <a:t>AIR QUALITY (Open-Meteo archive)</a:t>
            </a:r>
          </a:p>
        </p:txBody>
      </p:sp>
      <p:sp>
        <p:nvSpPr>
          <p:cNvPr id="12" name="Rectangle 11"/>
          <p:cNvSpPr/>
          <p:nvPr/>
        </p:nvSpPr>
        <p:spPr>
          <a:xfrm>
            <a:off x="274320" y="2112264"/>
            <a:ext cx="11640312" cy="32004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2130552"/>
            <a:ext cx="11155680" cy="274320"/>
          </a:xfrm>
          <a:prstGeom prst="rect">
            <a:avLst/>
          </a:prstGeom>
          <a:noFill/>
        </p:spPr>
        <p:txBody>
          <a:bodyPr wrap="square">
            <a:spAutoFit/>
          </a:bodyPr>
          <a:lstStyle/>
          <a:p>
            <a:pPr algn="l"/>
            <a:r>
              <a:rPr sz="1200" b="1" i="0">
                <a:solidFill>
                  <a:srgbClr val="FFFFFF"/>
                </a:solidFill>
                <a:latin typeface="Arial"/>
              </a:rPr>
              <a:t>HEALTH &amp; WATER QUALITY RISK FACTORS</a:t>
            </a:r>
          </a:p>
        </p:txBody>
      </p:sp>
      <p:sp>
        <p:nvSpPr>
          <p:cNvPr id="14" name="TextBox 13"/>
          <p:cNvSpPr txBox="1"/>
          <p:nvPr/>
        </p:nvSpPr>
        <p:spPr>
          <a:xfrm>
            <a:off x="365760" y="2496312"/>
            <a:ext cx="11430000" cy="1044702"/>
          </a:xfrm>
          <a:prstGeom prst="rect">
            <a:avLst/>
          </a:prstGeom>
          <a:noFill/>
        </p:spPr>
        <p:txBody>
          <a:bodyPr wrap="square">
            <a:spAutoFit/>
          </a:bodyPr>
          <a:lstStyle/>
          <a:p>
            <a:pPr algn="l"/>
            <a:r>
              <a:rPr sz="1000" b="0" i="0">
                <a:solidFill>
                  <a:srgbClr val="262626"/>
                </a:solidFill>
                <a:latin typeface="Arial"/>
              </a:rPr>
              <a:t>• Water Quality: [PLACEHOLDER: Historical water quality data for Antofagasta, e.g. bacterial counts, EU Bathing Water Directive status, known algae / pollution events. Check local environmental agency reports for May race window.]</a:t>
            </a:r>
          </a:p>
        </p:txBody>
      </p:sp>
      <p:sp>
        <p:nvSpPr>
          <p:cNvPr id="15" name="TextBox 14"/>
          <p:cNvSpPr txBox="1"/>
          <p:nvPr/>
        </p:nvSpPr>
        <p:spPr>
          <a:xfrm>
            <a:off x="365760" y="3541014"/>
            <a:ext cx="11430000" cy="1044702"/>
          </a:xfrm>
          <a:prstGeom prst="rect">
            <a:avLst/>
          </a:prstGeom>
          <a:noFill/>
        </p:spPr>
        <p:txBody>
          <a:bodyPr wrap="square">
            <a:spAutoFit/>
          </a:bodyPr>
          <a:lstStyle/>
          <a:p>
            <a:pPr algn="l"/>
            <a:r>
              <a:rPr sz="1000" b="0" i="0">
                <a:solidFill>
                  <a:srgbClr val="262626"/>
                </a:solidFill>
                <a:latin typeface="Arial"/>
              </a:rPr>
              <a:t>• Athlete Health Incidents: [PLACEHOLDER: Any known GI illness, respiratory, or heat-related incidents at this or comparable venues. E.g. Sunderland 2023, reported GI illness post-swim for multiple athletes.]</a:t>
            </a:r>
          </a:p>
        </p:txBody>
      </p:sp>
      <p:sp>
        <p:nvSpPr>
          <p:cNvPr id="16" name="TextBox 15"/>
          <p:cNvSpPr txBox="1"/>
          <p:nvPr/>
        </p:nvSpPr>
        <p:spPr>
          <a:xfrm>
            <a:off x="365760" y="4585716"/>
            <a:ext cx="11430000" cy="1044702"/>
          </a:xfrm>
          <a:prstGeom prst="rect">
            <a:avLst/>
          </a:prstGeom>
          <a:noFill/>
        </p:spPr>
        <p:txBody>
          <a:bodyPr wrap="square">
            <a:spAutoFit/>
          </a:bodyPr>
          <a:lstStyle/>
          <a:p>
            <a:pPr algn="l"/>
            <a:r>
              <a:rPr sz="1000" b="0" i="0">
                <a:solidFill>
                  <a:srgbClr val="262626"/>
                </a:solidFill>
                <a:latin typeface="Arial"/>
              </a:rPr>
              <a:t>• Water Temperature: [PLACEHOLDER: Historical open-water temperature for Antofagasta in May (not available from Open-Meteo; check Copernicus Marine / NOAA or WT historical results).]</a:t>
            </a:r>
          </a:p>
        </p:txBody>
      </p:sp>
      <p:sp>
        <p:nvSpPr>
          <p:cNvPr id="17" name="TextBox 16"/>
          <p:cNvSpPr txBox="1"/>
          <p:nvPr/>
        </p:nvSpPr>
        <p:spPr>
          <a:xfrm>
            <a:off x="365760" y="5630418"/>
            <a:ext cx="11430000" cy="1044702"/>
          </a:xfrm>
          <a:prstGeom prst="rect">
            <a:avLst/>
          </a:prstGeom>
          <a:noFill/>
        </p:spPr>
        <p:txBody>
          <a:bodyPr wrap="square">
            <a:spAutoFit/>
          </a:bodyPr>
          <a:lstStyle/>
          <a:p>
            <a:pPr algn="l"/>
            <a:r>
              <a:rPr sz="1000" b="0" i="0">
                <a:solidFill>
                  <a:srgbClr val="262626"/>
                </a:solidFill>
                <a:latin typeface="Arial"/>
              </a:rPr>
              <a:t>• Heat / Humidity Risk: Auto-derived from above table, flag if humidity &gt;70% or air temp &gt;25°C at race time.</a:t>
            </a:r>
          </a:p>
        </p:txBody>
      </p:sp>
      <p:sp>
        <p:nvSpPr>
          <p:cNvPr id="18" name="TextBox 17"/>
          <p:cNvSpPr txBox="1"/>
          <p:nvPr/>
        </p:nvSpPr>
        <p:spPr>
          <a:xfrm>
            <a:off x="274320" y="6565392"/>
            <a:ext cx="11640312" cy="201168"/>
          </a:xfrm>
          <a:prstGeom prst="rect">
            <a:avLst/>
          </a:prstGeom>
          <a:noFill/>
        </p:spPr>
        <p:txBody>
          <a:bodyPr wrap="square">
            <a:spAutoFit/>
          </a:bodyPr>
          <a:lstStyle/>
          <a:p>
            <a:pPr algn="l"/>
            <a:r>
              <a:rPr sz="800" b="0" i="1">
                <a:solidFill>
                  <a:srgbClr val="BFBFBF"/>
                </a:solidFill>
                <a:latin typeface="Arial"/>
              </a:rPr>
              <a:t>Weather: Open-Meteo ERA5 archive (1940+). Air quality: Open-Meteo CAMS archive (coverage from ~Aug 2022; earlier years show blank). EU AQI: Good ≤20, Fair ≤40, Moderate ≤60, Poor ≤80, Very Poor &gt;80.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