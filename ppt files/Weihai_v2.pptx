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61" r:id="rId6"/>
    <p:sldId id="262" r:id="rId7"/>
    <p:sldId id="263" r:id="rId8"/>
    <p:sldId id="264" r:id="rId9"/>
    <p:sldId id="287" r:id="rId10"/>
    <p:sldId id="288" r:id="rId11"/>
    <p:sldId id="289" r:id="rId12"/>
    <p:sldId id="29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3" d="100"/>
          <a:sy n="83" d="100"/>
        </p:scale>
        <p:origin x="408"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events.triathlon.org/2026-wtcs-weihai/race-info" TargetMode="Externa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430000" y="0"/>
            <a:ext cx="758952"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3749039"/>
            <a:ext cx="1078992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USA_Triathlon_Logo.jpg"/>
          <p:cNvPicPr>
            <a:picLocks noChangeAspect="1"/>
          </p:cNvPicPr>
          <p:nvPr/>
        </p:nvPicPr>
        <p:blipFill>
          <a:blip r:embed="rId2"/>
          <a:stretch>
            <a:fillRect/>
          </a:stretch>
        </p:blipFill>
        <p:spPr>
          <a:xfrm>
            <a:off x="548640" y="365760"/>
            <a:ext cx="1920240" cy="1463040"/>
          </a:xfrm>
          <a:prstGeom prst="rect">
            <a:avLst/>
          </a:prstGeom>
        </p:spPr>
      </p:pic>
      <p:sp>
        <p:nvSpPr>
          <p:cNvPr id="6" name="TextBox 5"/>
          <p:cNvSpPr txBox="1"/>
          <p:nvPr/>
        </p:nvSpPr>
        <p:spPr>
          <a:xfrm>
            <a:off x="457200" y="1828800"/>
            <a:ext cx="10789920" cy="1280160"/>
          </a:xfrm>
          <a:prstGeom prst="rect">
            <a:avLst/>
          </a:prstGeom>
          <a:noFill/>
        </p:spPr>
        <p:txBody>
          <a:bodyPr wrap="square">
            <a:spAutoFit/>
          </a:bodyPr>
          <a:lstStyle/>
          <a:p>
            <a:pPr algn="ctr"/>
            <a:r>
              <a:rPr sz="5400" b="1" i="0">
                <a:solidFill>
                  <a:srgbClr val="FFFFFF"/>
                </a:solidFill>
                <a:latin typeface="Arial"/>
              </a:rPr>
              <a:t>WEIHAI RACE PREVIEW</a:t>
            </a:r>
          </a:p>
        </p:txBody>
      </p:sp>
      <p:sp>
        <p:nvSpPr>
          <p:cNvPr id="7" name="TextBox 6"/>
          <p:cNvSpPr txBox="1"/>
          <p:nvPr/>
        </p:nvSpPr>
        <p:spPr>
          <a:xfrm>
            <a:off x="457200" y="3931920"/>
            <a:ext cx="10789920" cy="548640"/>
          </a:xfrm>
          <a:prstGeom prst="rect">
            <a:avLst/>
          </a:prstGeom>
          <a:noFill/>
        </p:spPr>
        <p:txBody>
          <a:bodyPr wrap="square">
            <a:spAutoFit/>
          </a:bodyPr>
          <a:lstStyle/>
          <a:p>
            <a:pPr algn="ctr"/>
            <a:r>
              <a:rPr sz="1800" b="0" i="0">
                <a:solidFill>
                  <a:srgbClr val="AABBDD"/>
                </a:solidFill>
                <a:latin typeface="Arial"/>
              </a:rPr>
              <a:t>Elite Analysis  ·  August 27 – 30, 2026</a:t>
            </a:r>
          </a:p>
        </p:txBody>
      </p:sp>
      <p:sp>
        <p:nvSpPr>
          <p:cNvPr id="8" name="TextBox 7"/>
          <p:cNvSpPr txBox="1"/>
          <p:nvPr/>
        </p:nvSpPr>
        <p:spPr>
          <a:xfrm>
            <a:off x="457200" y="4572000"/>
            <a:ext cx="10789920" cy="457200"/>
          </a:xfrm>
          <a:prstGeom prst="rect">
            <a:avLst/>
          </a:prstGeom>
          <a:noFill/>
        </p:spPr>
        <p:txBody>
          <a:bodyPr wrap="square">
            <a:spAutoFit/>
          </a:bodyPr>
          <a:lstStyle/>
          <a:p>
            <a:pPr algn="ctr"/>
            <a:r>
              <a:rPr sz="1400" b="0" i="0">
                <a:solidFill>
                  <a:srgbClr val="8090B0"/>
                </a:solidFill>
                <a:latin typeface="Arial"/>
              </a:rPr>
              <a:t>USA Triathlon High Performance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Week Schedule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300" b="1" i="0">
                <a:solidFill>
                  <a:srgbClr val="002060"/>
                </a:solidFill>
                <a:latin typeface="Arial"/>
              </a:rPr>
              <a:t>August 27 – 30, 2026   •   Wave to Wonderland, Huancui District, Weihai, Shandong (CST, UTC+8)</a:t>
            </a:r>
          </a:p>
        </p:txBody>
      </p:sp>
      <p:sp>
        <p:nvSpPr>
          <p:cNvPr id="10" name="Rectangle 9"/>
          <p:cNvSpPr/>
          <p:nvPr/>
        </p:nvSpPr>
        <p:spPr>
          <a:xfrm>
            <a:off x="274320"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728216"/>
            <a:ext cx="2555748" cy="201168"/>
          </a:xfrm>
          <a:prstGeom prst="rect">
            <a:avLst/>
          </a:prstGeom>
          <a:noFill/>
        </p:spPr>
        <p:txBody>
          <a:bodyPr wrap="square">
            <a:spAutoFit/>
          </a:bodyPr>
          <a:lstStyle/>
          <a:p>
            <a:pPr algn="ctr"/>
            <a:r>
              <a:rPr sz="1200" b="1" i="0">
                <a:solidFill>
                  <a:srgbClr val="FFFFFF"/>
                </a:solidFill>
                <a:latin typeface="Arial"/>
              </a:rPr>
              <a:t>Thu • Aug 27</a:t>
            </a:r>
          </a:p>
        </p:txBody>
      </p:sp>
      <p:sp>
        <p:nvSpPr>
          <p:cNvPr id="12" name="TextBox 11"/>
          <p:cNvSpPr txBox="1"/>
          <p:nvPr/>
        </p:nvSpPr>
        <p:spPr>
          <a:xfrm>
            <a:off x="365760" y="1929384"/>
            <a:ext cx="2555748" cy="201168"/>
          </a:xfrm>
          <a:prstGeom prst="rect">
            <a:avLst/>
          </a:prstGeom>
          <a:noFill/>
        </p:spPr>
        <p:txBody>
          <a:bodyPr wrap="square">
            <a:spAutoFit/>
          </a:bodyPr>
          <a:lstStyle/>
          <a:p>
            <a:pPr algn="ctr"/>
            <a:r>
              <a:rPr sz="950" b="0" i="1">
                <a:solidFill>
                  <a:srgbClr val="AABBDD"/>
                </a:solidFill>
                <a:latin typeface="Arial"/>
              </a:rPr>
              <a:t>Arrival &amp; Pool Training</a:t>
            </a:r>
          </a:p>
        </p:txBody>
      </p:sp>
      <p:graphicFrame>
        <p:nvGraphicFramePr>
          <p:cNvPr id="13" name="Table 12"/>
          <p:cNvGraphicFramePr>
            <a:graphicFrameLocks noGrp="1"/>
          </p:cNvGraphicFramePr>
          <p:nvPr/>
        </p:nvGraphicFramePr>
        <p:xfrm>
          <a:off x="274320" y="2240280"/>
          <a:ext cx="2738627" cy="2103120"/>
        </p:xfrm>
        <a:graphic>
          <a:graphicData uri="http://schemas.openxmlformats.org/drawingml/2006/table">
            <a:tbl>
              <a:tblPr firstRow="1" bandRow="1">
                <a:tableStyleId>{5C22544A-7EE6-4342-B048-85BDC9FD1C3A}</a:tableStyleId>
              </a:tblPr>
              <a:tblGrid>
                <a:gridCol w="985906">
                  <a:extLst>
                    <a:ext uri="{9D8B030D-6E8A-4147-A177-3AD203B41FA5}">
                      <a16:colId xmlns:a16="http://schemas.microsoft.com/office/drawing/2014/main" val="20000"/>
                    </a:ext>
                  </a:extLst>
                </a:gridCol>
                <a:gridCol w="1752721">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09:00 – 18:00</a:t>
                      </a:r>
                    </a:p>
                  </a:txBody>
                  <a:tcPr>
                    <a:solidFill>
                      <a:srgbClr val="F2F2F2"/>
                    </a:solidFill>
                  </a:tcPr>
                </a:tc>
                <a:tc>
                  <a:txBody>
                    <a:bodyPr/>
                    <a:lstStyle/>
                    <a:p>
                      <a:pPr algn="l"/>
                      <a:r>
                        <a:rPr sz="1000" b="0" i="0">
                          <a:solidFill>
                            <a:srgbClr val="262626"/>
                          </a:solidFill>
                          <a:latin typeface="Arial"/>
                        </a:rPr>
                        <a:t>Information desk + bike mechanic — Weihaiwei Hotel</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08:00 – 10:00</a:t>
                      </a:r>
                    </a:p>
                  </a:txBody>
                  <a:tcPr>
                    <a:solidFill>
                      <a:srgbClr val="FFFFFF"/>
                    </a:solidFill>
                  </a:tcPr>
                </a:tc>
                <a:tc>
                  <a:txBody>
                    <a:bodyPr/>
                    <a:lstStyle/>
                    <a:p>
                      <a:pPr algn="l"/>
                      <a:r>
                        <a:rPr sz="1000" b="0" i="0">
                          <a:solidFill>
                            <a:srgbClr val="262626"/>
                          </a:solidFill>
                          <a:latin typeface="Arial"/>
                        </a:rPr>
                        <a:t>Pool training — Weihai Swimming Pool (25 m, 4 lanes)</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14:00 – 16:00</a:t>
                      </a:r>
                    </a:p>
                  </a:txBody>
                  <a:tcPr>
                    <a:solidFill>
                      <a:srgbClr val="F2F2F2"/>
                    </a:solidFill>
                  </a:tcPr>
                </a:tc>
                <a:tc>
                  <a:txBody>
                    <a:bodyPr/>
                    <a:lstStyle/>
                    <a:p>
                      <a:pPr algn="l"/>
                      <a:r>
                        <a:rPr sz="1000" b="0" i="0">
                          <a:solidFill>
                            <a:srgbClr val="262626"/>
                          </a:solidFill>
                          <a:latin typeface="Arial"/>
                        </a:rPr>
                        <a:t>Pool training — afternoon session</a:t>
                      </a: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0" i="0">
                          <a:solidFill>
                            <a:srgbClr val="262626"/>
                          </a:solidFill>
                          <a:latin typeface="Arial"/>
                        </a:rPr>
                        <a:t>07:30 / 13:30</a:t>
                      </a:r>
                    </a:p>
                  </a:txBody>
                  <a:tcPr>
                    <a:solidFill>
                      <a:srgbClr val="FFFFFF"/>
                    </a:solidFill>
                  </a:tcPr>
                </a:tc>
                <a:tc>
                  <a:txBody>
                    <a:bodyPr/>
                    <a:lstStyle/>
                    <a:p>
                      <a:pPr algn="l"/>
                      <a:r>
                        <a:rPr sz="1000" b="0" i="0">
                          <a:solidFill>
                            <a:srgbClr val="262626"/>
                          </a:solidFill>
                          <a:latin typeface="Arial"/>
                        </a:rPr>
                        <a:t>Free LOC shuttle hotel → pool (also 08:30 / 14:30)</a:t>
                      </a:r>
                    </a:p>
                  </a:txBody>
                  <a:tcPr>
                    <a:solidFill>
                      <a:srgbClr val="FFFFFF"/>
                    </a:solidFill>
                  </a:tcPr>
                </a:tc>
                <a:extLst>
                  <a:ext uri="{0D108BD9-81ED-4DB2-BD59-A6C34878D82A}">
                    <a16:rowId xmlns:a16="http://schemas.microsoft.com/office/drawing/2014/main" val="10003"/>
                  </a:ext>
                </a:extLst>
              </a:tr>
            </a:tbl>
          </a:graphicData>
        </a:graphic>
      </p:graphicFrame>
      <p:sp>
        <p:nvSpPr>
          <p:cNvPr id="14" name="Rectangle 13"/>
          <p:cNvSpPr/>
          <p:nvPr/>
        </p:nvSpPr>
        <p:spPr>
          <a:xfrm>
            <a:off x="3241548"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32988" y="1728216"/>
            <a:ext cx="2555748" cy="201168"/>
          </a:xfrm>
          <a:prstGeom prst="rect">
            <a:avLst/>
          </a:prstGeom>
          <a:noFill/>
        </p:spPr>
        <p:txBody>
          <a:bodyPr wrap="square">
            <a:spAutoFit/>
          </a:bodyPr>
          <a:lstStyle/>
          <a:p>
            <a:pPr algn="ctr"/>
            <a:r>
              <a:rPr sz="1200" b="1" i="0">
                <a:solidFill>
                  <a:srgbClr val="FFFFFF"/>
                </a:solidFill>
                <a:latin typeface="Arial"/>
              </a:rPr>
              <a:t>Fri • Aug 28</a:t>
            </a:r>
          </a:p>
        </p:txBody>
      </p:sp>
      <p:sp>
        <p:nvSpPr>
          <p:cNvPr id="16" name="TextBox 15"/>
          <p:cNvSpPr txBox="1"/>
          <p:nvPr/>
        </p:nvSpPr>
        <p:spPr>
          <a:xfrm>
            <a:off x="3332988" y="1929384"/>
            <a:ext cx="2555748" cy="201168"/>
          </a:xfrm>
          <a:prstGeom prst="rect">
            <a:avLst/>
          </a:prstGeom>
          <a:noFill/>
        </p:spPr>
        <p:txBody>
          <a:bodyPr wrap="square">
            <a:spAutoFit/>
          </a:bodyPr>
          <a:lstStyle/>
          <a:p>
            <a:pPr algn="ctr"/>
            <a:r>
              <a:rPr sz="950" b="0" i="1">
                <a:solidFill>
                  <a:srgbClr val="AABBDD"/>
                </a:solidFill>
                <a:latin typeface="Arial"/>
              </a:rPr>
              <a:t>Familiarization &amp; Briefing</a:t>
            </a:r>
          </a:p>
        </p:txBody>
      </p:sp>
      <p:graphicFrame>
        <p:nvGraphicFramePr>
          <p:cNvPr id="17" name="Table 16"/>
          <p:cNvGraphicFramePr>
            <a:graphicFrameLocks noGrp="1"/>
          </p:cNvGraphicFramePr>
          <p:nvPr>
            <p:extLst>
              <p:ext uri="{D42A27DB-BD31-4B8C-83A1-F6EECF244321}">
                <p14:modId xmlns:p14="http://schemas.microsoft.com/office/powerpoint/2010/main" val="342975490"/>
              </p:ext>
            </p:extLst>
          </p:nvPr>
        </p:nvGraphicFramePr>
        <p:xfrm>
          <a:off x="3241548" y="2240280"/>
          <a:ext cx="2738627" cy="3566160"/>
        </p:xfrm>
        <a:graphic>
          <a:graphicData uri="http://schemas.openxmlformats.org/drawingml/2006/table">
            <a:tbl>
              <a:tblPr firstRow="1" bandRow="1">
                <a:tableStyleId>{5C22544A-7EE6-4342-B048-85BDC9FD1C3A}</a:tableStyleId>
              </a:tblPr>
              <a:tblGrid>
                <a:gridCol w="985906">
                  <a:extLst>
                    <a:ext uri="{9D8B030D-6E8A-4147-A177-3AD203B41FA5}">
                      <a16:colId xmlns:a16="http://schemas.microsoft.com/office/drawing/2014/main" val="20000"/>
                    </a:ext>
                  </a:extLst>
                </a:gridCol>
                <a:gridCol w="1752721">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09:30 – 10:00</a:t>
                      </a:r>
                    </a:p>
                  </a:txBody>
                  <a:tcPr>
                    <a:solidFill>
                      <a:srgbClr val="F2F2F2"/>
                    </a:solidFill>
                  </a:tcPr>
                </a:tc>
                <a:tc>
                  <a:txBody>
                    <a:bodyPr/>
                    <a:lstStyle/>
                    <a:p>
                      <a:pPr algn="l"/>
                      <a:r>
                        <a:rPr sz="1000" b="0" i="0" dirty="0">
                          <a:solidFill>
                            <a:srgbClr val="262626"/>
                          </a:solidFill>
                          <a:latin typeface="Arial"/>
                        </a:rPr>
                        <a:t>Elite bike course familiarization</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10:00 – 11:00</a:t>
                      </a:r>
                    </a:p>
                  </a:txBody>
                  <a:tcPr>
                    <a:solidFill>
                      <a:srgbClr val="FFFFFF"/>
                    </a:solidFill>
                  </a:tcPr>
                </a:tc>
                <a:tc>
                  <a:txBody>
                    <a:bodyPr/>
                    <a:lstStyle/>
                    <a:p>
                      <a:pPr algn="l"/>
                      <a:r>
                        <a:rPr sz="1000" b="0" i="0" dirty="0">
                          <a:solidFill>
                            <a:srgbClr val="262626"/>
                          </a:solidFill>
                          <a:latin typeface="Arial"/>
                        </a:rPr>
                        <a:t>Elite swim course familiarization</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10:15 – 10:45</a:t>
                      </a:r>
                    </a:p>
                  </a:txBody>
                  <a:tcPr>
                    <a:solidFill>
                      <a:srgbClr val="F2F2F2"/>
                    </a:solidFill>
                  </a:tcPr>
                </a:tc>
                <a:tc>
                  <a:txBody>
                    <a:bodyPr/>
                    <a:lstStyle/>
                    <a:p>
                      <a:pPr algn="l"/>
                      <a:r>
                        <a:rPr sz="1000" b="0" i="0">
                          <a:solidFill>
                            <a:srgbClr val="262626"/>
                          </a:solidFill>
                          <a:latin typeface="Arial"/>
                        </a:rPr>
                        <a:t>Coaches' feedback on FOP to Technical Delegate</a:t>
                      </a: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0" i="0">
                          <a:solidFill>
                            <a:srgbClr val="262626"/>
                          </a:solidFill>
                          <a:latin typeface="Arial"/>
                        </a:rPr>
                        <a:t>14:30 – 15:00</a:t>
                      </a:r>
                    </a:p>
                  </a:txBody>
                  <a:tcPr>
                    <a:solidFill>
                      <a:srgbClr val="FFFFFF"/>
                    </a:solidFill>
                  </a:tcPr>
                </a:tc>
                <a:tc>
                  <a:txBody>
                    <a:bodyPr/>
                    <a:lstStyle/>
                    <a:p>
                      <a:pPr algn="l"/>
                      <a:r>
                        <a:rPr sz="1000" b="0" i="0" dirty="0">
                          <a:solidFill>
                            <a:srgbClr val="262626"/>
                          </a:solidFill>
                          <a:latin typeface="Arial"/>
                        </a:rPr>
                        <a:t>Pre-race press conference </a:t>
                      </a:r>
                      <a:r>
                        <a:rPr sz="1000" b="0" i="0" dirty="0" err="1">
                          <a:solidFill>
                            <a:srgbClr val="262626"/>
                          </a:solidFill>
                          <a:latin typeface="Arial"/>
                        </a:rPr>
                        <a:t>Brigh</a:t>
                      </a:r>
                      <a:r>
                        <a:rPr sz="1000" b="0" i="0" dirty="0">
                          <a:solidFill>
                            <a:srgbClr val="262626"/>
                          </a:solidFill>
                          <a:latin typeface="Arial"/>
                        </a:rPr>
                        <a:t> Radiance Hotel 12/F</a:t>
                      </a:r>
                    </a:p>
                  </a:txBody>
                  <a:tcPr>
                    <a:solidFill>
                      <a:srgbClr val="FFFFFF"/>
                    </a:solidFill>
                  </a:tcPr>
                </a:tc>
                <a:extLst>
                  <a:ext uri="{0D108BD9-81ED-4DB2-BD59-A6C34878D82A}">
                    <a16:rowId xmlns:a16="http://schemas.microsoft.com/office/drawing/2014/main" val="10003"/>
                  </a:ext>
                </a:extLst>
              </a:tr>
              <a:tr h="502920">
                <a:tc>
                  <a:txBody>
                    <a:bodyPr/>
                    <a:lstStyle/>
                    <a:p>
                      <a:pPr algn="ctr"/>
                      <a:r>
                        <a:rPr sz="1000" b="1" i="0">
                          <a:solidFill>
                            <a:srgbClr val="C00000"/>
                          </a:solidFill>
                          <a:latin typeface="Arial"/>
                        </a:rPr>
                        <a:t>16:00 – 16:30</a:t>
                      </a:r>
                    </a:p>
                  </a:txBody>
                  <a:tcPr>
                    <a:solidFill>
                      <a:srgbClr val="FDECEC"/>
                    </a:solidFill>
                  </a:tcPr>
                </a:tc>
                <a:tc>
                  <a:txBody>
                    <a:bodyPr/>
                    <a:lstStyle/>
                    <a:p>
                      <a:pPr algn="l"/>
                      <a:r>
                        <a:rPr sz="1000" b="1" i="0">
                          <a:solidFill>
                            <a:srgbClr val="C00000"/>
                          </a:solidFill>
                          <a:latin typeface="Arial"/>
                        </a:rPr>
                        <a:t>★ Elite Athletes' Briefing — Brigh Radiance Hotel 14/F</a:t>
                      </a:r>
                    </a:p>
                  </a:txBody>
                  <a:tcPr>
                    <a:solidFill>
                      <a:srgbClr val="FDECEC"/>
                    </a:solidFill>
                  </a:tcPr>
                </a:tc>
                <a:extLst>
                  <a:ext uri="{0D108BD9-81ED-4DB2-BD59-A6C34878D82A}">
                    <a16:rowId xmlns:a16="http://schemas.microsoft.com/office/drawing/2014/main" val="10004"/>
                  </a:ext>
                </a:extLst>
              </a:tr>
              <a:tr h="502920">
                <a:tc>
                  <a:txBody>
                    <a:bodyPr/>
                    <a:lstStyle/>
                    <a:p>
                      <a:pPr algn="ctr"/>
                      <a:r>
                        <a:rPr sz="1000" b="0" i="0">
                          <a:solidFill>
                            <a:srgbClr val="262626"/>
                          </a:solidFill>
                          <a:latin typeface="Arial"/>
                        </a:rPr>
                        <a:t>16:30 – 17:00</a:t>
                      </a:r>
                    </a:p>
                  </a:txBody>
                  <a:tcPr>
                    <a:solidFill>
                      <a:srgbClr val="FFFFFF"/>
                    </a:solidFill>
                  </a:tcPr>
                </a:tc>
                <a:tc>
                  <a:txBody>
                    <a:bodyPr/>
                    <a:lstStyle/>
                    <a:p>
                      <a:pPr algn="l"/>
                      <a:r>
                        <a:rPr sz="1000" b="0" i="0">
                          <a:solidFill>
                            <a:srgbClr val="262626"/>
                          </a:solidFill>
                          <a:latin typeface="Arial"/>
                        </a:rPr>
                        <a:t>Team medical meeting + race package distribution</a:t>
                      </a:r>
                    </a:p>
                  </a:txBody>
                  <a:tcPr>
                    <a:solidFill>
                      <a:srgbClr val="FFFFFF"/>
                    </a:solidFill>
                  </a:tcPr>
                </a:tc>
                <a:extLst>
                  <a:ext uri="{0D108BD9-81ED-4DB2-BD59-A6C34878D82A}">
                    <a16:rowId xmlns:a16="http://schemas.microsoft.com/office/drawing/2014/main" val="10005"/>
                  </a:ext>
                </a:extLst>
              </a:tr>
              <a:tr h="502920">
                <a:tc>
                  <a:txBody>
                    <a:bodyPr/>
                    <a:lstStyle/>
                    <a:p>
                      <a:pPr algn="ctr"/>
                      <a:r>
                        <a:rPr sz="1000" b="0" i="0">
                          <a:solidFill>
                            <a:srgbClr val="262626"/>
                          </a:solidFill>
                          <a:latin typeface="Arial"/>
                        </a:rPr>
                        <a:t>18:00 – 20:00</a:t>
                      </a:r>
                    </a:p>
                  </a:txBody>
                  <a:tcPr>
                    <a:solidFill>
                      <a:srgbClr val="F2F2F2"/>
                    </a:solidFill>
                  </a:tcPr>
                </a:tc>
                <a:tc>
                  <a:txBody>
                    <a:bodyPr/>
                    <a:lstStyle/>
                    <a:p>
                      <a:pPr algn="l"/>
                      <a:r>
                        <a:rPr sz="1000" b="0" i="0" dirty="0">
                          <a:solidFill>
                            <a:srgbClr val="262626"/>
                          </a:solidFill>
                          <a:latin typeface="Arial"/>
                        </a:rPr>
                        <a:t>Pasta Party — </a:t>
                      </a:r>
                      <a:r>
                        <a:rPr sz="1000" b="0" i="0" dirty="0" err="1">
                          <a:solidFill>
                            <a:srgbClr val="262626"/>
                          </a:solidFill>
                          <a:latin typeface="Arial"/>
                        </a:rPr>
                        <a:t>Weihaiwei</a:t>
                      </a:r>
                      <a:r>
                        <a:rPr sz="1000" b="0" i="0" dirty="0">
                          <a:solidFill>
                            <a:srgbClr val="262626"/>
                          </a:solidFill>
                          <a:latin typeface="Arial"/>
                        </a:rPr>
                        <a:t> Hotel 2/F</a:t>
                      </a:r>
                    </a:p>
                  </a:txBody>
                  <a:tcPr>
                    <a:solidFill>
                      <a:srgbClr val="F2F2F2"/>
                    </a:solidFill>
                  </a:tcPr>
                </a:tc>
                <a:extLst>
                  <a:ext uri="{0D108BD9-81ED-4DB2-BD59-A6C34878D82A}">
                    <a16:rowId xmlns:a16="http://schemas.microsoft.com/office/drawing/2014/main" val="10006"/>
                  </a:ext>
                </a:extLst>
              </a:tr>
            </a:tbl>
          </a:graphicData>
        </a:graphic>
      </p:graphicFrame>
      <p:sp>
        <p:nvSpPr>
          <p:cNvPr id="18" name="Rectangle 17"/>
          <p:cNvSpPr/>
          <p:nvPr/>
        </p:nvSpPr>
        <p:spPr>
          <a:xfrm>
            <a:off x="6208776"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0216" y="1728216"/>
            <a:ext cx="2555748" cy="201168"/>
          </a:xfrm>
          <a:prstGeom prst="rect">
            <a:avLst/>
          </a:prstGeom>
          <a:noFill/>
        </p:spPr>
        <p:txBody>
          <a:bodyPr wrap="square">
            <a:spAutoFit/>
          </a:bodyPr>
          <a:lstStyle/>
          <a:p>
            <a:pPr algn="ctr"/>
            <a:r>
              <a:rPr sz="1200" b="1" i="0">
                <a:solidFill>
                  <a:srgbClr val="FFFFFF"/>
                </a:solidFill>
                <a:latin typeface="Arial"/>
              </a:rPr>
              <a:t>Sat • Aug 29</a:t>
            </a:r>
          </a:p>
        </p:txBody>
      </p:sp>
      <p:sp>
        <p:nvSpPr>
          <p:cNvPr id="20" name="TextBox 19"/>
          <p:cNvSpPr txBox="1"/>
          <p:nvPr/>
        </p:nvSpPr>
        <p:spPr>
          <a:xfrm>
            <a:off x="6300216" y="1929384"/>
            <a:ext cx="2555748" cy="201168"/>
          </a:xfrm>
          <a:prstGeom prst="rect">
            <a:avLst/>
          </a:prstGeom>
          <a:noFill/>
        </p:spPr>
        <p:txBody>
          <a:bodyPr wrap="square">
            <a:spAutoFit/>
          </a:bodyPr>
          <a:lstStyle/>
          <a:p>
            <a:pPr algn="ctr"/>
            <a:r>
              <a:rPr sz="950" b="0" i="1">
                <a:solidFill>
                  <a:srgbClr val="AABBDD"/>
                </a:solidFill>
                <a:latin typeface="Arial"/>
              </a:rPr>
              <a:t>ELITE MEN — 09:00</a:t>
            </a:r>
          </a:p>
        </p:txBody>
      </p:sp>
      <p:graphicFrame>
        <p:nvGraphicFramePr>
          <p:cNvPr id="21" name="Table 20"/>
          <p:cNvGraphicFramePr>
            <a:graphicFrameLocks noGrp="1"/>
          </p:cNvGraphicFramePr>
          <p:nvPr>
            <p:extLst>
              <p:ext uri="{D42A27DB-BD31-4B8C-83A1-F6EECF244321}">
                <p14:modId xmlns:p14="http://schemas.microsoft.com/office/powerpoint/2010/main" val="2934334755"/>
              </p:ext>
            </p:extLst>
          </p:nvPr>
        </p:nvGraphicFramePr>
        <p:xfrm>
          <a:off x="6208776" y="2240280"/>
          <a:ext cx="2738627" cy="3520440"/>
        </p:xfrm>
        <a:graphic>
          <a:graphicData uri="http://schemas.openxmlformats.org/drawingml/2006/table">
            <a:tbl>
              <a:tblPr firstRow="1" bandRow="1">
                <a:tableStyleId>{5C22544A-7EE6-4342-B048-85BDC9FD1C3A}</a:tableStyleId>
              </a:tblPr>
              <a:tblGrid>
                <a:gridCol w="985906">
                  <a:extLst>
                    <a:ext uri="{9D8B030D-6E8A-4147-A177-3AD203B41FA5}">
                      <a16:colId xmlns:a16="http://schemas.microsoft.com/office/drawing/2014/main" val="20000"/>
                    </a:ext>
                  </a:extLst>
                </a:gridCol>
                <a:gridCol w="1752721">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07:30 – 08:30</a:t>
                      </a:r>
                    </a:p>
                  </a:txBody>
                  <a:tcPr>
                    <a:solidFill>
                      <a:srgbClr val="F2F2F2"/>
                    </a:solidFill>
                  </a:tcPr>
                </a:tc>
                <a:tc>
                  <a:txBody>
                    <a:bodyPr/>
                    <a:lstStyle/>
                    <a:p>
                      <a:pPr algn="l"/>
                      <a:r>
                        <a:rPr sz="1000" b="0" i="0">
                          <a:solidFill>
                            <a:srgbClr val="262626"/>
                          </a:solidFill>
                          <a:latin typeface="Arial"/>
                        </a:rPr>
                        <a:t>Elite Men athletes' lounge check-in</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07:45 – 08:45</a:t>
                      </a:r>
                    </a:p>
                  </a:txBody>
                  <a:tcPr>
                    <a:solidFill>
                      <a:srgbClr val="FFFFFF"/>
                    </a:solidFill>
                  </a:tcPr>
                </a:tc>
                <a:tc>
                  <a:txBody>
                    <a:bodyPr/>
                    <a:lstStyle/>
                    <a:p>
                      <a:pPr algn="l"/>
                      <a:r>
                        <a:rPr sz="1000" b="0" i="0">
                          <a:solidFill>
                            <a:srgbClr val="262626"/>
                          </a:solidFill>
                          <a:latin typeface="Arial"/>
                        </a:rPr>
                        <a:t>Elite Men transition zone check-in</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08:15 – 08:45</a:t>
                      </a:r>
                    </a:p>
                  </a:txBody>
                  <a:tcPr>
                    <a:solidFill>
                      <a:srgbClr val="F2F2F2"/>
                    </a:solidFill>
                  </a:tcPr>
                </a:tc>
                <a:tc>
                  <a:txBody>
                    <a:bodyPr/>
                    <a:lstStyle/>
                    <a:p>
                      <a:pPr algn="l"/>
                      <a:r>
                        <a:rPr sz="1000" b="0" i="0">
                          <a:solidFill>
                            <a:srgbClr val="262626"/>
                          </a:solidFill>
                          <a:latin typeface="Arial"/>
                        </a:rPr>
                        <a:t>Elite Men swim warm-up</a:t>
                      </a: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0" i="0">
                          <a:solidFill>
                            <a:srgbClr val="262626"/>
                          </a:solidFill>
                          <a:latin typeface="Arial"/>
                        </a:rPr>
                        <a:t>08:30 – 08:45</a:t>
                      </a:r>
                    </a:p>
                  </a:txBody>
                  <a:tcPr>
                    <a:solidFill>
                      <a:srgbClr val="FFFFFF"/>
                    </a:solidFill>
                  </a:tcPr>
                </a:tc>
                <a:tc>
                  <a:txBody>
                    <a:bodyPr/>
                    <a:lstStyle/>
                    <a:p>
                      <a:pPr algn="l"/>
                      <a:r>
                        <a:rPr sz="1000" b="0" i="0">
                          <a:solidFill>
                            <a:srgbClr val="262626"/>
                          </a:solidFill>
                          <a:latin typeface="Arial"/>
                        </a:rPr>
                        <a:t>Opening ceremony — main venue</a:t>
                      </a:r>
                    </a:p>
                  </a:txBody>
                  <a:tcPr>
                    <a:solidFill>
                      <a:srgbClr val="FFFFFF"/>
                    </a:solidFill>
                  </a:tcPr>
                </a:tc>
                <a:extLst>
                  <a:ext uri="{0D108BD9-81ED-4DB2-BD59-A6C34878D82A}">
                    <a16:rowId xmlns:a16="http://schemas.microsoft.com/office/drawing/2014/main" val="10003"/>
                  </a:ext>
                </a:extLst>
              </a:tr>
              <a:tr h="502920">
                <a:tc>
                  <a:txBody>
                    <a:bodyPr/>
                    <a:lstStyle/>
                    <a:p>
                      <a:pPr algn="ctr"/>
                      <a:r>
                        <a:rPr sz="1000" b="0" i="0">
                          <a:solidFill>
                            <a:srgbClr val="262626"/>
                          </a:solidFill>
                          <a:latin typeface="Arial"/>
                        </a:rPr>
                        <a:t>08:45 / 08:50</a:t>
                      </a:r>
                    </a:p>
                  </a:txBody>
                  <a:tcPr>
                    <a:solidFill>
                      <a:srgbClr val="F2F2F2"/>
                    </a:solidFill>
                  </a:tcPr>
                </a:tc>
                <a:tc>
                  <a:txBody>
                    <a:bodyPr/>
                    <a:lstStyle/>
                    <a:p>
                      <a:pPr algn="l"/>
                      <a:r>
                        <a:rPr sz="1000" b="0" i="0">
                          <a:solidFill>
                            <a:srgbClr val="262626"/>
                          </a:solidFill>
                          <a:latin typeface="Arial"/>
                        </a:rPr>
                        <a:t>Elite Men line-up (lounge) / introduction (swim exit)</a:t>
                      </a:r>
                    </a:p>
                  </a:txBody>
                  <a:tcPr>
                    <a:solidFill>
                      <a:srgbClr val="F2F2F2"/>
                    </a:solidFill>
                  </a:tcPr>
                </a:tc>
                <a:extLst>
                  <a:ext uri="{0D108BD9-81ED-4DB2-BD59-A6C34878D82A}">
                    <a16:rowId xmlns:a16="http://schemas.microsoft.com/office/drawing/2014/main" val="10004"/>
                  </a:ext>
                </a:extLst>
              </a:tr>
              <a:tr h="502920">
                <a:tc>
                  <a:txBody>
                    <a:bodyPr/>
                    <a:lstStyle/>
                    <a:p>
                      <a:pPr algn="ctr"/>
                      <a:r>
                        <a:rPr sz="1000" b="1" i="0">
                          <a:solidFill>
                            <a:srgbClr val="C00000"/>
                          </a:solidFill>
                          <a:latin typeface="Arial"/>
                        </a:rPr>
                        <a:t>09:00</a:t>
                      </a:r>
                    </a:p>
                  </a:txBody>
                  <a:tcPr>
                    <a:solidFill>
                      <a:srgbClr val="FDECEC"/>
                    </a:solidFill>
                  </a:tcPr>
                </a:tc>
                <a:tc>
                  <a:txBody>
                    <a:bodyPr/>
                    <a:lstStyle/>
                    <a:p>
                      <a:pPr algn="l"/>
                      <a:r>
                        <a:rPr sz="1000" b="1" i="0" dirty="0">
                          <a:solidFill>
                            <a:srgbClr val="C00000"/>
                          </a:solidFill>
                          <a:latin typeface="Arial"/>
                        </a:rPr>
                        <a:t>★ ELITE MEN START</a:t>
                      </a:r>
                    </a:p>
                  </a:txBody>
                  <a:tcPr>
                    <a:solidFill>
                      <a:srgbClr val="FDECEC"/>
                    </a:solidFill>
                  </a:tcPr>
                </a:tc>
                <a:extLst>
                  <a:ext uri="{0D108BD9-81ED-4DB2-BD59-A6C34878D82A}">
                    <a16:rowId xmlns:a16="http://schemas.microsoft.com/office/drawing/2014/main" val="10005"/>
                  </a:ext>
                </a:extLst>
              </a:tr>
              <a:tr h="502920">
                <a:tc>
                  <a:txBody>
                    <a:bodyPr/>
                    <a:lstStyle/>
                    <a:p>
                      <a:pPr algn="ctr"/>
                      <a:r>
                        <a:rPr sz="1000" b="0" i="0">
                          <a:solidFill>
                            <a:srgbClr val="262626"/>
                          </a:solidFill>
                          <a:latin typeface="Arial"/>
                        </a:rPr>
                        <a:t>10:55</a:t>
                      </a:r>
                    </a:p>
                  </a:txBody>
                  <a:tcPr>
                    <a:solidFill>
                      <a:srgbClr val="F2F2F2"/>
                    </a:solidFill>
                  </a:tcPr>
                </a:tc>
                <a:tc>
                  <a:txBody>
                    <a:bodyPr/>
                    <a:lstStyle/>
                    <a:p>
                      <a:pPr algn="l"/>
                      <a:r>
                        <a:rPr sz="1000" b="0" i="0" dirty="0">
                          <a:solidFill>
                            <a:srgbClr val="262626"/>
                          </a:solidFill>
                          <a:latin typeface="Arial"/>
                        </a:rPr>
                        <a:t>Elite Men awards ceremony</a:t>
                      </a:r>
                    </a:p>
                  </a:txBody>
                  <a:tcPr>
                    <a:solidFill>
                      <a:srgbClr val="F2F2F2"/>
                    </a:solidFill>
                  </a:tcPr>
                </a:tc>
                <a:extLst>
                  <a:ext uri="{0D108BD9-81ED-4DB2-BD59-A6C34878D82A}">
                    <a16:rowId xmlns:a16="http://schemas.microsoft.com/office/drawing/2014/main" val="10006"/>
                  </a:ext>
                </a:extLst>
              </a:tr>
            </a:tbl>
          </a:graphicData>
        </a:graphic>
      </p:graphicFrame>
      <p:sp>
        <p:nvSpPr>
          <p:cNvPr id="22" name="Rectangle 21"/>
          <p:cNvSpPr/>
          <p:nvPr/>
        </p:nvSpPr>
        <p:spPr>
          <a:xfrm>
            <a:off x="9176004"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67444" y="1728216"/>
            <a:ext cx="2555748" cy="201168"/>
          </a:xfrm>
          <a:prstGeom prst="rect">
            <a:avLst/>
          </a:prstGeom>
          <a:noFill/>
        </p:spPr>
        <p:txBody>
          <a:bodyPr wrap="square">
            <a:spAutoFit/>
          </a:bodyPr>
          <a:lstStyle/>
          <a:p>
            <a:pPr algn="ctr"/>
            <a:r>
              <a:rPr sz="1200" b="1" i="0">
                <a:solidFill>
                  <a:srgbClr val="FFFFFF"/>
                </a:solidFill>
                <a:latin typeface="Arial"/>
              </a:rPr>
              <a:t>Sat • Aug 29</a:t>
            </a:r>
          </a:p>
        </p:txBody>
      </p:sp>
      <p:sp>
        <p:nvSpPr>
          <p:cNvPr id="24" name="TextBox 23"/>
          <p:cNvSpPr txBox="1"/>
          <p:nvPr/>
        </p:nvSpPr>
        <p:spPr>
          <a:xfrm>
            <a:off x="9267444" y="1929384"/>
            <a:ext cx="2555748" cy="201168"/>
          </a:xfrm>
          <a:prstGeom prst="rect">
            <a:avLst/>
          </a:prstGeom>
          <a:noFill/>
        </p:spPr>
        <p:txBody>
          <a:bodyPr wrap="square">
            <a:spAutoFit/>
          </a:bodyPr>
          <a:lstStyle/>
          <a:p>
            <a:pPr algn="ctr"/>
            <a:r>
              <a:rPr sz="950" b="0" i="1">
                <a:solidFill>
                  <a:srgbClr val="AABBDD"/>
                </a:solidFill>
                <a:latin typeface="Arial"/>
              </a:rPr>
              <a:t>ELITE WOMEN — 12:00</a:t>
            </a:r>
          </a:p>
        </p:txBody>
      </p:sp>
      <p:graphicFrame>
        <p:nvGraphicFramePr>
          <p:cNvPr id="25" name="Table 24"/>
          <p:cNvGraphicFramePr>
            <a:graphicFrameLocks noGrp="1"/>
          </p:cNvGraphicFramePr>
          <p:nvPr>
            <p:extLst>
              <p:ext uri="{D42A27DB-BD31-4B8C-83A1-F6EECF244321}">
                <p14:modId xmlns:p14="http://schemas.microsoft.com/office/powerpoint/2010/main" val="1089674149"/>
              </p:ext>
            </p:extLst>
          </p:nvPr>
        </p:nvGraphicFramePr>
        <p:xfrm>
          <a:off x="9176004" y="2240280"/>
          <a:ext cx="2738627" cy="3520440"/>
        </p:xfrm>
        <a:graphic>
          <a:graphicData uri="http://schemas.openxmlformats.org/drawingml/2006/table">
            <a:tbl>
              <a:tblPr firstRow="1" bandRow="1">
                <a:tableStyleId>{5C22544A-7EE6-4342-B048-85BDC9FD1C3A}</a:tableStyleId>
              </a:tblPr>
              <a:tblGrid>
                <a:gridCol w="985906">
                  <a:extLst>
                    <a:ext uri="{9D8B030D-6E8A-4147-A177-3AD203B41FA5}">
                      <a16:colId xmlns:a16="http://schemas.microsoft.com/office/drawing/2014/main" val="20000"/>
                    </a:ext>
                  </a:extLst>
                </a:gridCol>
                <a:gridCol w="1752721">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10:30 – 11:30</a:t>
                      </a:r>
                    </a:p>
                  </a:txBody>
                  <a:tcPr>
                    <a:solidFill>
                      <a:srgbClr val="F2F2F2"/>
                    </a:solidFill>
                  </a:tcPr>
                </a:tc>
                <a:tc>
                  <a:txBody>
                    <a:bodyPr/>
                    <a:lstStyle/>
                    <a:p>
                      <a:pPr algn="l"/>
                      <a:r>
                        <a:rPr sz="1000" b="0" i="0">
                          <a:solidFill>
                            <a:srgbClr val="262626"/>
                          </a:solidFill>
                          <a:latin typeface="Arial"/>
                        </a:rPr>
                        <a:t>Elite Women athletes' lounge check-in</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11:00 – 11:45</a:t>
                      </a:r>
                    </a:p>
                  </a:txBody>
                  <a:tcPr>
                    <a:solidFill>
                      <a:srgbClr val="FFFFFF"/>
                    </a:solidFill>
                  </a:tcPr>
                </a:tc>
                <a:tc>
                  <a:txBody>
                    <a:bodyPr/>
                    <a:lstStyle/>
                    <a:p>
                      <a:pPr algn="l"/>
                      <a:r>
                        <a:rPr sz="1000" b="0" i="0">
                          <a:solidFill>
                            <a:srgbClr val="262626"/>
                          </a:solidFill>
                          <a:latin typeface="Arial"/>
                        </a:rPr>
                        <a:t>Elite Women transition zone check-in</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11:15 – 11:45</a:t>
                      </a:r>
                    </a:p>
                  </a:txBody>
                  <a:tcPr>
                    <a:solidFill>
                      <a:srgbClr val="F2F2F2"/>
                    </a:solidFill>
                  </a:tcPr>
                </a:tc>
                <a:tc>
                  <a:txBody>
                    <a:bodyPr/>
                    <a:lstStyle/>
                    <a:p>
                      <a:pPr algn="l"/>
                      <a:r>
                        <a:rPr sz="1000" b="0" i="0">
                          <a:solidFill>
                            <a:srgbClr val="262626"/>
                          </a:solidFill>
                          <a:latin typeface="Arial"/>
                        </a:rPr>
                        <a:t>Elite Women swim warm-up</a:t>
                      </a: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0" i="0">
                          <a:solidFill>
                            <a:srgbClr val="262626"/>
                          </a:solidFill>
                          <a:latin typeface="Arial"/>
                        </a:rPr>
                        <a:t>11:15 – 11:45</a:t>
                      </a:r>
                    </a:p>
                  </a:txBody>
                  <a:tcPr>
                    <a:solidFill>
                      <a:srgbClr val="FFFFFF"/>
                    </a:solidFill>
                  </a:tcPr>
                </a:tc>
                <a:tc>
                  <a:txBody>
                    <a:bodyPr/>
                    <a:lstStyle/>
                    <a:p>
                      <a:pPr algn="l"/>
                      <a:r>
                        <a:rPr sz="1000" b="0" i="0">
                          <a:solidFill>
                            <a:srgbClr val="262626"/>
                          </a:solidFill>
                          <a:latin typeface="Arial"/>
                        </a:rPr>
                        <a:t>Elite coaches run course measurement</a:t>
                      </a:r>
                    </a:p>
                  </a:txBody>
                  <a:tcPr>
                    <a:solidFill>
                      <a:srgbClr val="FFFFFF"/>
                    </a:solidFill>
                  </a:tcPr>
                </a:tc>
                <a:extLst>
                  <a:ext uri="{0D108BD9-81ED-4DB2-BD59-A6C34878D82A}">
                    <a16:rowId xmlns:a16="http://schemas.microsoft.com/office/drawing/2014/main" val="10003"/>
                  </a:ext>
                </a:extLst>
              </a:tr>
              <a:tr h="502920">
                <a:tc>
                  <a:txBody>
                    <a:bodyPr/>
                    <a:lstStyle/>
                    <a:p>
                      <a:pPr algn="ctr"/>
                      <a:r>
                        <a:rPr sz="1000" b="0" i="0">
                          <a:solidFill>
                            <a:srgbClr val="262626"/>
                          </a:solidFill>
                          <a:latin typeface="Arial"/>
                        </a:rPr>
                        <a:t>11:45 / 11:50</a:t>
                      </a:r>
                    </a:p>
                  </a:txBody>
                  <a:tcPr>
                    <a:solidFill>
                      <a:srgbClr val="F2F2F2"/>
                    </a:solidFill>
                  </a:tcPr>
                </a:tc>
                <a:tc>
                  <a:txBody>
                    <a:bodyPr/>
                    <a:lstStyle/>
                    <a:p>
                      <a:pPr algn="l"/>
                      <a:r>
                        <a:rPr sz="1000" b="0" i="0">
                          <a:solidFill>
                            <a:srgbClr val="262626"/>
                          </a:solidFill>
                          <a:latin typeface="Arial"/>
                        </a:rPr>
                        <a:t>Elite Women line-up / introduction</a:t>
                      </a:r>
                    </a:p>
                  </a:txBody>
                  <a:tcPr>
                    <a:solidFill>
                      <a:srgbClr val="F2F2F2"/>
                    </a:solidFill>
                  </a:tcPr>
                </a:tc>
                <a:extLst>
                  <a:ext uri="{0D108BD9-81ED-4DB2-BD59-A6C34878D82A}">
                    <a16:rowId xmlns:a16="http://schemas.microsoft.com/office/drawing/2014/main" val="10004"/>
                  </a:ext>
                </a:extLst>
              </a:tr>
              <a:tr h="502920">
                <a:tc>
                  <a:txBody>
                    <a:bodyPr/>
                    <a:lstStyle/>
                    <a:p>
                      <a:pPr algn="ctr"/>
                      <a:r>
                        <a:rPr sz="1000" b="1" i="0">
                          <a:solidFill>
                            <a:srgbClr val="C00000"/>
                          </a:solidFill>
                          <a:latin typeface="Arial"/>
                        </a:rPr>
                        <a:t>12:00</a:t>
                      </a:r>
                    </a:p>
                  </a:txBody>
                  <a:tcPr>
                    <a:solidFill>
                      <a:srgbClr val="FDECEC"/>
                    </a:solidFill>
                  </a:tcPr>
                </a:tc>
                <a:tc>
                  <a:txBody>
                    <a:bodyPr/>
                    <a:lstStyle/>
                    <a:p>
                      <a:pPr algn="l"/>
                      <a:r>
                        <a:rPr sz="1000" b="1" i="0" dirty="0">
                          <a:solidFill>
                            <a:srgbClr val="C00000"/>
                          </a:solidFill>
                          <a:latin typeface="Arial"/>
                        </a:rPr>
                        <a:t>★ ELITE WOMEN START</a:t>
                      </a:r>
                    </a:p>
                  </a:txBody>
                  <a:tcPr>
                    <a:solidFill>
                      <a:srgbClr val="FDECEC"/>
                    </a:solidFill>
                  </a:tcPr>
                </a:tc>
                <a:extLst>
                  <a:ext uri="{0D108BD9-81ED-4DB2-BD59-A6C34878D82A}">
                    <a16:rowId xmlns:a16="http://schemas.microsoft.com/office/drawing/2014/main" val="10005"/>
                  </a:ext>
                </a:extLst>
              </a:tr>
              <a:tr h="502920">
                <a:tc>
                  <a:txBody>
                    <a:bodyPr/>
                    <a:lstStyle/>
                    <a:p>
                      <a:pPr algn="ctr"/>
                      <a:r>
                        <a:rPr sz="1000" b="0" i="0">
                          <a:solidFill>
                            <a:srgbClr val="262626"/>
                          </a:solidFill>
                          <a:latin typeface="Arial"/>
                        </a:rPr>
                        <a:t>14:10</a:t>
                      </a:r>
                    </a:p>
                  </a:txBody>
                  <a:tcPr>
                    <a:solidFill>
                      <a:srgbClr val="F2F2F2"/>
                    </a:solidFill>
                  </a:tcPr>
                </a:tc>
                <a:tc>
                  <a:txBody>
                    <a:bodyPr/>
                    <a:lstStyle/>
                    <a:p>
                      <a:pPr algn="l"/>
                      <a:r>
                        <a:rPr sz="1000" b="0" i="0" dirty="0">
                          <a:solidFill>
                            <a:srgbClr val="262626"/>
                          </a:solidFill>
                          <a:latin typeface="Arial"/>
                        </a:rPr>
                        <a:t>Elite Women awards ceremony</a:t>
                      </a:r>
                    </a:p>
                  </a:txBody>
                  <a:tcPr>
                    <a:solidFill>
                      <a:srgbClr val="F2F2F2"/>
                    </a:solidFill>
                  </a:tcPr>
                </a:tc>
                <a:extLst>
                  <a:ext uri="{0D108BD9-81ED-4DB2-BD59-A6C34878D82A}">
                    <a16:rowId xmlns:a16="http://schemas.microsoft.com/office/drawing/2014/main" val="10006"/>
                  </a:ext>
                </a:extLst>
              </a:tr>
            </a:tbl>
          </a:graphicData>
        </a:graphic>
      </p:graphicFrame>
      <p:sp>
        <p:nvSpPr>
          <p:cNvPr id="26" name="TextBox 25"/>
          <p:cNvSpPr txBox="1"/>
          <p:nvPr/>
        </p:nvSpPr>
        <p:spPr>
          <a:xfrm>
            <a:off x="274320" y="6355080"/>
            <a:ext cx="11640312" cy="274320"/>
          </a:xfrm>
          <a:prstGeom prst="rect">
            <a:avLst/>
          </a:prstGeom>
          <a:noFill/>
        </p:spPr>
        <p:txBody>
          <a:bodyPr wrap="square">
            <a:spAutoFit/>
          </a:bodyPr>
          <a:lstStyle/>
          <a:p>
            <a:pPr algn="ctr"/>
            <a:r>
              <a:rPr sz="900" b="0" i="1">
                <a:solidFill>
                  <a:srgbClr val="BFBFBF"/>
                </a:solidFill>
                <a:latin typeface="Arial"/>
              </a:rPr>
              <a:t>Times Wave to Wonderland, Huancui District, Weihai, Shandong (CST, UTC+8). Schedule confirmed from World Triathlon race-info page / athlete guide; subject to organiser updates.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Course Differentiators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97280"/>
            <a:ext cx="6035040" cy="502920"/>
          </a:xfrm>
          <a:prstGeom prst="rect">
            <a:avLst/>
          </a:prstGeom>
          <a:noFill/>
        </p:spPr>
        <p:txBody>
          <a:bodyPr wrap="square">
            <a:spAutoFit/>
          </a:bodyPr>
          <a:lstStyle/>
          <a:p>
            <a:pPr algn="l"/>
            <a:r>
              <a:rPr sz="2000" b="1" i="0">
                <a:solidFill>
                  <a:srgbClr val="002060"/>
                </a:solidFill>
                <a:latin typeface="Arial"/>
              </a:rPr>
              <a:t>WEIHAI</a:t>
            </a:r>
          </a:p>
        </p:txBody>
      </p:sp>
      <p:sp>
        <p:nvSpPr>
          <p:cNvPr id="9" name="TextBox 8"/>
          <p:cNvSpPr txBox="1"/>
          <p:nvPr/>
        </p:nvSpPr>
        <p:spPr>
          <a:xfrm>
            <a:off x="274320" y="1627632"/>
            <a:ext cx="6035040" cy="2462213"/>
          </a:xfrm>
          <a:prstGeom prst="rect">
            <a:avLst/>
          </a:prstGeom>
          <a:noFill/>
        </p:spPr>
        <p:txBody>
          <a:bodyPr wrap="square">
            <a:spAutoFit/>
          </a:bodyPr>
          <a:lstStyle/>
          <a:p>
            <a:pPr algn="l"/>
            <a:r>
              <a:rPr sz="1400" b="0" i="0" dirty="0">
                <a:solidFill>
                  <a:srgbClr val="262626"/>
                </a:solidFill>
                <a:latin typeface="Arial"/>
              </a:rPr>
              <a:t>WTCS Weihai returns to the Wave to Wonderland venue on China's Shandong peninsula for the 2026 Championship Series. Weihai is one of the most established venues on the calendar, hosting elite racing since 2011 and stepping up from World Cup to WTCS in 2024. The format is </a:t>
            </a:r>
            <a:r>
              <a:rPr lang="en-US" sz="1400" b="0" i="0" dirty="0">
                <a:solidFill>
                  <a:srgbClr val="262626"/>
                </a:solidFill>
                <a:latin typeface="Arial"/>
              </a:rPr>
              <a:t>an </a:t>
            </a:r>
            <a:r>
              <a:rPr lang="en-US" sz="1400" dirty="0">
                <a:solidFill>
                  <a:srgbClr val="262626"/>
                </a:solidFill>
                <a:latin typeface="Arial"/>
              </a:rPr>
              <a:t>O</a:t>
            </a:r>
            <a:r>
              <a:rPr lang="en-US" sz="1400" b="0" i="0" dirty="0">
                <a:solidFill>
                  <a:srgbClr val="262626"/>
                </a:solidFill>
                <a:latin typeface="Arial"/>
              </a:rPr>
              <a:t>lympic</a:t>
            </a:r>
            <a:r>
              <a:rPr sz="1400" b="0" i="0" dirty="0">
                <a:solidFill>
                  <a:srgbClr val="262626"/>
                </a:solidFill>
                <a:latin typeface="Arial"/>
              </a:rPr>
              <a:t> distance</a:t>
            </a:r>
            <a:r>
              <a:rPr lang="en-US" sz="1400" b="0" i="0" dirty="0">
                <a:solidFill>
                  <a:srgbClr val="262626"/>
                </a:solidFill>
                <a:latin typeface="Arial"/>
              </a:rPr>
              <a:t> with a slightly short bike</a:t>
            </a:r>
            <a:r>
              <a:rPr lang="en-US" sz="1400" dirty="0">
                <a:solidFill>
                  <a:srgbClr val="262626"/>
                </a:solidFill>
                <a:latin typeface="Arial"/>
              </a:rPr>
              <a:t>. </a:t>
            </a:r>
            <a:r>
              <a:rPr sz="1400" b="1" i="0" dirty="0">
                <a:solidFill>
                  <a:srgbClr val="262626"/>
                </a:solidFill>
                <a:latin typeface="Arial"/>
              </a:rPr>
              <a:t>Two things separate </a:t>
            </a:r>
            <a:r>
              <a:rPr sz="1400" b="0" i="0" dirty="0">
                <a:solidFill>
                  <a:srgbClr val="262626"/>
                </a:solidFill>
                <a:latin typeface="Arial"/>
              </a:rPr>
              <a:t>this edition from recent history. First, the date moves to 29 August, roughly </a:t>
            </a:r>
            <a:r>
              <a:rPr sz="1400" b="1" dirty="0">
                <a:solidFill>
                  <a:srgbClr val="262626"/>
                </a:solidFill>
                <a:latin typeface="Arial"/>
              </a:rPr>
              <a:t>four weeks earlier</a:t>
            </a:r>
            <a:r>
              <a:rPr sz="1400" b="0" i="0" dirty="0">
                <a:solidFill>
                  <a:srgbClr val="262626"/>
                </a:solidFill>
                <a:latin typeface="Arial"/>
              </a:rPr>
              <a:t> than the 2024 and 2025 editions, which </a:t>
            </a:r>
            <a:r>
              <a:rPr lang="en-US" sz="1400" b="0" i="0" dirty="0">
                <a:solidFill>
                  <a:srgbClr val="262626"/>
                </a:solidFill>
                <a:latin typeface="Arial"/>
              </a:rPr>
              <a:t>means this could be much warmer than the past two editions. </a:t>
            </a:r>
            <a:r>
              <a:rPr sz="1400" b="0" i="0" dirty="0">
                <a:solidFill>
                  <a:srgbClr val="262626"/>
                </a:solidFill>
                <a:latin typeface="Arial"/>
              </a:rPr>
              <a:t>Second,</a:t>
            </a:r>
            <a:r>
              <a:rPr lang="en-US" sz="1400" b="0" i="0" dirty="0">
                <a:solidFill>
                  <a:srgbClr val="262626"/>
                </a:solidFill>
                <a:latin typeface="Arial"/>
              </a:rPr>
              <a:t> </a:t>
            </a:r>
            <a:r>
              <a:rPr sz="1400" b="0" i="0" dirty="0">
                <a:solidFill>
                  <a:srgbClr val="262626"/>
                </a:solidFill>
                <a:latin typeface="Arial"/>
              </a:rPr>
              <a:t>the men start at 09:00 and the women at 12:00, into peak midday sun. WT's recorded race-day temperature has come in about </a:t>
            </a:r>
            <a:r>
              <a:rPr sz="1400" b="1" dirty="0">
                <a:solidFill>
                  <a:srgbClr val="262626"/>
                </a:solidFill>
                <a:latin typeface="Arial"/>
              </a:rPr>
              <a:t>4 °C higher for the women</a:t>
            </a:r>
            <a:r>
              <a:rPr sz="1400" b="0" i="0" dirty="0">
                <a:solidFill>
                  <a:srgbClr val="262626"/>
                </a:solidFill>
                <a:latin typeface="Arial"/>
              </a:rPr>
              <a:t> in every measured edition</a:t>
            </a:r>
            <a:r>
              <a:rPr lang="en-US" sz="1400" dirty="0">
                <a:solidFill>
                  <a:srgbClr val="262626"/>
                </a:solidFill>
                <a:latin typeface="Arial"/>
              </a:rPr>
              <a:t>. </a:t>
            </a:r>
            <a:endParaRPr sz="1400" b="0" i="0" dirty="0">
              <a:solidFill>
                <a:srgbClr val="262626"/>
              </a:solidFill>
              <a:latin typeface="Arial"/>
            </a:endParaRPr>
          </a:p>
        </p:txBody>
      </p:sp>
      <p:sp>
        <p:nvSpPr>
          <p:cNvPr id="10" name="Rectangle 9"/>
          <p:cNvSpPr/>
          <p:nvPr/>
        </p:nvSpPr>
        <p:spPr>
          <a:xfrm>
            <a:off x="274320" y="4237020"/>
            <a:ext cx="603504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4278309"/>
            <a:ext cx="5669280" cy="274320"/>
          </a:xfrm>
          <a:prstGeom prst="rect">
            <a:avLst/>
          </a:prstGeom>
          <a:noFill/>
        </p:spPr>
        <p:txBody>
          <a:bodyPr wrap="square">
            <a:spAutoFit/>
          </a:bodyPr>
          <a:lstStyle/>
          <a:p>
            <a:pPr algn="l"/>
            <a:r>
              <a:rPr sz="1200" b="1" i="0">
                <a:solidFill>
                  <a:srgbClr val="FFFFFF"/>
                </a:solidFill>
                <a:latin typeface="Arial"/>
              </a:rPr>
              <a:t>COURSE FEATURES</a:t>
            </a:r>
          </a:p>
        </p:txBody>
      </p:sp>
      <p:sp>
        <p:nvSpPr>
          <p:cNvPr id="12" name="TextBox 11"/>
          <p:cNvSpPr txBox="1"/>
          <p:nvPr/>
        </p:nvSpPr>
        <p:spPr>
          <a:xfrm>
            <a:off x="365760" y="4648497"/>
            <a:ext cx="5852160" cy="523220"/>
          </a:xfrm>
          <a:prstGeom prst="rect">
            <a:avLst/>
          </a:prstGeom>
          <a:noFill/>
        </p:spPr>
        <p:txBody>
          <a:bodyPr wrap="square">
            <a:spAutoFit/>
          </a:bodyPr>
          <a:lstStyle/>
          <a:p>
            <a:pPr algn="l"/>
            <a:r>
              <a:rPr sz="1400" b="0" i="0" dirty="0">
                <a:solidFill>
                  <a:srgbClr val="262626"/>
                </a:solidFill>
                <a:latin typeface="Arial"/>
              </a:rPr>
              <a:t>•  </a:t>
            </a:r>
            <a:r>
              <a:rPr lang="en-US" sz="1400" b="0" i="0" dirty="0">
                <a:solidFill>
                  <a:srgbClr val="262626"/>
                </a:solidFill>
                <a:latin typeface="Arial"/>
              </a:rPr>
              <a:t>OLYMPIC </a:t>
            </a:r>
            <a:r>
              <a:rPr sz="1400" b="0" i="0" dirty="0">
                <a:solidFill>
                  <a:srgbClr val="262626"/>
                </a:solidFill>
                <a:latin typeface="Arial"/>
              </a:rPr>
              <a:t>distance </a:t>
            </a:r>
            <a:r>
              <a:rPr lang="en-US" sz="1400" b="0" i="0" dirty="0">
                <a:solidFill>
                  <a:srgbClr val="262626"/>
                </a:solidFill>
                <a:latin typeface="Arial"/>
              </a:rPr>
              <a:t>with a slightly short bike leg. Almost entirely flat bike and run course  </a:t>
            </a:r>
            <a:endParaRPr sz="1400" b="0" i="0" dirty="0">
              <a:solidFill>
                <a:srgbClr val="262626"/>
              </a:solidFill>
              <a:latin typeface="Arial"/>
            </a:endParaRPr>
          </a:p>
        </p:txBody>
      </p:sp>
      <p:sp>
        <p:nvSpPr>
          <p:cNvPr id="13" name="TextBox 12"/>
          <p:cNvSpPr txBox="1"/>
          <p:nvPr/>
        </p:nvSpPr>
        <p:spPr>
          <a:xfrm>
            <a:off x="365760" y="5109560"/>
            <a:ext cx="5852160" cy="523220"/>
          </a:xfrm>
          <a:prstGeom prst="rect">
            <a:avLst/>
          </a:prstGeom>
          <a:noFill/>
        </p:spPr>
        <p:txBody>
          <a:bodyPr wrap="square">
            <a:spAutoFit/>
          </a:bodyPr>
          <a:lstStyle/>
          <a:p>
            <a:pPr algn="l"/>
            <a:r>
              <a:rPr sz="1400" b="0" i="0" dirty="0">
                <a:solidFill>
                  <a:srgbClr val="262626"/>
                </a:solidFill>
                <a:latin typeface="Arial"/>
              </a:rPr>
              <a:t>•  Non-wetsuit is </a:t>
            </a:r>
            <a:r>
              <a:rPr lang="en-US" sz="1400" b="0" i="0" dirty="0">
                <a:solidFill>
                  <a:srgbClr val="262626"/>
                </a:solidFill>
                <a:latin typeface="Arial"/>
              </a:rPr>
              <a:t>almost certain. W</a:t>
            </a:r>
            <a:r>
              <a:rPr sz="1400" b="0" i="0" dirty="0">
                <a:solidFill>
                  <a:srgbClr val="262626"/>
                </a:solidFill>
                <a:latin typeface="Arial"/>
              </a:rPr>
              <a:t>ater has measured 24-26 °C and been ruled wetsuit-forbidden in all four editions.</a:t>
            </a:r>
            <a:r>
              <a:rPr lang="en-US" sz="1400" b="0" i="0" dirty="0">
                <a:solidFill>
                  <a:srgbClr val="262626"/>
                </a:solidFill>
                <a:latin typeface="Arial"/>
              </a:rPr>
              <a:t> Waterfron</a:t>
            </a:r>
            <a:r>
              <a:rPr lang="en-US" sz="1400" dirty="0">
                <a:solidFill>
                  <a:srgbClr val="262626"/>
                </a:solidFill>
                <a:latin typeface="Arial"/>
              </a:rPr>
              <a:t>t start.</a:t>
            </a:r>
            <a:endParaRPr sz="1400" b="0" i="0" dirty="0">
              <a:solidFill>
                <a:srgbClr val="262626"/>
              </a:solidFill>
              <a:latin typeface="Arial"/>
            </a:endParaRPr>
          </a:p>
        </p:txBody>
      </p:sp>
      <p:sp>
        <p:nvSpPr>
          <p:cNvPr id="14" name="TextBox 13"/>
          <p:cNvSpPr txBox="1"/>
          <p:nvPr/>
        </p:nvSpPr>
        <p:spPr>
          <a:xfrm>
            <a:off x="365760" y="5630789"/>
            <a:ext cx="5852160" cy="523220"/>
          </a:xfrm>
          <a:prstGeom prst="rect">
            <a:avLst/>
          </a:prstGeom>
          <a:noFill/>
        </p:spPr>
        <p:txBody>
          <a:bodyPr wrap="square">
            <a:spAutoFit/>
          </a:bodyPr>
          <a:lstStyle/>
          <a:p>
            <a:pPr algn="l"/>
            <a:r>
              <a:rPr sz="1400" b="0" i="0" dirty="0">
                <a:solidFill>
                  <a:srgbClr val="262626"/>
                </a:solidFill>
                <a:latin typeface="Arial"/>
              </a:rPr>
              <a:t>•  </a:t>
            </a:r>
            <a:r>
              <a:rPr lang="en-US" sz="1400" b="0" i="0" dirty="0">
                <a:solidFill>
                  <a:srgbClr val="262626"/>
                </a:solidFill>
                <a:latin typeface="Arial"/>
              </a:rPr>
              <a:t>Men’s and women’s have played out differently here. On the men’s side breakaways have stuck, while women’s racing have come together.  </a:t>
            </a:r>
            <a:endParaRPr sz="1400" b="0" i="0" dirty="0">
              <a:solidFill>
                <a:srgbClr val="262626"/>
              </a:solidFill>
              <a:latin typeface="Arial"/>
            </a:endParaRPr>
          </a:p>
        </p:txBody>
      </p:sp>
      <p:sp>
        <p:nvSpPr>
          <p:cNvPr id="15" name="TextBox 14"/>
          <p:cNvSpPr txBox="1"/>
          <p:nvPr/>
        </p:nvSpPr>
        <p:spPr>
          <a:xfrm>
            <a:off x="365760" y="6134766"/>
            <a:ext cx="5852160" cy="523220"/>
          </a:xfrm>
          <a:prstGeom prst="rect">
            <a:avLst/>
          </a:prstGeom>
          <a:noFill/>
        </p:spPr>
        <p:txBody>
          <a:bodyPr wrap="square">
            <a:spAutoFit/>
          </a:bodyPr>
          <a:lstStyle/>
          <a:p>
            <a:r>
              <a:rPr sz="1400" b="0" i="0" dirty="0">
                <a:solidFill>
                  <a:srgbClr val="262626"/>
                </a:solidFill>
                <a:latin typeface="Arial"/>
              </a:rPr>
              <a:t>•  Heat is asymmetric: men 09:00, women 12:00 into peak sun</a:t>
            </a:r>
            <a:r>
              <a:rPr lang="en-US" sz="1400" dirty="0">
                <a:solidFill>
                  <a:srgbClr val="262626"/>
                </a:solidFill>
                <a:latin typeface="Arial"/>
              </a:rPr>
              <a:t> with weather projections nearly 4°C warmer than the Men’s. </a:t>
            </a:r>
            <a:endParaRPr sz="1400" i="0" dirty="0">
              <a:solidFill>
                <a:srgbClr val="262626"/>
              </a:solidFill>
              <a:latin typeface="Arial"/>
            </a:endParaRPr>
          </a:p>
        </p:txBody>
      </p:sp>
      <p:sp>
        <p:nvSpPr>
          <p:cNvPr id="16" name="Rectangle 15"/>
          <p:cNvSpPr/>
          <p:nvPr/>
        </p:nvSpPr>
        <p:spPr>
          <a:xfrm>
            <a:off x="6583680" y="109728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9400" y="1115568"/>
            <a:ext cx="4937760" cy="274320"/>
          </a:xfrm>
          <a:prstGeom prst="rect">
            <a:avLst/>
          </a:prstGeom>
          <a:noFill/>
        </p:spPr>
        <p:txBody>
          <a:bodyPr wrap="square">
            <a:spAutoFit/>
          </a:bodyPr>
          <a:lstStyle/>
          <a:p>
            <a:pPr algn="l"/>
            <a:r>
              <a:rPr sz="1200" b="1" i="0">
                <a:solidFill>
                  <a:srgbClr val="FFFFFF"/>
                </a:solidFill>
                <a:latin typeface="Arial"/>
              </a:rPr>
              <a:t>COURSE AT A GLANCE</a:t>
            </a:r>
          </a:p>
        </p:txBody>
      </p:sp>
      <p:sp>
        <p:nvSpPr>
          <p:cNvPr id="18" name="TextBox 17"/>
          <p:cNvSpPr txBox="1"/>
          <p:nvPr/>
        </p:nvSpPr>
        <p:spPr>
          <a:xfrm>
            <a:off x="6675120" y="1416744"/>
            <a:ext cx="1828800" cy="320040"/>
          </a:xfrm>
          <a:prstGeom prst="rect">
            <a:avLst/>
          </a:prstGeom>
          <a:noFill/>
        </p:spPr>
        <p:txBody>
          <a:bodyPr wrap="square">
            <a:spAutoFit/>
          </a:bodyPr>
          <a:lstStyle/>
          <a:p>
            <a:pPr algn="l"/>
            <a:r>
              <a:rPr sz="1200" b="1" i="0" dirty="0">
                <a:solidFill>
                  <a:srgbClr val="002060"/>
                </a:solidFill>
                <a:latin typeface="Arial"/>
              </a:rPr>
              <a:t>Swim:</a:t>
            </a:r>
          </a:p>
        </p:txBody>
      </p:sp>
      <p:sp>
        <p:nvSpPr>
          <p:cNvPr id="19" name="TextBox 18"/>
          <p:cNvSpPr txBox="1"/>
          <p:nvPr/>
        </p:nvSpPr>
        <p:spPr>
          <a:xfrm>
            <a:off x="8229600" y="1416744"/>
            <a:ext cx="3657600" cy="320040"/>
          </a:xfrm>
          <a:prstGeom prst="rect">
            <a:avLst/>
          </a:prstGeom>
          <a:noFill/>
        </p:spPr>
        <p:txBody>
          <a:bodyPr wrap="square">
            <a:spAutoFit/>
          </a:bodyPr>
          <a:lstStyle/>
          <a:p>
            <a:pPr algn="l"/>
            <a:r>
              <a:rPr sz="1200" b="0" i="0">
                <a:solidFill>
                  <a:srgbClr val="262626"/>
                </a:solidFill>
                <a:latin typeface="Arial"/>
              </a:rPr>
              <a:t>1.5 km – 2 laps × 750 m</a:t>
            </a:r>
          </a:p>
        </p:txBody>
      </p:sp>
      <p:sp>
        <p:nvSpPr>
          <p:cNvPr id="20" name="TextBox 19"/>
          <p:cNvSpPr txBox="1"/>
          <p:nvPr/>
        </p:nvSpPr>
        <p:spPr>
          <a:xfrm>
            <a:off x="6675120" y="1674558"/>
            <a:ext cx="1828800" cy="320040"/>
          </a:xfrm>
          <a:prstGeom prst="rect">
            <a:avLst/>
          </a:prstGeom>
          <a:noFill/>
        </p:spPr>
        <p:txBody>
          <a:bodyPr wrap="square">
            <a:spAutoFit/>
          </a:bodyPr>
          <a:lstStyle/>
          <a:p>
            <a:pPr algn="l"/>
            <a:r>
              <a:rPr sz="1200" b="1" i="0">
                <a:solidFill>
                  <a:srgbClr val="002060"/>
                </a:solidFill>
                <a:latin typeface="Arial"/>
              </a:rPr>
              <a:t>Bike:</a:t>
            </a:r>
          </a:p>
        </p:txBody>
      </p:sp>
      <p:sp>
        <p:nvSpPr>
          <p:cNvPr id="21" name="TextBox 20"/>
          <p:cNvSpPr txBox="1"/>
          <p:nvPr/>
        </p:nvSpPr>
        <p:spPr>
          <a:xfrm>
            <a:off x="8229600" y="1674558"/>
            <a:ext cx="3657600" cy="276999"/>
          </a:xfrm>
          <a:prstGeom prst="rect">
            <a:avLst/>
          </a:prstGeom>
          <a:noFill/>
        </p:spPr>
        <p:txBody>
          <a:bodyPr wrap="square">
            <a:spAutoFit/>
          </a:bodyPr>
          <a:lstStyle/>
          <a:p>
            <a:pPr algn="l"/>
            <a:r>
              <a:rPr lang="en-US" sz="1200" dirty="0">
                <a:solidFill>
                  <a:srgbClr val="262626"/>
                </a:solidFill>
                <a:latin typeface="Arial"/>
              </a:rPr>
              <a:t>38.5</a:t>
            </a:r>
            <a:r>
              <a:rPr sz="1200" b="0" i="0" dirty="0">
                <a:solidFill>
                  <a:srgbClr val="262626"/>
                </a:solidFill>
                <a:latin typeface="Arial"/>
              </a:rPr>
              <a:t> km – 8 laps × </a:t>
            </a:r>
            <a:r>
              <a:rPr lang="en-US" sz="1200" b="0" i="0" dirty="0">
                <a:solidFill>
                  <a:srgbClr val="262626"/>
                </a:solidFill>
                <a:latin typeface="Arial"/>
              </a:rPr>
              <a:t>4</a:t>
            </a:r>
            <a:r>
              <a:rPr lang="en-US" sz="1200" dirty="0">
                <a:solidFill>
                  <a:srgbClr val="262626"/>
                </a:solidFill>
                <a:latin typeface="Arial"/>
              </a:rPr>
              <a:t>.81</a:t>
            </a:r>
            <a:r>
              <a:rPr sz="1200" b="0" i="0" dirty="0">
                <a:solidFill>
                  <a:srgbClr val="262626"/>
                </a:solidFill>
                <a:latin typeface="Arial"/>
              </a:rPr>
              <a:t> km</a:t>
            </a:r>
          </a:p>
        </p:txBody>
      </p:sp>
      <p:sp>
        <p:nvSpPr>
          <p:cNvPr id="22" name="TextBox 21"/>
          <p:cNvSpPr txBox="1"/>
          <p:nvPr/>
        </p:nvSpPr>
        <p:spPr>
          <a:xfrm>
            <a:off x="6675120" y="1915118"/>
            <a:ext cx="1828800" cy="320040"/>
          </a:xfrm>
          <a:prstGeom prst="rect">
            <a:avLst/>
          </a:prstGeom>
          <a:noFill/>
        </p:spPr>
        <p:txBody>
          <a:bodyPr wrap="square">
            <a:spAutoFit/>
          </a:bodyPr>
          <a:lstStyle/>
          <a:p>
            <a:pPr algn="l"/>
            <a:r>
              <a:rPr sz="1200" b="1" i="0">
                <a:solidFill>
                  <a:srgbClr val="002060"/>
                </a:solidFill>
                <a:latin typeface="Arial"/>
              </a:rPr>
              <a:t>Run:</a:t>
            </a:r>
          </a:p>
        </p:txBody>
      </p:sp>
      <p:sp>
        <p:nvSpPr>
          <p:cNvPr id="23" name="TextBox 22"/>
          <p:cNvSpPr txBox="1"/>
          <p:nvPr/>
        </p:nvSpPr>
        <p:spPr>
          <a:xfrm>
            <a:off x="8229600" y="1915118"/>
            <a:ext cx="3657600" cy="320040"/>
          </a:xfrm>
          <a:prstGeom prst="rect">
            <a:avLst/>
          </a:prstGeom>
          <a:noFill/>
        </p:spPr>
        <p:txBody>
          <a:bodyPr wrap="square">
            <a:spAutoFit/>
          </a:bodyPr>
          <a:lstStyle/>
          <a:p>
            <a:pPr algn="l"/>
            <a:r>
              <a:rPr sz="1200" b="0" i="0">
                <a:solidFill>
                  <a:srgbClr val="262626"/>
                </a:solidFill>
                <a:latin typeface="Arial"/>
              </a:rPr>
              <a:t>10 km – 4 laps × 2.5 km</a:t>
            </a:r>
          </a:p>
        </p:txBody>
      </p:sp>
      <p:sp>
        <p:nvSpPr>
          <p:cNvPr id="24" name="TextBox 23"/>
          <p:cNvSpPr txBox="1"/>
          <p:nvPr/>
        </p:nvSpPr>
        <p:spPr>
          <a:xfrm>
            <a:off x="6675120" y="2121174"/>
            <a:ext cx="1828800" cy="320040"/>
          </a:xfrm>
          <a:prstGeom prst="rect">
            <a:avLst/>
          </a:prstGeom>
          <a:noFill/>
        </p:spPr>
        <p:txBody>
          <a:bodyPr wrap="square">
            <a:spAutoFit/>
          </a:bodyPr>
          <a:lstStyle/>
          <a:p>
            <a:pPr algn="l"/>
            <a:r>
              <a:rPr sz="1200" b="1" i="0" dirty="0">
                <a:solidFill>
                  <a:srgbClr val="002060"/>
                </a:solidFill>
                <a:latin typeface="Arial"/>
              </a:rPr>
              <a:t>Format:</a:t>
            </a:r>
          </a:p>
        </p:txBody>
      </p:sp>
      <p:sp>
        <p:nvSpPr>
          <p:cNvPr id="25" name="TextBox 24"/>
          <p:cNvSpPr txBox="1"/>
          <p:nvPr/>
        </p:nvSpPr>
        <p:spPr>
          <a:xfrm>
            <a:off x="8229600" y="2121174"/>
            <a:ext cx="3657600" cy="320040"/>
          </a:xfrm>
          <a:prstGeom prst="rect">
            <a:avLst/>
          </a:prstGeom>
          <a:noFill/>
        </p:spPr>
        <p:txBody>
          <a:bodyPr wrap="square">
            <a:spAutoFit/>
          </a:bodyPr>
          <a:lstStyle/>
          <a:p>
            <a:pPr algn="l"/>
            <a:r>
              <a:rPr sz="1200" b="0" i="0" dirty="0">
                <a:solidFill>
                  <a:srgbClr val="262626"/>
                </a:solidFill>
                <a:latin typeface="Arial"/>
              </a:rPr>
              <a:t>Standard Distance (WTCS)</a:t>
            </a:r>
          </a:p>
        </p:txBody>
      </p:sp>
      <p:sp>
        <p:nvSpPr>
          <p:cNvPr id="26" name="TextBox 25"/>
          <p:cNvSpPr txBox="1"/>
          <p:nvPr/>
        </p:nvSpPr>
        <p:spPr>
          <a:xfrm>
            <a:off x="6675120" y="2350233"/>
            <a:ext cx="1828800" cy="320040"/>
          </a:xfrm>
          <a:prstGeom prst="rect">
            <a:avLst/>
          </a:prstGeom>
          <a:noFill/>
        </p:spPr>
        <p:txBody>
          <a:bodyPr wrap="square">
            <a:spAutoFit/>
          </a:bodyPr>
          <a:lstStyle/>
          <a:p>
            <a:pPr algn="l"/>
            <a:r>
              <a:rPr sz="1200" b="1" i="0" dirty="0">
                <a:solidFill>
                  <a:srgbClr val="002060"/>
                </a:solidFill>
                <a:latin typeface="Arial"/>
              </a:rPr>
              <a:t>Bike Laps:</a:t>
            </a:r>
          </a:p>
        </p:txBody>
      </p:sp>
      <p:sp>
        <p:nvSpPr>
          <p:cNvPr id="27" name="TextBox 26"/>
          <p:cNvSpPr txBox="1"/>
          <p:nvPr/>
        </p:nvSpPr>
        <p:spPr>
          <a:xfrm>
            <a:off x="8229600" y="2350233"/>
            <a:ext cx="3657600" cy="320040"/>
          </a:xfrm>
          <a:prstGeom prst="rect">
            <a:avLst/>
          </a:prstGeom>
          <a:noFill/>
        </p:spPr>
        <p:txBody>
          <a:bodyPr wrap="square">
            <a:spAutoFit/>
          </a:bodyPr>
          <a:lstStyle/>
          <a:p>
            <a:pPr algn="l"/>
            <a:r>
              <a:rPr sz="1200" b="0" i="0">
                <a:solidFill>
                  <a:srgbClr val="262626"/>
                </a:solidFill>
                <a:latin typeface="Arial"/>
              </a:rPr>
              <a:t>8</a:t>
            </a:r>
          </a:p>
        </p:txBody>
      </p:sp>
      <p:sp>
        <p:nvSpPr>
          <p:cNvPr id="28" name="TextBox 27"/>
          <p:cNvSpPr txBox="1"/>
          <p:nvPr/>
        </p:nvSpPr>
        <p:spPr>
          <a:xfrm>
            <a:off x="6675120" y="2631051"/>
            <a:ext cx="1828800" cy="320040"/>
          </a:xfrm>
          <a:prstGeom prst="rect">
            <a:avLst/>
          </a:prstGeom>
          <a:noFill/>
        </p:spPr>
        <p:txBody>
          <a:bodyPr wrap="square">
            <a:spAutoFit/>
          </a:bodyPr>
          <a:lstStyle/>
          <a:p>
            <a:pPr algn="l"/>
            <a:r>
              <a:rPr sz="1200" b="1" i="0" dirty="0">
                <a:solidFill>
                  <a:srgbClr val="002060"/>
                </a:solidFill>
                <a:latin typeface="Arial"/>
              </a:rPr>
              <a:t>Run Laps:</a:t>
            </a:r>
          </a:p>
        </p:txBody>
      </p:sp>
      <p:sp>
        <p:nvSpPr>
          <p:cNvPr id="29" name="TextBox 28"/>
          <p:cNvSpPr txBox="1"/>
          <p:nvPr/>
        </p:nvSpPr>
        <p:spPr>
          <a:xfrm>
            <a:off x="8229600" y="2631051"/>
            <a:ext cx="3657600" cy="320040"/>
          </a:xfrm>
          <a:prstGeom prst="rect">
            <a:avLst/>
          </a:prstGeom>
          <a:noFill/>
        </p:spPr>
        <p:txBody>
          <a:bodyPr wrap="square">
            <a:spAutoFit/>
          </a:bodyPr>
          <a:lstStyle/>
          <a:p>
            <a:pPr algn="l"/>
            <a:r>
              <a:rPr sz="1200" b="0" i="0" dirty="0">
                <a:solidFill>
                  <a:srgbClr val="262626"/>
                </a:solidFill>
                <a:latin typeface="Arial"/>
              </a:rPr>
              <a:t>4</a:t>
            </a:r>
          </a:p>
        </p:txBody>
      </p:sp>
      <p:sp>
        <p:nvSpPr>
          <p:cNvPr id="30" name="Rectangle 29"/>
          <p:cNvSpPr/>
          <p:nvPr/>
        </p:nvSpPr>
        <p:spPr>
          <a:xfrm>
            <a:off x="6583680" y="2892717"/>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29400" y="2911004"/>
            <a:ext cx="4937760" cy="274320"/>
          </a:xfrm>
          <a:prstGeom prst="rect">
            <a:avLst/>
          </a:prstGeom>
          <a:noFill/>
        </p:spPr>
        <p:txBody>
          <a:bodyPr wrap="square">
            <a:spAutoFit/>
          </a:bodyPr>
          <a:lstStyle/>
          <a:p>
            <a:pPr algn="l"/>
            <a:r>
              <a:rPr sz="1200" b="1" i="0" dirty="0">
                <a:solidFill>
                  <a:srgbClr val="FFFFFF"/>
                </a:solidFill>
                <a:latin typeface="Arial"/>
              </a:rPr>
              <a:t>QUICK LINKS</a:t>
            </a:r>
          </a:p>
        </p:txBody>
      </p:sp>
      <p:sp>
        <p:nvSpPr>
          <p:cNvPr id="32" name="TextBox 31"/>
          <p:cNvSpPr txBox="1"/>
          <p:nvPr/>
        </p:nvSpPr>
        <p:spPr>
          <a:xfrm>
            <a:off x="6675120" y="3166173"/>
            <a:ext cx="5120640" cy="274320"/>
          </a:xfrm>
          <a:prstGeom prst="rect">
            <a:avLst/>
          </a:prstGeom>
          <a:noFill/>
        </p:spPr>
        <p:txBody>
          <a:bodyPr wrap="square">
            <a:spAutoFit/>
          </a:bodyPr>
          <a:lstStyle/>
          <a:p>
            <a:pPr algn="l"/>
            <a:r>
              <a:rPr sz="1100" b="1" i="0" dirty="0">
                <a:solidFill>
                  <a:srgbClr val="002060"/>
                </a:solidFill>
                <a:latin typeface="Arial"/>
              </a:rPr>
              <a:t>Current Race Info:</a:t>
            </a:r>
          </a:p>
        </p:txBody>
      </p:sp>
      <p:sp>
        <p:nvSpPr>
          <p:cNvPr id="33" name="TextBox 32"/>
          <p:cNvSpPr txBox="1"/>
          <p:nvPr/>
        </p:nvSpPr>
        <p:spPr>
          <a:xfrm>
            <a:off x="6675120" y="3352905"/>
            <a:ext cx="5120640" cy="246221"/>
          </a:xfrm>
          <a:prstGeom prst="rect">
            <a:avLst/>
          </a:prstGeom>
          <a:noFill/>
        </p:spPr>
        <p:txBody>
          <a:bodyPr wrap="square">
            <a:spAutoFit/>
          </a:bodyPr>
          <a:lstStyle/>
          <a:p>
            <a:pPr algn="l"/>
            <a:r>
              <a:rPr sz="1000" b="0" i="1" dirty="0">
                <a:solidFill>
                  <a:srgbClr val="262626"/>
                </a:solidFill>
                <a:latin typeface="Arial"/>
                <a:hlinkClick r:id="rId3"/>
              </a:rPr>
              <a:t>Race Info | 2026 WTCS Weihai</a:t>
            </a:r>
            <a:endParaRPr sz="1000" b="0" i="1" dirty="0">
              <a:solidFill>
                <a:srgbClr val="262626"/>
              </a:solidFill>
              <a:latin typeface="Arial"/>
            </a:endParaRPr>
          </a:p>
        </p:txBody>
      </p:sp>
      <p:pic>
        <p:nvPicPr>
          <p:cNvPr id="35" name="Picture 34" descr="The image depicts a map showing various routes, landmarks, and facilities including roads, a marathon course, aid stations, and a finish line, with distances and additional notes such as medical stations and swim sections.&#10;&#10;AI-generated content may be incorrect.">
            <a:extLst>
              <a:ext uri="{FF2B5EF4-FFF2-40B4-BE49-F238E27FC236}">
                <a16:creationId xmlns:a16="http://schemas.microsoft.com/office/drawing/2014/main" id="{EB3EFC0C-BC48-F1C1-1CFB-BE43E9FED34D}"/>
              </a:ext>
            </a:extLst>
          </p:cNvPr>
          <p:cNvPicPr>
            <a:picLocks noChangeAspect="1"/>
          </p:cNvPicPr>
          <p:nvPr/>
        </p:nvPicPr>
        <p:blipFill>
          <a:blip r:embed="rId4"/>
          <a:stretch>
            <a:fillRect/>
          </a:stretch>
        </p:blipFill>
        <p:spPr>
          <a:xfrm>
            <a:off x="6321570" y="3657882"/>
            <a:ext cx="5851883" cy="29593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3574210"/>
            <a:ext cx="5120640" cy="228600"/>
          </a:xfrm>
          <a:prstGeom prst="rect">
            <a:avLst/>
          </a:prstGeom>
          <a:noFill/>
        </p:spPr>
        <p:txBody>
          <a:bodyPr wrap="square">
            <a:spAutoFit/>
          </a:bodyPr>
          <a:lstStyle/>
          <a:p>
            <a:pPr algn="ctr"/>
            <a:r>
              <a:rPr sz="900" b="0" i="1">
                <a:solidFill>
                  <a:srgbClr val="BFBFBF"/>
                </a:solidFill>
                <a:latin typeface="Arial"/>
              </a:rPr>
              <a:t>Source: 2026 WTCS Weihai Athletes' Guide (updated 22 July 2026)</a:t>
            </a:r>
          </a:p>
        </p:txBody>
      </p:sp>
      <p:sp>
        <p:nvSpPr>
          <p:cNvPr id="10" name="Rectangle 9"/>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1.5 km   •   2 × 750 m</a:t>
            </a:r>
          </a:p>
        </p:txBody>
      </p:sp>
      <p:sp>
        <p:nvSpPr>
          <p:cNvPr id="12" name="TextBox 11"/>
          <p:cNvSpPr txBox="1"/>
          <p:nvPr/>
        </p:nvSpPr>
        <p:spPr>
          <a:xfrm>
            <a:off x="5577840" y="1636776"/>
            <a:ext cx="6309360" cy="261610"/>
          </a:xfrm>
          <a:prstGeom prst="rect">
            <a:avLst/>
          </a:prstGeom>
          <a:noFill/>
        </p:spPr>
        <p:txBody>
          <a:bodyPr wrap="square">
            <a:spAutoFit/>
          </a:bodyPr>
          <a:lstStyle/>
          <a:p>
            <a:pPr algn="ctr"/>
            <a:r>
              <a:rPr sz="1100" b="0" i="1" dirty="0">
                <a:solidFill>
                  <a:srgbClr val="AABBDD"/>
                </a:solidFill>
                <a:latin typeface="Arial"/>
              </a:rPr>
              <a:t>Open sea bay</a:t>
            </a:r>
            <a:r>
              <a:rPr lang="en-US" sz="1100" b="0" i="1" dirty="0">
                <a:solidFill>
                  <a:srgbClr val="AABBDD"/>
                </a:solidFill>
                <a:latin typeface="Arial"/>
              </a:rPr>
              <a:t>; </a:t>
            </a:r>
            <a:r>
              <a:rPr sz="1100" b="0" i="1" dirty="0">
                <a:solidFill>
                  <a:srgbClr val="AABBDD"/>
                </a:solidFill>
                <a:latin typeface="Arial"/>
              </a:rPr>
              <a:t>salt water, seafront start</a:t>
            </a:r>
          </a:p>
        </p:txBody>
      </p:sp>
      <p:sp>
        <p:nvSpPr>
          <p:cNvPr id="13" name="Rectangle 12"/>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5" name="TextBox 14"/>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1.5 km</a:t>
            </a:r>
          </a:p>
        </p:txBody>
      </p:sp>
      <p:sp>
        <p:nvSpPr>
          <p:cNvPr id="16" name="Rectangle 15"/>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Layout</a:t>
            </a:r>
          </a:p>
        </p:txBody>
      </p:sp>
      <p:sp>
        <p:nvSpPr>
          <p:cNvPr id="18" name="TextBox 17"/>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Yellow Sea</a:t>
            </a:r>
          </a:p>
        </p:txBody>
      </p:sp>
      <p:sp>
        <p:nvSpPr>
          <p:cNvPr id="19" name="Rectangle 18"/>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Start</a:t>
            </a:r>
          </a:p>
        </p:txBody>
      </p:sp>
      <p:sp>
        <p:nvSpPr>
          <p:cNvPr id="21" name="TextBox 20"/>
          <p:cNvSpPr txBox="1"/>
          <p:nvPr/>
        </p:nvSpPr>
        <p:spPr>
          <a:xfrm>
            <a:off x="9875520" y="2340864"/>
            <a:ext cx="1920240" cy="307777"/>
          </a:xfrm>
          <a:prstGeom prst="rect">
            <a:avLst/>
          </a:prstGeom>
          <a:noFill/>
        </p:spPr>
        <p:txBody>
          <a:bodyPr wrap="square">
            <a:spAutoFit/>
          </a:bodyPr>
          <a:lstStyle/>
          <a:p>
            <a:pPr algn="ctr"/>
            <a:r>
              <a:rPr sz="1400" b="1" i="0" dirty="0">
                <a:solidFill>
                  <a:srgbClr val="262626"/>
                </a:solidFill>
                <a:latin typeface="Arial"/>
              </a:rPr>
              <a:t>Waterfront</a:t>
            </a:r>
          </a:p>
        </p:txBody>
      </p:sp>
      <p:sp>
        <p:nvSpPr>
          <p:cNvPr id="22" name="Rectangle 21"/>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Water Temp</a:t>
            </a:r>
          </a:p>
        </p:txBody>
      </p:sp>
      <p:sp>
        <p:nvSpPr>
          <p:cNvPr id="24" name="TextBox 23"/>
          <p:cNvSpPr txBox="1"/>
          <p:nvPr/>
        </p:nvSpPr>
        <p:spPr>
          <a:xfrm>
            <a:off x="5669280" y="3054096"/>
            <a:ext cx="1920240" cy="347472"/>
          </a:xfrm>
          <a:prstGeom prst="rect">
            <a:avLst/>
          </a:prstGeom>
          <a:noFill/>
        </p:spPr>
        <p:txBody>
          <a:bodyPr wrap="square">
            <a:spAutoFit/>
          </a:bodyPr>
          <a:lstStyle/>
          <a:p>
            <a:pPr algn="ctr"/>
            <a:r>
              <a:rPr sz="1400" b="1" i="0">
                <a:solidFill>
                  <a:srgbClr val="262626"/>
                </a:solidFill>
                <a:latin typeface="Arial"/>
              </a:rPr>
              <a:t>27.6 °C (7-yr avg)</a:t>
            </a:r>
          </a:p>
        </p:txBody>
      </p:sp>
      <p:sp>
        <p:nvSpPr>
          <p:cNvPr id="25" name="Rectangle 24"/>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Wetsuit</a:t>
            </a:r>
          </a:p>
        </p:txBody>
      </p:sp>
      <p:sp>
        <p:nvSpPr>
          <p:cNvPr id="27" name="TextBox 26"/>
          <p:cNvSpPr txBox="1"/>
          <p:nvPr/>
        </p:nvSpPr>
        <p:spPr>
          <a:xfrm>
            <a:off x="7772400" y="3054096"/>
            <a:ext cx="1920240" cy="347472"/>
          </a:xfrm>
          <a:prstGeom prst="rect">
            <a:avLst/>
          </a:prstGeom>
          <a:noFill/>
        </p:spPr>
        <p:txBody>
          <a:bodyPr wrap="square">
            <a:spAutoFit/>
          </a:bodyPr>
          <a:lstStyle/>
          <a:p>
            <a:pPr algn="ctr"/>
            <a:r>
              <a:rPr sz="1400" b="1" i="0">
                <a:solidFill>
                  <a:srgbClr val="262626"/>
                </a:solidFill>
                <a:latin typeface="Arial"/>
              </a:rPr>
              <a:t>Forbidden (&gt; 22 °C)</a:t>
            </a:r>
          </a:p>
        </p:txBody>
      </p:sp>
      <p:sp>
        <p:nvSpPr>
          <p:cNvPr id="28" name="Rectangle 27"/>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Lap Count</a:t>
            </a:r>
          </a:p>
        </p:txBody>
      </p:sp>
      <p:sp>
        <p:nvSpPr>
          <p:cNvPr id="30" name="TextBox 29"/>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2</a:t>
            </a:r>
          </a:p>
        </p:txBody>
      </p:sp>
      <p:sp>
        <p:nvSpPr>
          <p:cNvPr id="31" name="Rectangle 30"/>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3" name="TextBox 32"/>
          <p:cNvSpPr txBox="1"/>
          <p:nvPr/>
        </p:nvSpPr>
        <p:spPr>
          <a:xfrm>
            <a:off x="5669280" y="3977640"/>
            <a:ext cx="6126480" cy="253916"/>
          </a:xfrm>
          <a:prstGeom prst="rect">
            <a:avLst/>
          </a:prstGeom>
          <a:noFill/>
        </p:spPr>
        <p:txBody>
          <a:bodyPr wrap="square">
            <a:spAutoFit/>
          </a:bodyPr>
          <a:lstStyle/>
          <a:p>
            <a:pPr algn="l"/>
            <a:r>
              <a:rPr sz="1050" b="0" i="0" dirty="0">
                <a:solidFill>
                  <a:srgbClr val="262626"/>
                </a:solidFill>
                <a:latin typeface="Arial"/>
              </a:rPr>
              <a:t>•  Standard-distance swim: 2 × 750 m counter-clockwise laps in the Yellow Sea</a:t>
            </a:r>
          </a:p>
        </p:txBody>
      </p:sp>
      <p:sp>
        <p:nvSpPr>
          <p:cNvPr id="34" name="TextBox 33"/>
          <p:cNvSpPr txBox="1"/>
          <p:nvPr/>
        </p:nvSpPr>
        <p:spPr>
          <a:xfrm>
            <a:off x="5669280" y="4270248"/>
            <a:ext cx="6126480" cy="253916"/>
          </a:xfrm>
          <a:prstGeom prst="rect">
            <a:avLst/>
          </a:prstGeom>
          <a:noFill/>
        </p:spPr>
        <p:txBody>
          <a:bodyPr wrap="square">
            <a:spAutoFit/>
          </a:bodyPr>
          <a:lstStyle/>
          <a:p>
            <a:pPr algn="l"/>
            <a:r>
              <a:rPr sz="1050" b="0" i="0" dirty="0">
                <a:solidFill>
                  <a:srgbClr val="262626"/>
                </a:solidFill>
                <a:latin typeface="Arial"/>
              </a:rPr>
              <a:t>•  Salt water and open bay</a:t>
            </a:r>
            <a:r>
              <a:rPr lang="en-US" sz="1050" b="0" i="0" dirty="0">
                <a:solidFill>
                  <a:srgbClr val="262626"/>
                </a:solidFill>
                <a:latin typeface="Arial"/>
              </a:rPr>
              <a:t>. Potential for moderate </a:t>
            </a:r>
            <a:r>
              <a:rPr sz="1050" b="0" i="0" dirty="0">
                <a:solidFill>
                  <a:srgbClr val="262626"/>
                </a:solidFill>
                <a:latin typeface="Arial"/>
              </a:rPr>
              <a:t>swell and chop</a:t>
            </a:r>
          </a:p>
        </p:txBody>
      </p:sp>
      <p:sp>
        <p:nvSpPr>
          <p:cNvPr id="35" name="TextBox 34"/>
          <p:cNvSpPr txBox="1"/>
          <p:nvPr/>
        </p:nvSpPr>
        <p:spPr>
          <a:xfrm>
            <a:off x="5669280" y="4516848"/>
            <a:ext cx="6126480" cy="253916"/>
          </a:xfrm>
          <a:prstGeom prst="rect">
            <a:avLst/>
          </a:prstGeom>
          <a:noFill/>
        </p:spPr>
        <p:txBody>
          <a:bodyPr wrap="square">
            <a:spAutoFit/>
          </a:bodyPr>
          <a:lstStyle/>
          <a:p>
            <a:pPr algn="l"/>
            <a:r>
              <a:rPr sz="1050" b="0" i="0" dirty="0">
                <a:solidFill>
                  <a:srgbClr val="262626"/>
                </a:solidFill>
                <a:latin typeface="Arial"/>
              </a:rPr>
              <a:t>•  Water has run 24–26 °C in every measured edition, so this is a warm, non-wetsuit swim</a:t>
            </a:r>
          </a:p>
        </p:txBody>
      </p:sp>
      <p:sp>
        <p:nvSpPr>
          <p:cNvPr id="38" name="TextBox 37"/>
          <p:cNvSpPr txBox="1"/>
          <p:nvPr/>
        </p:nvSpPr>
        <p:spPr>
          <a:xfrm>
            <a:off x="5669280" y="4739063"/>
            <a:ext cx="6126480" cy="310896"/>
          </a:xfrm>
          <a:prstGeom prst="rect">
            <a:avLst/>
          </a:prstGeom>
          <a:noFill/>
        </p:spPr>
        <p:txBody>
          <a:bodyPr wrap="square">
            <a:spAutoFit/>
          </a:bodyPr>
          <a:lstStyle/>
          <a:p>
            <a:pPr algn="l"/>
            <a:r>
              <a:rPr sz="1050" b="0" i="0" dirty="0">
                <a:solidFill>
                  <a:srgbClr val="262626"/>
                </a:solidFill>
                <a:latin typeface="Arial"/>
              </a:rPr>
              <a:t>•  Swim familiarization is Friday 28 Aug 10:00–11:00 only; swimming the race course at any other time is prohibited</a:t>
            </a:r>
          </a:p>
        </p:txBody>
      </p:sp>
      <p:pic>
        <p:nvPicPr>
          <p:cNvPr id="44" name="Picture 43" descr="The image depicts a swimming area with marked distances of 350m, 30m, and 20m, indicating the starting point and various distances within the swim zone.&#10;&#10;AI-generated content may be incorrect.">
            <a:extLst>
              <a:ext uri="{FF2B5EF4-FFF2-40B4-BE49-F238E27FC236}">
                <a16:creationId xmlns:a16="http://schemas.microsoft.com/office/drawing/2014/main" id="{9DF2B4EF-10BE-5328-B6E7-C63AF3361D14}"/>
              </a:ext>
            </a:extLst>
          </p:cNvPr>
          <p:cNvPicPr>
            <a:picLocks noChangeAspect="1"/>
          </p:cNvPicPr>
          <p:nvPr/>
        </p:nvPicPr>
        <p:blipFill>
          <a:blip r:embed="rId3"/>
          <a:stretch>
            <a:fillRect/>
          </a:stretch>
        </p:blipFill>
        <p:spPr>
          <a:xfrm>
            <a:off x="111164" y="1160814"/>
            <a:ext cx="5283796" cy="22956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CCF1131C-8DDD-99A6-2287-B72262E748B6}"/>
              </a:ext>
            </a:extLst>
          </p:cNvPr>
          <p:cNvGrpSpPr/>
          <p:nvPr/>
        </p:nvGrpSpPr>
        <p:grpSpPr>
          <a:xfrm>
            <a:off x="274320" y="5120640"/>
            <a:ext cx="11640312" cy="1417320"/>
            <a:chOff x="274320" y="5120640"/>
            <a:chExt cx="11640312" cy="1417320"/>
          </a:xfrm>
        </p:grpSpPr>
        <p:sp>
          <p:nvSpPr>
            <p:cNvPr id="39" name="Rectangle 38"/>
            <p:cNvSpPr/>
            <p:nvPr/>
          </p:nvSpPr>
          <p:spPr>
            <a:xfrm>
              <a:off x="274320" y="5120640"/>
              <a:ext cx="11640312" cy="141732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4320" y="5577840"/>
              <a:ext cx="11640312" cy="548640"/>
            </a:xfrm>
            <a:prstGeom prst="rect">
              <a:avLst/>
            </a:prstGeom>
            <a:noFill/>
          </p:spPr>
          <p:txBody>
            <a:bodyPr wrap="square">
              <a:spAutoFit/>
            </a:bodyPr>
            <a:lstStyle/>
            <a:p>
              <a:pPr algn="ctr"/>
              <a:r>
                <a:rPr sz="1100" b="0" i="1">
                  <a:solidFill>
                    <a:srgbClr val="BFBFBF"/>
                  </a:solidFill>
                  <a:latin typeface="Arial"/>
                </a:rPr>
                <a:t>Flat course — published profile shows no significant climbs.
No elevation chart synthesized; if a race GPS FIT becomes available, real contours will replace this block.</a:t>
              </a:r>
            </a:p>
          </p:txBody>
        </p:sp>
        <p:pic>
          <p:nvPicPr>
            <p:cNvPr id="44" name="Picture 43" descr="The image displays a graph of elevation climbs, starting at 591 and descending to -62, with intervals of 0.39, 0.78, 1.17, 1.56, 1.95, 2.34, 2.73, and 3.12.&#10;&#10;AI-generated content may be incorrect.">
              <a:extLst>
                <a:ext uri="{FF2B5EF4-FFF2-40B4-BE49-F238E27FC236}">
                  <a16:creationId xmlns:a16="http://schemas.microsoft.com/office/drawing/2014/main" id="{C52F0B83-4BF2-C8F8-2A4B-A2DA95D3ED9E}"/>
                </a:ext>
              </a:extLst>
            </p:cNvPr>
            <p:cNvPicPr>
              <a:picLocks noChangeAspect="1"/>
            </p:cNvPicPr>
            <p:nvPr/>
          </p:nvPicPr>
          <p:blipFill>
            <a:blip r:embed="rId2"/>
            <a:stretch>
              <a:fillRect/>
            </a:stretch>
          </p:blipFill>
          <p:spPr>
            <a:xfrm>
              <a:off x="333628" y="5148072"/>
              <a:ext cx="11521567" cy="1386848"/>
            </a:xfrm>
            <a:prstGeom prst="rect">
              <a:avLst/>
            </a:prstGeom>
          </p:spPr>
        </p:pic>
      </p:grpSp>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3"/>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4480560"/>
            <a:ext cx="5120640" cy="228600"/>
          </a:xfrm>
          <a:prstGeom prst="rect">
            <a:avLst/>
          </a:prstGeom>
          <a:noFill/>
        </p:spPr>
        <p:txBody>
          <a:bodyPr wrap="square">
            <a:spAutoFit/>
          </a:bodyPr>
          <a:lstStyle/>
          <a:p>
            <a:pPr algn="ctr"/>
            <a:r>
              <a:rPr sz="900" b="0" i="1">
                <a:solidFill>
                  <a:srgbClr val="BFBFBF"/>
                </a:solidFill>
                <a:latin typeface="Arial"/>
              </a:rPr>
              <a:t>Source: 2026 WTCS Weihai Athletes' Guide (updated 22 July 2026) + WT race info</a:t>
            </a:r>
          </a:p>
        </p:txBody>
      </p:sp>
      <p:sp>
        <p:nvSpPr>
          <p:cNvPr id="10" name="Rectangle 9"/>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7840" y="1252728"/>
            <a:ext cx="6309360" cy="430887"/>
          </a:xfrm>
          <a:prstGeom prst="rect">
            <a:avLst/>
          </a:prstGeom>
          <a:noFill/>
        </p:spPr>
        <p:txBody>
          <a:bodyPr wrap="square">
            <a:spAutoFit/>
          </a:bodyPr>
          <a:lstStyle/>
          <a:p>
            <a:pPr algn="ctr"/>
            <a:r>
              <a:rPr lang="en-US" sz="2200" b="1" i="0" dirty="0">
                <a:solidFill>
                  <a:srgbClr val="FFFFFF"/>
                </a:solidFill>
                <a:latin typeface="Arial"/>
              </a:rPr>
              <a:t>38.5</a:t>
            </a:r>
            <a:r>
              <a:rPr sz="2200" b="1" i="0" dirty="0">
                <a:solidFill>
                  <a:srgbClr val="FFFFFF"/>
                </a:solidFill>
                <a:latin typeface="Arial"/>
              </a:rPr>
              <a:t> km   •   8 × </a:t>
            </a:r>
            <a:r>
              <a:rPr lang="en-US" sz="2200" b="1" i="0" dirty="0">
                <a:solidFill>
                  <a:srgbClr val="FFFFFF"/>
                </a:solidFill>
                <a:latin typeface="Arial"/>
              </a:rPr>
              <a:t>4.81</a:t>
            </a:r>
            <a:r>
              <a:rPr sz="2200" b="1" i="0" dirty="0">
                <a:solidFill>
                  <a:srgbClr val="FFFFFF"/>
                </a:solidFill>
                <a:latin typeface="Arial"/>
              </a:rPr>
              <a:t> km loops</a:t>
            </a:r>
          </a:p>
        </p:txBody>
      </p:sp>
      <p:sp>
        <p:nvSpPr>
          <p:cNvPr id="12" name="TextBox 11"/>
          <p:cNvSpPr txBox="1"/>
          <p:nvPr/>
        </p:nvSpPr>
        <p:spPr>
          <a:xfrm>
            <a:off x="5577840" y="1636776"/>
            <a:ext cx="6309360" cy="261610"/>
          </a:xfrm>
          <a:prstGeom prst="rect">
            <a:avLst/>
          </a:prstGeom>
          <a:noFill/>
        </p:spPr>
        <p:txBody>
          <a:bodyPr wrap="square">
            <a:spAutoFit/>
          </a:bodyPr>
          <a:lstStyle/>
          <a:p>
            <a:pPr algn="ctr"/>
            <a:r>
              <a:rPr sz="1100" b="0" i="1" dirty="0">
                <a:solidFill>
                  <a:srgbClr val="AABBDD"/>
                </a:solidFill>
                <a:latin typeface="Arial"/>
              </a:rPr>
              <a:t>Closed city roads</a:t>
            </a:r>
            <a:r>
              <a:rPr lang="en-US" sz="1100" b="0" i="1" dirty="0">
                <a:solidFill>
                  <a:srgbClr val="AABBDD"/>
                </a:solidFill>
                <a:latin typeface="Arial"/>
              </a:rPr>
              <a:t>; </a:t>
            </a:r>
            <a:r>
              <a:rPr sz="1100" b="0" i="1" dirty="0">
                <a:solidFill>
                  <a:srgbClr val="AABBDD"/>
                </a:solidFill>
                <a:latin typeface="Arial"/>
              </a:rPr>
              <a:t>Haibin North Rd, Yuhua Rd turnaround, </a:t>
            </a:r>
            <a:r>
              <a:rPr sz="1100" b="0" i="1" dirty="0" err="1">
                <a:solidFill>
                  <a:srgbClr val="AABBDD"/>
                </a:solidFill>
                <a:latin typeface="Arial"/>
              </a:rPr>
              <a:t>Dongshan</a:t>
            </a:r>
            <a:r>
              <a:rPr sz="1100" b="0" i="1" dirty="0">
                <a:solidFill>
                  <a:srgbClr val="AABBDD"/>
                </a:solidFill>
                <a:latin typeface="Arial"/>
              </a:rPr>
              <a:t> Rd</a:t>
            </a:r>
          </a:p>
        </p:txBody>
      </p:sp>
      <p:sp>
        <p:nvSpPr>
          <p:cNvPr id="13" name="Rectangle 12"/>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Elevation / Lap</a:t>
            </a:r>
          </a:p>
        </p:txBody>
      </p:sp>
      <p:sp>
        <p:nvSpPr>
          <p:cNvPr id="15" name="TextBox 14"/>
          <p:cNvSpPr txBox="1"/>
          <p:nvPr/>
        </p:nvSpPr>
        <p:spPr>
          <a:xfrm>
            <a:off x="5669280" y="2340864"/>
            <a:ext cx="1920240" cy="323165"/>
          </a:xfrm>
          <a:prstGeom prst="rect">
            <a:avLst/>
          </a:prstGeom>
          <a:noFill/>
        </p:spPr>
        <p:txBody>
          <a:bodyPr wrap="square">
            <a:spAutoFit/>
          </a:bodyPr>
          <a:lstStyle/>
          <a:p>
            <a:pPr algn="ctr"/>
            <a:r>
              <a:rPr lang="en-US" sz="1500" b="1" i="0" dirty="0">
                <a:solidFill>
                  <a:srgbClr val="262626"/>
                </a:solidFill>
                <a:latin typeface="Arial"/>
              </a:rPr>
              <a:t>210 ft. / lap</a:t>
            </a:r>
            <a:endParaRPr sz="1500" b="1" i="0" dirty="0">
              <a:solidFill>
                <a:srgbClr val="262626"/>
              </a:solidFill>
              <a:latin typeface="Arial"/>
            </a:endParaRPr>
          </a:p>
        </p:txBody>
      </p:sp>
      <p:sp>
        <p:nvSpPr>
          <p:cNvPr id="16" name="Rectangle 15"/>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18" name="TextBox 17"/>
          <p:cNvSpPr txBox="1"/>
          <p:nvPr/>
        </p:nvSpPr>
        <p:spPr>
          <a:xfrm>
            <a:off x="7772400" y="2340864"/>
            <a:ext cx="1920240" cy="323165"/>
          </a:xfrm>
          <a:prstGeom prst="rect">
            <a:avLst/>
          </a:prstGeom>
          <a:noFill/>
        </p:spPr>
        <p:txBody>
          <a:bodyPr wrap="square">
            <a:spAutoFit/>
          </a:bodyPr>
          <a:lstStyle/>
          <a:p>
            <a:pPr algn="ctr"/>
            <a:r>
              <a:rPr lang="en-US" sz="1500" b="1" i="0" dirty="0">
                <a:solidFill>
                  <a:srgbClr val="262626"/>
                </a:solidFill>
                <a:latin typeface="Arial"/>
              </a:rPr>
              <a:t>1680 ft. </a:t>
            </a:r>
            <a:endParaRPr sz="1500" b="1" i="0" dirty="0">
              <a:solidFill>
                <a:srgbClr val="262626"/>
              </a:solidFill>
              <a:latin typeface="Arial"/>
            </a:endParaRPr>
          </a:p>
        </p:txBody>
      </p:sp>
      <p:sp>
        <p:nvSpPr>
          <p:cNvPr id="19" name="Rectangle 18"/>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1" name="TextBox 20"/>
          <p:cNvSpPr txBox="1"/>
          <p:nvPr/>
        </p:nvSpPr>
        <p:spPr>
          <a:xfrm>
            <a:off x="9875520" y="2340864"/>
            <a:ext cx="1920240" cy="323165"/>
          </a:xfrm>
          <a:prstGeom prst="rect">
            <a:avLst/>
          </a:prstGeom>
          <a:noFill/>
        </p:spPr>
        <p:txBody>
          <a:bodyPr wrap="square">
            <a:spAutoFit/>
          </a:bodyPr>
          <a:lstStyle/>
          <a:p>
            <a:pPr algn="ctr"/>
            <a:r>
              <a:rPr lang="en-US" sz="1500" b="1" i="0" dirty="0">
                <a:solidFill>
                  <a:srgbClr val="262626"/>
                </a:solidFill>
                <a:latin typeface="Arial"/>
              </a:rPr>
              <a:t>5.8% on the climb</a:t>
            </a:r>
            <a:endParaRPr sz="1500" b="1" i="0" dirty="0">
              <a:solidFill>
                <a:srgbClr val="262626"/>
              </a:solidFill>
              <a:latin typeface="Arial"/>
            </a:endParaRPr>
          </a:p>
        </p:txBody>
      </p:sp>
      <p:sp>
        <p:nvSpPr>
          <p:cNvPr id="22" name="Rectangle 21"/>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Max Climb Grade</a:t>
            </a:r>
          </a:p>
        </p:txBody>
      </p:sp>
      <p:sp>
        <p:nvSpPr>
          <p:cNvPr id="24" name="TextBox 23"/>
          <p:cNvSpPr txBox="1"/>
          <p:nvPr/>
        </p:nvSpPr>
        <p:spPr>
          <a:xfrm>
            <a:off x="5669280" y="3054096"/>
            <a:ext cx="1920240" cy="323165"/>
          </a:xfrm>
          <a:prstGeom prst="rect">
            <a:avLst/>
          </a:prstGeom>
          <a:noFill/>
        </p:spPr>
        <p:txBody>
          <a:bodyPr wrap="square">
            <a:spAutoFit/>
          </a:bodyPr>
          <a:lstStyle/>
          <a:p>
            <a:pPr algn="ctr"/>
            <a:r>
              <a:rPr lang="en-US" sz="1500" b="1" i="0" dirty="0">
                <a:solidFill>
                  <a:srgbClr val="262626"/>
                </a:solidFill>
                <a:latin typeface="Arial"/>
              </a:rPr>
              <a:t>~8%</a:t>
            </a:r>
            <a:endParaRPr sz="1500" b="1" i="0" dirty="0">
              <a:solidFill>
                <a:srgbClr val="262626"/>
              </a:solidFill>
              <a:latin typeface="Arial"/>
            </a:endParaRPr>
          </a:p>
        </p:txBody>
      </p:sp>
      <p:sp>
        <p:nvSpPr>
          <p:cNvPr id="25" name="Rectangle 24"/>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Wind</a:t>
            </a:r>
          </a:p>
        </p:txBody>
      </p:sp>
      <p:sp>
        <p:nvSpPr>
          <p:cNvPr id="27" name="TextBox 26"/>
          <p:cNvSpPr txBox="1"/>
          <p:nvPr/>
        </p:nvSpPr>
        <p:spPr>
          <a:xfrm>
            <a:off x="7772400" y="3054096"/>
            <a:ext cx="1920240" cy="430887"/>
          </a:xfrm>
          <a:prstGeom prst="rect">
            <a:avLst/>
          </a:prstGeom>
          <a:noFill/>
        </p:spPr>
        <p:txBody>
          <a:bodyPr wrap="square">
            <a:spAutoFit/>
          </a:bodyPr>
          <a:lstStyle/>
          <a:p>
            <a:pPr algn="ctr"/>
            <a:r>
              <a:rPr sz="1100" b="1" i="0" dirty="0">
                <a:solidFill>
                  <a:srgbClr val="262626"/>
                </a:solidFill>
                <a:latin typeface="Arial"/>
              </a:rPr>
              <a:t>Coastal average ~18 km/h, prevailing SE</a:t>
            </a:r>
          </a:p>
        </p:txBody>
      </p:sp>
      <p:sp>
        <p:nvSpPr>
          <p:cNvPr id="28" name="Rectangle 27"/>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Loops</a:t>
            </a:r>
          </a:p>
        </p:txBody>
      </p:sp>
      <p:sp>
        <p:nvSpPr>
          <p:cNvPr id="30" name="TextBox 29"/>
          <p:cNvSpPr txBox="1"/>
          <p:nvPr/>
        </p:nvSpPr>
        <p:spPr>
          <a:xfrm>
            <a:off x="9875520" y="3054096"/>
            <a:ext cx="1920240" cy="323165"/>
          </a:xfrm>
          <a:prstGeom prst="rect">
            <a:avLst/>
          </a:prstGeom>
          <a:noFill/>
        </p:spPr>
        <p:txBody>
          <a:bodyPr wrap="square">
            <a:spAutoFit/>
          </a:bodyPr>
          <a:lstStyle/>
          <a:p>
            <a:pPr algn="ctr"/>
            <a:r>
              <a:rPr sz="1500" b="1" i="0" dirty="0">
                <a:solidFill>
                  <a:srgbClr val="262626"/>
                </a:solidFill>
                <a:latin typeface="Arial"/>
              </a:rPr>
              <a:t>8 × </a:t>
            </a:r>
            <a:r>
              <a:rPr lang="en-US" sz="1500" b="1" i="0" dirty="0">
                <a:solidFill>
                  <a:srgbClr val="262626"/>
                </a:solidFill>
                <a:latin typeface="Arial"/>
              </a:rPr>
              <a:t>4.81</a:t>
            </a:r>
            <a:r>
              <a:rPr sz="1500" b="1" i="0" dirty="0">
                <a:solidFill>
                  <a:srgbClr val="262626"/>
                </a:solidFill>
                <a:latin typeface="Arial"/>
              </a:rPr>
              <a:t> km</a:t>
            </a:r>
          </a:p>
        </p:txBody>
      </p:sp>
      <p:sp>
        <p:nvSpPr>
          <p:cNvPr id="31" name="Rectangle 30"/>
          <p:cNvSpPr/>
          <p:nvPr/>
        </p:nvSpPr>
        <p:spPr>
          <a:xfrm>
            <a:off x="5577840" y="370332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0" y="3730752"/>
            <a:ext cx="6126480" cy="237744"/>
          </a:xfrm>
          <a:prstGeom prst="rect">
            <a:avLst/>
          </a:prstGeom>
          <a:noFill/>
        </p:spPr>
        <p:txBody>
          <a:bodyPr wrap="square">
            <a:spAutoFit/>
          </a:bodyPr>
          <a:lstStyle/>
          <a:p>
            <a:pPr algn="l"/>
            <a:r>
              <a:rPr sz="1200" b="1" i="0">
                <a:solidFill>
                  <a:srgbClr val="FFFFFF"/>
                </a:solidFill>
                <a:latin typeface="Arial"/>
              </a:rPr>
              <a:t>Tactical Implications</a:t>
            </a:r>
          </a:p>
        </p:txBody>
      </p:sp>
      <p:sp>
        <p:nvSpPr>
          <p:cNvPr id="33" name="TextBox 32"/>
          <p:cNvSpPr txBox="1"/>
          <p:nvPr/>
        </p:nvSpPr>
        <p:spPr>
          <a:xfrm>
            <a:off x="5669280" y="4069080"/>
            <a:ext cx="6126480" cy="415498"/>
          </a:xfrm>
          <a:prstGeom prst="rect">
            <a:avLst/>
          </a:prstGeom>
          <a:noFill/>
        </p:spPr>
        <p:txBody>
          <a:bodyPr wrap="square">
            <a:spAutoFit/>
          </a:bodyPr>
          <a:lstStyle/>
          <a:p>
            <a:r>
              <a:rPr sz="1050" b="0" i="0" dirty="0">
                <a:solidFill>
                  <a:srgbClr val="262626"/>
                </a:solidFill>
                <a:latin typeface="Arial"/>
              </a:rPr>
              <a:t>•  8 × </a:t>
            </a:r>
            <a:r>
              <a:rPr lang="en-US" sz="1050" b="0" i="0" dirty="0">
                <a:solidFill>
                  <a:srgbClr val="262626"/>
                </a:solidFill>
                <a:latin typeface="Arial"/>
              </a:rPr>
              <a:t>4.8</a:t>
            </a:r>
            <a:r>
              <a:rPr sz="1050" b="0" i="0" dirty="0">
                <a:solidFill>
                  <a:srgbClr val="262626"/>
                </a:solidFill>
                <a:latin typeface="Arial"/>
              </a:rPr>
              <a:t> km laps = </a:t>
            </a:r>
            <a:r>
              <a:rPr lang="en-US" sz="1050" b="0" i="0" dirty="0">
                <a:solidFill>
                  <a:srgbClr val="262626"/>
                </a:solidFill>
                <a:latin typeface="Arial"/>
              </a:rPr>
              <a:t>38.5</a:t>
            </a:r>
            <a:r>
              <a:rPr sz="1050" b="0" i="0" dirty="0">
                <a:solidFill>
                  <a:srgbClr val="262626"/>
                </a:solidFill>
                <a:latin typeface="Arial"/>
              </a:rPr>
              <a:t> km</a:t>
            </a:r>
            <a:r>
              <a:rPr lang="en-US" sz="1050" dirty="0">
                <a:solidFill>
                  <a:srgbClr val="262626"/>
                </a:solidFill>
                <a:latin typeface="Arial"/>
              </a:rPr>
              <a:t>; Route: transition at the Wave to Wonderland running track, north on Haibin North Rd to the Yuhua Rd turnaround, left onto </a:t>
            </a:r>
            <a:r>
              <a:rPr lang="en-US" sz="1050" dirty="0" err="1">
                <a:solidFill>
                  <a:srgbClr val="262626"/>
                </a:solidFill>
                <a:latin typeface="Arial"/>
              </a:rPr>
              <a:t>Dongshan</a:t>
            </a:r>
            <a:r>
              <a:rPr lang="en-US" sz="1050" dirty="0">
                <a:solidFill>
                  <a:srgbClr val="262626"/>
                </a:solidFill>
                <a:latin typeface="Arial"/>
              </a:rPr>
              <a:t> Rd, back down Haibin North Rd</a:t>
            </a:r>
          </a:p>
        </p:txBody>
      </p:sp>
      <p:sp>
        <p:nvSpPr>
          <p:cNvPr id="35" name="TextBox 34"/>
          <p:cNvSpPr txBox="1"/>
          <p:nvPr/>
        </p:nvSpPr>
        <p:spPr>
          <a:xfrm>
            <a:off x="5669280" y="4499019"/>
            <a:ext cx="6126480" cy="253916"/>
          </a:xfrm>
          <a:prstGeom prst="rect">
            <a:avLst/>
          </a:prstGeom>
          <a:noFill/>
        </p:spPr>
        <p:txBody>
          <a:bodyPr wrap="square">
            <a:spAutoFit/>
          </a:bodyPr>
          <a:lstStyle/>
          <a:p>
            <a:pPr algn="l"/>
            <a:r>
              <a:rPr sz="1050" b="0" i="0" dirty="0">
                <a:solidFill>
                  <a:srgbClr val="262626"/>
                </a:solidFill>
                <a:latin typeface="Arial"/>
              </a:rPr>
              <a:t>•  Lap-heavy, turnaround-heavy design punishes riders who sit at the back of the pack</a:t>
            </a:r>
          </a:p>
        </p:txBody>
      </p:sp>
      <p:sp>
        <p:nvSpPr>
          <p:cNvPr id="38" name="TextBox 37"/>
          <p:cNvSpPr txBox="1"/>
          <p:nvPr/>
        </p:nvSpPr>
        <p:spPr>
          <a:xfrm>
            <a:off x="5669280" y="4715481"/>
            <a:ext cx="6126480" cy="310896"/>
          </a:xfrm>
          <a:prstGeom prst="rect">
            <a:avLst/>
          </a:prstGeom>
          <a:noFill/>
        </p:spPr>
        <p:txBody>
          <a:bodyPr wrap="square">
            <a:spAutoFit/>
          </a:bodyPr>
          <a:lstStyle/>
          <a:p>
            <a:pPr algn="l"/>
            <a:r>
              <a:rPr sz="1050" b="0" i="0" dirty="0">
                <a:solidFill>
                  <a:srgbClr val="262626"/>
                </a:solidFill>
                <a:latin typeface="Arial"/>
              </a:rPr>
              <a:t>•  Coastal seafront exposure on Haibin North Rd — the guide's prevailing SE wind will be a cross/head component on one leg of every lap</a:t>
            </a:r>
          </a:p>
        </p:txBody>
      </p:sp>
      <p:pic>
        <p:nvPicPr>
          <p:cNvPr id="42" name="Picture 41" descr="The image depicts a map with roads and landmarks, including Dongshan Road, Borgshan Road, Tuhua Road, Haibin North Road, Kumming Road, a medical station, a hospital, and a venue, with symbols indicating a cycling loop and a wheel station.&#10;&#10;AI-generated content may be incorrect.">
            <a:extLst>
              <a:ext uri="{FF2B5EF4-FFF2-40B4-BE49-F238E27FC236}">
                <a16:creationId xmlns:a16="http://schemas.microsoft.com/office/drawing/2014/main" id="{0ABEE833-F82F-7380-9A8E-F20956328609}"/>
              </a:ext>
            </a:extLst>
          </p:cNvPr>
          <p:cNvPicPr>
            <a:picLocks noChangeAspect="1"/>
          </p:cNvPicPr>
          <p:nvPr/>
        </p:nvPicPr>
        <p:blipFill>
          <a:blip r:embed="rId4"/>
          <a:stretch>
            <a:fillRect/>
          </a:stretch>
        </p:blipFill>
        <p:spPr>
          <a:xfrm>
            <a:off x="63797" y="1124713"/>
            <a:ext cx="5395171" cy="3931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5121216"/>
            <a:ext cx="5120640" cy="228600"/>
          </a:xfrm>
          <a:prstGeom prst="rect">
            <a:avLst/>
          </a:prstGeom>
          <a:noFill/>
        </p:spPr>
        <p:txBody>
          <a:bodyPr wrap="square">
            <a:spAutoFit/>
          </a:bodyPr>
          <a:lstStyle/>
          <a:p>
            <a:pPr algn="ctr"/>
            <a:r>
              <a:rPr sz="900" b="0" i="1" dirty="0">
                <a:solidFill>
                  <a:srgbClr val="BFBFBF"/>
                </a:solidFill>
                <a:latin typeface="Arial"/>
              </a:rPr>
              <a:t>Source: 2026 WTCS Weihai Athletes' Guide (updated 22 July 2026)</a:t>
            </a:r>
          </a:p>
        </p:txBody>
      </p:sp>
      <p:sp>
        <p:nvSpPr>
          <p:cNvPr id="10" name="Rectangle 9"/>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10.0 km   •   4 × 2.5 km</a:t>
            </a:r>
          </a:p>
        </p:txBody>
      </p:sp>
      <p:sp>
        <p:nvSpPr>
          <p:cNvPr id="12" name="TextBox 11"/>
          <p:cNvSpPr txBox="1"/>
          <p:nvPr/>
        </p:nvSpPr>
        <p:spPr>
          <a:xfrm>
            <a:off x="5577840" y="1636776"/>
            <a:ext cx="6309360" cy="261610"/>
          </a:xfrm>
          <a:prstGeom prst="rect">
            <a:avLst/>
          </a:prstGeom>
          <a:noFill/>
        </p:spPr>
        <p:txBody>
          <a:bodyPr wrap="square">
            <a:spAutoFit/>
          </a:bodyPr>
          <a:lstStyle/>
          <a:p>
            <a:pPr algn="ctr"/>
            <a:r>
              <a:rPr sz="1100" b="0" i="1" dirty="0">
                <a:solidFill>
                  <a:srgbClr val="AABBDD"/>
                </a:solidFill>
                <a:latin typeface="Arial"/>
              </a:rPr>
              <a:t>Closed seafront road </a:t>
            </a:r>
            <a:r>
              <a:rPr lang="en-US" sz="1100" b="0" i="1" dirty="0">
                <a:solidFill>
                  <a:srgbClr val="AABBDD"/>
                </a:solidFill>
                <a:latin typeface="Arial"/>
              </a:rPr>
              <a:t>(</a:t>
            </a:r>
            <a:r>
              <a:rPr sz="1100" b="0" i="1" dirty="0">
                <a:solidFill>
                  <a:srgbClr val="AABBDD"/>
                </a:solidFill>
                <a:latin typeface="Arial"/>
              </a:rPr>
              <a:t>Haibin North Rd</a:t>
            </a:r>
            <a:r>
              <a:rPr lang="en-US" sz="1100" b="0" i="1" dirty="0">
                <a:solidFill>
                  <a:srgbClr val="AABBDD"/>
                </a:solidFill>
                <a:latin typeface="Arial"/>
              </a:rPr>
              <a:t>)</a:t>
            </a:r>
            <a:r>
              <a:rPr sz="1100" b="0" i="1" dirty="0">
                <a:solidFill>
                  <a:srgbClr val="AABBDD"/>
                </a:solidFill>
                <a:latin typeface="Arial"/>
              </a:rPr>
              <a:t> out-and-back</a:t>
            </a:r>
          </a:p>
        </p:txBody>
      </p:sp>
      <p:sp>
        <p:nvSpPr>
          <p:cNvPr id="13" name="Rectangle 12"/>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5" name="TextBox 14"/>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10.0 km</a:t>
            </a:r>
          </a:p>
        </p:txBody>
      </p:sp>
      <p:sp>
        <p:nvSpPr>
          <p:cNvPr id="16" name="Rectangle 15"/>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Lap Structure</a:t>
            </a:r>
          </a:p>
        </p:txBody>
      </p:sp>
      <p:sp>
        <p:nvSpPr>
          <p:cNvPr id="18" name="TextBox 17"/>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4 × 2.5 km</a:t>
            </a:r>
          </a:p>
        </p:txBody>
      </p:sp>
      <p:sp>
        <p:nvSpPr>
          <p:cNvPr id="19" name="Rectangle 18"/>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21" name="TextBox 20"/>
          <p:cNvSpPr txBox="1"/>
          <p:nvPr/>
        </p:nvSpPr>
        <p:spPr>
          <a:xfrm>
            <a:off x="9875520" y="2340864"/>
            <a:ext cx="1920240" cy="307777"/>
          </a:xfrm>
          <a:prstGeom prst="rect">
            <a:avLst/>
          </a:prstGeom>
          <a:noFill/>
        </p:spPr>
        <p:txBody>
          <a:bodyPr wrap="square">
            <a:spAutoFit/>
          </a:bodyPr>
          <a:lstStyle/>
          <a:p>
            <a:pPr algn="ctr"/>
            <a:r>
              <a:rPr lang="en-US" sz="1400" b="1" dirty="0">
                <a:solidFill>
                  <a:srgbClr val="262626"/>
                </a:solidFill>
                <a:latin typeface="Arial"/>
              </a:rPr>
              <a:t>~64 ft</a:t>
            </a:r>
            <a:endParaRPr sz="1400" b="1" i="0" dirty="0">
              <a:solidFill>
                <a:srgbClr val="262626"/>
              </a:solidFill>
              <a:latin typeface="Arial"/>
            </a:endParaRPr>
          </a:p>
        </p:txBody>
      </p:sp>
      <p:sp>
        <p:nvSpPr>
          <p:cNvPr id="22" name="Rectangle 21"/>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4" name="TextBox 23"/>
          <p:cNvSpPr txBox="1"/>
          <p:nvPr/>
        </p:nvSpPr>
        <p:spPr>
          <a:xfrm>
            <a:off x="5669280" y="3054096"/>
            <a:ext cx="1920240" cy="307777"/>
          </a:xfrm>
          <a:prstGeom prst="rect">
            <a:avLst/>
          </a:prstGeom>
          <a:noFill/>
        </p:spPr>
        <p:txBody>
          <a:bodyPr wrap="square">
            <a:spAutoFit/>
          </a:bodyPr>
          <a:lstStyle/>
          <a:p>
            <a:pPr algn="ctr"/>
            <a:r>
              <a:rPr lang="en-US" sz="1400" b="1" dirty="0">
                <a:solidFill>
                  <a:srgbClr val="262626"/>
                </a:solidFill>
                <a:latin typeface="Arial"/>
              </a:rPr>
              <a:t>0%</a:t>
            </a:r>
            <a:endParaRPr sz="1400" b="1" i="0" dirty="0">
              <a:solidFill>
                <a:srgbClr val="262626"/>
              </a:solidFill>
              <a:latin typeface="Arial"/>
            </a:endParaRPr>
          </a:p>
        </p:txBody>
      </p:sp>
      <p:sp>
        <p:nvSpPr>
          <p:cNvPr id="25" name="Rectangle 24"/>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Max ▲ / ▼</a:t>
            </a:r>
          </a:p>
        </p:txBody>
      </p:sp>
      <p:sp>
        <p:nvSpPr>
          <p:cNvPr id="27" name="TextBox 26"/>
          <p:cNvSpPr txBox="1"/>
          <p:nvPr/>
        </p:nvSpPr>
        <p:spPr>
          <a:xfrm>
            <a:off x="7772400" y="3054096"/>
            <a:ext cx="1920240" cy="307777"/>
          </a:xfrm>
          <a:prstGeom prst="rect">
            <a:avLst/>
          </a:prstGeom>
          <a:noFill/>
        </p:spPr>
        <p:txBody>
          <a:bodyPr wrap="square">
            <a:spAutoFit/>
          </a:bodyPr>
          <a:lstStyle/>
          <a:p>
            <a:pPr algn="ctr"/>
            <a:r>
              <a:rPr lang="en-US" sz="1400" b="1" i="0" dirty="0">
                <a:solidFill>
                  <a:srgbClr val="262626"/>
                </a:solidFill>
                <a:latin typeface="Arial"/>
              </a:rPr>
              <a:t>~1-2%</a:t>
            </a:r>
            <a:endParaRPr sz="1400" b="1" i="0" dirty="0">
              <a:solidFill>
                <a:srgbClr val="262626"/>
              </a:solidFill>
              <a:latin typeface="Arial"/>
            </a:endParaRPr>
          </a:p>
        </p:txBody>
      </p:sp>
      <p:sp>
        <p:nvSpPr>
          <p:cNvPr id="28" name="Rectangle 27"/>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Heat Risk</a:t>
            </a:r>
          </a:p>
        </p:txBody>
      </p:sp>
      <p:sp>
        <p:nvSpPr>
          <p:cNvPr id="30" name="TextBox 29"/>
          <p:cNvSpPr txBox="1"/>
          <p:nvPr/>
        </p:nvSpPr>
        <p:spPr>
          <a:xfrm>
            <a:off x="9875520" y="3054096"/>
            <a:ext cx="1920240" cy="430887"/>
          </a:xfrm>
          <a:prstGeom prst="rect">
            <a:avLst/>
          </a:prstGeom>
          <a:noFill/>
        </p:spPr>
        <p:txBody>
          <a:bodyPr wrap="square">
            <a:spAutoFit/>
          </a:bodyPr>
          <a:lstStyle/>
          <a:p>
            <a:pPr algn="ctr"/>
            <a:r>
              <a:rPr sz="1100" b="1" i="0" dirty="0">
                <a:solidFill>
                  <a:srgbClr val="262626"/>
                </a:solidFill>
                <a:latin typeface="Arial"/>
              </a:rPr>
              <a:t>MODERATE / HIGHER for women</a:t>
            </a:r>
          </a:p>
        </p:txBody>
      </p:sp>
      <p:sp>
        <p:nvSpPr>
          <p:cNvPr id="31" name="Rectangle 30"/>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3" name="TextBox 32"/>
          <p:cNvSpPr txBox="1"/>
          <p:nvPr/>
        </p:nvSpPr>
        <p:spPr>
          <a:xfrm>
            <a:off x="5669280" y="3977640"/>
            <a:ext cx="6126480" cy="310896"/>
          </a:xfrm>
          <a:prstGeom prst="rect">
            <a:avLst/>
          </a:prstGeom>
          <a:noFill/>
        </p:spPr>
        <p:txBody>
          <a:bodyPr wrap="square">
            <a:spAutoFit/>
          </a:bodyPr>
          <a:lstStyle/>
          <a:p>
            <a:pPr algn="l"/>
            <a:r>
              <a:rPr sz="1050" b="0" i="0" dirty="0">
                <a:solidFill>
                  <a:srgbClr val="262626"/>
                </a:solidFill>
                <a:latin typeface="Arial"/>
              </a:rPr>
              <a:t>•  4 × 2.5 km laps = 10 km: north up Haibin North Rd to a turnaround, </a:t>
            </a:r>
            <a:r>
              <a:rPr sz="1050" b="0" i="0" dirty="0" err="1">
                <a:solidFill>
                  <a:srgbClr val="262626"/>
                </a:solidFill>
                <a:latin typeface="Arial"/>
              </a:rPr>
              <a:t>u-turn</a:t>
            </a:r>
            <a:r>
              <a:rPr sz="1050" b="0" i="0" dirty="0">
                <a:solidFill>
                  <a:srgbClr val="262626"/>
                </a:solidFill>
                <a:latin typeface="Arial"/>
              </a:rPr>
              <a:t>, return to transition, then into the finish chute at the main venue</a:t>
            </a:r>
          </a:p>
        </p:txBody>
      </p:sp>
      <p:sp>
        <p:nvSpPr>
          <p:cNvPr id="37" name="TextBox 36"/>
          <p:cNvSpPr txBox="1"/>
          <p:nvPr/>
        </p:nvSpPr>
        <p:spPr>
          <a:xfrm>
            <a:off x="5669280" y="4371687"/>
            <a:ext cx="6126480" cy="310896"/>
          </a:xfrm>
          <a:prstGeom prst="rect">
            <a:avLst/>
          </a:prstGeom>
          <a:noFill/>
        </p:spPr>
        <p:txBody>
          <a:bodyPr wrap="square">
            <a:spAutoFit/>
          </a:bodyPr>
          <a:lstStyle/>
          <a:p>
            <a:pPr algn="l"/>
            <a:r>
              <a:rPr sz="1050" b="0" i="0" dirty="0">
                <a:solidFill>
                  <a:srgbClr val="262626"/>
                </a:solidFill>
                <a:latin typeface="Arial"/>
              </a:rPr>
              <a:t>•  HEAT IS NOT SYMMETRIC: WT's recorded race-day air temp has been 3.9–4.7 °C higher for the women in each of the last three editions (2023, 2024, 2025)</a:t>
            </a:r>
          </a:p>
        </p:txBody>
      </p:sp>
      <p:sp>
        <p:nvSpPr>
          <p:cNvPr id="39" name="TextBox 38"/>
          <p:cNvSpPr txBox="1"/>
          <p:nvPr/>
        </p:nvSpPr>
        <p:spPr>
          <a:xfrm>
            <a:off x="5669280" y="4744122"/>
            <a:ext cx="6126480" cy="415498"/>
          </a:xfrm>
          <a:prstGeom prst="rect">
            <a:avLst/>
          </a:prstGeom>
          <a:noFill/>
        </p:spPr>
        <p:txBody>
          <a:bodyPr wrap="square">
            <a:spAutoFit/>
          </a:bodyPr>
          <a:lstStyle/>
          <a:p>
            <a:pPr algn="l"/>
            <a:r>
              <a:rPr sz="1050" b="0" i="0" dirty="0">
                <a:solidFill>
                  <a:srgbClr val="262626"/>
                </a:solidFill>
                <a:latin typeface="Arial"/>
              </a:rPr>
              <a:t>•  2026 moves to 29 August, ~4 weeks earlier than the 2024/2025 editions. The closest </a:t>
            </a:r>
            <a:r>
              <a:rPr lang="en-US" sz="1050" b="0" i="0" dirty="0">
                <a:solidFill>
                  <a:srgbClr val="262626"/>
                </a:solidFill>
                <a:latin typeface="Arial"/>
              </a:rPr>
              <a:t>race time</a:t>
            </a:r>
            <a:r>
              <a:rPr sz="1050" b="0" i="0" dirty="0">
                <a:solidFill>
                  <a:srgbClr val="262626"/>
                </a:solidFill>
                <a:latin typeface="Arial"/>
              </a:rPr>
              <a:t> </a:t>
            </a:r>
            <a:r>
              <a:rPr lang="en-US" sz="1050" b="0" i="0" dirty="0">
                <a:solidFill>
                  <a:srgbClr val="262626"/>
                </a:solidFill>
                <a:latin typeface="Arial"/>
              </a:rPr>
              <a:t>from </a:t>
            </a:r>
            <a:r>
              <a:rPr sz="1050" b="0" i="0" dirty="0">
                <a:solidFill>
                  <a:srgbClr val="262626"/>
                </a:solidFill>
                <a:latin typeface="Arial"/>
              </a:rPr>
              <a:t>is 2023 (26 Aug), the hottest on record here: 27.2 °C men / 31.9 °C women</a:t>
            </a:r>
          </a:p>
        </p:txBody>
      </p:sp>
      <p:sp>
        <p:nvSpPr>
          <p:cNvPr id="40" name="Rectangle 39"/>
          <p:cNvSpPr/>
          <p:nvPr/>
        </p:nvSpPr>
        <p:spPr>
          <a:xfrm>
            <a:off x="5497902" y="5156400"/>
            <a:ext cx="6561826" cy="147030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The image depicts a map with various streets and landmarks, including Hai Bin North Road, Ming Road, and Wave to Wonderland, leading to the waterfront area.&#10;&#10;AI-generated content may be incorrect.">
            <a:extLst>
              <a:ext uri="{FF2B5EF4-FFF2-40B4-BE49-F238E27FC236}">
                <a16:creationId xmlns:a16="http://schemas.microsoft.com/office/drawing/2014/main" id="{F76C72B2-873F-8CCA-7719-706830C983DB}"/>
              </a:ext>
            </a:extLst>
          </p:cNvPr>
          <p:cNvPicPr>
            <a:picLocks noChangeAspect="1"/>
          </p:cNvPicPr>
          <p:nvPr/>
        </p:nvPicPr>
        <p:blipFill>
          <a:blip r:embed="rId3"/>
          <a:stretch>
            <a:fillRect/>
          </a:stretch>
        </p:blipFill>
        <p:spPr>
          <a:xfrm>
            <a:off x="228600" y="1083144"/>
            <a:ext cx="5156365" cy="5546775"/>
          </a:xfrm>
          <a:prstGeom prst="rect">
            <a:avLst/>
          </a:prstGeom>
        </p:spPr>
      </p:pic>
      <p:pic>
        <p:nvPicPr>
          <p:cNvPr id="45" name="Picture 44" descr="The diagram represents a list of elevation values ranging from 623 to 1.6 in ascending order.&#10;&#10;AI-generated content may be incorrect.">
            <a:extLst>
              <a:ext uri="{FF2B5EF4-FFF2-40B4-BE49-F238E27FC236}">
                <a16:creationId xmlns:a16="http://schemas.microsoft.com/office/drawing/2014/main" id="{50DA7A17-311A-C1CD-BFDC-E523E95235DF}"/>
              </a:ext>
            </a:extLst>
          </p:cNvPr>
          <p:cNvPicPr>
            <a:picLocks noChangeAspect="1"/>
          </p:cNvPicPr>
          <p:nvPr/>
        </p:nvPicPr>
        <p:blipFill>
          <a:blip r:embed="rId4"/>
          <a:stretch>
            <a:fillRect/>
          </a:stretch>
        </p:blipFill>
        <p:spPr>
          <a:xfrm>
            <a:off x="5622181" y="5198390"/>
            <a:ext cx="6312118" cy="14237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Race-Day Weather Outlook</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200" b="1" i="0">
                <a:solidFill>
                  <a:srgbClr val="002060"/>
                </a:solidFill>
                <a:latin typeface="Arial"/>
              </a:rPr>
              <a:t>2026-08-29   •   Historical climatology — same calendar day, 7-year mean</a:t>
            </a:r>
          </a:p>
        </p:txBody>
      </p:sp>
      <p:pic>
        <p:nvPicPr>
          <p:cNvPr id="10" name="Picture 9" descr="image.png"/>
          <p:cNvPicPr>
            <a:picLocks noChangeAspect="1"/>
          </p:cNvPicPr>
          <p:nvPr/>
        </p:nvPicPr>
        <p:blipFill>
          <a:blip r:embed="rId3"/>
          <a:stretch>
            <a:fillRect/>
          </a:stretch>
        </p:blipFill>
        <p:spPr>
          <a:xfrm>
            <a:off x="274320" y="1600200"/>
            <a:ext cx="7040880" cy="3108960"/>
          </a:xfrm>
          <a:prstGeom prst="rect">
            <a:avLst/>
          </a:prstGeom>
        </p:spPr>
      </p:pic>
      <p:sp>
        <p:nvSpPr>
          <p:cNvPr id="11" name="Rectangle 10"/>
          <p:cNvSpPr/>
          <p:nvPr/>
        </p:nvSpPr>
        <p:spPr>
          <a:xfrm>
            <a:off x="7498079" y="1645920"/>
            <a:ext cx="44165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19" y="1682496"/>
            <a:ext cx="4233672" cy="246888"/>
          </a:xfrm>
          <a:prstGeom prst="rect">
            <a:avLst/>
          </a:prstGeom>
          <a:noFill/>
        </p:spPr>
        <p:txBody>
          <a:bodyPr wrap="square">
            <a:spAutoFit/>
          </a:bodyPr>
          <a:lstStyle/>
          <a:p>
            <a:pPr algn="ctr"/>
            <a:r>
              <a:rPr sz="1100" b="1" i="0">
                <a:solidFill>
                  <a:srgbClr val="FFFFFF"/>
                </a:solidFill>
                <a:latin typeface="Arial"/>
              </a:rPr>
              <a:t>Elite Men — 09:00</a:t>
            </a:r>
          </a:p>
        </p:txBody>
      </p:sp>
      <p:sp>
        <p:nvSpPr>
          <p:cNvPr id="13" name="Rectangle 12"/>
          <p:cNvSpPr/>
          <p:nvPr/>
        </p:nvSpPr>
        <p:spPr>
          <a:xfrm>
            <a:off x="7516367" y="20116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34655" y="2039112"/>
            <a:ext cx="1399032" cy="182880"/>
          </a:xfrm>
          <a:prstGeom prst="rect">
            <a:avLst/>
          </a:prstGeom>
          <a:noFill/>
        </p:spPr>
        <p:txBody>
          <a:bodyPr wrap="square">
            <a:spAutoFit/>
          </a:bodyPr>
          <a:lstStyle/>
          <a:p>
            <a:pPr algn="ctr"/>
            <a:r>
              <a:rPr sz="800" b="1" i="0">
                <a:solidFill>
                  <a:srgbClr val="002060"/>
                </a:solidFill>
                <a:latin typeface="Arial"/>
              </a:rPr>
              <a:t>Temperature</a:t>
            </a:r>
          </a:p>
        </p:txBody>
      </p:sp>
      <p:sp>
        <p:nvSpPr>
          <p:cNvPr id="15" name="TextBox 14"/>
          <p:cNvSpPr txBox="1"/>
          <p:nvPr/>
        </p:nvSpPr>
        <p:spPr>
          <a:xfrm>
            <a:off x="7534655" y="2212848"/>
            <a:ext cx="1399032" cy="310896"/>
          </a:xfrm>
          <a:prstGeom prst="rect">
            <a:avLst/>
          </a:prstGeom>
          <a:noFill/>
        </p:spPr>
        <p:txBody>
          <a:bodyPr wrap="square">
            <a:spAutoFit/>
          </a:bodyPr>
          <a:lstStyle/>
          <a:p>
            <a:pPr algn="ctr"/>
            <a:r>
              <a:rPr sz="1200" b="1" i="0">
                <a:solidFill>
                  <a:srgbClr val="262626"/>
                </a:solidFill>
                <a:latin typeface="Arial"/>
              </a:rPr>
              <a:t>24.5 °C</a:t>
            </a:r>
          </a:p>
        </p:txBody>
      </p:sp>
      <p:sp>
        <p:nvSpPr>
          <p:cNvPr id="16" name="Rectangle 15"/>
          <p:cNvSpPr/>
          <p:nvPr/>
        </p:nvSpPr>
        <p:spPr>
          <a:xfrm>
            <a:off x="8988551" y="20116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06839" y="2039112"/>
            <a:ext cx="1399032" cy="182880"/>
          </a:xfrm>
          <a:prstGeom prst="rect">
            <a:avLst/>
          </a:prstGeom>
          <a:noFill/>
        </p:spPr>
        <p:txBody>
          <a:bodyPr wrap="square">
            <a:spAutoFit/>
          </a:bodyPr>
          <a:lstStyle/>
          <a:p>
            <a:pPr algn="ctr"/>
            <a:r>
              <a:rPr sz="800" b="1" i="0">
                <a:solidFill>
                  <a:srgbClr val="002060"/>
                </a:solidFill>
                <a:latin typeface="Arial"/>
              </a:rPr>
              <a:t>Apparent / Heat</a:t>
            </a:r>
          </a:p>
        </p:txBody>
      </p:sp>
      <p:sp>
        <p:nvSpPr>
          <p:cNvPr id="18" name="TextBox 17"/>
          <p:cNvSpPr txBox="1"/>
          <p:nvPr/>
        </p:nvSpPr>
        <p:spPr>
          <a:xfrm>
            <a:off x="9006839" y="2212848"/>
            <a:ext cx="1399032" cy="310896"/>
          </a:xfrm>
          <a:prstGeom prst="rect">
            <a:avLst/>
          </a:prstGeom>
          <a:noFill/>
        </p:spPr>
        <p:txBody>
          <a:bodyPr wrap="square">
            <a:spAutoFit/>
          </a:bodyPr>
          <a:lstStyle/>
          <a:p>
            <a:pPr algn="ctr"/>
            <a:r>
              <a:rPr sz="1200" b="1" i="0">
                <a:solidFill>
                  <a:srgbClr val="262626"/>
                </a:solidFill>
                <a:latin typeface="Arial"/>
              </a:rPr>
              <a:t>26.6 °C</a:t>
            </a:r>
          </a:p>
        </p:txBody>
      </p:sp>
      <p:sp>
        <p:nvSpPr>
          <p:cNvPr id="19" name="Rectangle 18"/>
          <p:cNvSpPr/>
          <p:nvPr/>
        </p:nvSpPr>
        <p:spPr>
          <a:xfrm>
            <a:off x="10460735" y="20116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479023" y="2039112"/>
            <a:ext cx="1399032" cy="182880"/>
          </a:xfrm>
          <a:prstGeom prst="rect">
            <a:avLst/>
          </a:prstGeom>
          <a:noFill/>
        </p:spPr>
        <p:txBody>
          <a:bodyPr wrap="square">
            <a:spAutoFit/>
          </a:bodyPr>
          <a:lstStyle/>
          <a:p>
            <a:pPr algn="ctr"/>
            <a:r>
              <a:rPr sz="800" b="1" i="0">
                <a:solidFill>
                  <a:srgbClr val="002060"/>
                </a:solidFill>
                <a:latin typeface="Arial"/>
              </a:rPr>
              <a:t>Humidity</a:t>
            </a:r>
          </a:p>
        </p:txBody>
      </p:sp>
      <p:sp>
        <p:nvSpPr>
          <p:cNvPr id="21" name="TextBox 20"/>
          <p:cNvSpPr txBox="1"/>
          <p:nvPr/>
        </p:nvSpPr>
        <p:spPr>
          <a:xfrm>
            <a:off x="10479023" y="2212848"/>
            <a:ext cx="1399032" cy="310896"/>
          </a:xfrm>
          <a:prstGeom prst="rect">
            <a:avLst/>
          </a:prstGeom>
          <a:noFill/>
        </p:spPr>
        <p:txBody>
          <a:bodyPr wrap="square">
            <a:spAutoFit/>
          </a:bodyPr>
          <a:lstStyle/>
          <a:p>
            <a:pPr algn="ctr"/>
            <a:r>
              <a:rPr sz="1200" b="1" i="0">
                <a:solidFill>
                  <a:srgbClr val="262626"/>
                </a:solidFill>
                <a:latin typeface="Arial"/>
              </a:rPr>
              <a:t>78%</a:t>
            </a:r>
          </a:p>
        </p:txBody>
      </p:sp>
      <p:sp>
        <p:nvSpPr>
          <p:cNvPr id="22" name="Rectangle 21"/>
          <p:cNvSpPr/>
          <p:nvPr/>
        </p:nvSpPr>
        <p:spPr>
          <a:xfrm>
            <a:off x="7516367" y="25786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34655" y="2606040"/>
            <a:ext cx="1399032" cy="182880"/>
          </a:xfrm>
          <a:prstGeom prst="rect">
            <a:avLst/>
          </a:prstGeom>
          <a:noFill/>
        </p:spPr>
        <p:txBody>
          <a:bodyPr wrap="square">
            <a:spAutoFit/>
          </a:bodyPr>
          <a:lstStyle/>
          <a:p>
            <a:pPr algn="ctr"/>
            <a:r>
              <a:rPr sz="800" b="1" i="0">
                <a:solidFill>
                  <a:srgbClr val="002060"/>
                </a:solidFill>
                <a:latin typeface="Arial"/>
              </a:rPr>
              <a:t>Wind</a:t>
            </a:r>
          </a:p>
        </p:txBody>
      </p:sp>
      <p:sp>
        <p:nvSpPr>
          <p:cNvPr id="24" name="TextBox 23"/>
          <p:cNvSpPr txBox="1"/>
          <p:nvPr/>
        </p:nvSpPr>
        <p:spPr>
          <a:xfrm>
            <a:off x="7534655" y="2779776"/>
            <a:ext cx="1399032" cy="310896"/>
          </a:xfrm>
          <a:prstGeom prst="rect">
            <a:avLst/>
          </a:prstGeom>
          <a:noFill/>
        </p:spPr>
        <p:txBody>
          <a:bodyPr wrap="square">
            <a:spAutoFit/>
          </a:bodyPr>
          <a:lstStyle/>
          <a:p>
            <a:pPr algn="ctr"/>
            <a:r>
              <a:rPr sz="1200" b="1" i="0">
                <a:solidFill>
                  <a:srgbClr val="262626"/>
                </a:solidFill>
                <a:latin typeface="Arial"/>
              </a:rPr>
              <a:t>14.9 km/h</a:t>
            </a:r>
          </a:p>
        </p:txBody>
      </p:sp>
      <p:sp>
        <p:nvSpPr>
          <p:cNvPr id="25" name="Rectangle 24"/>
          <p:cNvSpPr/>
          <p:nvPr/>
        </p:nvSpPr>
        <p:spPr>
          <a:xfrm>
            <a:off x="8988551" y="25786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006839" y="2606040"/>
            <a:ext cx="1399032" cy="182880"/>
          </a:xfrm>
          <a:prstGeom prst="rect">
            <a:avLst/>
          </a:prstGeom>
          <a:noFill/>
        </p:spPr>
        <p:txBody>
          <a:bodyPr wrap="square">
            <a:spAutoFit/>
          </a:bodyPr>
          <a:lstStyle/>
          <a:p>
            <a:pPr algn="ctr"/>
            <a:r>
              <a:rPr sz="800" b="1" i="0">
                <a:solidFill>
                  <a:srgbClr val="002060"/>
                </a:solidFill>
                <a:latin typeface="Arial"/>
              </a:rPr>
              <a:t>UV peak</a:t>
            </a:r>
          </a:p>
        </p:txBody>
      </p:sp>
      <p:sp>
        <p:nvSpPr>
          <p:cNvPr id="27" name="TextBox 26"/>
          <p:cNvSpPr txBox="1"/>
          <p:nvPr/>
        </p:nvSpPr>
        <p:spPr>
          <a:xfrm>
            <a:off x="9006839" y="2779776"/>
            <a:ext cx="1399032" cy="310896"/>
          </a:xfrm>
          <a:prstGeom prst="rect">
            <a:avLst/>
          </a:prstGeom>
          <a:noFill/>
        </p:spPr>
        <p:txBody>
          <a:bodyPr wrap="square">
            <a:spAutoFit/>
          </a:bodyPr>
          <a:lstStyle/>
          <a:p>
            <a:pPr algn="ctr"/>
            <a:r>
              <a:rPr sz="1200" b="1" i="0">
                <a:solidFill>
                  <a:srgbClr val="262626"/>
                </a:solidFill>
                <a:latin typeface="Arial"/>
              </a:rPr>
              <a:t>—</a:t>
            </a:r>
          </a:p>
        </p:txBody>
      </p:sp>
      <p:sp>
        <p:nvSpPr>
          <p:cNvPr id="28" name="Rectangle 27"/>
          <p:cNvSpPr/>
          <p:nvPr/>
        </p:nvSpPr>
        <p:spPr>
          <a:xfrm>
            <a:off x="10460735" y="25786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479023" y="2606040"/>
            <a:ext cx="1399032" cy="182880"/>
          </a:xfrm>
          <a:prstGeom prst="rect">
            <a:avLst/>
          </a:prstGeom>
          <a:noFill/>
        </p:spPr>
        <p:txBody>
          <a:bodyPr wrap="square">
            <a:spAutoFit/>
          </a:bodyPr>
          <a:lstStyle/>
          <a:p>
            <a:pPr algn="ctr"/>
            <a:r>
              <a:rPr sz="800" b="1" i="0">
                <a:solidFill>
                  <a:srgbClr val="002060"/>
                </a:solidFill>
                <a:latin typeface="Arial"/>
              </a:rPr>
              <a:t>Heat Stress</a:t>
            </a:r>
          </a:p>
        </p:txBody>
      </p:sp>
      <p:sp>
        <p:nvSpPr>
          <p:cNvPr id="30" name="TextBox 29"/>
          <p:cNvSpPr txBox="1"/>
          <p:nvPr/>
        </p:nvSpPr>
        <p:spPr>
          <a:xfrm>
            <a:off x="10479023" y="2779776"/>
            <a:ext cx="1399032" cy="310896"/>
          </a:xfrm>
          <a:prstGeom prst="rect">
            <a:avLst/>
          </a:prstGeom>
          <a:noFill/>
        </p:spPr>
        <p:txBody>
          <a:bodyPr wrap="square">
            <a:spAutoFit/>
          </a:bodyPr>
          <a:lstStyle/>
          <a:p>
            <a:pPr algn="ctr"/>
            <a:r>
              <a:rPr sz="1200" b="1" i="0">
                <a:solidFill>
                  <a:srgbClr val="E6A817"/>
                </a:solidFill>
                <a:latin typeface="Arial"/>
              </a:rPr>
              <a:t>MODERATE</a:t>
            </a:r>
          </a:p>
        </p:txBody>
      </p:sp>
      <p:sp>
        <p:nvSpPr>
          <p:cNvPr id="31" name="Rectangle 30"/>
          <p:cNvSpPr/>
          <p:nvPr/>
        </p:nvSpPr>
        <p:spPr>
          <a:xfrm>
            <a:off x="7498079" y="3246120"/>
            <a:ext cx="44165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89519" y="3282696"/>
            <a:ext cx="4233672" cy="246888"/>
          </a:xfrm>
          <a:prstGeom prst="rect">
            <a:avLst/>
          </a:prstGeom>
          <a:noFill/>
        </p:spPr>
        <p:txBody>
          <a:bodyPr wrap="square">
            <a:spAutoFit/>
          </a:bodyPr>
          <a:lstStyle/>
          <a:p>
            <a:pPr algn="ctr"/>
            <a:r>
              <a:rPr sz="1100" b="1" i="0">
                <a:solidFill>
                  <a:srgbClr val="FFFFFF"/>
                </a:solidFill>
                <a:latin typeface="Arial"/>
              </a:rPr>
              <a:t>Elite Women — 12:00</a:t>
            </a:r>
          </a:p>
        </p:txBody>
      </p:sp>
      <p:sp>
        <p:nvSpPr>
          <p:cNvPr id="33" name="Rectangle 32"/>
          <p:cNvSpPr/>
          <p:nvPr/>
        </p:nvSpPr>
        <p:spPr>
          <a:xfrm>
            <a:off x="7516367" y="36118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534655" y="3639312"/>
            <a:ext cx="1399032" cy="182880"/>
          </a:xfrm>
          <a:prstGeom prst="rect">
            <a:avLst/>
          </a:prstGeom>
          <a:noFill/>
        </p:spPr>
        <p:txBody>
          <a:bodyPr wrap="square">
            <a:spAutoFit/>
          </a:bodyPr>
          <a:lstStyle/>
          <a:p>
            <a:pPr algn="ctr"/>
            <a:r>
              <a:rPr sz="800" b="1" i="0">
                <a:solidFill>
                  <a:srgbClr val="002060"/>
                </a:solidFill>
                <a:latin typeface="Arial"/>
              </a:rPr>
              <a:t>Temperature</a:t>
            </a:r>
          </a:p>
        </p:txBody>
      </p:sp>
      <p:sp>
        <p:nvSpPr>
          <p:cNvPr id="35" name="TextBox 34"/>
          <p:cNvSpPr txBox="1"/>
          <p:nvPr/>
        </p:nvSpPr>
        <p:spPr>
          <a:xfrm>
            <a:off x="7534655" y="3813048"/>
            <a:ext cx="1399032" cy="310896"/>
          </a:xfrm>
          <a:prstGeom prst="rect">
            <a:avLst/>
          </a:prstGeom>
          <a:noFill/>
        </p:spPr>
        <p:txBody>
          <a:bodyPr wrap="square">
            <a:spAutoFit/>
          </a:bodyPr>
          <a:lstStyle/>
          <a:p>
            <a:pPr algn="ctr"/>
            <a:r>
              <a:rPr sz="1200" b="1" i="0">
                <a:solidFill>
                  <a:srgbClr val="262626"/>
                </a:solidFill>
                <a:latin typeface="Arial"/>
              </a:rPr>
              <a:t>25.0 °C</a:t>
            </a:r>
          </a:p>
        </p:txBody>
      </p:sp>
      <p:sp>
        <p:nvSpPr>
          <p:cNvPr id="36" name="Rectangle 35"/>
          <p:cNvSpPr/>
          <p:nvPr/>
        </p:nvSpPr>
        <p:spPr>
          <a:xfrm>
            <a:off x="8988551" y="36118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06839" y="3639312"/>
            <a:ext cx="1399032" cy="182880"/>
          </a:xfrm>
          <a:prstGeom prst="rect">
            <a:avLst/>
          </a:prstGeom>
          <a:noFill/>
        </p:spPr>
        <p:txBody>
          <a:bodyPr wrap="square">
            <a:spAutoFit/>
          </a:bodyPr>
          <a:lstStyle/>
          <a:p>
            <a:pPr algn="ctr"/>
            <a:r>
              <a:rPr sz="800" b="1" i="0">
                <a:solidFill>
                  <a:srgbClr val="002060"/>
                </a:solidFill>
                <a:latin typeface="Arial"/>
              </a:rPr>
              <a:t>Apparent / Heat</a:t>
            </a:r>
          </a:p>
        </p:txBody>
      </p:sp>
      <p:sp>
        <p:nvSpPr>
          <p:cNvPr id="38" name="TextBox 37"/>
          <p:cNvSpPr txBox="1"/>
          <p:nvPr/>
        </p:nvSpPr>
        <p:spPr>
          <a:xfrm>
            <a:off x="9006839" y="3813048"/>
            <a:ext cx="1399032" cy="310896"/>
          </a:xfrm>
          <a:prstGeom prst="rect">
            <a:avLst/>
          </a:prstGeom>
          <a:noFill/>
        </p:spPr>
        <p:txBody>
          <a:bodyPr wrap="square">
            <a:spAutoFit/>
          </a:bodyPr>
          <a:lstStyle/>
          <a:p>
            <a:pPr algn="ctr"/>
            <a:r>
              <a:rPr sz="1200" b="1" i="0">
                <a:solidFill>
                  <a:srgbClr val="262626"/>
                </a:solidFill>
                <a:latin typeface="Arial"/>
              </a:rPr>
              <a:t>27.3 °C</a:t>
            </a:r>
          </a:p>
        </p:txBody>
      </p:sp>
      <p:sp>
        <p:nvSpPr>
          <p:cNvPr id="39" name="Rectangle 38"/>
          <p:cNvSpPr/>
          <p:nvPr/>
        </p:nvSpPr>
        <p:spPr>
          <a:xfrm>
            <a:off x="10460735" y="36118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479023" y="3639312"/>
            <a:ext cx="1399032" cy="182880"/>
          </a:xfrm>
          <a:prstGeom prst="rect">
            <a:avLst/>
          </a:prstGeom>
          <a:noFill/>
        </p:spPr>
        <p:txBody>
          <a:bodyPr wrap="square">
            <a:spAutoFit/>
          </a:bodyPr>
          <a:lstStyle/>
          <a:p>
            <a:pPr algn="ctr"/>
            <a:r>
              <a:rPr sz="800" b="1" i="0">
                <a:solidFill>
                  <a:srgbClr val="002060"/>
                </a:solidFill>
                <a:latin typeface="Arial"/>
              </a:rPr>
              <a:t>Humidity</a:t>
            </a:r>
          </a:p>
        </p:txBody>
      </p:sp>
      <p:sp>
        <p:nvSpPr>
          <p:cNvPr id="41" name="TextBox 40"/>
          <p:cNvSpPr txBox="1"/>
          <p:nvPr/>
        </p:nvSpPr>
        <p:spPr>
          <a:xfrm>
            <a:off x="10479023" y="3813048"/>
            <a:ext cx="1399032" cy="310896"/>
          </a:xfrm>
          <a:prstGeom prst="rect">
            <a:avLst/>
          </a:prstGeom>
          <a:noFill/>
        </p:spPr>
        <p:txBody>
          <a:bodyPr wrap="square">
            <a:spAutoFit/>
          </a:bodyPr>
          <a:lstStyle/>
          <a:p>
            <a:pPr algn="ctr"/>
            <a:r>
              <a:rPr sz="1200" b="1" i="0">
                <a:solidFill>
                  <a:srgbClr val="262626"/>
                </a:solidFill>
                <a:latin typeface="Arial"/>
              </a:rPr>
              <a:t>74%</a:t>
            </a:r>
          </a:p>
        </p:txBody>
      </p:sp>
      <p:sp>
        <p:nvSpPr>
          <p:cNvPr id="42" name="Rectangle 41"/>
          <p:cNvSpPr/>
          <p:nvPr/>
        </p:nvSpPr>
        <p:spPr>
          <a:xfrm>
            <a:off x="7516367" y="41788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534655" y="4206240"/>
            <a:ext cx="1399032" cy="182880"/>
          </a:xfrm>
          <a:prstGeom prst="rect">
            <a:avLst/>
          </a:prstGeom>
          <a:noFill/>
        </p:spPr>
        <p:txBody>
          <a:bodyPr wrap="square">
            <a:spAutoFit/>
          </a:bodyPr>
          <a:lstStyle/>
          <a:p>
            <a:pPr algn="ctr"/>
            <a:r>
              <a:rPr sz="800" b="1" i="0">
                <a:solidFill>
                  <a:srgbClr val="002060"/>
                </a:solidFill>
                <a:latin typeface="Arial"/>
              </a:rPr>
              <a:t>Wind</a:t>
            </a:r>
          </a:p>
        </p:txBody>
      </p:sp>
      <p:sp>
        <p:nvSpPr>
          <p:cNvPr id="44" name="TextBox 43"/>
          <p:cNvSpPr txBox="1"/>
          <p:nvPr/>
        </p:nvSpPr>
        <p:spPr>
          <a:xfrm>
            <a:off x="7534655" y="4379976"/>
            <a:ext cx="1399032" cy="310896"/>
          </a:xfrm>
          <a:prstGeom prst="rect">
            <a:avLst/>
          </a:prstGeom>
          <a:noFill/>
        </p:spPr>
        <p:txBody>
          <a:bodyPr wrap="square">
            <a:spAutoFit/>
          </a:bodyPr>
          <a:lstStyle/>
          <a:p>
            <a:pPr algn="ctr"/>
            <a:r>
              <a:rPr sz="1200" b="1" i="0">
                <a:solidFill>
                  <a:srgbClr val="262626"/>
                </a:solidFill>
                <a:latin typeface="Arial"/>
              </a:rPr>
              <a:t>14.4 km/h</a:t>
            </a:r>
          </a:p>
        </p:txBody>
      </p:sp>
      <p:sp>
        <p:nvSpPr>
          <p:cNvPr id="45" name="Rectangle 44"/>
          <p:cNvSpPr/>
          <p:nvPr/>
        </p:nvSpPr>
        <p:spPr>
          <a:xfrm>
            <a:off x="8988551" y="41788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006839" y="4206240"/>
            <a:ext cx="1399032" cy="182880"/>
          </a:xfrm>
          <a:prstGeom prst="rect">
            <a:avLst/>
          </a:prstGeom>
          <a:noFill/>
        </p:spPr>
        <p:txBody>
          <a:bodyPr wrap="square">
            <a:spAutoFit/>
          </a:bodyPr>
          <a:lstStyle/>
          <a:p>
            <a:pPr algn="ctr"/>
            <a:r>
              <a:rPr sz="800" b="1" i="0">
                <a:solidFill>
                  <a:srgbClr val="002060"/>
                </a:solidFill>
                <a:latin typeface="Arial"/>
              </a:rPr>
              <a:t>UV peak</a:t>
            </a:r>
          </a:p>
        </p:txBody>
      </p:sp>
      <p:sp>
        <p:nvSpPr>
          <p:cNvPr id="47" name="TextBox 46"/>
          <p:cNvSpPr txBox="1"/>
          <p:nvPr/>
        </p:nvSpPr>
        <p:spPr>
          <a:xfrm>
            <a:off x="9006839" y="4379976"/>
            <a:ext cx="1399032" cy="310896"/>
          </a:xfrm>
          <a:prstGeom prst="rect">
            <a:avLst/>
          </a:prstGeom>
          <a:noFill/>
        </p:spPr>
        <p:txBody>
          <a:bodyPr wrap="square">
            <a:spAutoFit/>
          </a:bodyPr>
          <a:lstStyle/>
          <a:p>
            <a:pPr algn="ctr"/>
            <a:r>
              <a:rPr sz="1200" b="1" i="0">
                <a:solidFill>
                  <a:srgbClr val="262626"/>
                </a:solidFill>
                <a:latin typeface="Arial"/>
              </a:rPr>
              <a:t>—</a:t>
            </a:r>
          </a:p>
        </p:txBody>
      </p:sp>
      <p:sp>
        <p:nvSpPr>
          <p:cNvPr id="48" name="Rectangle 47"/>
          <p:cNvSpPr/>
          <p:nvPr/>
        </p:nvSpPr>
        <p:spPr>
          <a:xfrm>
            <a:off x="10460735" y="41788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479023" y="4206240"/>
            <a:ext cx="1399032" cy="182880"/>
          </a:xfrm>
          <a:prstGeom prst="rect">
            <a:avLst/>
          </a:prstGeom>
          <a:noFill/>
        </p:spPr>
        <p:txBody>
          <a:bodyPr wrap="square">
            <a:spAutoFit/>
          </a:bodyPr>
          <a:lstStyle/>
          <a:p>
            <a:pPr algn="ctr"/>
            <a:r>
              <a:rPr sz="800" b="1" i="0">
                <a:solidFill>
                  <a:srgbClr val="002060"/>
                </a:solidFill>
                <a:latin typeface="Arial"/>
              </a:rPr>
              <a:t>Heat Stress</a:t>
            </a:r>
          </a:p>
        </p:txBody>
      </p:sp>
      <p:sp>
        <p:nvSpPr>
          <p:cNvPr id="50" name="TextBox 49"/>
          <p:cNvSpPr txBox="1"/>
          <p:nvPr/>
        </p:nvSpPr>
        <p:spPr>
          <a:xfrm>
            <a:off x="10479023" y="4379976"/>
            <a:ext cx="1399032" cy="310896"/>
          </a:xfrm>
          <a:prstGeom prst="rect">
            <a:avLst/>
          </a:prstGeom>
          <a:noFill/>
        </p:spPr>
        <p:txBody>
          <a:bodyPr wrap="square">
            <a:spAutoFit/>
          </a:bodyPr>
          <a:lstStyle/>
          <a:p>
            <a:pPr algn="ctr"/>
            <a:r>
              <a:rPr sz="1200" b="1" i="0">
                <a:solidFill>
                  <a:srgbClr val="E6A817"/>
                </a:solidFill>
                <a:latin typeface="Arial"/>
              </a:rPr>
              <a:t>MODERATE</a:t>
            </a:r>
          </a:p>
        </p:txBody>
      </p:sp>
      <p:sp>
        <p:nvSpPr>
          <p:cNvPr id="51" name="Rectangle 50"/>
          <p:cNvSpPr/>
          <p:nvPr/>
        </p:nvSpPr>
        <p:spPr>
          <a:xfrm>
            <a:off x="274320" y="4846320"/>
            <a:ext cx="11640312"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4873752"/>
            <a:ext cx="11430000" cy="237744"/>
          </a:xfrm>
          <a:prstGeom prst="rect">
            <a:avLst/>
          </a:prstGeom>
          <a:noFill/>
        </p:spPr>
        <p:txBody>
          <a:bodyPr wrap="square">
            <a:spAutoFit/>
          </a:bodyPr>
          <a:lstStyle/>
          <a:p>
            <a:pPr algn="l"/>
            <a:r>
              <a:rPr sz="1200" b="1" i="0">
                <a:solidFill>
                  <a:srgbClr val="FFFFFF"/>
                </a:solidFill>
                <a:latin typeface="Arial"/>
              </a:rPr>
              <a:t>Hydration &amp; Cooling Cues</a:t>
            </a:r>
          </a:p>
        </p:txBody>
      </p:sp>
      <p:sp>
        <p:nvSpPr>
          <p:cNvPr id="53" name="TextBox 52"/>
          <p:cNvSpPr txBox="1"/>
          <p:nvPr/>
        </p:nvSpPr>
        <p:spPr>
          <a:xfrm>
            <a:off x="365760" y="5212080"/>
            <a:ext cx="11430000" cy="253916"/>
          </a:xfrm>
          <a:prstGeom prst="rect">
            <a:avLst/>
          </a:prstGeom>
          <a:noFill/>
        </p:spPr>
        <p:txBody>
          <a:bodyPr wrap="square">
            <a:spAutoFit/>
          </a:bodyPr>
          <a:lstStyle/>
          <a:p>
            <a:pPr algn="l"/>
            <a:r>
              <a:rPr sz="1050" b="0" i="0" dirty="0">
                <a:solidFill>
                  <a:srgbClr val="262626"/>
                </a:solidFill>
                <a:latin typeface="Arial"/>
              </a:rPr>
              <a:t>•  Standard heat protocol</a:t>
            </a:r>
            <a:r>
              <a:rPr lang="en-US" sz="1050" b="0" i="0" dirty="0">
                <a:solidFill>
                  <a:srgbClr val="262626"/>
                </a:solidFill>
                <a:latin typeface="Arial"/>
              </a:rPr>
              <a:t>. P</a:t>
            </a:r>
            <a:r>
              <a:rPr sz="1050" b="0" i="0" dirty="0">
                <a:solidFill>
                  <a:srgbClr val="262626"/>
                </a:solidFill>
                <a:latin typeface="Arial"/>
              </a:rPr>
              <a:t>re-cool 10 min</a:t>
            </a:r>
            <a:r>
              <a:rPr lang="en-US" sz="1050" b="0" i="0" dirty="0">
                <a:solidFill>
                  <a:srgbClr val="262626"/>
                </a:solidFill>
                <a:latin typeface="Arial"/>
              </a:rPr>
              <a:t> with ice or ice vests</a:t>
            </a:r>
            <a:r>
              <a:rPr sz="1050" b="0" i="0" dirty="0">
                <a:solidFill>
                  <a:srgbClr val="262626"/>
                </a:solidFill>
                <a:latin typeface="Arial"/>
              </a:rPr>
              <a:t>, </a:t>
            </a:r>
            <a:r>
              <a:rPr lang="en-US" sz="1050" b="0" i="0" dirty="0">
                <a:solidFill>
                  <a:srgbClr val="262626"/>
                </a:solidFill>
                <a:latin typeface="Arial"/>
              </a:rPr>
              <a:t>make use of </a:t>
            </a:r>
            <a:r>
              <a:rPr sz="1050" b="0" i="0" dirty="0">
                <a:solidFill>
                  <a:srgbClr val="262626"/>
                </a:solidFill>
                <a:latin typeface="Arial"/>
              </a:rPr>
              <a:t>sponges/ice at aid station</a:t>
            </a:r>
            <a:r>
              <a:rPr lang="en-US" sz="1050" b="0" i="0" dirty="0">
                <a:solidFill>
                  <a:srgbClr val="262626"/>
                </a:solidFill>
                <a:latin typeface="Arial"/>
              </a:rPr>
              <a:t>s</a:t>
            </a:r>
            <a:endParaRPr sz="1050" b="0" i="0" dirty="0">
              <a:solidFill>
                <a:srgbClr val="262626"/>
              </a:solidFill>
              <a:latin typeface="Arial"/>
            </a:endParaRPr>
          </a:p>
        </p:txBody>
      </p:sp>
      <p:sp>
        <p:nvSpPr>
          <p:cNvPr id="54" name="TextBox 53"/>
          <p:cNvSpPr txBox="1"/>
          <p:nvPr/>
        </p:nvSpPr>
        <p:spPr>
          <a:xfrm>
            <a:off x="365760" y="5504688"/>
            <a:ext cx="11430000" cy="253916"/>
          </a:xfrm>
          <a:prstGeom prst="rect">
            <a:avLst/>
          </a:prstGeom>
          <a:noFill/>
        </p:spPr>
        <p:txBody>
          <a:bodyPr wrap="square">
            <a:spAutoFit/>
          </a:bodyPr>
          <a:lstStyle/>
          <a:p>
            <a:pPr algn="l"/>
            <a:r>
              <a:rPr sz="1050" b="0" i="0" dirty="0">
                <a:solidFill>
                  <a:srgbClr val="262626"/>
                </a:solidFill>
                <a:latin typeface="Arial"/>
              </a:rPr>
              <a:t>•  Notable wind (15 km/h)</a:t>
            </a:r>
            <a:r>
              <a:rPr lang="en-US" sz="1050" b="0" i="0" dirty="0">
                <a:solidFill>
                  <a:srgbClr val="262626"/>
                </a:solidFill>
                <a:latin typeface="Arial"/>
              </a:rPr>
              <a:t> potential from the sea breeze. </a:t>
            </a:r>
            <a:r>
              <a:rPr lang="en-US" sz="1050" dirty="0">
                <a:solidFill>
                  <a:srgbClr val="262626"/>
                </a:solidFill>
                <a:latin typeface="Arial"/>
              </a:rPr>
              <a:t>D</a:t>
            </a:r>
            <a:r>
              <a:rPr sz="1050" b="0" i="0" dirty="0">
                <a:solidFill>
                  <a:srgbClr val="262626"/>
                </a:solidFill>
                <a:latin typeface="Arial"/>
              </a:rPr>
              <a:t>rafting </a:t>
            </a:r>
            <a:r>
              <a:rPr lang="en-US" sz="1050" b="0" i="0" dirty="0">
                <a:solidFill>
                  <a:srgbClr val="262626"/>
                </a:solidFill>
                <a:latin typeface="Arial"/>
              </a:rPr>
              <a:t>can be a key component </a:t>
            </a:r>
            <a:r>
              <a:rPr sz="1050" b="0" i="0" dirty="0">
                <a:solidFill>
                  <a:srgbClr val="262626"/>
                </a:solidFill>
                <a:latin typeface="Arial"/>
              </a:rPr>
              <a:t>on exposed coastal bike sections; </a:t>
            </a:r>
          </a:p>
        </p:txBody>
      </p:sp>
      <p:sp>
        <p:nvSpPr>
          <p:cNvPr id="55" name="TextBox 54"/>
          <p:cNvSpPr txBox="1"/>
          <p:nvPr/>
        </p:nvSpPr>
        <p:spPr>
          <a:xfrm>
            <a:off x="274320" y="6446520"/>
            <a:ext cx="11640312" cy="228600"/>
          </a:xfrm>
          <a:prstGeom prst="rect">
            <a:avLst/>
          </a:prstGeom>
          <a:noFill/>
        </p:spPr>
        <p:txBody>
          <a:bodyPr wrap="square">
            <a:spAutoFit/>
          </a:bodyPr>
          <a:lstStyle/>
          <a:p>
            <a:pPr algn="ctr"/>
            <a:r>
              <a:rPr sz="900" b="0" i="1">
                <a:solidFill>
                  <a:srgbClr val="BFBFBF"/>
                </a:solidFill>
                <a:latin typeface="Arial"/>
              </a:rPr>
              <a:t>Data source: Open-Meteo. Forecast will replace climatology once race day is within 16 days. Historical Race Conditions slide shows what actually happened in prior years.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Travel &amp; Arrival Load</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Denver, CO → Weihai race week</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960120"/>
          </a:xfrm>
          <a:prstGeom prst="rect">
            <a:avLst/>
          </a:prstGeom>
          <a:solidFill>
            <a:srgbClr val="E9EFF9"/>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200" b="1" i="0">
                <a:solidFill>
                  <a:srgbClr val="002060"/>
                </a:solidFill>
                <a:latin typeface="Arial"/>
              </a:rPr>
              <a:t>Core travel read</a:t>
            </a:r>
          </a:p>
        </p:txBody>
      </p:sp>
      <p:sp>
        <p:nvSpPr>
          <p:cNvPr id="10" name="TextBox 9"/>
          <p:cNvSpPr txBox="1"/>
          <p:nvPr/>
        </p:nvSpPr>
        <p:spPr>
          <a:xfrm>
            <a:off x="457200" y="1398744"/>
            <a:ext cx="11247120" cy="692497"/>
          </a:xfrm>
          <a:prstGeom prst="rect">
            <a:avLst/>
          </a:prstGeom>
          <a:noFill/>
        </p:spPr>
        <p:txBody>
          <a:bodyPr wrap="square">
            <a:spAutoFit/>
          </a:bodyPr>
          <a:lstStyle/>
          <a:p>
            <a:pPr algn="ctr"/>
            <a:r>
              <a:rPr sz="1300" b="0" i="0" dirty="0">
                <a:solidFill>
                  <a:srgbClr val="262626"/>
                </a:solidFill>
                <a:latin typeface="Arial"/>
              </a:rPr>
              <a:t>The longest trip on the 2026 calendar. Denver → Weihai (WEH) needs two or three legs, typically DEN to a US west-coast gateway, then a trans-Pacific into Beijing/Shanghai/Seoul, then a </a:t>
            </a:r>
            <a:r>
              <a:rPr lang="en-US" sz="1300" b="0" i="0" dirty="0">
                <a:solidFill>
                  <a:srgbClr val="262626"/>
                </a:solidFill>
                <a:latin typeface="Arial"/>
              </a:rPr>
              <a:t>final Chinese domestic flight </a:t>
            </a:r>
            <a:r>
              <a:rPr sz="1300" b="0" i="0" dirty="0">
                <a:solidFill>
                  <a:srgbClr val="262626"/>
                </a:solidFill>
                <a:latin typeface="Arial"/>
              </a:rPr>
              <a:t>or the high-speed rail into Weihai. Budget 24–30 h door to door</a:t>
            </a:r>
            <a:r>
              <a:rPr lang="en-US" sz="1300" b="0" i="0" dirty="0">
                <a:solidFill>
                  <a:srgbClr val="262626"/>
                </a:solidFill>
                <a:latin typeface="Arial"/>
              </a:rPr>
              <a:t>.</a:t>
            </a:r>
            <a:r>
              <a:rPr sz="1300" b="0" i="0" dirty="0">
                <a:solidFill>
                  <a:srgbClr val="262626"/>
                </a:solidFill>
                <a:latin typeface="Arial"/>
              </a:rPr>
              <a:t> CST is UTC+8, 14 hours ahead of Denver (MDT), </a:t>
            </a:r>
          </a:p>
        </p:txBody>
      </p:sp>
      <p:sp>
        <p:nvSpPr>
          <p:cNvPr id="11" name="Rectangle 10"/>
          <p:cNvSpPr/>
          <p:nvPr/>
        </p:nvSpPr>
        <p:spPr>
          <a:xfrm>
            <a:off x="274320"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2286000"/>
            <a:ext cx="2072030" cy="201168"/>
          </a:xfrm>
          <a:prstGeom prst="rect">
            <a:avLst/>
          </a:prstGeom>
          <a:noFill/>
        </p:spPr>
        <p:txBody>
          <a:bodyPr wrap="square">
            <a:spAutoFit/>
          </a:bodyPr>
          <a:lstStyle/>
          <a:p>
            <a:pPr algn="ctr"/>
            <a:r>
              <a:rPr sz="1000" b="1" i="0">
                <a:solidFill>
                  <a:srgbClr val="002060"/>
                </a:solidFill>
                <a:latin typeface="Arial"/>
              </a:rPr>
              <a:t>Primary route</a:t>
            </a:r>
          </a:p>
        </p:txBody>
      </p:sp>
      <p:sp>
        <p:nvSpPr>
          <p:cNvPr id="13" name="TextBox 12"/>
          <p:cNvSpPr txBox="1"/>
          <p:nvPr/>
        </p:nvSpPr>
        <p:spPr>
          <a:xfrm>
            <a:off x="347472" y="2496312"/>
            <a:ext cx="2072030" cy="292608"/>
          </a:xfrm>
          <a:prstGeom prst="rect">
            <a:avLst/>
          </a:prstGeom>
          <a:noFill/>
        </p:spPr>
        <p:txBody>
          <a:bodyPr wrap="square">
            <a:spAutoFit/>
          </a:bodyPr>
          <a:lstStyle/>
          <a:p>
            <a:pPr algn="ctr"/>
            <a:r>
              <a:rPr sz="1400" b="1" i="0">
                <a:solidFill>
                  <a:srgbClr val="262626"/>
                </a:solidFill>
                <a:latin typeface="Arial"/>
              </a:rPr>
              <a:t>DEN → WEH</a:t>
            </a:r>
          </a:p>
        </p:txBody>
      </p:sp>
      <p:sp>
        <p:nvSpPr>
          <p:cNvPr id="14" name="TextBox 13"/>
          <p:cNvSpPr txBox="1"/>
          <p:nvPr/>
        </p:nvSpPr>
        <p:spPr>
          <a:xfrm>
            <a:off x="347472" y="2807208"/>
            <a:ext cx="2072030" cy="256032"/>
          </a:xfrm>
          <a:prstGeom prst="rect">
            <a:avLst/>
          </a:prstGeom>
          <a:noFill/>
        </p:spPr>
        <p:txBody>
          <a:bodyPr wrap="square">
            <a:spAutoFit/>
          </a:bodyPr>
          <a:lstStyle/>
          <a:p>
            <a:pPr algn="ctr"/>
            <a:r>
              <a:rPr sz="900" b="0" i="1">
                <a:solidFill>
                  <a:srgbClr val="BFBFBF"/>
                </a:solidFill>
                <a:latin typeface="Arial"/>
              </a:rPr>
              <a:t>2–3 legs via PEK/PVG/ICN</a:t>
            </a:r>
          </a:p>
        </p:txBody>
      </p:sp>
      <p:sp>
        <p:nvSpPr>
          <p:cNvPr id="15" name="Rectangle 14"/>
          <p:cNvSpPr/>
          <p:nvPr/>
        </p:nvSpPr>
        <p:spPr>
          <a:xfrm>
            <a:off x="2629814"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02966" y="2286000"/>
            <a:ext cx="2072030" cy="201168"/>
          </a:xfrm>
          <a:prstGeom prst="rect">
            <a:avLst/>
          </a:prstGeom>
          <a:noFill/>
        </p:spPr>
        <p:txBody>
          <a:bodyPr wrap="square">
            <a:spAutoFit/>
          </a:bodyPr>
          <a:lstStyle/>
          <a:p>
            <a:pPr algn="ctr"/>
            <a:r>
              <a:rPr sz="1000" b="1" i="0">
                <a:solidFill>
                  <a:srgbClr val="002060"/>
                </a:solidFill>
                <a:latin typeface="Arial"/>
              </a:rPr>
              <a:t>Time zones</a:t>
            </a:r>
          </a:p>
        </p:txBody>
      </p:sp>
      <p:sp>
        <p:nvSpPr>
          <p:cNvPr id="17" name="TextBox 16"/>
          <p:cNvSpPr txBox="1"/>
          <p:nvPr/>
        </p:nvSpPr>
        <p:spPr>
          <a:xfrm>
            <a:off x="2702966" y="2496312"/>
            <a:ext cx="2072030" cy="292608"/>
          </a:xfrm>
          <a:prstGeom prst="rect">
            <a:avLst/>
          </a:prstGeom>
          <a:noFill/>
        </p:spPr>
        <p:txBody>
          <a:bodyPr wrap="square">
            <a:spAutoFit/>
          </a:bodyPr>
          <a:lstStyle/>
          <a:p>
            <a:pPr algn="ctr"/>
            <a:r>
              <a:rPr sz="1400" b="1" i="0">
                <a:solidFill>
                  <a:srgbClr val="262626"/>
                </a:solidFill>
                <a:latin typeface="Arial"/>
              </a:rPr>
              <a:t>+14h</a:t>
            </a:r>
          </a:p>
        </p:txBody>
      </p:sp>
      <p:sp>
        <p:nvSpPr>
          <p:cNvPr id="18" name="TextBox 17"/>
          <p:cNvSpPr txBox="1"/>
          <p:nvPr/>
        </p:nvSpPr>
        <p:spPr>
          <a:xfrm>
            <a:off x="2702966" y="2807208"/>
            <a:ext cx="2072030" cy="256032"/>
          </a:xfrm>
          <a:prstGeom prst="rect">
            <a:avLst/>
          </a:prstGeom>
          <a:noFill/>
        </p:spPr>
        <p:txBody>
          <a:bodyPr wrap="square">
            <a:spAutoFit/>
          </a:bodyPr>
          <a:lstStyle/>
          <a:p>
            <a:pPr algn="ctr"/>
            <a:r>
              <a:rPr sz="900" b="0" i="1">
                <a:solidFill>
                  <a:srgbClr val="BFBFBF"/>
                </a:solidFill>
                <a:latin typeface="Arial"/>
              </a:rPr>
              <a:t>CST UTC+8 vs Denver MDT</a:t>
            </a:r>
          </a:p>
        </p:txBody>
      </p:sp>
      <p:sp>
        <p:nvSpPr>
          <p:cNvPr id="19" name="Rectangle 18"/>
          <p:cNvSpPr/>
          <p:nvPr/>
        </p:nvSpPr>
        <p:spPr>
          <a:xfrm>
            <a:off x="4985308"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58460" y="2286000"/>
            <a:ext cx="2072030" cy="201168"/>
          </a:xfrm>
          <a:prstGeom prst="rect">
            <a:avLst/>
          </a:prstGeom>
          <a:noFill/>
        </p:spPr>
        <p:txBody>
          <a:bodyPr wrap="square">
            <a:spAutoFit/>
          </a:bodyPr>
          <a:lstStyle/>
          <a:p>
            <a:pPr algn="ctr"/>
            <a:r>
              <a:rPr sz="1000" b="1" i="0">
                <a:solidFill>
                  <a:srgbClr val="002060"/>
                </a:solidFill>
                <a:latin typeface="Arial"/>
              </a:rPr>
              <a:t>Airport Transfer</a:t>
            </a:r>
          </a:p>
        </p:txBody>
      </p:sp>
      <p:sp>
        <p:nvSpPr>
          <p:cNvPr id="21" name="TextBox 20"/>
          <p:cNvSpPr txBox="1"/>
          <p:nvPr/>
        </p:nvSpPr>
        <p:spPr>
          <a:xfrm>
            <a:off x="5058460" y="2496312"/>
            <a:ext cx="2072030" cy="292608"/>
          </a:xfrm>
          <a:prstGeom prst="rect">
            <a:avLst/>
          </a:prstGeom>
          <a:noFill/>
        </p:spPr>
        <p:txBody>
          <a:bodyPr wrap="square">
            <a:spAutoFit/>
          </a:bodyPr>
          <a:lstStyle/>
          <a:p>
            <a:pPr algn="ctr"/>
            <a:r>
              <a:rPr sz="1400" b="1" i="0">
                <a:solidFill>
                  <a:srgbClr val="262626"/>
                </a:solidFill>
                <a:latin typeface="Arial"/>
              </a:rPr>
              <a:t>WEH → Hotel</a:t>
            </a:r>
          </a:p>
        </p:txBody>
      </p:sp>
      <p:sp>
        <p:nvSpPr>
          <p:cNvPr id="22" name="TextBox 21"/>
          <p:cNvSpPr txBox="1"/>
          <p:nvPr/>
        </p:nvSpPr>
        <p:spPr>
          <a:xfrm>
            <a:off x="5058460" y="2807208"/>
            <a:ext cx="2072030" cy="256032"/>
          </a:xfrm>
          <a:prstGeom prst="rect">
            <a:avLst/>
          </a:prstGeom>
          <a:noFill/>
        </p:spPr>
        <p:txBody>
          <a:bodyPr wrap="square">
            <a:spAutoFit/>
          </a:bodyPr>
          <a:lstStyle/>
          <a:p>
            <a:pPr algn="ctr"/>
            <a:r>
              <a:rPr sz="900" b="0" i="1">
                <a:solidFill>
                  <a:srgbClr val="BFBFBF"/>
                </a:solidFill>
                <a:latin typeface="Arial"/>
              </a:rPr>
              <a:t>46.2 km / ~50 min</a:t>
            </a:r>
          </a:p>
        </p:txBody>
      </p:sp>
      <p:sp>
        <p:nvSpPr>
          <p:cNvPr id="23" name="Rectangle 22"/>
          <p:cNvSpPr/>
          <p:nvPr/>
        </p:nvSpPr>
        <p:spPr>
          <a:xfrm>
            <a:off x="7340803"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13955" y="2286000"/>
            <a:ext cx="2072030" cy="201168"/>
          </a:xfrm>
          <a:prstGeom prst="rect">
            <a:avLst/>
          </a:prstGeom>
          <a:noFill/>
        </p:spPr>
        <p:txBody>
          <a:bodyPr wrap="square">
            <a:spAutoFit/>
          </a:bodyPr>
          <a:lstStyle/>
          <a:p>
            <a:pPr algn="ctr"/>
            <a:r>
              <a:rPr sz="1000" b="1" i="0">
                <a:solidFill>
                  <a:srgbClr val="002060"/>
                </a:solidFill>
                <a:latin typeface="Arial"/>
              </a:rPr>
              <a:t>Rail alternative</a:t>
            </a:r>
          </a:p>
        </p:txBody>
      </p:sp>
      <p:sp>
        <p:nvSpPr>
          <p:cNvPr id="25" name="TextBox 24"/>
          <p:cNvSpPr txBox="1"/>
          <p:nvPr/>
        </p:nvSpPr>
        <p:spPr>
          <a:xfrm>
            <a:off x="7413955" y="2496312"/>
            <a:ext cx="2072030" cy="292608"/>
          </a:xfrm>
          <a:prstGeom prst="rect">
            <a:avLst/>
          </a:prstGeom>
          <a:noFill/>
        </p:spPr>
        <p:txBody>
          <a:bodyPr wrap="square">
            <a:spAutoFit/>
          </a:bodyPr>
          <a:lstStyle/>
          <a:p>
            <a:pPr algn="ctr"/>
            <a:r>
              <a:rPr sz="1400" b="1" i="0">
                <a:solidFill>
                  <a:srgbClr val="262626"/>
                </a:solidFill>
                <a:latin typeface="Arial"/>
              </a:rPr>
              <a:t>Weihai North HSR</a:t>
            </a:r>
          </a:p>
        </p:txBody>
      </p:sp>
      <p:sp>
        <p:nvSpPr>
          <p:cNvPr id="26" name="TextBox 25"/>
          <p:cNvSpPr txBox="1"/>
          <p:nvPr/>
        </p:nvSpPr>
        <p:spPr>
          <a:xfrm>
            <a:off x="7413955" y="2807208"/>
            <a:ext cx="2072030" cy="256032"/>
          </a:xfrm>
          <a:prstGeom prst="rect">
            <a:avLst/>
          </a:prstGeom>
          <a:noFill/>
        </p:spPr>
        <p:txBody>
          <a:bodyPr wrap="square">
            <a:spAutoFit/>
          </a:bodyPr>
          <a:lstStyle/>
          <a:p>
            <a:pPr algn="ctr"/>
            <a:r>
              <a:rPr sz="900" b="0" i="1">
                <a:solidFill>
                  <a:srgbClr val="BFBFBF"/>
                </a:solidFill>
                <a:latin typeface="Arial"/>
              </a:rPr>
              <a:t>8.4 km / ~18 min to hotel</a:t>
            </a:r>
          </a:p>
        </p:txBody>
      </p:sp>
      <p:sp>
        <p:nvSpPr>
          <p:cNvPr id="27" name="Rectangle 26"/>
          <p:cNvSpPr/>
          <p:nvPr/>
        </p:nvSpPr>
        <p:spPr>
          <a:xfrm>
            <a:off x="9696297"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69449" y="2286000"/>
            <a:ext cx="2072030" cy="201168"/>
          </a:xfrm>
          <a:prstGeom prst="rect">
            <a:avLst/>
          </a:prstGeom>
          <a:noFill/>
        </p:spPr>
        <p:txBody>
          <a:bodyPr wrap="square">
            <a:spAutoFit/>
          </a:bodyPr>
          <a:lstStyle/>
          <a:p>
            <a:pPr algn="ctr"/>
            <a:r>
              <a:rPr sz="1000" b="1" i="0">
                <a:solidFill>
                  <a:srgbClr val="002060"/>
                </a:solidFill>
                <a:latin typeface="Arial"/>
              </a:rPr>
              <a:t>Hotel → Venue</a:t>
            </a:r>
          </a:p>
        </p:txBody>
      </p:sp>
      <p:sp>
        <p:nvSpPr>
          <p:cNvPr id="29" name="TextBox 28"/>
          <p:cNvSpPr txBox="1"/>
          <p:nvPr/>
        </p:nvSpPr>
        <p:spPr>
          <a:xfrm>
            <a:off x="9769449" y="2496312"/>
            <a:ext cx="2072030" cy="292608"/>
          </a:xfrm>
          <a:prstGeom prst="rect">
            <a:avLst/>
          </a:prstGeom>
          <a:noFill/>
        </p:spPr>
        <p:txBody>
          <a:bodyPr wrap="square">
            <a:spAutoFit/>
          </a:bodyPr>
          <a:lstStyle/>
          <a:p>
            <a:pPr algn="ctr"/>
            <a:r>
              <a:rPr sz="1400" b="1" i="0">
                <a:solidFill>
                  <a:srgbClr val="262626"/>
                </a:solidFill>
                <a:latin typeface="Arial"/>
              </a:rPr>
              <a:t>0.8 km</a:t>
            </a:r>
          </a:p>
        </p:txBody>
      </p:sp>
      <p:sp>
        <p:nvSpPr>
          <p:cNvPr id="30" name="TextBox 29"/>
          <p:cNvSpPr txBox="1"/>
          <p:nvPr/>
        </p:nvSpPr>
        <p:spPr>
          <a:xfrm>
            <a:off x="9769449" y="2807208"/>
            <a:ext cx="2072030" cy="256032"/>
          </a:xfrm>
          <a:prstGeom prst="rect">
            <a:avLst/>
          </a:prstGeom>
          <a:noFill/>
        </p:spPr>
        <p:txBody>
          <a:bodyPr wrap="square">
            <a:spAutoFit/>
          </a:bodyPr>
          <a:lstStyle/>
          <a:p>
            <a:pPr algn="ctr"/>
            <a:r>
              <a:rPr sz="900" b="0" i="1">
                <a:solidFill>
                  <a:srgbClr val="BFBFBF"/>
                </a:solidFill>
                <a:latin typeface="Arial"/>
              </a:rPr>
              <a:t>Walking distance</a:t>
            </a:r>
          </a:p>
        </p:txBody>
      </p:sp>
      <p:sp>
        <p:nvSpPr>
          <p:cNvPr id="31" name="Rectangle 30"/>
          <p:cNvSpPr/>
          <p:nvPr/>
        </p:nvSpPr>
        <p:spPr>
          <a:xfrm>
            <a:off x="274320" y="3291840"/>
            <a:ext cx="5669280" cy="237744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3401568"/>
            <a:ext cx="5394960" cy="292608"/>
          </a:xfrm>
          <a:prstGeom prst="rect">
            <a:avLst/>
          </a:prstGeom>
          <a:noFill/>
        </p:spPr>
        <p:txBody>
          <a:bodyPr wrap="square">
            <a:spAutoFit/>
          </a:bodyPr>
          <a:lstStyle/>
          <a:p>
            <a:pPr algn="ctr"/>
            <a:r>
              <a:rPr sz="1300" b="1" i="0">
                <a:solidFill>
                  <a:srgbClr val="002060"/>
                </a:solidFill>
                <a:latin typeface="Arial"/>
              </a:rPr>
              <a:t>Host Hotel / Accommodation</a:t>
            </a:r>
          </a:p>
        </p:txBody>
      </p:sp>
      <p:sp>
        <p:nvSpPr>
          <p:cNvPr id="33" name="TextBox 32"/>
          <p:cNvSpPr txBox="1"/>
          <p:nvPr/>
        </p:nvSpPr>
        <p:spPr>
          <a:xfrm>
            <a:off x="438912" y="3749040"/>
            <a:ext cx="5340096" cy="461665"/>
          </a:xfrm>
          <a:prstGeom prst="rect">
            <a:avLst/>
          </a:prstGeom>
          <a:noFill/>
        </p:spPr>
        <p:txBody>
          <a:bodyPr wrap="square">
            <a:spAutoFit/>
          </a:bodyPr>
          <a:lstStyle/>
          <a:p>
            <a:pPr algn="l"/>
            <a:r>
              <a:rPr sz="1200" b="0" i="0" dirty="0">
                <a:solidFill>
                  <a:srgbClr val="262626"/>
                </a:solidFill>
                <a:latin typeface="Arial"/>
              </a:rPr>
              <a:t>•  Official hotel: </a:t>
            </a:r>
            <a:r>
              <a:rPr sz="1200" b="0" i="0" dirty="0" err="1">
                <a:solidFill>
                  <a:srgbClr val="262626"/>
                </a:solidFill>
                <a:latin typeface="Arial"/>
              </a:rPr>
              <a:t>Weihaiwei</a:t>
            </a:r>
            <a:r>
              <a:rPr sz="1200" b="0" i="0" dirty="0">
                <a:solidFill>
                  <a:srgbClr val="262626"/>
                </a:solidFill>
                <a:latin typeface="Arial"/>
              </a:rPr>
              <a:t> Hotel, No. 82 </a:t>
            </a:r>
            <a:r>
              <a:rPr sz="1200" b="0" i="0" dirty="0" err="1">
                <a:solidFill>
                  <a:srgbClr val="262626"/>
                </a:solidFill>
                <a:latin typeface="Arial"/>
              </a:rPr>
              <a:t>Haigang</a:t>
            </a:r>
            <a:r>
              <a:rPr sz="1200" b="0" i="0" dirty="0">
                <a:solidFill>
                  <a:srgbClr val="262626"/>
                </a:solidFill>
                <a:latin typeface="Arial"/>
              </a:rPr>
              <a:t> Road, </a:t>
            </a:r>
            <a:r>
              <a:rPr sz="1200" b="0" i="0" dirty="0" err="1">
                <a:solidFill>
                  <a:srgbClr val="262626"/>
                </a:solidFill>
                <a:latin typeface="Arial"/>
              </a:rPr>
              <a:t>Huancui</a:t>
            </a:r>
            <a:r>
              <a:rPr sz="1200" b="0" i="0" dirty="0">
                <a:solidFill>
                  <a:srgbClr val="262626"/>
                </a:solidFill>
                <a:latin typeface="Arial"/>
              </a:rPr>
              <a:t> District</a:t>
            </a:r>
            <a:r>
              <a:rPr lang="en-US" sz="1200" b="0" i="0" dirty="0">
                <a:solidFill>
                  <a:srgbClr val="262626"/>
                </a:solidFill>
                <a:latin typeface="Arial"/>
              </a:rPr>
              <a:t>. ~</a:t>
            </a:r>
            <a:r>
              <a:rPr sz="1200" b="0" i="0" dirty="0">
                <a:solidFill>
                  <a:srgbClr val="262626"/>
                </a:solidFill>
                <a:latin typeface="Arial"/>
              </a:rPr>
              <a:t>0.8 km from the main venue, </a:t>
            </a:r>
          </a:p>
        </p:txBody>
      </p:sp>
      <p:sp>
        <p:nvSpPr>
          <p:cNvPr id="34" name="TextBox 33"/>
          <p:cNvSpPr txBox="1"/>
          <p:nvPr/>
        </p:nvSpPr>
        <p:spPr>
          <a:xfrm>
            <a:off x="438912" y="4219047"/>
            <a:ext cx="5340096" cy="461665"/>
          </a:xfrm>
          <a:prstGeom prst="rect">
            <a:avLst/>
          </a:prstGeom>
          <a:noFill/>
        </p:spPr>
        <p:txBody>
          <a:bodyPr wrap="square">
            <a:spAutoFit/>
          </a:bodyPr>
          <a:lstStyle/>
          <a:p>
            <a:pPr algn="l"/>
            <a:r>
              <a:rPr sz="1200" b="0" i="0" dirty="0">
                <a:solidFill>
                  <a:srgbClr val="262626"/>
                </a:solidFill>
                <a:latin typeface="Arial"/>
              </a:rPr>
              <a:t>•  Briefing and press conference are at the </a:t>
            </a:r>
            <a:r>
              <a:rPr sz="1200" b="0" i="0" dirty="0" err="1">
                <a:solidFill>
                  <a:srgbClr val="262626"/>
                </a:solidFill>
                <a:latin typeface="Arial"/>
              </a:rPr>
              <a:t>Brigh</a:t>
            </a:r>
            <a:r>
              <a:rPr sz="1200" b="0" i="0" dirty="0">
                <a:solidFill>
                  <a:srgbClr val="262626"/>
                </a:solidFill>
                <a:latin typeface="Arial"/>
              </a:rPr>
              <a:t> Radiance Hotel, ~500 m from the official hotel (briefing Fri 28 Aug 16:00–16:30).</a:t>
            </a:r>
          </a:p>
        </p:txBody>
      </p:sp>
      <p:sp>
        <p:nvSpPr>
          <p:cNvPr id="35" name="TextBox 34"/>
          <p:cNvSpPr txBox="1"/>
          <p:nvPr/>
        </p:nvSpPr>
        <p:spPr>
          <a:xfrm>
            <a:off x="438912" y="4689054"/>
            <a:ext cx="5340096" cy="461665"/>
          </a:xfrm>
          <a:prstGeom prst="rect">
            <a:avLst/>
          </a:prstGeom>
          <a:noFill/>
        </p:spPr>
        <p:txBody>
          <a:bodyPr wrap="square">
            <a:spAutoFit/>
          </a:bodyPr>
          <a:lstStyle/>
          <a:p>
            <a:pPr algn="l"/>
            <a:r>
              <a:rPr sz="1200" b="0" i="0" dirty="0">
                <a:solidFill>
                  <a:srgbClr val="262626"/>
                </a:solidFill>
                <a:latin typeface="Arial"/>
              </a:rPr>
              <a:t>•  Amenities: free Wi-Fi, fitness </a:t>
            </a:r>
            <a:r>
              <a:rPr sz="1200" b="0" i="0" dirty="0" err="1">
                <a:solidFill>
                  <a:srgbClr val="262626"/>
                </a:solidFill>
                <a:latin typeface="Arial"/>
              </a:rPr>
              <a:t>centre</a:t>
            </a:r>
            <a:r>
              <a:rPr sz="1200" b="0" i="0" dirty="0">
                <a:solidFill>
                  <a:srgbClr val="262626"/>
                </a:solidFill>
                <a:latin typeface="Arial"/>
              </a:rPr>
              <a:t>, free laundry on the 2nd floor, two bottles of water and fruit per room daily, free room-service delivery.</a:t>
            </a:r>
          </a:p>
        </p:txBody>
      </p:sp>
      <p:sp>
        <p:nvSpPr>
          <p:cNvPr id="36" name="TextBox 35"/>
          <p:cNvSpPr txBox="1"/>
          <p:nvPr/>
        </p:nvSpPr>
        <p:spPr>
          <a:xfrm>
            <a:off x="438912" y="5159061"/>
            <a:ext cx="5340096" cy="461665"/>
          </a:xfrm>
          <a:prstGeom prst="rect">
            <a:avLst/>
          </a:prstGeom>
          <a:noFill/>
        </p:spPr>
        <p:txBody>
          <a:bodyPr wrap="square">
            <a:spAutoFit/>
          </a:bodyPr>
          <a:lstStyle/>
          <a:p>
            <a:pPr algn="l"/>
            <a:r>
              <a:rPr sz="1200" b="0" i="0" dirty="0">
                <a:solidFill>
                  <a:srgbClr val="262626"/>
                </a:solidFill>
                <a:latin typeface="Arial"/>
              </a:rPr>
              <a:t>•  Athlete/coach set meals 198–498 CNY per person in </a:t>
            </a:r>
            <a:r>
              <a:rPr sz="1200" b="0" i="0" dirty="0" err="1">
                <a:solidFill>
                  <a:srgbClr val="262626"/>
                </a:solidFill>
                <a:latin typeface="Arial"/>
              </a:rPr>
              <a:t>Liugong</a:t>
            </a:r>
            <a:r>
              <a:rPr sz="1200" b="0" i="0" dirty="0">
                <a:solidFill>
                  <a:srgbClr val="262626"/>
                </a:solidFill>
                <a:latin typeface="Arial"/>
              </a:rPr>
              <a:t> Island Hall (2/F). Pasta Party Fri 28 Aug 18:00–20:00, vegetarian and halal available.</a:t>
            </a:r>
          </a:p>
        </p:txBody>
      </p:sp>
      <p:sp>
        <p:nvSpPr>
          <p:cNvPr id="38" name="Rectangle 37"/>
          <p:cNvSpPr/>
          <p:nvPr/>
        </p:nvSpPr>
        <p:spPr>
          <a:xfrm>
            <a:off x="6217920" y="3291840"/>
            <a:ext cx="5669280" cy="237744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55080" y="3401568"/>
            <a:ext cx="5394960" cy="292608"/>
          </a:xfrm>
          <a:prstGeom prst="rect">
            <a:avLst/>
          </a:prstGeom>
          <a:noFill/>
        </p:spPr>
        <p:txBody>
          <a:bodyPr wrap="square">
            <a:spAutoFit/>
          </a:bodyPr>
          <a:lstStyle/>
          <a:p>
            <a:pPr algn="ctr"/>
            <a:r>
              <a:rPr sz="1300" b="1" i="0">
                <a:solidFill>
                  <a:srgbClr val="002060"/>
                </a:solidFill>
                <a:latin typeface="Arial"/>
              </a:rPr>
              <a:t>China-Specific Practical Notes</a:t>
            </a:r>
          </a:p>
        </p:txBody>
      </p:sp>
      <p:sp>
        <p:nvSpPr>
          <p:cNvPr id="40" name="TextBox 39"/>
          <p:cNvSpPr txBox="1"/>
          <p:nvPr/>
        </p:nvSpPr>
        <p:spPr>
          <a:xfrm>
            <a:off x="6382512" y="3749040"/>
            <a:ext cx="5340096" cy="600164"/>
          </a:xfrm>
          <a:prstGeom prst="rect">
            <a:avLst/>
          </a:prstGeom>
          <a:noFill/>
        </p:spPr>
        <p:txBody>
          <a:bodyPr wrap="square">
            <a:spAutoFit/>
          </a:bodyPr>
          <a:lstStyle/>
          <a:p>
            <a:pPr algn="l"/>
            <a:r>
              <a:rPr sz="1100" b="0" i="0" dirty="0">
                <a:solidFill>
                  <a:srgbClr val="262626"/>
                </a:solidFill>
                <a:latin typeface="Arial"/>
              </a:rPr>
              <a:t>•  POWER BANKS: mainland domestic flights require the 3C/CCC logo</a:t>
            </a:r>
            <a:r>
              <a:rPr lang="en-US" sz="1100" b="0" i="0" dirty="0">
                <a:solidFill>
                  <a:srgbClr val="262626"/>
                </a:solidFill>
                <a:latin typeface="Arial"/>
              </a:rPr>
              <a:t>. </a:t>
            </a:r>
            <a:r>
              <a:rPr lang="en-US" sz="1100" dirty="0">
                <a:solidFill>
                  <a:srgbClr val="262626"/>
                </a:solidFill>
                <a:latin typeface="Arial"/>
              </a:rPr>
              <a:t>N</a:t>
            </a:r>
            <a:r>
              <a:rPr sz="1100" b="0" i="0" dirty="0">
                <a:solidFill>
                  <a:srgbClr val="262626"/>
                </a:solidFill>
                <a:latin typeface="Arial"/>
              </a:rPr>
              <a:t>on-certified banks are routinely confiscated, including at transit security on a domestic connection. </a:t>
            </a:r>
          </a:p>
        </p:txBody>
      </p:sp>
      <p:sp>
        <p:nvSpPr>
          <p:cNvPr id="41" name="TextBox 40"/>
          <p:cNvSpPr txBox="1"/>
          <p:nvPr/>
        </p:nvSpPr>
        <p:spPr>
          <a:xfrm>
            <a:off x="6382512" y="4285058"/>
            <a:ext cx="5340096" cy="600164"/>
          </a:xfrm>
          <a:prstGeom prst="rect">
            <a:avLst/>
          </a:prstGeom>
          <a:noFill/>
        </p:spPr>
        <p:txBody>
          <a:bodyPr wrap="square">
            <a:spAutoFit/>
          </a:bodyPr>
          <a:lstStyle/>
          <a:p>
            <a:pPr algn="l"/>
            <a:r>
              <a:rPr sz="1100" b="0" i="0" dirty="0">
                <a:solidFill>
                  <a:srgbClr val="262626"/>
                </a:solidFill>
                <a:latin typeface="Arial"/>
              </a:rPr>
              <a:t>•  Payment is QR-dominant (WeChat Pay / Alipay); link an international card before travelling and carry ¥500–1,000 cash for edge cases.</a:t>
            </a:r>
            <a:r>
              <a:rPr lang="en-US" sz="1100" b="0" i="0" dirty="0">
                <a:solidFill>
                  <a:srgbClr val="262626"/>
                </a:solidFill>
                <a:latin typeface="Arial"/>
              </a:rPr>
              <a:t> Also Google Store is typically </a:t>
            </a:r>
            <a:r>
              <a:rPr lang="en-US" sz="1100" b="0" i="0" dirty="0" err="1">
                <a:solidFill>
                  <a:srgbClr val="262626"/>
                </a:solidFill>
                <a:latin typeface="Arial"/>
              </a:rPr>
              <a:t>shadowbanned</a:t>
            </a:r>
            <a:r>
              <a:rPr lang="en-US" sz="1100" b="0" i="0" dirty="0">
                <a:solidFill>
                  <a:srgbClr val="262626"/>
                </a:solidFill>
                <a:latin typeface="Arial"/>
              </a:rPr>
              <a:t>, so Android uses must download apps beforehand.</a:t>
            </a:r>
            <a:endParaRPr sz="1100" b="0" i="0" dirty="0">
              <a:solidFill>
                <a:srgbClr val="262626"/>
              </a:solidFill>
              <a:latin typeface="Arial"/>
            </a:endParaRPr>
          </a:p>
        </p:txBody>
      </p:sp>
      <p:sp>
        <p:nvSpPr>
          <p:cNvPr id="42" name="TextBox 41"/>
          <p:cNvSpPr txBox="1"/>
          <p:nvPr/>
        </p:nvSpPr>
        <p:spPr>
          <a:xfrm>
            <a:off x="6382512" y="4821076"/>
            <a:ext cx="5340096" cy="430887"/>
          </a:xfrm>
          <a:prstGeom prst="rect">
            <a:avLst/>
          </a:prstGeom>
          <a:noFill/>
        </p:spPr>
        <p:txBody>
          <a:bodyPr wrap="square">
            <a:spAutoFit/>
          </a:bodyPr>
          <a:lstStyle/>
          <a:p>
            <a:pPr algn="l"/>
            <a:r>
              <a:rPr sz="1100" b="0" i="0">
                <a:solidFill>
                  <a:srgbClr val="262626"/>
                </a:solidFill>
                <a:latin typeface="Arial"/>
              </a:rPr>
              <a:t>•  Electricity 220 V / 50 Hz. </a:t>
            </a:r>
            <a:r>
              <a:rPr sz="1100" b="0" i="0" dirty="0">
                <a:solidFill>
                  <a:srgbClr val="262626"/>
                </a:solidFill>
                <a:latin typeface="Arial"/>
              </a:rPr>
              <a:t>Plug types A (US flat), I (AU) and some C (EU) — most hotels have universal sockets, but bring an adapter.</a:t>
            </a:r>
          </a:p>
        </p:txBody>
      </p:sp>
      <p:sp>
        <p:nvSpPr>
          <p:cNvPr id="43" name="TextBox 42"/>
          <p:cNvSpPr txBox="1"/>
          <p:nvPr/>
        </p:nvSpPr>
        <p:spPr>
          <a:xfrm>
            <a:off x="6382512" y="5187816"/>
            <a:ext cx="5340096" cy="430887"/>
          </a:xfrm>
          <a:prstGeom prst="rect">
            <a:avLst/>
          </a:prstGeom>
          <a:noFill/>
        </p:spPr>
        <p:txBody>
          <a:bodyPr wrap="square">
            <a:spAutoFit/>
          </a:bodyPr>
          <a:lstStyle/>
          <a:p>
            <a:pPr algn="l"/>
            <a:r>
              <a:rPr sz="1100" b="0" i="0" dirty="0">
                <a:solidFill>
                  <a:srgbClr val="262626"/>
                </a:solidFill>
                <a:latin typeface="Arial"/>
              </a:rPr>
              <a:t>•  Pool training available 27–28 Aug at Weihai Swimming Pool (25 m, 4 lanes reserved, free) with a free LOC shuttle from the hotel at 07:30/08:30/13:30/14:30.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Who to Watch — Weihai Race Week</a:t>
            </a:r>
          </a:p>
        </p:txBody>
      </p:sp>
      <p:sp>
        <p:nvSpPr>
          <p:cNvPr id="4" name="Rectangle 3"/>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6" name="Rectangle 5"/>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88720"/>
            <a:ext cx="5669280"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234440"/>
            <a:ext cx="5486400" cy="292608"/>
          </a:xfrm>
          <a:prstGeom prst="rect">
            <a:avLst/>
          </a:prstGeom>
          <a:noFill/>
        </p:spPr>
        <p:txBody>
          <a:bodyPr wrap="square">
            <a:spAutoFit/>
          </a:bodyPr>
          <a:lstStyle/>
          <a:p>
            <a:pPr algn="ctr"/>
            <a:r>
              <a:rPr sz="1400" b="1" i="0">
                <a:solidFill>
                  <a:srgbClr val="FFFFFF"/>
                </a:solidFill>
                <a:latin typeface="Arial"/>
              </a:rPr>
              <a:t>ELITE MEN</a:t>
            </a:r>
          </a:p>
        </p:txBody>
      </p:sp>
      <p:sp>
        <p:nvSpPr>
          <p:cNvPr id="9" name="Rectangle 8"/>
          <p:cNvSpPr/>
          <p:nvPr/>
        </p:nvSpPr>
        <p:spPr>
          <a:xfrm>
            <a:off x="274320" y="1645920"/>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664208"/>
            <a:ext cx="5486400" cy="237744"/>
          </a:xfrm>
          <a:prstGeom prst="rect">
            <a:avLst/>
          </a:prstGeom>
          <a:noFill/>
        </p:spPr>
        <p:txBody>
          <a:bodyPr wrap="square">
            <a:spAutoFit/>
          </a:bodyPr>
          <a:lstStyle/>
          <a:p>
            <a:pPr algn="l"/>
            <a:r>
              <a:rPr sz="1100" b="1" i="0">
                <a:solidFill>
                  <a:srgbClr val="FFFFFF"/>
                </a:solidFill>
                <a:latin typeface="Arial"/>
              </a:rPr>
              <a:t>Top 10 Ranked on Startlist</a:t>
            </a:r>
          </a:p>
        </p:txBody>
      </p:sp>
      <p:graphicFrame>
        <p:nvGraphicFramePr>
          <p:cNvPr id="11" name="Table 10"/>
          <p:cNvGraphicFramePr>
            <a:graphicFrameLocks noGrp="1"/>
          </p:cNvGraphicFramePr>
          <p:nvPr/>
        </p:nvGraphicFramePr>
        <p:xfrm>
          <a:off x="274320" y="1965960"/>
          <a:ext cx="5486400" cy="2907792"/>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64344">
                <a:tc>
                  <a:txBody>
                    <a:bodyPr/>
                    <a:lstStyle/>
                    <a:p>
                      <a:pPr algn="ctr"/>
                      <a:r>
                        <a:rPr sz="1000" b="1" i="0">
                          <a:solidFill>
                            <a:srgbClr val="FFFFFF"/>
                          </a:solidFill>
                          <a:latin typeface="Arial"/>
                        </a:rPr>
                        <a:t>Rank</a:t>
                      </a:r>
                    </a:p>
                  </a:txBody>
                  <a:tcPr>
                    <a:solidFill>
                      <a:srgbClr val="002060"/>
                    </a:solidFill>
                  </a:tcPr>
                </a:tc>
                <a:tc>
                  <a:txBody>
                    <a:bodyPr/>
                    <a:lstStyle/>
                    <a:p>
                      <a:pPr algn="ctr"/>
                      <a:r>
                        <a:rPr sz="1000" b="1" i="0">
                          <a:solidFill>
                            <a:srgbClr val="FFFFFF"/>
                          </a:solidFill>
                          <a:latin typeface="Arial"/>
                        </a:rPr>
                        <a:t>Athlete</a:t>
                      </a:r>
                    </a:p>
                  </a:txBody>
                  <a:tcPr>
                    <a:solidFill>
                      <a:srgbClr val="002060"/>
                    </a:solidFill>
                  </a:tcPr>
                </a:tc>
                <a:tc>
                  <a:txBody>
                    <a:bodyPr/>
                    <a:lstStyle/>
                    <a:p>
                      <a:pPr algn="ctr"/>
                      <a:r>
                        <a:rPr sz="1000" b="1" i="0">
                          <a:solidFill>
                            <a:srgbClr val="FFFFFF"/>
                          </a:solidFill>
                          <a:latin typeface="Arial"/>
                        </a:rPr>
                        <a:t>Points</a:t>
                      </a:r>
                    </a:p>
                  </a:txBody>
                  <a:tcPr>
                    <a:solidFill>
                      <a:srgbClr val="002060"/>
                    </a:solidFill>
                  </a:tcPr>
                </a:tc>
                <a:extLst>
                  <a:ext uri="{0D108BD9-81ED-4DB2-BD59-A6C34878D82A}">
                    <a16:rowId xmlns:a16="http://schemas.microsoft.com/office/drawing/2014/main" val="10000"/>
                  </a:ext>
                </a:extLst>
              </a:tr>
              <a:tr h="264344">
                <a:tc>
                  <a:txBody>
                    <a:bodyPr/>
                    <a:lstStyle/>
                    <a:p>
                      <a:pPr algn="ctr"/>
                      <a:r>
                        <a:rPr sz="1000" b="1" i="0">
                          <a:solidFill>
                            <a:srgbClr val="262626"/>
                          </a:solidFill>
                          <a:latin typeface="Arial"/>
                        </a:rPr>
                        <a:t>1</a:t>
                      </a:r>
                    </a:p>
                  </a:txBody>
                  <a:tcPr>
                    <a:solidFill>
                      <a:srgbClr val="FFFFFF"/>
                    </a:solidFill>
                  </a:tcPr>
                </a:tc>
                <a:tc>
                  <a:txBody>
                    <a:bodyPr/>
                    <a:lstStyle/>
                    <a:p>
                      <a:pPr algn="l"/>
                      <a:r>
                        <a:rPr sz="1000" b="0" i="0">
                          <a:solidFill>
                            <a:srgbClr val="262626"/>
                          </a:solidFill>
                          <a:latin typeface="Arial"/>
                        </a:rPr>
                        <a:t>Matthew Hauser</a:t>
                      </a:r>
                    </a:p>
                  </a:txBody>
                  <a:tcPr>
                    <a:solidFill>
                      <a:srgbClr val="FFFFFF"/>
                    </a:solidFill>
                  </a:tcPr>
                </a:tc>
                <a:tc>
                  <a:txBody>
                    <a:bodyPr/>
                    <a:lstStyle/>
                    <a:p>
                      <a:pPr algn="ctr"/>
                      <a:r>
                        <a:rPr sz="1000" b="0" i="0">
                          <a:solidFill>
                            <a:srgbClr val="262626"/>
                          </a:solidFill>
                          <a:latin typeface="Arial"/>
                        </a:rPr>
                        <a:t>7,297</a:t>
                      </a:r>
                    </a:p>
                  </a:txBody>
                  <a:tcPr>
                    <a:solidFill>
                      <a:srgbClr val="FFFFFF"/>
                    </a:solidFill>
                  </a:tcPr>
                </a:tc>
                <a:extLst>
                  <a:ext uri="{0D108BD9-81ED-4DB2-BD59-A6C34878D82A}">
                    <a16:rowId xmlns:a16="http://schemas.microsoft.com/office/drawing/2014/main" val="10001"/>
                  </a:ext>
                </a:extLst>
              </a:tr>
              <a:tr h="264344">
                <a:tc>
                  <a:txBody>
                    <a:bodyPr/>
                    <a:lstStyle/>
                    <a:p>
                      <a:pPr algn="ctr"/>
                      <a:r>
                        <a:rPr sz="1000" b="1" i="0">
                          <a:solidFill>
                            <a:srgbClr val="262626"/>
                          </a:solidFill>
                          <a:latin typeface="Arial"/>
                        </a:rPr>
                        <a:t>5</a:t>
                      </a:r>
                    </a:p>
                  </a:txBody>
                  <a:tcPr>
                    <a:solidFill>
                      <a:srgbClr val="F2F2F2"/>
                    </a:solidFill>
                  </a:tcPr>
                </a:tc>
                <a:tc>
                  <a:txBody>
                    <a:bodyPr/>
                    <a:lstStyle/>
                    <a:p>
                      <a:pPr algn="l"/>
                      <a:r>
                        <a:rPr sz="1000" b="0" i="0">
                          <a:solidFill>
                            <a:srgbClr val="262626"/>
                          </a:solidFill>
                          <a:latin typeface="Arial"/>
                        </a:rPr>
                        <a:t>Csongor Lehmann</a:t>
                      </a:r>
                    </a:p>
                  </a:txBody>
                  <a:tcPr>
                    <a:solidFill>
                      <a:srgbClr val="F2F2F2"/>
                    </a:solidFill>
                  </a:tcPr>
                </a:tc>
                <a:tc>
                  <a:txBody>
                    <a:bodyPr/>
                    <a:lstStyle/>
                    <a:p>
                      <a:pPr algn="ctr"/>
                      <a:r>
                        <a:rPr sz="1000" b="0" i="0">
                          <a:solidFill>
                            <a:srgbClr val="262626"/>
                          </a:solidFill>
                          <a:latin typeface="Arial"/>
                        </a:rPr>
                        <a:t>5,281</a:t>
                      </a:r>
                    </a:p>
                  </a:txBody>
                  <a:tcPr>
                    <a:solidFill>
                      <a:srgbClr val="F2F2F2"/>
                    </a:solidFill>
                  </a:tcPr>
                </a:tc>
                <a:extLst>
                  <a:ext uri="{0D108BD9-81ED-4DB2-BD59-A6C34878D82A}">
                    <a16:rowId xmlns:a16="http://schemas.microsoft.com/office/drawing/2014/main" val="10002"/>
                  </a:ext>
                </a:extLst>
              </a:tr>
              <a:tr h="264344">
                <a:tc>
                  <a:txBody>
                    <a:bodyPr/>
                    <a:lstStyle/>
                    <a:p>
                      <a:pPr algn="ctr"/>
                      <a:r>
                        <a:rPr sz="1000" b="1" i="0">
                          <a:solidFill>
                            <a:srgbClr val="262626"/>
                          </a:solidFill>
                          <a:latin typeface="Arial"/>
                        </a:rPr>
                        <a:t>6</a:t>
                      </a:r>
                    </a:p>
                  </a:txBody>
                  <a:tcPr>
                    <a:solidFill>
                      <a:srgbClr val="FFFFFF"/>
                    </a:solidFill>
                  </a:tcPr>
                </a:tc>
                <a:tc>
                  <a:txBody>
                    <a:bodyPr/>
                    <a:lstStyle/>
                    <a:p>
                      <a:pPr algn="l"/>
                      <a:r>
                        <a:rPr sz="1000" b="0" i="0">
                          <a:solidFill>
                            <a:srgbClr val="262626"/>
                          </a:solidFill>
                          <a:latin typeface="Arial"/>
                        </a:rPr>
                        <a:t>David Cantero Del Campo</a:t>
                      </a:r>
                    </a:p>
                  </a:txBody>
                  <a:tcPr>
                    <a:solidFill>
                      <a:srgbClr val="FFFFFF"/>
                    </a:solidFill>
                  </a:tcPr>
                </a:tc>
                <a:tc>
                  <a:txBody>
                    <a:bodyPr/>
                    <a:lstStyle/>
                    <a:p>
                      <a:pPr algn="ctr"/>
                      <a:r>
                        <a:rPr sz="1000" b="0" i="0">
                          <a:solidFill>
                            <a:srgbClr val="262626"/>
                          </a:solidFill>
                          <a:latin typeface="Arial"/>
                        </a:rPr>
                        <a:t>5,092</a:t>
                      </a:r>
                    </a:p>
                  </a:txBody>
                  <a:tcPr>
                    <a:solidFill>
                      <a:srgbClr val="FFFFFF"/>
                    </a:solidFill>
                  </a:tcPr>
                </a:tc>
                <a:extLst>
                  <a:ext uri="{0D108BD9-81ED-4DB2-BD59-A6C34878D82A}">
                    <a16:rowId xmlns:a16="http://schemas.microsoft.com/office/drawing/2014/main" val="10003"/>
                  </a:ext>
                </a:extLst>
              </a:tr>
              <a:tr h="264344">
                <a:tc>
                  <a:txBody>
                    <a:bodyPr/>
                    <a:lstStyle/>
                    <a:p>
                      <a:pPr algn="ctr"/>
                      <a:r>
                        <a:rPr sz="1000" b="1" i="0">
                          <a:solidFill>
                            <a:srgbClr val="262626"/>
                          </a:solidFill>
                          <a:latin typeface="Arial"/>
                        </a:rPr>
                        <a:t>7</a:t>
                      </a:r>
                    </a:p>
                  </a:txBody>
                  <a:tcPr>
                    <a:solidFill>
                      <a:srgbClr val="F2F2F2"/>
                    </a:solidFill>
                  </a:tcPr>
                </a:tc>
                <a:tc>
                  <a:txBody>
                    <a:bodyPr/>
                    <a:lstStyle/>
                    <a:p>
                      <a:pPr algn="l"/>
                      <a:r>
                        <a:rPr sz="1000" b="0" i="0">
                          <a:solidFill>
                            <a:srgbClr val="262626"/>
                          </a:solidFill>
                          <a:latin typeface="Arial"/>
                        </a:rPr>
                        <a:t>Luke Willian</a:t>
                      </a:r>
                    </a:p>
                  </a:txBody>
                  <a:tcPr>
                    <a:solidFill>
                      <a:srgbClr val="F2F2F2"/>
                    </a:solidFill>
                  </a:tcPr>
                </a:tc>
                <a:tc>
                  <a:txBody>
                    <a:bodyPr/>
                    <a:lstStyle/>
                    <a:p>
                      <a:pPr algn="ctr"/>
                      <a:r>
                        <a:rPr sz="1000" b="0" i="0">
                          <a:solidFill>
                            <a:srgbClr val="262626"/>
                          </a:solidFill>
                          <a:latin typeface="Arial"/>
                        </a:rPr>
                        <a:t>4,734</a:t>
                      </a:r>
                    </a:p>
                  </a:txBody>
                  <a:tcPr>
                    <a:solidFill>
                      <a:srgbClr val="F2F2F2"/>
                    </a:solidFill>
                  </a:tcPr>
                </a:tc>
                <a:extLst>
                  <a:ext uri="{0D108BD9-81ED-4DB2-BD59-A6C34878D82A}">
                    <a16:rowId xmlns:a16="http://schemas.microsoft.com/office/drawing/2014/main" val="10004"/>
                  </a:ext>
                </a:extLst>
              </a:tr>
              <a:tr h="264344">
                <a:tc>
                  <a:txBody>
                    <a:bodyPr/>
                    <a:lstStyle/>
                    <a:p>
                      <a:pPr algn="ctr"/>
                      <a:r>
                        <a:rPr sz="1000" b="1" i="0">
                          <a:solidFill>
                            <a:srgbClr val="262626"/>
                          </a:solidFill>
                          <a:latin typeface="Arial"/>
                        </a:rPr>
                        <a:t>13</a:t>
                      </a:r>
                    </a:p>
                  </a:txBody>
                  <a:tcPr>
                    <a:solidFill>
                      <a:srgbClr val="FFFFFF"/>
                    </a:solidFill>
                  </a:tcPr>
                </a:tc>
                <a:tc>
                  <a:txBody>
                    <a:bodyPr/>
                    <a:lstStyle/>
                    <a:p>
                      <a:pPr algn="l"/>
                      <a:r>
                        <a:rPr sz="1000" b="0" i="0">
                          <a:solidFill>
                            <a:srgbClr val="262626"/>
                          </a:solidFill>
                          <a:latin typeface="Arial"/>
                        </a:rPr>
                        <a:t>Max Studer</a:t>
                      </a:r>
                    </a:p>
                  </a:txBody>
                  <a:tcPr>
                    <a:solidFill>
                      <a:srgbClr val="FFFFFF"/>
                    </a:solidFill>
                  </a:tcPr>
                </a:tc>
                <a:tc>
                  <a:txBody>
                    <a:bodyPr/>
                    <a:lstStyle/>
                    <a:p>
                      <a:pPr algn="ctr"/>
                      <a:r>
                        <a:rPr sz="1000" b="0" i="0">
                          <a:solidFill>
                            <a:srgbClr val="262626"/>
                          </a:solidFill>
                          <a:latin typeface="Arial"/>
                        </a:rPr>
                        <a:t>3,488</a:t>
                      </a:r>
                    </a:p>
                  </a:txBody>
                  <a:tcPr>
                    <a:solidFill>
                      <a:srgbClr val="FFFFFF"/>
                    </a:solidFill>
                  </a:tcPr>
                </a:tc>
                <a:extLst>
                  <a:ext uri="{0D108BD9-81ED-4DB2-BD59-A6C34878D82A}">
                    <a16:rowId xmlns:a16="http://schemas.microsoft.com/office/drawing/2014/main" val="10005"/>
                  </a:ext>
                </a:extLst>
              </a:tr>
              <a:tr h="264344">
                <a:tc>
                  <a:txBody>
                    <a:bodyPr/>
                    <a:lstStyle/>
                    <a:p>
                      <a:pPr algn="ctr"/>
                      <a:r>
                        <a:rPr sz="1000" b="1" i="0">
                          <a:solidFill>
                            <a:srgbClr val="262626"/>
                          </a:solidFill>
                          <a:latin typeface="Arial"/>
                        </a:rPr>
                        <a:t>14</a:t>
                      </a:r>
                    </a:p>
                  </a:txBody>
                  <a:tcPr>
                    <a:solidFill>
                      <a:srgbClr val="F2F2F2"/>
                    </a:solidFill>
                  </a:tcPr>
                </a:tc>
                <a:tc>
                  <a:txBody>
                    <a:bodyPr/>
                    <a:lstStyle/>
                    <a:p>
                      <a:pPr algn="l"/>
                      <a:r>
                        <a:rPr sz="1000" b="0" i="0">
                          <a:solidFill>
                            <a:srgbClr val="262626"/>
                          </a:solidFill>
                          <a:latin typeface="Arial"/>
                        </a:rPr>
                        <a:t>Tyler Mislawchuk</a:t>
                      </a:r>
                    </a:p>
                  </a:txBody>
                  <a:tcPr>
                    <a:solidFill>
                      <a:srgbClr val="F2F2F2"/>
                    </a:solidFill>
                  </a:tcPr>
                </a:tc>
                <a:tc>
                  <a:txBody>
                    <a:bodyPr/>
                    <a:lstStyle/>
                    <a:p>
                      <a:pPr algn="ctr"/>
                      <a:r>
                        <a:rPr sz="1000" b="0" i="0">
                          <a:solidFill>
                            <a:srgbClr val="262626"/>
                          </a:solidFill>
                          <a:latin typeface="Arial"/>
                        </a:rPr>
                        <a:t>3,342</a:t>
                      </a:r>
                    </a:p>
                  </a:txBody>
                  <a:tcPr>
                    <a:solidFill>
                      <a:srgbClr val="F2F2F2"/>
                    </a:solidFill>
                  </a:tcPr>
                </a:tc>
                <a:extLst>
                  <a:ext uri="{0D108BD9-81ED-4DB2-BD59-A6C34878D82A}">
                    <a16:rowId xmlns:a16="http://schemas.microsoft.com/office/drawing/2014/main" val="10006"/>
                  </a:ext>
                </a:extLst>
              </a:tr>
              <a:tr h="264344">
                <a:tc>
                  <a:txBody>
                    <a:bodyPr/>
                    <a:lstStyle/>
                    <a:p>
                      <a:pPr algn="ctr"/>
                      <a:r>
                        <a:rPr sz="1000" b="1" i="0">
                          <a:solidFill>
                            <a:srgbClr val="262626"/>
                          </a:solidFill>
                          <a:latin typeface="Arial"/>
                        </a:rPr>
                        <a:t>17</a:t>
                      </a:r>
                    </a:p>
                  </a:txBody>
                  <a:tcPr>
                    <a:solidFill>
                      <a:srgbClr val="FFFFFF"/>
                    </a:solidFill>
                  </a:tcPr>
                </a:tc>
                <a:tc>
                  <a:txBody>
                    <a:bodyPr/>
                    <a:lstStyle/>
                    <a:p>
                      <a:pPr algn="l"/>
                      <a:r>
                        <a:rPr sz="1000" b="0" i="0">
                          <a:solidFill>
                            <a:srgbClr val="262626"/>
                          </a:solidFill>
                          <a:latin typeface="Arial"/>
                        </a:rPr>
                        <a:t>Alberto Gonzalez Garcia</a:t>
                      </a:r>
                    </a:p>
                  </a:txBody>
                  <a:tcPr>
                    <a:solidFill>
                      <a:srgbClr val="FFFFFF"/>
                    </a:solidFill>
                  </a:tcPr>
                </a:tc>
                <a:tc>
                  <a:txBody>
                    <a:bodyPr/>
                    <a:lstStyle/>
                    <a:p>
                      <a:pPr algn="ctr"/>
                      <a:r>
                        <a:rPr sz="1000" b="0" i="0">
                          <a:solidFill>
                            <a:srgbClr val="262626"/>
                          </a:solidFill>
                          <a:latin typeface="Arial"/>
                        </a:rPr>
                        <a:t>3,188</a:t>
                      </a:r>
                    </a:p>
                  </a:txBody>
                  <a:tcPr>
                    <a:solidFill>
                      <a:srgbClr val="FFFFFF"/>
                    </a:solidFill>
                  </a:tcPr>
                </a:tc>
                <a:extLst>
                  <a:ext uri="{0D108BD9-81ED-4DB2-BD59-A6C34878D82A}">
                    <a16:rowId xmlns:a16="http://schemas.microsoft.com/office/drawing/2014/main" val="10007"/>
                  </a:ext>
                </a:extLst>
              </a:tr>
              <a:tr h="264344">
                <a:tc>
                  <a:txBody>
                    <a:bodyPr/>
                    <a:lstStyle/>
                    <a:p>
                      <a:pPr algn="ctr"/>
                      <a:r>
                        <a:rPr sz="1000" b="1" i="0">
                          <a:solidFill>
                            <a:srgbClr val="262626"/>
                          </a:solidFill>
                          <a:latin typeface="Arial"/>
                        </a:rPr>
                        <a:t>19</a:t>
                      </a:r>
                    </a:p>
                  </a:txBody>
                  <a:tcPr>
                    <a:solidFill>
                      <a:srgbClr val="F2F2F2"/>
                    </a:solidFill>
                  </a:tcPr>
                </a:tc>
                <a:tc>
                  <a:txBody>
                    <a:bodyPr/>
                    <a:lstStyle/>
                    <a:p>
                      <a:pPr algn="l"/>
                      <a:r>
                        <a:rPr sz="1000" b="0" i="0">
                          <a:solidFill>
                            <a:srgbClr val="262626"/>
                          </a:solidFill>
                          <a:latin typeface="Arial"/>
                        </a:rPr>
                        <a:t>Callum McClusky</a:t>
                      </a:r>
                    </a:p>
                  </a:txBody>
                  <a:tcPr>
                    <a:solidFill>
                      <a:srgbClr val="F2F2F2"/>
                    </a:solidFill>
                  </a:tcPr>
                </a:tc>
                <a:tc>
                  <a:txBody>
                    <a:bodyPr/>
                    <a:lstStyle/>
                    <a:p>
                      <a:pPr algn="ctr"/>
                      <a:r>
                        <a:rPr sz="1000" b="0" i="0">
                          <a:solidFill>
                            <a:srgbClr val="262626"/>
                          </a:solidFill>
                          <a:latin typeface="Arial"/>
                        </a:rPr>
                        <a:t>2,983</a:t>
                      </a:r>
                    </a:p>
                  </a:txBody>
                  <a:tcPr>
                    <a:solidFill>
                      <a:srgbClr val="F2F2F2"/>
                    </a:solidFill>
                  </a:tcPr>
                </a:tc>
                <a:extLst>
                  <a:ext uri="{0D108BD9-81ED-4DB2-BD59-A6C34878D82A}">
                    <a16:rowId xmlns:a16="http://schemas.microsoft.com/office/drawing/2014/main" val="10008"/>
                  </a:ext>
                </a:extLst>
              </a:tr>
              <a:tr h="264344">
                <a:tc>
                  <a:txBody>
                    <a:bodyPr/>
                    <a:lstStyle/>
                    <a:p>
                      <a:pPr algn="ctr"/>
                      <a:r>
                        <a:rPr sz="1000" b="1" i="0">
                          <a:solidFill>
                            <a:srgbClr val="262626"/>
                          </a:solidFill>
                          <a:latin typeface="Arial"/>
                        </a:rPr>
                        <a:t>20</a:t>
                      </a:r>
                    </a:p>
                  </a:txBody>
                  <a:tcPr>
                    <a:solidFill>
                      <a:srgbClr val="FFFFFF"/>
                    </a:solidFill>
                  </a:tcPr>
                </a:tc>
                <a:tc>
                  <a:txBody>
                    <a:bodyPr/>
                    <a:lstStyle/>
                    <a:p>
                      <a:pPr algn="l"/>
                      <a:r>
                        <a:rPr sz="1000" b="0" i="0">
                          <a:solidFill>
                            <a:srgbClr val="262626"/>
                          </a:solidFill>
                          <a:latin typeface="Arial"/>
                        </a:rPr>
                        <a:t>John Reed</a:t>
                      </a:r>
                    </a:p>
                  </a:txBody>
                  <a:tcPr>
                    <a:solidFill>
                      <a:srgbClr val="FFFFFF"/>
                    </a:solidFill>
                  </a:tcPr>
                </a:tc>
                <a:tc>
                  <a:txBody>
                    <a:bodyPr/>
                    <a:lstStyle/>
                    <a:p>
                      <a:pPr algn="ctr"/>
                      <a:r>
                        <a:rPr sz="1000" b="0" i="0">
                          <a:solidFill>
                            <a:srgbClr val="262626"/>
                          </a:solidFill>
                          <a:latin typeface="Arial"/>
                        </a:rPr>
                        <a:t>2,898</a:t>
                      </a:r>
                    </a:p>
                  </a:txBody>
                  <a:tcPr>
                    <a:solidFill>
                      <a:srgbClr val="FFFFFF"/>
                    </a:solidFill>
                  </a:tcPr>
                </a:tc>
                <a:extLst>
                  <a:ext uri="{0D108BD9-81ED-4DB2-BD59-A6C34878D82A}">
                    <a16:rowId xmlns:a16="http://schemas.microsoft.com/office/drawing/2014/main" val="10009"/>
                  </a:ext>
                </a:extLst>
              </a:tr>
              <a:tr h="264352">
                <a:tc>
                  <a:txBody>
                    <a:bodyPr/>
                    <a:lstStyle/>
                    <a:p>
                      <a:pPr algn="ctr"/>
                      <a:r>
                        <a:rPr sz="1000" b="1" i="0">
                          <a:solidFill>
                            <a:srgbClr val="262626"/>
                          </a:solidFill>
                          <a:latin typeface="Arial"/>
                        </a:rPr>
                        <a:t>34</a:t>
                      </a:r>
                    </a:p>
                  </a:txBody>
                  <a:tcPr>
                    <a:solidFill>
                      <a:srgbClr val="F2F2F2"/>
                    </a:solidFill>
                  </a:tcPr>
                </a:tc>
                <a:tc>
                  <a:txBody>
                    <a:bodyPr/>
                    <a:lstStyle/>
                    <a:p>
                      <a:pPr algn="l"/>
                      <a:r>
                        <a:rPr sz="1000" b="0" i="0">
                          <a:solidFill>
                            <a:srgbClr val="262626"/>
                          </a:solidFill>
                          <a:latin typeface="Arial"/>
                        </a:rPr>
                        <a:t>João Nuno Batista</a:t>
                      </a:r>
                    </a:p>
                  </a:txBody>
                  <a:tcPr>
                    <a:solidFill>
                      <a:srgbClr val="F2F2F2"/>
                    </a:solidFill>
                  </a:tcPr>
                </a:tc>
                <a:tc>
                  <a:txBody>
                    <a:bodyPr/>
                    <a:lstStyle/>
                    <a:p>
                      <a:pPr algn="ctr"/>
                      <a:r>
                        <a:rPr sz="1000" b="0" i="0">
                          <a:solidFill>
                            <a:srgbClr val="262626"/>
                          </a:solidFill>
                          <a:latin typeface="Arial"/>
                        </a:rPr>
                        <a:t>2,581</a:t>
                      </a:r>
                    </a:p>
                  </a:txBody>
                  <a:tcPr>
                    <a:solidFill>
                      <a:srgbClr val="F2F2F2"/>
                    </a:solidFill>
                  </a:tcPr>
                </a:tc>
                <a:extLst>
                  <a:ext uri="{0D108BD9-81ED-4DB2-BD59-A6C34878D82A}">
                    <a16:rowId xmlns:a16="http://schemas.microsoft.com/office/drawing/2014/main" val="10010"/>
                  </a:ext>
                </a:extLst>
              </a:tr>
            </a:tbl>
          </a:graphicData>
        </a:graphic>
      </p:graphicFrame>
      <p:sp>
        <p:nvSpPr>
          <p:cNvPr id="12" name="Rectangle 11"/>
          <p:cNvSpPr/>
          <p:nvPr/>
        </p:nvSpPr>
        <p:spPr>
          <a:xfrm>
            <a:off x="274320" y="5056632"/>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5074920"/>
            <a:ext cx="5486400" cy="237744"/>
          </a:xfrm>
          <a:prstGeom prst="rect">
            <a:avLst/>
          </a:prstGeom>
          <a:noFill/>
        </p:spPr>
        <p:txBody>
          <a:bodyPr wrap="square">
            <a:spAutoFit/>
          </a:bodyPr>
          <a:lstStyle/>
          <a:p>
            <a:pPr algn="l"/>
            <a:r>
              <a:rPr sz="1100" b="1" i="0">
                <a:solidFill>
                  <a:srgbClr val="FFFFFF"/>
                </a:solidFill>
                <a:latin typeface="Arial"/>
              </a:rPr>
              <a:t>Returning Podium Athletes on Startlist</a:t>
            </a:r>
          </a:p>
        </p:txBody>
      </p:sp>
      <p:sp>
        <p:nvSpPr>
          <p:cNvPr id="14" name="TextBox 13"/>
          <p:cNvSpPr txBox="1"/>
          <p:nvPr/>
        </p:nvSpPr>
        <p:spPr>
          <a:xfrm>
            <a:off x="411480" y="5422392"/>
            <a:ext cx="5394960" cy="292608"/>
          </a:xfrm>
          <a:prstGeom prst="rect">
            <a:avLst/>
          </a:prstGeom>
          <a:noFill/>
        </p:spPr>
        <p:txBody>
          <a:bodyPr wrap="square">
            <a:spAutoFit/>
          </a:bodyPr>
          <a:lstStyle/>
          <a:p>
            <a:pPr algn="l"/>
            <a:r>
              <a:rPr sz="1100" b="1" i="0">
                <a:solidFill>
                  <a:srgbClr val="262626"/>
                </a:solidFill>
                <a:latin typeface="Arial"/>
              </a:rPr>
              <a:t>1.  Max Studer   (01:40:03)</a:t>
            </a:r>
          </a:p>
        </p:txBody>
      </p:sp>
      <p:sp>
        <p:nvSpPr>
          <p:cNvPr id="15" name="TextBox 14"/>
          <p:cNvSpPr txBox="1"/>
          <p:nvPr/>
        </p:nvSpPr>
        <p:spPr>
          <a:xfrm>
            <a:off x="411480" y="5715000"/>
            <a:ext cx="5394960" cy="292608"/>
          </a:xfrm>
          <a:prstGeom prst="rect">
            <a:avLst/>
          </a:prstGeom>
          <a:noFill/>
        </p:spPr>
        <p:txBody>
          <a:bodyPr wrap="square">
            <a:spAutoFit/>
          </a:bodyPr>
          <a:lstStyle/>
          <a:p>
            <a:pPr algn="l"/>
            <a:r>
              <a:rPr sz="1100" b="0" i="0">
                <a:solidFill>
                  <a:srgbClr val="262626"/>
                </a:solidFill>
                <a:latin typeface="Arial"/>
              </a:rPr>
              <a:t>3.  John Reed   (01:40:35)</a:t>
            </a:r>
          </a:p>
        </p:txBody>
      </p:sp>
      <p:sp>
        <p:nvSpPr>
          <p:cNvPr id="16" name="Rectangle 15"/>
          <p:cNvSpPr/>
          <p:nvPr/>
        </p:nvSpPr>
        <p:spPr>
          <a:xfrm>
            <a:off x="6217920" y="1188720"/>
            <a:ext cx="5669280"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1234440"/>
            <a:ext cx="5486400" cy="292608"/>
          </a:xfrm>
          <a:prstGeom prst="rect">
            <a:avLst/>
          </a:prstGeom>
          <a:noFill/>
        </p:spPr>
        <p:txBody>
          <a:bodyPr wrap="square">
            <a:spAutoFit/>
          </a:bodyPr>
          <a:lstStyle/>
          <a:p>
            <a:pPr algn="ctr"/>
            <a:r>
              <a:rPr sz="1400" b="1" i="0">
                <a:solidFill>
                  <a:srgbClr val="FFFFFF"/>
                </a:solidFill>
                <a:latin typeface="Arial"/>
              </a:rPr>
              <a:t>ELITE WOMEN</a:t>
            </a:r>
          </a:p>
        </p:txBody>
      </p:sp>
      <p:sp>
        <p:nvSpPr>
          <p:cNvPr id="18" name="Rectangle 17"/>
          <p:cNvSpPr/>
          <p:nvPr/>
        </p:nvSpPr>
        <p:spPr>
          <a:xfrm>
            <a:off x="6217920" y="1645920"/>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9360" y="1664208"/>
            <a:ext cx="5486400" cy="237744"/>
          </a:xfrm>
          <a:prstGeom prst="rect">
            <a:avLst/>
          </a:prstGeom>
          <a:noFill/>
        </p:spPr>
        <p:txBody>
          <a:bodyPr wrap="square">
            <a:spAutoFit/>
          </a:bodyPr>
          <a:lstStyle/>
          <a:p>
            <a:pPr algn="l"/>
            <a:r>
              <a:rPr sz="1100" b="1" i="0">
                <a:solidFill>
                  <a:srgbClr val="FFFFFF"/>
                </a:solidFill>
                <a:latin typeface="Arial"/>
              </a:rPr>
              <a:t>Top 10 Ranked on Startlist</a:t>
            </a:r>
          </a:p>
        </p:txBody>
      </p:sp>
      <p:graphicFrame>
        <p:nvGraphicFramePr>
          <p:cNvPr id="20" name="Table 19"/>
          <p:cNvGraphicFramePr>
            <a:graphicFrameLocks noGrp="1"/>
          </p:cNvGraphicFramePr>
          <p:nvPr/>
        </p:nvGraphicFramePr>
        <p:xfrm>
          <a:off x="6217920" y="1965960"/>
          <a:ext cx="5486400" cy="2907792"/>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64344">
                <a:tc>
                  <a:txBody>
                    <a:bodyPr/>
                    <a:lstStyle/>
                    <a:p>
                      <a:pPr algn="ctr"/>
                      <a:r>
                        <a:rPr sz="1000" b="1" i="0">
                          <a:solidFill>
                            <a:srgbClr val="FFFFFF"/>
                          </a:solidFill>
                          <a:latin typeface="Arial"/>
                        </a:rPr>
                        <a:t>Rank</a:t>
                      </a:r>
                    </a:p>
                  </a:txBody>
                  <a:tcPr>
                    <a:solidFill>
                      <a:srgbClr val="002060"/>
                    </a:solidFill>
                  </a:tcPr>
                </a:tc>
                <a:tc>
                  <a:txBody>
                    <a:bodyPr/>
                    <a:lstStyle/>
                    <a:p>
                      <a:pPr algn="ctr"/>
                      <a:r>
                        <a:rPr sz="1000" b="1" i="0">
                          <a:solidFill>
                            <a:srgbClr val="FFFFFF"/>
                          </a:solidFill>
                          <a:latin typeface="Arial"/>
                        </a:rPr>
                        <a:t>Athlete</a:t>
                      </a:r>
                    </a:p>
                  </a:txBody>
                  <a:tcPr>
                    <a:solidFill>
                      <a:srgbClr val="002060"/>
                    </a:solidFill>
                  </a:tcPr>
                </a:tc>
                <a:tc>
                  <a:txBody>
                    <a:bodyPr/>
                    <a:lstStyle/>
                    <a:p>
                      <a:pPr algn="ctr"/>
                      <a:r>
                        <a:rPr sz="1000" b="1" i="0">
                          <a:solidFill>
                            <a:srgbClr val="FFFFFF"/>
                          </a:solidFill>
                          <a:latin typeface="Arial"/>
                        </a:rPr>
                        <a:t>Points</a:t>
                      </a:r>
                    </a:p>
                  </a:txBody>
                  <a:tcPr>
                    <a:solidFill>
                      <a:srgbClr val="002060"/>
                    </a:solidFill>
                  </a:tcPr>
                </a:tc>
                <a:extLst>
                  <a:ext uri="{0D108BD9-81ED-4DB2-BD59-A6C34878D82A}">
                    <a16:rowId xmlns:a16="http://schemas.microsoft.com/office/drawing/2014/main" val="10000"/>
                  </a:ext>
                </a:extLst>
              </a:tr>
              <a:tr h="264344">
                <a:tc>
                  <a:txBody>
                    <a:bodyPr/>
                    <a:lstStyle/>
                    <a:p>
                      <a:pPr algn="ctr"/>
                      <a:r>
                        <a:rPr sz="1000" b="1" i="0">
                          <a:solidFill>
                            <a:srgbClr val="262626"/>
                          </a:solidFill>
                          <a:latin typeface="Arial"/>
                        </a:rPr>
                        <a:t>1</a:t>
                      </a:r>
                    </a:p>
                  </a:txBody>
                  <a:tcPr>
                    <a:solidFill>
                      <a:srgbClr val="FFFFFF"/>
                    </a:solidFill>
                  </a:tcPr>
                </a:tc>
                <a:tc>
                  <a:txBody>
                    <a:bodyPr/>
                    <a:lstStyle/>
                    <a:p>
                      <a:pPr algn="l"/>
                      <a:r>
                        <a:rPr sz="1000" b="0" i="0">
                          <a:solidFill>
                            <a:srgbClr val="262626"/>
                          </a:solidFill>
                          <a:latin typeface="Arial"/>
                        </a:rPr>
                        <a:t>Beth Potter</a:t>
                      </a:r>
                    </a:p>
                  </a:txBody>
                  <a:tcPr>
                    <a:solidFill>
                      <a:srgbClr val="FFFFFF"/>
                    </a:solidFill>
                  </a:tcPr>
                </a:tc>
                <a:tc>
                  <a:txBody>
                    <a:bodyPr/>
                    <a:lstStyle/>
                    <a:p>
                      <a:pPr algn="ctr"/>
                      <a:r>
                        <a:rPr sz="1000" b="0" i="0">
                          <a:solidFill>
                            <a:srgbClr val="262626"/>
                          </a:solidFill>
                          <a:latin typeface="Arial"/>
                        </a:rPr>
                        <a:t>7,276</a:t>
                      </a:r>
                    </a:p>
                  </a:txBody>
                  <a:tcPr>
                    <a:solidFill>
                      <a:srgbClr val="FFFFFF"/>
                    </a:solidFill>
                  </a:tcPr>
                </a:tc>
                <a:extLst>
                  <a:ext uri="{0D108BD9-81ED-4DB2-BD59-A6C34878D82A}">
                    <a16:rowId xmlns:a16="http://schemas.microsoft.com/office/drawing/2014/main" val="10001"/>
                  </a:ext>
                </a:extLst>
              </a:tr>
              <a:tr h="264344">
                <a:tc>
                  <a:txBody>
                    <a:bodyPr/>
                    <a:lstStyle/>
                    <a:p>
                      <a:pPr algn="ctr"/>
                      <a:r>
                        <a:rPr sz="1000" b="1" i="0">
                          <a:solidFill>
                            <a:srgbClr val="262626"/>
                          </a:solidFill>
                          <a:latin typeface="Arial"/>
                        </a:rPr>
                        <a:t>2</a:t>
                      </a:r>
                    </a:p>
                  </a:txBody>
                  <a:tcPr>
                    <a:solidFill>
                      <a:srgbClr val="F2F2F2"/>
                    </a:solidFill>
                  </a:tcPr>
                </a:tc>
                <a:tc>
                  <a:txBody>
                    <a:bodyPr/>
                    <a:lstStyle/>
                    <a:p>
                      <a:pPr algn="l"/>
                      <a:r>
                        <a:rPr sz="1000" b="0" i="0">
                          <a:solidFill>
                            <a:srgbClr val="262626"/>
                          </a:solidFill>
                          <a:latin typeface="Arial"/>
                        </a:rPr>
                        <a:t>Lisa Tertsch</a:t>
                      </a:r>
                    </a:p>
                  </a:txBody>
                  <a:tcPr>
                    <a:solidFill>
                      <a:srgbClr val="F2F2F2"/>
                    </a:solidFill>
                  </a:tcPr>
                </a:tc>
                <a:tc>
                  <a:txBody>
                    <a:bodyPr/>
                    <a:lstStyle/>
                    <a:p>
                      <a:pPr algn="ctr"/>
                      <a:r>
                        <a:rPr sz="1000" b="0" i="0">
                          <a:solidFill>
                            <a:srgbClr val="262626"/>
                          </a:solidFill>
                          <a:latin typeface="Arial"/>
                        </a:rPr>
                        <a:t>7,270</a:t>
                      </a:r>
                    </a:p>
                  </a:txBody>
                  <a:tcPr>
                    <a:solidFill>
                      <a:srgbClr val="F2F2F2"/>
                    </a:solidFill>
                  </a:tcPr>
                </a:tc>
                <a:extLst>
                  <a:ext uri="{0D108BD9-81ED-4DB2-BD59-A6C34878D82A}">
                    <a16:rowId xmlns:a16="http://schemas.microsoft.com/office/drawing/2014/main" val="10002"/>
                  </a:ext>
                </a:extLst>
              </a:tr>
              <a:tr h="264344">
                <a:tc>
                  <a:txBody>
                    <a:bodyPr/>
                    <a:lstStyle/>
                    <a:p>
                      <a:pPr algn="ctr"/>
                      <a:r>
                        <a:rPr sz="1000" b="1" i="0">
                          <a:solidFill>
                            <a:srgbClr val="262626"/>
                          </a:solidFill>
                          <a:latin typeface="Arial"/>
                        </a:rPr>
                        <a:t>4</a:t>
                      </a:r>
                    </a:p>
                  </a:txBody>
                  <a:tcPr>
                    <a:solidFill>
                      <a:srgbClr val="FFFFFF"/>
                    </a:solidFill>
                  </a:tcPr>
                </a:tc>
                <a:tc>
                  <a:txBody>
                    <a:bodyPr/>
                    <a:lstStyle/>
                    <a:p>
                      <a:pPr algn="l"/>
                      <a:r>
                        <a:rPr sz="1000" b="0" i="0">
                          <a:solidFill>
                            <a:srgbClr val="262626"/>
                          </a:solidFill>
                          <a:latin typeface="Arial"/>
                        </a:rPr>
                        <a:t>Jeanne Lehair</a:t>
                      </a:r>
                    </a:p>
                  </a:txBody>
                  <a:tcPr>
                    <a:solidFill>
                      <a:srgbClr val="FFFFFF"/>
                    </a:solidFill>
                  </a:tcPr>
                </a:tc>
                <a:tc>
                  <a:txBody>
                    <a:bodyPr/>
                    <a:lstStyle/>
                    <a:p>
                      <a:pPr algn="ctr"/>
                      <a:r>
                        <a:rPr sz="1000" b="0" i="0">
                          <a:solidFill>
                            <a:srgbClr val="262626"/>
                          </a:solidFill>
                          <a:latin typeface="Arial"/>
                        </a:rPr>
                        <a:t>6,306</a:t>
                      </a:r>
                    </a:p>
                  </a:txBody>
                  <a:tcPr>
                    <a:solidFill>
                      <a:srgbClr val="FFFFFF"/>
                    </a:solidFill>
                  </a:tcPr>
                </a:tc>
                <a:extLst>
                  <a:ext uri="{0D108BD9-81ED-4DB2-BD59-A6C34878D82A}">
                    <a16:rowId xmlns:a16="http://schemas.microsoft.com/office/drawing/2014/main" val="10003"/>
                  </a:ext>
                </a:extLst>
              </a:tr>
              <a:tr h="264344">
                <a:tc>
                  <a:txBody>
                    <a:bodyPr/>
                    <a:lstStyle/>
                    <a:p>
                      <a:pPr algn="ctr"/>
                      <a:r>
                        <a:rPr sz="1000" b="1" i="0">
                          <a:solidFill>
                            <a:srgbClr val="262626"/>
                          </a:solidFill>
                          <a:latin typeface="Arial"/>
                        </a:rPr>
                        <a:t>6</a:t>
                      </a:r>
                    </a:p>
                  </a:txBody>
                  <a:tcPr>
                    <a:solidFill>
                      <a:srgbClr val="F2F2F2"/>
                    </a:solidFill>
                  </a:tcPr>
                </a:tc>
                <a:tc>
                  <a:txBody>
                    <a:bodyPr/>
                    <a:lstStyle/>
                    <a:p>
                      <a:pPr algn="l"/>
                      <a:r>
                        <a:rPr sz="1000" b="0" i="0">
                          <a:solidFill>
                            <a:srgbClr val="262626"/>
                          </a:solidFill>
                          <a:latin typeface="Arial"/>
                        </a:rPr>
                        <a:t>Cassandre Beaugrand</a:t>
                      </a:r>
                    </a:p>
                  </a:txBody>
                  <a:tcPr>
                    <a:solidFill>
                      <a:srgbClr val="F2F2F2"/>
                    </a:solidFill>
                  </a:tcPr>
                </a:tc>
                <a:tc>
                  <a:txBody>
                    <a:bodyPr/>
                    <a:lstStyle/>
                    <a:p>
                      <a:pPr algn="ctr"/>
                      <a:r>
                        <a:rPr sz="1000" b="0" i="0">
                          <a:solidFill>
                            <a:srgbClr val="262626"/>
                          </a:solidFill>
                          <a:latin typeface="Arial"/>
                        </a:rPr>
                        <a:t>5,391</a:t>
                      </a:r>
                    </a:p>
                  </a:txBody>
                  <a:tcPr>
                    <a:solidFill>
                      <a:srgbClr val="F2F2F2"/>
                    </a:solidFill>
                  </a:tcPr>
                </a:tc>
                <a:extLst>
                  <a:ext uri="{0D108BD9-81ED-4DB2-BD59-A6C34878D82A}">
                    <a16:rowId xmlns:a16="http://schemas.microsoft.com/office/drawing/2014/main" val="10004"/>
                  </a:ext>
                </a:extLst>
              </a:tr>
              <a:tr h="264344">
                <a:tc>
                  <a:txBody>
                    <a:bodyPr/>
                    <a:lstStyle/>
                    <a:p>
                      <a:pPr algn="ctr"/>
                      <a:r>
                        <a:rPr sz="1000" b="1" i="0">
                          <a:solidFill>
                            <a:srgbClr val="262626"/>
                          </a:solidFill>
                          <a:latin typeface="Arial"/>
                        </a:rPr>
                        <a:t>10</a:t>
                      </a:r>
                    </a:p>
                  </a:txBody>
                  <a:tcPr>
                    <a:solidFill>
                      <a:srgbClr val="FFFFFF"/>
                    </a:solidFill>
                  </a:tcPr>
                </a:tc>
                <a:tc>
                  <a:txBody>
                    <a:bodyPr/>
                    <a:lstStyle/>
                    <a:p>
                      <a:pPr algn="l"/>
                      <a:r>
                        <a:rPr sz="1000" b="0" i="0">
                          <a:solidFill>
                            <a:srgbClr val="262626"/>
                          </a:solidFill>
                          <a:latin typeface="Arial"/>
                        </a:rPr>
                        <a:t>Diana Isakova</a:t>
                      </a:r>
                    </a:p>
                  </a:txBody>
                  <a:tcPr>
                    <a:solidFill>
                      <a:srgbClr val="FFFFFF"/>
                    </a:solidFill>
                  </a:tcPr>
                </a:tc>
                <a:tc>
                  <a:txBody>
                    <a:bodyPr/>
                    <a:lstStyle/>
                    <a:p>
                      <a:pPr algn="ctr"/>
                      <a:r>
                        <a:rPr sz="1000" b="0" i="0">
                          <a:solidFill>
                            <a:srgbClr val="262626"/>
                          </a:solidFill>
                          <a:latin typeface="Arial"/>
                        </a:rPr>
                        <a:t>4,750</a:t>
                      </a:r>
                    </a:p>
                  </a:txBody>
                  <a:tcPr>
                    <a:solidFill>
                      <a:srgbClr val="FFFFFF"/>
                    </a:solidFill>
                  </a:tcPr>
                </a:tc>
                <a:extLst>
                  <a:ext uri="{0D108BD9-81ED-4DB2-BD59-A6C34878D82A}">
                    <a16:rowId xmlns:a16="http://schemas.microsoft.com/office/drawing/2014/main" val="10005"/>
                  </a:ext>
                </a:extLst>
              </a:tr>
              <a:tr h="264344">
                <a:tc>
                  <a:txBody>
                    <a:bodyPr/>
                    <a:lstStyle/>
                    <a:p>
                      <a:pPr algn="ctr"/>
                      <a:r>
                        <a:rPr sz="1000" b="1" i="0">
                          <a:solidFill>
                            <a:srgbClr val="262626"/>
                          </a:solidFill>
                          <a:latin typeface="Arial"/>
                        </a:rPr>
                        <a:t>11</a:t>
                      </a:r>
                    </a:p>
                  </a:txBody>
                  <a:tcPr>
                    <a:solidFill>
                      <a:srgbClr val="F2F2F2"/>
                    </a:solidFill>
                  </a:tcPr>
                </a:tc>
                <a:tc>
                  <a:txBody>
                    <a:bodyPr/>
                    <a:lstStyle/>
                    <a:p>
                      <a:pPr algn="l"/>
                      <a:r>
                        <a:rPr sz="1000" b="0" i="0">
                          <a:solidFill>
                            <a:srgbClr val="262626"/>
                          </a:solidFill>
                          <a:latin typeface="Arial"/>
                        </a:rPr>
                        <a:t>Tanja Neubert</a:t>
                      </a:r>
                    </a:p>
                  </a:txBody>
                  <a:tcPr>
                    <a:solidFill>
                      <a:srgbClr val="F2F2F2"/>
                    </a:solidFill>
                  </a:tcPr>
                </a:tc>
                <a:tc>
                  <a:txBody>
                    <a:bodyPr/>
                    <a:lstStyle/>
                    <a:p>
                      <a:pPr algn="ctr"/>
                      <a:r>
                        <a:rPr sz="1000" b="0" i="0">
                          <a:solidFill>
                            <a:srgbClr val="262626"/>
                          </a:solidFill>
                          <a:latin typeface="Arial"/>
                        </a:rPr>
                        <a:t>4,583</a:t>
                      </a:r>
                    </a:p>
                  </a:txBody>
                  <a:tcPr>
                    <a:solidFill>
                      <a:srgbClr val="F2F2F2"/>
                    </a:solidFill>
                  </a:tcPr>
                </a:tc>
                <a:extLst>
                  <a:ext uri="{0D108BD9-81ED-4DB2-BD59-A6C34878D82A}">
                    <a16:rowId xmlns:a16="http://schemas.microsoft.com/office/drawing/2014/main" val="10006"/>
                  </a:ext>
                </a:extLst>
              </a:tr>
              <a:tr h="264344">
                <a:tc>
                  <a:txBody>
                    <a:bodyPr/>
                    <a:lstStyle/>
                    <a:p>
                      <a:pPr algn="ctr"/>
                      <a:r>
                        <a:rPr sz="1000" b="1" i="0">
                          <a:solidFill>
                            <a:srgbClr val="262626"/>
                          </a:solidFill>
                          <a:latin typeface="Arial"/>
                        </a:rPr>
                        <a:t>15</a:t>
                      </a:r>
                    </a:p>
                  </a:txBody>
                  <a:tcPr>
                    <a:solidFill>
                      <a:srgbClr val="FFFFFF"/>
                    </a:solidFill>
                  </a:tcPr>
                </a:tc>
                <a:tc>
                  <a:txBody>
                    <a:bodyPr/>
                    <a:lstStyle/>
                    <a:p>
                      <a:pPr algn="l"/>
                      <a:r>
                        <a:rPr sz="1000" b="0" i="0">
                          <a:solidFill>
                            <a:srgbClr val="262626"/>
                          </a:solidFill>
                          <a:latin typeface="Arial"/>
                        </a:rPr>
                        <a:t>Sian Rainsley</a:t>
                      </a:r>
                    </a:p>
                  </a:txBody>
                  <a:tcPr>
                    <a:solidFill>
                      <a:srgbClr val="FFFFFF"/>
                    </a:solidFill>
                  </a:tcPr>
                </a:tc>
                <a:tc>
                  <a:txBody>
                    <a:bodyPr/>
                    <a:lstStyle/>
                    <a:p>
                      <a:pPr algn="ctr"/>
                      <a:r>
                        <a:rPr sz="1000" b="0" i="0">
                          <a:solidFill>
                            <a:srgbClr val="262626"/>
                          </a:solidFill>
                          <a:latin typeface="Arial"/>
                        </a:rPr>
                        <a:t>3,568</a:t>
                      </a:r>
                    </a:p>
                  </a:txBody>
                  <a:tcPr>
                    <a:solidFill>
                      <a:srgbClr val="FFFFFF"/>
                    </a:solidFill>
                  </a:tcPr>
                </a:tc>
                <a:extLst>
                  <a:ext uri="{0D108BD9-81ED-4DB2-BD59-A6C34878D82A}">
                    <a16:rowId xmlns:a16="http://schemas.microsoft.com/office/drawing/2014/main" val="10007"/>
                  </a:ext>
                </a:extLst>
              </a:tr>
              <a:tr h="264344">
                <a:tc>
                  <a:txBody>
                    <a:bodyPr/>
                    <a:lstStyle/>
                    <a:p>
                      <a:pPr algn="ctr"/>
                      <a:r>
                        <a:rPr sz="1000" b="1" i="0">
                          <a:solidFill>
                            <a:srgbClr val="262626"/>
                          </a:solidFill>
                          <a:latin typeface="Arial"/>
                        </a:rPr>
                        <a:t>16</a:t>
                      </a:r>
                    </a:p>
                  </a:txBody>
                  <a:tcPr>
                    <a:solidFill>
                      <a:srgbClr val="F2F2F2"/>
                    </a:solidFill>
                  </a:tcPr>
                </a:tc>
                <a:tc>
                  <a:txBody>
                    <a:bodyPr/>
                    <a:lstStyle/>
                    <a:p>
                      <a:pPr algn="l"/>
                      <a:r>
                        <a:rPr sz="1000" b="0" i="0">
                          <a:solidFill>
                            <a:srgbClr val="262626"/>
                          </a:solidFill>
                          <a:latin typeface="Arial"/>
                        </a:rPr>
                        <a:t>Gina Sereno</a:t>
                      </a:r>
                    </a:p>
                  </a:txBody>
                  <a:tcPr>
                    <a:solidFill>
                      <a:srgbClr val="F2F2F2"/>
                    </a:solidFill>
                  </a:tcPr>
                </a:tc>
                <a:tc>
                  <a:txBody>
                    <a:bodyPr/>
                    <a:lstStyle/>
                    <a:p>
                      <a:pPr algn="ctr"/>
                      <a:r>
                        <a:rPr sz="1000" b="0" i="0">
                          <a:solidFill>
                            <a:srgbClr val="262626"/>
                          </a:solidFill>
                          <a:latin typeface="Arial"/>
                        </a:rPr>
                        <a:t>3,205</a:t>
                      </a:r>
                    </a:p>
                  </a:txBody>
                  <a:tcPr>
                    <a:solidFill>
                      <a:srgbClr val="F2F2F2"/>
                    </a:solidFill>
                  </a:tcPr>
                </a:tc>
                <a:extLst>
                  <a:ext uri="{0D108BD9-81ED-4DB2-BD59-A6C34878D82A}">
                    <a16:rowId xmlns:a16="http://schemas.microsoft.com/office/drawing/2014/main" val="10008"/>
                  </a:ext>
                </a:extLst>
              </a:tr>
              <a:tr h="264344">
                <a:tc>
                  <a:txBody>
                    <a:bodyPr/>
                    <a:lstStyle/>
                    <a:p>
                      <a:pPr algn="ctr"/>
                      <a:r>
                        <a:rPr sz="1000" b="1" i="0">
                          <a:solidFill>
                            <a:srgbClr val="262626"/>
                          </a:solidFill>
                          <a:latin typeface="Arial"/>
                        </a:rPr>
                        <a:t>17</a:t>
                      </a:r>
                    </a:p>
                  </a:txBody>
                  <a:tcPr>
                    <a:solidFill>
                      <a:srgbClr val="FFFFFF"/>
                    </a:solidFill>
                  </a:tcPr>
                </a:tc>
                <a:tc>
                  <a:txBody>
                    <a:bodyPr/>
                    <a:lstStyle/>
                    <a:p>
                      <a:pPr algn="l"/>
                      <a:r>
                        <a:rPr sz="1000" b="0" i="0">
                          <a:solidFill>
                            <a:srgbClr val="262626"/>
                          </a:solidFill>
                          <a:latin typeface="Arial"/>
                        </a:rPr>
                        <a:t>Roksana Slupek</a:t>
                      </a:r>
                    </a:p>
                  </a:txBody>
                  <a:tcPr>
                    <a:solidFill>
                      <a:srgbClr val="FFFFFF"/>
                    </a:solidFill>
                  </a:tcPr>
                </a:tc>
                <a:tc>
                  <a:txBody>
                    <a:bodyPr/>
                    <a:lstStyle/>
                    <a:p>
                      <a:pPr algn="ctr"/>
                      <a:r>
                        <a:rPr sz="1000" b="0" i="0">
                          <a:solidFill>
                            <a:srgbClr val="262626"/>
                          </a:solidFill>
                          <a:latin typeface="Arial"/>
                        </a:rPr>
                        <a:t>3,201</a:t>
                      </a:r>
                    </a:p>
                  </a:txBody>
                  <a:tcPr>
                    <a:solidFill>
                      <a:srgbClr val="FFFFFF"/>
                    </a:solidFill>
                  </a:tcPr>
                </a:tc>
                <a:extLst>
                  <a:ext uri="{0D108BD9-81ED-4DB2-BD59-A6C34878D82A}">
                    <a16:rowId xmlns:a16="http://schemas.microsoft.com/office/drawing/2014/main" val="10009"/>
                  </a:ext>
                </a:extLst>
              </a:tr>
              <a:tr h="264352">
                <a:tc>
                  <a:txBody>
                    <a:bodyPr/>
                    <a:lstStyle/>
                    <a:p>
                      <a:pPr algn="ctr"/>
                      <a:r>
                        <a:rPr sz="1000" b="1" i="0">
                          <a:solidFill>
                            <a:srgbClr val="262626"/>
                          </a:solidFill>
                          <a:latin typeface="Arial"/>
                        </a:rPr>
                        <a:t>18</a:t>
                      </a:r>
                    </a:p>
                  </a:txBody>
                  <a:tcPr>
                    <a:solidFill>
                      <a:srgbClr val="F2F2F2"/>
                    </a:solidFill>
                  </a:tcPr>
                </a:tc>
                <a:tc>
                  <a:txBody>
                    <a:bodyPr/>
                    <a:lstStyle/>
                    <a:p>
                      <a:pPr algn="l"/>
                      <a:r>
                        <a:rPr sz="1000" b="0" i="0">
                          <a:solidFill>
                            <a:srgbClr val="262626"/>
                          </a:solidFill>
                          <a:latin typeface="Arial"/>
                        </a:rPr>
                        <a:t>Valentina Riasova</a:t>
                      </a:r>
                    </a:p>
                  </a:txBody>
                  <a:tcPr>
                    <a:solidFill>
                      <a:srgbClr val="F2F2F2"/>
                    </a:solidFill>
                  </a:tcPr>
                </a:tc>
                <a:tc>
                  <a:txBody>
                    <a:bodyPr/>
                    <a:lstStyle/>
                    <a:p>
                      <a:pPr algn="ctr"/>
                      <a:r>
                        <a:rPr sz="1000" b="0" i="0">
                          <a:solidFill>
                            <a:srgbClr val="262626"/>
                          </a:solidFill>
                          <a:latin typeface="Arial"/>
                        </a:rPr>
                        <a:t>3,120</a:t>
                      </a:r>
                    </a:p>
                  </a:txBody>
                  <a:tcPr>
                    <a:solidFill>
                      <a:srgbClr val="F2F2F2"/>
                    </a:solidFill>
                  </a:tcPr>
                </a:tc>
                <a:extLst>
                  <a:ext uri="{0D108BD9-81ED-4DB2-BD59-A6C34878D82A}">
                    <a16:rowId xmlns:a16="http://schemas.microsoft.com/office/drawing/2014/main" val="10010"/>
                  </a:ext>
                </a:extLst>
              </a:tr>
            </a:tbl>
          </a:graphicData>
        </a:graphic>
      </p:graphicFrame>
      <p:sp>
        <p:nvSpPr>
          <p:cNvPr id="21" name="Rectangle 20"/>
          <p:cNvSpPr/>
          <p:nvPr/>
        </p:nvSpPr>
        <p:spPr>
          <a:xfrm>
            <a:off x="6217920" y="5056632"/>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9360" y="5074920"/>
            <a:ext cx="5486400" cy="237744"/>
          </a:xfrm>
          <a:prstGeom prst="rect">
            <a:avLst/>
          </a:prstGeom>
          <a:noFill/>
        </p:spPr>
        <p:txBody>
          <a:bodyPr wrap="square">
            <a:spAutoFit/>
          </a:bodyPr>
          <a:lstStyle/>
          <a:p>
            <a:pPr algn="l"/>
            <a:r>
              <a:rPr sz="1100" b="1" i="0">
                <a:solidFill>
                  <a:srgbClr val="FFFFFF"/>
                </a:solidFill>
                <a:latin typeface="Arial"/>
              </a:rPr>
              <a:t>Returning Podium Athletes on Startlist</a:t>
            </a:r>
          </a:p>
        </p:txBody>
      </p:sp>
      <p:sp>
        <p:nvSpPr>
          <p:cNvPr id="23" name="TextBox 22"/>
          <p:cNvSpPr txBox="1"/>
          <p:nvPr/>
        </p:nvSpPr>
        <p:spPr>
          <a:xfrm>
            <a:off x="6355080" y="5422392"/>
            <a:ext cx="5394960" cy="292608"/>
          </a:xfrm>
          <a:prstGeom prst="rect">
            <a:avLst/>
          </a:prstGeom>
          <a:noFill/>
        </p:spPr>
        <p:txBody>
          <a:bodyPr wrap="square">
            <a:spAutoFit/>
          </a:bodyPr>
          <a:lstStyle/>
          <a:p>
            <a:pPr algn="l"/>
            <a:r>
              <a:rPr sz="1100" b="1" i="0">
                <a:solidFill>
                  <a:srgbClr val="262626"/>
                </a:solidFill>
                <a:latin typeface="Arial"/>
              </a:rPr>
              <a:t>1.  Beth Potter   (01:51:58)</a:t>
            </a:r>
          </a:p>
        </p:txBody>
      </p:sp>
      <p:sp>
        <p:nvSpPr>
          <p:cNvPr id="24" name="TextBox 23"/>
          <p:cNvSpPr txBox="1"/>
          <p:nvPr/>
        </p:nvSpPr>
        <p:spPr>
          <a:xfrm>
            <a:off x="6355080" y="5715000"/>
            <a:ext cx="5394960" cy="292608"/>
          </a:xfrm>
          <a:prstGeom prst="rect">
            <a:avLst/>
          </a:prstGeom>
          <a:noFill/>
        </p:spPr>
        <p:txBody>
          <a:bodyPr wrap="square">
            <a:spAutoFit/>
          </a:bodyPr>
          <a:lstStyle/>
          <a:p>
            <a:pPr algn="l"/>
            <a:r>
              <a:rPr sz="1100" b="0" i="0">
                <a:solidFill>
                  <a:srgbClr val="262626"/>
                </a:solidFill>
                <a:latin typeface="Arial"/>
              </a:rPr>
              <a:t>2.  Lisa Tertsch   (01:52:15)</a:t>
            </a:r>
          </a:p>
        </p:txBody>
      </p:sp>
      <p:sp>
        <p:nvSpPr>
          <p:cNvPr id="25" name="TextBox 24"/>
          <p:cNvSpPr txBox="1"/>
          <p:nvPr/>
        </p:nvSpPr>
        <p:spPr>
          <a:xfrm>
            <a:off x="6355080" y="6007608"/>
            <a:ext cx="5394960" cy="292608"/>
          </a:xfrm>
          <a:prstGeom prst="rect">
            <a:avLst/>
          </a:prstGeom>
          <a:noFill/>
        </p:spPr>
        <p:txBody>
          <a:bodyPr wrap="square">
            <a:spAutoFit/>
          </a:bodyPr>
          <a:lstStyle/>
          <a:p>
            <a:pPr algn="l"/>
            <a:r>
              <a:rPr sz="1100" b="0" i="0">
                <a:solidFill>
                  <a:srgbClr val="262626"/>
                </a:solidFill>
                <a:latin typeface="Arial"/>
              </a:rPr>
              <a:t>3.  Tanja Neubert   (01:52:19)</a:t>
            </a:r>
          </a:p>
        </p:txBody>
      </p:sp>
      <p:sp>
        <p:nvSpPr>
          <p:cNvPr id="26" name="TextBox 25"/>
          <p:cNvSpPr txBox="1"/>
          <p:nvPr/>
        </p:nvSpPr>
        <p:spPr>
          <a:xfrm>
            <a:off x="274320" y="6446520"/>
            <a:ext cx="11640312" cy="228600"/>
          </a:xfrm>
          <a:prstGeom prst="rect">
            <a:avLst/>
          </a:prstGeom>
          <a:noFill/>
        </p:spPr>
        <p:txBody>
          <a:bodyPr wrap="square">
            <a:spAutoFit/>
          </a:bodyPr>
          <a:lstStyle/>
          <a:p>
            <a:pPr algn="ctr"/>
            <a:r>
              <a:rPr sz="900" b="0" i="1">
                <a:solidFill>
                  <a:srgbClr val="BFBFBF"/>
                </a:solidFill>
                <a:latin typeface="Arial"/>
              </a:rPr>
              <a:t>Rankings = current World Triathlon rankings snapshot; startlist intersect uses program_entries when available.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Top Swim Threats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78992"/>
            <a:ext cx="11640312" cy="32004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15568"/>
            <a:ext cx="11430000" cy="246888"/>
          </a:xfrm>
          <a:prstGeom prst="rect">
            <a:avLst/>
          </a:prstGeom>
          <a:noFill/>
        </p:spPr>
        <p:txBody>
          <a:bodyPr wrap="square">
            <a:spAutoFit/>
          </a:bodyPr>
          <a:lstStyle/>
          <a:p>
            <a:pPr algn="ctr"/>
            <a:r>
              <a:rPr sz="1000" b="1" i="0">
                <a:solidFill>
                  <a:srgbClr val="002060"/>
                </a:solidFill>
                <a:latin typeface="Arial"/>
              </a:rPr>
              <a:t>Ranked by Lead Pack % (within 15 s of swim leader — robust to course speed)   •   EWMA swim split (span-5) shown per distance; Sprint = this race   •   WTCS / World Cup / Continental, last 4 yrs</a:t>
            </a:r>
          </a:p>
        </p:txBody>
      </p:sp>
      <p:sp>
        <p:nvSpPr>
          <p:cNvPr id="10" name="Rectangle 9"/>
          <p:cNvSpPr/>
          <p:nvPr/>
        </p:nvSpPr>
        <p:spPr>
          <a:xfrm>
            <a:off x="274320" y="150876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1536192"/>
            <a:ext cx="5806440" cy="219456"/>
          </a:xfrm>
          <a:prstGeom prst="rect">
            <a:avLst/>
          </a:prstGeom>
          <a:noFill/>
        </p:spPr>
        <p:txBody>
          <a:bodyPr wrap="square">
            <a:spAutoFit/>
          </a:bodyPr>
          <a:lstStyle/>
          <a:p>
            <a:pPr algn="ctr"/>
            <a:r>
              <a:rPr sz="1100" b="1" i="0">
                <a:solidFill>
                  <a:srgbClr val="FFFFFF"/>
                </a:solidFill>
                <a:latin typeface="Arial"/>
              </a:rPr>
              <a:t>ELITE MEN</a:t>
            </a:r>
          </a:p>
        </p:txBody>
      </p:sp>
      <p:graphicFrame>
        <p:nvGraphicFramePr>
          <p:cNvPr id="12" name="Table 11"/>
          <p:cNvGraphicFramePr>
            <a:graphicFrameLocks noGrp="1"/>
          </p:cNvGraphicFramePr>
          <p:nvPr/>
        </p:nvGraphicFramePr>
        <p:xfrm>
          <a:off x="274320" y="1828800"/>
          <a:ext cx="5806439" cy="3840480"/>
        </p:xfrm>
        <a:graphic>
          <a:graphicData uri="http://schemas.openxmlformats.org/drawingml/2006/table">
            <a:tbl>
              <a:tblPr firstRow="1" bandRow="1">
                <a:tableStyleId>{5C22544A-7EE6-4342-B048-85BDC9FD1C3A}</a:tableStyleId>
              </a:tblPr>
              <a:tblGrid>
                <a:gridCol w="341985">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50976">
                  <a:extLst>
                    <a:ext uri="{9D8B030D-6E8A-4147-A177-3AD203B41FA5}">
                      <a16:colId xmlns:a16="http://schemas.microsoft.com/office/drawing/2014/main" val="20003"/>
                    </a:ext>
                  </a:extLst>
                </a:gridCol>
                <a:gridCol w="950976">
                  <a:extLst>
                    <a:ext uri="{9D8B030D-6E8A-4147-A177-3AD203B41FA5}">
                      <a16:colId xmlns:a16="http://schemas.microsoft.com/office/drawing/2014/main" val="20004"/>
                    </a:ext>
                  </a:extLst>
                </a:gridCol>
                <a:gridCol w="956462">
                  <a:extLst>
                    <a:ext uri="{9D8B030D-6E8A-4147-A177-3AD203B41FA5}">
                      <a16:colId xmlns:a16="http://schemas.microsoft.com/office/drawing/2014/main" val="20005"/>
                    </a:ext>
                  </a:extLst>
                </a:gridCol>
              </a:tblGrid>
              <a:tr h="256032">
                <a:tc>
                  <a:txBody>
                    <a:bodyPr/>
                    <a:lstStyle/>
                    <a:p>
                      <a:pPr algn="ctr"/>
                      <a:r>
                        <a:rPr sz="850" b="1" i="0">
                          <a:solidFill>
                            <a:srgbClr val="FFFFFF"/>
                          </a:solidFill>
                          <a:latin typeface="Arial"/>
                        </a:rPr>
                        <a:t>#</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Lead %</a:t>
                      </a:r>
                    </a:p>
                  </a:txBody>
                  <a:tcPr>
                    <a:solidFill>
                      <a:srgbClr val="002060"/>
                    </a:solidFill>
                  </a:tcPr>
                </a:tc>
                <a:tc>
                  <a:txBody>
                    <a:bodyPr/>
                    <a:lstStyle/>
                    <a:p>
                      <a:pPr algn="ctr"/>
                      <a:r>
                        <a:rPr sz="850" b="1" i="0">
                          <a:solidFill>
                            <a:srgbClr val="FFFFFF"/>
                          </a:solidFill>
                          <a:latin typeface="Arial"/>
                        </a:rPr>
                        <a:t>EWMA Spr ▸</a:t>
                      </a:r>
                    </a:p>
                  </a:txBody>
                  <a:tcPr>
                    <a:solidFill>
                      <a:srgbClr val="002060"/>
                    </a:solidFill>
                  </a:tcPr>
                </a:tc>
                <a:tc>
                  <a:txBody>
                    <a:bodyPr/>
                    <a:lstStyle/>
                    <a:p>
                      <a:pPr algn="ctr"/>
                      <a:r>
                        <a:rPr sz="850" b="1" i="0">
                          <a:solidFill>
                            <a:srgbClr val="FFFFFF"/>
                          </a:solidFill>
                          <a:latin typeface="Arial"/>
                        </a:rPr>
                        <a:t>EWMA Std</a:t>
                      </a:r>
                    </a:p>
                  </a:txBody>
                  <a:tcPr>
                    <a:solidFill>
                      <a:srgbClr val="002060"/>
                    </a:solidFill>
                  </a:tcPr>
                </a:tc>
                <a:tc>
                  <a:txBody>
                    <a:bodyPr/>
                    <a:lstStyle/>
                    <a:p>
                      <a:pPr algn="ctr"/>
                      <a:r>
                        <a:rPr sz="850" b="1" i="0">
                          <a:solidFill>
                            <a:srgbClr val="FFFFFF"/>
                          </a:solidFill>
                          <a:latin typeface="Arial"/>
                        </a:rPr>
                        <a:t>Spr/Std</a:t>
                      </a:r>
                    </a:p>
                  </a:txBody>
                  <a:tcPr>
                    <a:solidFill>
                      <a:srgbClr val="002060"/>
                    </a:solidFill>
                  </a:tcPr>
                </a:tc>
                <a:extLst>
                  <a:ext uri="{0D108BD9-81ED-4DB2-BD59-A6C34878D82A}">
                    <a16:rowId xmlns:a16="http://schemas.microsoft.com/office/drawing/2014/main" val="10000"/>
                  </a:ext>
                </a:extLst>
              </a:tr>
              <a:tr h="256032">
                <a:tc>
                  <a:txBody>
                    <a:bodyPr/>
                    <a:lstStyle/>
                    <a:p>
                      <a:pPr algn="ctr"/>
                      <a:r>
                        <a:rPr sz="850" b="1" i="0">
                          <a:solidFill>
                            <a:srgbClr val="002060"/>
                          </a:solidFill>
                          <a:latin typeface="Arial"/>
                        </a:rPr>
                        <a:t>1</a:t>
                      </a:r>
                    </a:p>
                  </a:txBody>
                  <a:tcPr>
                    <a:solidFill>
                      <a:srgbClr val="FFFFFF"/>
                    </a:solidFill>
                  </a:tcPr>
                </a:tc>
                <a:tc>
                  <a:txBody>
                    <a:bodyPr/>
                    <a:lstStyle/>
                    <a:p>
                      <a:pPr algn="l"/>
                      <a:r>
                        <a:rPr sz="850" b="0" i="0">
                          <a:solidFill>
                            <a:srgbClr val="262626"/>
                          </a:solidFill>
                          <a:latin typeface="Arial"/>
                        </a:rPr>
                        <a:t>Matthew Hauser</a:t>
                      </a:r>
                    </a:p>
                  </a:txBody>
                  <a:tcPr>
                    <a:solidFill>
                      <a:srgbClr val="FFFFFF"/>
                    </a:solidFill>
                  </a:tcPr>
                </a:tc>
                <a:tc>
                  <a:txBody>
                    <a:bodyPr/>
                    <a:lstStyle/>
                    <a:p>
                      <a:pPr algn="ctr"/>
                      <a:r>
                        <a:rPr sz="850" b="1" i="0">
                          <a:solidFill>
                            <a:srgbClr val="262626"/>
                          </a:solidFill>
                          <a:latin typeface="Arial"/>
                        </a:rPr>
                        <a:t>94%</a:t>
                      </a:r>
                    </a:p>
                  </a:txBody>
                  <a:tcPr>
                    <a:solidFill>
                      <a:srgbClr val="FFFFFF"/>
                    </a:solidFill>
                  </a:tcPr>
                </a:tc>
                <a:tc>
                  <a:txBody>
                    <a:bodyPr/>
                    <a:lstStyle/>
                    <a:p>
                      <a:pPr algn="ctr"/>
                      <a:r>
                        <a:rPr sz="850" b="1" i="0">
                          <a:solidFill>
                            <a:srgbClr val="262626"/>
                          </a:solidFill>
                          <a:latin typeface="Arial"/>
                        </a:rPr>
                        <a:t>8:28</a:t>
                      </a:r>
                    </a:p>
                  </a:txBody>
                  <a:tcPr>
                    <a:solidFill>
                      <a:srgbClr val="FFFFFF"/>
                    </a:solidFill>
                  </a:tcPr>
                </a:tc>
                <a:tc>
                  <a:txBody>
                    <a:bodyPr/>
                    <a:lstStyle/>
                    <a:p>
                      <a:pPr algn="ctr"/>
                      <a:r>
                        <a:rPr sz="850" b="0" i="0">
                          <a:solidFill>
                            <a:srgbClr val="262626"/>
                          </a:solidFill>
                          <a:latin typeface="Arial"/>
                        </a:rPr>
                        <a:t>17:09</a:t>
                      </a:r>
                    </a:p>
                  </a:txBody>
                  <a:tcPr>
                    <a:solidFill>
                      <a:srgbClr val="FFFFFF"/>
                    </a:solidFill>
                  </a:tcPr>
                </a:tc>
                <a:tc>
                  <a:txBody>
                    <a:bodyPr/>
                    <a:lstStyle/>
                    <a:p>
                      <a:pPr algn="ctr"/>
                      <a:r>
                        <a:rPr sz="850" b="0" i="0">
                          <a:solidFill>
                            <a:srgbClr val="BFBFBF"/>
                          </a:solidFill>
                          <a:latin typeface="Arial"/>
                        </a:rPr>
                        <a:t>7/11</a:t>
                      </a:r>
                    </a:p>
                  </a:txBody>
                  <a:tcPr>
                    <a:solidFill>
                      <a:srgbClr val="FFFFFF"/>
                    </a:solidFill>
                  </a:tcPr>
                </a:tc>
                <a:extLst>
                  <a:ext uri="{0D108BD9-81ED-4DB2-BD59-A6C34878D82A}">
                    <a16:rowId xmlns:a16="http://schemas.microsoft.com/office/drawing/2014/main" val="10001"/>
                  </a:ext>
                </a:extLst>
              </a:tr>
              <a:tr h="256032">
                <a:tc>
                  <a:txBody>
                    <a:bodyPr/>
                    <a:lstStyle/>
                    <a:p>
                      <a:pPr algn="ctr"/>
                      <a:r>
                        <a:rPr sz="850" b="1" i="0">
                          <a:solidFill>
                            <a:srgbClr val="002060"/>
                          </a:solidFill>
                          <a:latin typeface="Arial"/>
                        </a:rPr>
                        <a:t>2</a:t>
                      </a:r>
                    </a:p>
                  </a:txBody>
                  <a:tcPr>
                    <a:solidFill>
                      <a:srgbClr val="F2F2F2"/>
                    </a:solidFill>
                  </a:tcPr>
                </a:tc>
                <a:tc>
                  <a:txBody>
                    <a:bodyPr/>
                    <a:lstStyle/>
                    <a:p>
                      <a:pPr algn="l"/>
                      <a:r>
                        <a:rPr sz="850" b="0" i="0">
                          <a:solidFill>
                            <a:srgbClr val="262626"/>
                          </a:solidFill>
                          <a:latin typeface="Arial"/>
                        </a:rPr>
                        <a:t>Csongor Lehmann</a:t>
                      </a:r>
                    </a:p>
                  </a:txBody>
                  <a:tcPr>
                    <a:solidFill>
                      <a:srgbClr val="F2F2F2"/>
                    </a:solidFill>
                  </a:tcPr>
                </a:tc>
                <a:tc>
                  <a:txBody>
                    <a:bodyPr/>
                    <a:lstStyle/>
                    <a:p>
                      <a:pPr algn="ctr"/>
                      <a:r>
                        <a:rPr sz="850" b="1" i="0">
                          <a:solidFill>
                            <a:srgbClr val="262626"/>
                          </a:solidFill>
                          <a:latin typeface="Arial"/>
                        </a:rPr>
                        <a:t>85%</a:t>
                      </a:r>
                    </a:p>
                  </a:txBody>
                  <a:tcPr>
                    <a:solidFill>
                      <a:srgbClr val="F2F2F2"/>
                    </a:solidFill>
                  </a:tcPr>
                </a:tc>
                <a:tc>
                  <a:txBody>
                    <a:bodyPr/>
                    <a:lstStyle/>
                    <a:p>
                      <a:pPr algn="ctr"/>
                      <a:r>
                        <a:rPr sz="850" b="1" i="0">
                          <a:solidFill>
                            <a:srgbClr val="262626"/>
                          </a:solidFill>
                          <a:latin typeface="Arial"/>
                        </a:rPr>
                        <a:t>8:37</a:t>
                      </a:r>
                    </a:p>
                  </a:txBody>
                  <a:tcPr>
                    <a:solidFill>
                      <a:srgbClr val="F2F2F2"/>
                    </a:solidFill>
                  </a:tcPr>
                </a:tc>
                <a:tc>
                  <a:txBody>
                    <a:bodyPr/>
                    <a:lstStyle/>
                    <a:p>
                      <a:pPr algn="ctr"/>
                      <a:r>
                        <a:rPr sz="850" b="0" i="0">
                          <a:solidFill>
                            <a:srgbClr val="262626"/>
                          </a:solidFill>
                          <a:latin typeface="Arial"/>
                        </a:rPr>
                        <a:t>17:22</a:t>
                      </a:r>
                    </a:p>
                  </a:txBody>
                  <a:tcPr>
                    <a:solidFill>
                      <a:srgbClr val="F2F2F2"/>
                    </a:solidFill>
                  </a:tcPr>
                </a:tc>
                <a:tc>
                  <a:txBody>
                    <a:bodyPr/>
                    <a:lstStyle/>
                    <a:p>
                      <a:pPr algn="ctr"/>
                      <a:r>
                        <a:rPr sz="850" b="0" i="0">
                          <a:solidFill>
                            <a:srgbClr val="BFBFBF"/>
                          </a:solidFill>
                          <a:latin typeface="Arial"/>
                        </a:rPr>
                        <a:t>5/15</a:t>
                      </a:r>
                    </a:p>
                  </a:txBody>
                  <a:tcPr>
                    <a:solidFill>
                      <a:srgbClr val="F2F2F2"/>
                    </a:solidFill>
                  </a:tcPr>
                </a:tc>
                <a:extLst>
                  <a:ext uri="{0D108BD9-81ED-4DB2-BD59-A6C34878D82A}">
                    <a16:rowId xmlns:a16="http://schemas.microsoft.com/office/drawing/2014/main" val="10002"/>
                  </a:ext>
                </a:extLst>
              </a:tr>
              <a:tr h="256032">
                <a:tc>
                  <a:txBody>
                    <a:bodyPr/>
                    <a:lstStyle/>
                    <a:p>
                      <a:pPr algn="ctr"/>
                      <a:r>
                        <a:rPr sz="850" b="1" i="0">
                          <a:solidFill>
                            <a:srgbClr val="002060"/>
                          </a:solidFill>
                          <a:latin typeface="Arial"/>
                        </a:rPr>
                        <a:t>3</a:t>
                      </a:r>
                    </a:p>
                  </a:txBody>
                  <a:tcPr>
                    <a:solidFill>
                      <a:srgbClr val="FFFFFF"/>
                    </a:solidFill>
                  </a:tcPr>
                </a:tc>
                <a:tc>
                  <a:txBody>
                    <a:bodyPr/>
                    <a:lstStyle/>
                    <a:p>
                      <a:pPr algn="l"/>
                      <a:r>
                        <a:rPr sz="850" b="1" i="0">
                          <a:solidFill>
                            <a:srgbClr val="C00000"/>
                          </a:solidFill>
                          <a:latin typeface="Arial"/>
                        </a:rPr>
                        <a:t>Chase McQueen</a:t>
                      </a:r>
                    </a:p>
                  </a:txBody>
                  <a:tcPr>
                    <a:solidFill>
                      <a:srgbClr val="FFFFFF"/>
                    </a:solidFill>
                  </a:tcPr>
                </a:tc>
                <a:tc>
                  <a:txBody>
                    <a:bodyPr/>
                    <a:lstStyle/>
                    <a:p>
                      <a:pPr algn="ctr"/>
                      <a:r>
                        <a:rPr sz="850" b="1" i="0">
                          <a:solidFill>
                            <a:srgbClr val="262626"/>
                          </a:solidFill>
                          <a:latin typeface="Arial"/>
                        </a:rPr>
                        <a:t>85%</a:t>
                      </a:r>
                    </a:p>
                  </a:txBody>
                  <a:tcPr>
                    <a:solidFill>
                      <a:srgbClr val="FFFFFF"/>
                    </a:solidFill>
                  </a:tcPr>
                </a:tc>
                <a:tc>
                  <a:txBody>
                    <a:bodyPr/>
                    <a:lstStyle/>
                    <a:p>
                      <a:pPr algn="ctr"/>
                      <a:r>
                        <a:rPr sz="850" b="1" i="0">
                          <a:solidFill>
                            <a:srgbClr val="262626"/>
                          </a:solidFill>
                          <a:latin typeface="Arial"/>
                        </a:rPr>
                        <a:t>9:04</a:t>
                      </a:r>
                    </a:p>
                  </a:txBody>
                  <a:tcPr>
                    <a:solidFill>
                      <a:srgbClr val="FFFFFF"/>
                    </a:solidFill>
                  </a:tcPr>
                </a:tc>
                <a:tc>
                  <a:txBody>
                    <a:bodyPr/>
                    <a:lstStyle/>
                    <a:p>
                      <a:pPr algn="ctr"/>
                      <a:r>
                        <a:rPr sz="850" b="0" i="0">
                          <a:solidFill>
                            <a:srgbClr val="262626"/>
                          </a:solidFill>
                          <a:latin typeface="Arial"/>
                        </a:rPr>
                        <a:t>17:47</a:t>
                      </a:r>
                    </a:p>
                  </a:txBody>
                  <a:tcPr>
                    <a:solidFill>
                      <a:srgbClr val="FFFFFF"/>
                    </a:solidFill>
                  </a:tcPr>
                </a:tc>
                <a:tc>
                  <a:txBody>
                    <a:bodyPr/>
                    <a:lstStyle/>
                    <a:p>
                      <a:pPr algn="ctr"/>
                      <a:r>
                        <a:rPr sz="850" b="0" i="0">
                          <a:solidFill>
                            <a:srgbClr val="BFBFBF"/>
                          </a:solidFill>
                          <a:latin typeface="Arial"/>
                        </a:rPr>
                        <a:t>9/11</a:t>
                      </a:r>
                    </a:p>
                  </a:txBody>
                  <a:tcPr>
                    <a:solidFill>
                      <a:srgbClr val="FFFFFF"/>
                    </a:solidFill>
                  </a:tcPr>
                </a:tc>
                <a:extLst>
                  <a:ext uri="{0D108BD9-81ED-4DB2-BD59-A6C34878D82A}">
                    <a16:rowId xmlns:a16="http://schemas.microsoft.com/office/drawing/2014/main" val="10003"/>
                  </a:ext>
                </a:extLst>
              </a:tr>
              <a:tr h="256032">
                <a:tc>
                  <a:txBody>
                    <a:bodyPr/>
                    <a:lstStyle/>
                    <a:p>
                      <a:pPr algn="ctr"/>
                      <a:r>
                        <a:rPr sz="850" b="1" i="0">
                          <a:solidFill>
                            <a:srgbClr val="002060"/>
                          </a:solidFill>
                          <a:latin typeface="Arial"/>
                        </a:rPr>
                        <a:t>4</a:t>
                      </a:r>
                    </a:p>
                  </a:txBody>
                  <a:tcPr>
                    <a:solidFill>
                      <a:srgbClr val="F2F2F2"/>
                    </a:solidFill>
                  </a:tcPr>
                </a:tc>
                <a:tc>
                  <a:txBody>
                    <a:bodyPr/>
                    <a:lstStyle/>
                    <a:p>
                      <a:pPr algn="l"/>
                      <a:r>
                        <a:rPr sz="850" b="0" i="0">
                          <a:solidFill>
                            <a:srgbClr val="262626"/>
                          </a:solidFill>
                          <a:latin typeface="Arial"/>
                        </a:rPr>
                        <a:t>Márton Kropkó</a:t>
                      </a:r>
                    </a:p>
                  </a:txBody>
                  <a:tcPr>
                    <a:solidFill>
                      <a:srgbClr val="F2F2F2"/>
                    </a:solidFill>
                  </a:tcPr>
                </a:tc>
                <a:tc>
                  <a:txBody>
                    <a:bodyPr/>
                    <a:lstStyle/>
                    <a:p>
                      <a:pPr algn="ctr"/>
                      <a:r>
                        <a:rPr sz="850" b="1" i="0">
                          <a:solidFill>
                            <a:srgbClr val="262626"/>
                          </a:solidFill>
                          <a:latin typeface="Arial"/>
                        </a:rPr>
                        <a:t>80%</a:t>
                      </a:r>
                    </a:p>
                  </a:txBody>
                  <a:tcPr>
                    <a:solidFill>
                      <a:srgbClr val="F2F2F2"/>
                    </a:solidFill>
                  </a:tcPr>
                </a:tc>
                <a:tc>
                  <a:txBody>
                    <a:bodyPr/>
                    <a:lstStyle/>
                    <a:p>
                      <a:pPr algn="ctr"/>
                      <a:r>
                        <a:rPr sz="850" b="1" i="0">
                          <a:solidFill>
                            <a:srgbClr val="262626"/>
                          </a:solidFill>
                          <a:latin typeface="Arial"/>
                        </a:rPr>
                        <a:t>8:56</a:t>
                      </a:r>
                    </a:p>
                  </a:txBody>
                  <a:tcPr>
                    <a:solidFill>
                      <a:srgbClr val="F2F2F2"/>
                    </a:solidFill>
                  </a:tcPr>
                </a:tc>
                <a:tc>
                  <a:txBody>
                    <a:bodyPr/>
                    <a:lstStyle/>
                    <a:p>
                      <a:pPr algn="ctr"/>
                      <a:r>
                        <a:rPr sz="850" b="0" i="0">
                          <a:solidFill>
                            <a:srgbClr val="262626"/>
                          </a:solidFill>
                          <a:latin typeface="Arial"/>
                        </a:rPr>
                        <a:t>17:47</a:t>
                      </a:r>
                    </a:p>
                  </a:txBody>
                  <a:tcPr>
                    <a:solidFill>
                      <a:srgbClr val="F2F2F2"/>
                    </a:solidFill>
                  </a:tcPr>
                </a:tc>
                <a:tc>
                  <a:txBody>
                    <a:bodyPr/>
                    <a:lstStyle/>
                    <a:p>
                      <a:pPr algn="ctr"/>
                      <a:r>
                        <a:rPr sz="850" b="0" i="0">
                          <a:solidFill>
                            <a:srgbClr val="BFBFBF"/>
                          </a:solidFill>
                          <a:latin typeface="Arial"/>
                        </a:rPr>
                        <a:t>2/3</a:t>
                      </a:r>
                    </a:p>
                  </a:txBody>
                  <a:tcPr>
                    <a:solidFill>
                      <a:srgbClr val="F2F2F2"/>
                    </a:solidFill>
                  </a:tcPr>
                </a:tc>
                <a:extLst>
                  <a:ext uri="{0D108BD9-81ED-4DB2-BD59-A6C34878D82A}">
                    <a16:rowId xmlns:a16="http://schemas.microsoft.com/office/drawing/2014/main" val="10004"/>
                  </a:ext>
                </a:extLst>
              </a:tr>
              <a:tr h="256032">
                <a:tc>
                  <a:txBody>
                    <a:bodyPr/>
                    <a:lstStyle/>
                    <a:p>
                      <a:pPr algn="ctr"/>
                      <a:r>
                        <a:rPr sz="850" b="1" i="0">
                          <a:solidFill>
                            <a:srgbClr val="002060"/>
                          </a:solidFill>
                          <a:latin typeface="Arial"/>
                        </a:rPr>
                        <a:t>5</a:t>
                      </a:r>
                    </a:p>
                  </a:txBody>
                  <a:tcPr>
                    <a:solidFill>
                      <a:srgbClr val="FFFFFF"/>
                    </a:solidFill>
                  </a:tcPr>
                </a:tc>
                <a:tc>
                  <a:txBody>
                    <a:bodyPr/>
                    <a:lstStyle/>
                    <a:p>
                      <a:pPr algn="l"/>
                      <a:r>
                        <a:rPr sz="850" b="1" i="0">
                          <a:solidFill>
                            <a:srgbClr val="C00000"/>
                          </a:solidFill>
                          <a:latin typeface="Arial"/>
                        </a:rPr>
                        <a:t>Blake Bullard</a:t>
                      </a:r>
                    </a:p>
                  </a:txBody>
                  <a:tcPr>
                    <a:solidFill>
                      <a:srgbClr val="FFFFFF"/>
                    </a:solidFill>
                  </a:tcPr>
                </a:tc>
                <a:tc>
                  <a:txBody>
                    <a:bodyPr/>
                    <a:lstStyle/>
                    <a:p>
                      <a:pPr algn="ctr"/>
                      <a:r>
                        <a:rPr sz="850" b="1" i="0">
                          <a:solidFill>
                            <a:srgbClr val="262626"/>
                          </a:solidFill>
                          <a:latin typeface="Arial"/>
                        </a:rPr>
                        <a:t>80%</a:t>
                      </a:r>
                    </a:p>
                  </a:txBody>
                  <a:tcPr>
                    <a:solidFill>
                      <a:srgbClr val="FFFFFF"/>
                    </a:solidFill>
                  </a:tcPr>
                </a:tc>
                <a:tc>
                  <a:txBody>
                    <a:bodyPr/>
                    <a:lstStyle/>
                    <a:p>
                      <a:pPr algn="ctr"/>
                      <a:r>
                        <a:rPr sz="850" b="1" i="0">
                          <a:solidFill>
                            <a:srgbClr val="262626"/>
                          </a:solidFill>
                          <a:latin typeface="Arial"/>
                        </a:rPr>
                        <a:t>9:51</a:t>
                      </a:r>
                    </a:p>
                  </a:txBody>
                  <a:tcPr>
                    <a:solidFill>
                      <a:srgbClr val="FFFFFF"/>
                    </a:solidFill>
                  </a:tcPr>
                </a:tc>
                <a:tc>
                  <a:txBody>
                    <a:bodyPr/>
                    <a:lstStyle/>
                    <a:p>
                      <a:pPr algn="ctr"/>
                      <a:r>
                        <a:rPr sz="850" b="0" i="0">
                          <a:solidFill>
                            <a:srgbClr val="262626"/>
                          </a:solidFill>
                          <a:latin typeface="Arial"/>
                        </a:rPr>
                        <a:t>—</a:t>
                      </a:r>
                    </a:p>
                  </a:txBody>
                  <a:tcPr>
                    <a:solidFill>
                      <a:srgbClr val="FFFFFF"/>
                    </a:solidFill>
                  </a:tcPr>
                </a:tc>
                <a:tc>
                  <a:txBody>
                    <a:bodyPr/>
                    <a:lstStyle/>
                    <a:p>
                      <a:pPr algn="ctr"/>
                      <a:r>
                        <a:rPr sz="850" b="0" i="0">
                          <a:solidFill>
                            <a:srgbClr val="BFBFBF"/>
                          </a:solidFill>
                          <a:latin typeface="Arial"/>
                        </a:rPr>
                        <a:t>10/0</a:t>
                      </a:r>
                    </a:p>
                  </a:txBody>
                  <a:tcPr>
                    <a:solidFill>
                      <a:srgbClr val="FFFFFF"/>
                    </a:solidFill>
                  </a:tcPr>
                </a:tc>
                <a:extLst>
                  <a:ext uri="{0D108BD9-81ED-4DB2-BD59-A6C34878D82A}">
                    <a16:rowId xmlns:a16="http://schemas.microsoft.com/office/drawing/2014/main" val="10005"/>
                  </a:ext>
                </a:extLst>
              </a:tr>
              <a:tr h="256032">
                <a:tc>
                  <a:txBody>
                    <a:bodyPr/>
                    <a:lstStyle/>
                    <a:p>
                      <a:pPr algn="ctr"/>
                      <a:r>
                        <a:rPr sz="850" b="1" i="0">
                          <a:solidFill>
                            <a:srgbClr val="002060"/>
                          </a:solidFill>
                          <a:latin typeface="Arial"/>
                        </a:rPr>
                        <a:t>6</a:t>
                      </a:r>
                    </a:p>
                  </a:txBody>
                  <a:tcPr>
                    <a:solidFill>
                      <a:srgbClr val="F2F2F2"/>
                    </a:solidFill>
                  </a:tcPr>
                </a:tc>
                <a:tc>
                  <a:txBody>
                    <a:bodyPr/>
                    <a:lstStyle/>
                    <a:p>
                      <a:pPr algn="l"/>
                      <a:r>
                        <a:rPr sz="850" b="0" i="0">
                          <a:solidFill>
                            <a:srgbClr val="262626"/>
                          </a:solidFill>
                          <a:latin typeface="Arial"/>
                        </a:rPr>
                        <a:t>Alberto Gonzalez Garcia</a:t>
                      </a:r>
                    </a:p>
                  </a:txBody>
                  <a:tcPr>
                    <a:solidFill>
                      <a:srgbClr val="F2F2F2"/>
                    </a:solidFill>
                  </a:tcPr>
                </a:tc>
                <a:tc>
                  <a:txBody>
                    <a:bodyPr/>
                    <a:lstStyle/>
                    <a:p>
                      <a:pPr algn="ctr"/>
                      <a:r>
                        <a:rPr sz="850" b="1" i="0">
                          <a:solidFill>
                            <a:srgbClr val="262626"/>
                          </a:solidFill>
                          <a:latin typeface="Arial"/>
                        </a:rPr>
                        <a:t>79%</a:t>
                      </a:r>
                    </a:p>
                  </a:txBody>
                  <a:tcPr>
                    <a:solidFill>
                      <a:srgbClr val="F2F2F2"/>
                    </a:solidFill>
                  </a:tcPr>
                </a:tc>
                <a:tc>
                  <a:txBody>
                    <a:bodyPr/>
                    <a:lstStyle/>
                    <a:p>
                      <a:pPr algn="ctr"/>
                      <a:r>
                        <a:rPr sz="850" b="1" i="0">
                          <a:solidFill>
                            <a:srgbClr val="262626"/>
                          </a:solidFill>
                          <a:latin typeface="Arial"/>
                        </a:rPr>
                        <a:t>9:03</a:t>
                      </a:r>
                    </a:p>
                  </a:txBody>
                  <a:tcPr>
                    <a:solidFill>
                      <a:srgbClr val="F2F2F2"/>
                    </a:solidFill>
                  </a:tcPr>
                </a:tc>
                <a:tc>
                  <a:txBody>
                    <a:bodyPr/>
                    <a:lstStyle/>
                    <a:p>
                      <a:pPr algn="ctr"/>
                      <a:r>
                        <a:rPr sz="850" b="0" i="0">
                          <a:solidFill>
                            <a:srgbClr val="262626"/>
                          </a:solidFill>
                          <a:latin typeface="Arial"/>
                        </a:rPr>
                        <a:t>18:08</a:t>
                      </a:r>
                    </a:p>
                  </a:txBody>
                  <a:tcPr>
                    <a:solidFill>
                      <a:srgbClr val="F2F2F2"/>
                    </a:solidFill>
                  </a:tcPr>
                </a:tc>
                <a:tc>
                  <a:txBody>
                    <a:bodyPr/>
                    <a:lstStyle/>
                    <a:p>
                      <a:pPr algn="ctr"/>
                      <a:r>
                        <a:rPr sz="850" b="0" i="0">
                          <a:solidFill>
                            <a:srgbClr val="BFBFBF"/>
                          </a:solidFill>
                          <a:latin typeface="Arial"/>
                        </a:rPr>
                        <a:t>16/8</a:t>
                      </a:r>
                    </a:p>
                  </a:txBody>
                  <a:tcPr>
                    <a:solidFill>
                      <a:srgbClr val="F2F2F2"/>
                    </a:solidFill>
                  </a:tcPr>
                </a:tc>
                <a:extLst>
                  <a:ext uri="{0D108BD9-81ED-4DB2-BD59-A6C34878D82A}">
                    <a16:rowId xmlns:a16="http://schemas.microsoft.com/office/drawing/2014/main" val="10006"/>
                  </a:ext>
                </a:extLst>
              </a:tr>
              <a:tr h="256032">
                <a:tc>
                  <a:txBody>
                    <a:bodyPr/>
                    <a:lstStyle/>
                    <a:p>
                      <a:pPr algn="ctr"/>
                      <a:r>
                        <a:rPr sz="850" b="1" i="0">
                          <a:solidFill>
                            <a:srgbClr val="002060"/>
                          </a:solidFill>
                          <a:latin typeface="Arial"/>
                        </a:rPr>
                        <a:t>7</a:t>
                      </a:r>
                    </a:p>
                  </a:txBody>
                  <a:tcPr>
                    <a:solidFill>
                      <a:srgbClr val="FFFFFF"/>
                    </a:solidFill>
                  </a:tcPr>
                </a:tc>
                <a:tc>
                  <a:txBody>
                    <a:bodyPr/>
                    <a:lstStyle/>
                    <a:p>
                      <a:pPr algn="l"/>
                      <a:r>
                        <a:rPr sz="850" b="0" i="0">
                          <a:solidFill>
                            <a:srgbClr val="262626"/>
                          </a:solidFill>
                          <a:latin typeface="Arial"/>
                        </a:rPr>
                        <a:t>Kenji Nener</a:t>
                      </a:r>
                    </a:p>
                  </a:txBody>
                  <a:tcPr>
                    <a:solidFill>
                      <a:srgbClr val="FFFFFF"/>
                    </a:solidFill>
                  </a:tcPr>
                </a:tc>
                <a:tc>
                  <a:txBody>
                    <a:bodyPr/>
                    <a:lstStyle/>
                    <a:p>
                      <a:pPr algn="ctr"/>
                      <a:r>
                        <a:rPr sz="850" b="1" i="0">
                          <a:solidFill>
                            <a:srgbClr val="262626"/>
                          </a:solidFill>
                          <a:latin typeface="Arial"/>
                        </a:rPr>
                        <a:t>74%</a:t>
                      </a:r>
                    </a:p>
                  </a:txBody>
                  <a:tcPr>
                    <a:solidFill>
                      <a:srgbClr val="FFFFFF"/>
                    </a:solidFill>
                  </a:tcPr>
                </a:tc>
                <a:tc>
                  <a:txBody>
                    <a:bodyPr/>
                    <a:lstStyle/>
                    <a:p>
                      <a:pPr algn="ctr"/>
                      <a:r>
                        <a:rPr sz="850" b="1" i="0">
                          <a:solidFill>
                            <a:srgbClr val="262626"/>
                          </a:solidFill>
                          <a:latin typeface="Arial"/>
                        </a:rPr>
                        <a:t>8:53</a:t>
                      </a:r>
                    </a:p>
                  </a:txBody>
                  <a:tcPr>
                    <a:solidFill>
                      <a:srgbClr val="FFFFFF"/>
                    </a:solidFill>
                  </a:tcPr>
                </a:tc>
                <a:tc>
                  <a:txBody>
                    <a:bodyPr/>
                    <a:lstStyle/>
                    <a:p>
                      <a:pPr algn="ctr"/>
                      <a:r>
                        <a:rPr sz="850" b="0" i="0">
                          <a:solidFill>
                            <a:srgbClr val="262626"/>
                          </a:solidFill>
                          <a:latin typeface="Arial"/>
                        </a:rPr>
                        <a:t>18:15</a:t>
                      </a:r>
                    </a:p>
                  </a:txBody>
                  <a:tcPr>
                    <a:solidFill>
                      <a:srgbClr val="FFFFFF"/>
                    </a:solidFill>
                  </a:tcPr>
                </a:tc>
                <a:tc>
                  <a:txBody>
                    <a:bodyPr/>
                    <a:lstStyle/>
                    <a:p>
                      <a:pPr algn="ctr"/>
                      <a:r>
                        <a:rPr sz="850" b="0" i="0">
                          <a:solidFill>
                            <a:srgbClr val="BFBFBF"/>
                          </a:solidFill>
                          <a:latin typeface="Arial"/>
                        </a:rPr>
                        <a:t>10/13</a:t>
                      </a:r>
                    </a:p>
                  </a:txBody>
                  <a:tcPr>
                    <a:solidFill>
                      <a:srgbClr val="FFFFFF"/>
                    </a:solidFill>
                  </a:tcPr>
                </a:tc>
                <a:extLst>
                  <a:ext uri="{0D108BD9-81ED-4DB2-BD59-A6C34878D82A}">
                    <a16:rowId xmlns:a16="http://schemas.microsoft.com/office/drawing/2014/main" val="10007"/>
                  </a:ext>
                </a:extLst>
              </a:tr>
              <a:tr h="256032">
                <a:tc>
                  <a:txBody>
                    <a:bodyPr/>
                    <a:lstStyle/>
                    <a:p>
                      <a:pPr algn="ctr"/>
                      <a:r>
                        <a:rPr sz="850" b="1" i="0">
                          <a:solidFill>
                            <a:srgbClr val="002060"/>
                          </a:solidFill>
                          <a:latin typeface="Arial"/>
                        </a:rPr>
                        <a:t>8</a:t>
                      </a:r>
                    </a:p>
                  </a:txBody>
                  <a:tcPr>
                    <a:solidFill>
                      <a:srgbClr val="F2F2F2"/>
                    </a:solidFill>
                  </a:tcPr>
                </a:tc>
                <a:tc>
                  <a:txBody>
                    <a:bodyPr/>
                    <a:lstStyle/>
                    <a:p>
                      <a:pPr algn="l"/>
                      <a:r>
                        <a:rPr sz="850" b="0" i="0">
                          <a:solidFill>
                            <a:srgbClr val="262626"/>
                          </a:solidFill>
                          <a:latin typeface="Arial"/>
                        </a:rPr>
                        <a:t>João Nuno Batista</a:t>
                      </a:r>
                    </a:p>
                  </a:txBody>
                  <a:tcPr>
                    <a:solidFill>
                      <a:srgbClr val="F2F2F2"/>
                    </a:solidFill>
                  </a:tcPr>
                </a:tc>
                <a:tc>
                  <a:txBody>
                    <a:bodyPr/>
                    <a:lstStyle/>
                    <a:p>
                      <a:pPr algn="ctr"/>
                      <a:r>
                        <a:rPr sz="850" b="1" i="0">
                          <a:solidFill>
                            <a:srgbClr val="262626"/>
                          </a:solidFill>
                          <a:latin typeface="Arial"/>
                        </a:rPr>
                        <a:t>70%</a:t>
                      </a:r>
                    </a:p>
                  </a:txBody>
                  <a:tcPr>
                    <a:solidFill>
                      <a:srgbClr val="F2F2F2"/>
                    </a:solidFill>
                  </a:tcPr>
                </a:tc>
                <a:tc>
                  <a:txBody>
                    <a:bodyPr/>
                    <a:lstStyle/>
                    <a:p>
                      <a:pPr algn="ctr"/>
                      <a:r>
                        <a:rPr sz="850" b="1" i="0">
                          <a:solidFill>
                            <a:srgbClr val="262626"/>
                          </a:solidFill>
                          <a:latin typeface="Arial"/>
                        </a:rPr>
                        <a:t>8:53</a:t>
                      </a:r>
                    </a:p>
                  </a:txBody>
                  <a:tcPr>
                    <a:solidFill>
                      <a:srgbClr val="F2F2F2"/>
                    </a:solidFill>
                  </a:tcPr>
                </a:tc>
                <a:tc>
                  <a:txBody>
                    <a:bodyPr/>
                    <a:lstStyle/>
                    <a:p>
                      <a:pPr algn="ctr"/>
                      <a:r>
                        <a:rPr sz="850" b="0" i="0">
                          <a:solidFill>
                            <a:srgbClr val="262626"/>
                          </a:solidFill>
                          <a:latin typeface="Arial"/>
                        </a:rPr>
                        <a:t>18:05</a:t>
                      </a:r>
                    </a:p>
                  </a:txBody>
                  <a:tcPr>
                    <a:solidFill>
                      <a:srgbClr val="F2F2F2"/>
                    </a:solidFill>
                  </a:tcPr>
                </a:tc>
                <a:tc>
                  <a:txBody>
                    <a:bodyPr/>
                    <a:lstStyle/>
                    <a:p>
                      <a:pPr algn="ctr"/>
                      <a:r>
                        <a:rPr sz="850" b="0" i="0">
                          <a:solidFill>
                            <a:srgbClr val="BFBFBF"/>
                          </a:solidFill>
                          <a:latin typeface="Arial"/>
                        </a:rPr>
                        <a:t>6/4</a:t>
                      </a:r>
                    </a:p>
                  </a:txBody>
                  <a:tcPr>
                    <a:solidFill>
                      <a:srgbClr val="F2F2F2"/>
                    </a:solidFill>
                  </a:tcPr>
                </a:tc>
                <a:extLst>
                  <a:ext uri="{0D108BD9-81ED-4DB2-BD59-A6C34878D82A}">
                    <a16:rowId xmlns:a16="http://schemas.microsoft.com/office/drawing/2014/main" val="10008"/>
                  </a:ext>
                </a:extLst>
              </a:tr>
              <a:tr h="256032">
                <a:tc>
                  <a:txBody>
                    <a:bodyPr/>
                    <a:lstStyle/>
                    <a:p>
                      <a:pPr algn="ctr"/>
                      <a:r>
                        <a:rPr sz="850" b="1" i="0">
                          <a:solidFill>
                            <a:srgbClr val="002060"/>
                          </a:solidFill>
                          <a:latin typeface="Arial"/>
                        </a:rPr>
                        <a:t>9</a:t>
                      </a:r>
                    </a:p>
                  </a:txBody>
                  <a:tcPr>
                    <a:solidFill>
                      <a:srgbClr val="FFFFFF"/>
                    </a:solidFill>
                  </a:tcPr>
                </a:tc>
                <a:tc>
                  <a:txBody>
                    <a:bodyPr/>
                    <a:lstStyle/>
                    <a:p>
                      <a:pPr algn="l"/>
                      <a:r>
                        <a:rPr sz="850" b="0" i="0">
                          <a:solidFill>
                            <a:srgbClr val="262626"/>
                          </a:solidFill>
                          <a:latin typeface="Arial"/>
                        </a:rPr>
                        <a:t>Takumi Hojo</a:t>
                      </a:r>
                    </a:p>
                  </a:txBody>
                  <a:tcPr>
                    <a:solidFill>
                      <a:srgbClr val="FFFFFF"/>
                    </a:solidFill>
                  </a:tcPr>
                </a:tc>
                <a:tc>
                  <a:txBody>
                    <a:bodyPr/>
                    <a:lstStyle/>
                    <a:p>
                      <a:pPr algn="ctr"/>
                      <a:r>
                        <a:rPr sz="850" b="1" i="0">
                          <a:solidFill>
                            <a:srgbClr val="262626"/>
                          </a:solidFill>
                          <a:latin typeface="Arial"/>
                        </a:rPr>
                        <a:t>65%</a:t>
                      </a:r>
                    </a:p>
                  </a:txBody>
                  <a:tcPr>
                    <a:solidFill>
                      <a:srgbClr val="FFFFFF"/>
                    </a:solidFill>
                  </a:tcPr>
                </a:tc>
                <a:tc>
                  <a:txBody>
                    <a:bodyPr/>
                    <a:lstStyle/>
                    <a:p>
                      <a:pPr algn="ctr"/>
                      <a:r>
                        <a:rPr sz="850" b="1" i="0">
                          <a:solidFill>
                            <a:srgbClr val="262626"/>
                          </a:solidFill>
                          <a:latin typeface="Arial"/>
                        </a:rPr>
                        <a:t>8:57</a:t>
                      </a:r>
                    </a:p>
                  </a:txBody>
                  <a:tcPr>
                    <a:solidFill>
                      <a:srgbClr val="FFFFFF"/>
                    </a:solidFill>
                  </a:tcPr>
                </a:tc>
                <a:tc>
                  <a:txBody>
                    <a:bodyPr/>
                    <a:lstStyle/>
                    <a:p>
                      <a:pPr algn="ctr"/>
                      <a:r>
                        <a:rPr sz="850" b="0" i="0">
                          <a:solidFill>
                            <a:srgbClr val="262626"/>
                          </a:solidFill>
                          <a:latin typeface="Arial"/>
                        </a:rPr>
                        <a:t>18:21</a:t>
                      </a:r>
                    </a:p>
                  </a:txBody>
                  <a:tcPr>
                    <a:solidFill>
                      <a:srgbClr val="FFFFFF"/>
                    </a:solidFill>
                  </a:tcPr>
                </a:tc>
                <a:tc>
                  <a:txBody>
                    <a:bodyPr/>
                    <a:lstStyle/>
                    <a:p>
                      <a:pPr algn="ctr"/>
                      <a:r>
                        <a:rPr sz="850" b="0" i="0">
                          <a:solidFill>
                            <a:srgbClr val="BFBFBF"/>
                          </a:solidFill>
                          <a:latin typeface="Arial"/>
                        </a:rPr>
                        <a:t>17/14</a:t>
                      </a:r>
                    </a:p>
                  </a:txBody>
                  <a:tcPr>
                    <a:solidFill>
                      <a:srgbClr val="FFFFFF"/>
                    </a:solidFill>
                  </a:tcPr>
                </a:tc>
                <a:extLst>
                  <a:ext uri="{0D108BD9-81ED-4DB2-BD59-A6C34878D82A}">
                    <a16:rowId xmlns:a16="http://schemas.microsoft.com/office/drawing/2014/main" val="10009"/>
                  </a:ext>
                </a:extLst>
              </a:tr>
              <a:tr h="256032">
                <a:tc>
                  <a:txBody>
                    <a:bodyPr/>
                    <a:lstStyle/>
                    <a:p>
                      <a:pPr algn="ctr"/>
                      <a:r>
                        <a:rPr sz="850" b="1" i="0">
                          <a:solidFill>
                            <a:srgbClr val="002060"/>
                          </a:solidFill>
                          <a:latin typeface="Arial"/>
                        </a:rPr>
                        <a:t>10</a:t>
                      </a:r>
                    </a:p>
                  </a:txBody>
                  <a:tcPr>
                    <a:solidFill>
                      <a:srgbClr val="F2F2F2"/>
                    </a:solidFill>
                  </a:tcPr>
                </a:tc>
                <a:tc>
                  <a:txBody>
                    <a:bodyPr/>
                    <a:lstStyle/>
                    <a:p>
                      <a:pPr algn="l"/>
                      <a:r>
                        <a:rPr sz="850" b="0" i="0">
                          <a:solidFill>
                            <a:srgbClr val="262626"/>
                          </a:solidFill>
                          <a:latin typeface="Arial"/>
                        </a:rPr>
                        <a:t>Martin Demuth</a:t>
                      </a:r>
                    </a:p>
                  </a:txBody>
                  <a:tcPr>
                    <a:solidFill>
                      <a:srgbClr val="F2F2F2"/>
                    </a:solidFill>
                  </a:tcPr>
                </a:tc>
                <a:tc>
                  <a:txBody>
                    <a:bodyPr/>
                    <a:lstStyle/>
                    <a:p>
                      <a:pPr algn="ctr"/>
                      <a:r>
                        <a:rPr sz="850" b="1" i="0">
                          <a:solidFill>
                            <a:srgbClr val="262626"/>
                          </a:solidFill>
                          <a:latin typeface="Arial"/>
                        </a:rPr>
                        <a:t>64%</a:t>
                      </a:r>
                    </a:p>
                  </a:txBody>
                  <a:tcPr>
                    <a:solidFill>
                      <a:srgbClr val="F2F2F2"/>
                    </a:solidFill>
                  </a:tcPr>
                </a:tc>
                <a:tc>
                  <a:txBody>
                    <a:bodyPr/>
                    <a:lstStyle/>
                    <a:p>
                      <a:pPr algn="ctr"/>
                      <a:r>
                        <a:rPr sz="850" b="1" i="0">
                          <a:solidFill>
                            <a:srgbClr val="262626"/>
                          </a:solidFill>
                          <a:latin typeface="Arial"/>
                        </a:rPr>
                        <a:t>9:07</a:t>
                      </a:r>
                    </a:p>
                  </a:txBody>
                  <a:tcPr>
                    <a:solidFill>
                      <a:srgbClr val="F2F2F2"/>
                    </a:solidFill>
                  </a:tcPr>
                </a:tc>
                <a:tc>
                  <a:txBody>
                    <a:bodyPr/>
                    <a:lstStyle/>
                    <a:p>
                      <a:pPr algn="ctr"/>
                      <a:r>
                        <a:rPr sz="850" b="0" i="0">
                          <a:solidFill>
                            <a:srgbClr val="262626"/>
                          </a:solidFill>
                          <a:latin typeface="Arial"/>
                        </a:rPr>
                        <a:t>17:15</a:t>
                      </a:r>
                    </a:p>
                  </a:txBody>
                  <a:tcPr>
                    <a:solidFill>
                      <a:srgbClr val="F2F2F2"/>
                    </a:solidFill>
                  </a:tcPr>
                </a:tc>
                <a:tc>
                  <a:txBody>
                    <a:bodyPr/>
                    <a:lstStyle/>
                    <a:p>
                      <a:pPr algn="ctr"/>
                      <a:r>
                        <a:rPr sz="850" b="0" i="0">
                          <a:solidFill>
                            <a:srgbClr val="BFBFBF"/>
                          </a:solidFill>
                          <a:latin typeface="Arial"/>
                        </a:rPr>
                        <a:t>16/12</a:t>
                      </a:r>
                    </a:p>
                  </a:txBody>
                  <a:tcPr>
                    <a:solidFill>
                      <a:srgbClr val="F2F2F2"/>
                    </a:solidFill>
                  </a:tcPr>
                </a:tc>
                <a:extLst>
                  <a:ext uri="{0D108BD9-81ED-4DB2-BD59-A6C34878D82A}">
                    <a16:rowId xmlns:a16="http://schemas.microsoft.com/office/drawing/2014/main" val="10010"/>
                  </a:ext>
                </a:extLst>
              </a:tr>
              <a:tr h="256032">
                <a:tc>
                  <a:txBody>
                    <a:bodyPr/>
                    <a:lstStyle/>
                    <a:p>
                      <a:pPr algn="ctr"/>
                      <a:r>
                        <a:rPr sz="850" b="1" i="0">
                          <a:solidFill>
                            <a:srgbClr val="002060"/>
                          </a:solidFill>
                          <a:latin typeface="Arial"/>
                        </a:rPr>
                        <a:t>11</a:t>
                      </a:r>
                    </a:p>
                  </a:txBody>
                  <a:tcPr>
                    <a:solidFill>
                      <a:srgbClr val="FFFFFF"/>
                    </a:solidFill>
                  </a:tcPr>
                </a:tc>
                <a:tc>
                  <a:txBody>
                    <a:bodyPr/>
                    <a:lstStyle/>
                    <a:p>
                      <a:pPr algn="l"/>
                      <a:r>
                        <a:rPr sz="850" b="0" i="0">
                          <a:solidFill>
                            <a:srgbClr val="262626"/>
                          </a:solidFill>
                          <a:latin typeface="Arial"/>
                        </a:rPr>
                        <a:t>Maciej Bruzdziak</a:t>
                      </a:r>
                    </a:p>
                  </a:txBody>
                  <a:tcPr>
                    <a:solidFill>
                      <a:srgbClr val="FFFFFF"/>
                    </a:solidFill>
                  </a:tcPr>
                </a:tc>
                <a:tc>
                  <a:txBody>
                    <a:bodyPr/>
                    <a:lstStyle/>
                    <a:p>
                      <a:pPr algn="ctr"/>
                      <a:r>
                        <a:rPr sz="850" b="1" i="0">
                          <a:solidFill>
                            <a:srgbClr val="262626"/>
                          </a:solidFill>
                          <a:latin typeface="Arial"/>
                        </a:rPr>
                        <a:t>64%</a:t>
                      </a:r>
                    </a:p>
                  </a:txBody>
                  <a:tcPr>
                    <a:solidFill>
                      <a:srgbClr val="FFFFFF"/>
                    </a:solidFill>
                  </a:tcPr>
                </a:tc>
                <a:tc>
                  <a:txBody>
                    <a:bodyPr/>
                    <a:lstStyle/>
                    <a:p>
                      <a:pPr algn="ctr"/>
                      <a:r>
                        <a:rPr sz="850" b="1" i="0">
                          <a:solidFill>
                            <a:srgbClr val="262626"/>
                          </a:solidFill>
                          <a:latin typeface="Arial"/>
                        </a:rPr>
                        <a:t>8:55</a:t>
                      </a:r>
                    </a:p>
                  </a:txBody>
                  <a:tcPr>
                    <a:solidFill>
                      <a:srgbClr val="FFFFFF"/>
                    </a:solidFill>
                  </a:tcPr>
                </a:tc>
                <a:tc>
                  <a:txBody>
                    <a:bodyPr/>
                    <a:lstStyle/>
                    <a:p>
                      <a:pPr algn="ctr"/>
                      <a:r>
                        <a:rPr sz="850" b="0" i="0">
                          <a:solidFill>
                            <a:srgbClr val="262626"/>
                          </a:solidFill>
                          <a:latin typeface="Arial"/>
                        </a:rPr>
                        <a:t>18:00</a:t>
                      </a:r>
                    </a:p>
                  </a:txBody>
                  <a:tcPr>
                    <a:solidFill>
                      <a:srgbClr val="FFFFFF"/>
                    </a:solidFill>
                  </a:tcPr>
                </a:tc>
                <a:tc>
                  <a:txBody>
                    <a:bodyPr/>
                    <a:lstStyle/>
                    <a:p>
                      <a:pPr algn="ctr"/>
                      <a:r>
                        <a:rPr sz="850" b="0" i="0">
                          <a:solidFill>
                            <a:srgbClr val="BFBFBF"/>
                          </a:solidFill>
                          <a:latin typeface="Arial"/>
                        </a:rPr>
                        <a:t>7/15</a:t>
                      </a:r>
                    </a:p>
                  </a:txBody>
                  <a:tcPr>
                    <a:solidFill>
                      <a:srgbClr val="FFFFFF"/>
                    </a:solidFill>
                  </a:tcPr>
                </a:tc>
                <a:extLst>
                  <a:ext uri="{0D108BD9-81ED-4DB2-BD59-A6C34878D82A}">
                    <a16:rowId xmlns:a16="http://schemas.microsoft.com/office/drawing/2014/main" val="10011"/>
                  </a:ext>
                </a:extLst>
              </a:tr>
              <a:tr h="256032">
                <a:tc>
                  <a:txBody>
                    <a:bodyPr/>
                    <a:lstStyle/>
                    <a:p>
                      <a:pPr algn="ctr"/>
                      <a:r>
                        <a:rPr sz="850" b="1" i="0">
                          <a:solidFill>
                            <a:srgbClr val="002060"/>
                          </a:solidFill>
                          <a:latin typeface="Arial"/>
                        </a:rPr>
                        <a:t>12</a:t>
                      </a:r>
                    </a:p>
                  </a:txBody>
                  <a:tcPr>
                    <a:solidFill>
                      <a:srgbClr val="F2F2F2"/>
                    </a:solidFill>
                  </a:tcPr>
                </a:tc>
                <a:tc>
                  <a:txBody>
                    <a:bodyPr/>
                    <a:lstStyle/>
                    <a:p>
                      <a:pPr algn="l"/>
                      <a:r>
                        <a:rPr sz="850" b="0" i="0">
                          <a:solidFill>
                            <a:srgbClr val="262626"/>
                          </a:solidFill>
                          <a:latin typeface="Arial"/>
                        </a:rPr>
                        <a:t>Gergely Kiss</a:t>
                      </a:r>
                    </a:p>
                  </a:txBody>
                  <a:tcPr>
                    <a:solidFill>
                      <a:srgbClr val="F2F2F2"/>
                    </a:solidFill>
                  </a:tcPr>
                </a:tc>
                <a:tc>
                  <a:txBody>
                    <a:bodyPr/>
                    <a:lstStyle/>
                    <a:p>
                      <a:pPr algn="ctr"/>
                      <a:r>
                        <a:rPr sz="850" b="1" i="0">
                          <a:solidFill>
                            <a:srgbClr val="262626"/>
                          </a:solidFill>
                          <a:latin typeface="Arial"/>
                        </a:rPr>
                        <a:t>62%</a:t>
                      </a:r>
                    </a:p>
                  </a:txBody>
                  <a:tcPr>
                    <a:solidFill>
                      <a:srgbClr val="F2F2F2"/>
                    </a:solidFill>
                  </a:tcPr>
                </a:tc>
                <a:tc>
                  <a:txBody>
                    <a:bodyPr/>
                    <a:lstStyle/>
                    <a:p>
                      <a:pPr algn="ctr"/>
                      <a:r>
                        <a:rPr sz="850" b="1" i="0">
                          <a:solidFill>
                            <a:srgbClr val="262626"/>
                          </a:solidFill>
                          <a:latin typeface="Arial"/>
                        </a:rPr>
                        <a:t>8:53</a:t>
                      </a:r>
                    </a:p>
                  </a:txBody>
                  <a:tcPr>
                    <a:solidFill>
                      <a:srgbClr val="F2F2F2"/>
                    </a:solidFill>
                  </a:tcPr>
                </a:tc>
                <a:tc>
                  <a:txBody>
                    <a:bodyPr/>
                    <a:lstStyle/>
                    <a:p>
                      <a:pPr algn="ctr"/>
                      <a:r>
                        <a:rPr sz="850" b="0" i="0">
                          <a:solidFill>
                            <a:srgbClr val="262626"/>
                          </a:solidFill>
                          <a:latin typeface="Arial"/>
                        </a:rPr>
                        <a:t>17:57</a:t>
                      </a:r>
                    </a:p>
                  </a:txBody>
                  <a:tcPr>
                    <a:solidFill>
                      <a:srgbClr val="F2F2F2"/>
                    </a:solidFill>
                  </a:tcPr>
                </a:tc>
                <a:tc>
                  <a:txBody>
                    <a:bodyPr/>
                    <a:lstStyle/>
                    <a:p>
                      <a:pPr algn="ctr"/>
                      <a:r>
                        <a:rPr sz="850" b="0" i="0">
                          <a:solidFill>
                            <a:srgbClr val="BFBFBF"/>
                          </a:solidFill>
                          <a:latin typeface="Arial"/>
                        </a:rPr>
                        <a:t>10/6</a:t>
                      </a:r>
                    </a:p>
                  </a:txBody>
                  <a:tcPr>
                    <a:solidFill>
                      <a:srgbClr val="F2F2F2"/>
                    </a:solidFill>
                  </a:tcPr>
                </a:tc>
                <a:extLst>
                  <a:ext uri="{0D108BD9-81ED-4DB2-BD59-A6C34878D82A}">
                    <a16:rowId xmlns:a16="http://schemas.microsoft.com/office/drawing/2014/main" val="10012"/>
                  </a:ext>
                </a:extLst>
              </a:tr>
              <a:tr h="256032">
                <a:tc>
                  <a:txBody>
                    <a:bodyPr/>
                    <a:lstStyle/>
                    <a:p>
                      <a:pPr algn="ctr"/>
                      <a:r>
                        <a:rPr sz="850" b="1" i="0">
                          <a:solidFill>
                            <a:srgbClr val="002060"/>
                          </a:solidFill>
                          <a:latin typeface="Arial"/>
                        </a:rPr>
                        <a:t>13</a:t>
                      </a:r>
                    </a:p>
                  </a:txBody>
                  <a:tcPr>
                    <a:solidFill>
                      <a:srgbClr val="FFFFFF"/>
                    </a:solidFill>
                  </a:tcPr>
                </a:tc>
                <a:tc>
                  <a:txBody>
                    <a:bodyPr/>
                    <a:lstStyle/>
                    <a:p>
                      <a:pPr algn="l"/>
                      <a:r>
                        <a:rPr sz="850" b="0" i="0">
                          <a:solidFill>
                            <a:srgbClr val="262626"/>
                          </a:solidFill>
                          <a:latin typeface="Arial"/>
                        </a:rPr>
                        <a:t>Nicola Azzano</a:t>
                      </a:r>
                    </a:p>
                  </a:txBody>
                  <a:tcPr>
                    <a:solidFill>
                      <a:srgbClr val="FFFFFF"/>
                    </a:solidFill>
                  </a:tcPr>
                </a:tc>
                <a:tc>
                  <a:txBody>
                    <a:bodyPr/>
                    <a:lstStyle/>
                    <a:p>
                      <a:pPr algn="ctr"/>
                      <a:r>
                        <a:rPr sz="850" b="1" i="0">
                          <a:solidFill>
                            <a:srgbClr val="262626"/>
                          </a:solidFill>
                          <a:latin typeface="Arial"/>
                        </a:rPr>
                        <a:t>62%</a:t>
                      </a:r>
                    </a:p>
                  </a:txBody>
                  <a:tcPr>
                    <a:solidFill>
                      <a:srgbClr val="FFFFFF"/>
                    </a:solidFill>
                  </a:tcPr>
                </a:tc>
                <a:tc>
                  <a:txBody>
                    <a:bodyPr/>
                    <a:lstStyle/>
                    <a:p>
                      <a:pPr algn="ctr"/>
                      <a:r>
                        <a:rPr sz="850" b="1" i="0">
                          <a:solidFill>
                            <a:srgbClr val="262626"/>
                          </a:solidFill>
                          <a:latin typeface="Arial"/>
                        </a:rPr>
                        <a:t>8:57</a:t>
                      </a:r>
                    </a:p>
                  </a:txBody>
                  <a:tcPr>
                    <a:solidFill>
                      <a:srgbClr val="FFFFFF"/>
                    </a:solidFill>
                  </a:tcPr>
                </a:tc>
                <a:tc>
                  <a:txBody>
                    <a:bodyPr/>
                    <a:lstStyle/>
                    <a:p>
                      <a:pPr algn="ctr"/>
                      <a:r>
                        <a:rPr sz="850" b="0" i="0">
                          <a:solidFill>
                            <a:srgbClr val="262626"/>
                          </a:solidFill>
                          <a:latin typeface="Arial"/>
                        </a:rPr>
                        <a:t>18:01</a:t>
                      </a:r>
                    </a:p>
                  </a:txBody>
                  <a:tcPr>
                    <a:solidFill>
                      <a:srgbClr val="FFFFFF"/>
                    </a:solidFill>
                  </a:tcPr>
                </a:tc>
                <a:tc>
                  <a:txBody>
                    <a:bodyPr/>
                    <a:lstStyle/>
                    <a:p>
                      <a:pPr algn="ctr"/>
                      <a:r>
                        <a:rPr sz="850" b="0" i="0">
                          <a:solidFill>
                            <a:srgbClr val="BFBFBF"/>
                          </a:solidFill>
                          <a:latin typeface="Arial"/>
                        </a:rPr>
                        <a:t>21/13</a:t>
                      </a:r>
                    </a:p>
                  </a:txBody>
                  <a:tcPr>
                    <a:solidFill>
                      <a:srgbClr val="FFFFFF"/>
                    </a:solidFill>
                  </a:tcPr>
                </a:tc>
                <a:extLst>
                  <a:ext uri="{0D108BD9-81ED-4DB2-BD59-A6C34878D82A}">
                    <a16:rowId xmlns:a16="http://schemas.microsoft.com/office/drawing/2014/main" val="10013"/>
                  </a:ext>
                </a:extLst>
              </a:tr>
              <a:tr h="256032">
                <a:tc>
                  <a:txBody>
                    <a:bodyPr/>
                    <a:lstStyle/>
                    <a:p>
                      <a:pPr algn="ctr"/>
                      <a:r>
                        <a:rPr sz="850" b="1" i="0">
                          <a:solidFill>
                            <a:srgbClr val="002060"/>
                          </a:solidFill>
                          <a:latin typeface="Arial"/>
                        </a:rPr>
                        <a:t>14</a:t>
                      </a:r>
                    </a:p>
                  </a:txBody>
                  <a:tcPr>
                    <a:solidFill>
                      <a:srgbClr val="F2F2F2"/>
                    </a:solidFill>
                  </a:tcPr>
                </a:tc>
                <a:tc>
                  <a:txBody>
                    <a:bodyPr/>
                    <a:lstStyle/>
                    <a:p>
                      <a:pPr algn="l"/>
                      <a:r>
                        <a:rPr sz="850" b="1" i="0">
                          <a:solidFill>
                            <a:srgbClr val="C00000"/>
                          </a:solidFill>
                          <a:latin typeface="Arial"/>
                        </a:rPr>
                        <a:t>Darr Smith</a:t>
                      </a:r>
                    </a:p>
                  </a:txBody>
                  <a:tcPr>
                    <a:solidFill>
                      <a:srgbClr val="F2F2F2"/>
                    </a:solidFill>
                  </a:tcPr>
                </a:tc>
                <a:tc>
                  <a:txBody>
                    <a:bodyPr/>
                    <a:lstStyle/>
                    <a:p>
                      <a:pPr algn="ctr"/>
                      <a:r>
                        <a:rPr sz="850" b="1" i="0">
                          <a:solidFill>
                            <a:srgbClr val="262626"/>
                          </a:solidFill>
                          <a:latin typeface="Arial"/>
                        </a:rPr>
                        <a:t>58%</a:t>
                      </a:r>
                    </a:p>
                  </a:txBody>
                  <a:tcPr>
                    <a:solidFill>
                      <a:srgbClr val="F2F2F2"/>
                    </a:solidFill>
                  </a:tcPr>
                </a:tc>
                <a:tc>
                  <a:txBody>
                    <a:bodyPr/>
                    <a:lstStyle/>
                    <a:p>
                      <a:pPr algn="ctr"/>
                      <a:r>
                        <a:rPr sz="850" b="1" i="0">
                          <a:solidFill>
                            <a:srgbClr val="262626"/>
                          </a:solidFill>
                          <a:latin typeface="Arial"/>
                        </a:rPr>
                        <a:t>9:05</a:t>
                      </a:r>
                    </a:p>
                  </a:txBody>
                  <a:tcPr>
                    <a:solidFill>
                      <a:srgbClr val="F2F2F2"/>
                    </a:solidFill>
                  </a:tcPr>
                </a:tc>
                <a:tc>
                  <a:txBody>
                    <a:bodyPr/>
                    <a:lstStyle/>
                    <a:p>
                      <a:pPr algn="ctr"/>
                      <a:r>
                        <a:rPr sz="850" b="0" i="0">
                          <a:solidFill>
                            <a:srgbClr val="262626"/>
                          </a:solidFill>
                          <a:latin typeface="Arial"/>
                        </a:rPr>
                        <a:t>18:07</a:t>
                      </a:r>
                    </a:p>
                  </a:txBody>
                  <a:tcPr>
                    <a:solidFill>
                      <a:srgbClr val="F2F2F2"/>
                    </a:solidFill>
                  </a:tcPr>
                </a:tc>
                <a:tc>
                  <a:txBody>
                    <a:bodyPr/>
                    <a:lstStyle/>
                    <a:p>
                      <a:pPr algn="ctr"/>
                      <a:r>
                        <a:rPr sz="850" b="0" i="0">
                          <a:solidFill>
                            <a:srgbClr val="BFBFBF"/>
                          </a:solidFill>
                          <a:latin typeface="Arial"/>
                        </a:rPr>
                        <a:t>17/14</a:t>
                      </a:r>
                    </a:p>
                  </a:txBody>
                  <a:tcPr>
                    <a:solidFill>
                      <a:srgbClr val="F2F2F2"/>
                    </a:solidFill>
                  </a:tcPr>
                </a:tc>
                <a:extLst>
                  <a:ext uri="{0D108BD9-81ED-4DB2-BD59-A6C34878D82A}">
                    <a16:rowId xmlns:a16="http://schemas.microsoft.com/office/drawing/2014/main" val="10014"/>
                  </a:ext>
                </a:extLst>
              </a:tr>
            </a:tbl>
          </a:graphicData>
        </a:graphic>
      </p:graphicFrame>
      <p:sp>
        <p:nvSpPr>
          <p:cNvPr id="13" name="Rectangle 12"/>
          <p:cNvSpPr/>
          <p:nvPr/>
        </p:nvSpPr>
        <p:spPr>
          <a:xfrm>
            <a:off x="6126480" y="150876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536192"/>
            <a:ext cx="5806440" cy="219456"/>
          </a:xfrm>
          <a:prstGeom prst="rect">
            <a:avLst/>
          </a:prstGeom>
          <a:noFill/>
        </p:spPr>
        <p:txBody>
          <a:bodyPr wrap="square">
            <a:spAutoFit/>
          </a:bodyPr>
          <a:lstStyle/>
          <a:p>
            <a:pPr algn="ctr"/>
            <a:r>
              <a:rPr sz="1100" b="1" i="0">
                <a:solidFill>
                  <a:srgbClr val="FFFFFF"/>
                </a:solidFill>
                <a:latin typeface="Arial"/>
              </a:rPr>
              <a:t>ELITE WOMEN</a:t>
            </a:r>
          </a:p>
        </p:txBody>
      </p:sp>
      <p:graphicFrame>
        <p:nvGraphicFramePr>
          <p:cNvPr id="15" name="Table 14"/>
          <p:cNvGraphicFramePr>
            <a:graphicFrameLocks noGrp="1"/>
          </p:cNvGraphicFramePr>
          <p:nvPr/>
        </p:nvGraphicFramePr>
        <p:xfrm>
          <a:off x="6126480" y="1828800"/>
          <a:ext cx="5806439" cy="3840480"/>
        </p:xfrm>
        <a:graphic>
          <a:graphicData uri="http://schemas.openxmlformats.org/drawingml/2006/table">
            <a:tbl>
              <a:tblPr firstRow="1" bandRow="1">
                <a:tableStyleId>{5C22544A-7EE6-4342-B048-85BDC9FD1C3A}</a:tableStyleId>
              </a:tblPr>
              <a:tblGrid>
                <a:gridCol w="341985">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50976">
                  <a:extLst>
                    <a:ext uri="{9D8B030D-6E8A-4147-A177-3AD203B41FA5}">
                      <a16:colId xmlns:a16="http://schemas.microsoft.com/office/drawing/2014/main" val="20003"/>
                    </a:ext>
                  </a:extLst>
                </a:gridCol>
                <a:gridCol w="950976">
                  <a:extLst>
                    <a:ext uri="{9D8B030D-6E8A-4147-A177-3AD203B41FA5}">
                      <a16:colId xmlns:a16="http://schemas.microsoft.com/office/drawing/2014/main" val="20004"/>
                    </a:ext>
                  </a:extLst>
                </a:gridCol>
                <a:gridCol w="956462">
                  <a:extLst>
                    <a:ext uri="{9D8B030D-6E8A-4147-A177-3AD203B41FA5}">
                      <a16:colId xmlns:a16="http://schemas.microsoft.com/office/drawing/2014/main" val="20005"/>
                    </a:ext>
                  </a:extLst>
                </a:gridCol>
              </a:tblGrid>
              <a:tr h="256032">
                <a:tc>
                  <a:txBody>
                    <a:bodyPr/>
                    <a:lstStyle/>
                    <a:p>
                      <a:pPr algn="ctr"/>
                      <a:r>
                        <a:rPr sz="850" b="1" i="0">
                          <a:solidFill>
                            <a:srgbClr val="FFFFFF"/>
                          </a:solidFill>
                          <a:latin typeface="Arial"/>
                        </a:rPr>
                        <a:t>#</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Lead %</a:t>
                      </a:r>
                    </a:p>
                  </a:txBody>
                  <a:tcPr>
                    <a:solidFill>
                      <a:srgbClr val="002060"/>
                    </a:solidFill>
                  </a:tcPr>
                </a:tc>
                <a:tc>
                  <a:txBody>
                    <a:bodyPr/>
                    <a:lstStyle/>
                    <a:p>
                      <a:pPr algn="ctr"/>
                      <a:r>
                        <a:rPr sz="850" b="1" i="0">
                          <a:solidFill>
                            <a:srgbClr val="FFFFFF"/>
                          </a:solidFill>
                          <a:latin typeface="Arial"/>
                        </a:rPr>
                        <a:t>EWMA Spr ▸</a:t>
                      </a:r>
                    </a:p>
                  </a:txBody>
                  <a:tcPr>
                    <a:solidFill>
                      <a:srgbClr val="002060"/>
                    </a:solidFill>
                  </a:tcPr>
                </a:tc>
                <a:tc>
                  <a:txBody>
                    <a:bodyPr/>
                    <a:lstStyle/>
                    <a:p>
                      <a:pPr algn="ctr"/>
                      <a:r>
                        <a:rPr sz="850" b="1" i="0">
                          <a:solidFill>
                            <a:srgbClr val="FFFFFF"/>
                          </a:solidFill>
                          <a:latin typeface="Arial"/>
                        </a:rPr>
                        <a:t>EWMA Std</a:t>
                      </a:r>
                    </a:p>
                  </a:txBody>
                  <a:tcPr>
                    <a:solidFill>
                      <a:srgbClr val="002060"/>
                    </a:solidFill>
                  </a:tcPr>
                </a:tc>
                <a:tc>
                  <a:txBody>
                    <a:bodyPr/>
                    <a:lstStyle/>
                    <a:p>
                      <a:pPr algn="ctr"/>
                      <a:r>
                        <a:rPr sz="850" b="1" i="0">
                          <a:solidFill>
                            <a:srgbClr val="FFFFFF"/>
                          </a:solidFill>
                          <a:latin typeface="Arial"/>
                        </a:rPr>
                        <a:t>Spr/Std</a:t>
                      </a:r>
                    </a:p>
                  </a:txBody>
                  <a:tcPr>
                    <a:solidFill>
                      <a:srgbClr val="002060"/>
                    </a:solidFill>
                  </a:tcPr>
                </a:tc>
                <a:extLst>
                  <a:ext uri="{0D108BD9-81ED-4DB2-BD59-A6C34878D82A}">
                    <a16:rowId xmlns:a16="http://schemas.microsoft.com/office/drawing/2014/main" val="10000"/>
                  </a:ext>
                </a:extLst>
              </a:tr>
              <a:tr h="256032">
                <a:tc>
                  <a:txBody>
                    <a:bodyPr/>
                    <a:lstStyle/>
                    <a:p>
                      <a:pPr algn="ctr"/>
                      <a:r>
                        <a:rPr sz="850" b="1" i="0">
                          <a:solidFill>
                            <a:srgbClr val="002060"/>
                          </a:solidFill>
                          <a:latin typeface="Arial"/>
                        </a:rPr>
                        <a:t>1</a:t>
                      </a:r>
                    </a:p>
                  </a:txBody>
                  <a:tcPr>
                    <a:solidFill>
                      <a:srgbClr val="FFFFFF"/>
                    </a:solidFill>
                  </a:tcPr>
                </a:tc>
                <a:tc>
                  <a:txBody>
                    <a:bodyPr/>
                    <a:lstStyle/>
                    <a:p>
                      <a:pPr algn="l"/>
                      <a:r>
                        <a:rPr sz="850" b="0" i="0">
                          <a:solidFill>
                            <a:srgbClr val="262626"/>
                          </a:solidFill>
                          <a:latin typeface="Arial"/>
                        </a:rPr>
                        <a:t>Tilly Anema</a:t>
                      </a:r>
                    </a:p>
                  </a:txBody>
                  <a:tcPr>
                    <a:solidFill>
                      <a:srgbClr val="FFFFFF"/>
                    </a:solidFill>
                  </a:tcPr>
                </a:tc>
                <a:tc>
                  <a:txBody>
                    <a:bodyPr/>
                    <a:lstStyle/>
                    <a:p>
                      <a:pPr algn="ctr"/>
                      <a:r>
                        <a:rPr sz="850" b="1" i="0">
                          <a:solidFill>
                            <a:srgbClr val="262626"/>
                          </a:solidFill>
                          <a:latin typeface="Arial"/>
                        </a:rPr>
                        <a:t>100%</a:t>
                      </a:r>
                    </a:p>
                  </a:txBody>
                  <a:tcPr>
                    <a:solidFill>
                      <a:srgbClr val="FFFFFF"/>
                    </a:solidFill>
                  </a:tcPr>
                </a:tc>
                <a:tc>
                  <a:txBody>
                    <a:bodyPr/>
                    <a:lstStyle/>
                    <a:p>
                      <a:pPr algn="ctr"/>
                      <a:r>
                        <a:rPr sz="850" b="1" i="0">
                          <a:solidFill>
                            <a:srgbClr val="262626"/>
                          </a:solidFill>
                          <a:latin typeface="Arial"/>
                        </a:rPr>
                        <a:t>9:22</a:t>
                      </a:r>
                    </a:p>
                  </a:txBody>
                  <a:tcPr>
                    <a:solidFill>
                      <a:srgbClr val="FFFFFF"/>
                    </a:solidFill>
                  </a:tcPr>
                </a:tc>
                <a:tc>
                  <a:txBody>
                    <a:bodyPr/>
                    <a:lstStyle/>
                    <a:p>
                      <a:pPr algn="ctr"/>
                      <a:r>
                        <a:rPr sz="850" b="0" i="0">
                          <a:solidFill>
                            <a:srgbClr val="262626"/>
                          </a:solidFill>
                          <a:latin typeface="Arial"/>
                        </a:rPr>
                        <a:t>19:20</a:t>
                      </a:r>
                    </a:p>
                  </a:txBody>
                  <a:tcPr>
                    <a:solidFill>
                      <a:srgbClr val="FFFFFF"/>
                    </a:solidFill>
                  </a:tcPr>
                </a:tc>
                <a:tc>
                  <a:txBody>
                    <a:bodyPr/>
                    <a:lstStyle/>
                    <a:p>
                      <a:pPr algn="ctr"/>
                      <a:r>
                        <a:rPr sz="850" b="0" i="0">
                          <a:solidFill>
                            <a:srgbClr val="BFBFBF"/>
                          </a:solidFill>
                          <a:latin typeface="Arial"/>
                        </a:rPr>
                        <a:t>5/5</a:t>
                      </a:r>
                    </a:p>
                  </a:txBody>
                  <a:tcPr>
                    <a:solidFill>
                      <a:srgbClr val="FFFFFF"/>
                    </a:solidFill>
                  </a:tcPr>
                </a:tc>
                <a:extLst>
                  <a:ext uri="{0D108BD9-81ED-4DB2-BD59-A6C34878D82A}">
                    <a16:rowId xmlns:a16="http://schemas.microsoft.com/office/drawing/2014/main" val="10001"/>
                  </a:ext>
                </a:extLst>
              </a:tr>
              <a:tr h="256032">
                <a:tc>
                  <a:txBody>
                    <a:bodyPr/>
                    <a:lstStyle/>
                    <a:p>
                      <a:pPr algn="ctr"/>
                      <a:r>
                        <a:rPr sz="850" b="1" i="0">
                          <a:solidFill>
                            <a:srgbClr val="002060"/>
                          </a:solidFill>
                          <a:latin typeface="Arial"/>
                        </a:rPr>
                        <a:t>2</a:t>
                      </a:r>
                    </a:p>
                  </a:txBody>
                  <a:tcPr>
                    <a:solidFill>
                      <a:srgbClr val="F2F2F2"/>
                    </a:solidFill>
                  </a:tcPr>
                </a:tc>
                <a:tc>
                  <a:txBody>
                    <a:bodyPr/>
                    <a:lstStyle/>
                    <a:p>
                      <a:pPr algn="l"/>
                      <a:r>
                        <a:rPr sz="850" b="0" i="0">
                          <a:solidFill>
                            <a:srgbClr val="262626"/>
                          </a:solidFill>
                          <a:latin typeface="Arial"/>
                        </a:rPr>
                        <a:t>Vittoria Lopes</a:t>
                      </a:r>
                    </a:p>
                  </a:txBody>
                  <a:tcPr>
                    <a:solidFill>
                      <a:srgbClr val="F2F2F2"/>
                    </a:solidFill>
                  </a:tcPr>
                </a:tc>
                <a:tc>
                  <a:txBody>
                    <a:bodyPr/>
                    <a:lstStyle/>
                    <a:p>
                      <a:pPr algn="ctr"/>
                      <a:r>
                        <a:rPr sz="850" b="1" i="0">
                          <a:solidFill>
                            <a:srgbClr val="262626"/>
                          </a:solidFill>
                          <a:latin typeface="Arial"/>
                        </a:rPr>
                        <a:t>100%</a:t>
                      </a:r>
                    </a:p>
                  </a:txBody>
                  <a:tcPr>
                    <a:solidFill>
                      <a:srgbClr val="F2F2F2"/>
                    </a:solidFill>
                  </a:tcPr>
                </a:tc>
                <a:tc>
                  <a:txBody>
                    <a:bodyPr/>
                    <a:lstStyle/>
                    <a:p>
                      <a:pPr algn="ctr"/>
                      <a:r>
                        <a:rPr sz="850" b="1" i="0">
                          <a:solidFill>
                            <a:srgbClr val="262626"/>
                          </a:solidFill>
                          <a:latin typeface="Arial"/>
                        </a:rPr>
                        <a:t>10:11</a:t>
                      </a:r>
                    </a:p>
                  </a:txBody>
                  <a:tcPr>
                    <a:solidFill>
                      <a:srgbClr val="F2F2F2"/>
                    </a:solidFill>
                  </a:tcPr>
                </a:tc>
                <a:tc>
                  <a:txBody>
                    <a:bodyPr/>
                    <a:lstStyle/>
                    <a:p>
                      <a:pPr algn="ctr"/>
                      <a:r>
                        <a:rPr sz="850" b="0" i="0">
                          <a:solidFill>
                            <a:srgbClr val="262626"/>
                          </a:solidFill>
                          <a:latin typeface="Arial"/>
                        </a:rPr>
                        <a:t>19:15</a:t>
                      </a:r>
                    </a:p>
                  </a:txBody>
                  <a:tcPr>
                    <a:solidFill>
                      <a:srgbClr val="F2F2F2"/>
                    </a:solidFill>
                  </a:tcPr>
                </a:tc>
                <a:tc>
                  <a:txBody>
                    <a:bodyPr/>
                    <a:lstStyle/>
                    <a:p>
                      <a:pPr algn="ctr"/>
                      <a:r>
                        <a:rPr sz="850" b="0" i="0">
                          <a:solidFill>
                            <a:srgbClr val="BFBFBF"/>
                          </a:solidFill>
                          <a:latin typeface="Arial"/>
                        </a:rPr>
                        <a:t>7/8</a:t>
                      </a:r>
                    </a:p>
                  </a:txBody>
                  <a:tcPr>
                    <a:solidFill>
                      <a:srgbClr val="F2F2F2"/>
                    </a:solidFill>
                  </a:tcPr>
                </a:tc>
                <a:extLst>
                  <a:ext uri="{0D108BD9-81ED-4DB2-BD59-A6C34878D82A}">
                    <a16:rowId xmlns:a16="http://schemas.microsoft.com/office/drawing/2014/main" val="10002"/>
                  </a:ext>
                </a:extLst>
              </a:tr>
              <a:tr h="256032">
                <a:tc>
                  <a:txBody>
                    <a:bodyPr/>
                    <a:lstStyle/>
                    <a:p>
                      <a:pPr algn="ctr"/>
                      <a:r>
                        <a:rPr sz="850" b="1" i="0">
                          <a:solidFill>
                            <a:srgbClr val="002060"/>
                          </a:solidFill>
                          <a:latin typeface="Arial"/>
                        </a:rPr>
                        <a:t>3</a:t>
                      </a:r>
                    </a:p>
                  </a:txBody>
                  <a:tcPr>
                    <a:solidFill>
                      <a:srgbClr val="FFFFFF"/>
                    </a:solidFill>
                  </a:tcPr>
                </a:tc>
                <a:tc>
                  <a:txBody>
                    <a:bodyPr/>
                    <a:lstStyle/>
                    <a:p>
                      <a:pPr algn="l"/>
                      <a:r>
                        <a:rPr sz="850" b="0" i="0">
                          <a:solidFill>
                            <a:srgbClr val="262626"/>
                          </a:solidFill>
                          <a:latin typeface="Arial"/>
                        </a:rPr>
                        <a:t>Sophie Evans</a:t>
                      </a:r>
                    </a:p>
                  </a:txBody>
                  <a:tcPr>
                    <a:solidFill>
                      <a:srgbClr val="FFFFFF"/>
                    </a:solidFill>
                  </a:tcPr>
                </a:tc>
                <a:tc>
                  <a:txBody>
                    <a:bodyPr/>
                    <a:lstStyle/>
                    <a:p>
                      <a:pPr algn="ctr"/>
                      <a:r>
                        <a:rPr sz="850" b="1" i="0">
                          <a:solidFill>
                            <a:srgbClr val="262626"/>
                          </a:solidFill>
                          <a:latin typeface="Arial"/>
                        </a:rPr>
                        <a:t>89%</a:t>
                      </a:r>
                    </a:p>
                  </a:txBody>
                  <a:tcPr>
                    <a:solidFill>
                      <a:srgbClr val="FFFFFF"/>
                    </a:solidFill>
                  </a:tcPr>
                </a:tc>
                <a:tc>
                  <a:txBody>
                    <a:bodyPr/>
                    <a:lstStyle/>
                    <a:p>
                      <a:pPr algn="ctr"/>
                      <a:r>
                        <a:rPr sz="850" b="1" i="0">
                          <a:solidFill>
                            <a:srgbClr val="262626"/>
                          </a:solidFill>
                          <a:latin typeface="Arial"/>
                        </a:rPr>
                        <a:t>9:17</a:t>
                      </a:r>
                    </a:p>
                  </a:txBody>
                  <a:tcPr>
                    <a:solidFill>
                      <a:srgbClr val="FFFFFF"/>
                    </a:solidFill>
                  </a:tcPr>
                </a:tc>
                <a:tc>
                  <a:txBody>
                    <a:bodyPr/>
                    <a:lstStyle/>
                    <a:p>
                      <a:pPr algn="ctr"/>
                      <a:r>
                        <a:rPr sz="850" b="0" i="0">
                          <a:solidFill>
                            <a:srgbClr val="262626"/>
                          </a:solidFill>
                          <a:latin typeface="Arial"/>
                        </a:rPr>
                        <a:t>19:22</a:t>
                      </a:r>
                    </a:p>
                  </a:txBody>
                  <a:tcPr>
                    <a:solidFill>
                      <a:srgbClr val="FFFFFF"/>
                    </a:solidFill>
                  </a:tcPr>
                </a:tc>
                <a:tc>
                  <a:txBody>
                    <a:bodyPr/>
                    <a:lstStyle/>
                    <a:p>
                      <a:pPr algn="ctr"/>
                      <a:r>
                        <a:rPr sz="850" b="0" i="0">
                          <a:solidFill>
                            <a:srgbClr val="BFBFBF"/>
                          </a:solidFill>
                          <a:latin typeface="Arial"/>
                        </a:rPr>
                        <a:t>3/6</a:t>
                      </a:r>
                    </a:p>
                  </a:txBody>
                  <a:tcPr>
                    <a:solidFill>
                      <a:srgbClr val="FFFFFF"/>
                    </a:solidFill>
                  </a:tcPr>
                </a:tc>
                <a:extLst>
                  <a:ext uri="{0D108BD9-81ED-4DB2-BD59-A6C34878D82A}">
                    <a16:rowId xmlns:a16="http://schemas.microsoft.com/office/drawing/2014/main" val="10003"/>
                  </a:ext>
                </a:extLst>
              </a:tr>
              <a:tr h="256032">
                <a:tc>
                  <a:txBody>
                    <a:bodyPr/>
                    <a:lstStyle/>
                    <a:p>
                      <a:pPr algn="ctr"/>
                      <a:r>
                        <a:rPr sz="850" b="1" i="0">
                          <a:solidFill>
                            <a:srgbClr val="002060"/>
                          </a:solidFill>
                          <a:latin typeface="Arial"/>
                        </a:rPr>
                        <a:t>4</a:t>
                      </a:r>
                    </a:p>
                  </a:txBody>
                  <a:tcPr>
                    <a:solidFill>
                      <a:srgbClr val="F2F2F2"/>
                    </a:solidFill>
                  </a:tcPr>
                </a:tc>
                <a:tc>
                  <a:txBody>
                    <a:bodyPr/>
                    <a:lstStyle/>
                    <a:p>
                      <a:pPr algn="l"/>
                      <a:r>
                        <a:rPr sz="850" b="0" i="0">
                          <a:solidFill>
                            <a:srgbClr val="262626"/>
                          </a:solidFill>
                          <a:latin typeface="Arial"/>
                        </a:rPr>
                        <a:t>Cassandre Beaugrand</a:t>
                      </a:r>
                    </a:p>
                  </a:txBody>
                  <a:tcPr>
                    <a:solidFill>
                      <a:srgbClr val="F2F2F2"/>
                    </a:solidFill>
                  </a:tcPr>
                </a:tc>
                <a:tc>
                  <a:txBody>
                    <a:bodyPr/>
                    <a:lstStyle/>
                    <a:p>
                      <a:pPr algn="ctr"/>
                      <a:r>
                        <a:rPr sz="850" b="1" i="0">
                          <a:solidFill>
                            <a:srgbClr val="262626"/>
                          </a:solidFill>
                          <a:latin typeface="Arial"/>
                        </a:rPr>
                        <a:t>87%</a:t>
                      </a:r>
                    </a:p>
                  </a:txBody>
                  <a:tcPr>
                    <a:solidFill>
                      <a:srgbClr val="F2F2F2"/>
                    </a:solidFill>
                  </a:tcPr>
                </a:tc>
                <a:tc>
                  <a:txBody>
                    <a:bodyPr/>
                    <a:lstStyle/>
                    <a:p>
                      <a:pPr algn="ctr"/>
                      <a:r>
                        <a:rPr sz="850" b="1" i="0">
                          <a:solidFill>
                            <a:srgbClr val="262626"/>
                          </a:solidFill>
                          <a:latin typeface="Arial"/>
                        </a:rPr>
                        <a:t>9:50</a:t>
                      </a:r>
                    </a:p>
                  </a:txBody>
                  <a:tcPr>
                    <a:solidFill>
                      <a:srgbClr val="F2F2F2"/>
                    </a:solidFill>
                  </a:tcPr>
                </a:tc>
                <a:tc>
                  <a:txBody>
                    <a:bodyPr/>
                    <a:lstStyle/>
                    <a:p>
                      <a:pPr algn="ctr"/>
                      <a:r>
                        <a:rPr sz="850" b="0" i="0">
                          <a:solidFill>
                            <a:srgbClr val="262626"/>
                          </a:solidFill>
                          <a:latin typeface="Arial"/>
                        </a:rPr>
                        <a:t>19:42</a:t>
                      </a:r>
                    </a:p>
                  </a:txBody>
                  <a:tcPr>
                    <a:solidFill>
                      <a:srgbClr val="F2F2F2"/>
                    </a:solidFill>
                  </a:tcPr>
                </a:tc>
                <a:tc>
                  <a:txBody>
                    <a:bodyPr/>
                    <a:lstStyle/>
                    <a:p>
                      <a:pPr algn="ctr"/>
                      <a:r>
                        <a:rPr sz="850" b="0" i="0">
                          <a:solidFill>
                            <a:srgbClr val="BFBFBF"/>
                          </a:solidFill>
                          <a:latin typeface="Arial"/>
                        </a:rPr>
                        <a:t>5/10</a:t>
                      </a:r>
                    </a:p>
                  </a:txBody>
                  <a:tcPr>
                    <a:solidFill>
                      <a:srgbClr val="F2F2F2"/>
                    </a:solidFill>
                  </a:tcPr>
                </a:tc>
                <a:extLst>
                  <a:ext uri="{0D108BD9-81ED-4DB2-BD59-A6C34878D82A}">
                    <a16:rowId xmlns:a16="http://schemas.microsoft.com/office/drawing/2014/main" val="10004"/>
                  </a:ext>
                </a:extLst>
              </a:tr>
              <a:tr h="256032">
                <a:tc>
                  <a:txBody>
                    <a:bodyPr/>
                    <a:lstStyle/>
                    <a:p>
                      <a:pPr algn="ctr"/>
                      <a:r>
                        <a:rPr sz="850" b="1" i="0">
                          <a:solidFill>
                            <a:srgbClr val="002060"/>
                          </a:solidFill>
                          <a:latin typeface="Arial"/>
                        </a:rPr>
                        <a:t>5</a:t>
                      </a:r>
                    </a:p>
                  </a:txBody>
                  <a:tcPr>
                    <a:solidFill>
                      <a:srgbClr val="FFFFFF"/>
                    </a:solidFill>
                  </a:tcPr>
                </a:tc>
                <a:tc>
                  <a:txBody>
                    <a:bodyPr/>
                    <a:lstStyle/>
                    <a:p>
                      <a:pPr algn="l"/>
                      <a:r>
                        <a:rPr sz="850" b="0" i="0">
                          <a:solidFill>
                            <a:srgbClr val="262626"/>
                          </a:solidFill>
                          <a:latin typeface="Arial"/>
                        </a:rPr>
                        <a:t>Desirae Ridenour</a:t>
                      </a:r>
                    </a:p>
                  </a:txBody>
                  <a:tcPr>
                    <a:solidFill>
                      <a:srgbClr val="FFFFFF"/>
                    </a:solidFill>
                  </a:tcPr>
                </a:tc>
                <a:tc>
                  <a:txBody>
                    <a:bodyPr/>
                    <a:lstStyle/>
                    <a:p>
                      <a:pPr algn="ctr"/>
                      <a:r>
                        <a:rPr sz="850" b="1" i="0">
                          <a:solidFill>
                            <a:srgbClr val="262626"/>
                          </a:solidFill>
                          <a:latin typeface="Arial"/>
                        </a:rPr>
                        <a:t>81%</a:t>
                      </a:r>
                    </a:p>
                  </a:txBody>
                  <a:tcPr>
                    <a:solidFill>
                      <a:srgbClr val="FFFFFF"/>
                    </a:solidFill>
                  </a:tcPr>
                </a:tc>
                <a:tc>
                  <a:txBody>
                    <a:bodyPr/>
                    <a:lstStyle/>
                    <a:p>
                      <a:pPr algn="ctr"/>
                      <a:r>
                        <a:rPr sz="850" b="1" i="0">
                          <a:solidFill>
                            <a:srgbClr val="262626"/>
                          </a:solidFill>
                          <a:latin typeface="Arial"/>
                        </a:rPr>
                        <a:t>10:11</a:t>
                      </a:r>
                    </a:p>
                  </a:txBody>
                  <a:tcPr>
                    <a:solidFill>
                      <a:srgbClr val="FFFFFF"/>
                    </a:solidFill>
                  </a:tcPr>
                </a:tc>
                <a:tc>
                  <a:txBody>
                    <a:bodyPr/>
                    <a:lstStyle/>
                    <a:p>
                      <a:pPr algn="ctr"/>
                      <a:r>
                        <a:rPr sz="850" b="0" i="0">
                          <a:solidFill>
                            <a:srgbClr val="262626"/>
                          </a:solidFill>
                          <a:latin typeface="Arial"/>
                        </a:rPr>
                        <a:t>19:31</a:t>
                      </a:r>
                    </a:p>
                  </a:txBody>
                  <a:tcPr>
                    <a:solidFill>
                      <a:srgbClr val="FFFFFF"/>
                    </a:solidFill>
                  </a:tcPr>
                </a:tc>
                <a:tc>
                  <a:txBody>
                    <a:bodyPr/>
                    <a:lstStyle/>
                    <a:p>
                      <a:pPr algn="ctr"/>
                      <a:r>
                        <a:rPr sz="850" b="0" i="0">
                          <a:solidFill>
                            <a:srgbClr val="BFBFBF"/>
                          </a:solidFill>
                          <a:latin typeface="Arial"/>
                        </a:rPr>
                        <a:t>20/1</a:t>
                      </a:r>
                    </a:p>
                  </a:txBody>
                  <a:tcPr>
                    <a:solidFill>
                      <a:srgbClr val="FFFFFF"/>
                    </a:solidFill>
                  </a:tcPr>
                </a:tc>
                <a:extLst>
                  <a:ext uri="{0D108BD9-81ED-4DB2-BD59-A6C34878D82A}">
                    <a16:rowId xmlns:a16="http://schemas.microsoft.com/office/drawing/2014/main" val="10005"/>
                  </a:ext>
                </a:extLst>
              </a:tr>
              <a:tr h="256032">
                <a:tc>
                  <a:txBody>
                    <a:bodyPr/>
                    <a:lstStyle/>
                    <a:p>
                      <a:pPr algn="ctr"/>
                      <a:r>
                        <a:rPr sz="850" b="1" i="0">
                          <a:solidFill>
                            <a:srgbClr val="002060"/>
                          </a:solidFill>
                          <a:latin typeface="Arial"/>
                        </a:rPr>
                        <a:t>6</a:t>
                      </a:r>
                    </a:p>
                  </a:txBody>
                  <a:tcPr>
                    <a:solidFill>
                      <a:srgbClr val="F2F2F2"/>
                    </a:solidFill>
                  </a:tcPr>
                </a:tc>
                <a:tc>
                  <a:txBody>
                    <a:bodyPr/>
                    <a:lstStyle/>
                    <a:p>
                      <a:pPr algn="l"/>
                      <a:r>
                        <a:rPr sz="850" b="0" i="0">
                          <a:solidFill>
                            <a:srgbClr val="262626"/>
                          </a:solidFill>
                          <a:latin typeface="Arial"/>
                        </a:rPr>
                        <a:t>Erin McConnell</a:t>
                      </a:r>
                    </a:p>
                  </a:txBody>
                  <a:tcPr>
                    <a:solidFill>
                      <a:srgbClr val="F2F2F2"/>
                    </a:solidFill>
                  </a:tcPr>
                </a:tc>
                <a:tc>
                  <a:txBody>
                    <a:bodyPr/>
                    <a:lstStyle/>
                    <a:p>
                      <a:pPr algn="ctr"/>
                      <a:r>
                        <a:rPr sz="850" b="1" i="0">
                          <a:solidFill>
                            <a:srgbClr val="262626"/>
                          </a:solidFill>
                          <a:latin typeface="Arial"/>
                        </a:rPr>
                        <a:t>77%</a:t>
                      </a:r>
                    </a:p>
                  </a:txBody>
                  <a:tcPr>
                    <a:solidFill>
                      <a:srgbClr val="F2F2F2"/>
                    </a:solidFill>
                  </a:tcPr>
                </a:tc>
                <a:tc>
                  <a:txBody>
                    <a:bodyPr/>
                    <a:lstStyle/>
                    <a:p>
                      <a:pPr algn="ctr"/>
                      <a:r>
                        <a:rPr sz="850" b="1" i="0">
                          <a:solidFill>
                            <a:srgbClr val="262626"/>
                          </a:solidFill>
                          <a:latin typeface="Arial"/>
                        </a:rPr>
                        <a:t>9:28</a:t>
                      </a:r>
                    </a:p>
                  </a:txBody>
                  <a:tcPr>
                    <a:solidFill>
                      <a:srgbClr val="F2F2F2"/>
                    </a:solidFill>
                  </a:tcPr>
                </a:tc>
                <a:tc>
                  <a:txBody>
                    <a:bodyPr/>
                    <a:lstStyle/>
                    <a:p>
                      <a:pPr algn="ctr"/>
                      <a:r>
                        <a:rPr sz="850" b="0" i="0">
                          <a:solidFill>
                            <a:srgbClr val="262626"/>
                          </a:solidFill>
                          <a:latin typeface="Arial"/>
                        </a:rPr>
                        <a:t>—</a:t>
                      </a:r>
                    </a:p>
                  </a:txBody>
                  <a:tcPr>
                    <a:solidFill>
                      <a:srgbClr val="F2F2F2"/>
                    </a:solidFill>
                  </a:tcPr>
                </a:tc>
                <a:tc>
                  <a:txBody>
                    <a:bodyPr/>
                    <a:lstStyle/>
                    <a:p>
                      <a:pPr algn="ctr"/>
                      <a:r>
                        <a:rPr sz="850" b="0" i="0">
                          <a:solidFill>
                            <a:srgbClr val="BFBFBF"/>
                          </a:solidFill>
                          <a:latin typeface="Arial"/>
                        </a:rPr>
                        <a:t>13/0</a:t>
                      </a:r>
                    </a:p>
                  </a:txBody>
                  <a:tcPr>
                    <a:solidFill>
                      <a:srgbClr val="F2F2F2"/>
                    </a:solidFill>
                  </a:tcPr>
                </a:tc>
                <a:extLst>
                  <a:ext uri="{0D108BD9-81ED-4DB2-BD59-A6C34878D82A}">
                    <a16:rowId xmlns:a16="http://schemas.microsoft.com/office/drawing/2014/main" val="10006"/>
                  </a:ext>
                </a:extLst>
              </a:tr>
              <a:tr h="256032">
                <a:tc>
                  <a:txBody>
                    <a:bodyPr/>
                    <a:lstStyle/>
                    <a:p>
                      <a:pPr algn="ctr"/>
                      <a:r>
                        <a:rPr sz="850" b="1" i="0">
                          <a:solidFill>
                            <a:srgbClr val="002060"/>
                          </a:solidFill>
                          <a:latin typeface="Arial"/>
                        </a:rPr>
                        <a:t>7</a:t>
                      </a:r>
                    </a:p>
                  </a:txBody>
                  <a:tcPr>
                    <a:solidFill>
                      <a:srgbClr val="FFFFFF"/>
                    </a:solidFill>
                  </a:tcPr>
                </a:tc>
                <a:tc>
                  <a:txBody>
                    <a:bodyPr/>
                    <a:lstStyle/>
                    <a:p>
                      <a:pPr algn="l"/>
                      <a:r>
                        <a:rPr sz="850" b="0" i="0">
                          <a:solidFill>
                            <a:srgbClr val="262626"/>
                          </a:solidFill>
                          <a:latin typeface="Arial"/>
                        </a:rPr>
                        <a:t>Sophia Howell</a:t>
                      </a:r>
                    </a:p>
                  </a:txBody>
                  <a:tcPr>
                    <a:solidFill>
                      <a:srgbClr val="FFFFFF"/>
                    </a:solidFill>
                  </a:tcPr>
                </a:tc>
                <a:tc>
                  <a:txBody>
                    <a:bodyPr/>
                    <a:lstStyle/>
                    <a:p>
                      <a:pPr algn="ctr"/>
                      <a:r>
                        <a:rPr sz="850" b="1" i="0">
                          <a:solidFill>
                            <a:srgbClr val="262626"/>
                          </a:solidFill>
                          <a:latin typeface="Arial"/>
                        </a:rPr>
                        <a:t>75%</a:t>
                      </a:r>
                    </a:p>
                  </a:txBody>
                  <a:tcPr>
                    <a:solidFill>
                      <a:srgbClr val="FFFFFF"/>
                    </a:solidFill>
                  </a:tcPr>
                </a:tc>
                <a:tc>
                  <a:txBody>
                    <a:bodyPr/>
                    <a:lstStyle/>
                    <a:p>
                      <a:pPr algn="ctr"/>
                      <a:r>
                        <a:rPr sz="850" b="1" i="0">
                          <a:solidFill>
                            <a:srgbClr val="262626"/>
                          </a:solidFill>
                          <a:latin typeface="Arial"/>
                        </a:rPr>
                        <a:t>9:44</a:t>
                      </a:r>
                    </a:p>
                  </a:txBody>
                  <a:tcPr>
                    <a:solidFill>
                      <a:srgbClr val="FFFFFF"/>
                    </a:solidFill>
                  </a:tcPr>
                </a:tc>
                <a:tc>
                  <a:txBody>
                    <a:bodyPr/>
                    <a:lstStyle/>
                    <a:p>
                      <a:pPr algn="ctr"/>
                      <a:r>
                        <a:rPr sz="850" b="0" i="0">
                          <a:solidFill>
                            <a:srgbClr val="262626"/>
                          </a:solidFill>
                          <a:latin typeface="Arial"/>
                        </a:rPr>
                        <a:t>19:46</a:t>
                      </a:r>
                    </a:p>
                  </a:txBody>
                  <a:tcPr>
                    <a:solidFill>
                      <a:srgbClr val="FFFFFF"/>
                    </a:solidFill>
                  </a:tcPr>
                </a:tc>
                <a:tc>
                  <a:txBody>
                    <a:bodyPr/>
                    <a:lstStyle/>
                    <a:p>
                      <a:pPr algn="ctr"/>
                      <a:r>
                        <a:rPr sz="850" b="0" i="0">
                          <a:solidFill>
                            <a:srgbClr val="BFBFBF"/>
                          </a:solidFill>
                          <a:latin typeface="Arial"/>
                        </a:rPr>
                        <a:t>24/8</a:t>
                      </a:r>
                    </a:p>
                  </a:txBody>
                  <a:tcPr>
                    <a:solidFill>
                      <a:srgbClr val="FFFFFF"/>
                    </a:solidFill>
                  </a:tcPr>
                </a:tc>
                <a:extLst>
                  <a:ext uri="{0D108BD9-81ED-4DB2-BD59-A6C34878D82A}">
                    <a16:rowId xmlns:a16="http://schemas.microsoft.com/office/drawing/2014/main" val="10007"/>
                  </a:ext>
                </a:extLst>
              </a:tr>
              <a:tr h="256032">
                <a:tc>
                  <a:txBody>
                    <a:bodyPr/>
                    <a:lstStyle/>
                    <a:p>
                      <a:pPr algn="ctr"/>
                      <a:r>
                        <a:rPr sz="850" b="1" i="0">
                          <a:solidFill>
                            <a:srgbClr val="002060"/>
                          </a:solidFill>
                          <a:latin typeface="Arial"/>
                        </a:rPr>
                        <a:t>8</a:t>
                      </a:r>
                    </a:p>
                  </a:txBody>
                  <a:tcPr>
                    <a:solidFill>
                      <a:srgbClr val="F2F2F2"/>
                    </a:solidFill>
                  </a:tcPr>
                </a:tc>
                <a:tc>
                  <a:txBody>
                    <a:bodyPr/>
                    <a:lstStyle/>
                    <a:p>
                      <a:pPr algn="l"/>
                      <a:r>
                        <a:rPr sz="850" b="0" i="0">
                          <a:solidFill>
                            <a:srgbClr val="262626"/>
                          </a:solidFill>
                          <a:latin typeface="Arial"/>
                        </a:rPr>
                        <a:t>Márta Kropkó</a:t>
                      </a:r>
                    </a:p>
                  </a:txBody>
                  <a:tcPr>
                    <a:solidFill>
                      <a:srgbClr val="F2F2F2"/>
                    </a:solidFill>
                  </a:tcPr>
                </a:tc>
                <a:tc>
                  <a:txBody>
                    <a:bodyPr/>
                    <a:lstStyle/>
                    <a:p>
                      <a:pPr algn="ctr"/>
                      <a:r>
                        <a:rPr sz="850" b="1" i="0">
                          <a:solidFill>
                            <a:srgbClr val="262626"/>
                          </a:solidFill>
                          <a:latin typeface="Arial"/>
                        </a:rPr>
                        <a:t>71%</a:t>
                      </a:r>
                    </a:p>
                  </a:txBody>
                  <a:tcPr>
                    <a:solidFill>
                      <a:srgbClr val="F2F2F2"/>
                    </a:solidFill>
                  </a:tcPr>
                </a:tc>
                <a:tc>
                  <a:txBody>
                    <a:bodyPr/>
                    <a:lstStyle/>
                    <a:p>
                      <a:pPr algn="ctr"/>
                      <a:r>
                        <a:rPr sz="850" b="1" i="0">
                          <a:solidFill>
                            <a:srgbClr val="262626"/>
                          </a:solidFill>
                          <a:latin typeface="Arial"/>
                        </a:rPr>
                        <a:t>9:38</a:t>
                      </a:r>
                    </a:p>
                  </a:txBody>
                  <a:tcPr>
                    <a:solidFill>
                      <a:srgbClr val="F2F2F2"/>
                    </a:solidFill>
                  </a:tcPr>
                </a:tc>
                <a:tc>
                  <a:txBody>
                    <a:bodyPr/>
                    <a:lstStyle/>
                    <a:p>
                      <a:pPr algn="ctr"/>
                      <a:r>
                        <a:rPr sz="850" b="0" i="0">
                          <a:solidFill>
                            <a:srgbClr val="262626"/>
                          </a:solidFill>
                          <a:latin typeface="Arial"/>
                        </a:rPr>
                        <a:t>18:59</a:t>
                      </a:r>
                    </a:p>
                  </a:txBody>
                  <a:tcPr>
                    <a:solidFill>
                      <a:srgbClr val="F2F2F2"/>
                    </a:solidFill>
                  </a:tcPr>
                </a:tc>
                <a:tc>
                  <a:txBody>
                    <a:bodyPr/>
                    <a:lstStyle/>
                    <a:p>
                      <a:pPr algn="ctr"/>
                      <a:r>
                        <a:rPr sz="850" b="0" i="0">
                          <a:solidFill>
                            <a:srgbClr val="BFBFBF"/>
                          </a:solidFill>
                          <a:latin typeface="Arial"/>
                        </a:rPr>
                        <a:t>12/9</a:t>
                      </a:r>
                    </a:p>
                  </a:txBody>
                  <a:tcPr>
                    <a:solidFill>
                      <a:srgbClr val="F2F2F2"/>
                    </a:solidFill>
                  </a:tcPr>
                </a:tc>
                <a:extLst>
                  <a:ext uri="{0D108BD9-81ED-4DB2-BD59-A6C34878D82A}">
                    <a16:rowId xmlns:a16="http://schemas.microsoft.com/office/drawing/2014/main" val="10008"/>
                  </a:ext>
                </a:extLst>
              </a:tr>
              <a:tr h="256032">
                <a:tc>
                  <a:txBody>
                    <a:bodyPr/>
                    <a:lstStyle/>
                    <a:p>
                      <a:pPr algn="ctr"/>
                      <a:r>
                        <a:rPr sz="850" b="1" i="0">
                          <a:solidFill>
                            <a:srgbClr val="002060"/>
                          </a:solidFill>
                          <a:latin typeface="Arial"/>
                        </a:rPr>
                        <a:t>9</a:t>
                      </a:r>
                    </a:p>
                  </a:txBody>
                  <a:tcPr>
                    <a:solidFill>
                      <a:srgbClr val="FFFFFF"/>
                    </a:solidFill>
                  </a:tcPr>
                </a:tc>
                <a:tc>
                  <a:txBody>
                    <a:bodyPr/>
                    <a:lstStyle/>
                    <a:p>
                      <a:pPr algn="l"/>
                      <a:r>
                        <a:rPr sz="850" b="0" i="0">
                          <a:solidFill>
                            <a:srgbClr val="262626"/>
                          </a:solidFill>
                          <a:latin typeface="Arial"/>
                        </a:rPr>
                        <a:t>Sian Rainsley</a:t>
                      </a:r>
                    </a:p>
                  </a:txBody>
                  <a:tcPr>
                    <a:solidFill>
                      <a:srgbClr val="FFFFFF"/>
                    </a:solidFill>
                  </a:tcPr>
                </a:tc>
                <a:tc>
                  <a:txBody>
                    <a:bodyPr/>
                    <a:lstStyle/>
                    <a:p>
                      <a:pPr algn="ctr"/>
                      <a:r>
                        <a:rPr sz="850" b="1" i="0">
                          <a:solidFill>
                            <a:srgbClr val="262626"/>
                          </a:solidFill>
                          <a:latin typeface="Arial"/>
                        </a:rPr>
                        <a:t>71%</a:t>
                      </a:r>
                    </a:p>
                  </a:txBody>
                  <a:tcPr>
                    <a:solidFill>
                      <a:srgbClr val="FFFFFF"/>
                    </a:solidFill>
                  </a:tcPr>
                </a:tc>
                <a:tc>
                  <a:txBody>
                    <a:bodyPr/>
                    <a:lstStyle/>
                    <a:p>
                      <a:pPr algn="ctr"/>
                      <a:r>
                        <a:rPr sz="850" b="1" i="0">
                          <a:solidFill>
                            <a:srgbClr val="262626"/>
                          </a:solidFill>
                          <a:latin typeface="Arial"/>
                        </a:rPr>
                        <a:t>9:45</a:t>
                      </a:r>
                    </a:p>
                  </a:txBody>
                  <a:tcPr>
                    <a:solidFill>
                      <a:srgbClr val="FFFFFF"/>
                    </a:solidFill>
                  </a:tcPr>
                </a:tc>
                <a:tc>
                  <a:txBody>
                    <a:bodyPr/>
                    <a:lstStyle/>
                    <a:p>
                      <a:pPr algn="ctr"/>
                      <a:r>
                        <a:rPr sz="850" b="0" i="0">
                          <a:solidFill>
                            <a:srgbClr val="262626"/>
                          </a:solidFill>
                          <a:latin typeface="Arial"/>
                        </a:rPr>
                        <a:t>18:46</a:t>
                      </a:r>
                    </a:p>
                  </a:txBody>
                  <a:tcPr>
                    <a:solidFill>
                      <a:srgbClr val="FFFFFF"/>
                    </a:solidFill>
                  </a:tcPr>
                </a:tc>
                <a:tc>
                  <a:txBody>
                    <a:bodyPr/>
                    <a:lstStyle/>
                    <a:p>
                      <a:pPr algn="ctr"/>
                      <a:r>
                        <a:rPr sz="850" b="0" i="0">
                          <a:solidFill>
                            <a:srgbClr val="BFBFBF"/>
                          </a:solidFill>
                          <a:latin typeface="Arial"/>
                        </a:rPr>
                        <a:t>8/9</a:t>
                      </a:r>
                    </a:p>
                  </a:txBody>
                  <a:tcPr>
                    <a:solidFill>
                      <a:srgbClr val="FFFFFF"/>
                    </a:solidFill>
                  </a:tcPr>
                </a:tc>
                <a:extLst>
                  <a:ext uri="{0D108BD9-81ED-4DB2-BD59-A6C34878D82A}">
                    <a16:rowId xmlns:a16="http://schemas.microsoft.com/office/drawing/2014/main" val="10009"/>
                  </a:ext>
                </a:extLst>
              </a:tr>
              <a:tr h="256032">
                <a:tc>
                  <a:txBody>
                    <a:bodyPr/>
                    <a:lstStyle/>
                    <a:p>
                      <a:pPr algn="ctr"/>
                      <a:r>
                        <a:rPr sz="850" b="1" i="0">
                          <a:solidFill>
                            <a:srgbClr val="002060"/>
                          </a:solidFill>
                          <a:latin typeface="Arial"/>
                        </a:rPr>
                        <a:t>10</a:t>
                      </a:r>
                    </a:p>
                  </a:txBody>
                  <a:tcPr>
                    <a:solidFill>
                      <a:srgbClr val="F2F2F2"/>
                    </a:solidFill>
                  </a:tcPr>
                </a:tc>
                <a:tc>
                  <a:txBody>
                    <a:bodyPr/>
                    <a:lstStyle/>
                    <a:p>
                      <a:pPr algn="l"/>
                      <a:r>
                        <a:rPr sz="850" b="0" i="0">
                          <a:solidFill>
                            <a:srgbClr val="262626"/>
                          </a:solidFill>
                          <a:latin typeface="Arial"/>
                        </a:rPr>
                        <a:t>Kate Waugh</a:t>
                      </a:r>
                    </a:p>
                  </a:txBody>
                  <a:tcPr>
                    <a:solidFill>
                      <a:srgbClr val="F2F2F2"/>
                    </a:solidFill>
                  </a:tcPr>
                </a:tc>
                <a:tc>
                  <a:txBody>
                    <a:bodyPr/>
                    <a:lstStyle/>
                    <a:p>
                      <a:pPr algn="ctr"/>
                      <a:r>
                        <a:rPr sz="850" b="1" i="0">
                          <a:solidFill>
                            <a:srgbClr val="262626"/>
                          </a:solidFill>
                          <a:latin typeface="Arial"/>
                        </a:rPr>
                        <a:t>62%</a:t>
                      </a:r>
                    </a:p>
                  </a:txBody>
                  <a:tcPr>
                    <a:solidFill>
                      <a:srgbClr val="F2F2F2"/>
                    </a:solidFill>
                  </a:tcPr>
                </a:tc>
                <a:tc>
                  <a:txBody>
                    <a:bodyPr/>
                    <a:lstStyle/>
                    <a:p>
                      <a:pPr algn="ctr"/>
                      <a:r>
                        <a:rPr sz="850" b="1" i="0">
                          <a:solidFill>
                            <a:srgbClr val="262626"/>
                          </a:solidFill>
                          <a:latin typeface="Arial"/>
                        </a:rPr>
                        <a:t>9:43</a:t>
                      </a:r>
                    </a:p>
                  </a:txBody>
                  <a:tcPr>
                    <a:solidFill>
                      <a:srgbClr val="F2F2F2"/>
                    </a:solidFill>
                  </a:tcPr>
                </a:tc>
                <a:tc>
                  <a:txBody>
                    <a:bodyPr/>
                    <a:lstStyle/>
                    <a:p>
                      <a:pPr algn="ctr"/>
                      <a:r>
                        <a:rPr sz="850" b="0" i="0">
                          <a:solidFill>
                            <a:srgbClr val="262626"/>
                          </a:solidFill>
                          <a:latin typeface="Arial"/>
                        </a:rPr>
                        <a:t>20:29</a:t>
                      </a:r>
                    </a:p>
                  </a:txBody>
                  <a:tcPr>
                    <a:solidFill>
                      <a:srgbClr val="F2F2F2"/>
                    </a:solidFill>
                  </a:tcPr>
                </a:tc>
                <a:tc>
                  <a:txBody>
                    <a:bodyPr/>
                    <a:lstStyle/>
                    <a:p>
                      <a:pPr algn="ctr"/>
                      <a:r>
                        <a:rPr sz="850" b="0" i="0">
                          <a:solidFill>
                            <a:srgbClr val="BFBFBF"/>
                          </a:solidFill>
                          <a:latin typeface="Arial"/>
                        </a:rPr>
                        <a:t>7/9</a:t>
                      </a:r>
                    </a:p>
                  </a:txBody>
                  <a:tcPr>
                    <a:solidFill>
                      <a:srgbClr val="F2F2F2"/>
                    </a:solidFill>
                  </a:tcPr>
                </a:tc>
                <a:extLst>
                  <a:ext uri="{0D108BD9-81ED-4DB2-BD59-A6C34878D82A}">
                    <a16:rowId xmlns:a16="http://schemas.microsoft.com/office/drawing/2014/main" val="10010"/>
                  </a:ext>
                </a:extLst>
              </a:tr>
              <a:tr h="256032">
                <a:tc>
                  <a:txBody>
                    <a:bodyPr/>
                    <a:lstStyle/>
                    <a:p>
                      <a:pPr algn="ctr"/>
                      <a:r>
                        <a:rPr sz="850" b="1" i="0">
                          <a:solidFill>
                            <a:srgbClr val="002060"/>
                          </a:solidFill>
                          <a:latin typeface="Arial"/>
                        </a:rPr>
                        <a:t>11</a:t>
                      </a:r>
                    </a:p>
                  </a:txBody>
                  <a:tcPr>
                    <a:solidFill>
                      <a:srgbClr val="FFFFFF"/>
                    </a:solidFill>
                  </a:tcPr>
                </a:tc>
                <a:tc>
                  <a:txBody>
                    <a:bodyPr/>
                    <a:lstStyle/>
                    <a:p>
                      <a:pPr algn="l"/>
                      <a:r>
                        <a:rPr sz="850" b="1" i="0">
                          <a:solidFill>
                            <a:srgbClr val="C00000"/>
                          </a:solidFill>
                          <a:latin typeface="Arial"/>
                        </a:rPr>
                        <a:t>Kirsten Kasper</a:t>
                      </a:r>
                    </a:p>
                  </a:txBody>
                  <a:tcPr>
                    <a:solidFill>
                      <a:srgbClr val="FFFFFF"/>
                    </a:solidFill>
                  </a:tcPr>
                </a:tc>
                <a:tc>
                  <a:txBody>
                    <a:bodyPr/>
                    <a:lstStyle/>
                    <a:p>
                      <a:pPr algn="ctr"/>
                      <a:r>
                        <a:rPr sz="850" b="1" i="0">
                          <a:solidFill>
                            <a:srgbClr val="262626"/>
                          </a:solidFill>
                          <a:latin typeface="Arial"/>
                        </a:rPr>
                        <a:t>62%</a:t>
                      </a:r>
                    </a:p>
                  </a:txBody>
                  <a:tcPr>
                    <a:solidFill>
                      <a:srgbClr val="FFFFFF"/>
                    </a:solidFill>
                  </a:tcPr>
                </a:tc>
                <a:tc>
                  <a:txBody>
                    <a:bodyPr/>
                    <a:lstStyle/>
                    <a:p>
                      <a:pPr algn="ctr"/>
                      <a:r>
                        <a:rPr sz="850" b="1" i="0">
                          <a:solidFill>
                            <a:srgbClr val="262626"/>
                          </a:solidFill>
                          <a:latin typeface="Arial"/>
                        </a:rPr>
                        <a:t>10:06</a:t>
                      </a:r>
                    </a:p>
                  </a:txBody>
                  <a:tcPr>
                    <a:solidFill>
                      <a:srgbClr val="FFFFFF"/>
                    </a:solidFill>
                  </a:tcPr>
                </a:tc>
                <a:tc>
                  <a:txBody>
                    <a:bodyPr/>
                    <a:lstStyle/>
                    <a:p>
                      <a:pPr algn="ctr"/>
                      <a:r>
                        <a:rPr sz="850" b="0" i="0">
                          <a:solidFill>
                            <a:srgbClr val="262626"/>
                          </a:solidFill>
                          <a:latin typeface="Arial"/>
                        </a:rPr>
                        <a:t>20:03</a:t>
                      </a:r>
                    </a:p>
                  </a:txBody>
                  <a:tcPr>
                    <a:solidFill>
                      <a:srgbClr val="FFFFFF"/>
                    </a:solidFill>
                  </a:tcPr>
                </a:tc>
                <a:tc>
                  <a:txBody>
                    <a:bodyPr/>
                    <a:lstStyle/>
                    <a:p>
                      <a:pPr algn="ctr"/>
                      <a:r>
                        <a:rPr sz="850" b="0" i="0">
                          <a:solidFill>
                            <a:srgbClr val="BFBFBF"/>
                          </a:solidFill>
                          <a:latin typeface="Arial"/>
                        </a:rPr>
                        <a:t>6/10</a:t>
                      </a:r>
                    </a:p>
                  </a:txBody>
                  <a:tcPr>
                    <a:solidFill>
                      <a:srgbClr val="FFFFFF"/>
                    </a:solidFill>
                  </a:tcPr>
                </a:tc>
                <a:extLst>
                  <a:ext uri="{0D108BD9-81ED-4DB2-BD59-A6C34878D82A}">
                    <a16:rowId xmlns:a16="http://schemas.microsoft.com/office/drawing/2014/main" val="10011"/>
                  </a:ext>
                </a:extLst>
              </a:tr>
              <a:tr h="256032">
                <a:tc>
                  <a:txBody>
                    <a:bodyPr/>
                    <a:lstStyle/>
                    <a:p>
                      <a:pPr algn="ctr"/>
                      <a:r>
                        <a:rPr sz="850" b="1" i="0">
                          <a:solidFill>
                            <a:srgbClr val="002060"/>
                          </a:solidFill>
                          <a:latin typeface="Arial"/>
                        </a:rPr>
                        <a:t>12</a:t>
                      </a:r>
                    </a:p>
                  </a:txBody>
                  <a:tcPr>
                    <a:solidFill>
                      <a:srgbClr val="F2F2F2"/>
                    </a:solidFill>
                  </a:tcPr>
                </a:tc>
                <a:tc>
                  <a:txBody>
                    <a:bodyPr/>
                    <a:lstStyle/>
                    <a:p>
                      <a:pPr algn="l"/>
                      <a:r>
                        <a:rPr sz="850" b="0" i="0">
                          <a:solidFill>
                            <a:srgbClr val="262626"/>
                          </a:solidFill>
                          <a:latin typeface="Arial"/>
                        </a:rPr>
                        <a:t>Beth Potter</a:t>
                      </a:r>
                    </a:p>
                  </a:txBody>
                  <a:tcPr>
                    <a:solidFill>
                      <a:srgbClr val="F2F2F2"/>
                    </a:solidFill>
                  </a:tcPr>
                </a:tc>
                <a:tc>
                  <a:txBody>
                    <a:bodyPr/>
                    <a:lstStyle/>
                    <a:p>
                      <a:pPr algn="ctr"/>
                      <a:r>
                        <a:rPr sz="850" b="1" i="0">
                          <a:solidFill>
                            <a:srgbClr val="262626"/>
                          </a:solidFill>
                          <a:latin typeface="Arial"/>
                        </a:rPr>
                        <a:t>61%</a:t>
                      </a:r>
                    </a:p>
                  </a:txBody>
                  <a:tcPr>
                    <a:solidFill>
                      <a:srgbClr val="F2F2F2"/>
                    </a:solidFill>
                  </a:tcPr>
                </a:tc>
                <a:tc>
                  <a:txBody>
                    <a:bodyPr/>
                    <a:lstStyle/>
                    <a:p>
                      <a:pPr algn="ctr"/>
                      <a:r>
                        <a:rPr sz="850" b="1" i="0">
                          <a:solidFill>
                            <a:srgbClr val="262626"/>
                          </a:solidFill>
                          <a:latin typeface="Arial"/>
                        </a:rPr>
                        <a:t>9:56</a:t>
                      </a:r>
                    </a:p>
                  </a:txBody>
                  <a:tcPr>
                    <a:solidFill>
                      <a:srgbClr val="F2F2F2"/>
                    </a:solidFill>
                  </a:tcPr>
                </a:tc>
                <a:tc>
                  <a:txBody>
                    <a:bodyPr/>
                    <a:lstStyle/>
                    <a:p>
                      <a:pPr algn="ctr"/>
                      <a:r>
                        <a:rPr sz="850" b="0" i="0">
                          <a:solidFill>
                            <a:srgbClr val="262626"/>
                          </a:solidFill>
                          <a:latin typeface="Arial"/>
                        </a:rPr>
                        <a:t>19:08</a:t>
                      </a:r>
                    </a:p>
                  </a:txBody>
                  <a:tcPr>
                    <a:solidFill>
                      <a:srgbClr val="F2F2F2"/>
                    </a:solidFill>
                  </a:tcPr>
                </a:tc>
                <a:tc>
                  <a:txBody>
                    <a:bodyPr/>
                    <a:lstStyle/>
                    <a:p>
                      <a:pPr algn="ctr"/>
                      <a:r>
                        <a:rPr sz="850" b="0" i="0">
                          <a:solidFill>
                            <a:srgbClr val="BFBFBF"/>
                          </a:solidFill>
                          <a:latin typeface="Arial"/>
                        </a:rPr>
                        <a:t>5/13</a:t>
                      </a:r>
                    </a:p>
                  </a:txBody>
                  <a:tcPr>
                    <a:solidFill>
                      <a:srgbClr val="F2F2F2"/>
                    </a:solidFill>
                  </a:tcPr>
                </a:tc>
                <a:extLst>
                  <a:ext uri="{0D108BD9-81ED-4DB2-BD59-A6C34878D82A}">
                    <a16:rowId xmlns:a16="http://schemas.microsoft.com/office/drawing/2014/main" val="10012"/>
                  </a:ext>
                </a:extLst>
              </a:tr>
              <a:tr h="256032">
                <a:tc>
                  <a:txBody>
                    <a:bodyPr/>
                    <a:lstStyle/>
                    <a:p>
                      <a:pPr algn="ctr"/>
                      <a:r>
                        <a:rPr sz="850" b="1" i="0">
                          <a:solidFill>
                            <a:srgbClr val="002060"/>
                          </a:solidFill>
                          <a:latin typeface="Arial"/>
                        </a:rPr>
                        <a:t>13</a:t>
                      </a:r>
                    </a:p>
                  </a:txBody>
                  <a:tcPr>
                    <a:solidFill>
                      <a:srgbClr val="FFFFFF"/>
                    </a:solidFill>
                  </a:tcPr>
                </a:tc>
                <a:tc>
                  <a:txBody>
                    <a:bodyPr/>
                    <a:lstStyle/>
                    <a:p>
                      <a:pPr algn="l"/>
                      <a:r>
                        <a:rPr sz="850" b="0" i="0">
                          <a:solidFill>
                            <a:srgbClr val="262626"/>
                          </a:solidFill>
                          <a:latin typeface="Arial"/>
                        </a:rPr>
                        <a:t>Rosa Elena Martinez Melchior</a:t>
                      </a:r>
                    </a:p>
                  </a:txBody>
                  <a:tcPr>
                    <a:solidFill>
                      <a:srgbClr val="FFFFFF"/>
                    </a:solidFill>
                  </a:tcPr>
                </a:tc>
                <a:tc>
                  <a:txBody>
                    <a:bodyPr/>
                    <a:lstStyle/>
                    <a:p>
                      <a:pPr algn="ctr"/>
                      <a:r>
                        <a:rPr sz="850" b="1" i="0">
                          <a:solidFill>
                            <a:srgbClr val="262626"/>
                          </a:solidFill>
                          <a:latin typeface="Arial"/>
                        </a:rPr>
                        <a:t>61%</a:t>
                      </a:r>
                    </a:p>
                  </a:txBody>
                  <a:tcPr>
                    <a:solidFill>
                      <a:srgbClr val="FFFFFF"/>
                    </a:solidFill>
                  </a:tcPr>
                </a:tc>
                <a:tc>
                  <a:txBody>
                    <a:bodyPr/>
                    <a:lstStyle/>
                    <a:p>
                      <a:pPr algn="ctr"/>
                      <a:r>
                        <a:rPr sz="850" b="1" i="0">
                          <a:solidFill>
                            <a:srgbClr val="262626"/>
                          </a:solidFill>
                          <a:latin typeface="Arial"/>
                        </a:rPr>
                        <a:t>10:08</a:t>
                      </a:r>
                    </a:p>
                  </a:txBody>
                  <a:tcPr>
                    <a:solidFill>
                      <a:srgbClr val="FFFFFF"/>
                    </a:solidFill>
                  </a:tcPr>
                </a:tc>
                <a:tc>
                  <a:txBody>
                    <a:bodyPr/>
                    <a:lstStyle/>
                    <a:p>
                      <a:pPr algn="ctr"/>
                      <a:r>
                        <a:rPr sz="850" b="0" i="0">
                          <a:solidFill>
                            <a:srgbClr val="262626"/>
                          </a:solidFill>
                          <a:latin typeface="Arial"/>
                        </a:rPr>
                        <a:t>20:33</a:t>
                      </a:r>
                    </a:p>
                  </a:txBody>
                  <a:tcPr>
                    <a:solidFill>
                      <a:srgbClr val="FFFFFF"/>
                    </a:solidFill>
                  </a:tcPr>
                </a:tc>
                <a:tc>
                  <a:txBody>
                    <a:bodyPr/>
                    <a:lstStyle/>
                    <a:p>
                      <a:pPr algn="ctr"/>
                      <a:r>
                        <a:rPr sz="850" b="0" i="0">
                          <a:solidFill>
                            <a:srgbClr val="BFBFBF"/>
                          </a:solidFill>
                          <a:latin typeface="Arial"/>
                        </a:rPr>
                        <a:t>17/11</a:t>
                      </a:r>
                    </a:p>
                  </a:txBody>
                  <a:tcPr>
                    <a:solidFill>
                      <a:srgbClr val="FFFFFF"/>
                    </a:solidFill>
                  </a:tcPr>
                </a:tc>
                <a:extLst>
                  <a:ext uri="{0D108BD9-81ED-4DB2-BD59-A6C34878D82A}">
                    <a16:rowId xmlns:a16="http://schemas.microsoft.com/office/drawing/2014/main" val="10013"/>
                  </a:ext>
                </a:extLst>
              </a:tr>
              <a:tr h="256032">
                <a:tc>
                  <a:txBody>
                    <a:bodyPr/>
                    <a:lstStyle/>
                    <a:p>
                      <a:pPr algn="ctr"/>
                      <a:r>
                        <a:rPr sz="850" b="1" i="0">
                          <a:solidFill>
                            <a:srgbClr val="002060"/>
                          </a:solidFill>
                          <a:latin typeface="Arial"/>
                        </a:rPr>
                        <a:t>14</a:t>
                      </a:r>
                    </a:p>
                  </a:txBody>
                  <a:tcPr>
                    <a:solidFill>
                      <a:srgbClr val="F2F2F2"/>
                    </a:solidFill>
                  </a:tcPr>
                </a:tc>
                <a:tc>
                  <a:txBody>
                    <a:bodyPr/>
                    <a:lstStyle/>
                    <a:p>
                      <a:pPr algn="l"/>
                      <a:r>
                        <a:rPr sz="850" b="0" i="0">
                          <a:solidFill>
                            <a:srgbClr val="262626"/>
                          </a:solidFill>
                          <a:latin typeface="Arial"/>
                        </a:rPr>
                        <a:t>Kanae Takenaka</a:t>
                      </a:r>
                    </a:p>
                  </a:txBody>
                  <a:tcPr>
                    <a:solidFill>
                      <a:srgbClr val="F2F2F2"/>
                    </a:solidFill>
                  </a:tcPr>
                </a:tc>
                <a:tc>
                  <a:txBody>
                    <a:bodyPr/>
                    <a:lstStyle/>
                    <a:p>
                      <a:pPr algn="ctr"/>
                      <a:r>
                        <a:rPr sz="850" b="1" i="0">
                          <a:solidFill>
                            <a:srgbClr val="262626"/>
                          </a:solidFill>
                          <a:latin typeface="Arial"/>
                        </a:rPr>
                        <a:t>56%</a:t>
                      </a:r>
                    </a:p>
                  </a:txBody>
                  <a:tcPr>
                    <a:solidFill>
                      <a:srgbClr val="F2F2F2"/>
                    </a:solidFill>
                  </a:tcPr>
                </a:tc>
                <a:tc>
                  <a:txBody>
                    <a:bodyPr/>
                    <a:lstStyle/>
                    <a:p>
                      <a:pPr algn="ctr"/>
                      <a:r>
                        <a:rPr sz="850" b="1" i="0">
                          <a:solidFill>
                            <a:srgbClr val="262626"/>
                          </a:solidFill>
                          <a:latin typeface="Arial"/>
                        </a:rPr>
                        <a:t>10:04</a:t>
                      </a:r>
                    </a:p>
                  </a:txBody>
                  <a:tcPr>
                    <a:solidFill>
                      <a:srgbClr val="F2F2F2"/>
                    </a:solidFill>
                  </a:tcPr>
                </a:tc>
                <a:tc>
                  <a:txBody>
                    <a:bodyPr/>
                    <a:lstStyle/>
                    <a:p>
                      <a:pPr algn="ctr"/>
                      <a:r>
                        <a:rPr sz="850" b="0" i="0">
                          <a:solidFill>
                            <a:srgbClr val="262626"/>
                          </a:solidFill>
                          <a:latin typeface="Arial"/>
                        </a:rPr>
                        <a:t>19:50</a:t>
                      </a:r>
                    </a:p>
                  </a:txBody>
                  <a:tcPr>
                    <a:solidFill>
                      <a:srgbClr val="F2F2F2"/>
                    </a:solidFill>
                  </a:tcPr>
                </a:tc>
                <a:tc>
                  <a:txBody>
                    <a:bodyPr/>
                    <a:lstStyle/>
                    <a:p>
                      <a:pPr algn="ctr"/>
                      <a:r>
                        <a:rPr sz="850" b="0" i="0">
                          <a:solidFill>
                            <a:srgbClr val="BFBFBF"/>
                          </a:solidFill>
                          <a:latin typeface="Arial"/>
                        </a:rPr>
                        <a:t>10/6</a:t>
                      </a:r>
                    </a:p>
                  </a:txBody>
                  <a:tcPr>
                    <a:solidFill>
                      <a:srgbClr val="F2F2F2"/>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USA World Rankings Snapshot</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70432"/>
            <a:ext cx="11430000" cy="256032"/>
          </a:xfrm>
          <a:prstGeom prst="rect">
            <a:avLst/>
          </a:prstGeom>
          <a:noFill/>
        </p:spPr>
        <p:txBody>
          <a:bodyPr wrap="square">
            <a:spAutoFit/>
          </a:bodyPr>
          <a:lstStyle/>
          <a:p>
            <a:pPr algn="ctr"/>
            <a:r>
              <a:rPr sz="1200" b="1" i="0">
                <a:solidFill>
                  <a:srgbClr val="002060"/>
                </a:solidFill>
                <a:latin typeface="Arial"/>
              </a:rPr>
              <a:t>As of 2026-08-10   •   World Triathlon Rankings   •   Heading into Weihai   •   Race tier: WTCS</a:t>
            </a:r>
          </a:p>
        </p:txBody>
      </p:sp>
      <p:sp>
        <p:nvSpPr>
          <p:cNvPr id="10" name="Rectangle 9"/>
          <p:cNvSpPr/>
          <p:nvPr/>
        </p:nvSpPr>
        <p:spPr>
          <a:xfrm>
            <a:off x="274320" y="1600200"/>
            <a:ext cx="11640312" cy="2926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627632"/>
            <a:ext cx="11430000" cy="246888"/>
          </a:xfrm>
          <a:prstGeom prst="rect">
            <a:avLst/>
          </a:prstGeom>
          <a:noFill/>
        </p:spPr>
        <p:txBody>
          <a:bodyPr wrap="square">
            <a:spAutoFit/>
          </a:bodyPr>
          <a:lstStyle/>
          <a:p>
            <a:pPr algn="l"/>
            <a:r>
              <a:rPr sz="1200" b="1" i="0">
                <a:solidFill>
                  <a:srgbClr val="FFFFFF"/>
                </a:solidFill>
                <a:latin typeface="Arial"/>
              </a:rPr>
              <a:t>Max Points Available at this Race</a:t>
            </a:r>
          </a:p>
        </p:txBody>
      </p:sp>
      <p:sp>
        <p:nvSpPr>
          <p:cNvPr id="12" name="Rectangle 11"/>
          <p:cNvSpPr/>
          <p:nvPr/>
        </p:nvSpPr>
        <p:spPr>
          <a:xfrm>
            <a:off x="274320" y="1984248"/>
            <a:ext cx="1803196" cy="502920"/>
          </a:xfrm>
          <a:prstGeom prst="rect">
            <a:avLst/>
          </a:prstGeom>
          <a:solidFill>
            <a:srgbClr val="F2F2F2"/>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 y="2011680"/>
            <a:ext cx="1803196" cy="182880"/>
          </a:xfrm>
          <a:prstGeom prst="rect">
            <a:avLst/>
          </a:prstGeom>
          <a:noFill/>
        </p:spPr>
        <p:txBody>
          <a:bodyPr wrap="square">
            <a:spAutoFit/>
          </a:bodyPr>
          <a:lstStyle/>
          <a:p>
            <a:pPr algn="ctr"/>
            <a:r>
              <a:rPr sz="900" b="1" i="0">
                <a:solidFill>
                  <a:srgbClr val="002060"/>
                </a:solidFill>
                <a:latin typeface="Arial"/>
              </a:rPr>
              <a:t>Win</a:t>
            </a:r>
          </a:p>
        </p:txBody>
      </p:sp>
      <p:sp>
        <p:nvSpPr>
          <p:cNvPr id="14" name="TextBox 13"/>
          <p:cNvSpPr txBox="1"/>
          <p:nvPr/>
        </p:nvSpPr>
        <p:spPr>
          <a:xfrm>
            <a:off x="274320" y="2185416"/>
            <a:ext cx="1803196" cy="292608"/>
          </a:xfrm>
          <a:prstGeom prst="rect">
            <a:avLst/>
          </a:prstGeom>
          <a:noFill/>
        </p:spPr>
        <p:txBody>
          <a:bodyPr wrap="square">
            <a:spAutoFit/>
          </a:bodyPr>
          <a:lstStyle/>
          <a:p>
            <a:pPr algn="ctr"/>
            <a:r>
              <a:rPr sz="1400" b="1" i="0">
                <a:solidFill>
                  <a:srgbClr val="C00000"/>
                </a:solidFill>
                <a:latin typeface="Arial"/>
              </a:rPr>
              <a:t>1,000 pts</a:t>
            </a:r>
          </a:p>
        </p:txBody>
      </p:sp>
      <p:sp>
        <p:nvSpPr>
          <p:cNvPr id="15" name="Rectangle 14"/>
          <p:cNvSpPr/>
          <p:nvPr/>
        </p:nvSpPr>
        <p:spPr>
          <a:xfrm>
            <a:off x="2242108"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42108" y="2011680"/>
            <a:ext cx="1803196" cy="182880"/>
          </a:xfrm>
          <a:prstGeom prst="rect">
            <a:avLst/>
          </a:prstGeom>
          <a:noFill/>
        </p:spPr>
        <p:txBody>
          <a:bodyPr wrap="square">
            <a:spAutoFit/>
          </a:bodyPr>
          <a:lstStyle/>
          <a:p>
            <a:pPr algn="ctr"/>
            <a:r>
              <a:rPr sz="900" b="1" i="0">
                <a:solidFill>
                  <a:srgbClr val="002060"/>
                </a:solidFill>
                <a:latin typeface="Arial"/>
              </a:rPr>
              <a:t>Podium</a:t>
            </a:r>
          </a:p>
        </p:txBody>
      </p:sp>
      <p:sp>
        <p:nvSpPr>
          <p:cNvPr id="17" name="TextBox 16"/>
          <p:cNvSpPr txBox="1"/>
          <p:nvPr/>
        </p:nvSpPr>
        <p:spPr>
          <a:xfrm>
            <a:off x="2242108" y="2185416"/>
            <a:ext cx="1803196" cy="292608"/>
          </a:xfrm>
          <a:prstGeom prst="rect">
            <a:avLst/>
          </a:prstGeom>
          <a:noFill/>
        </p:spPr>
        <p:txBody>
          <a:bodyPr wrap="square">
            <a:spAutoFit/>
          </a:bodyPr>
          <a:lstStyle/>
          <a:p>
            <a:pPr algn="ctr"/>
            <a:r>
              <a:rPr sz="1400" b="1" i="0">
                <a:solidFill>
                  <a:srgbClr val="002060"/>
                </a:solidFill>
                <a:latin typeface="Arial"/>
              </a:rPr>
              <a:t>855 pts</a:t>
            </a:r>
          </a:p>
        </p:txBody>
      </p:sp>
      <p:sp>
        <p:nvSpPr>
          <p:cNvPr id="18" name="Rectangle 17"/>
          <p:cNvSpPr/>
          <p:nvPr/>
        </p:nvSpPr>
        <p:spPr>
          <a:xfrm>
            <a:off x="4209896"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09896" y="2011680"/>
            <a:ext cx="1803196" cy="182880"/>
          </a:xfrm>
          <a:prstGeom prst="rect">
            <a:avLst/>
          </a:prstGeom>
          <a:noFill/>
        </p:spPr>
        <p:txBody>
          <a:bodyPr wrap="square">
            <a:spAutoFit/>
          </a:bodyPr>
          <a:lstStyle/>
          <a:p>
            <a:pPr algn="ctr"/>
            <a:r>
              <a:rPr sz="900" b="1" i="0">
                <a:solidFill>
                  <a:srgbClr val="002060"/>
                </a:solidFill>
                <a:latin typeface="Arial"/>
              </a:rPr>
              <a:t>Top 5</a:t>
            </a:r>
          </a:p>
        </p:txBody>
      </p:sp>
      <p:sp>
        <p:nvSpPr>
          <p:cNvPr id="20" name="TextBox 19"/>
          <p:cNvSpPr txBox="1"/>
          <p:nvPr/>
        </p:nvSpPr>
        <p:spPr>
          <a:xfrm>
            <a:off x="4209896" y="2185416"/>
            <a:ext cx="1803196" cy="292608"/>
          </a:xfrm>
          <a:prstGeom prst="rect">
            <a:avLst/>
          </a:prstGeom>
          <a:noFill/>
        </p:spPr>
        <p:txBody>
          <a:bodyPr wrap="square">
            <a:spAutoFit/>
          </a:bodyPr>
          <a:lstStyle/>
          <a:p>
            <a:pPr algn="ctr"/>
            <a:r>
              <a:rPr sz="1400" b="1" i="0">
                <a:solidFill>
                  <a:srgbClr val="002060"/>
                </a:solidFill>
                <a:latin typeface="Arial"/>
              </a:rPr>
              <a:t>732 pts</a:t>
            </a:r>
          </a:p>
        </p:txBody>
      </p:sp>
      <p:sp>
        <p:nvSpPr>
          <p:cNvPr id="21" name="Rectangle 20"/>
          <p:cNvSpPr/>
          <p:nvPr/>
        </p:nvSpPr>
        <p:spPr>
          <a:xfrm>
            <a:off x="6177684"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77684" y="2011680"/>
            <a:ext cx="1803196" cy="182880"/>
          </a:xfrm>
          <a:prstGeom prst="rect">
            <a:avLst/>
          </a:prstGeom>
          <a:noFill/>
        </p:spPr>
        <p:txBody>
          <a:bodyPr wrap="square">
            <a:spAutoFit/>
          </a:bodyPr>
          <a:lstStyle/>
          <a:p>
            <a:pPr algn="ctr"/>
            <a:r>
              <a:rPr sz="900" b="1" i="0">
                <a:solidFill>
                  <a:srgbClr val="002060"/>
                </a:solidFill>
                <a:latin typeface="Arial"/>
              </a:rPr>
              <a:t>Top 10</a:t>
            </a:r>
          </a:p>
        </p:txBody>
      </p:sp>
      <p:sp>
        <p:nvSpPr>
          <p:cNvPr id="23" name="TextBox 22"/>
          <p:cNvSpPr txBox="1"/>
          <p:nvPr/>
        </p:nvSpPr>
        <p:spPr>
          <a:xfrm>
            <a:off x="6177684" y="2185416"/>
            <a:ext cx="1803196" cy="292608"/>
          </a:xfrm>
          <a:prstGeom prst="rect">
            <a:avLst/>
          </a:prstGeom>
          <a:noFill/>
        </p:spPr>
        <p:txBody>
          <a:bodyPr wrap="square">
            <a:spAutoFit/>
          </a:bodyPr>
          <a:lstStyle/>
          <a:p>
            <a:pPr algn="ctr"/>
            <a:r>
              <a:rPr sz="1400" b="1" i="0">
                <a:solidFill>
                  <a:srgbClr val="002060"/>
                </a:solidFill>
                <a:latin typeface="Arial"/>
              </a:rPr>
              <a:t>495 pts</a:t>
            </a:r>
          </a:p>
        </p:txBody>
      </p:sp>
      <p:sp>
        <p:nvSpPr>
          <p:cNvPr id="24" name="Rectangle 23"/>
          <p:cNvSpPr/>
          <p:nvPr/>
        </p:nvSpPr>
        <p:spPr>
          <a:xfrm>
            <a:off x="8145472"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45472" y="2011680"/>
            <a:ext cx="1803196" cy="182880"/>
          </a:xfrm>
          <a:prstGeom prst="rect">
            <a:avLst/>
          </a:prstGeom>
          <a:noFill/>
        </p:spPr>
        <p:txBody>
          <a:bodyPr wrap="square">
            <a:spAutoFit/>
          </a:bodyPr>
          <a:lstStyle/>
          <a:p>
            <a:pPr algn="ctr"/>
            <a:r>
              <a:rPr sz="900" b="1" i="0">
                <a:solidFill>
                  <a:srgbClr val="002060"/>
                </a:solidFill>
                <a:latin typeface="Arial"/>
              </a:rPr>
              <a:t>Top 15</a:t>
            </a:r>
          </a:p>
        </p:txBody>
      </p:sp>
      <p:sp>
        <p:nvSpPr>
          <p:cNvPr id="26" name="TextBox 25"/>
          <p:cNvSpPr txBox="1"/>
          <p:nvPr/>
        </p:nvSpPr>
        <p:spPr>
          <a:xfrm>
            <a:off x="8145472" y="2185416"/>
            <a:ext cx="1803196" cy="292608"/>
          </a:xfrm>
          <a:prstGeom prst="rect">
            <a:avLst/>
          </a:prstGeom>
          <a:noFill/>
        </p:spPr>
        <p:txBody>
          <a:bodyPr wrap="square">
            <a:spAutoFit/>
          </a:bodyPr>
          <a:lstStyle/>
          <a:p>
            <a:pPr algn="ctr"/>
            <a:r>
              <a:rPr sz="1400" b="1" i="0">
                <a:solidFill>
                  <a:srgbClr val="002060"/>
                </a:solidFill>
                <a:latin typeface="Arial"/>
              </a:rPr>
              <a:t>335 pts</a:t>
            </a:r>
          </a:p>
        </p:txBody>
      </p:sp>
      <p:sp>
        <p:nvSpPr>
          <p:cNvPr id="27" name="Rectangle 26"/>
          <p:cNvSpPr/>
          <p:nvPr/>
        </p:nvSpPr>
        <p:spPr>
          <a:xfrm>
            <a:off x="10113260" y="1984248"/>
            <a:ext cx="1803196" cy="502920"/>
          </a:xfrm>
          <a:prstGeom prst="rect">
            <a:avLst/>
          </a:prstGeom>
          <a:solidFill>
            <a:srgbClr val="F2F2F2"/>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113260" y="2011680"/>
            <a:ext cx="1803196" cy="182880"/>
          </a:xfrm>
          <a:prstGeom prst="rect">
            <a:avLst/>
          </a:prstGeom>
          <a:noFill/>
        </p:spPr>
        <p:txBody>
          <a:bodyPr wrap="square">
            <a:spAutoFit/>
          </a:bodyPr>
          <a:lstStyle/>
          <a:p>
            <a:pPr algn="ctr"/>
            <a:r>
              <a:rPr sz="900" b="1" i="0">
                <a:solidFill>
                  <a:srgbClr val="002060"/>
                </a:solidFill>
                <a:latin typeface="Arial"/>
              </a:rPr>
              <a:t>Top 20</a:t>
            </a:r>
          </a:p>
        </p:txBody>
      </p:sp>
      <p:sp>
        <p:nvSpPr>
          <p:cNvPr id="29" name="TextBox 28"/>
          <p:cNvSpPr txBox="1"/>
          <p:nvPr/>
        </p:nvSpPr>
        <p:spPr>
          <a:xfrm>
            <a:off x="10113260" y="2185416"/>
            <a:ext cx="1803196" cy="292608"/>
          </a:xfrm>
          <a:prstGeom prst="rect">
            <a:avLst/>
          </a:prstGeom>
          <a:noFill/>
        </p:spPr>
        <p:txBody>
          <a:bodyPr wrap="square">
            <a:spAutoFit/>
          </a:bodyPr>
          <a:lstStyle/>
          <a:p>
            <a:pPr algn="ctr"/>
            <a:r>
              <a:rPr sz="1400" b="1" i="0">
                <a:solidFill>
                  <a:srgbClr val="BFBFBF"/>
                </a:solidFill>
                <a:latin typeface="Arial"/>
              </a:rPr>
              <a:t>227 pts</a:t>
            </a:r>
          </a:p>
        </p:txBody>
      </p:sp>
      <p:sp>
        <p:nvSpPr>
          <p:cNvPr id="30" name="Rectangle 29"/>
          <p:cNvSpPr/>
          <p:nvPr/>
        </p:nvSpPr>
        <p:spPr>
          <a:xfrm>
            <a:off x="274320" y="26060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 y="2633472"/>
            <a:ext cx="5788152" cy="237744"/>
          </a:xfrm>
          <a:prstGeom prst="rect">
            <a:avLst/>
          </a:prstGeom>
          <a:noFill/>
        </p:spPr>
        <p:txBody>
          <a:bodyPr wrap="square">
            <a:spAutoFit/>
          </a:bodyPr>
          <a:lstStyle/>
          <a:p>
            <a:pPr algn="ctr"/>
            <a:r>
              <a:rPr sz="1100" b="1" i="0">
                <a:solidFill>
                  <a:srgbClr val="FFFFFF"/>
                </a:solidFill>
                <a:latin typeface="Arial"/>
              </a:rPr>
              <a:t>ELITE MEN</a:t>
            </a:r>
          </a:p>
        </p:txBody>
      </p:sp>
      <p:graphicFrame>
        <p:nvGraphicFramePr>
          <p:cNvPr id="32" name="Table 31"/>
          <p:cNvGraphicFramePr>
            <a:graphicFrameLocks noGrp="1"/>
          </p:cNvGraphicFramePr>
          <p:nvPr/>
        </p:nvGraphicFramePr>
        <p:xfrm>
          <a:off x="274320" y="2935224"/>
          <a:ext cx="5787236" cy="3589020"/>
        </p:xfrm>
        <a:graphic>
          <a:graphicData uri="http://schemas.openxmlformats.org/drawingml/2006/table">
            <a:tbl>
              <a:tblPr firstRow="1" bandRow="1">
                <a:tableStyleId>{5C22544A-7EE6-4342-B048-85BDC9FD1C3A}</a:tableStyleId>
              </a:tblPr>
              <a:tblGrid>
                <a:gridCol w="783640">
                  <a:extLst>
                    <a:ext uri="{9D8B030D-6E8A-4147-A177-3AD203B41FA5}">
                      <a16:colId xmlns:a16="http://schemas.microsoft.com/office/drawing/2014/main" val="20000"/>
                    </a:ext>
                  </a:extLst>
                </a:gridCol>
                <a:gridCol w="2531973">
                  <a:extLst>
                    <a:ext uri="{9D8B030D-6E8A-4147-A177-3AD203B41FA5}">
                      <a16:colId xmlns:a16="http://schemas.microsoft.com/office/drawing/2014/main" val="20001"/>
                    </a:ext>
                  </a:extLst>
                </a:gridCol>
                <a:gridCol w="1145743">
                  <a:extLst>
                    <a:ext uri="{9D8B030D-6E8A-4147-A177-3AD203B41FA5}">
                      <a16:colId xmlns:a16="http://schemas.microsoft.com/office/drawing/2014/main" val="20002"/>
                    </a:ext>
                  </a:extLst>
                </a:gridCol>
                <a:gridCol w="662940">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tblGrid>
              <a:tr h="224028">
                <a:tc>
                  <a:txBody>
                    <a:bodyPr/>
                    <a:lstStyle/>
                    <a:p>
                      <a:pPr algn="ctr"/>
                      <a:r>
                        <a:rPr sz="900" b="1" i="0">
                          <a:solidFill>
                            <a:srgbClr val="FFFFFF"/>
                          </a:solidFill>
                          <a:latin typeface="Arial"/>
                        </a:rPr>
                        <a:t>Rank</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Points</a:t>
                      </a:r>
                    </a:p>
                  </a:txBody>
                  <a:tcPr>
                    <a:solidFill>
                      <a:srgbClr val="002060"/>
                    </a:solidFill>
                  </a:tcPr>
                </a:tc>
                <a:tc>
                  <a:txBody>
                    <a:bodyPr/>
                    <a:lstStyle/>
                    <a:p>
                      <a:pPr algn="ctr"/>
                      <a:r>
                        <a:rPr sz="900" b="1" i="0">
                          <a:solidFill>
                            <a:srgbClr val="FFFFFF"/>
                          </a:solidFill>
                          <a:latin typeface="Arial"/>
                        </a:rPr>
                        <a:t>Curr</a:t>
                      </a:r>
                    </a:p>
                  </a:txBody>
                  <a:tcPr>
                    <a:solidFill>
                      <a:srgbClr val="002060"/>
                    </a:solidFill>
                  </a:tcPr>
                </a:tc>
                <a:tc>
                  <a:txBody>
                    <a:bodyPr/>
                    <a:lstStyle/>
                    <a:p>
                      <a:pPr algn="ctr"/>
                      <a:r>
                        <a:rPr sz="900" b="1" i="0">
                          <a:solidFill>
                            <a:srgbClr val="FFFFFF"/>
                          </a:solidFill>
                          <a:latin typeface="Arial"/>
                        </a:rPr>
                        <a:t>Prev</a:t>
                      </a:r>
                    </a:p>
                  </a:txBody>
                  <a:tcPr>
                    <a:solidFill>
                      <a:srgbClr val="002060"/>
                    </a:solidFill>
                  </a:tcPr>
                </a:tc>
                <a:extLst>
                  <a:ext uri="{0D108BD9-81ED-4DB2-BD59-A6C34878D82A}">
                    <a16:rowId xmlns:a16="http://schemas.microsoft.com/office/drawing/2014/main" val="10000"/>
                  </a:ext>
                </a:extLst>
              </a:tr>
              <a:tr h="224028">
                <a:tc>
                  <a:txBody>
                    <a:bodyPr/>
                    <a:lstStyle/>
                    <a:p>
                      <a:pPr algn="ctr"/>
                      <a:r>
                        <a:rPr sz="850" b="1" i="0">
                          <a:solidFill>
                            <a:srgbClr val="262626"/>
                          </a:solidFill>
                          <a:latin typeface="Arial"/>
                        </a:rPr>
                        <a:t>20</a:t>
                      </a:r>
                    </a:p>
                  </a:txBody>
                  <a:tcPr>
                    <a:solidFill>
                      <a:srgbClr val="FFFFFF"/>
                    </a:solidFill>
                  </a:tcPr>
                </a:tc>
                <a:tc>
                  <a:txBody>
                    <a:bodyPr/>
                    <a:lstStyle/>
                    <a:p>
                      <a:pPr algn="l"/>
                      <a:r>
                        <a:rPr sz="850" b="0" i="0">
                          <a:solidFill>
                            <a:srgbClr val="262626"/>
                          </a:solidFill>
                          <a:latin typeface="Arial"/>
                        </a:rPr>
                        <a:t>John Reed</a:t>
                      </a:r>
                    </a:p>
                  </a:txBody>
                  <a:tcPr>
                    <a:solidFill>
                      <a:srgbClr val="FFFFFF"/>
                    </a:solidFill>
                  </a:tcPr>
                </a:tc>
                <a:tc>
                  <a:txBody>
                    <a:bodyPr/>
                    <a:lstStyle/>
                    <a:p>
                      <a:pPr algn="ctr"/>
                      <a:r>
                        <a:rPr sz="850" b="0" i="0">
                          <a:solidFill>
                            <a:srgbClr val="262626"/>
                          </a:solidFill>
                          <a:latin typeface="Arial"/>
                        </a:rPr>
                        <a:t>2,898</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1"/>
                  </a:ext>
                </a:extLst>
              </a:tr>
              <a:tr h="224028">
                <a:tc>
                  <a:txBody>
                    <a:bodyPr/>
                    <a:lstStyle/>
                    <a:p>
                      <a:pPr algn="ctr"/>
                      <a:r>
                        <a:rPr sz="850" b="1" i="0">
                          <a:solidFill>
                            <a:srgbClr val="262626"/>
                          </a:solidFill>
                          <a:latin typeface="Arial"/>
                        </a:rPr>
                        <a:t>22</a:t>
                      </a:r>
                    </a:p>
                  </a:txBody>
                  <a:tcPr>
                    <a:solidFill>
                      <a:srgbClr val="F2F2F2"/>
                    </a:solidFill>
                  </a:tcPr>
                </a:tc>
                <a:tc>
                  <a:txBody>
                    <a:bodyPr/>
                    <a:lstStyle/>
                    <a:p>
                      <a:pPr algn="l"/>
                      <a:r>
                        <a:rPr sz="850" b="0" i="0">
                          <a:solidFill>
                            <a:srgbClr val="262626"/>
                          </a:solidFill>
                          <a:latin typeface="Arial"/>
                        </a:rPr>
                        <a:t>Reese Vannerson</a:t>
                      </a:r>
                    </a:p>
                  </a:txBody>
                  <a:tcPr>
                    <a:solidFill>
                      <a:srgbClr val="F2F2F2"/>
                    </a:solidFill>
                  </a:tcPr>
                </a:tc>
                <a:tc>
                  <a:txBody>
                    <a:bodyPr/>
                    <a:lstStyle/>
                    <a:p>
                      <a:pPr algn="ctr"/>
                      <a:r>
                        <a:rPr sz="850" b="0" i="0">
                          <a:solidFill>
                            <a:srgbClr val="262626"/>
                          </a:solidFill>
                          <a:latin typeface="Arial"/>
                        </a:rPr>
                        <a:t>2,818</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2"/>
                  </a:ext>
                </a:extLst>
              </a:tr>
              <a:tr h="224028">
                <a:tc>
                  <a:txBody>
                    <a:bodyPr/>
                    <a:lstStyle/>
                    <a:p>
                      <a:pPr algn="ctr"/>
                      <a:r>
                        <a:rPr sz="850" b="1" i="0">
                          <a:solidFill>
                            <a:srgbClr val="262626"/>
                          </a:solidFill>
                          <a:latin typeface="Arial"/>
                        </a:rPr>
                        <a:t>27</a:t>
                      </a:r>
                    </a:p>
                  </a:txBody>
                  <a:tcPr>
                    <a:solidFill>
                      <a:srgbClr val="FFFFFF"/>
                    </a:solidFill>
                  </a:tcPr>
                </a:tc>
                <a:tc>
                  <a:txBody>
                    <a:bodyPr/>
                    <a:lstStyle/>
                    <a:p>
                      <a:pPr algn="l"/>
                      <a:r>
                        <a:rPr sz="850" b="0" i="0">
                          <a:solidFill>
                            <a:srgbClr val="262626"/>
                          </a:solidFill>
                          <a:latin typeface="Arial"/>
                        </a:rPr>
                        <a:t>Morgan Pearson</a:t>
                      </a:r>
                    </a:p>
                  </a:txBody>
                  <a:tcPr>
                    <a:solidFill>
                      <a:srgbClr val="FFFFFF"/>
                    </a:solidFill>
                  </a:tcPr>
                </a:tc>
                <a:tc>
                  <a:txBody>
                    <a:bodyPr/>
                    <a:lstStyle/>
                    <a:p>
                      <a:pPr algn="ctr"/>
                      <a:r>
                        <a:rPr sz="850" b="0" i="0">
                          <a:solidFill>
                            <a:srgbClr val="262626"/>
                          </a:solidFill>
                          <a:latin typeface="Arial"/>
                        </a:rPr>
                        <a:t>2,680</a:t>
                      </a:r>
                    </a:p>
                  </a:txBody>
                  <a:tcPr>
                    <a:solidFill>
                      <a:srgbClr val="FFFFFF"/>
                    </a:solidFill>
                  </a:tcPr>
                </a:tc>
                <a:tc>
                  <a:txBody>
                    <a:bodyPr/>
                    <a:lstStyle/>
                    <a:p>
                      <a:pPr algn="ctr"/>
                      <a:r>
                        <a:rPr sz="850" b="0" i="0">
                          <a:solidFill>
                            <a:srgbClr val="262626"/>
                          </a:solidFill>
                          <a:latin typeface="Arial"/>
                        </a:rPr>
                        <a:t>5</a:t>
                      </a:r>
                    </a:p>
                  </a:txBody>
                  <a:tcPr>
                    <a:solidFill>
                      <a:srgbClr val="FFFFFF"/>
                    </a:solidFill>
                  </a:tcPr>
                </a:tc>
                <a:tc>
                  <a:txBody>
                    <a:bodyPr/>
                    <a:lstStyle/>
                    <a:p>
                      <a:pPr algn="ctr"/>
                      <a:r>
                        <a:rPr sz="850" b="0" i="0">
                          <a:solidFill>
                            <a:srgbClr val="262626"/>
                          </a:solidFill>
                          <a:latin typeface="Arial"/>
                        </a:rPr>
                        <a:t>4</a:t>
                      </a:r>
                    </a:p>
                  </a:txBody>
                  <a:tcPr>
                    <a:solidFill>
                      <a:srgbClr val="FFFFFF"/>
                    </a:solidFill>
                  </a:tcPr>
                </a:tc>
                <a:extLst>
                  <a:ext uri="{0D108BD9-81ED-4DB2-BD59-A6C34878D82A}">
                    <a16:rowId xmlns:a16="http://schemas.microsoft.com/office/drawing/2014/main" val="10003"/>
                  </a:ext>
                </a:extLst>
              </a:tr>
              <a:tr h="224028">
                <a:tc>
                  <a:txBody>
                    <a:bodyPr/>
                    <a:lstStyle/>
                    <a:p>
                      <a:pPr algn="ctr"/>
                      <a:r>
                        <a:rPr sz="850" b="1" i="0">
                          <a:solidFill>
                            <a:srgbClr val="262626"/>
                          </a:solidFill>
                          <a:latin typeface="Arial"/>
                        </a:rPr>
                        <a:t>42</a:t>
                      </a:r>
                    </a:p>
                  </a:txBody>
                  <a:tcPr>
                    <a:solidFill>
                      <a:srgbClr val="F2F2F2"/>
                    </a:solidFill>
                  </a:tcPr>
                </a:tc>
                <a:tc>
                  <a:txBody>
                    <a:bodyPr/>
                    <a:lstStyle/>
                    <a:p>
                      <a:pPr algn="l"/>
                      <a:r>
                        <a:rPr sz="850" b="0" i="0">
                          <a:solidFill>
                            <a:srgbClr val="262626"/>
                          </a:solidFill>
                          <a:latin typeface="Arial"/>
                        </a:rPr>
                        <a:t>Braxton Legg</a:t>
                      </a:r>
                    </a:p>
                  </a:txBody>
                  <a:tcPr>
                    <a:solidFill>
                      <a:srgbClr val="F2F2F2"/>
                    </a:solidFill>
                  </a:tcPr>
                </a:tc>
                <a:tc>
                  <a:txBody>
                    <a:bodyPr/>
                    <a:lstStyle/>
                    <a:p>
                      <a:pPr algn="ctr"/>
                      <a:r>
                        <a:rPr sz="850" b="0" i="0">
                          <a:solidFill>
                            <a:srgbClr val="262626"/>
                          </a:solidFill>
                          <a:latin typeface="Arial"/>
                        </a:rPr>
                        <a:t>2,442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4"/>
                  </a:ext>
                </a:extLst>
              </a:tr>
              <a:tr h="224028">
                <a:tc>
                  <a:txBody>
                    <a:bodyPr/>
                    <a:lstStyle/>
                    <a:p>
                      <a:pPr algn="ctr"/>
                      <a:r>
                        <a:rPr sz="850" b="1" i="0">
                          <a:solidFill>
                            <a:srgbClr val="262626"/>
                          </a:solidFill>
                          <a:latin typeface="Arial"/>
                        </a:rPr>
                        <a:t>52</a:t>
                      </a:r>
                    </a:p>
                  </a:txBody>
                  <a:tcPr>
                    <a:solidFill>
                      <a:srgbClr val="FFFFFF"/>
                    </a:solidFill>
                  </a:tcPr>
                </a:tc>
                <a:tc>
                  <a:txBody>
                    <a:bodyPr/>
                    <a:lstStyle/>
                    <a:p>
                      <a:pPr algn="l"/>
                      <a:r>
                        <a:rPr sz="850" b="0" i="0">
                          <a:solidFill>
                            <a:srgbClr val="262626"/>
                          </a:solidFill>
                          <a:latin typeface="Arial"/>
                        </a:rPr>
                        <a:t>Seth Rider</a:t>
                      </a:r>
                    </a:p>
                  </a:txBody>
                  <a:tcPr>
                    <a:solidFill>
                      <a:srgbClr val="FFFFFF"/>
                    </a:solidFill>
                  </a:tcPr>
                </a:tc>
                <a:tc>
                  <a:txBody>
                    <a:bodyPr/>
                    <a:lstStyle/>
                    <a:p>
                      <a:pPr algn="ctr"/>
                      <a:r>
                        <a:rPr sz="850" b="0" i="0">
                          <a:solidFill>
                            <a:srgbClr val="262626"/>
                          </a:solidFill>
                          <a:latin typeface="Arial"/>
                        </a:rPr>
                        <a:t>2,243</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4</a:t>
                      </a:r>
                    </a:p>
                  </a:txBody>
                  <a:tcPr>
                    <a:solidFill>
                      <a:srgbClr val="FFFFFF"/>
                    </a:solidFill>
                  </a:tcPr>
                </a:tc>
                <a:extLst>
                  <a:ext uri="{0D108BD9-81ED-4DB2-BD59-A6C34878D82A}">
                    <a16:rowId xmlns:a16="http://schemas.microsoft.com/office/drawing/2014/main" val="10005"/>
                  </a:ext>
                </a:extLst>
              </a:tr>
              <a:tr h="224028">
                <a:tc>
                  <a:txBody>
                    <a:bodyPr/>
                    <a:lstStyle/>
                    <a:p>
                      <a:pPr algn="ctr"/>
                      <a:r>
                        <a:rPr sz="850" b="1" i="0">
                          <a:solidFill>
                            <a:srgbClr val="262626"/>
                          </a:solidFill>
                          <a:latin typeface="Arial"/>
                        </a:rPr>
                        <a:t>53</a:t>
                      </a:r>
                    </a:p>
                  </a:txBody>
                  <a:tcPr>
                    <a:solidFill>
                      <a:srgbClr val="F2F2F2"/>
                    </a:solidFill>
                  </a:tcPr>
                </a:tc>
                <a:tc>
                  <a:txBody>
                    <a:bodyPr/>
                    <a:lstStyle/>
                    <a:p>
                      <a:pPr algn="l"/>
                      <a:r>
                        <a:rPr sz="850" b="0" i="0">
                          <a:solidFill>
                            <a:srgbClr val="262626"/>
                          </a:solidFill>
                          <a:latin typeface="Arial"/>
                        </a:rPr>
                        <a:t>Sullivan Middaugh</a:t>
                      </a:r>
                    </a:p>
                  </a:txBody>
                  <a:tcPr>
                    <a:solidFill>
                      <a:srgbClr val="F2F2F2"/>
                    </a:solidFill>
                  </a:tcPr>
                </a:tc>
                <a:tc>
                  <a:txBody>
                    <a:bodyPr/>
                    <a:lstStyle/>
                    <a:p>
                      <a:pPr algn="ctr"/>
                      <a:r>
                        <a:rPr sz="850" b="0" i="0">
                          <a:solidFill>
                            <a:srgbClr val="262626"/>
                          </a:solidFill>
                          <a:latin typeface="Arial"/>
                        </a:rPr>
                        <a:t>2,233</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6"/>
                  </a:ext>
                </a:extLst>
              </a:tr>
              <a:tr h="224028">
                <a:tc>
                  <a:txBody>
                    <a:bodyPr/>
                    <a:lstStyle/>
                    <a:p>
                      <a:pPr algn="ctr"/>
                      <a:r>
                        <a:rPr sz="850" b="1" i="0">
                          <a:solidFill>
                            <a:srgbClr val="262626"/>
                          </a:solidFill>
                          <a:latin typeface="Arial"/>
                        </a:rPr>
                        <a:t>72</a:t>
                      </a:r>
                    </a:p>
                  </a:txBody>
                  <a:tcPr>
                    <a:solidFill>
                      <a:srgbClr val="FFFFFF"/>
                    </a:solidFill>
                  </a:tcPr>
                </a:tc>
                <a:tc>
                  <a:txBody>
                    <a:bodyPr/>
                    <a:lstStyle/>
                    <a:p>
                      <a:pPr algn="l"/>
                      <a:r>
                        <a:rPr sz="850" b="0" i="0">
                          <a:solidFill>
                            <a:srgbClr val="262626"/>
                          </a:solidFill>
                          <a:latin typeface="Arial"/>
                        </a:rPr>
                        <a:t>Keller Norland</a:t>
                      </a:r>
                    </a:p>
                  </a:txBody>
                  <a:tcPr>
                    <a:solidFill>
                      <a:srgbClr val="FFFFFF"/>
                    </a:solidFill>
                  </a:tcPr>
                </a:tc>
                <a:tc>
                  <a:txBody>
                    <a:bodyPr/>
                    <a:lstStyle/>
                    <a:p>
                      <a:pPr algn="ctr"/>
                      <a:r>
                        <a:rPr sz="850" b="0" i="0">
                          <a:solidFill>
                            <a:srgbClr val="262626"/>
                          </a:solidFill>
                          <a:latin typeface="Arial"/>
                        </a:rPr>
                        <a:t>1,812</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7"/>
                  </a:ext>
                </a:extLst>
              </a:tr>
              <a:tr h="224028">
                <a:tc>
                  <a:txBody>
                    <a:bodyPr/>
                    <a:lstStyle/>
                    <a:p>
                      <a:pPr algn="ctr"/>
                      <a:r>
                        <a:rPr sz="850" b="1" i="0">
                          <a:solidFill>
                            <a:srgbClr val="262626"/>
                          </a:solidFill>
                          <a:latin typeface="Arial"/>
                        </a:rPr>
                        <a:t>77</a:t>
                      </a:r>
                    </a:p>
                  </a:txBody>
                  <a:tcPr>
                    <a:solidFill>
                      <a:srgbClr val="F2F2F2"/>
                    </a:solidFill>
                  </a:tcPr>
                </a:tc>
                <a:tc>
                  <a:txBody>
                    <a:bodyPr/>
                    <a:lstStyle/>
                    <a:p>
                      <a:pPr algn="l"/>
                      <a:r>
                        <a:rPr sz="850" b="0" i="0">
                          <a:solidFill>
                            <a:srgbClr val="262626"/>
                          </a:solidFill>
                          <a:latin typeface="Arial"/>
                        </a:rPr>
                        <a:t>Blake Bullard</a:t>
                      </a:r>
                    </a:p>
                  </a:txBody>
                  <a:tcPr>
                    <a:solidFill>
                      <a:srgbClr val="F2F2F2"/>
                    </a:solidFill>
                  </a:tcPr>
                </a:tc>
                <a:tc>
                  <a:txBody>
                    <a:bodyPr/>
                    <a:lstStyle/>
                    <a:p>
                      <a:pPr algn="ctr"/>
                      <a:r>
                        <a:rPr sz="850" b="0" i="0">
                          <a:solidFill>
                            <a:srgbClr val="262626"/>
                          </a:solidFill>
                          <a:latin typeface="Arial"/>
                        </a:rPr>
                        <a:t>1,732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8"/>
                  </a:ext>
                </a:extLst>
              </a:tr>
              <a:tr h="224028">
                <a:tc>
                  <a:txBody>
                    <a:bodyPr/>
                    <a:lstStyle/>
                    <a:p>
                      <a:pPr algn="ctr"/>
                      <a:r>
                        <a:rPr sz="850" b="1" i="0">
                          <a:solidFill>
                            <a:srgbClr val="262626"/>
                          </a:solidFill>
                          <a:latin typeface="Arial"/>
                        </a:rPr>
                        <a:t>81</a:t>
                      </a:r>
                    </a:p>
                  </a:txBody>
                  <a:tcPr>
                    <a:solidFill>
                      <a:srgbClr val="FFFFFF"/>
                    </a:solidFill>
                  </a:tcPr>
                </a:tc>
                <a:tc>
                  <a:txBody>
                    <a:bodyPr/>
                    <a:lstStyle/>
                    <a:p>
                      <a:pPr algn="l"/>
                      <a:r>
                        <a:rPr sz="850" b="0" i="0">
                          <a:solidFill>
                            <a:srgbClr val="262626"/>
                          </a:solidFill>
                          <a:latin typeface="Arial"/>
                        </a:rPr>
                        <a:t>Chase McQueen</a:t>
                      </a:r>
                    </a:p>
                  </a:txBody>
                  <a:tcPr>
                    <a:solidFill>
                      <a:srgbClr val="FFFFFF"/>
                    </a:solidFill>
                  </a:tcPr>
                </a:tc>
                <a:tc>
                  <a:txBody>
                    <a:bodyPr/>
                    <a:lstStyle/>
                    <a:p>
                      <a:pPr algn="ctr"/>
                      <a:r>
                        <a:rPr sz="850" b="0" i="0">
                          <a:solidFill>
                            <a:srgbClr val="262626"/>
                          </a:solidFill>
                          <a:latin typeface="Arial"/>
                        </a:rPr>
                        <a:t>1,708</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9"/>
                  </a:ext>
                </a:extLst>
              </a:tr>
              <a:tr h="224028">
                <a:tc>
                  <a:txBody>
                    <a:bodyPr/>
                    <a:lstStyle/>
                    <a:p>
                      <a:pPr algn="ctr"/>
                      <a:r>
                        <a:rPr sz="850" b="1" i="0">
                          <a:solidFill>
                            <a:srgbClr val="262626"/>
                          </a:solidFill>
                          <a:latin typeface="Arial"/>
                        </a:rPr>
                        <a:t>106</a:t>
                      </a:r>
                    </a:p>
                  </a:txBody>
                  <a:tcPr>
                    <a:solidFill>
                      <a:srgbClr val="F2F2F2"/>
                    </a:solidFill>
                  </a:tcPr>
                </a:tc>
                <a:tc>
                  <a:txBody>
                    <a:bodyPr/>
                    <a:lstStyle/>
                    <a:p>
                      <a:pPr algn="l"/>
                      <a:r>
                        <a:rPr sz="850" b="0" i="0">
                          <a:solidFill>
                            <a:srgbClr val="262626"/>
                          </a:solidFill>
                          <a:latin typeface="Arial"/>
                        </a:rPr>
                        <a:t>Porter Middaugh</a:t>
                      </a:r>
                    </a:p>
                  </a:txBody>
                  <a:tcPr>
                    <a:solidFill>
                      <a:srgbClr val="F2F2F2"/>
                    </a:solidFill>
                  </a:tcPr>
                </a:tc>
                <a:tc>
                  <a:txBody>
                    <a:bodyPr/>
                    <a:lstStyle/>
                    <a:p>
                      <a:pPr algn="ctr"/>
                      <a:r>
                        <a:rPr sz="850" b="0" i="0">
                          <a:solidFill>
                            <a:srgbClr val="262626"/>
                          </a:solidFill>
                          <a:latin typeface="Arial"/>
                        </a:rPr>
                        <a:t>1,513</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10"/>
                  </a:ext>
                </a:extLst>
              </a:tr>
              <a:tr h="224028">
                <a:tc>
                  <a:txBody>
                    <a:bodyPr/>
                    <a:lstStyle/>
                    <a:p>
                      <a:pPr algn="ctr"/>
                      <a:r>
                        <a:rPr sz="850" b="1" i="0">
                          <a:solidFill>
                            <a:srgbClr val="262626"/>
                          </a:solidFill>
                          <a:latin typeface="Arial"/>
                        </a:rPr>
                        <a:t>112</a:t>
                      </a:r>
                    </a:p>
                  </a:txBody>
                  <a:tcPr>
                    <a:solidFill>
                      <a:srgbClr val="FFFFFF"/>
                    </a:solidFill>
                  </a:tcPr>
                </a:tc>
                <a:tc>
                  <a:txBody>
                    <a:bodyPr/>
                    <a:lstStyle/>
                    <a:p>
                      <a:pPr algn="l"/>
                      <a:r>
                        <a:rPr sz="850" b="0" i="0">
                          <a:solidFill>
                            <a:srgbClr val="262626"/>
                          </a:solidFill>
                          <a:latin typeface="Arial"/>
                        </a:rPr>
                        <a:t>Darr Smith</a:t>
                      </a:r>
                    </a:p>
                  </a:txBody>
                  <a:tcPr>
                    <a:solidFill>
                      <a:srgbClr val="FFFFFF"/>
                    </a:solidFill>
                  </a:tcPr>
                </a:tc>
                <a:tc>
                  <a:txBody>
                    <a:bodyPr/>
                    <a:lstStyle/>
                    <a:p>
                      <a:pPr algn="ctr"/>
                      <a:r>
                        <a:rPr sz="850" b="0" i="0">
                          <a:solidFill>
                            <a:srgbClr val="262626"/>
                          </a:solidFill>
                          <a:latin typeface="Arial"/>
                        </a:rPr>
                        <a:t>1,452</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11"/>
                  </a:ext>
                </a:extLst>
              </a:tr>
              <a:tr h="224028">
                <a:tc>
                  <a:txBody>
                    <a:bodyPr/>
                    <a:lstStyle/>
                    <a:p>
                      <a:pPr algn="ctr"/>
                      <a:r>
                        <a:rPr sz="850" b="1" i="0">
                          <a:solidFill>
                            <a:srgbClr val="262626"/>
                          </a:solidFill>
                          <a:latin typeface="Arial"/>
                        </a:rPr>
                        <a:t>115</a:t>
                      </a:r>
                    </a:p>
                  </a:txBody>
                  <a:tcPr>
                    <a:solidFill>
                      <a:srgbClr val="F2F2F2"/>
                    </a:solidFill>
                  </a:tcPr>
                </a:tc>
                <a:tc>
                  <a:txBody>
                    <a:bodyPr/>
                    <a:lstStyle/>
                    <a:p>
                      <a:pPr algn="l"/>
                      <a:r>
                        <a:rPr sz="850" b="0" i="0">
                          <a:solidFill>
                            <a:srgbClr val="262626"/>
                          </a:solidFill>
                          <a:latin typeface="Arial"/>
                        </a:rPr>
                        <a:t>Zach Leachman</a:t>
                      </a:r>
                    </a:p>
                  </a:txBody>
                  <a:tcPr>
                    <a:solidFill>
                      <a:srgbClr val="F2F2F2"/>
                    </a:solidFill>
                  </a:tcPr>
                </a:tc>
                <a:tc>
                  <a:txBody>
                    <a:bodyPr/>
                    <a:lstStyle/>
                    <a:p>
                      <a:pPr algn="ctr"/>
                      <a:r>
                        <a:rPr sz="850" b="0" i="0">
                          <a:solidFill>
                            <a:srgbClr val="262626"/>
                          </a:solidFill>
                          <a:latin typeface="Arial"/>
                        </a:rPr>
                        <a:t>1,433</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a:t>
                      </a:r>
                    </a:p>
                  </a:txBody>
                  <a:tcPr>
                    <a:solidFill>
                      <a:srgbClr val="F2F2F2"/>
                    </a:solidFill>
                  </a:tcPr>
                </a:tc>
                <a:extLst>
                  <a:ext uri="{0D108BD9-81ED-4DB2-BD59-A6C34878D82A}">
                    <a16:rowId xmlns:a16="http://schemas.microsoft.com/office/drawing/2014/main" val="10012"/>
                  </a:ext>
                </a:extLst>
              </a:tr>
              <a:tr h="224028">
                <a:tc>
                  <a:txBody>
                    <a:bodyPr/>
                    <a:lstStyle/>
                    <a:p>
                      <a:pPr algn="ctr"/>
                      <a:r>
                        <a:rPr sz="850" b="1" i="0">
                          <a:solidFill>
                            <a:srgbClr val="262626"/>
                          </a:solidFill>
                          <a:latin typeface="Arial"/>
                        </a:rPr>
                        <a:t>177</a:t>
                      </a:r>
                    </a:p>
                  </a:txBody>
                  <a:tcPr>
                    <a:solidFill>
                      <a:srgbClr val="FFFFFF"/>
                    </a:solidFill>
                  </a:tcPr>
                </a:tc>
                <a:tc>
                  <a:txBody>
                    <a:bodyPr/>
                    <a:lstStyle/>
                    <a:p>
                      <a:pPr algn="l"/>
                      <a:r>
                        <a:rPr sz="850" b="0" i="0">
                          <a:solidFill>
                            <a:srgbClr val="262626"/>
                          </a:solidFill>
                          <a:latin typeface="Arial"/>
                        </a:rPr>
                        <a:t>Carter Stuhlmacher</a:t>
                      </a:r>
                    </a:p>
                  </a:txBody>
                  <a:tcPr>
                    <a:solidFill>
                      <a:srgbClr val="FFFFFF"/>
                    </a:solidFill>
                  </a:tcPr>
                </a:tc>
                <a:tc>
                  <a:txBody>
                    <a:bodyPr/>
                    <a:lstStyle/>
                    <a:p>
                      <a:pPr algn="ctr"/>
                      <a:r>
                        <a:rPr sz="850" b="0" i="0">
                          <a:solidFill>
                            <a:srgbClr val="262626"/>
                          </a:solidFill>
                          <a:latin typeface="Arial"/>
                        </a:rPr>
                        <a:t>1,025</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3</a:t>
                      </a:r>
                    </a:p>
                  </a:txBody>
                  <a:tcPr>
                    <a:solidFill>
                      <a:srgbClr val="FFFFFF"/>
                    </a:solidFill>
                  </a:tcPr>
                </a:tc>
                <a:extLst>
                  <a:ext uri="{0D108BD9-81ED-4DB2-BD59-A6C34878D82A}">
                    <a16:rowId xmlns:a16="http://schemas.microsoft.com/office/drawing/2014/main" val="10013"/>
                  </a:ext>
                </a:extLst>
              </a:tr>
              <a:tr h="224028">
                <a:tc>
                  <a:txBody>
                    <a:bodyPr/>
                    <a:lstStyle/>
                    <a:p>
                      <a:pPr algn="ctr"/>
                      <a:r>
                        <a:rPr sz="850" b="1" i="0">
                          <a:solidFill>
                            <a:srgbClr val="262626"/>
                          </a:solidFill>
                          <a:latin typeface="Arial"/>
                        </a:rPr>
                        <a:t>281</a:t>
                      </a:r>
                    </a:p>
                  </a:txBody>
                  <a:tcPr>
                    <a:solidFill>
                      <a:srgbClr val="F2F2F2"/>
                    </a:solidFill>
                  </a:tcPr>
                </a:tc>
                <a:tc>
                  <a:txBody>
                    <a:bodyPr/>
                    <a:lstStyle/>
                    <a:p>
                      <a:pPr algn="l"/>
                      <a:r>
                        <a:rPr sz="850" b="0" i="0">
                          <a:solidFill>
                            <a:srgbClr val="262626"/>
                          </a:solidFill>
                          <a:latin typeface="Arial"/>
                        </a:rPr>
                        <a:t>Cole Jamieson </a:t>
                      </a:r>
                    </a:p>
                  </a:txBody>
                  <a:tcPr>
                    <a:solidFill>
                      <a:srgbClr val="F2F2F2"/>
                    </a:solidFill>
                  </a:tcPr>
                </a:tc>
                <a:tc>
                  <a:txBody>
                    <a:bodyPr/>
                    <a:lstStyle/>
                    <a:p>
                      <a:pPr algn="ctr"/>
                      <a:r>
                        <a:rPr sz="850" b="0" i="0">
                          <a:solidFill>
                            <a:srgbClr val="262626"/>
                          </a:solidFill>
                          <a:latin typeface="Arial"/>
                        </a:rPr>
                        <a:t>600</a:t>
                      </a:r>
                    </a:p>
                  </a:txBody>
                  <a:tcPr>
                    <a:solidFill>
                      <a:srgbClr val="F2F2F2"/>
                    </a:solidFill>
                  </a:tcPr>
                </a:tc>
                <a:tc>
                  <a:txBody>
                    <a:bodyPr/>
                    <a:lstStyle/>
                    <a:p>
                      <a:pPr algn="ctr"/>
                      <a:r>
                        <a:rPr sz="850" b="0" i="0">
                          <a:solidFill>
                            <a:srgbClr val="262626"/>
                          </a:solidFill>
                          <a:latin typeface="Arial"/>
                        </a:rPr>
                        <a:t>4</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extLst>
                  <a:ext uri="{0D108BD9-81ED-4DB2-BD59-A6C34878D82A}">
                    <a16:rowId xmlns:a16="http://schemas.microsoft.com/office/drawing/2014/main" val="10014"/>
                  </a:ext>
                </a:extLst>
              </a:tr>
              <a:tr h="224028">
                <a:tc>
                  <a:txBody>
                    <a:bodyPr/>
                    <a:lstStyle/>
                    <a:p>
                      <a:pPr algn="ctr"/>
                      <a:r>
                        <a:rPr sz="850" b="1" i="0">
                          <a:solidFill>
                            <a:srgbClr val="262626"/>
                          </a:solidFill>
                          <a:latin typeface="Arial"/>
                        </a:rPr>
                        <a:t>361</a:t>
                      </a:r>
                    </a:p>
                  </a:txBody>
                  <a:tcPr>
                    <a:solidFill>
                      <a:srgbClr val="FFFFFF"/>
                    </a:solidFill>
                  </a:tcPr>
                </a:tc>
                <a:tc>
                  <a:txBody>
                    <a:bodyPr/>
                    <a:lstStyle/>
                    <a:p>
                      <a:pPr algn="l"/>
                      <a:r>
                        <a:rPr sz="850" b="0" i="0">
                          <a:solidFill>
                            <a:srgbClr val="262626"/>
                          </a:solidFill>
                          <a:latin typeface="Arial"/>
                        </a:rPr>
                        <a:t>Isaac Lamprecht</a:t>
                      </a:r>
                    </a:p>
                  </a:txBody>
                  <a:tcPr>
                    <a:solidFill>
                      <a:srgbClr val="FFFFFF"/>
                    </a:solidFill>
                  </a:tcPr>
                </a:tc>
                <a:tc>
                  <a:txBody>
                    <a:bodyPr/>
                    <a:lstStyle/>
                    <a:p>
                      <a:pPr algn="ctr"/>
                      <a:r>
                        <a:rPr sz="850" b="0" i="0">
                          <a:solidFill>
                            <a:srgbClr val="262626"/>
                          </a:solidFill>
                          <a:latin typeface="Arial"/>
                        </a:rPr>
                        <a:t>417</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15"/>
                  </a:ext>
                </a:extLst>
              </a:tr>
            </a:tbl>
          </a:graphicData>
        </a:graphic>
      </p:graphicFrame>
      <p:sp>
        <p:nvSpPr>
          <p:cNvPr id="33" name="Rectangle 32"/>
          <p:cNvSpPr/>
          <p:nvPr/>
        </p:nvSpPr>
        <p:spPr>
          <a:xfrm>
            <a:off x="6126480" y="26060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26480" y="2633472"/>
            <a:ext cx="5788152" cy="237744"/>
          </a:xfrm>
          <a:prstGeom prst="rect">
            <a:avLst/>
          </a:prstGeom>
          <a:noFill/>
        </p:spPr>
        <p:txBody>
          <a:bodyPr wrap="square">
            <a:spAutoFit/>
          </a:bodyPr>
          <a:lstStyle/>
          <a:p>
            <a:pPr algn="ctr"/>
            <a:r>
              <a:rPr sz="1100" b="1" i="0">
                <a:solidFill>
                  <a:srgbClr val="FFFFFF"/>
                </a:solidFill>
                <a:latin typeface="Arial"/>
              </a:rPr>
              <a:t>ELITE WOMEN</a:t>
            </a:r>
          </a:p>
        </p:txBody>
      </p:sp>
      <p:graphicFrame>
        <p:nvGraphicFramePr>
          <p:cNvPr id="35" name="Table 34"/>
          <p:cNvGraphicFramePr>
            <a:graphicFrameLocks noGrp="1"/>
          </p:cNvGraphicFramePr>
          <p:nvPr/>
        </p:nvGraphicFramePr>
        <p:xfrm>
          <a:off x="6126480" y="2935224"/>
          <a:ext cx="5787236" cy="3589020"/>
        </p:xfrm>
        <a:graphic>
          <a:graphicData uri="http://schemas.openxmlformats.org/drawingml/2006/table">
            <a:tbl>
              <a:tblPr firstRow="1" bandRow="1">
                <a:tableStyleId>{5C22544A-7EE6-4342-B048-85BDC9FD1C3A}</a:tableStyleId>
              </a:tblPr>
              <a:tblGrid>
                <a:gridCol w="783640">
                  <a:extLst>
                    <a:ext uri="{9D8B030D-6E8A-4147-A177-3AD203B41FA5}">
                      <a16:colId xmlns:a16="http://schemas.microsoft.com/office/drawing/2014/main" val="20000"/>
                    </a:ext>
                  </a:extLst>
                </a:gridCol>
                <a:gridCol w="2531973">
                  <a:extLst>
                    <a:ext uri="{9D8B030D-6E8A-4147-A177-3AD203B41FA5}">
                      <a16:colId xmlns:a16="http://schemas.microsoft.com/office/drawing/2014/main" val="20001"/>
                    </a:ext>
                  </a:extLst>
                </a:gridCol>
                <a:gridCol w="1145743">
                  <a:extLst>
                    <a:ext uri="{9D8B030D-6E8A-4147-A177-3AD203B41FA5}">
                      <a16:colId xmlns:a16="http://schemas.microsoft.com/office/drawing/2014/main" val="20002"/>
                    </a:ext>
                  </a:extLst>
                </a:gridCol>
                <a:gridCol w="662940">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tblGrid>
              <a:tr h="224028">
                <a:tc>
                  <a:txBody>
                    <a:bodyPr/>
                    <a:lstStyle/>
                    <a:p>
                      <a:pPr algn="ctr"/>
                      <a:r>
                        <a:rPr sz="900" b="1" i="0">
                          <a:solidFill>
                            <a:srgbClr val="FFFFFF"/>
                          </a:solidFill>
                          <a:latin typeface="Arial"/>
                        </a:rPr>
                        <a:t>Rank</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Points</a:t>
                      </a:r>
                    </a:p>
                  </a:txBody>
                  <a:tcPr>
                    <a:solidFill>
                      <a:srgbClr val="002060"/>
                    </a:solidFill>
                  </a:tcPr>
                </a:tc>
                <a:tc>
                  <a:txBody>
                    <a:bodyPr/>
                    <a:lstStyle/>
                    <a:p>
                      <a:pPr algn="ctr"/>
                      <a:r>
                        <a:rPr sz="900" b="1" i="0">
                          <a:solidFill>
                            <a:srgbClr val="FFFFFF"/>
                          </a:solidFill>
                          <a:latin typeface="Arial"/>
                        </a:rPr>
                        <a:t>Curr</a:t>
                      </a:r>
                    </a:p>
                  </a:txBody>
                  <a:tcPr>
                    <a:solidFill>
                      <a:srgbClr val="002060"/>
                    </a:solidFill>
                  </a:tcPr>
                </a:tc>
                <a:tc>
                  <a:txBody>
                    <a:bodyPr/>
                    <a:lstStyle/>
                    <a:p>
                      <a:pPr algn="ctr"/>
                      <a:r>
                        <a:rPr sz="900" b="1" i="0">
                          <a:solidFill>
                            <a:srgbClr val="FFFFFF"/>
                          </a:solidFill>
                          <a:latin typeface="Arial"/>
                        </a:rPr>
                        <a:t>Prev</a:t>
                      </a:r>
                    </a:p>
                  </a:txBody>
                  <a:tcPr>
                    <a:solidFill>
                      <a:srgbClr val="002060"/>
                    </a:solidFill>
                  </a:tcPr>
                </a:tc>
                <a:extLst>
                  <a:ext uri="{0D108BD9-81ED-4DB2-BD59-A6C34878D82A}">
                    <a16:rowId xmlns:a16="http://schemas.microsoft.com/office/drawing/2014/main" val="10000"/>
                  </a:ext>
                </a:extLst>
              </a:tr>
              <a:tr h="224028">
                <a:tc>
                  <a:txBody>
                    <a:bodyPr/>
                    <a:lstStyle/>
                    <a:p>
                      <a:pPr algn="ctr"/>
                      <a:r>
                        <a:rPr sz="850" b="1" i="0">
                          <a:solidFill>
                            <a:srgbClr val="262626"/>
                          </a:solidFill>
                          <a:latin typeface="Arial"/>
                        </a:rPr>
                        <a:t>9</a:t>
                      </a:r>
                    </a:p>
                  </a:txBody>
                  <a:tcPr>
                    <a:solidFill>
                      <a:srgbClr val="FFFFFF"/>
                    </a:solidFill>
                  </a:tcPr>
                </a:tc>
                <a:tc>
                  <a:txBody>
                    <a:bodyPr/>
                    <a:lstStyle/>
                    <a:p>
                      <a:pPr algn="l"/>
                      <a:r>
                        <a:rPr sz="850" b="0" i="0">
                          <a:solidFill>
                            <a:srgbClr val="262626"/>
                          </a:solidFill>
                          <a:latin typeface="Arial"/>
                        </a:rPr>
                        <a:t>Taylor Spivey</a:t>
                      </a:r>
                    </a:p>
                  </a:txBody>
                  <a:tcPr>
                    <a:solidFill>
                      <a:srgbClr val="FFFFFF"/>
                    </a:solidFill>
                  </a:tcPr>
                </a:tc>
                <a:tc>
                  <a:txBody>
                    <a:bodyPr/>
                    <a:lstStyle/>
                    <a:p>
                      <a:pPr algn="ctr"/>
                      <a:r>
                        <a:rPr sz="850" b="0" i="0">
                          <a:solidFill>
                            <a:srgbClr val="262626"/>
                          </a:solidFill>
                          <a:latin typeface="Arial"/>
                        </a:rPr>
                        <a:t>5,091</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3</a:t>
                      </a:r>
                    </a:p>
                  </a:txBody>
                  <a:tcPr>
                    <a:solidFill>
                      <a:srgbClr val="FFFFFF"/>
                    </a:solidFill>
                  </a:tcPr>
                </a:tc>
                <a:extLst>
                  <a:ext uri="{0D108BD9-81ED-4DB2-BD59-A6C34878D82A}">
                    <a16:rowId xmlns:a16="http://schemas.microsoft.com/office/drawing/2014/main" val="10001"/>
                  </a:ext>
                </a:extLst>
              </a:tr>
              <a:tr h="224028">
                <a:tc>
                  <a:txBody>
                    <a:bodyPr/>
                    <a:lstStyle/>
                    <a:p>
                      <a:pPr algn="ctr"/>
                      <a:r>
                        <a:rPr sz="850" b="1" i="0">
                          <a:solidFill>
                            <a:srgbClr val="262626"/>
                          </a:solidFill>
                          <a:latin typeface="Arial"/>
                        </a:rPr>
                        <a:t>16</a:t>
                      </a:r>
                    </a:p>
                  </a:txBody>
                  <a:tcPr>
                    <a:solidFill>
                      <a:srgbClr val="F2F2F2"/>
                    </a:solidFill>
                  </a:tcPr>
                </a:tc>
                <a:tc>
                  <a:txBody>
                    <a:bodyPr/>
                    <a:lstStyle/>
                    <a:p>
                      <a:pPr algn="l"/>
                      <a:r>
                        <a:rPr sz="850" b="0" i="0">
                          <a:solidFill>
                            <a:srgbClr val="262626"/>
                          </a:solidFill>
                          <a:latin typeface="Arial"/>
                        </a:rPr>
                        <a:t>Gina Sereno</a:t>
                      </a:r>
                    </a:p>
                  </a:txBody>
                  <a:tcPr>
                    <a:solidFill>
                      <a:srgbClr val="F2F2F2"/>
                    </a:solidFill>
                  </a:tcPr>
                </a:tc>
                <a:tc>
                  <a:txBody>
                    <a:bodyPr/>
                    <a:lstStyle/>
                    <a:p>
                      <a:pPr algn="ctr"/>
                      <a:r>
                        <a:rPr sz="850" b="0" i="0">
                          <a:solidFill>
                            <a:srgbClr val="262626"/>
                          </a:solidFill>
                          <a:latin typeface="Arial"/>
                        </a:rPr>
                        <a:t>3,205</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2"/>
                  </a:ext>
                </a:extLst>
              </a:tr>
              <a:tr h="224028">
                <a:tc>
                  <a:txBody>
                    <a:bodyPr/>
                    <a:lstStyle/>
                    <a:p>
                      <a:pPr algn="ctr"/>
                      <a:r>
                        <a:rPr sz="850" b="1" i="0">
                          <a:solidFill>
                            <a:srgbClr val="262626"/>
                          </a:solidFill>
                          <a:latin typeface="Arial"/>
                        </a:rPr>
                        <a:t>26</a:t>
                      </a:r>
                    </a:p>
                  </a:txBody>
                  <a:tcPr>
                    <a:solidFill>
                      <a:srgbClr val="FFFFFF"/>
                    </a:solidFill>
                  </a:tcPr>
                </a:tc>
                <a:tc>
                  <a:txBody>
                    <a:bodyPr/>
                    <a:lstStyle/>
                    <a:p>
                      <a:pPr algn="l"/>
                      <a:r>
                        <a:rPr sz="850" b="0" i="0">
                          <a:solidFill>
                            <a:srgbClr val="262626"/>
                          </a:solidFill>
                          <a:latin typeface="Arial"/>
                        </a:rPr>
                        <a:t>Gwen Jorgensen</a:t>
                      </a:r>
                    </a:p>
                  </a:txBody>
                  <a:tcPr>
                    <a:solidFill>
                      <a:srgbClr val="FFFFFF"/>
                    </a:solidFill>
                  </a:tcPr>
                </a:tc>
                <a:tc>
                  <a:txBody>
                    <a:bodyPr/>
                    <a:lstStyle/>
                    <a:p>
                      <a:pPr algn="ctr"/>
                      <a:r>
                        <a:rPr sz="850" b="0" i="0">
                          <a:solidFill>
                            <a:srgbClr val="262626"/>
                          </a:solidFill>
                          <a:latin typeface="Arial"/>
                        </a:rPr>
                        <a:t>2,700</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3"/>
                  </a:ext>
                </a:extLst>
              </a:tr>
              <a:tr h="224028">
                <a:tc>
                  <a:txBody>
                    <a:bodyPr/>
                    <a:lstStyle/>
                    <a:p>
                      <a:pPr algn="ctr"/>
                      <a:r>
                        <a:rPr sz="850" b="1" i="0">
                          <a:solidFill>
                            <a:srgbClr val="262626"/>
                          </a:solidFill>
                          <a:latin typeface="Arial"/>
                        </a:rPr>
                        <a:t>37</a:t>
                      </a:r>
                    </a:p>
                  </a:txBody>
                  <a:tcPr>
                    <a:solidFill>
                      <a:srgbClr val="F2F2F2"/>
                    </a:solidFill>
                  </a:tcPr>
                </a:tc>
                <a:tc>
                  <a:txBody>
                    <a:bodyPr/>
                    <a:lstStyle/>
                    <a:p>
                      <a:pPr algn="l"/>
                      <a:r>
                        <a:rPr sz="850" b="0" i="0">
                          <a:solidFill>
                            <a:srgbClr val="262626"/>
                          </a:solidFill>
                          <a:latin typeface="Arial"/>
                        </a:rPr>
                        <a:t>Danielle Orie</a:t>
                      </a:r>
                    </a:p>
                  </a:txBody>
                  <a:tcPr>
                    <a:solidFill>
                      <a:srgbClr val="F2F2F2"/>
                    </a:solidFill>
                  </a:tcPr>
                </a:tc>
                <a:tc>
                  <a:txBody>
                    <a:bodyPr/>
                    <a:lstStyle/>
                    <a:p>
                      <a:pPr algn="ctr"/>
                      <a:r>
                        <a:rPr sz="850" b="0" i="0">
                          <a:solidFill>
                            <a:srgbClr val="262626"/>
                          </a:solidFill>
                          <a:latin typeface="Arial"/>
                        </a:rPr>
                        <a:t>2,407</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4"/>
                  </a:ext>
                </a:extLst>
              </a:tr>
              <a:tr h="224028">
                <a:tc>
                  <a:txBody>
                    <a:bodyPr/>
                    <a:lstStyle/>
                    <a:p>
                      <a:pPr algn="ctr"/>
                      <a:r>
                        <a:rPr sz="850" b="1" i="0">
                          <a:solidFill>
                            <a:srgbClr val="262626"/>
                          </a:solidFill>
                          <a:latin typeface="Arial"/>
                        </a:rPr>
                        <a:t>40</a:t>
                      </a:r>
                    </a:p>
                  </a:txBody>
                  <a:tcPr>
                    <a:solidFill>
                      <a:srgbClr val="FFFFFF"/>
                    </a:solidFill>
                  </a:tcPr>
                </a:tc>
                <a:tc>
                  <a:txBody>
                    <a:bodyPr/>
                    <a:lstStyle/>
                    <a:p>
                      <a:pPr algn="l"/>
                      <a:r>
                        <a:rPr sz="850" b="0" i="0">
                          <a:solidFill>
                            <a:srgbClr val="262626"/>
                          </a:solidFill>
                          <a:latin typeface="Arial"/>
                        </a:rPr>
                        <a:t>Erika Ackerlund</a:t>
                      </a:r>
                    </a:p>
                  </a:txBody>
                  <a:tcPr>
                    <a:solidFill>
                      <a:srgbClr val="FFFFFF"/>
                    </a:solidFill>
                  </a:tcPr>
                </a:tc>
                <a:tc>
                  <a:txBody>
                    <a:bodyPr/>
                    <a:lstStyle/>
                    <a:p>
                      <a:pPr algn="ctr"/>
                      <a:r>
                        <a:rPr sz="850" b="0" i="0">
                          <a:solidFill>
                            <a:srgbClr val="262626"/>
                          </a:solidFill>
                          <a:latin typeface="Arial"/>
                        </a:rPr>
                        <a:t>2,341</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5"/>
                  </a:ext>
                </a:extLst>
              </a:tr>
              <a:tr h="224028">
                <a:tc>
                  <a:txBody>
                    <a:bodyPr/>
                    <a:lstStyle/>
                    <a:p>
                      <a:pPr algn="ctr"/>
                      <a:r>
                        <a:rPr sz="850" b="1" i="0">
                          <a:solidFill>
                            <a:srgbClr val="262626"/>
                          </a:solidFill>
                          <a:latin typeface="Arial"/>
                        </a:rPr>
                        <a:t>45</a:t>
                      </a:r>
                    </a:p>
                  </a:txBody>
                  <a:tcPr>
                    <a:solidFill>
                      <a:srgbClr val="F2F2F2"/>
                    </a:solidFill>
                  </a:tcPr>
                </a:tc>
                <a:tc>
                  <a:txBody>
                    <a:bodyPr/>
                    <a:lstStyle/>
                    <a:p>
                      <a:pPr algn="l"/>
                      <a:r>
                        <a:rPr sz="850" b="0" i="0">
                          <a:solidFill>
                            <a:srgbClr val="262626"/>
                          </a:solidFill>
                          <a:latin typeface="Arial"/>
                        </a:rPr>
                        <a:t>Kelly Wetteland</a:t>
                      </a:r>
                    </a:p>
                  </a:txBody>
                  <a:tcPr>
                    <a:solidFill>
                      <a:srgbClr val="F2F2F2"/>
                    </a:solidFill>
                  </a:tcPr>
                </a:tc>
                <a:tc>
                  <a:txBody>
                    <a:bodyPr/>
                    <a:lstStyle/>
                    <a:p>
                      <a:pPr algn="ctr"/>
                      <a:r>
                        <a:rPr sz="850" b="0" i="0">
                          <a:solidFill>
                            <a:srgbClr val="262626"/>
                          </a:solidFill>
                          <a:latin typeface="Arial"/>
                        </a:rPr>
                        <a:t>2,109</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3</a:t>
                      </a:r>
                    </a:p>
                  </a:txBody>
                  <a:tcPr>
                    <a:solidFill>
                      <a:srgbClr val="F2F2F2"/>
                    </a:solidFill>
                  </a:tcPr>
                </a:tc>
                <a:extLst>
                  <a:ext uri="{0D108BD9-81ED-4DB2-BD59-A6C34878D82A}">
                    <a16:rowId xmlns:a16="http://schemas.microsoft.com/office/drawing/2014/main" val="10006"/>
                  </a:ext>
                </a:extLst>
              </a:tr>
              <a:tr h="224028">
                <a:tc>
                  <a:txBody>
                    <a:bodyPr/>
                    <a:lstStyle/>
                    <a:p>
                      <a:pPr algn="ctr"/>
                      <a:r>
                        <a:rPr sz="850" b="1" i="0">
                          <a:solidFill>
                            <a:srgbClr val="262626"/>
                          </a:solidFill>
                          <a:latin typeface="Arial"/>
                        </a:rPr>
                        <a:t>51</a:t>
                      </a:r>
                    </a:p>
                  </a:txBody>
                  <a:tcPr>
                    <a:solidFill>
                      <a:srgbClr val="FFFFFF"/>
                    </a:solidFill>
                  </a:tcPr>
                </a:tc>
                <a:tc>
                  <a:txBody>
                    <a:bodyPr/>
                    <a:lstStyle/>
                    <a:p>
                      <a:pPr algn="l"/>
                      <a:r>
                        <a:rPr sz="850" b="0" i="0">
                          <a:solidFill>
                            <a:srgbClr val="262626"/>
                          </a:solidFill>
                          <a:latin typeface="Arial"/>
                        </a:rPr>
                        <a:t>Taylor Knibb</a:t>
                      </a:r>
                    </a:p>
                  </a:txBody>
                  <a:tcPr>
                    <a:solidFill>
                      <a:srgbClr val="FFFFFF"/>
                    </a:solidFill>
                  </a:tcPr>
                </a:tc>
                <a:tc>
                  <a:txBody>
                    <a:bodyPr/>
                    <a:lstStyle/>
                    <a:p>
                      <a:pPr algn="ctr"/>
                      <a:r>
                        <a:rPr sz="850" b="0" i="0">
                          <a:solidFill>
                            <a:srgbClr val="262626"/>
                          </a:solidFill>
                          <a:latin typeface="Arial"/>
                        </a:rPr>
                        <a:t>2,047</a:t>
                      </a:r>
                    </a:p>
                  </a:txBody>
                  <a:tcPr>
                    <a:solidFill>
                      <a:srgbClr val="FFFFFF"/>
                    </a:solidFill>
                  </a:tcPr>
                </a:tc>
                <a:tc>
                  <a:txBody>
                    <a:bodyPr/>
                    <a:lstStyle/>
                    <a:p>
                      <a:pPr algn="ctr"/>
                      <a:r>
                        <a:rPr sz="850" b="0" i="0">
                          <a:solidFill>
                            <a:srgbClr val="262626"/>
                          </a:solidFill>
                          <a:latin typeface="Arial"/>
                        </a:rPr>
                        <a:t>4</a:t>
                      </a:r>
                    </a:p>
                  </a:txBody>
                  <a:tcPr>
                    <a:solidFill>
                      <a:srgbClr val="FFFFFF"/>
                    </a:solidFill>
                  </a:tcPr>
                </a:tc>
                <a:tc>
                  <a:txBody>
                    <a:bodyPr/>
                    <a:lstStyle/>
                    <a:p>
                      <a:pPr algn="ctr"/>
                      <a:r>
                        <a:rPr sz="850" b="0" i="0">
                          <a:solidFill>
                            <a:srgbClr val="262626"/>
                          </a:solidFill>
                          <a:latin typeface="Arial"/>
                        </a:rPr>
                        <a:t>—</a:t>
                      </a:r>
                    </a:p>
                  </a:txBody>
                  <a:tcPr>
                    <a:solidFill>
                      <a:srgbClr val="FFFFFF"/>
                    </a:solidFill>
                  </a:tcPr>
                </a:tc>
                <a:extLst>
                  <a:ext uri="{0D108BD9-81ED-4DB2-BD59-A6C34878D82A}">
                    <a16:rowId xmlns:a16="http://schemas.microsoft.com/office/drawing/2014/main" val="10007"/>
                  </a:ext>
                </a:extLst>
              </a:tr>
              <a:tr h="224028">
                <a:tc>
                  <a:txBody>
                    <a:bodyPr/>
                    <a:lstStyle/>
                    <a:p>
                      <a:pPr algn="ctr"/>
                      <a:r>
                        <a:rPr sz="850" b="1" i="0">
                          <a:solidFill>
                            <a:srgbClr val="262626"/>
                          </a:solidFill>
                          <a:latin typeface="Arial"/>
                        </a:rPr>
                        <a:t>60</a:t>
                      </a:r>
                    </a:p>
                  </a:txBody>
                  <a:tcPr>
                    <a:solidFill>
                      <a:srgbClr val="F2F2F2"/>
                    </a:solidFill>
                  </a:tcPr>
                </a:tc>
                <a:tc>
                  <a:txBody>
                    <a:bodyPr/>
                    <a:lstStyle/>
                    <a:p>
                      <a:pPr algn="l"/>
                      <a:r>
                        <a:rPr sz="850" b="0" i="0">
                          <a:solidFill>
                            <a:srgbClr val="262626"/>
                          </a:solidFill>
                          <a:latin typeface="Arial"/>
                        </a:rPr>
                        <a:t>Naomi Ruff</a:t>
                      </a:r>
                    </a:p>
                  </a:txBody>
                  <a:tcPr>
                    <a:solidFill>
                      <a:srgbClr val="F2F2F2"/>
                    </a:solidFill>
                  </a:tcPr>
                </a:tc>
                <a:tc>
                  <a:txBody>
                    <a:bodyPr/>
                    <a:lstStyle/>
                    <a:p>
                      <a:pPr algn="ctr"/>
                      <a:r>
                        <a:rPr sz="850" b="0" i="0">
                          <a:solidFill>
                            <a:srgbClr val="262626"/>
                          </a:solidFill>
                          <a:latin typeface="Arial"/>
                        </a:rPr>
                        <a:t>1,968</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8"/>
                  </a:ext>
                </a:extLst>
              </a:tr>
              <a:tr h="224028">
                <a:tc>
                  <a:txBody>
                    <a:bodyPr/>
                    <a:lstStyle/>
                    <a:p>
                      <a:pPr algn="ctr"/>
                      <a:r>
                        <a:rPr sz="850" b="1" i="0">
                          <a:solidFill>
                            <a:srgbClr val="262626"/>
                          </a:solidFill>
                          <a:latin typeface="Arial"/>
                        </a:rPr>
                        <a:t>86</a:t>
                      </a:r>
                    </a:p>
                  </a:txBody>
                  <a:tcPr>
                    <a:solidFill>
                      <a:srgbClr val="FFFFFF"/>
                    </a:solidFill>
                  </a:tcPr>
                </a:tc>
                <a:tc>
                  <a:txBody>
                    <a:bodyPr/>
                    <a:lstStyle/>
                    <a:p>
                      <a:pPr algn="l"/>
                      <a:r>
                        <a:rPr sz="850" b="0" i="0">
                          <a:solidFill>
                            <a:srgbClr val="262626"/>
                          </a:solidFill>
                          <a:latin typeface="Arial"/>
                        </a:rPr>
                        <a:t>Kirsten Kasper</a:t>
                      </a:r>
                    </a:p>
                  </a:txBody>
                  <a:tcPr>
                    <a:solidFill>
                      <a:srgbClr val="FFFFFF"/>
                    </a:solidFill>
                  </a:tcPr>
                </a:tc>
                <a:tc>
                  <a:txBody>
                    <a:bodyPr/>
                    <a:lstStyle/>
                    <a:p>
                      <a:pPr algn="ctr"/>
                      <a:r>
                        <a:rPr sz="850" b="0" i="0">
                          <a:solidFill>
                            <a:srgbClr val="262626"/>
                          </a:solidFill>
                          <a:latin typeface="Arial"/>
                        </a:rPr>
                        <a:t>1,551</a:t>
                      </a:r>
                    </a:p>
                  </a:txBody>
                  <a:tcPr>
                    <a:solidFill>
                      <a:srgbClr val="FFFFFF"/>
                    </a:solidFill>
                  </a:tcPr>
                </a:tc>
                <a:tc>
                  <a:txBody>
                    <a:bodyPr/>
                    <a:lstStyle/>
                    <a:p>
                      <a:pPr algn="ctr"/>
                      <a:r>
                        <a:rPr sz="850" b="0" i="0">
                          <a:solidFill>
                            <a:srgbClr val="262626"/>
                          </a:solidFill>
                          <a:latin typeface="Arial"/>
                        </a:rPr>
                        <a:t>5</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09"/>
                  </a:ext>
                </a:extLst>
              </a:tr>
              <a:tr h="224028">
                <a:tc>
                  <a:txBody>
                    <a:bodyPr/>
                    <a:lstStyle/>
                    <a:p>
                      <a:pPr algn="ctr"/>
                      <a:r>
                        <a:rPr sz="850" b="1" i="0">
                          <a:solidFill>
                            <a:srgbClr val="262626"/>
                          </a:solidFill>
                          <a:latin typeface="Arial"/>
                        </a:rPr>
                        <a:t>92</a:t>
                      </a:r>
                    </a:p>
                  </a:txBody>
                  <a:tcPr>
                    <a:solidFill>
                      <a:srgbClr val="F2F2F2"/>
                    </a:solidFill>
                  </a:tcPr>
                </a:tc>
                <a:tc>
                  <a:txBody>
                    <a:bodyPr/>
                    <a:lstStyle/>
                    <a:p>
                      <a:pPr algn="l"/>
                      <a:r>
                        <a:rPr sz="850" b="0" i="0">
                          <a:solidFill>
                            <a:srgbClr val="262626"/>
                          </a:solidFill>
                          <a:latin typeface="Arial"/>
                        </a:rPr>
                        <a:t>Eleanor Beveridge</a:t>
                      </a:r>
                    </a:p>
                  </a:txBody>
                  <a:tcPr>
                    <a:solidFill>
                      <a:srgbClr val="F2F2F2"/>
                    </a:solidFill>
                  </a:tcPr>
                </a:tc>
                <a:tc>
                  <a:txBody>
                    <a:bodyPr/>
                    <a:lstStyle/>
                    <a:p>
                      <a:pPr algn="ctr"/>
                      <a:r>
                        <a:rPr sz="850" b="0" i="0">
                          <a:solidFill>
                            <a:srgbClr val="262626"/>
                          </a:solidFill>
                          <a:latin typeface="Arial"/>
                        </a:rPr>
                        <a:t>1,479</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5</a:t>
                      </a:r>
                    </a:p>
                  </a:txBody>
                  <a:tcPr>
                    <a:solidFill>
                      <a:srgbClr val="F2F2F2"/>
                    </a:solidFill>
                  </a:tcPr>
                </a:tc>
                <a:extLst>
                  <a:ext uri="{0D108BD9-81ED-4DB2-BD59-A6C34878D82A}">
                    <a16:rowId xmlns:a16="http://schemas.microsoft.com/office/drawing/2014/main" val="10010"/>
                  </a:ext>
                </a:extLst>
              </a:tr>
              <a:tr h="224028">
                <a:tc>
                  <a:txBody>
                    <a:bodyPr/>
                    <a:lstStyle/>
                    <a:p>
                      <a:pPr algn="ctr"/>
                      <a:r>
                        <a:rPr sz="850" b="1" i="0">
                          <a:solidFill>
                            <a:srgbClr val="262626"/>
                          </a:solidFill>
                          <a:latin typeface="Arial"/>
                        </a:rPr>
                        <a:t>100</a:t>
                      </a:r>
                    </a:p>
                  </a:txBody>
                  <a:tcPr>
                    <a:solidFill>
                      <a:srgbClr val="FFFFFF"/>
                    </a:solidFill>
                  </a:tcPr>
                </a:tc>
                <a:tc>
                  <a:txBody>
                    <a:bodyPr/>
                    <a:lstStyle/>
                    <a:p>
                      <a:pPr algn="l"/>
                      <a:r>
                        <a:rPr sz="850" b="0" i="0">
                          <a:solidFill>
                            <a:srgbClr val="262626"/>
                          </a:solidFill>
                          <a:latin typeface="Arial"/>
                        </a:rPr>
                        <a:t>Joy Gill</a:t>
                      </a:r>
                    </a:p>
                  </a:txBody>
                  <a:tcPr>
                    <a:solidFill>
                      <a:srgbClr val="FFFFFF"/>
                    </a:solidFill>
                  </a:tcPr>
                </a:tc>
                <a:tc>
                  <a:txBody>
                    <a:bodyPr/>
                    <a:lstStyle/>
                    <a:p>
                      <a:pPr algn="ctr"/>
                      <a:r>
                        <a:rPr sz="850" b="0" i="0">
                          <a:solidFill>
                            <a:srgbClr val="262626"/>
                          </a:solidFill>
                          <a:latin typeface="Arial"/>
                        </a:rPr>
                        <a:t>1,421</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11"/>
                  </a:ext>
                </a:extLst>
              </a:tr>
              <a:tr h="224028">
                <a:tc>
                  <a:txBody>
                    <a:bodyPr/>
                    <a:lstStyle/>
                    <a:p>
                      <a:pPr algn="ctr"/>
                      <a:r>
                        <a:rPr sz="850" b="1" i="0">
                          <a:solidFill>
                            <a:srgbClr val="262626"/>
                          </a:solidFill>
                          <a:latin typeface="Arial"/>
                        </a:rPr>
                        <a:t>112</a:t>
                      </a:r>
                    </a:p>
                  </a:txBody>
                  <a:tcPr>
                    <a:solidFill>
                      <a:srgbClr val="F2F2F2"/>
                    </a:solidFill>
                  </a:tcPr>
                </a:tc>
                <a:tc>
                  <a:txBody>
                    <a:bodyPr/>
                    <a:lstStyle/>
                    <a:p>
                      <a:pPr algn="l"/>
                      <a:r>
                        <a:rPr sz="850" b="0" i="0">
                          <a:solidFill>
                            <a:srgbClr val="262626"/>
                          </a:solidFill>
                          <a:latin typeface="Arial"/>
                        </a:rPr>
                        <a:t>Rachel Werking</a:t>
                      </a:r>
                    </a:p>
                  </a:txBody>
                  <a:tcPr>
                    <a:solidFill>
                      <a:srgbClr val="F2F2F2"/>
                    </a:solidFill>
                  </a:tcPr>
                </a:tc>
                <a:tc>
                  <a:txBody>
                    <a:bodyPr/>
                    <a:lstStyle/>
                    <a:p>
                      <a:pPr algn="ctr"/>
                      <a:r>
                        <a:rPr sz="850" b="0" i="0">
                          <a:solidFill>
                            <a:srgbClr val="262626"/>
                          </a:solidFill>
                          <a:latin typeface="Arial"/>
                        </a:rPr>
                        <a:t>1,328</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3</a:t>
                      </a:r>
                    </a:p>
                  </a:txBody>
                  <a:tcPr>
                    <a:solidFill>
                      <a:srgbClr val="F2F2F2"/>
                    </a:solidFill>
                  </a:tcPr>
                </a:tc>
                <a:extLst>
                  <a:ext uri="{0D108BD9-81ED-4DB2-BD59-A6C34878D82A}">
                    <a16:rowId xmlns:a16="http://schemas.microsoft.com/office/drawing/2014/main" val="10012"/>
                  </a:ext>
                </a:extLst>
              </a:tr>
              <a:tr h="224028">
                <a:tc>
                  <a:txBody>
                    <a:bodyPr/>
                    <a:lstStyle/>
                    <a:p>
                      <a:pPr algn="ctr"/>
                      <a:r>
                        <a:rPr sz="850" b="1" i="0">
                          <a:solidFill>
                            <a:srgbClr val="262626"/>
                          </a:solidFill>
                          <a:latin typeface="Arial"/>
                        </a:rPr>
                        <a:t>128</a:t>
                      </a:r>
                    </a:p>
                  </a:txBody>
                  <a:tcPr>
                    <a:solidFill>
                      <a:srgbClr val="FFFFFF"/>
                    </a:solidFill>
                  </a:tcPr>
                </a:tc>
                <a:tc>
                  <a:txBody>
                    <a:bodyPr/>
                    <a:lstStyle/>
                    <a:p>
                      <a:pPr algn="l"/>
                      <a:r>
                        <a:rPr sz="850" b="0" i="0">
                          <a:solidFill>
                            <a:srgbClr val="262626"/>
                          </a:solidFill>
                          <a:latin typeface="Arial"/>
                        </a:rPr>
                        <a:t>Michelle Magnani</a:t>
                      </a:r>
                    </a:p>
                  </a:txBody>
                  <a:tcPr>
                    <a:solidFill>
                      <a:srgbClr val="FFFFFF"/>
                    </a:solidFill>
                  </a:tcPr>
                </a:tc>
                <a:tc>
                  <a:txBody>
                    <a:bodyPr/>
                    <a:lstStyle/>
                    <a:p>
                      <a:pPr algn="ctr"/>
                      <a:r>
                        <a:rPr sz="850" b="0" i="0">
                          <a:solidFill>
                            <a:srgbClr val="262626"/>
                          </a:solidFill>
                          <a:latin typeface="Arial"/>
                        </a:rPr>
                        <a:t>1,242</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13"/>
                  </a:ext>
                </a:extLst>
              </a:tr>
              <a:tr h="224028">
                <a:tc>
                  <a:txBody>
                    <a:bodyPr/>
                    <a:lstStyle/>
                    <a:p>
                      <a:pPr algn="ctr"/>
                      <a:r>
                        <a:rPr sz="850" b="1" i="0">
                          <a:solidFill>
                            <a:srgbClr val="262626"/>
                          </a:solidFill>
                          <a:latin typeface="Arial"/>
                        </a:rPr>
                        <a:t>161</a:t>
                      </a:r>
                    </a:p>
                  </a:txBody>
                  <a:tcPr>
                    <a:solidFill>
                      <a:srgbClr val="F2F2F2"/>
                    </a:solidFill>
                  </a:tcPr>
                </a:tc>
                <a:tc>
                  <a:txBody>
                    <a:bodyPr/>
                    <a:lstStyle/>
                    <a:p>
                      <a:pPr algn="l"/>
                      <a:r>
                        <a:rPr sz="850" b="0" i="0">
                          <a:solidFill>
                            <a:srgbClr val="262626"/>
                          </a:solidFill>
                          <a:latin typeface="Arial"/>
                        </a:rPr>
                        <a:t>Katie McCune</a:t>
                      </a:r>
                    </a:p>
                  </a:txBody>
                  <a:tcPr>
                    <a:solidFill>
                      <a:srgbClr val="F2F2F2"/>
                    </a:solidFill>
                  </a:tcPr>
                </a:tc>
                <a:tc>
                  <a:txBody>
                    <a:bodyPr/>
                    <a:lstStyle/>
                    <a:p>
                      <a:pPr algn="ctr"/>
                      <a:r>
                        <a:rPr sz="850" b="0" i="0">
                          <a:solidFill>
                            <a:srgbClr val="262626"/>
                          </a:solidFill>
                          <a:latin typeface="Arial"/>
                        </a:rPr>
                        <a:t>1,042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14"/>
                  </a:ext>
                </a:extLst>
              </a:tr>
              <a:tr h="224028">
                <a:tc>
                  <a:txBody>
                    <a:bodyPr/>
                    <a:lstStyle/>
                    <a:p>
                      <a:pPr algn="ctr"/>
                      <a:r>
                        <a:rPr sz="850" b="1" i="0">
                          <a:solidFill>
                            <a:srgbClr val="262626"/>
                          </a:solidFill>
                          <a:latin typeface="Arial"/>
                        </a:rPr>
                        <a:t>174</a:t>
                      </a:r>
                    </a:p>
                  </a:txBody>
                  <a:tcPr>
                    <a:solidFill>
                      <a:srgbClr val="FFFFFF"/>
                    </a:solidFill>
                  </a:tcPr>
                </a:tc>
                <a:tc>
                  <a:txBody>
                    <a:bodyPr/>
                    <a:lstStyle/>
                    <a:p>
                      <a:pPr algn="l"/>
                      <a:r>
                        <a:rPr sz="850" b="0" i="0">
                          <a:solidFill>
                            <a:srgbClr val="262626"/>
                          </a:solidFill>
                          <a:latin typeface="Arial"/>
                        </a:rPr>
                        <a:t>Faith Duncan</a:t>
                      </a:r>
                    </a:p>
                  </a:txBody>
                  <a:tcPr>
                    <a:solidFill>
                      <a:srgbClr val="FFFFFF"/>
                    </a:solidFill>
                  </a:tcPr>
                </a:tc>
                <a:tc>
                  <a:txBody>
                    <a:bodyPr/>
                    <a:lstStyle/>
                    <a:p>
                      <a:pPr algn="ctr"/>
                      <a:r>
                        <a:rPr sz="850" b="0" i="0">
                          <a:solidFill>
                            <a:srgbClr val="262626"/>
                          </a:solidFill>
                          <a:latin typeface="Arial"/>
                        </a:rPr>
                        <a:t>940</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a:t>
                      </a:r>
                    </a:p>
                  </a:txBody>
                  <a:tcPr>
                    <a:solidFill>
                      <a:srgbClr val="FFFFFF"/>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Olympic Qualification Pace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664768"/>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88720"/>
            <a:ext cx="11430000" cy="329184"/>
          </a:xfrm>
          <a:prstGeom prst="rect">
            <a:avLst/>
          </a:prstGeom>
          <a:noFill/>
        </p:spPr>
        <p:txBody>
          <a:bodyPr wrap="square">
            <a:spAutoFit/>
          </a:bodyPr>
          <a:lstStyle/>
          <a:p>
            <a:pPr algn="ctr"/>
            <a:r>
              <a:rPr sz="1500" b="1" i="0">
                <a:solidFill>
                  <a:srgbClr val="FFFFFF"/>
                </a:solidFill>
                <a:latin typeface="Arial"/>
              </a:rPr>
              <a:t>Paris 2024 OQR cutoff (30th): 3,626.69 pts   ÷   12-event cap =   302 pts / event on pace</a:t>
            </a:r>
          </a:p>
        </p:txBody>
      </p:sp>
      <p:sp>
        <p:nvSpPr>
          <p:cNvPr id="10" name="TextBox 9"/>
          <p:cNvSpPr txBox="1"/>
          <p:nvPr/>
        </p:nvSpPr>
        <p:spPr>
          <a:xfrm>
            <a:off x="365760" y="1458468"/>
            <a:ext cx="11430000" cy="329184"/>
          </a:xfrm>
          <a:prstGeom prst="rect">
            <a:avLst/>
          </a:prstGeom>
          <a:noFill/>
        </p:spPr>
        <p:txBody>
          <a:bodyPr wrap="square">
            <a:spAutoFit/>
          </a:bodyPr>
          <a:lstStyle/>
          <a:p>
            <a:pPr algn="ctr"/>
            <a:r>
              <a:rPr sz="1100" b="0" i="1">
                <a:solidFill>
                  <a:srgbClr val="AABBDD"/>
                </a:solidFill>
                <a:latin typeface="Arial"/>
              </a:rPr>
              <a:t>An athlete who averages ~302 pts per event across their best 12 events is on pace to clear the LA 2028 qualifying threshold.</a:t>
            </a:r>
          </a:p>
        </p:txBody>
      </p:sp>
      <p:sp>
        <p:nvSpPr>
          <p:cNvPr id="11" name="Rectangle 10"/>
          <p:cNvSpPr/>
          <p:nvPr/>
        </p:nvSpPr>
        <p:spPr>
          <a:xfrm>
            <a:off x="274320" y="1812340"/>
            <a:ext cx="11640312" cy="2926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839772"/>
            <a:ext cx="11430000" cy="237744"/>
          </a:xfrm>
          <a:prstGeom prst="rect">
            <a:avLst/>
          </a:prstGeom>
          <a:noFill/>
        </p:spPr>
        <p:txBody>
          <a:bodyPr wrap="square">
            <a:spAutoFit/>
          </a:bodyPr>
          <a:lstStyle/>
          <a:p>
            <a:pPr algn="ctr"/>
            <a:r>
              <a:rPr sz="1100" b="1" i="0">
                <a:solidFill>
                  <a:srgbClr val="FFFFFF"/>
                </a:solidFill>
                <a:latin typeface="Arial"/>
              </a:rPr>
              <a:t>FINISH POSITION AT EACH TIER THAT HITS 302-PT PACE</a:t>
            </a:r>
          </a:p>
        </p:txBody>
      </p:sp>
      <p:graphicFrame>
        <p:nvGraphicFramePr>
          <p:cNvPr id="13" name="Table 12"/>
          <p:cNvGraphicFramePr>
            <a:graphicFrameLocks noGrp="1"/>
          </p:cNvGraphicFramePr>
          <p:nvPr>
            <p:extLst>
              <p:ext uri="{D42A27DB-BD31-4B8C-83A1-F6EECF244321}">
                <p14:modId xmlns:p14="http://schemas.microsoft.com/office/powerpoint/2010/main" val="3605327460"/>
              </p:ext>
            </p:extLst>
          </p:nvPr>
        </p:nvGraphicFramePr>
        <p:xfrm>
          <a:off x="274320" y="2196388"/>
          <a:ext cx="11640309" cy="1072593"/>
        </p:xfrm>
        <a:graphic>
          <a:graphicData uri="http://schemas.openxmlformats.org/drawingml/2006/table">
            <a:tbl>
              <a:tblPr firstRow="1" bandRow="1">
                <a:tableStyleId>{5C22544A-7EE6-4342-B048-85BDC9FD1C3A}</a:tableStyleId>
              </a:tblPr>
              <a:tblGrid>
                <a:gridCol w="4399178">
                  <a:extLst>
                    <a:ext uri="{9D8B030D-6E8A-4147-A177-3AD203B41FA5}">
                      <a16:colId xmlns:a16="http://schemas.microsoft.com/office/drawing/2014/main" val="20000"/>
                    </a:ext>
                  </a:extLst>
                </a:gridCol>
                <a:gridCol w="1375257">
                  <a:extLst>
                    <a:ext uri="{9D8B030D-6E8A-4147-A177-3AD203B41FA5}">
                      <a16:colId xmlns:a16="http://schemas.microsoft.com/office/drawing/2014/main" val="20001"/>
                    </a:ext>
                  </a:extLst>
                </a:gridCol>
                <a:gridCol w="2200046">
                  <a:extLst>
                    <a:ext uri="{9D8B030D-6E8A-4147-A177-3AD203B41FA5}">
                      <a16:colId xmlns:a16="http://schemas.microsoft.com/office/drawing/2014/main" val="20002"/>
                    </a:ext>
                  </a:extLst>
                </a:gridCol>
                <a:gridCol w="2749600">
                  <a:extLst>
                    <a:ext uri="{9D8B030D-6E8A-4147-A177-3AD203B41FA5}">
                      <a16:colId xmlns:a16="http://schemas.microsoft.com/office/drawing/2014/main" val="20003"/>
                    </a:ext>
                  </a:extLst>
                </a:gridCol>
                <a:gridCol w="916228">
                  <a:extLst>
                    <a:ext uri="{9D8B030D-6E8A-4147-A177-3AD203B41FA5}">
                      <a16:colId xmlns:a16="http://schemas.microsoft.com/office/drawing/2014/main" val="20004"/>
                    </a:ext>
                  </a:extLst>
                </a:gridCol>
              </a:tblGrid>
              <a:tr h="357531">
                <a:tc>
                  <a:txBody>
                    <a:bodyPr/>
                    <a:lstStyle/>
                    <a:p>
                      <a:pPr algn="l"/>
                      <a:r>
                        <a:rPr sz="950" b="1" i="0">
                          <a:solidFill>
                            <a:srgbClr val="FFFFFF"/>
                          </a:solidFill>
                          <a:latin typeface="Arial"/>
                        </a:rPr>
                        <a:t>Tier</a:t>
                      </a:r>
                    </a:p>
                  </a:txBody>
                  <a:tcPr>
                    <a:solidFill>
                      <a:srgbClr val="002060"/>
                    </a:solidFill>
                  </a:tcPr>
                </a:tc>
                <a:tc>
                  <a:txBody>
                    <a:bodyPr/>
                    <a:lstStyle/>
                    <a:p>
                      <a:pPr algn="ctr"/>
                      <a:r>
                        <a:rPr sz="950" b="1" i="0">
                          <a:solidFill>
                            <a:srgbClr val="FFFFFF"/>
                          </a:solidFill>
                          <a:latin typeface="Arial"/>
                        </a:rPr>
                        <a:t>Win pts</a:t>
                      </a:r>
                    </a:p>
                  </a:txBody>
                  <a:tcPr>
                    <a:solidFill>
                      <a:srgbClr val="002060"/>
                    </a:solidFill>
                  </a:tcPr>
                </a:tc>
                <a:tc>
                  <a:txBody>
                    <a:bodyPr/>
                    <a:lstStyle/>
                    <a:p>
                      <a:pPr algn="ctr"/>
                      <a:r>
                        <a:rPr sz="950" b="1" i="0">
                          <a:solidFill>
                            <a:srgbClr val="FFFFFF"/>
                          </a:solidFill>
                          <a:latin typeface="Arial"/>
                        </a:rPr>
                        <a:t>Last on-pace pos</a:t>
                      </a:r>
                    </a:p>
                  </a:txBody>
                  <a:tcPr>
                    <a:solidFill>
                      <a:srgbClr val="002060"/>
                    </a:solidFill>
                  </a:tcPr>
                </a:tc>
                <a:tc>
                  <a:txBody>
                    <a:bodyPr/>
                    <a:lstStyle/>
                    <a:p>
                      <a:pPr algn="ctr"/>
                      <a:r>
                        <a:rPr sz="950" b="1" i="0">
                          <a:solidFill>
                            <a:srgbClr val="FFFFFF"/>
                          </a:solidFill>
                          <a:latin typeface="Arial"/>
                        </a:rPr>
                        <a:t>First off-pace pos (pts)</a:t>
                      </a:r>
                    </a:p>
                  </a:txBody>
                  <a:tcPr>
                    <a:solidFill>
                      <a:srgbClr val="002060"/>
                    </a:solidFill>
                  </a:tcPr>
                </a:tc>
                <a:tc>
                  <a:txBody>
                    <a:bodyPr/>
                    <a:lstStyle/>
                    <a:p>
                      <a:pPr algn="ctr"/>
                      <a:r>
                        <a:rPr sz="950" b="1" i="0">
                          <a:solidFill>
                            <a:srgbClr val="FFFFFF"/>
                          </a:solidFill>
                          <a:latin typeface="Arial"/>
                        </a:rPr>
                        <a:t>Verdict</a:t>
                      </a:r>
                    </a:p>
                  </a:txBody>
                  <a:tcPr>
                    <a:solidFill>
                      <a:srgbClr val="002060"/>
                    </a:solidFill>
                  </a:tcPr>
                </a:tc>
                <a:extLst>
                  <a:ext uri="{0D108BD9-81ED-4DB2-BD59-A6C34878D82A}">
                    <a16:rowId xmlns:a16="http://schemas.microsoft.com/office/drawing/2014/main" val="10000"/>
                  </a:ext>
                </a:extLst>
              </a:tr>
              <a:tr h="357531">
                <a:tc>
                  <a:txBody>
                    <a:bodyPr/>
                    <a:lstStyle/>
                    <a:p>
                      <a:pPr algn="l"/>
                      <a:r>
                        <a:rPr sz="950" b="0" i="0">
                          <a:solidFill>
                            <a:srgbClr val="262626"/>
                          </a:solidFill>
                          <a:latin typeface="Arial"/>
                        </a:rPr>
                        <a:t>World Championship Series</a:t>
                      </a:r>
                    </a:p>
                  </a:txBody>
                  <a:tcPr>
                    <a:solidFill>
                      <a:srgbClr val="FFFFFF"/>
                    </a:solidFill>
                  </a:tcPr>
                </a:tc>
                <a:tc>
                  <a:txBody>
                    <a:bodyPr/>
                    <a:lstStyle/>
                    <a:p>
                      <a:pPr algn="ctr"/>
                      <a:r>
                        <a:rPr sz="950" b="1" i="0">
                          <a:solidFill>
                            <a:srgbClr val="262626"/>
                          </a:solidFill>
                          <a:latin typeface="Arial"/>
                        </a:rPr>
                        <a:t>1000</a:t>
                      </a:r>
                    </a:p>
                  </a:txBody>
                  <a:tcPr>
                    <a:solidFill>
                      <a:srgbClr val="FFFFFF"/>
                    </a:solidFill>
                  </a:tcPr>
                </a:tc>
                <a:tc>
                  <a:txBody>
                    <a:bodyPr/>
                    <a:lstStyle/>
                    <a:p>
                      <a:pPr algn="ctr"/>
                      <a:r>
                        <a:rPr sz="950" b="1" i="0">
                          <a:solidFill>
                            <a:srgbClr val="262626"/>
                          </a:solidFill>
                          <a:latin typeface="Arial"/>
                        </a:rPr>
                        <a:t>#16</a:t>
                      </a:r>
                    </a:p>
                  </a:txBody>
                  <a:tcPr>
                    <a:solidFill>
                      <a:srgbClr val="FFFFFF"/>
                    </a:solidFill>
                  </a:tcPr>
                </a:tc>
                <a:tc>
                  <a:txBody>
                    <a:bodyPr/>
                    <a:lstStyle/>
                    <a:p>
                      <a:pPr algn="ctr"/>
                      <a:r>
                        <a:rPr sz="950" b="0" i="0">
                          <a:solidFill>
                            <a:srgbClr val="262626"/>
                          </a:solidFill>
                          <a:latin typeface="Arial"/>
                        </a:rPr>
                        <a:t>#17 (287 pts)</a:t>
                      </a:r>
                    </a:p>
                  </a:txBody>
                  <a:tcPr>
                    <a:solidFill>
                      <a:srgbClr val="FFFFFF"/>
                    </a:solidFill>
                  </a:tcPr>
                </a:tc>
                <a:tc>
                  <a:txBody>
                    <a:bodyPr/>
                    <a:lstStyle/>
                    <a:p>
                      <a:pPr algn="ctr"/>
                      <a:r>
                        <a:rPr sz="950" b="1" i="0">
                          <a:solidFill>
                            <a:srgbClr val="1B7F3A"/>
                          </a:solidFill>
                          <a:latin typeface="Arial"/>
                        </a:rPr>
                        <a:t>Top 16</a:t>
                      </a:r>
                    </a:p>
                  </a:txBody>
                  <a:tcPr>
                    <a:solidFill>
                      <a:srgbClr val="FFFFFF"/>
                    </a:solidFill>
                  </a:tcPr>
                </a:tc>
                <a:extLst>
                  <a:ext uri="{0D108BD9-81ED-4DB2-BD59-A6C34878D82A}">
                    <a16:rowId xmlns:a16="http://schemas.microsoft.com/office/drawing/2014/main" val="10001"/>
                  </a:ext>
                </a:extLst>
              </a:tr>
              <a:tr h="357531">
                <a:tc>
                  <a:txBody>
                    <a:bodyPr/>
                    <a:lstStyle/>
                    <a:p>
                      <a:pPr algn="l"/>
                      <a:r>
                        <a:rPr sz="950" b="0" i="0">
                          <a:solidFill>
                            <a:srgbClr val="262626"/>
                          </a:solidFill>
                          <a:latin typeface="Arial"/>
                        </a:rPr>
                        <a:t>World Cup</a:t>
                      </a:r>
                    </a:p>
                  </a:txBody>
                  <a:tcPr>
                    <a:solidFill>
                      <a:srgbClr val="F2F2F2"/>
                    </a:solidFill>
                  </a:tcPr>
                </a:tc>
                <a:tc>
                  <a:txBody>
                    <a:bodyPr/>
                    <a:lstStyle/>
                    <a:p>
                      <a:pPr algn="ctr"/>
                      <a:r>
                        <a:rPr sz="950" b="1" i="0">
                          <a:solidFill>
                            <a:srgbClr val="262626"/>
                          </a:solidFill>
                          <a:latin typeface="Arial"/>
                        </a:rPr>
                        <a:t>500</a:t>
                      </a:r>
                    </a:p>
                  </a:txBody>
                  <a:tcPr>
                    <a:solidFill>
                      <a:srgbClr val="F2F2F2"/>
                    </a:solidFill>
                  </a:tcPr>
                </a:tc>
                <a:tc>
                  <a:txBody>
                    <a:bodyPr/>
                    <a:lstStyle/>
                    <a:p>
                      <a:pPr algn="ctr"/>
                      <a:r>
                        <a:rPr sz="950" b="1" i="0">
                          <a:solidFill>
                            <a:srgbClr val="262626"/>
                          </a:solidFill>
                          <a:latin typeface="Arial"/>
                        </a:rPr>
                        <a:t>#7</a:t>
                      </a:r>
                    </a:p>
                  </a:txBody>
                  <a:tcPr>
                    <a:solidFill>
                      <a:srgbClr val="F2F2F2"/>
                    </a:solidFill>
                  </a:tcPr>
                </a:tc>
                <a:tc>
                  <a:txBody>
                    <a:bodyPr/>
                    <a:lstStyle/>
                    <a:p>
                      <a:pPr algn="ctr"/>
                      <a:r>
                        <a:rPr sz="950" b="0" i="0">
                          <a:solidFill>
                            <a:srgbClr val="262626"/>
                          </a:solidFill>
                          <a:latin typeface="Arial"/>
                        </a:rPr>
                        <a:t>#8 (290 pts)</a:t>
                      </a:r>
                    </a:p>
                  </a:txBody>
                  <a:tcPr>
                    <a:solidFill>
                      <a:srgbClr val="F2F2F2"/>
                    </a:solidFill>
                  </a:tcPr>
                </a:tc>
                <a:tc>
                  <a:txBody>
                    <a:bodyPr/>
                    <a:lstStyle/>
                    <a:p>
                      <a:pPr algn="ctr"/>
                      <a:r>
                        <a:rPr sz="950" b="1" i="0" dirty="0">
                          <a:solidFill>
                            <a:srgbClr val="1B7F3A"/>
                          </a:solidFill>
                          <a:latin typeface="Arial"/>
                        </a:rPr>
                        <a:t>Top 7</a:t>
                      </a:r>
                    </a:p>
                  </a:txBody>
                  <a:tcPr>
                    <a:solidFill>
                      <a:srgbClr val="F2F2F2"/>
                    </a:solidFill>
                  </a:tcPr>
                </a:tc>
                <a:extLst>
                  <a:ext uri="{0D108BD9-81ED-4DB2-BD59-A6C34878D82A}">
                    <a16:rowId xmlns:a16="http://schemas.microsoft.com/office/drawing/2014/main" val="10002"/>
                  </a:ext>
                </a:extLst>
              </a:tr>
            </a:tbl>
          </a:graphicData>
        </a:graphic>
      </p:graphicFrame>
      <p:sp>
        <p:nvSpPr>
          <p:cNvPr id="14" name="Rectangle 13"/>
          <p:cNvSpPr/>
          <p:nvPr/>
        </p:nvSpPr>
        <p:spPr>
          <a:xfrm>
            <a:off x="274320" y="361188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4320" y="3639312"/>
            <a:ext cx="5806440" cy="219456"/>
          </a:xfrm>
          <a:prstGeom prst="rect">
            <a:avLst/>
          </a:prstGeom>
          <a:noFill/>
        </p:spPr>
        <p:txBody>
          <a:bodyPr wrap="square">
            <a:spAutoFit/>
          </a:bodyPr>
          <a:lstStyle/>
          <a:p>
            <a:pPr algn="ctr"/>
            <a:r>
              <a:rPr sz="1100" b="1" i="0">
                <a:solidFill>
                  <a:srgbClr val="FFFFFF"/>
                </a:solidFill>
                <a:latin typeface="Arial"/>
              </a:rPr>
              <a:t>USA MEN</a:t>
            </a:r>
          </a:p>
        </p:txBody>
      </p:sp>
      <p:graphicFrame>
        <p:nvGraphicFramePr>
          <p:cNvPr id="16" name="Table 15"/>
          <p:cNvGraphicFramePr>
            <a:graphicFrameLocks noGrp="1"/>
          </p:cNvGraphicFramePr>
          <p:nvPr/>
        </p:nvGraphicFramePr>
        <p:xfrm>
          <a:off x="274320" y="3931920"/>
          <a:ext cx="5806440" cy="248412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411480">
                  <a:extLst>
                    <a:ext uri="{9D8B030D-6E8A-4147-A177-3AD203B41FA5}">
                      <a16:colId xmlns:a16="http://schemas.microsoft.com/office/drawing/2014/main" val="20004"/>
                    </a:ext>
                  </a:extLst>
                </a:gridCol>
                <a:gridCol w="41148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tblGrid>
              <a:tr h="201168">
                <a:tc>
                  <a:txBody>
                    <a:bodyPr/>
                    <a:lstStyle/>
                    <a:p>
                      <a:pPr algn="ctr"/>
                      <a:r>
                        <a:rPr sz="850" b="1" i="0">
                          <a:solidFill>
                            <a:srgbClr val="FFFFFF"/>
                          </a:solidFill>
                          <a:latin typeface="Arial"/>
                        </a:rPr>
                        <a:t>Rk</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Total</a:t>
                      </a:r>
                    </a:p>
                  </a:txBody>
                  <a:tcPr>
                    <a:solidFill>
                      <a:srgbClr val="002060"/>
                    </a:solidFill>
                  </a:tcPr>
                </a:tc>
                <a:tc>
                  <a:txBody>
                    <a:bodyPr/>
                    <a:lstStyle/>
                    <a:p>
                      <a:pPr algn="ctr"/>
                      <a:r>
                        <a:rPr sz="850" b="1" i="0">
                          <a:solidFill>
                            <a:srgbClr val="FFFFFF"/>
                          </a:solidFill>
                          <a:latin typeface="Arial"/>
                        </a:rPr>
                        <a:t>Races</a:t>
                      </a:r>
                    </a:p>
                  </a:txBody>
                  <a:tcPr>
                    <a:solidFill>
                      <a:srgbClr val="002060"/>
                    </a:solidFill>
                  </a:tcPr>
                </a:tc>
                <a:tc>
                  <a:txBody>
                    <a:bodyPr/>
                    <a:lstStyle/>
                    <a:p>
                      <a:pPr algn="ctr"/>
                      <a:r>
                        <a:rPr sz="850" b="1" i="0">
                          <a:solidFill>
                            <a:srgbClr val="FFFFFF"/>
                          </a:solidFill>
                          <a:latin typeface="Arial"/>
                        </a:rPr>
                        <a:t>On</a:t>
                      </a:r>
                    </a:p>
                  </a:txBody>
                  <a:tcPr>
                    <a:solidFill>
                      <a:srgbClr val="002060"/>
                    </a:solidFill>
                  </a:tcPr>
                </a:tc>
                <a:tc>
                  <a:txBody>
                    <a:bodyPr/>
                    <a:lstStyle/>
                    <a:p>
                      <a:pPr algn="ctr"/>
                      <a:r>
                        <a:rPr sz="850" b="1" i="0">
                          <a:solidFill>
                            <a:srgbClr val="FFFFFF"/>
                          </a:solidFill>
                          <a:latin typeface="Arial"/>
                        </a:rPr>
                        <a:t>Off</a:t>
                      </a:r>
                    </a:p>
                  </a:txBody>
                  <a:tcPr>
                    <a:solidFill>
                      <a:srgbClr val="002060"/>
                    </a:solidFill>
                  </a:tcPr>
                </a:tc>
                <a:tc>
                  <a:txBody>
                    <a:bodyPr/>
                    <a:lstStyle/>
                    <a:p>
                      <a:pPr algn="ctr"/>
                      <a:r>
                        <a:rPr sz="850" b="1" i="0">
                          <a:solidFill>
                            <a:srgbClr val="FFFFFF"/>
                          </a:solidFill>
                          <a:latin typeface="Arial"/>
                        </a:rPr>
                        <a:t>Pace</a:t>
                      </a:r>
                    </a:p>
                  </a:txBody>
                  <a:tcPr>
                    <a:solidFill>
                      <a:srgbClr val="002060"/>
                    </a:solidFill>
                  </a:tcPr>
                </a:tc>
                <a:tc>
                  <a:txBody>
                    <a:bodyPr/>
                    <a:lstStyle/>
                    <a:p>
                      <a:pPr algn="ctr"/>
                      <a:r>
                        <a:rPr sz="850" b="1" i="0">
                          <a:solidFill>
                            <a:srgbClr val="FFFFFF"/>
                          </a:solidFill>
                          <a:latin typeface="Arial"/>
                        </a:rPr>
                        <a:t>Proj @12</a:t>
                      </a:r>
                    </a:p>
                  </a:txBody>
                  <a:tcPr>
                    <a:solidFill>
                      <a:srgbClr val="002060"/>
                    </a:solidFill>
                  </a:tcPr>
                </a:tc>
                <a:extLst>
                  <a:ext uri="{0D108BD9-81ED-4DB2-BD59-A6C34878D82A}">
                    <a16:rowId xmlns:a16="http://schemas.microsoft.com/office/drawing/2014/main" val="10000"/>
                  </a:ext>
                </a:extLst>
              </a:tr>
              <a:tr h="201168">
                <a:tc>
                  <a:txBody>
                    <a:bodyPr/>
                    <a:lstStyle/>
                    <a:p>
                      <a:pPr algn="ctr"/>
                      <a:r>
                        <a:rPr sz="750" b="1" i="0">
                          <a:solidFill>
                            <a:srgbClr val="262626"/>
                          </a:solidFill>
                          <a:latin typeface="Arial"/>
                        </a:rPr>
                        <a:t>12</a:t>
                      </a:r>
                    </a:p>
                  </a:txBody>
                  <a:tcPr>
                    <a:solidFill>
                      <a:srgbClr val="FFFFFF"/>
                    </a:solidFill>
                  </a:tcPr>
                </a:tc>
                <a:tc>
                  <a:txBody>
                    <a:bodyPr/>
                    <a:lstStyle/>
                    <a:p>
                      <a:pPr algn="l"/>
                      <a:r>
                        <a:rPr sz="750" b="0" i="0">
                          <a:solidFill>
                            <a:srgbClr val="262626"/>
                          </a:solidFill>
                          <a:latin typeface="Arial"/>
                        </a:rPr>
                        <a:t>Sullivan Middaugh</a:t>
                      </a:r>
                    </a:p>
                  </a:txBody>
                  <a:tcPr>
                    <a:solidFill>
                      <a:srgbClr val="FFFFFF"/>
                    </a:solidFill>
                  </a:tcPr>
                </a:tc>
                <a:tc>
                  <a:txBody>
                    <a:bodyPr/>
                    <a:lstStyle/>
                    <a:p>
                      <a:pPr algn="ctr"/>
                      <a:r>
                        <a:rPr sz="750" b="1" i="0">
                          <a:solidFill>
                            <a:srgbClr val="262626"/>
                          </a:solidFill>
                          <a:latin typeface="Arial"/>
                        </a:rPr>
                        <a:t>1,573</a:t>
                      </a:r>
                    </a:p>
                  </a:txBody>
                  <a:tcPr>
                    <a:solidFill>
                      <a:srgbClr val="FFFFFF"/>
                    </a:solidFill>
                  </a:tcPr>
                </a:tc>
                <a:tc>
                  <a:txBody>
                    <a:bodyPr/>
                    <a:lstStyle/>
                    <a:p>
                      <a:pPr algn="ctr"/>
                      <a:r>
                        <a:rPr sz="750" b="0" i="0">
                          <a:solidFill>
                            <a:srgbClr val="262626"/>
                          </a:solidFill>
                          <a:latin typeface="Arial"/>
                        </a:rPr>
                        <a:t>5</a:t>
                      </a:r>
                    </a:p>
                  </a:txBody>
                  <a:tcPr>
                    <a:solidFill>
                      <a:srgbClr val="FFFFFF"/>
                    </a:solidFill>
                  </a:tcPr>
                </a:tc>
                <a:tc>
                  <a:txBody>
                    <a:bodyPr/>
                    <a:lstStyle/>
                    <a:p>
                      <a:pPr algn="ctr"/>
                      <a:r>
                        <a:rPr sz="750" b="1" i="0">
                          <a:solidFill>
                            <a:srgbClr val="1B7F3A"/>
                          </a:solidFill>
                          <a:latin typeface="Arial"/>
                        </a:rPr>
                        <a:t>2</a:t>
                      </a:r>
                    </a:p>
                  </a:txBody>
                  <a:tcPr>
                    <a:solidFill>
                      <a:srgbClr val="FFFFFF"/>
                    </a:solidFill>
                  </a:tcPr>
                </a:tc>
                <a:tc>
                  <a:txBody>
                    <a:bodyPr/>
                    <a:lstStyle/>
                    <a:p>
                      <a:pPr algn="ctr"/>
                      <a:r>
                        <a:rPr sz="750" b="1" i="0">
                          <a:solidFill>
                            <a:srgbClr val="C00000"/>
                          </a:solidFill>
                          <a:latin typeface="Arial"/>
                        </a:rPr>
                        <a:t>3</a:t>
                      </a:r>
                    </a:p>
                  </a:txBody>
                  <a:tcPr>
                    <a:solidFill>
                      <a:srgbClr val="FFFFFF"/>
                    </a:solidFill>
                  </a:tcPr>
                </a:tc>
                <a:tc>
                  <a:txBody>
                    <a:bodyPr/>
                    <a:lstStyle/>
                    <a:p>
                      <a:pPr algn="ctr"/>
                      <a:r>
                        <a:rPr sz="750" b="0" i="0">
                          <a:solidFill>
                            <a:srgbClr val="262626"/>
                          </a:solidFill>
                          <a:latin typeface="Arial"/>
                        </a:rPr>
                        <a:t>314</a:t>
                      </a:r>
                    </a:p>
                  </a:txBody>
                  <a:tcPr>
                    <a:solidFill>
                      <a:srgbClr val="FFFFFF"/>
                    </a:solidFill>
                  </a:tcPr>
                </a:tc>
                <a:tc>
                  <a:txBody>
                    <a:bodyPr/>
                    <a:lstStyle/>
                    <a:p>
                      <a:pPr algn="ctr"/>
                      <a:r>
                        <a:rPr sz="750" b="1" i="0">
                          <a:solidFill>
                            <a:srgbClr val="1B7F3A"/>
                          </a:solidFill>
                          <a:latin typeface="Arial"/>
                        </a:rPr>
                        <a:t>3,776</a:t>
                      </a:r>
                    </a:p>
                  </a:txBody>
                  <a:tcPr>
                    <a:solidFill>
                      <a:srgbClr val="FFFFFF"/>
                    </a:solidFill>
                  </a:tcPr>
                </a:tc>
                <a:extLst>
                  <a:ext uri="{0D108BD9-81ED-4DB2-BD59-A6C34878D82A}">
                    <a16:rowId xmlns:a16="http://schemas.microsoft.com/office/drawing/2014/main" val="10001"/>
                  </a:ext>
                </a:extLst>
              </a:tr>
              <a:tr h="201168">
                <a:tc>
                  <a:txBody>
                    <a:bodyPr/>
                    <a:lstStyle/>
                    <a:p>
                      <a:pPr algn="ctr"/>
                      <a:r>
                        <a:rPr sz="750" b="1" i="0">
                          <a:solidFill>
                            <a:srgbClr val="262626"/>
                          </a:solidFill>
                          <a:latin typeface="Arial"/>
                        </a:rPr>
                        <a:t>16</a:t>
                      </a:r>
                    </a:p>
                  </a:txBody>
                  <a:tcPr>
                    <a:solidFill>
                      <a:srgbClr val="F2F2F2"/>
                    </a:solidFill>
                  </a:tcPr>
                </a:tc>
                <a:tc>
                  <a:txBody>
                    <a:bodyPr/>
                    <a:lstStyle/>
                    <a:p>
                      <a:pPr algn="l"/>
                      <a:r>
                        <a:rPr sz="750" b="0" i="0">
                          <a:solidFill>
                            <a:srgbClr val="262626"/>
                          </a:solidFill>
                          <a:latin typeface="Arial"/>
                        </a:rPr>
                        <a:t>Reese Vannerson</a:t>
                      </a:r>
                    </a:p>
                  </a:txBody>
                  <a:tcPr>
                    <a:solidFill>
                      <a:srgbClr val="F2F2F2"/>
                    </a:solidFill>
                  </a:tcPr>
                </a:tc>
                <a:tc>
                  <a:txBody>
                    <a:bodyPr/>
                    <a:lstStyle/>
                    <a:p>
                      <a:pPr algn="ctr"/>
                      <a:r>
                        <a:rPr sz="750" b="1" i="0">
                          <a:solidFill>
                            <a:srgbClr val="262626"/>
                          </a:solidFill>
                          <a:latin typeface="Arial"/>
                        </a:rPr>
                        <a:t>1,479</a:t>
                      </a:r>
                    </a:p>
                  </a:txBody>
                  <a:tcPr>
                    <a:solidFill>
                      <a:srgbClr val="F2F2F2"/>
                    </a:solidFill>
                  </a:tcPr>
                </a:tc>
                <a:tc>
                  <a:txBody>
                    <a:bodyPr/>
                    <a:lstStyle/>
                    <a:p>
                      <a:pPr algn="ctr"/>
                      <a:r>
                        <a:rPr sz="750" b="0" i="0">
                          <a:solidFill>
                            <a:srgbClr val="262626"/>
                          </a:solidFill>
                          <a:latin typeface="Arial"/>
                        </a:rPr>
                        <a:t>4</a:t>
                      </a:r>
                    </a:p>
                  </a:txBody>
                  <a:tcPr>
                    <a:solidFill>
                      <a:srgbClr val="F2F2F2"/>
                    </a:solidFill>
                  </a:tcPr>
                </a:tc>
                <a:tc>
                  <a:txBody>
                    <a:bodyPr/>
                    <a:lstStyle/>
                    <a:p>
                      <a:pPr algn="ctr"/>
                      <a:r>
                        <a:rPr sz="750" b="1" i="0">
                          <a:solidFill>
                            <a:srgbClr val="1B7F3A"/>
                          </a:solidFill>
                          <a:latin typeface="Arial"/>
                        </a:rPr>
                        <a:t>3</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369</a:t>
                      </a:r>
                    </a:p>
                  </a:txBody>
                  <a:tcPr>
                    <a:solidFill>
                      <a:srgbClr val="F2F2F2"/>
                    </a:solidFill>
                  </a:tcPr>
                </a:tc>
                <a:tc>
                  <a:txBody>
                    <a:bodyPr/>
                    <a:lstStyle/>
                    <a:p>
                      <a:pPr algn="ctr"/>
                      <a:r>
                        <a:rPr sz="750" b="1" i="0">
                          <a:solidFill>
                            <a:srgbClr val="1B7F3A"/>
                          </a:solidFill>
                          <a:latin typeface="Arial"/>
                        </a:rPr>
                        <a:t>4,439</a:t>
                      </a:r>
                    </a:p>
                  </a:txBody>
                  <a:tcPr>
                    <a:solidFill>
                      <a:srgbClr val="F2F2F2"/>
                    </a:solidFill>
                  </a:tcPr>
                </a:tc>
                <a:extLst>
                  <a:ext uri="{0D108BD9-81ED-4DB2-BD59-A6C34878D82A}">
                    <a16:rowId xmlns:a16="http://schemas.microsoft.com/office/drawing/2014/main" val="10002"/>
                  </a:ext>
                </a:extLst>
              </a:tr>
              <a:tr h="201168">
                <a:tc>
                  <a:txBody>
                    <a:bodyPr/>
                    <a:lstStyle/>
                    <a:p>
                      <a:pPr algn="ctr"/>
                      <a:r>
                        <a:rPr sz="750" b="1" i="0">
                          <a:solidFill>
                            <a:srgbClr val="262626"/>
                          </a:solidFill>
                          <a:latin typeface="Arial"/>
                        </a:rPr>
                        <a:t>19</a:t>
                      </a:r>
                    </a:p>
                  </a:txBody>
                  <a:tcPr>
                    <a:solidFill>
                      <a:srgbClr val="FFFFFF"/>
                    </a:solidFill>
                  </a:tcPr>
                </a:tc>
                <a:tc>
                  <a:txBody>
                    <a:bodyPr/>
                    <a:lstStyle/>
                    <a:p>
                      <a:pPr algn="l"/>
                      <a:r>
                        <a:rPr sz="750" b="0" i="0">
                          <a:solidFill>
                            <a:srgbClr val="262626"/>
                          </a:solidFill>
                          <a:latin typeface="Arial"/>
                        </a:rPr>
                        <a:t>Seth Rider</a:t>
                      </a:r>
                    </a:p>
                  </a:txBody>
                  <a:tcPr>
                    <a:solidFill>
                      <a:srgbClr val="FFFFFF"/>
                    </a:solidFill>
                  </a:tcPr>
                </a:tc>
                <a:tc>
                  <a:txBody>
                    <a:bodyPr/>
                    <a:lstStyle/>
                    <a:p>
                      <a:pPr algn="ctr"/>
                      <a:r>
                        <a:rPr sz="750" b="1" i="0">
                          <a:solidFill>
                            <a:srgbClr val="262626"/>
                          </a:solidFill>
                          <a:latin typeface="Arial"/>
                        </a:rPr>
                        <a:t>1,341</a:t>
                      </a:r>
                    </a:p>
                  </a:txBody>
                  <a:tcPr>
                    <a:solidFill>
                      <a:srgbClr val="FFFFFF"/>
                    </a:solidFill>
                  </a:tcPr>
                </a:tc>
                <a:tc>
                  <a:txBody>
                    <a:bodyPr/>
                    <a:lstStyle/>
                    <a:p>
                      <a:pPr algn="ctr"/>
                      <a:r>
                        <a:rPr sz="750" b="0" i="0">
                          <a:solidFill>
                            <a:srgbClr val="262626"/>
                          </a:solidFill>
                          <a:latin typeface="Arial"/>
                        </a:rPr>
                        <a:t>4</a:t>
                      </a:r>
                    </a:p>
                  </a:txBody>
                  <a:tcPr>
                    <a:solidFill>
                      <a:srgbClr val="FFFFFF"/>
                    </a:solidFill>
                  </a:tcPr>
                </a:tc>
                <a:tc>
                  <a:txBody>
                    <a:bodyPr/>
                    <a:lstStyle/>
                    <a:p>
                      <a:pPr algn="ctr"/>
                      <a:r>
                        <a:rPr sz="750" b="1" i="0">
                          <a:solidFill>
                            <a:srgbClr val="1B7F3A"/>
                          </a:solidFill>
                          <a:latin typeface="Arial"/>
                        </a:rPr>
                        <a:t>3</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335</a:t>
                      </a:r>
                    </a:p>
                  </a:txBody>
                  <a:tcPr>
                    <a:solidFill>
                      <a:srgbClr val="FFFFFF"/>
                    </a:solidFill>
                  </a:tcPr>
                </a:tc>
                <a:tc>
                  <a:txBody>
                    <a:bodyPr/>
                    <a:lstStyle/>
                    <a:p>
                      <a:pPr algn="ctr"/>
                      <a:r>
                        <a:rPr sz="750" b="1" i="0">
                          <a:solidFill>
                            <a:srgbClr val="1B7F3A"/>
                          </a:solidFill>
                          <a:latin typeface="Arial"/>
                        </a:rPr>
                        <a:t>4,023</a:t>
                      </a:r>
                    </a:p>
                  </a:txBody>
                  <a:tcPr>
                    <a:solidFill>
                      <a:srgbClr val="FFFFFF"/>
                    </a:solidFill>
                  </a:tcPr>
                </a:tc>
                <a:extLst>
                  <a:ext uri="{0D108BD9-81ED-4DB2-BD59-A6C34878D82A}">
                    <a16:rowId xmlns:a16="http://schemas.microsoft.com/office/drawing/2014/main" val="10003"/>
                  </a:ext>
                </a:extLst>
              </a:tr>
              <a:tr h="201168">
                <a:tc>
                  <a:txBody>
                    <a:bodyPr/>
                    <a:lstStyle/>
                    <a:p>
                      <a:pPr algn="ctr"/>
                      <a:r>
                        <a:rPr sz="750" b="1" i="0">
                          <a:solidFill>
                            <a:srgbClr val="262626"/>
                          </a:solidFill>
                          <a:latin typeface="Arial"/>
                        </a:rPr>
                        <a:t>20</a:t>
                      </a:r>
                    </a:p>
                  </a:txBody>
                  <a:tcPr>
                    <a:solidFill>
                      <a:srgbClr val="F2F2F2"/>
                    </a:solidFill>
                  </a:tcPr>
                </a:tc>
                <a:tc>
                  <a:txBody>
                    <a:bodyPr/>
                    <a:lstStyle/>
                    <a:p>
                      <a:pPr algn="l"/>
                      <a:r>
                        <a:rPr sz="750" b="0" i="0">
                          <a:solidFill>
                            <a:srgbClr val="262626"/>
                          </a:solidFill>
                          <a:latin typeface="Arial"/>
                        </a:rPr>
                        <a:t>Braxton Legg</a:t>
                      </a:r>
                    </a:p>
                  </a:txBody>
                  <a:tcPr>
                    <a:solidFill>
                      <a:srgbClr val="F2F2F2"/>
                    </a:solidFill>
                  </a:tcPr>
                </a:tc>
                <a:tc>
                  <a:txBody>
                    <a:bodyPr/>
                    <a:lstStyle/>
                    <a:p>
                      <a:pPr algn="ctr"/>
                      <a:r>
                        <a:rPr sz="750" b="1" i="0">
                          <a:solidFill>
                            <a:srgbClr val="262626"/>
                          </a:solidFill>
                          <a:latin typeface="Arial"/>
                        </a:rPr>
                        <a:t>1,274</a:t>
                      </a:r>
                    </a:p>
                  </a:txBody>
                  <a:tcPr>
                    <a:solidFill>
                      <a:srgbClr val="F2F2F2"/>
                    </a:solidFill>
                  </a:tcPr>
                </a:tc>
                <a:tc>
                  <a:txBody>
                    <a:bodyPr/>
                    <a:lstStyle/>
                    <a:p>
                      <a:pPr algn="ctr"/>
                      <a:r>
                        <a:rPr sz="750" b="0" i="0">
                          <a:solidFill>
                            <a:srgbClr val="262626"/>
                          </a:solidFill>
                          <a:latin typeface="Arial"/>
                        </a:rPr>
                        <a:t>4</a:t>
                      </a:r>
                    </a:p>
                  </a:txBody>
                  <a:tcPr>
                    <a:solidFill>
                      <a:srgbClr val="F2F2F2"/>
                    </a:solidFill>
                  </a:tcPr>
                </a:tc>
                <a:tc>
                  <a:txBody>
                    <a:bodyPr/>
                    <a:lstStyle/>
                    <a:p>
                      <a:pPr algn="ctr"/>
                      <a:r>
                        <a:rPr sz="750" b="1" i="0">
                          <a:solidFill>
                            <a:srgbClr val="1B7F3A"/>
                          </a:solidFill>
                          <a:latin typeface="Arial"/>
                        </a:rPr>
                        <a:t>2</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318</a:t>
                      </a:r>
                    </a:p>
                  </a:txBody>
                  <a:tcPr>
                    <a:solidFill>
                      <a:srgbClr val="F2F2F2"/>
                    </a:solidFill>
                  </a:tcPr>
                </a:tc>
                <a:tc>
                  <a:txBody>
                    <a:bodyPr/>
                    <a:lstStyle/>
                    <a:p>
                      <a:pPr algn="ctr"/>
                      <a:r>
                        <a:rPr sz="750" b="1" i="0">
                          <a:solidFill>
                            <a:srgbClr val="1B7F3A"/>
                          </a:solidFill>
                          <a:latin typeface="Arial"/>
                        </a:rPr>
                        <a:t>3,823</a:t>
                      </a:r>
                    </a:p>
                  </a:txBody>
                  <a:tcPr>
                    <a:solidFill>
                      <a:srgbClr val="F2F2F2"/>
                    </a:solidFill>
                  </a:tcPr>
                </a:tc>
                <a:extLst>
                  <a:ext uri="{0D108BD9-81ED-4DB2-BD59-A6C34878D82A}">
                    <a16:rowId xmlns:a16="http://schemas.microsoft.com/office/drawing/2014/main" val="10004"/>
                  </a:ext>
                </a:extLst>
              </a:tr>
              <a:tr h="201168">
                <a:tc>
                  <a:txBody>
                    <a:bodyPr/>
                    <a:lstStyle/>
                    <a:p>
                      <a:pPr algn="ctr"/>
                      <a:r>
                        <a:rPr sz="750" b="1" i="0">
                          <a:solidFill>
                            <a:srgbClr val="262626"/>
                          </a:solidFill>
                          <a:latin typeface="Arial"/>
                        </a:rPr>
                        <a:t>24</a:t>
                      </a:r>
                    </a:p>
                  </a:txBody>
                  <a:tcPr>
                    <a:solidFill>
                      <a:srgbClr val="FFFFFF"/>
                    </a:solidFill>
                  </a:tcPr>
                </a:tc>
                <a:tc>
                  <a:txBody>
                    <a:bodyPr/>
                    <a:lstStyle/>
                    <a:p>
                      <a:pPr algn="l"/>
                      <a:r>
                        <a:rPr sz="750" b="0" i="0">
                          <a:solidFill>
                            <a:srgbClr val="262626"/>
                          </a:solidFill>
                          <a:latin typeface="Arial"/>
                        </a:rPr>
                        <a:t>Keller Norland</a:t>
                      </a:r>
                    </a:p>
                  </a:txBody>
                  <a:tcPr>
                    <a:solidFill>
                      <a:srgbClr val="FFFFFF"/>
                    </a:solidFill>
                  </a:tcPr>
                </a:tc>
                <a:tc>
                  <a:txBody>
                    <a:bodyPr/>
                    <a:lstStyle/>
                    <a:p>
                      <a:pPr algn="ctr"/>
                      <a:r>
                        <a:rPr sz="750" b="1" i="0">
                          <a:solidFill>
                            <a:srgbClr val="262626"/>
                          </a:solidFill>
                          <a:latin typeface="Arial"/>
                        </a:rPr>
                        <a:t>1,087</a:t>
                      </a:r>
                    </a:p>
                  </a:txBody>
                  <a:tcPr>
                    <a:solidFill>
                      <a:srgbClr val="FFFFFF"/>
                    </a:solidFill>
                  </a:tcPr>
                </a:tc>
                <a:tc>
                  <a:txBody>
                    <a:bodyPr/>
                    <a:lstStyle/>
                    <a:p>
                      <a:pPr algn="ctr"/>
                      <a:r>
                        <a:rPr sz="750" b="0" i="0">
                          <a:solidFill>
                            <a:srgbClr val="262626"/>
                          </a:solidFill>
                          <a:latin typeface="Arial"/>
                        </a:rPr>
                        <a:t>3</a:t>
                      </a:r>
                    </a:p>
                  </a:txBody>
                  <a:tcPr>
                    <a:solidFill>
                      <a:srgbClr val="FFFFFF"/>
                    </a:solidFill>
                  </a:tcPr>
                </a:tc>
                <a:tc>
                  <a:txBody>
                    <a:bodyPr/>
                    <a:lstStyle/>
                    <a:p>
                      <a:pPr algn="ctr"/>
                      <a:r>
                        <a:rPr sz="750" b="1" i="0">
                          <a:solidFill>
                            <a:srgbClr val="1B7F3A"/>
                          </a:solidFill>
                          <a:latin typeface="Arial"/>
                        </a:rPr>
                        <a:t>2</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362</a:t>
                      </a:r>
                    </a:p>
                  </a:txBody>
                  <a:tcPr>
                    <a:solidFill>
                      <a:srgbClr val="FFFFFF"/>
                    </a:solidFill>
                  </a:tcPr>
                </a:tc>
                <a:tc>
                  <a:txBody>
                    <a:bodyPr/>
                    <a:lstStyle/>
                    <a:p>
                      <a:pPr algn="ctr"/>
                      <a:r>
                        <a:rPr sz="750" b="1" i="0">
                          <a:solidFill>
                            <a:srgbClr val="1B7F3A"/>
                          </a:solidFill>
                          <a:latin typeface="Arial"/>
                        </a:rPr>
                        <a:t>4,349</a:t>
                      </a:r>
                    </a:p>
                  </a:txBody>
                  <a:tcPr>
                    <a:solidFill>
                      <a:srgbClr val="FFFFFF"/>
                    </a:solidFill>
                  </a:tcPr>
                </a:tc>
                <a:extLst>
                  <a:ext uri="{0D108BD9-81ED-4DB2-BD59-A6C34878D82A}">
                    <a16:rowId xmlns:a16="http://schemas.microsoft.com/office/drawing/2014/main" val="10005"/>
                  </a:ext>
                </a:extLst>
              </a:tr>
              <a:tr h="201168">
                <a:tc>
                  <a:txBody>
                    <a:bodyPr/>
                    <a:lstStyle/>
                    <a:p>
                      <a:pPr algn="ctr"/>
                      <a:r>
                        <a:rPr sz="750" b="1" i="0">
                          <a:solidFill>
                            <a:srgbClr val="262626"/>
                          </a:solidFill>
                          <a:latin typeface="Arial"/>
                        </a:rPr>
                        <a:t>36</a:t>
                      </a:r>
                    </a:p>
                  </a:txBody>
                  <a:tcPr>
                    <a:solidFill>
                      <a:srgbClr val="F2F2F2"/>
                    </a:solidFill>
                  </a:tcPr>
                </a:tc>
                <a:tc>
                  <a:txBody>
                    <a:bodyPr/>
                    <a:lstStyle/>
                    <a:p>
                      <a:pPr algn="l"/>
                      <a:r>
                        <a:rPr sz="750" b="0" i="0">
                          <a:solidFill>
                            <a:srgbClr val="262626"/>
                          </a:solidFill>
                          <a:latin typeface="Arial"/>
                        </a:rPr>
                        <a:t>Morgan Pearson</a:t>
                      </a:r>
                    </a:p>
                  </a:txBody>
                  <a:tcPr>
                    <a:solidFill>
                      <a:srgbClr val="F2F2F2"/>
                    </a:solidFill>
                  </a:tcPr>
                </a:tc>
                <a:tc>
                  <a:txBody>
                    <a:bodyPr/>
                    <a:lstStyle/>
                    <a:p>
                      <a:pPr algn="ctr"/>
                      <a:r>
                        <a:rPr sz="750" b="1" i="0">
                          <a:solidFill>
                            <a:srgbClr val="262626"/>
                          </a:solidFill>
                          <a:latin typeface="Arial"/>
                        </a:rPr>
                        <a:t>904</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452</a:t>
                      </a:r>
                    </a:p>
                  </a:txBody>
                  <a:tcPr>
                    <a:solidFill>
                      <a:srgbClr val="F2F2F2"/>
                    </a:solidFill>
                  </a:tcPr>
                </a:tc>
                <a:tc>
                  <a:txBody>
                    <a:bodyPr/>
                    <a:lstStyle/>
                    <a:p>
                      <a:pPr algn="ctr"/>
                      <a:r>
                        <a:rPr sz="750" b="1" i="0">
                          <a:solidFill>
                            <a:srgbClr val="1B7F3A"/>
                          </a:solidFill>
                          <a:latin typeface="Arial"/>
                        </a:rPr>
                        <a:t>5,425</a:t>
                      </a:r>
                    </a:p>
                  </a:txBody>
                  <a:tcPr>
                    <a:solidFill>
                      <a:srgbClr val="F2F2F2"/>
                    </a:solidFill>
                  </a:tcPr>
                </a:tc>
                <a:extLst>
                  <a:ext uri="{0D108BD9-81ED-4DB2-BD59-A6C34878D82A}">
                    <a16:rowId xmlns:a16="http://schemas.microsoft.com/office/drawing/2014/main" val="10006"/>
                  </a:ext>
                </a:extLst>
              </a:tr>
              <a:tr h="201168">
                <a:tc>
                  <a:txBody>
                    <a:bodyPr/>
                    <a:lstStyle/>
                    <a:p>
                      <a:pPr algn="ctr"/>
                      <a:r>
                        <a:rPr sz="750" b="1" i="0">
                          <a:solidFill>
                            <a:srgbClr val="262626"/>
                          </a:solidFill>
                          <a:latin typeface="Arial"/>
                        </a:rPr>
                        <a:t>41</a:t>
                      </a:r>
                    </a:p>
                  </a:txBody>
                  <a:tcPr>
                    <a:solidFill>
                      <a:srgbClr val="FFFFFF"/>
                    </a:solidFill>
                  </a:tcPr>
                </a:tc>
                <a:tc>
                  <a:txBody>
                    <a:bodyPr/>
                    <a:lstStyle/>
                    <a:p>
                      <a:pPr algn="l"/>
                      <a:r>
                        <a:rPr sz="750" b="0" i="0">
                          <a:solidFill>
                            <a:srgbClr val="262626"/>
                          </a:solidFill>
                          <a:latin typeface="Arial"/>
                        </a:rPr>
                        <a:t>Chase McQueen</a:t>
                      </a:r>
                    </a:p>
                  </a:txBody>
                  <a:tcPr>
                    <a:solidFill>
                      <a:srgbClr val="FFFFFF"/>
                    </a:solidFill>
                  </a:tcPr>
                </a:tc>
                <a:tc>
                  <a:txBody>
                    <a:bodyPr/>
                    <a:lstStyle/>
                    <a:p>
                      <a:pPr algn="ctr"/>
                      <a:r>
                        <a:rPr sz="750" b="1" i="0">
                          <a:solidFill>
                            <a:srgbClr val="262626"/>
                          </a:solidFill>
                          <a:latin typeface="Arial"/>
                        </a:rPr>
                        <a:t>816</a:t>
                      </a:r>
                    </a:p>
                  </a:txBody>
                  <a:tcPr>
                    <a:solidFill>
                      <a:srgbClr val="FFFFFF"/>
                    </a:solidFill>
                  </a:tcPr>
                </a:tc>
                <a:tc>
                  <a:txBody>
                    <a:bodyPr/>
                    <a:lstStyle/>
                    <a:p>
                      <a:pPr algn="ctr"/>
                      <a:r>
                        <a:rPr sz="750" b="0" i="0">
                          <a:solidFill>
                            <a:srgbClr val="262626"/>
                          </a:solidFill>
                          <a:latin typeface="Arial"/>
                        </a:rPr>
                        <a:t>4</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3</a:t>
                      </a:r>
                    </a:p>
                  </a:txBody>
                  <a:tcPr>
                    <a:solidFill>
                      <a:srgbClr val="FFFFFF"/>
                    </a:solidFill>
                  </a:tcPr>
                </a:tc>
                <a:tc>
                  <a:txBody>
                    <a:bodyPr/>
                    <a:lstStyle/>
                    <a:p>
                      <a:pPr algn="ctr"/>
                      <a:r>
                        <a:rPr sz="750" b="0" i="0">
                          <a:solidFill>
                            <a:srgbClr val="262626"/>
                          </a:solidFill>
                          <a:latin typeface="Arial"/>
                        </a:rPr>
                        <a:t>204</a:t>
                      </a:r>
                    </a:p>
                  </a:txBody>
                  <a:tcPr>
                    <a:solidFill>
                      <a:srgbClr val="FFFFFF"/>
                    </a:solidFill>
                  </a:tcPr>
                </a:tc>
                <a:tc>
                  <a:txBody>
                    <a:bodyPr/>
                    <a:lstStyle/>
                    <a:p>
                      <a:pPr algn="ctr"/>
                      <a:r>
                        <a:rPr sz="750" b="1" i="0">
                          <a:solidFill>
                            <a:srgbClr val="262626"/>
                          </a:solidFill>
                          <a:latin typeface="Arial"/>
                        </a:rPr>
                        <a:t>2,450</a:t>
                      </a:r>
                    </a:p>
                  </a:txBody>
                  <a:tcPr>
                    <a:solidFill>
                      <a:srgbClr val="FFFFFF"/>
                    </a:solidFill>
                  </a:tcPr>
                </a:tc>
                <a:extLst>
                  <a:ext uri="{0D108BD9-81ED-4DB2-BD59-A6C34878D82A}">
                    <a16:rowId xmlns:a16="http://schemas.microsoft.com/office/drawing/2014/main" val="10007"/>
                  </a:ext>
                </a:extLst>
              </a:tr>
              <a:tr h="201168">
                <a:tc>
                  <a:txBody>
                    <a:bodyPr/>
                    <a:lstStyle/>
                    <a:p>
                      <a:pPr algn="ctr"/>
                      <a:r>
                        <a:rPr sz="750" b="1" i="0">
                          <a:solidFill>
                            <a:srgbClr val="262626"/>
                          </a:solidFill>
                          <a:latin typeface="Arial"/>
                        </a:rPr>
                        <a:t>60</a:t>
                      </a:r>
                    </a:p>
                  </a:txBody>
                  <a:tcPr>
                    <a:solidFill>
                      <a:srgbClr val="F2F2F2"/>
                    </a:solidFill>
                  </a:tcPr>
                </a:tc>
                <a:tc>
                  <a:txBody>
                    <a:bodyPr/>
                    <a:lstStyle/>
                    <a:p>
                      <a:pPr algn="l"/>
                      <a:r>
                        <a:rPr sz="750" b="0" i="0">
                          <a:solidFill>
                            <a:srgbClr val="262626"/>
                          </a:solidFill>
                          <a:latin typeface="Arial"/>
                        </a:rPr>
                        <a:t>John Reed</a:t>
                      </a:r>
                    </a:p>
                  </a:txBody>
                  <a:tcPr>
                    <a:solidFill>
                      <a:srgbClr val="F2F2F2"/>
                    </a:solidFill>
                  </a:tcPr>
                </a:tc>
                <a:tc>
                  <a:txBody>
                    <a:bodyPr/>
                    <a:lstStyle/>
                    <a:p>
                      <a:pPr algn="ctr"/>
                      <a:r>
                        <a:rPr sz="750" b="1" i="0">
                          <a:solidFill>
                            <a:srgbClr val="262626"/>
                          </a:solidFill>
                          <a:latin typeface="Arial"/>
                        </a:rPr>
                        <a:t>599</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299</a:t>
                      </a:r>
                    </a:p>
                  </a:txBody>
                  <a:tcPr>
                    <a:solidFill>
                      <a:srgbClr val="F2F2F2"/>
                    </a:solidFill>
                  </a:tcPr>
                </a:tc>
                <a:tc>
                  <a:txBody>
                    <a:bodyPr/>
                    <a:lstStyle/>
                    <a:p>
                      <a:pPr algn="ctr"/>
                      <a:r>
                        <a:rPr sz="750" b="1" i="0">
                          <a:solidFill>
                            <a:srgbClr val="262626"/>
                          </a:solidFill>
                          <a:latin typeface="Arial"/>
                        </a:rPr>
                        <a:t>3,598</a:t>
                      </a:r>
                    </a:p>
                  </a:txBody>
                  <a:tcPr>
                    <a:solidFill>
                      <a:srgbClr val="F2F2F2"/>
                    </a:solidFill>
                  </a:tcPr>
                </a:tc>
                <a:extLst>
                  <a:ext uri="{0D108BD9-81ED-4DB2-BD59-A6C34878D82A}">
                    <a16:rowId xmlns:a16="http://schemas.microsoft.com/office/drawing/2014/main" val="10008"/>
                  </a:ext>
                </a:extLst>
              </a:tr>
              <a:tr h="201168">
                <a:tc>
                  <a:txBody>
                    <a:bodyPr/>
                    <a:lstStyle/>
                    <a:p>
                      <a:pPr algn="ctr"/>
                      <a:r>
                        <a:rPr sz="750" b="1" i="0">
                          <a:solidFill>
                            <a:srgbClr val="262626"/>
                          </a:solidFill>
                          <a:latin typeface="Arial"/>
                        </a:rPr>
                        <a:t>66</a:t>
                      </a:r>
                    </a:p>
                  </a:txBody>
                  <a:tcPr>
                    <a:solidFill>
                      <a:srgbClr val="FFFFFF"/>
                    </a:solidFill>
                  </a:tcPr>
                </a:tc>
                <a:tc>
                  <a:txBody>
                    <a:bodyPr/>
                    <a:lstStyle/>
                    <a:p>
                      <a:pPr algn="l"/>
                      <a:r>
                        <a:rPr sz="750" b="0" i="0">
                          <a:solidFill>
                            <a:srgbClr val="262626"/>
                          </a:solidFill>
                          <a:latin typeface="Arial"/>
                        </a:rPr>
                        <a:t>Blake Bullard</a:t>
                      </a:r>
                    </a:p>
                  </a:txBody>
                  <a:tcPr>
                    <a:solidFill>
                      <a:srgbClr val="FFFFFF"/>
                    </a:solidFill>
                  </a:tcPr>
                </a:tc>
                <a:tc>
                  <a:txBody>
                    <a:bodyPr/>
                    <a:lstStyle/>
                    <a:p>
                      <a:pPr algn="ctr"/>
                      <a:r>
                        <a:rPr sz="750" b="1" i="0">
                          <a:solidFill>
                            <a:srgbClr val="262626"/>
                          </a:solidFill>
                          <a:latin typeface="Arial"/>
                        </a:rPr>
                        <a:t>513</a:t>
                      </a:r>
                    </a:p>
                  </a:txBody>
                  <a:tcPr>
                    <a:solidFill>
                      <a:srgbClr val="FFFFFF"/>
                    </a:solidFill>
                  </a:tcPr>
                </a:tc>
                <a:tc>
                  <a:txBody>
                    <a:bodyPr/>
                    <a:lstStyle/>
                    <a:p>
                      <a:pPr algn="ctr"/>
                      <a:r>
                        <a:rPr sz="750" b="0" i="0">
                          <a:solidFill>
                            <a:srgbClr val="262626"/>
                          </a:solidFill>
                          <a:latin typeface="Arial"/>
                        </a:rPr>
                        <a:t>3</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3</a:t>
                      </a:r>
                    </a:p>
                  </a:txBody>
                  <a:tcPr>
                    <a:solidFill>
                      <a:srgbClr val="FFFFFF"/>
                    </a:solidFill>
                  </a:tcPr>
                </a:tc>
                <a:tc>
                  <a:txBody>
                    <a:bodyPr/>
                    <a:lstStyle/>
                    <a:p>
                      <a:pPr algn="ctr"/>
                      <a:r>
                        <a:rPr sz="750" b="0" i="0">
                          <a:solidFill>
                            <a:srgbClr val="262626"/>
                          </a:solidFill>
                          <a:latin typeface="Arial"/>
                        </a:rPr>
                        <a:t>171</a:t>
                      </a:r>
                    </a:p>
                  </a:txBody>
                  <a:tcPr>
                    <a:solidFill>
                      <a:srgbClr val="FFFFFF"/>
                    </a:solidFill>
                  </a:tcPr>
                </a:tc>
                <a:tc>
                  <a:txBody>
                    <a:bodyPr/>
                    <a:lstStyle/>
                    <a:p>
                      <a:pPr algn="ctr"/>
                      <a:r>
                        <a:rPr sz="750" b="1" i="0">
                          <a:solidFill>
                            <a:srgbClr val="262626"/>
                          </a:solidFill>
                          <a:latin typeface="Arial"/>
                        </a:rPr>
                        <a:t>2,055</a:t>
                      </a:r>
                    </a:p>
                  </a:txBody>
                  <a:tcPr>
                    <a:solidFill>
                      <a:srgbClr val="FFFFFF"/>
                    </a:solidFill>
                  </a:tcPr>
                </a:tc>
                <a:extLst>
                  <a:ext uri="{0D108BD9-81ED-4DB2-BD59-A6C34878D82A}">
                    <a16:rowId xmlns:a16="http://schemas.microsoft.com/office/drawing/2014/main" val="10009"/>
                  </a:ext>
                </a:extLst>
              </a:tr>
              <a:tr h="201168">
                <a:tc>
                  <a:txBody>
                    <a:bodyPr/>
                    <a:lstStyle/>
                    <a:p>
                      <a:pPr algn="ctr"/>
                      <a:r>
                        <a:rPr sz="750" b="1" i="0">
                          <a:solidFill>
                            <a:srgbClr val="262626"/>
                          </a:solidFill>
                          <a:latin typeface="Arial"/>
                        </a:rPr>
                        <a:t>68</a:t>
                      </a:r>
                    </a:p>
                  </a:txBody>
                  <a:tcPr>
                    <a:solidFill>
                      <a:srgbClr val="F2F2F2"/>
                    </a:solidFill>
                  </a:tcPr>
                </a:tc>
                <a:tc>
                  <a:txBody>
                    <a:bodyPr/>
                    <a:lstStyle/>
                    <a:p>
                      <a:pPr algn="l"/>
                      <a:r>
                        <a:rPr sz="750" b="0" i="0">
                          <a:solidFill>
                            <a:srgbClr val="262626"/>
                          </a:solidFill>
                          <a:latin typeface="Arial"/>
                        </a:rPr>
                        <a:t>Porter Middaugh</a:t>
                      </a:r>
                    </a:p>
                  </a:txBody>
                  <a:tcPr>
                    <a:solidFill>
                      <a:srgbClr val="F2F2F2"/>
                    </a:solidFill>
                  </a:tcPr>
                </a:tc>
                <a:tc>
                  <a:txBody>
                    <a:bodyPr/>
                    <a:lstStyle/>
                    <a:p>
                      <a:pPr algn="ctr"/>
                      <a:r>
                        <a:rPr sz="750" b="1" i="0">
                          <a:solidFill>
                            <a:srgbClr val="262626"/>
                          </a:solidFill>
                          <a:latin typeface="Arial"/>
                        </a:rPr>
                        <a:t>481</a:t>
                      </a:r>
                    </a:p>
                  </a:txBody>
                  <a:tcPr>
                    <a:solidFill>
                      <a:srgbClr val="F2F2F2"/>
                    </a:solidFill>
                  </a:tcPr>
                </a:tc>
                <a:tc>
                  <a:txBody>
                    <a:bodyPr/>
                    <a:lstStyle/>
                    <a:p>
                      <a:pPr algn="ctr"/>
                      <a:r>
                        <a:rPr sz="750" b="0" i="0">
                          <a:solidFill>
                            <a:srgbClr val="262626"/>
                          </a:solidFill>
                          <a:latin typeface="Arial"/>
                        </a:rPr>
                        <a:t>3</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160</a:t>
                      </a:r>
                    </a:p>
                  </a:txBody>
                  <a:tcPr>
                    <a:solidFill>
                      <a:srgbClr val="F2F2F2"/>
                    </a:solidFill>
                  </a:tcPr>
                </a:tc>
                <a:tc>
                  <a:txBody>
                    <a:bodyPr/>
                    <a:lstStyle/>
                    <a:p>
                      <a:pPr algn="ctr"/>
                      <a:r>
                        <a:rPr sz="750" b="1" i="0">
                          <a:solidFill>
                            <a:srgbClr val="262626"/>
                          </a:solidFill>
                          <a:latin typeface="Arial"/>
                        </a:rPr>
                        <a:t>1,926</a:t>
                      </a:r>
                    </a:p>
                  </a:txBody>
                  <a:tcPr>
                    <a:solidFill>
                      <a:srgbClr val="F2F2F2"/>
                    </a:solidFill>
                  </a:tcPr>
                </a:tc>
                <a:extLst>
                  <a:ext uri="{0D108BD9-81ED-4DB2-BD59-A6C34878D82A}">
                    <a16:rowId xmlns:a16="http://schemas.microsoft.com/office/drawing/2014/main" val="10010"/>
                  </a:ext>
                </a:extLst>
              </a:tr>
              <a:tr h="201168">
                <a:tc>
                  <a:txBody>
                    <a:bodyPr/>
                    <a:lstStyle/>
                    <a:p>
                      <a:pPr algn="ctr"/>
                      <a:r>
                        <a:rPr sz="750" b="1" i="0">
                          <a:solidFill>
                            <a:srgbClr val="262626"/>
                          </a:solidFill>
                          <a:latin typeface="Arial"/>
                        </a:rPr>
                        <a:t>107</a:t>
                      </a:r>
                    </a:p>
                  </a:txBody>
                  <a:tcPr>
                    <a:solidFill>
                      <a:srgbClr val="FFFFFF"/>
                    </a:solidFill>
                  </a:tcPr>
                </a:tc>
                <a:tc>
                  <a:txBody>
                    <a:bodyPr/>
                    <a:lstStyle/>
                    <a:p>
                      <a:pPr algn="l"/>
                      <a:r>
                        <a:rPr sz="750" b="0" i="0">
                          <a:solidFill>
                            <a:srgbClr val="262626"/>
                          </a:solidFill>
                          <a:latin typeface="Arial"/>
                        </a:rPr>
                        <a:t>Zach Leachman</a:t>
                      </a:r>
                    </a:p>
                  </a:txBody>
                  <a:tcPr>
                    <a:solidFill>
                      <a:srgbClr val="FFFFFF"/>
                    </a:solidFill>
                  </a:tcPr>
                </a:tc>
                <a:tc>
                  <a:txBody>
                    <a:bodyPr/>
                    <a:lstStyle/>
                    <a:p>
                      <a:pPr algn="ctr"/>
                      <a:r>
                        <a:rPr sz="750" b="1" i="0">
                          <a:solidFill>
                            <a:srgbClr val="262626"/>
                          </a:solidFill>
                          <a:latin typeface="Arial"/>
                        </a:rPr>
                        <a:t>212</a:t>
                      </a:r>
                    </a:p>
                  </a:txBody>
                  <a:tcPr>
                    <a:solidFill>
                      <a:srgbClr val="FFFFFF"/>
                    </a:solidFill>
                  </a:tcPr>
                </a:tc>
                <a:tc>
                  <a:txBody>
                    <a:bodyPr/>
                    <a:lstStyle/>
                    <a:p>
                      <a:pPr algn="ctr"/>
                      <a:r>
                        <a:rPr sz="750" b="0" i="0">
                          <a:solidFill>
                            <a:srgbClr val="262626"/>
                          </a:solidFill>
                          <a:latin typeface="Arial"/>
                        </a:rPr>
                        <a:t>1</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212</a:t>
                      </a:r>
                    </a:p>
                  </a:txBody>
                  <a:tcPr>
                    <a:solidFill>
                      <a:srgbClr val="FFFFFF"/>
                    </a:solidFill>
                  </a:tcPr>
                </a:tc>
                <a:tc>
                  <a:txBody>
                    <a:bodyPr/>
                    <a:lstStyle/>
                    <a:p>
                      <a:pPr algn="ctr"/>
                      <a:r>
                        <a:rPr sz="750" b="1" i="0">
                          <a:solidFill>
                            <a:srgbClr val="262626"/>
                          </a:solidFill>
                          <a:latin typeface="Arial"/>
                        </a:rPr>
                        <a:t>2,545</a:t>
                      </a:r>
                    </a:p>
                  </a:txBody>
                  <a:tcPr>
                    <a:solidFill>
                      <a:srgbClr val="FFFFFF"/>
                    </a:solidFill>
                  </a:tcPr>
                </a:tc>
                <a:extLst>
                  <a:ext uri="{0D108BD9-81ED-4DB2-BD59-A6C34878D82A}">
                    <a16:rowId xmlns:a16="http://schemas.microsoft.com/office/drawing/2014/main" val="10011"/>
                  </a:ext>
                </a:extLst>
              </a:tr>
            </a:tbl>
          </a:graphicData>
        </a:graphic>
      </p:graphicFrame>
      <p:sp>
        <p:nvSpPr>
          <p:cNvPr id="17" name="Rectangle 16"/>
          <p:cNvSpPr/>
          <p:nvPr/>
        </p:nvSpPr>
        <p:spPr>
          <a:xfrm>
            <a:off x="6126480" y="361188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0" y="3639312"/>
            <a:ext cx="5806440" cy="219456"/>
          </a:xfrm>
          <a:prstGeom prst="rect">
            <a:avLst/>
          </a:prstGeom>
          <a:noFill/>
        </p:spPr>
        <p:txBody>
          <a:bodyPr wrap="square">
            <a:spAutoFit/>
          </a:bodyPr>
          <a:lstStyle/>
          <a:p>
            <a:pPr algn="ctr"/>
            <a:r>
              <a:rPr sz="1100" b="1" i="0">
                <a:solidFill>
                  <a:srgbClr val="FFFFFF"/>
                </a:solidFill>
                <a:latin typeface="Arial"/>
              </a:rPr>
              <a:t>USA WOMEN</a:t>
            </a:r>
          </a:p>
        </p:txBody>
      </p:sp>
      <p:graphicFrame>
        <p:nvGraphicFramePr>
          <p:cNvPr id="19" name="Table 18"/>
          <p:cNvGraphicFramePr>
            <a:graphicFrameLocks noGrp="1"/>
          </p:cNvGraphicFramePr>
          <p:nvPr/>
        </p:nvGraphicFramePr>
        <p:xfrm>
          <a:off x="6126480" y="3931920"/>
          <a:ext cx="5806440" cy="248412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411480">
                  <a:extLst>
                    <a:ext uri="{9D8B030D-6E8A-4147-A177-3AD203B41FA5}">
                      <a16:colId xmlns:a16="http://schemas.microsoft.com/office/drawing/2014/main" val="20004"/>
                    </a:ext>
                  </a:extLst>
                </a:gridCol>
                <a:gridCol w="41148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tblGrid>
              <a:tr h="201168">
                <a:tc>
                  <a:txBody>
                    <a:bodyPr/>
                    <a:lstStyle/>
                    <a:p>
                      <a:pPr algn="ctr"/>
                      <a:r>
                        <a:rPr sz="850" b="1" i="0">
                          <a:solidFill>
                            <a:srgbClr val="FFFFFF"/>
                          </a:solidFill>
                          <a:latin typeface="Arial"/>
                        </a:rPr>
                        <a:t>Rk</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Total</a:t>
                      </a:r>
                    </a:p>
                  </a:txBody>
                  <a:tcPr>
                    <a:solidFill>
                      <a:srgbClr val="002060"/>
                    </a:solidFill>
                  </a:tcPr>
                </a:tc>
                <a:tc>
                  <a:txBody>
                    <a:bodyPr/>
                    <a:lstStyle/>
                    <a:p>
                      <a:pPr algn="ctr"/>
                      <a:r>
                        <a:rPr sz="850" b="1" i="0">
                          <a:solidFill>
                            <a:srgbClr val="FFFFFF"/>
                          </a:solidFill>
                          <a:latin typeface="Arial"/>
                        </a:rPr>
                        <a:t>Races</a:t>
                      </a:r>
                    </a:p>
                  </a:txBody>
                  <a:tcPr>
                    <a:solidFill>
                      <a:srgbClr val="002060"/>
                    </a:solidFill>
                  </a:tcPr>
                </a:tc>
                <a:tc>
                  <a:txBody>
                    <a:bodyPr/>
                    <a:lstStyle/>
                    <a:p>
                      <a:pPr algn="ctr"/>
                      <a:r>
                        <a:rPr sz="850" b="1" i="0">
                          <a:solidFill>
                            <a:srgbClr val="FFFFFF"/>
                          </a:solidFill>
                          <a:latin typeface="Arial"/>
                        </a:rPr>
                        <a:t>On</a:t>
                      </a:r>
                    </a:p>
                  </a:txBody>
                  <a:tcPr>
                    <a:solidFill>
                      <a:srgbClr val="002060"/>
                    </a:solidFill>
                  </a:tcPr>
                </a:tc>
                <a:tc>
                  <a:txBody>
                    <a:bodyPr/>
                    <a:lstStyle/>
                    <a:p>
                      <a:pPr algn="ctr"/>
                      <a:r>
                        <a:rPr sz="850" b="1" i="0">
                          <a:solidFill>
                            <a:srgbClr val="FFFFFF"/>
                          </a:solidFill>
                          <a:latin typeface="Arial"/>
                        </a:rPr>
                        <a:t>Off</a:t>
                      </a:r>
                    </a:p>
                  </a:txBody>
                  <a:tcPr>
                    <a:solidFill>
                      <a:srgbClr val="002060"/>
                    </a:solidFill>
                  </a:tcPr>
                </a:tc>
                <a:tc>
                  <a:txBody>
                    <a:bodyPr/>
                    <a:lstStyle/>
                    <a:p>
                      <a:pPr algn="ctr"/>
                      <a:r>
                        <a:rPr sz="850" b="1" i="0">
                          <a:solidFill>
                            <a:srgbClr val="FFFFFF"/>
                          </a:solidFill>
                          <a:latin typeface="Arial"/>
                        </a:rPr>
                        <a:t>Pace</a:t>
                      </a:r>
                    </a:p>
                  </a:txBody>
                  <a:tcPr>
                    <a:solidFill>
                      <a:srgbClr val="002060"/>
                    </a:solidFill>
                  </a:tcPr>
                </a:tc>
                <a:tc>
                  <a:txBody>
                    <a:bodyPr/>
                    <a:lstStyle/>
                    <a:p>
                      <a:pPr algn="ctr"/>
                      <a:r>
                        <a:rPr sz="850" b="1" i="0">
                          <a:solidFill>
                            <a:srgbClr val="FFFFFF"/>
                          </a:solidFill>
                          <a:latin typeface="Arial"/>
                        </a:rPr>
                        <a:t>Proj @12</a:t>
                      </a:r>
                    </a:p>
                  </a:txBody>
                  <a:tcPr>
                    <a:solidFill>
                      <a:srgbClr val="002060"/>
                    </a:solidFill>
                  </a:tcPr>
                </a:tc>
                <a:extLst>
                  <a:ext uri="{0D108BD9-81ED-4DB2-BD59-A6C34878D82A}">
                    <a16:rowId xmlns:a16="http://schemas.microsoft.com/office/drawing/2014/main" val="10000"/>
                  </a:ext>
                </a:extLst>
              </a:tr>
              <a:tr h="201168">
                <a:tc>
                  <a:txBody>
                    <a:bodyPr/>
                    <a:lstStyle/>
                    <a:p>
                      <a:pPr algn="ctr"/>
                      <a:r>
                        <a:rPr sz="750" b="1" i="0">
                          <a:solidFill>
                            <a:srgbClr val="262626"/>
                          </a:solidFill>
                          <a:latin typeface="Arial"/>
                        </a:rPr>
                        <a:t>9</a:t>
                      </a:r>
                    </a:p>
                  </a:txBody>
                  <a:tcPr>
                    <a:solidFill>
                      <a:srgbClr val="FFFFFF"/>
                    </a:solidFill>
                  </a:tcPr>
                </a:tc>
                <a:tc>
                  <a:txBody>
                    <a:bodyPr/>
                    <a:lstStyle/>
                    <a:p>
                      <a:pPr algn="l"/>
                      <a:r>
                        <a:rPr sz="750" b="0" i="0">
                          <a:solidFill>
                            <a:srgbClr val="262626"/>
                          </a:solidFill>
                          <a:latin typeface="Arial"/>
                        </a:rPr>
                        <a:t>Taylor Knibb</a:t>
                      </a:r>
                    </a:p>
                  </a:txBody>
                  <a:tcPr>
                    <a:solidFill>
                      <a:srgbClr val="FFFFFF"/>
                    </a:solidFill>
                  </a:tcPr>
                </a:tc>
                <a:tc>
                  <a:txBody>
                    <a:bodyPr/>
                    <a:lstStyle/>
                    <a:p>
                      <a:pPr algn="ctr"/>
                      <a:r>
                        <a:rPr sz="750" b="1" i="0">
                          <a:solidFill>
                            <a:srgbClr val="262626"/>
                          </a:solidFill>
                          <a:latin typeface="Arial"/>
                        </a:rPr>
                        <a:t>2,047</a:t>
                      </a:r>
                    </a:p>
                  </a:txBody>
                  <a:tcPr>
                    <a:solidFill>
                      <a:srgbClr val="FFFFFF"/>
                    </a:solidFill>
                  </a:tcPr>
                </a:tc>
                <a:tc>
                  <a:txBody>
                    <a:bodyPr/>
                    <a:lstStyle/>
                    <a:p>
                      <a:pPr algn="ctr"/>
                      <a:r>
                        <a:rPr sz="750" b="0" i="0">
                          <a:solidFill>
                            <a:srgbClr val="262626"/>
                          </a:solidFill>
                          <a:latin typeface="Arial"/>
                        </a:rPr>
                        <a:t>4</a:t>
                      </a:r>
                    </a:p>
                  </a:txBody>
                  <a:tcPr>
                    <a:solidFill>
                      <a:srgbClr val="FFFFFF"/>
                    </a:solidFill>
                  </a:tcPr>
                </a:tc>
                <a:tc>
                  <a:txBody>
                    <a:bodyPr/>
                    <a:lstStyle/>
                    <a:p>
                      <a:pPr algn="ctr"/>
                      <a:r>
                        <a:rPr sz="750" b="1" i="0">
                          <a:solidFill>
                            <a:srgbClr val="1B7F3A"/>
                          </a:solidFill>
                          <a:latin typeface="Arial"/>
                        </a:rPr>
                        <a:t>4</a:t>
                      </a:r>
                    </a:p>
                  </a:txBody>
                  <a:tcPr>
                    <a:solidFill>
                      <a:srgbClr val="FFFFFF"/>
                    </a:solidFill>
                  </a:tcPr>
                </a:tc>
                <a:tc>
                  <a:txBody>
                    <a:bodyPr/>
                    <a:lstStyle/>
                    <a:p>
                      <a:pPr algn="ctr"/>
                      <a:r>
                        <a:rPr sz="750" b="1" i="0">
                          <a:solidFill>
                            <a:srgbClr val="C00000"/>
                          </a:solidFill>
                          <a:latin typeface="Arial"/>
                        </a:rPr>
                        <a:t>0</a:t>
                      </a:r>
                    </a:p>
                  </a:txBody>
                  <a:tcPr>
                    <a:solidFill>
                      <a:srgbClr val="FFFFFF"/>
                    </a:solidFill>
                  </a:tcPr>
                </a:tc>
                <a:tc>
                  <a:txBody>
                    <a:bodyPr/>
                    <a:lstStyle/>
                    <a:p>
                      <a:pPr algn="ctr"/>
                      <a:r>
                        <a:rPr sz="750" b="0" i="0">
                          <a:solidFill>
                            <a:srgbClr val="262626"/>
                          </a:solidFill>
                          <a:latin typeface="Arial"/>
                        </a:rPr>
                        <a:t>511</a:t>
                      </a:r>
                    </a:p>
                  </a:txBody>
                  <a:tcPr>
                    <a:solidFill>
                      <a:srgbClr val="FFFFFF"/>
                    </a:solidFill>
                  </a:tcPr>
                </a:tc>
                <a:tc>
                  <a:txBody>
                    <a:bodyPr/>
                    <a:lstStyle/>
                    <a:p>
                      <a:pPr algn="ctr"/>
                      <a:r>
                        <a:rPr sz="750" b="1" i="0">
                          <a:solidFill>
                            <a:srgbClr val="1B7F3A"/>
                          </a:solidFill>
                          <a:latin typeface="Arial"/>
                        </a:rPr>
                        <a:t>6,142</a:t>
                      </a:r>
                    </a:p>
                  </a:txBody>
                  <a:tcPr>
                    <a:solidFill>
                      <a:srgbClr val="FFFFFF"/>
                    </a:solidFill>
                  </a:tcPr>
                </a:tc>
                <a:extLst>
                  <a:ext uri="{0D108BD9-81ED-4DB2-BD59-A6C34878D82A}">
                    <a16:rowId xmlns:a16="http://schemas.microsoft.com/office/drawing/2014/main" val="10001"/>
                  </a:ext>
                </a:extLst>
              </a:tr>
              <a:tr h="201168">
                <a:tc>
                  <a:txBody>
                    <a:bodyPr/>
                    <a:lstStyle/>
                    <a:p>
                      <a:pPr algn="ctr"/>
                      <a:r>
                        <a:rPr sz="750" b="1" i="0">
                          <a:solidFill>
                            <a:srgbClr val="262626"/>
                          </a:solidFill>
                          <a:latin typeface="Arial"/>
                        </a:rPr>
                        <a:t>13</a:t>
                      </a:r>
                    </a:p>
                  </a:txBody>
                  <a:tcPr>
                    <a:solidFill>
                      <a:srgbClr val="F2F2F2"/>
                    </a:solidFill>
                  </a:tcPr>
                </a:tc>
                <a:tc>
                  <a:txBody>
                    <a:bodyPr/>
                    <a:lstStyle/>
                    <a:p>
                      <a:pPr algn="l"/>
                      <a:r>
                        <a:rPr sz="750" b="0" i="0">
                          <a:solidFill>
                            <a:srgbClr val="262626"/>
                          </a:solidFill>
                          <a:latin typeface="Arial"/>
                        </a:rPr>
                        <a:t>Taylor Spivey</a:t>
                      </a:r>
                    </a:p>
                  </a:txBody>
                  <a:tcPr>
                    <a:solidFill>
                      <a:srgbClr val="F2F2F2"/>
                    </a:solidFill>
                  </a:tcPr>
                </a:tc>
                <a:tc>
                  <a:txBody>
                    <a:bodyPr/>
                    <a:lstStyle/>
                    <a:p>
                      <a:pPr algn="ctr"/>
                      <a:r>
                        <a:rPr sz="750" b="1" i="0">
                          <a:solidFill>
                            <a:srgbClr val="262626"/>
                          </a:solidFill>
                          <a:latin typeface="Arial"/>
                        </a:rPr>
                        <a:t>1,795</a:t>
                      </a:r>
                    </a:p>
                  </a:txBody>
                  <a:tcPr>
                    <a:solidFill>
                      <a:srgbClr val="F2F2F2"/>
                    </a:solidFill>
                  </a:tcPr>
                </a:tc>
                <a:tc>
                  <a:txBody>
                    <a:bodyPr/>
                    <a:lstStyle/>
                    <a:p>
                      <a:pPr algn="ctr"/>
                      <a:r>
                        <a:rPr sz="750" b="0" i="0">
                          <a:solidFill>
                            <a:srgbClr val="262626"/>
                          </a:solidFill>
                          <a:latin typeface="Arial"/>
                        </a:rPr>
                        <a:t>3</a:t>
                      </a:r>
                    </a:p>
                  </a:txBody>
                  <a:tcPr>
                    <a:solidFill>
                      <a:srgbClr val="F2F2F2"/>
                    </a:solidFill>
                  </a:tcPr>
                </a:tc>
                <a:tc>
                  <a:txBody>
                    <a:bodyPr/>
                    <a:lstStyle/>
                    <a:p>
                      <a:pPr algn="ctr"/>
                      <a:r>
                        <a:rPr sz="750" b="1" i="0">
                          <a:solidFill>
                            <a:srgbClr val="1B7F3A"/>
                          </a:solidFill>
                          <a:latin typeface="Arial"/>
                        </a:rPr>
                        <a:t>3</a:t>
                      </a:r>
                    </a:p>
                  </a:txBody>
                  <a:tcPr>
                    <a:solidFill>
                      <a:srgbClr val="F2F2F2"/>
                    </a:solidFill>
                  </a:tcPr>
                </a:tc>
                <a:tc>
                  <a:txBody>
                    <a:bodyPr/>
                    <a:lstStyle/>
                    <a:p>
                      <a:pPr algn="ctr"/>
                      <a:r>
                        <a:rPr sz="750" b="1" i="0">
                          <a:solidFill>
                            <a:srgbClr val="C00000"/>
                          </a:solidFill>
                          <a:latin typeface="Arial"/>
                        </a:rPr>
                        <a:t>0</a:t>
                      </a:r>
                    </a:p>
                  </a:txBody>
                  <a:tcPr>
                    <a:solidFill>
                      <a:srgbClr val="F2F2F2"/>
                    </a:solidFill>
                  </a:tcPr>
                </a:tc>
                <a:tc>
                  <a:txBody>
                    <a:bodyPr/>
                    <a:lstStyle/>
                    <a:p>
                      <a:pPr algn="ctr"/>
                      <a:r>
                        <a:rPr sz="750" b="0" i="0">
                          <a:solidFill>
                            <a:srgbClr val="262626"/>
                          </a:solidFill>
                          <a:latin typeface="Arial"/>
                        </a:rPr>
                        <a:t>598</a:t>
                      </a:r>
                    </a:p>
                  </a:txBody>
                  <a:tcPr>
                    <a:solidFill>
                      <a:srgbClr val="F2F2F2"/>
                    </a:solidFill>
                  </a:tcPr>
                </a:tc>
                <a:tc>
                  <a:txBody>
                    <a:bodyPr/>
                    <a:lstStyle/>
                    <a:p>
                      <a:pPr algn="ctr"/>
                      <a:r>
                        <a:rPr sz="750" b="1" i="0">
                          <a:solidFill>
                            <a:srgbClr val="1B7F3A"/>
                          </a:solidFill>
                          <a:latin typeface="Arial"/>
                        </a:rPr>
                        <a:t>7,180</a:t>
                      </a:r>
                    </a:p>
                  </a:txBody>
                  <a:tcPr>
                    <a:solidFill>
                      <a:srgbClr val="F2F2F2"/>
                    </a:solidFill>
                  </a:tcPr>
                </a:tc>
                <a:extLst>
                  <a:ext uri="{0D108BD9-81ED-4DB2-BD59-A6C34878D82A}">
                    <a16:rowId xmlns:a16="http://schemas.microsoft.com/office/drawing/2014/main" val="10002"/>
                  </a:ext>
                </a:extLst>
              </a:tr>
              <a:tr h="201168">
                <a:tc>
                  <a:txBody>
                    <a:bodyPr/>
                    <a:lstStyle/>
                    <a:p>
                      <a:pPr algn="ctr"/>
                      <a:r>
                        <a:rPr sz="750" b="1" i="0">
                          <a:solidFill>
                            <a:srgbClr val="262626"/>
                          </a:solidFill>
                          <a:latin typeface="Arial"/>
                        </a:rPr>
                        <a:t>15</a:t>
                      </a:r>
                    </a:p>
                  </a:txBody>
                  <a:tcPr>
                    <a:solidFill>
                      <a:srgbClr val="FFFFFF"/>
                    </a:solidFill>
                  </a:tcPr>
                </a:tc>
                <a:tc>
                  <a:txBody>
                    <a:bodyPr/>
                    <a:lstStyle/>
                    <a:p>
                      <a:pPr algn="l"/>
                      <a:r>
                        <a:rPr sz="750" b="0" i="0">
                          <a:solidFill>
                            <a:srgbClr val="262626"/>
                          </a:solidFill>
                          <a:latin typeface="Arial"/>
                        </a:rPr>
                        <a:t>Danielle Orie</a:t>
                      </a:r>
                    </a:p>
                  </a:txBody>
                  <a:tcPr>
                    <a:solidFill>
                      <a:srgbClr val="FFFFFF"/>
                    </a:solidFill>
                  </a:tcPr>
                </a:tc>
                <a:tc>
                  <a:txBody>
                    <a:bodyPr/>
                    <a:lstStyle/>
                    <a:p>
                      <a:pPr algn="ctr"/>
                      <a:r>
                        <a:rPr sz="750" b="1" i="0">
                          <a:solidFill>
                            <a:srgbClr val="262626"/>
                          </a:solidFill>
                          <a:latin typeface="Arial"/>
                        </a:rPr>
                        <a:t>1,646</a:t>
                      </a:r>
                    </a:p>
                  </a:txBody>
                  <a:tcPr>
                    <a:solidFill>
                      <a:srgbClr val="FFFFFF"/>
                    </a:solidFill>
                  </a:tcPr>
                </a:tc>
                <a:tc>
                  <a:txBody>
                    <a:bodyPr/>
                    <a:lstStyle/>
                    <a:p>
                      <a:pPr algn="ctr"/>
                      <a:r>
                        <a:rPr sz="750" b="0" i="0">
                          <a:solidFill>
                            <a:srgbClr val="262626"/>
                          </a:solidFill>
                          <a:latin typeface="Arial"/>
                        </a:rPr>
                        <a:t>5</a:t>
                      </a:r>
                    </a:p>
                  </a:txBody>
                  <a:tcPr>
                    <a:solidFill>
                      <a:srgbClr val="FFFFFF"/>
                    </a:solidFill>
                  </a:tcPr>
                </a:tc>
                <a:tc>
                  <a:txBody>
                    <a:bodyPr/>
                    <a:lstStyle/>
                    <a:p>
                      <a:pPr algn="ctr"/>
                      <a:r>
                        <a:rPr sz="750" b="1" i="0">
                          <a:solidFill>
                            <a:srgbClr val="1B7F3A"/>
                          </a:solidFill>
                          <a:latin typeface="Arial"/>
                        </a:rPr>
                        <a:t>3</a:t>
                      </a:r>
                    </a:p>
                  </a:txBody>
                  <a:tcPr>
                    <a:solidFill>
                      <a:srgbClr val="FFFFFF"/>
                    </a:solidFill>
                  </a:tcPr>
                </a:tc>
                <a:tc>
                  <a:txBody>
                    <a:bodyPr/>
                    <a:lstStyle/>
                    <a:p>
                      <a:pPr algn="ctr"/>
                      <a:r>
                        <a:rPr sz="750" b="1" i="0">
                          <a:solidFill>
                            <a:srgbClr val="C00000"/>
                          </a:solidFill>
                          <a:latin typeface="Arial"/>
                        </a:rPr>
                        <a:t>2</a:t>
                      </a:r>
                    </a:p>
                  </a:txBody>
                  <a:tcPr>
                    <a:solidFill>
                      <a:srgbClr val="FFFFFF"/>
                    </a:solidFill>
                  </a:tcPr>
                </a:tc>
                <a:tc>
                  <a:txBody>
                    <a:bodyPr/>
                    <a:lstStyle/>
                    <a:p>
                      <a:pPr algn="ctr"/>
                      <a:r>
                        <a:rPr sz="750" b="0" i="0">
                          <a:solidFill>
                            <a:srgbClr val="262626"/>
                          </a:solidFill>
                          <a:latin typeface="Arial"/>
                        </a:rPr>
                        <a:t>329</a:t>
                      </a:r>
                    </a:p>
                  </a:txBody>
                  <a:tcPr>
                    <a:solidFill>
                      <a:srgbClr val="FFFFFF"/>
                    </a:solidFill>
                  </a:tcPr>
                </a:tc>
                <a:tc>
                  <a:txBody>
                    <a:bodyPr/>
                    <a:lstStyle/>
                    <a:p>
                      <a:pPr algn="ctr"/>
                      <a:r>
                        <a:rPr sz="750" b="1" i="0">
                          <a:solidFill>
                            <a:srgbClr val="1B7F3A"/>
                          </a:solidFill>
                          <a:latin typeface="Arial"/>
                        </a:rPr>
                        <a:t>3,951</a:t>
                      </a:r>
                    </a:p>
                  </a:txBody>
                  <a:tcPr>
                    <a:solidFill>
                      <a:srgbClr val="FFFFFF"/>
                    </a:solidFill>
                  </a:tcPr>
                </a:tc>
                <a:extLst>
                  <a:ext uri="{0D108BD9-81ED-4DB2-BD59-A6C34878D82A}">
                    <a16:rowId xmlns:a16="http://schemas.microsoft.com/office/drawing/2014/main" val="10003"/>
                  </a:ext>
                </a:extLst>
              </a:tr>
              <a:tr h="201168">
                <a:tc>
                  <a:txBody>
                    <a:bodyPr/>
                    <a:lstStyle/>
                    <a:p>
                      <a:pPr algn="ctr"/>
                      <a:r>
                        <a:rPr sz="750" b="1" i="0">
                          <a:solidFill>
                            <a:srgbClr val="262626"/>
                          </a:solidFill>
                          <a:latin typeface="Arial"/>
                        </a:rPr>
                        <a:t>16</a:t>
                      </a:r>
                    </a:p>
                  </a:txBody>
                  <a:tcPr>
                    <a:solidFill>
                      <a:srgbClr val="F2F2F2"/>
                    </a:solidFill>
                  </a:tcPr>
                </a:tc>
                <a:tc>
                  <a:txBody>
                    <a:bodyPr/>
                    <a:lstStyle/>
                    <a:p>
                      <a:pPr algn="l"/>
                      <a:r>
                        <a:rPr sz="750" b="0" i="0">
                          <a:solidFill>
                            <a:srgbClr val="262626"/>
                          </a:solidFill>
                          <a:latin typeface="Arial"/>
                        </a:rPr>
                        <a:t>Gina Sereno</a:t>
                      </a:r>
                    </a:p>
                  </a:txBody>
                  <a:tcPr>
                    <a:solidFill>
                      <a:srgbClr val="F2F2F2"/>
                    </a:solidFill>
                  </a:tcPr>
                </a:tc>
                <a:tc>
                  <a:txBody>
                    <a:bodyPr/>
                    <a:lstStyle/>
                    <a:p>
                      <a:pPr algn="ctr"/>
                      <a:r>
                        <a:rPr sz="750" b="1" i="0">
                          <a:solidFill>
                            <a:srgbClr val="262626"/>
                          </a:solidFill>
                          <a:latin typeface="Arial"/>
                        </a:rPr>
                        <a:t>1,450</a:t>
                      </a:r>
                    </a:p>
                  </a:txBody>
                  <a:tcPr>
                    <a:solidFill>
                      <a:srgbClr val="F2F2F2"/>
                    </a:solidFill>
                  </a:tcPr>
                </a:tc>
                <a:tc>
                  <a:txBody>
                    <a:bodyPr/>
                    <a:lstStyle/>
                    <a:p>
                      <a:pPr algn="ctr"/>
                      <a:r>
                        <a:rPr sz="750" b="0" i="0">
                          <a:solidFill>
                            <a:srgbClr val="262626"/>
                          </a:solidFill>
                          <a:latin typeface="Arial"/>
                        </a:rPr>
                        <a:t>4</a:t>
                      </a:r>
                    </a:p>
                  </a:txBody>
                  <a:tcPr>
                    <a:solidFill>
                      <a:srgbClr val="F2F2F2"/>
                    </a:solidFill>
                  </a:tcPr>
                </a:tc>
                <a:tc>
                  <a:txBody>
                    <a:bodyPr/>
                    <a:lstStyle/>
                    <a:p>
                      <a:pPr algn="ctr"/>
                      <a:r>
                        <a:rPr sz="750" b="1" i="0">
                          <a:solidFill>
                            <a:srgbClr val="1B7F3A"/>
                          </a:solidFill>
                          <a:latin typeface="Arial"/>
                        </a:rPr>
                        <a:t>2</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362</a:t>
                      </a:r>
                    </a:p>
                  </a:txBody>
                  <a:tcPr>
                    <a:solidFill>
                      <a:srgbClr val="F2F2F2"/>
                    </a:solidFill>
                  </a:tcPr>
                </a:tc>
                <a:tc>
                  <a:txBody>
                    <a:bodyPr/>
                    <a:lstStyle/>
                    <a:p>
                      <a:pPr algn="ctr"/>
                      <a:r>
                        <a:rPr sz="750" b="1" i="0">
                          <a:solidFill>
                            <a:srgbClr val="1B7F3A"/>
                          </a:solidFill>
                          <a:latin typeface="Arial"/>
                        </a:rPr>
                        <a:t>4,351</a:t>
                      </a:r>
                    </a:p>
                  </a:txBody>
                  <a:tcPr>
                    <a:solidFill>
                      <a:srgbClr val="F2F2F2"/>
                    </a:solidFill>
                  </a:tcPr>
                </a:tc>
                <a:extLst>
                  <a:ext uri="{0D108BD9-81ED-4DB2-BD59-A6C34878D82A}">
                    <a16:rowId xmlns:a16="http://schemas.microsoft.com/office/drawing/2014/main" val="10004"/>
                  </a:ext>
                </a:extLst>
              </a:tr>
              <a:tr h="201168">
                <a:tc>
                  <a:txBody>
                    <a:bodyPr/>
                    <a:lstStyle/>
                    <a:p>
                      <a:pPr algn="ctr"/>
                      <a:r>
                        <a:rPr sz="750" b="1" i="0">
                          <a:solidFill>
                            <a:srgbClr val="262626"/>
                          </a:solidFill>
                          <a:latin typeface="Arial"/>
                        </a:rPr>
                        <a:t>28</a:t>
                      </a:r>
                    </a:p>
                  </a:txBody>
                  <a:tcPr>
                    <a:solidFill>
                      <a:srgbClr val="FFFFFF"/>
                    </a:solidFill>
                  </a:tcPr>
                </a:tc>
                <a:tc>
                  <a:txBody>
                    <a:bodyPr/>
                    <a:lstStyle/>
                    <a:p>
                      <a:pPr algn="l"/>
                      <a:r>
                        <a:rPr sz="750" b="0" i="0">
                          <a:solidFill>
                            <a:srgbClr val="262626"/>
                          </a:solidFill>
                          <a:latin typeface="Arial"/>
                        </a:rPr>
                        <a:t>Kelly Wetteland</a:t>
                      </a:r>
                    </a:p>
                  </a:txBody>
                  <a:tcPr>
                    <a:solidFill>
                      <a:srgbClr val="FFFFFF"/>
                    </a:solidFill>
                  </a:tcPr>
                </a:tc>
                <a:tc>
                  <a:txBody>
                    <a:bodyPr/>
                    <a:lstStyle/>
                    <a:p>
                      <a:pPr algn="ctr"/>
                      <a:r>
                        <a:rPr sz="750" b="1" i="0">
                          <a:solidFill>
                            <a:srgbClr val="262626"/>
                          </a:solidFill>
                          <a:latin typeface="Arial"/>
                        </a:rPr>
                        <a:t>925</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2</a:t>
                      </a:r>
                    </a:p>
                  </a:txBody>
                  <a:tcPr>
                    <a:solidFill>
                      <a:srgbClr val="FFFFFF"/>
                    </a:solidFill>
                  </a:tcPr>
                </a:tc>
                <a:tc>
                  <a:txBody>
                    <a:bodyPr/>
                    <a:lstStyle/>
                    <a:p>
                      <a:pPr algn="ctr"/>
                      <a:r>
                        <a:rPr sz="750" b="1" i="0">
                          <a:solidFill>
                            <a:srgbClr val="C00000"/>
                          </a:solidFill>
                          <a:latin typeface="Arial"/>
                        </a:rPr>
                        <a:t>0</a:t>
                      </a:r>
                    </a:p>
                  </a:txBody>
                  <a:tcPr>
                    <a:solidFill>
                      <a:srgbClr val="FFFFFF"/>
                    </a:solidFill>
                  </a:tcPr>
                </a:tc>
                <a:tc>
                  <a:txBody>
                    <a:bodyPr/>
                    <a:lstStyle/>
                    <a:p>
                      <a:pPr algn="ctr"/>
                      <a:r>
                        <a:rPr sz="750" b="0" i="0">
                          <a:solidFill>
                            <a:srgbClr val="262626"/>
                          </a:solidFill>
                          <a:latin typeface="Arial"/>
                        </a:rPr>
                        <a:t>462</a:t>
                      </a:r>
                    </a:p>
                  </a:txBody>
                  <a:tcPr>
                    <a:solidFill>
                      <a:srgbClr val="FFFFFF"/>
                    </a:solidFill>
                  </a:tcPr>
                </a:tc>
                <a:tc>
                  <a:txBody>
                    <a:bodyPr/>
                    <a:lstStyle/>
                    <a:p>
                      <a:pPr algn="ctr"/>
                      <a:r>
                        <a:rPr sz="750" b="1" i="0">
                          <a:solidFill>
                            <a:srgbClr val="1B7F3A"/>
                          </a:solidFill>
                          <a:latin typeface="Arial"/>
                        </a:rPr>
                        <a:t>5,550</a:t>
                      </a:r>
                    </a:p>
                  </a:txBody>
                  <a:tcPr>
                    <a:solidFill>
                      <a:srgbClr val="FFFFFF"/>
                    </a:solidFill>
                  </a:tcPr>
                </a:tc>
                <a:extLst>
                  <a:ext uri="{0D108BD9-81ED-4DB2-BD59-A6C34878D82A}">
                    <a16:rowId xmlns:a16="http://schemas.microsoft.com/office/drawing/2014/main" val="10005"/>
                  </a:ext>
                </a:extLst>
              </a:tr>
              <a:tr h="201168">
                <a:tc>
                  <a:txBody>
                    <a:bodyPr/>
                    <a:lstStyle/>
                    <a:p>
                      <a:pPr algn="ctr"/>
                      <a:r>
                        <a:rPr sz="750" b="1" i="0">
                          <a:solidFill>
                            <a:srgbClr val="262626"/>
                          </a:solidFill>
                          <a:latin typeface="Arial"/>
                        </a:rPr>
                        <a:t>32</a:t>
                      </a:r>
                    </a:p>
                  </a:txBody>
                  <a:tcPr>
                    <a:solidFill>
                      <a:srgbClr val="F2F2F2"/>
                    </a:solidFill>
                  </a:tcPr>
                </a:tc>
                <a:tc>
                  <a:txBody>
                    <a:bodyPr/>
                    <a:lstStyle/>
                    <a:p>
                      <a:pPr algn="l"/>
                      <a:r>
                        <a:rPr sz="750" b="0" i="0">
                          <a:solidFill>
                            <a:srgbClr val="262626"/>
                          </a:solidFill>
                          <a:latin typeface="Arial"/>
                        </a:rPr>
                        <a:t>Naomi Ruff</a:t>
                      </a:r>
                    </a:p>
                  </a:txBody>
                  <a:tcPr>
                    <a:solidFill>
                      <a:srgbClr val="F2F2F2"/>
                    </a:solidFill>
                  </a:tcPr>
                </a:tc>
                <a:tc>
                  <a:txBody>
                    <a:bodyPr/>
                    <a:lstStyle/>
                    <a:p>
                      <a:pPr algn="ctr"/>
                      <a:r>
                        <a:rPr sz="750" b="1" i="0">
                          <a:solidFill>
                            <a:srgbClr val="262626"/>
                          </a:solidFill>
                          <a:latin typeface="Arial"/>
                        </a:rPr>
                        <a:t>882</a:t>
                      </a:r>
                    </a:p>
                  </a:txBody>
                  <a:tcPr>
                    <a:solidFill>
                      <a:srgbClr val="F2F2F2"/>
                    </a:solidFill>
                  </a:tcPr>
                </a:tc>
                <a:tc>
                  <a:txBody>
                    <a:bodyPr/>
                    <a:lstStyle/>
                    <a:p>
                      <a:pPr algn="ctr"/>
                      <a:r>
                        <a:rPr sz="750" b="0" i="0">
                          <a:solidFill>
                            <a:srgbClr val="262626"/>
                          </a:solidFill>
                          <a:latin typeface="Arial"/>
                        </a:rPr>
                        <a:t>3</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294</a:t>
                      </a:r>
                    </a:p>
                  </a:txBody>
                  <a:tcPr>
                    <a:solidFill>
                      <a:srgbClr val="F2F2F2"/>
                    </a:solidFill>
                  </a:tcPr>
                </a:tc>
                <a:tc>
                  <a:txBody>
                    <a:bodyPr/>
                    <a:lstStyle/>
                    <a:p>
                      <a:pPr algn="ctr"/>
                      <a:r>
                        <a:rPr sz="750" b="1" i="0">
                          <a:solidFill>
                            <a:srgbClr val="262626"/>
                          </a:solidFill>
                          <a:latin typeface="Arial"/>
                        </a:rPr>
                        <a:t>3,530</a:t>
                      </a:r>
                    </a:p>
                  </a:txBody>
                  <a:tcPr>
                    <a:solidFill>
                      <a:srgbClr val="F2F2F2"/>
                    </a:solidFill>
                  </a:tcPr>
                </a:tc>
                <a:extLst>
                  <a:ext uri="{0D108BD9-81ED-4DB2-BD59-A6C34878D82A}">
                    <a16:rowId xmlns:a16="http://schemas.microsoft.com/office/drawing/2014/main" val="10006"/>
                  </a:ext>
                </a:extLst>
              </a:tr>
              <a:tr h="201168">
                <a:tc>
                  <a:txBody>
                    <a:bodyPr/>
                    <a:lstStyle/>
                    <a:p>
                      <a:pPr algn="ctr"/>
                      <a:r>
                        <a:rPr sz="750" b="1" i="0">
                          <a:solidFill>
                            <a:srgbClr val="262626"/>
                          </a:solidFill>
                          <a:latin typeface="Arial"/>
                        </a:rPr>
                        <a:t>45</a:t>
                      </a:r>
                    </a:p>
                  </a:txBody>
                  <a:tcPr>
                    <a:solidFill>
                      <a:srgbClr val="FFFFFF"/>
                    </a:solidFill>
                  </a:tcPr>
                </a:tc>
                <a:tc>
                  <a:txBody>
                    <a:bodyPr/>
                    <a:lstStyle/>
                    <a:p>
                      <a:pPr algn="l"/>
                      <a:r>
                        <a:rPr sz="750" b="0" i="0">
                          <a:solidFill>
                            <a:srgbClr val="262626"/>
                          </a:solidFill>
                          <a:latin typeface="Arial"/>
                        </a:rPr>
                        <a:t>Erika Ackerlund</a:t>
                      </a:r>
                    </a:p>
                  </a:txBody>
                  <a:tcPr>
                    <a:solidFill>
                      <a:srgbClr val="FFFFFF"/>
                    </a:solidFill>
                  </a:tcPr>
                </a:tc>
                <a:tc>
                  <a:txBody>
                    <a:bodyPr/>
                    <a:lstStyle/>
                    <a:p>
                      <a:pPr algn="ctr"/>
                      <a:r>
                        <a:rPr sz="750" b="1" i="0">
                          <a:solidFill>
                            <a:srgbClr val="262626"/>
                          </a:solidFill>
                          <a:latin typeface="Arial"/>
                        </a:rPr>
                        <a:t>720</a:t>
                      </a:r>
                    </a:p>
                  </a:txBody>
                  <a:tcPr>
                    <a:solidFill>
                      <a:srgbClr val="FFFFFF"/>
                    </a:solidFill>
                  </a:tcPr>
                </a:tc>
                <a:tc>
                  <a:txBody>
                    <a:bodyPr/>
                    <a:lstStyle/>
                    <a:p>
                      <a:pPr algn="ctr"/>
                      <a:r>
                        <a:rPr sz="750" b="0" i="0">
                          <a:solidFill>
                            <a:srgbClr val="262626"/>
                          </a:solidFill>
                          <a:latin typeface="Arial"/>
                        </a:rPr>
                        <a:t>3</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2</a:t>
                      </a:r>
                    </a:p>
                  </a:txBody>
                  <a:tcPr>
                    <a:solidFill>
                      <a:srgbClr val="FFFFFF"/>
                    </a:solidFill>
                  </a:tcPr>
                </a:tc>
                <a:tc>
                  <a:txBody>
                    <a:bodyPr/>
                    <a:lstStyle/>
                    <a:p>
                      <a:pPr algn="ctr"/>
                      <a:r>
                        <a:rPr sz="750" b="0" i="0">
                          <a:solidFill>
                            <a:srgbClr val="262626"/>
                          </a:solidFill>
                          <a:latin typeface="Arial"/>
                        </a:rPr>
                        <a:t>240</a:t>
                      </a:r>
                    </a:p>
                  </a:txBody>
                  <a:tcPr>
                    <a:solidFill>
                      <a:srgbClr val="FFFFFF"/>
                    </a:solidFill>
                  </a:tcPr>
                </a:tc>
                <a:tc>
                  <a:txBody>
                    <a:bodyPr/>
                    <a:lstStyle/>
                    <a:p>
                      <a:pPr algn="ctr"/>
                      <a:r>
                        <a:rPr sz="750" b="1" i="0">
                          <a:solidFill>
                            <a:srgbClr val="262626"/>
                          </a:solidFill>
                          <a:latin typeface="Arial"/>
                        </a:rPr>
                        <a:t>2,882</a:t>
                      </a:r>
                    </a:p>
                  </a:txBody>
                  <a:tcPr>
                    <a:solidFill>
                      <a:srgbClr val="FFFFFF"/>
                    </a:solidFill>
                  </a:tcPr>
                </a:tc>
                <a:extLst>
                  <a:ext uri="{0D108BD9-81ED-4DB2-BD59-A6C34878D82A}">
                    <a16:rowId xmlns:a16="http://schemas.microsoft.com/office/drawing/2014/main" val="10007"/>
                  </a:ext>
                </a:extLst>
              </a:tr>
              <a:tr h="201168">
                <a:tc>
                  <a:txBody>
                    <a:bodyPr/>
                    <a:lstStyle/>
                    <a:p>
                      <a:pPr algn="ctr"/>
                      <a:r>
                        <a:rPr sz="750" b="1" i="0">
                          <a:solidFill>
                            <a:srgbClr val="262626"/>
                          </a:solidFill>
                          <a:latin typeface="Arial"/>
                        </a:rPr>
                        <a:t>56</a:t>
                      </a:r>
                    </a:p>
                  </a:txBody>
                  <a:tcPr>
                    <a:solidFill>
                      <a:srgbClr val="F2F2F2"/>
                    </a:solidFill>
                  </a:tcPr>
                </a:tc>
                <a:tc>
                  <a:txBody>
                    <a:bodyPr/>
                    <a:lstStyle/>
                    <a:p>
                      <a:pPr algn="l"/>
                      <a:r>
                        <a:rPr sz="750" b="0" i="0">
                          <a:solidFill>
                            <a:srgbClr val="262626"/>
                          </a:solidFill>
                          <a:latin typeface="Arial"/>
                        </a:rPr>
                        <a:t>Eleanor Beveridge</a:t>
                      </a:r>
                    </a:p>
                  </a:txBody>
                  <a:tcPr>
                    <a:solidFill>
                      <a:srgbClr val="F2F2F2"/>
                    </a:solidFill>
                  </a:tcPr>
                </a:tc>
                <a:tc>
                  <a:txBody>
                    <a:bodyPr/>
                    <a:lstStyle/>
                    <a:p>
                      <a:pPr algn="ctr"/>
                      <a:r>
                        <a:rPr sz="750" b="1" i="0">
                          <a:solidFill>
                            <a:srgbClr val="262626"/>
                          </a:solidFill>
                          <a:latin typeface="Arial"/>
                        </a:rPr>
                        <a:t>567</a:t>
                      </a:r>
                    </a:p>
                  </a:txBody>
                  <a:tcPr>
                    <a:solidFill>
                      <a:srgbClr val="F2F2F2"/>
                    </a:solidFill>
                  </a:tcPr>
                </a:tc>
                <a:tc>
                  <a:txBody>
                    <a:bodyPr/>
                    <a:lstStyle/>
                    <a:p>
                      <a:pPr algn="ctr"/>
                      <a:r>
                        <a:rPr sz="750" b="0" i="0">
                          <a:solidFill>
                            <a:srgbClr val="262626"/>
                          </a:solidFill>
                          <a:latin typeface="Arial"/>
                        </a:rPr>
                        <a:t>3</a:t>
                      </a:r>
                    </a:p>
                  </a:txBody>
                  <a:tcPr>
                    <a:solidFill>
                      <a:srgbClr val="F2F2F2"/>
                    </a:solidFill>
                  </a:tcPr>
                </a:tc>
                <a:tc>
                  <a:txBody>
                    <a:bodyPr/>
                    <a:lstStyle/>
                    <a:p>
                      <a:pPr algn="ctr"/>
                      <a:r>
                        <a:rPr sz="750" b="1" i="0">
                          <a:solidFill>
                            <a:srgbClr val="1B7F3A"/>
                          </a:solidFill>
                          <a:latin typeface="Arial"/>
                        </a:rPr>
                        <a:t>0</a:t>
                      </a:r>
                    </a:p>
                  </a:txBody>
                  <a:tcPr>
                    <a:solidFill>
                      <a:srgbClr val="F2F2F2"/>
                    </a:solidFill>
                  </a:tcPr>
                </a:tc>
                <a:tc>
                  <a:txBody>
                    <a:bodyPr/>
                    <a:lstStyle/>
                    <a:p>
                      <a:pPr algn="ctr"/>
                      <a:r>
                        <a:rPr sz="750" b="1" i="0">
                          <a:solidFill>
                            <a:srgbClr val="C00000"/>
                          </a:solidFill>
                          <a:latin typeface="Arial"/>
                        </a:rPr>
                        <a:t>3</a:t>
                      </a:r>
                    </a:p>
                  </a:txBody>
                  <a:tcPr>
                    <a:solidFill>
                      <a:srgbClr val="F2F2F2"/>
                    </a:solidFill>
                  </a:tcPr>
                </a:tc>
                <a:tc>
                  <a:txBody>
                    <a:bodyPr/>
                    <a:lstStyle/>
                    <a:p>
                      <a:pPr algn="ctr"/>
                      <a:r>
                        <a:rPr sz="750" b="0" i="0">
                          <a:solidFill>
                            <a:srgbClr val="262626"/>
                          </a:solidFill>
                          <a:latin typeface="Arial"/>
                        </a:rPr>
                        <a:t>189</a:t>
                      </a:r>
                    </a:p>
                  </a:txBody>
                  <a:tcPr>
                    <a:solidFill>
                      <a:srgbClr val="F2F2F2"/>
                    </a:solidFill>
                  </a:tcPr>
                </a:tc>
                <a:tc>
                  <a:txBody>
                    <a:bodyPr/>
                    <a:lstStyle/>
                    <a:p>
                      <a:pPr algn="ctr"/>
                      <a:r>
                        <a:rPr sz="750" b="1" i="0">
                          <a:solidFill>
                            <a:srgbClr val="262626"/>
                          </a:solidFill>
                          <a:latin typeface="Arial"/>
                        </a:rPr>
                        <a:t>2,269</a:t>
                      </a:r>
                    </a:p>
                  </a:txBody>
                  <a:tcPr>
                    <a:solidFill>
                      <a:srgbClr val="F2F2F2"/>
                    </a:solidFill>
                  </a:tcPr>
                </a:tc>
                <a:extLst>
                  <a:ext uri="{0D108BD9-81ED-4DB2-BD59-A6C34878D82A}">
                    <a16:rowId xmlns:a16="http://schemas.microsoft.com/office/drawing/2014/main" val="10008"/>
                  </a:ext>
                </a:extLst>
              </a:tr>
              <a:tr h="201168">
                <a:tc>
                  <a:txBody>
                    <a:bodyPr/>
                    <a:lstStyle/>
                    <a:p>
                      <a:pPr algn="ctr"/>
                      <a:r>
                        <a:rPr sz="750" b="1" i="0">
                          <a:solidFill>
                            <a:srgbClr val="262626"/>
                          </a:solidFill>
                          <a:latin typeface="Arial"/>
                        </a:rPr>
                        <a:t>58</a:t>
                      </a:r>
                    </a:p>
                  </a:txBody>
                  <a:tcPr>
                    <a:solidFill>
                      <a:srgbClr val="FFFFFF"/>
                    </a:solidFill>
                  </a:tcPr>
                </a:tc>
                <a:tc>
                  <a:txBody>
                    <a:bodyPr/>
                    <a:lstStyle/>
                    <a:p>
                      <a:pPr algn="l"/>
                      <a:r>
                        <a:rPr sz="750" b="0" i="0">
                          <a:solidFill>
                            <a:srgbClr val="262626"/>
                          </a:solidFill>
                          <a:latin typeface="Arial"/>
                        </a:rPr>
                        <a:t>Gwen Jorgensen</a:t>
                      </a:r>
                    </a:p>
                  </a:txBody>
                  <a:tcPr>
                    <a:solidFill>
                      <a:srgbClr val="FFFFFF"/>
                    </a:solidFill>
                  </a:tcPr>
                </a:tc>
                <a:tc>
                  <a:txBody>
                    <a:bodyPr/>
                    <a:lstStyle/>
                    <a:p>
                      <a:pPr algn="ctr"/>
                      <a:r>
                        <a:rPr sz="750" b="1" i="0">
                          <a:solidFill>
                            <a:srgbClr val="262626"/>
                          </a:solidFill>
                          <a:latin typeface="Arial"/>
                        </a:rPr>
                        <a:t>556</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278</a:t>
                      </a:r>
                    </a:p>
                  </a:txBody>
                  <a:tcPr>
                    <a:solidFill>
                      <a:srgbClr val="FFFFFF"/>
                    </a:solidFill>
                  </a:tcPr>
                </a:tc>
                <a:tc>
                  <a:txBody>
                    <a:bodyPr/>
                    <a:lstStyle/>
                    <a:p>
                      <a:pPr algn="ctr"/>
                      <a:r>
                        <a:rPr sz="750" b="1" i="0">
                          <a:solidFill>
                            <a:srgbClr val="262626"/>
                          </a:solidFill>
                          <a:latin typeface="Arial"/>
                        </a:rPr>
                        <a:t>3,337</a:t>
                      </a:r>
                    </a:p>
                  </a:txBody>
                  <a:tcPr>
                    <a:solidFill>
                      <a:srgbClr val="FFFFFF"/>
                    </a:solidFill>
                  </a:tcPr>
                </a:tc>
                <a:extLst>
                  <a:ext uri="{0D108BD9-81ED-4DB2-BD59-A6C34878D82A}">
                    <a16:rowId xmlns:a16="http://schemas.microsoft.com/office/drawing/2014/main" val="10009"/>
                  </a:ext>
                </a:extLst>
              </a:tr>
              <a:tr h="201168">
                <a:tc>
                  <a:txBody>
                    <a:bodyPr/>
                    <a:lstStyle/>
                    <a:p>
                      <a:pPr algn="ctr"/>
                      <a:r>
                        <a:rPr sz="750" b="1" i="0">
                          <a:solidFill>
                            <a:srgbClr val="262626"/>
                          </a:solidFill>
                          <a:latin typeface="Arial"/>
                        </a:rPr>
                        <a:t>91</a:t>
                      </a:r>
                    </a:p>
                  </a:txBody>
                  <a:tcPr>
                    <a:solidFill>
                      <a:srgbClr val="F2F2F2"/>
                    </a:solidFill>
                  </a:tcPr>
                </a:tc>
                <a:tc>
                  <a:txBody>
                    <a:bodyPr/>
                    <a:lstStyle/>
                    <a:p>
                      <a:pPr algn="l"/>
                      <a:r>
                        <a:rPr sz="750" b="0" i="0">
                          <a:solidFill>
                            <a:srgbClr val="262626"/>
                          </a:solidFill>
                          <a:latin typeface="Arial"/>
                        </a:rPr>
                        <a:t>Rachel Werking</a:t>
                      </a:r>
                    </a:p>
                  </a:txBody>
                  <a:tcPr>
                    <a:solidFill>
                      <a:srgbClr val="F2F2F2"/>
                    </a:solidFill>
                  </a:tcPr>
                </a:tc>
                <a:tc>
                  <a:txBody>
                    <a:bodyPr/>
                    <a:lstStyle/>
                    <a:p>
                      <a:pPr algn="ctr"/>
                      <a:r>
                        <a:rPr sz="750" b="1" i="0">
                          <a:solidFill>
                            <a:srgbClr val="262626"/>
                          </a:solidFill>
                          <a:latin typeface="Arial"/>
                        </a:rPr>
                        <a:t>271</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0</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135</a:t>
                      </a:r>
                    </a:p>
                  </a:txBody>
                  <a:tcPr>
                    <a:solidFill>
                      <a:srgbClr val="F2F2F2"/>
                    </a:solidFill>
                  </a:tcPr>
                </a:tc>
                <a:tc>
                  <a:txBody>
                    <a:bodyPr/>
                    <a:lstStyle/>
                    <a:p>
                      <a:pPr algn="ctr"/>
                      <a:r>
                        <a:rPr sz="750" b="1" i="0">
                          <a:solidFill>
                            <a:srgbClr val="262626"/>
                          </a:solidFill>
                          <a:latin typeface="Arial"/>
                        </a:rPr>
                        <a:t>1,629</a:t>
                      </a:r>
                    </a:p>
                  </a:txBody>
                  <a:tcPr>
                    <a:solidFill>
                      <a:srgbClr val="F2F2F2"/>
                    </a:solidFill>
                  </a:tcPr>
                </a:tc>
                <a:extLst>
                  <a:ext uri="{0D108BD9-81ED-4DB2-BD59-A6C34878D82A}">
                    <a16:rowId xmlns:a16="http://schemas.microsoft.com/office/drawing/2014/main" val="10010"/>
                  </a:ext>
                </a:extLst>
              </a:tr>
              <a:tr h="201168">
                <a:tc>
                  <a:txBody>
                    <a:bodyPr/>
                    <a:lstStyle/>
                    <a:p>
                      <a:pPr algn="ctr"/>
                      <a:r>
                        <a:rPr sz="750" b="1" i="0">
                          <a:solidFill>
                            <a:srgbClr val="262626"/>
                          </a:solidFill>
                          <a:latin typeface="Arial"/>
                        </a:rPr>
                        <a:t>110</a:t>
                      </a:r>
                    </a:p>
                  </a:txBody>
                  <a:tcPr>
                    <a:solidFill>
                      <a:srgbClr val="FFFFFF"/>
                    </a:solidFill>
                  </a:tcPr>
                </a:tc>
                <a:tc>
                  <a:txBody>
                    <a:bodyPr/>
                    <a:lstStyle/>
                    <a:p>
                      <a:pPr algn="l"/>
                      <a:r>
                        <a:rPr sz="750" b="0" i="0">
                          <a:solidFill>
                            <a:srgbClr val="262626"/>
                          </a:solidFill>
                          <a:latin typeface="Arial"/>
                        </a:rPr>
                        <a:t>Joy Gill</a:t>
                      </a:r>
                    </a:p>
                  </a:txBody>
                  <a:tcPr>
                    <a:solidFill>
                      <a:srgbClr val="FFFFFF"/>
                    </a:solidFill>
                  </a:tcPr>
                </a:tc>
                <a:tc>
                  <a:txBody>
                    <a:bodyPr/>
                    <a:lstStyle/>
                    <a:p>
                      <a:pPr algn="ctr"/>
                      <a:r>
                        <a:rPr sz="750" b="1" i="0">
                          <a:solidFill>
                            <a:srgbClr val="262626"/>
                          </a:solidFill>
                          <a:latin typeface="Arial"/>
                        </a:rPr>
                        <a:t>200</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2</a:t>
                      </a:r>
                    </a:p>
                  </a:txBody>
                  <a:tcPr>
                    <a:solidFill>
                      <a:srgbClr val="FFFFFF"/>
                    </a:solidFill>
                  </a:tcPr>
                </a:tc>
                <a:tc>
                  <a:txBody>
                    <a:bodyPr/>
                    <a:lstStyle/>
                    <a:p>
                      <a:pPr algn="ctr"/>
                      <a:r>
                        <a:rPr sz="750" b="0" i="0">
                          <a:solidFill>
                            <a:srgbClr val="262626"/>
                          </a:solidFill>
                          <a:latin typeface="Arial"/>
                        </a:rPr>
                        <a:t>100</a:t>
                      </a:r>
                    </a:p>
                  </a:txBody>
                  <a:tcPr>
                    <a:solidFill>
                      <a:srgbClr val="FFFFFF"/>
                    </a:solidFill>
                  </a:tcPr>
                </a:tc>
                <a:tc>
                  <a:txBody>
                    <a:bodyPr/>
                    <a:lstStyle/>
                    <a:p>
                      <a:pPr algn="ctr"/>
                      <a:r>
                        <a:rPr sz="750" b="1" i="0">
                          <a:solidFill>
                            <a:srgbClr val="262626"/>
                          </a:solidFill>
                          <a:latin typeface="Arial"/>
                        </a:rPr>
                        <a:t>1,203</a:t>
                      </a:r>
                    </a:p>
                  </a:txBody>
                  <a:tcPr>
                    <a:solidFill>
                      <a:srgbClr val="FFFFFF"/>
                    </a:solidFill>
                  </a:tcPr>
                </a:tc>
                <a:extLst>
                  <a:ext uri="{0D108BD9-81ED-4DB2-BD59-A6C34878D82A}">
                    <a16:rowId xmlns:a16="http://schemas.microsoft.com/office/drawing/2014/main" val="10011"/>
                  </a:ext>
                </a:extLst>
              </a:tr>
            </a:tbl>
          </a:graphicData>
        </a:graphic>
      </p:graphicFrame>
      <p:sp>
        <p:nvSpPr>
          <p:cNvPr id="20" name="TextBox 19"/>
          <p:cNvSpPr txBox="1"/>
          <p:nvPr/>
        </p:nvSpPr>
        <p:spPr>
          <a:xfrm>
            <a:off x="274320" y="6419088"/>
            <a:ext cx="11640312" cy="274320"/>
          </a:xfrm>
          <a:prstGeom prst="rect">
            <a:avLst/>
          </a:prstGeom>
          <a:noFill/>
        </p:spPr>
        <p:txBody>
          <a:bodyPr wrap="square">
            <a:spAutoFit/>
          </a:bodyPr>
          <a:lstStyle/>
          <a:p>
            <a:pPr algn="ctr"/>
            <a:r>
              <a:rPr sz="800" b="0" i="1">
                <a:solidFill>
                  <a:srgbClr val="BFBFBF"/>
                </a:solidFill>
                <a:latin typeface="Arial"/>
              </a:rPr>
              <a:t>On = events scoring ≥ pace.  Off = events &lt; pace.  Pace = total breakdown pts ÷ events raced.  Proj @12 = current total + (avg pts × remaining events to cap); green if ≥ Paris cutoff.  Cutoff estimate: Paris 2024 = 3,627 pts / 12 events = 302 pts/event.  Tier positions use a geometric 0.925 points model.  Source: World Triathlon rankings database.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Overview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640080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115568"/>
            <a:ext cx="6035040" cy="274320"/>
          </a:xfrm>
          <a:prstGeom prst="rect">
            <a:avLst/>
          </a:prstGeom>
          <a:noFill/>
        </p:spPr>
        <p:txBody>
          <a:bodyPr wrap="square">
            <a:spAutoFit/>
          </a:bodyPr>
          <a:lstStyle/>
          <a:p>
            <a:pPr algn="l"/>
            <a:r>
              <a:rPr sz="1200" b="1" i="0">
                <a:solidFill>
                  <a:srgbClr val="FFFFFF"/>
                </a:solidFill>
                <a:latin typeface="Arial"/>
              </a:rPr>
              <a:t>RACE HISTORY AT WEIHAI</a:t>
            </a:r>
          </a:p>
        </p:txBody>
      </p:sp>
      <p:sp>
        <p:nvSpPr>
          <p:cNvPr id="10" name="TextBox 9"/>
          <p:cNvSpPr txBox="1"/>
          <p:nvPr/>
        </p:nvSpPr>
        <p:spPr>
          <a:xfrm>
            <a:off x="274320" y="1508760"/>
            <a:ext cx="6400800" cy="2031325"/>
          </a:xfrm>
          <a:prstGeom prst="rect">
            <a:avLst/>
          </a:prstGeom>
          <a:noFill/>
        </p:spPr>
        <p:txBody>
          <a:bodyPr wrap="square">
            <a:spAutoFit/>
          </a:bodyPr>
          <a:lstStyle/>
          <a:p>
            <a:pPr algn="l"/>
            <a:r>
              <a:rPr sz="1400" b="0" i="0" dirty="0">
                <a:solidFill>
                  <a:srgbClr val="262626"/>
                </a:solidFill>
                <a:latin typeface="Arial"/>
              </a:rPr>
              <a:t>The Elite Men race at Weihai has been held 5 times in this analysis window (2018–2025). The event is staged as part of the World Cup / World Championship Series calendar.
</a:t>
            </a:r>
            <a:r>
              <a:rPr lang="en-US" sz="1400" dirty="0">
                <a:solidFill>
                  <a:srgbClr val="262626"/>
                </a:solidFill>
                <a:latin typeface="Arial"/>
              </a:rPr>
              <a:t>Race dynamics here can depend largely on race day temperature with the past two years falling on cooler days that led to faster racing across each discipline. With the race falling earlier in the year, except for a greater likelihood of a larger group coming off the bike together. Managing heat pre and during the race will also be critical. </a:t>
            </a:r>
            <a:endParaRPr sz="1400" b="0" i="0" dirty="0">
              <a:solidFill>
                <a:srgbClr val="262626"/>
              </a:solidFill>
              <a:latin typeface="Arial"/>
            </a:endParaRPr>
          </a:p>
        </p:txBody>
      </p:sp>
      <p:sp>
        <p:nvSpPr>
          <p:cNvPr id="11" name="Rectangle 10"/>
          <p:cNvSpPr/>
          <p:nvPr/>
        </p:nvSpPr>
        <p:spPr>
          <a:xfrm>
            <a:off x="6903720" y="1097280"/>
            <a:ext cx="4983480"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0" y="1115568"/>
            <a:ext cx="4663440"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p:cNvSpPr/>
          <p:nvPr/>
        </p:nvSpPr>
        <p:spPr>
          <a:xfrm>
            <a:off x="6949440" y="155448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4" name="TextBox 13"/>
          <p:cNvSpPr txBox="1"/>
          <p:nvPr/>
        </p:nvSpPr>
        <p:spPr>
          <a:xfrm>
            <a:off x="7452360" y="1536192"/>
            <a:ext cx="4434840" cy="954107"/>
          </a:xfrm>
          <a:prstGeom prst="rect">
            <a:avLst/>
          </a:prstGeom>
          <a:noFill/>
        </p:spPr>
        <p:txBody>
          <a:bodyPr wrap="square">
            <a:spAutoFit/>
          </a:bodyPr>
          <a:lstStyle/>
          <a:p>
            <a:pPr algn="l"/>
            <a:r>
              <a:rPr lang="en-US" sz="1400" b="0" i="0" dirty="0">
                <a:solidFill>
                  <a:srgbClr val="262626"/>
                </a:solidFill>
                <a:latin typeface="Arial"/>
              </a:rPr>
              <a:t>Warm temperature here has historically kept the field relatively close together. The delta from the average to the fastest swim split has only been ~30 seconds in the past three editions of the race. </a:t>
            </a:r>
            <a:endParaRPr sz="1400" b="0" i="0" dirty="0">
              <a:solidFill>
                <a:srgbClr val="262626"/>
              </a:solidFill>
              <a:latin typeface="Arial"/>
            </a:endParaRPr>
          </a:p>
        </p:txBody>
      </p:sp>
      <p:sp>
        <p:nvSpPr>
          <p:cNvPr id="15" name="Rectangle 14"/>
          <p:cNvSpPr/>
          <p:nvPr/>
        </p:nvSpPr>
        <p:spPr>
          <a:xfrm>
            <a:off x="6949440" y="324612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6" name="TextBox 15"/>
          <p:cNvSpPr txBox="1"/>
          <p:nvPr/>
        </p:nvSpPr>
        <p:spPr>
          <a:xfrm>
            <a:off x="7452360" y="3227832"/>
            <a:ext cx="4434840" cy="1384995"/>
          </a:xfrm>
          <a:prstGeom prst="rect">
            <a:avLst/>
          </a:prstGeom>
          <a:noFill/>
        </p:spPr>
        <p:txBody>
          <a:bodyPr wrap="square">
            <a:spAutoFit/>
          </a:bodyPr>
          <a:lstStyle/>
          <a:p>
            <a:pPr algn="l"/>
            <a:r>
              <a:rPr lang="en-US" sz="1400" b="0" i="0" dirty="0">
                <a:solidFill>
                  <a:srgbClr val="262626"/>
                </a:solidFill>
                <a:latin typeface="Arial"/>
              </a:rPr>
              <a:t>Bike dynamics here can depend strongly on the weather. In 2023 when the race was held in August in warmer temperatures the chase pack came together. In 2024 and 2025 when the race was in September with cooler temperatures, the front was able to push the pace and breakaway from the group. </a:t>
            </a:r>
            <a:endParaRPr sz="1400" b="0" i="0" dirty="0">
              <a:solidFill>
                <a:srgbClr val="262626"/>
              </a:solidFill>
              <a:latin typeface="Arial"/>
            </a:endParaRPr>
          </a:p>
        </p:txBody>
      </p:sp>
      <p:sp>
        <p:nvSpPr>
          <p:cNvPr id="17" name="Rectangle 16"/>
          <p:cNvSpPr/>
          <p:nvPr/>
        </p:nvSpPr>
        <p:spPr>
          <a:xfrm>
            <a:off x="6949440" y="493776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8" name="TextBox 17"/>
          <p:cNvSpPr txBox="1"/>
          <p:nvPr/>
        </p:nvSpPr>
        <p:spPr>
          <a:xfrm>
            <a:off x="7452360" y="4919472"/>
            <a:ext cx="4434840" cy="1169551"/>
          </a:xfrm>
          <a:prstGeom prst="rect">
            <a:avLst/>
          </a:prstGeom>
          <a:noFill/>
        </p:spPr>
        <p:txBody>
          <a:bodyPr wrap="square">
            <a:spAutoFit/>
          </a:bodyPr>
          <a:lstStyle/>
          <a:p>
            <a:pPr algn="l"/>
            <a:r>
              <a:rPr lang="en-US" sz="1400" b="0" i="0" dirty="0">
                <a:solidFill>
                  <a:srgbClr val="262626"/>
                </a:solidFill>
                <a:latin typeface="Arial"/>
              </a:rPr>
              <a:t>Winning run times here tend to be on the fast end with the past two years the winning time right at the 30-minute barrier. However, again in 2023 with the warmer temperature, both the fastes</a:t>
            </a:r>
            <a:r>
              <a:rPr lang="en-US" sz="1400" dirty="0">
                <a:solidFill>
                  <a:srgbClr val="262626"/>
                </a:solidFill>
                <a:latin typeface="Arial"/>
              </a:rPr>
              <a:t>t and average run times were substantially slower. </a:t>
            </a:r>
            <a:r>
              <a:rPr lang="en-US" sz="1400" b="0" i="0" dirty="0">
                <a:solidFill>
                  <a:srgbClr val="262626"/>
                </a:solidFill>
                <a:latin typeface="Arial"/>
              </a:rPr>
              <a:t> </a:t>
            </a:r>
            <a:endParaRPr sz="1400" b="0" i="0" dirty="0">
              <a:solidFill>
                <a:srgbClr val="262626"/>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3291840"/>
        </p:xfrm>
        <a:graphic>
          <a:graphicData uri="http://schemas.openxmlformats.org/drawingml/2006/table">
            <a:tbl>
              <a:tblPr firstRow="1" bandRow="1">
                <a:tableStyleId>{5C22544A-7EE6-4342-B048-85BDC9FD1C3A}</a:tableStyleId>
              </a:tblPr>
              <a:tblGrid>
                <a:gridCol w="655082">
                  <a:extLst>
                    <a:ext uri="{9D8B030D-6E8A-4147-A177-3AD203B41FA5}">
                      <a16:colId xmlns:a16="http://schemas.microsoft.com/office/drawing/2014/main" val="20000"/>
                    </a:ext>
                  </a:extLst>
                </a:gridCol>
                <a:gridCol w="957428">
                  <a:extLst>
                    <a:ext uri="{9D8B030D-6E8A-4147-A177-3AD203B41FA5}">
                      <a16:colId xmlns:a16="http://schemas.microsoft.com/office/drawing/2014/main" val="20001"/>
                    </a:ext>
                  </a:extLst>
                </a:gridCol>
                <a:gridCol w="1914856">
                  <a:extLst>
                    <a:ext uri="{9D8B030D-6E8A-4147-A177-3AD203B41FA5}">
                      <a16:colId xmlns:a16="http://schemas.microsoft.com/office/drawing/2014/main" val="20002"/>
                    </a:ext>
                  </a:extLst>
                </a:gridCol>
                <a:gridCol w="554300">
                  <a:extLst>
                    <a:ext uri="{9D8B030D-6E8A-4147-A177-3AD203B41FA5}">
                      <a16:colId xmlns:a16="http://schemas.microsoft.com/office/drawing/2014/main" val="20003"/>
                    </a:ext>
                  </a:extLst>
                </a:gridCol>
                <a:gridCol w="755864">
                  <a:extLst>
                    <a:ext uri="{9D8B030D-6E8A-4147-A177-3AD203B41FA5}">
                      <a16:colId xmlns:a16="http://schemas.microsoft.com/office/drawing/2014/main" val="20004"/>
                    </a:ext>
                  </a:extLst>
                </a:gridCol>
                <a:gridCol w="2015638">
                  <a:extLst>
                    <a:ext uri="{9D8B030D-6E8A-4147-A177-3AD203B41FA5}">
                      <a16:colId xmlns:a16="http://schemas.microsoft.com/office/drawing/2014/main" val="20005"/>
                    </a:ext>
                  </a:extLst>
                </a:gridCol>
                <a:gridCol w="1007819">
                  <a:extLst>
                    <a:ext uri="{9D8B030D-6E8A-4147-A177-3AD203B41FA5}">
                      <a16:colId xmlns:a16="http://schemas.microsoft.com/office/drawing/2014/main" val="20006"/>
                    </a:ext>
                  </a:extLst>
                </a:gridCol>
                <a:gridCol w="806255">
                  <a:extLst>
                    <a:ext uri="{9D8B030D-6E8A-4147-A177-3AD203B41FA5}">
                      <a16:colId xmlns:a16="http://schemas.microsoft.com/office/drawing/2014/main" val="20007"/>
                    </a:ext>
                  </a:extLst>
                </a:gridCol>
                <a:gridCol w="856646">
                  <a:extLst>
                    <a:ext uri="{9D8B030D-6E8A-4147-A177-3AD203B41FA5}">
                      <a16:colId xmlns:a16="http://schemas.microsoft.com/office/drawing/2014/main" val="20008"/>
                    </a:ext>
                  </a:extLst>
                </a:gridCol>
                <a:gridCol w="705473">
                  <a:extLst>
                    <a:ext uri="{9D8B030D-6E8A-4147-A177-3AD203B41FA5}">
                      <a16:colId xmlns:a16="http://schemas.microsoft.com/office/drawing/2014/main" val="20009"/>
                    </a:ext>
                  </a:extLst>
                </a:gridCol>
                <a:gridCol w="705473">
                  <a:extLst>
                    <a:ext uri="{9D8B030D-6E8A-4147-A177-3AD203B41FA5}">
                      <a16:colId xmlns:a16="http://schemas.microsoft.com/office/drawing/2014/main" val="20010"/>
                    </a:ext>
                  </a:extLst>
                </a:gridCol>
                <a:gridCol w="705473">
                  <a:extLst>
                    <a:ext uri="{9D8B030D-6E8A-4147-A177-3AD203B41FA5}">
                      <a16:colId xmlns:a16="http://schemas.microsoft.com/office/drawing/2014/main" val="20011"/>
                    </a:ext>
                  </a:extLst>
                </a:gridCol>
              </a:tblGrid>
              <a:tr h="512064">
                <a:tc>
                  <a:txBody>
                    <a:bodyPr/>
                    <a:lstStyle/>
                    <a:p>
                      <a:pPr algn="ctr"/>
                      <a:r>
                        <a:rPr sz="1400" b="1" i="0">
                          <a:solidFill>
                            <a:srgbClr val="FFFFFF"/>
                          </a:solidFill>
                          <a:latin typeface="Arial"/>
                        </a:rPr>
                        <a:t>Year</a:t>
                      </a:r>
                    </a:p>
                  </a:txBody>
                  <a:tcPr>
                    <a:solidFill>
                      <a:srgbClr val="002060"/>
                    </a:solidFill>
                  </a:tcPr>
                </a:tc>
                <a:tc>
                  <a:txBody>
                    <a:bodyPr/>
                    <a:lstStyle/>
                    <a:p>
                      <a:pPr algn="ctr"/>
                      <a:r>
                        <a:rPr sz="1400" b="1" i="0">
                          <a:solidFill>
                            <a:srgbClr val="FFFFFF"/>
                          </a:solidFill>
                          <a:latin typeface="Arial"/>
                        </a:rPr>
                        <a:t>Date</a:t>
                      </a:r>
                    </a:p>
                  </a:txBody>
                  <a:tcPr>
                    <a:solidFill>
                      <a:srgbClr val="002060"/>
                    </a:solidFill>
                  </a:tcPr>
                </a:tc>
                <a:tc>
                  <a:txBody>
                    <a:bodyPr/>
                    <a:lstStyle/>
                    <a:p>
                      <a:pPr algn="ctr"/>
                      <a:r>
                        <a:rPr sz="1400" b="1" i="0">
                          <a:solidFill>
                            <a:srgbClr val="FFFFFF"/>
                          </a:solidFill>
                          <a:latin typeface="Arial"/>
                        </a:rPr>
                        <a:t>Category</a:t>
                      </a:r>
                    </a:p>
                  </a:txBody>
                  <a:tcPr>
                    <a:solidFill>
                      <a:srgbClr val="002060"/>
                    </a:solidFill>
                  </a:tcPr>
                </a:tc>
                <a:tc>
                  <a:txBody>
                    <a:bodyPr/>
                    <a:lstStyle/>
                    <a:p>
                      <a:pPr algn="ctr"/>
                      <a:r>
                        <a:rPr sz="1400" b="1" i="0">
                          <a:solidFill>
                            <a:srgbClr val="FFFFFF"/>
                          </a:solidFill>
                          <a:latin typeface="Arial"/>
                        </a:rPr>
                        <a:t>Field</a:t>
                      </a:r>
                    </a:p>
                  </a:txBody>
                  <a:tcPr>
                    <a:solidFill>
                      <a:srgbClr val="002060"/>
                    </a:solidFill>
                  </a:tcPr>
                </a:tc>
                <a:tc>
                  <a:txBody>
                    <a:bodyPr/>
                    <a:lstStyle/>
                    <a:p>
                      <a:pPr algn="ctr"/>
                      <a:r>
                        <a:rPr sz="1400" b="1" i="0">
                          <a:solidFill>
                            <a:srgbClr val="FFFFFF"/>
                          </a:solidFill>
                          <a:latin typeface="Arial"/>
                        </a:rPr>
                        <a:t>DNF/LAP/DNS</a:t>
                      </a:r>
                    </a:p>
                  </a:txBody>
                  <a:tcPr>
                    <a:solidFill>
                      <a:srgbClr val="002060"/>
                    </a:solidFill>
                  </a:tcPr>
                </a:tc>
                <a:tc>
                  <a:txBody>
                    <a:bodyPr/>
                    <a:lstStyle/>
                    <a:p>
                      <a:pPr algn="ctr"/>
                      <a:r>
                        <a:rPr sz="1400" b="1" i="0">
                          <a:solidFill>
                            <a:srgbClr val="FFFFFF"/>
                          </a:solidFill>
                          <a:latin typeface="Arial"/>
                        </a:rPr>
                        <a:t>Winner</a:t>
                      </a:r>
                    </a:p>
                  </a:txBody>
                  <a:tcPr>
                    <a:solidFill>
                      <a:srgbClr val="002060"/>
                    </a:solidFill>
                  </a:tcPr>
                </a:tc>
                <a:tc>
                  <a:txBody>
                    <a:bodyPr/>
                    <a:lstStyle/>
                    <a:p>
                      <a:pPr algn="ctr"/>
                      <a:r>
                        <a:rPr sz="1400" b="1" i="0">
                          <a:solidFill>
                            <a:srgbClr val="FFFFFF"/>
                          </a:solidFill>
                          <a:latin typeface="Arial"/>
                        </a:rPr>
                        <a:t>Winner Time</a:t>
                      </a:r>
                    </a:p>
                  </a:txBody>
                  <a:tcPr>
                    <a:solidFill>
                      <a:srgbClr val="002060"/>
                    </a:solidFill>
                  </a:tcPr>
                </a:tc>
                <a:tc>
                  <a:txBody>
                    <a:bodyPr/>
                    <a:lstStyle/>
                    <a:p>
                      <a:pPr algn="ctr"/>
                      <a:r>
                        <a:rPr sz="1400" b="1" i="0">
                          <a:solidFill>
                            <a:srgbClr val="FFFFFF"/>
                          </a:solidFill>
                          <a:latin typeface="Arial"/>
                        </a:rPr>
                        <a:t>Air Temp</a:t>
                      </a:r>
                    </a:p>
                  </a:txBody>
                  <a:tcPr>
                    <a:solidFill>
                      <a:srgbClr val="002060"/>
                    </a:solidFill>
                  </a:tcPr>
                </a:tc>
                <a:tc>
                  <a:txBody>
                    <a:bodyPr/>
                    <a:lstStyle/>
                    <a:p>
                      <a:pPr algn="ctr"/>
                      <a:r>
                        <a:rPr sz="1400" b="1" i="0">
                          <a:solidFill>
                            <a:srgbClr val="FFFFFF"/>
                          </a:solidFill>
                          <a:latin typeface="Arial"/>
                        </a:rPr>
                        <a:t>Water Temp</a:t>
                      </a:r>
                    </a:p>
                  </a:txBody>
                  <a:tcPr>
                    <a:solidFill>
                      <a:srgbClr val="002060"/>
                    </a:solidFill>
                  </a:tcPr>
                </a:tc>
                <a:tc>
                  <a:txBody>
                    <a:bodyPr/>
                    <a:lstStyle/>
                    <a:p>
                      <a:pPr algn="ctr"/>
                      <a:r>
                        <a:rPr sz="1400" b="1" i="0">
                          <a:solidFill>
                            <a:srgbClr val="FFFFFF"/>
                          </a:solidFill>
                          <a:latin typeface="Arial"/>
                        </a:rPr>
                        <a:t>Swim km</a:t>
                      </a:r>
                    </a:p>
                  </a:txBody>
                  <a:tcPr>
                    <a:solidFill>
                      <a:srgbClr val="002060"/>
                    </a:solidFill>
                  </a:tcPr>
                </a:tc>
                <a:tc>
                  <a:txBody>
                    <a:bodyPr/>
                    <a:lstStyle/>
                    <a:p>
                      <a:pPr algn="ctr"/>
                      <a:r>
                        <a:rPr sz="1400" b="1" i="0">
                          <a:solidFill>
                            <a:srgbClr val="FFFFFF"/>
                          </a:solidFill>
                          <a:latin typeface="Arial"/>
                        </a:rPr>
                        <a:t>Bike km</a:t>
                      </a:r>
                    </a:p>
                  </a:txBody>
                  <a:tcPr>
                    <a:solidFill>
                      <a:srgbClr val="002060"/>
                    </a:solidFill>
                  </a:tcPr>
                </a:tc>
                <a:tc>
                  <a:txBody>
                    <a:bodyPr/>
                    <a:lstStyle/>
                    <a:p>
                      <a:pPr algn="ctr"/>
                      <a:r>
                        <a:rPr sz="1400" b="1" i="0">
                          <a:solidFill>
                            <a:srgbClr val="FFFFFF"/>
                          </a:solidFill>
                          <a:latin typeface="Arial"/>
                        </a:rPr>
                        <a:t>Run km</a:t>
                      </a:r>
                    </a:p>
                  </a:txBody>
                  <a:tcPr>
                    <a:solidFill>
                      <a:srgbClr val="002060"/>
                    </a:solidFill>
                  </a:tcPr>
                </a:tc>
                <a:extLst>
                  <a:ext uri="{0D108BD9-81ED-4DB2-BD59-A6C34878D82A}">
                    <a16:rowId xmlns:a16="http://schemas.microsoft.com/office/drawing/2014/main" val="10000"/>
                  </a:ext>
                </a:extLst>
              </a:tr>
              <a:tr h="512064">
                <a:tc>
                  <a:txBody>
                    <a:bodyPr/>
                    <a:lstStyle/>
                    <a:p>
                      <a:pPr algn="ctr"/>
                      <a:r>
                        <a:rPr sz="1400" b="0" i="0">
                          <a:solidFill>
                            <a:srgbClr val="262626"/>
                          </a:solidFill>
                          <a:latin typeface="Arial"/>
                        </a:rPr>
                        <a:t>2018</a:t>
                      </a:r>
                    </a:p>
                  </a:txBody>
                  <a:tcPr>
                    <a:solidFill>
                      <a:srgbClr val="FFFFFF"/>
                    </a:solidFill>
                  </a:tcPr>
                </a:tc>
                <a:tc>
                  <a:txBody>
                    <a:bodyPr/>
                    <a:lstStyle/>
                    <a:p>
                      <a:pPr algn="ctr"/>
                      <a:r>
                        <a:rPr sz="1400" b="0" i="0">
                          <a:solidFill>
                            <a:srgbClr val="262626"/>
                          </a:solidFill>
                          <a:latin typeface="Arial"/>
                        </a:rPr>
                        <a:t>Sep 22</a:t>
                      </a:r>
                    </a:p>
                  </a:txBody>
                  <a:tcPr>
                    <a:solidFill>
                      <a:srgbClr val="FFFFFF"/>
                    </a:solidFill>
                  </a:tcPr>
                </a:tc>
                <a:tc>
                  <a:txBody>
                    <a:bodyPr/>
                    <a:lstStyle/>
                    <a:p>
                      <a:pPr algn="l"/>
                      <a:r>
                        <a:rPr sz="1200" b="0" i="0">
                          <a:solidFill>
                            <a:srgbClr val="262626"/>
                          </a:solidFill>
                          <a:latin typeface="Arial"/>
                        </a:rPr>
                        <a:t>World Cup</a:t>
                      </a:r>
                    </a:p>
                  </a:txBody>
                  <a:tcPr>
                    <a:solidFill>
                      <a:srgbClr val="FFFFFF"/>
                    </a:solidFill>
                  </a:tcPr>
                </a:tc>
                <a:tc>
                  <a:txBody>
                    <a:bodyPr/>
                    <a:lstStyle/>
                    <a:p>
                      <a:pPr algn="ctr"/>
                      <a:r>
                        <a:rPr sz="1400" b="0" i="0">
                          <a:solidFill>
                            <a:srgbClr val="262626"/>
                          </a:solidFill>
                          <a:latin typeface="Arial"/>
                        </a:rPr>
                        <a:t>57</a:t>
                      </a:r>
                    </a:p>
                  </a:txBody>
                  <a:tcPr>
                    <a:solidFill>
                      <a:srgbClr val="FFFFFF"/>
                    </a:solidFill>
                  </a:tcPr>
                </a:tc>
                <a:tc>
                  <a:txBody>
                    <a:bodyPr/>
                    <a:lstStyle/>
                    <a:p>
                      <a:pPr algn="ctr"/>
                      <a:r>
                        <a:rPr sz="1400" b="0" i="0">
                          <a:solidFill>
                            <a:srgbClr val="262626"/>
                          </a:solidFill>
                          <a:latin typeface="Arial"/>
                        </a:rPr>
                        <a:t>13</a:t>
                      </a:r>
                    </a:p>
                  </a:txBody>
                  <a:tcPr>
                    <a:solidFill>
                      <a:srgbClr val="FFFFFF"/>
                    </a:solidFill>
                  </a:tcPr>
                </a:tc>
                <a:tc>
                  <a:txBody>
                    <a:bodyPr/>
                    <a:lstStyle/>
                    <a:p>
                      <a:pPr algn="l"/>
                      <a:r>
                        <a:rPr sz="1400" b="0" i="0">
                          <a:solidFill>
                            <a:srgbClr val="262626"/>
                          </a:solidFill>
                          <a:latin typeface="Arial"/>
                        </a:rPr>
                        <a:t>Iden</a:t>
                      </a:r>
                    </a:p>
                  </a:txBody>
                  <a:tcPr>
                    <a:solidFill>
                      <a:srgbClr val="FFFFFF"/>
                    </a:solidFill>
                  </a:tcPr>
                </a:tc>
                <a:tc>
                  <a:txBody>
                    <a:bodyPr/>
                    <a:lstStyle/>
                    <a:p>
                      <a:pPr algn="ctr"/>
                      <a:r>
                        <a:rPr sz="1400" b="0" i="0">
                          <a:solidFill>
                            <a:srgbClr val="262626"/>
                          </a:solidFill>
                          <a:latin typeface="Arial"/>
                        </a:rPr>
                        <a:t>1:53:11</a:t>
                      </a:r>
                    </a:p>
                  </a:txBody>
                  <a:tcPr>
                    <a:solidFill>
                      <a:srgbClr val="FFFFFF"/>
                    </a:solidFill>
                  </a:tcPr>
                </a:tc>
                <a:tc>
                  <a:txBody>
                    <a:bodyPr/>
                    <a:lstStyle/>
                    <a:p>
                      <a:pPr algn="ctr"/>
                      <a:r>
                        <a:rPr sz="1400" b="0" i="0">
                          <a:solidFill>
                            <a:srgbClr val="262626"/>
                          </a:solidFill>
                          <a:latin typeface="Arial"/>
                        </a:rPr>
                        <a:t>23.5°*</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512064">
                <a:tc>
                  <a:txBody>
                    <a:bodyPr/>
                    <a:lstStyle/>
                    <a:p>
                      <a:pPr algn="ctr"/>
                      <a:r>
                        <a:rPr sz="1400" b="0" i="0">
                          <a:solidFill>
                            <a:srgbClr val="262626"/>
                          </a:solidFill>
                          <a:latin typeface="Arial"/>
                        </a:rPr>
                        <a:t>2019</a:t>
                      </a:r>
                    </a:p>
                  </a:txBody>
                  <a:tcPr>
                    <a:solidFill>
                      <a:srgbClr val="F2F2F2"/>
                    </a:solidFill>
                  </a:tcPr>
                </a:tc>
                <a:tc>
                  <a:txBody>
                    <a:bodyPr/>
                    <a:lstStyle/>
                    <a:p>
                      <a:pPr algn="ctr"/>
                      <a:r>
                        <a:rPr sz="1400" b="0" i="0">
                          <a:solidFill>
                            <a:srgbClr val="262626"/>
                          </a:solidFill>
                          <a:latin typeface="Arial"/>
                        </a:rPr>
                        <a:t>Sep 21</a:t>
                      </a:r>
                    </a:p>
                  </a:txBody>
                  <a:tcPr>
                    <a:solidFill>
                      <a:srgbClr val="F2F2F2"/>
                    </a:solidFill>
                  </a:tcPr>
                </a:tc>
                <a:tc>
                  <a:txBody>
                    <a:bodyPr/>
                    <a:lstStyle/>
                    <a:p>
                      <a:pPr algn="l"/>
                      <a:r>
                        <a:rPr sz="1200" b="0" i="0">
                          <a:solidFill>
                            <a:srgbClr val="262626"/>
                          </a:solidFill>
                          <a:latin typeface="Arial"/>
                        </a:rPr>
                        <a:t>World Cup</a:t>
                      </a:r>
                    </a:p>
                  </a:txBody>
                  <a:tcPr>
                    <a:solidFill>
                      <a:srgbClr val="F2F2F2"/>
                    </a:solidFill>
                  </a:tcPr>
                </a:tc>
                <a:tc>
                  <a:txBody>
                    <a:bodyPr/>
                    <a:lstStyle/>
                    <a:p>
                      <a:pPr algn="ctr"/>
                      <a:r>
                        <a:rPr sz="1400" b="0" i="0">
                          <a:solidFill>
                            <a:srgbClr val="262626"/>
                          </a:solidFill>
                          <a:latin typeface="Arial"/>
                        </a:rPr>
                        <a:t>48</a:t>
                      </a:r>
                    </a:p>
                  </a:txBody>
                  <a:tcPr>
                    <a:solidFill>
                      <a:srgbClr val="F2F2F2"/>
                    </a:solidFill>
                  </a:tcPr>
                </a:tc>
                <a:tc>
                  <a:txBody>
                    <a:bodyPr/>
                    <a:lstStyle/>
                    <a:p>
                      <a:pPr algn="ctr"/>
                      <a:r>
                        <a:rPr sz="1400" b="0" i="0">
                          <a:solidFill>
                            <a:srgbClr val="262626"/>
                          </a:solidFill>
                          <a:latin typeface="Arial"/>
                        </a:rPr>
                        <a:t>9</a:t>
                      </a:r>
                    </a:p>
                  </a:txBody>
                  <a:tcPr>
                    <a:solidFill>
                      <a:srgbClr val="F2F2F2"/>
                    </a:solidFill>
                  </a:tcPr>
                </a:tc>
                <a:tc>
                  <a:txBody>
                    <a:bodyPr/>
                    <a:lstStyle/>
                    <a:p>
                      <a:pPr algn="l"/>
                      <a:r>
                        <a:rPr sz="1400" b="0" i="0">
                          <a:solidFill>
                            <a:srgbClr val="262626"/>
                          </a:solidFill>
                          <a:latin typeface="Arial"/>
                        </a:rPr>
                        <a:t>Silva</a:t>
                      </a:r>
                    </a:p>
                  </a:txBody>
                  <a:tcPr>
                    <a:solidFill>
                      <a:srgbClr val="F2F2F2"/>
                    </a:solidFill>
                  </a:tcPr>
                </a:tc>
                <a:tc>
                  <a:txBody>
                    <a:bodyPr/>
                    <a:lstStyle/>
                    <a:p>
                      <a:pPr algn="ctr"/>
                      <a:r>
                        <a:rPr sz="1400" b="0" i="0">
                          <a:solidFill>
                            <a:srgbClr val="262626"/>
                          </a:solidFill>
                          <a:latin typeface="Arial"/>
                        </a:rPr>
                        <a:t>1:54:47</a:t>
                      </a:r>
                    </a:p>
                  </a:txBody>
                  <a:tcPr>
                    <a:solidFill>
                      <a:srgbClr val="F2F2F2"/>
                    </a:solidFill>
                  </a:tcPr>
                </a:tc>
                <a:tc>
                  <a:txBody>
                    <a:bodyPr/>
                    <a:lstStyle/>
                    <a:p>
                      <a:pPr algn="ctr"/>
                      <a:r>
                        <a:rPr sz="1400" b="0" i="0">
                          <a:solidFill>
                            <a:srgbClr val="262626"/>
                          </a:solidFill>
                          <a:latin typeface="Arial"/>
                        </a:rPr>
                        <a:t>23.3°*</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512064">
                <a:tc>
                  <a:txBody>
                    <a:bodyPr/>
                    <a:lstStyle/>
                    <a:p>
                      <a:pPr algn="ctr"/>
                      <a:r>
                        <a:rPr sz="1400" b="0" i="0">
                          <a:solidFill>
                            <a:srgbClr val="262626"/>
                          </a:solidFill>
                          <a:latin typeface="Arial"/>
                        </a:rPr>
                        <a:t>2023</a:t>
                      </a:r>
                    </a:p>
                  </a:txBody>
                  <a:tcPr>
                    <a:solidFill>
                      <a:srgbClr val="FFFFFF"/>
                    </a:solidFill>
                  </a:tcPr>
                </a:tc>
                <a:tc>
                  <a:txBody>
                    <a:bodyPr/>
                    <a:lstStyle/>
                    <a:p>
                      <a:pPr algn="ctr"/>
                      <a:r>
                        <a:rPr sz="1400" b="0" i="0">
                          <a:solidFill>
                            <a:srgbClr val="262626"/>
                          </a:solidFill>
                          <a:latin typeface="Arial"/>
                        </a:rPr>
                        <a:t>Aug 26</a:t>
                      </a:r>
                    </a:p>
                  </a:txBody>
                  <a:tcPr>
                    <a:solidFill>
                      <a:srgbClr val="FFFFFF"/>
                    </a:solidFill>
                  </a:tcPr>
                </a:tc>
                <a:tc>
                  <a:txBody>
                    <a:bodyPr/>
                    <a:lstStyle/>
                    <a:p>
                      <a:pPr algn="l"/>
                      <a:r>
                        <a:rPr sz="1200" b="0" i="0">
                          <a:solidFill>
                            <a:srgbClr val="262626"/>
                          </a:solidFill>
                          <a:latin typeface="Arial"/>
                        </a:rPr>
                        <a:t>World Cup *</a:t>
                      </a:r>
                    </a:p>
                  </a:txBody>
                  <a:tcPr>
                    <a:solidFill>
                      <a:srgbClr val="FFFFFF"/>
                    </a:solidFill>
                  </a:tcPr>
                </a:tc>
                <a:tc>
                  <a:txBody>
                    <a:bodyPr/>
                    <a:lstStyle/>
                    <a:p>
                      <a:pPr algn="ctr"/>
                      <a:r>
                        <a:rPr sz="1400" b="0" i="0">
                          <a:solidFill>
                            <a:srgbClr val="262626"/>
                          </a:solidFill>
                          <a:latin typeface="Arial"/>
                        </a:rPr>
                        <a:t>45</a:t>
                      </a:r>
                    </a:p>
                  </a:txBody>
                  <a:tcPr>
                    <a:solidFill>
                      <a:srgbClr val="FFFFFF"/>
                    </a:solidFill>
                  </a:tcPr>
                </a:tc>
                <a:tc>
                  <a:txBody>
                    <a:bodyPr/>
                    <a:lstStyle/>
                    <a:p>
                      <a:pPr algn="ctr"/>
                      <a:r>
                        <a:rPr sz="1400" b="0" i="0">
                          <a:solidFill>
                            <a:srgbClr val="262626"/>
                          </a:solidFill>
                          <a:latin typeface="Arial"/>
                        </a:rPr>
                        <a:t>11</a:t>
                      </a:r>
                    </a:p>
                  </a:txBody>
                  <a:tcPr>
                    <a:solidFill>
                      <a:srgbClr val="FFFFFF"/>
                    </a:solidFill>
                  </a:tcPr>
                </a:tc>
                <a:tc>
                  <a:txBody>
                    <a:bodyPr/>
                    <a:lstStyle/>
                    <a:p>
                      <a:pPr algn="l"/>
                      <a:r>
                        <a:rPr sz="1400" b="0" i="0">
                          <a:solidFill>
                            <a:srgbClr val="262626"/>
                          </a:solidFill>
                          <a:latin typeface="Arial"/>
                        </a:rPr>
                        <a:t>Valencia</a:t>
                      </a:r>
                    </a:p>
                  </a:txBody>
                  <a:tcPr>
                    <a:solidFill>
                      <a:srgbClr val="FFFFFF"/>
                    </a:solidFill>
                  </a:tcPr>
                </a:tc>
                <a:tc>
                  <a:txBody>
                    <a:bodyPr/>
                    <a:lstStyle/>
                    <a:p>
                      <a:pPr algn="ctr"/>
                      <a:r>
                        <a:rPr sz="1400" b="0" i="0">
                          <a:solidFill>
                            <a:srgbClr val="262626"/>
                          </a:solidFill>
                          <a:latin typeface="Arial"/>
                        </a:rPr>
                        <a:t>1:46:35</a:t>
                      </a:r>
                    </a:p>
                  </a:txBody>
                  <a:tcPr>
                    <a:solidFill>
                      <a:srgbClr val="FFFFFF"/>
                    </a:solidFill>
                  </a:tcPr>
                </a:tc>
                <a:tc>
                  <a:txBody>
                    <a:bodyPr/>
                    <a:lstStyle/>
                    <a:p>
                      <a:pPr algn="ctr"/>
                      <a:r>
                        <a:rPr sz="1400" b="0" i="0">
                          <a:solidFill>
                            <a:srgbClr val="262626"/>
                          </a:solidFill>
                          <a:latin typeface="Arial"/>
                        </a:rPr>
                        <a:t>27.2</a:t>
                      </a:r>
                    </a:p>
                  </a:txBody>
                  <a:tcPr>
                    <a:solidFill>
                      <a:srgbClr val="FFFFFF"/>
                    </a:solidFill>
                  </a:tcPr>
                </a:tc>
                <a:tc>
                  <a:txBody>
                    <a:bodyPr/>
                    <a:lstStyle/>
                    <a:p>
                      <a:pPr algn="ctr"/>
                      <a:r>
                        <a:rPr sz="1400" b="0" i="0">
                          <a:solidFill>
                            <a:srgbClr val="262626"/>
                          </a:solidFill>
                          <a:latin typeface="Arial"/>
                        </a:rPr>
                        <a:t>25.8</a:t>
                      </a:r>
                    </a:p>
                  </a:txBody>
                  <a:tcPr>
                    <a:solidFill>
                      <a:srgbClr val="FFFFFF"/>
                    </a:solidFill>
                  </a:tcPr>
                </a:tc>
                <a:tc>
                  <a:txBody>
                    <a:bodyPr/>
                    <a:lstStyle/>
                    <a:p>
                      <a:pPr algn="ctr"/>
                      <a:r>
                        <a:rPr sz="1400" b="0" i="0">
                          <a:solidFill>
                            <a:srgbClr val="262626"/>
                          </a:solidFill>
                          <a:latin typeface="Arial"/>
                        </a:rPr>
                        <a:t>1.50</a:t>
                      </a:r>
                    </a:p>
                  </a:txBody>
                  <a:tcPr>
                    <a:solidFill>
                      <a:srgbClr val="FFFFFF"/>
                    </a:solidFill>
                  </a:tcPr>
                </a:tc>
                <a:tc>
                  <a:txBody>
                    <a:bodyPr/>
                    <a:lstStyle/>
                    <a:p>
                      <a:pPr algn="ctr"/>
                      <a:r>
                        <a:rPr sz="1400" b="0" i="0">
                          <a:solidFill>
                            <a:srgbClr val="262626"/>
                          </a:solidFill>
                          <a:latin typeface="Arial"/>
                        </a:rPr>
                        <a:t>38.4</a:t>
                      </a:r>
                    </a:p>
                  </a:txBody>
                  <a:tcPr>
                    <a:solidFill>
                      <a:srgbClr val="FFFFFF"/>
                    </a:solidFill>
                  </a:tcPr>
                </a:tc>
                <a:tc>
                  <a:txBody>
                    <a:bodyPr/>
                    <a:lstStyle/>
                    <a:p>
                      <a:pPr algn="ctr"/>
                      <a:r>
                        <a:rPr sz="1400" b="0" i="0">
                          <a:solidFill>
                            <a:srgbClr val="262626"/>
                          </a:solidFill>
                          <a:latin typeface="Arial"/>
                        </a:rPr>
                        <a:t>10.0</a:t>
                      </a:r>
                    </a:p>
                  </a:txBody>
                  <a:tcPr>
                    <a:solidFill>
                      <a:srgbClr val="FFFFFF"/>
                    </a:solidFill>
                  </a:tcPr>
                </a:tc>
                <a:extLst>
                  <a:ext uri="{0D108BD9-81ED-4DB2-BD59-A6C34878D82A}">
                    <a16:rowId xmlns:a16="http://schemas.microsoft.com/office/drawing/2014/main" val="10003"/>
                  </a:ext>
                </a:extLst>
              </a:tr>
              <a:tr h="512064">
                <a:tc>
                  <a:txBody>
                    <a:bodyPr/>
                    <a:lstStyle/>
                    <a:p>
                      <a:pPr algn="ctr"/>
                      <a:r>
                        <a:rPr sz="1400" b="0" i="0">
                          <a:solidFill>
                            <a:srgbClr val="262626"/>
                          </a:solidFill>
                          <a:latin typeface="Arial"/>
                        </a:rPr>
                        <a:t>2024</a:t>
                      </a:r>
                    </a:p>
                  </a:txBody>
                  <a:tcPr>
                    <a:solidFill>
                      <a:srgbClr val="F2F2F2"/>
                    </a:solidFill>
                  </a:tcPr>
                </a:tc>
                <a:tc>
                  <a:txBody>
                    <a:bodyPr/>
                    <a:lstStyle/>
                    <a:p>
                      <a:pPr algn="ctr"/>
                      <a:r>
                        <a:rPr sz="1400" b="0" i="0">
                          <a:solidFill>
                            <a:srgbClr val="262626"/>
                          </a:solidFill>
                          <a:latin typeface="Arial"/>
                        </a:rPr>
                        <a:t>Sep 27</a:t>
                      </a:r>
                    </a:p>
                  </a:txBody>
                  <a:tcPr>
                    <a:solidFill>
                      <a:srgbClr val="F2F2F2"/>
                    </a:solidFill>
                  </a:tcPr>
                </a:tc>
                <a:tc>
                  <a:txBody>
                    <a:bodyPr/>
                    <a:lstStyle/>
                    <a:p>
                      <a:pPr algn="l"/>
                      <a:r>
                        <a:rPr sz="1200" b="0" i="0">
                          <a:solidFill>
                            <a:srgbClr val="262626"/>
                          </a:solidFill>
                          <a:latin typeface="Arial"/>
                        </a:rPr>
                        <a:t>World Championship Series *</a:t>
                      </a:r>
                    </a:p>
                  </a:txBody>
                  <a:tcPr>
                    <a:solidFill>
                      <a:srgbClr val="F2F2F2"/>
                    </a:solidFill>
                  </a:tcPr>
                </a:tc>
                <a:tc>
                  <a:txBody>
                    <a:bodyPr/>
                    <a:lstStyle/>
                    <a:p>
                      <a:pPr algn="ctr"/>
                      <a:r>
                        <a:rPr sz="1400" b="0" i="0">
                          <a:solidFill>
                            <a:srgbClr val="262626"/>
                          </a:solidFill>
                          <a:latin typeface="Arial"/>
                        </a:rPr>
                        <a:t>42</a:t>
                      </a:r>
                    </a:p>
                  </a:txBody>
                  <a:tcPr>
                    <a:solidFill>
                      <a:srgbClr val="F2F2F2"/>
                    </a:solidFill>
                  </a:tcPr>
                </a:tc>
                <a:tc>
                  <a:txBody>
                    <a:bodyPr/>
                    <a:lstStyle/>
                    <a:p>
                      <a:pPr algn="ctr"/>
                      <a:r>
                        <a:rPr sz="1400" b="0" i="0">
                          <a:solidFill>
                            <a:srgbClr val="262626"/>
                          </a:solidFill>
                          <a:latin typeface="Arial"/>
                        </a:rPr>
                        <a:t>7</a:t>
                      </a:r>
                    </a:p>
                  </a:txBody>
                  <a:tcPr>
                    <a:solidFill>
                      <a:srgbClr val="F2F2F2"/>
                    </a:solidFill>
                  </a:tcPr>
                </a:tc>
                <a:tc>
                  <a:txBody>
                    <a:bodyPr/>
                    <a:lstStyle/>
                    <a:p>
                      <a:pPr algn="l"/>
                      <a:r>
                        <a:rPr sz="1400" b="0" i="0">
                          <a:solidFill>
                            <a:srgbClr val="262626"/>
                          </a:solidFill>
                          <a:latin typeface="Arial"/>
                        </a:rPr>
                        <a:t>Yee</a:t>
                      </a:r>
                    </a:p>
                  </a:txBody>
                  <a:tcPr>
                    <a:solidFill>
                      <a:srgbClr val="F2F2F2"/>
                    </a:solidFill>
                  </a:tcPr>
                </a:tc>
                <a:tc>
                  <a:txBody>
                    <a:bodyPr/>
                    <a:lstStyle/>
                    <a:p>
                      <a:pPr algn="ctr"/>
                      <a:r>
                        <a:rPr sz="1400" b="0" i="0">
                          <a:solidFill>
                            <a:srgbClr val="262626"/>
                          </a:solidFill>
                          <a:latin typeface="Arial"/>
                        </a:rPr>
                        <a:t>1:48:21</a:t>
                      </a:r>
                    </a:p>
                  </a:txBody>
                  <a:tcPr>
                    <a:solidFill>
                      <a:srgbClr val="F2F2F2"/>
                    </a:solidFill>
                  </a:tcPr>
                </a:tc>
                <a:tc>
                  <a:txBody>
                    <a:bodyPr/>
                    <a:lstStyle/>
                    <a:p>
                      <a:pPr algn="ctr"/>
                      <a:r>
                        <a:rPr sz="1400" b="0" i="0">
                          <a:solidFill>
                            <a:srgbClr val="262626"/>
                          </a:solidFill>
                          <a:latin typeface="Arial"/>
                        </a:rPr>
                        <a:t>24.1</a:t>
                      </a:r>
                    </a:p>
                  </a:txBody>
                  <a:tcPr>
                    <a:solidFill>
                      <a:srgbClr val="F2F2F2"/>
                    </a:solidFill>
                  </a:tcPr>
                </a:tc>
                <a:tc>
                  <a:txBody>
                    <a:bodyPr/>
                    <a:lstStyle/>
                    <a:p>
                      <a:pPr algn="ctr"/>
                      <a:r>
                        <a:rPr sz="1400" b="0" i="0">
                          <a:solidFill>
                            <a:srgbClr val="262626"/>
                          </a:solidFill>
                          <a:latin typeface="Arial"/>
                        </a:rPr>
                        <a:t>24.4</a:t>
                      </a:r>
                    </a:p>
                  </a:txBody>
                  <a:tcPr>
                    <a:solidFill>
                      <a:srgbClr val="F2F2F2"/>
                    </a:solidFill>
                  </a:tcPr>
                </a:tc>
                <a:tc>
                  <a:txBody>
                    <a:bodyPr/>
                    <a:lstStyle/>
                    <a:p>
                      <a:pPr algn="ctr"/>
                      <a:r>
                        <a:rPr sz="1400" b="0" i="0">
                          <a:solidFill>
                            <a:srgbClr val="262626"/>
                          </a:solidFill>
                          <a:latin typeface="Arial"/>
                        </a:rPr>
                        <a:t>1.50</a:t>
                      </a:r>
                    </a:p>
                  </a:txBody>
                  <a:tcPr>
                    <a:solidFill>
                      <a:srgbClr val="F2F2F2"/>
                    </a:solidFill>
                  </a:tcPr>
                </a:tc>
                <a:tc>
                  <a:txBody>
                    <a:bodyPr/>
                    <a:lstStyle/>
                    <a:p>
                      <a:pPr algn="ctr"/>
                      <a:r>
                        <a:rPr sz="1400" b="0" i="0">
                          <a:solidFill>
                            <a:srgbClr val="262626"/>
                          </a:solidFill>
                          <a:latin typeface="Arial"/>
                        </a:rPr>
                        <a:t>40.0</a:t>
                      </a:r>
                    </a:p>
                  </a:txBody>
                  <a:tcPr>
                    <a:solidFill>
                      <a:srgbClr val="F2F2F2"/>
                    </a:solidFill>
                  </a:tcPr>
                </a:tc>
                <a:tc>
                  <a:txBody>
                    <a:bodyPr/>
                    <a:lstStyle/>
                    <a:p>
                      <a:pPr algn="ctr"/>
                      <a:r>
                        <a:rPr sz="1400" b="0" i="0">
                          <a:solidFill>
                            <a:srgbClr val="262626"/>
                          </a:solidFill>
                          <a:latin typeface="Arial"/>
                        </a:rPr>
                        <a:t>10.0</a:t>
                      </a:r>
                    </a:p>
                  </a:txBody>
                  <a:tcPr>
                    <a:solidFill>
                      <a:srgbClr val="F2F2F2"/>
                    </a:solidFill>
                  </a:tcPr>
                </a:tc>
                <a:extLst>
                  <a:ext uri="{0D108BD9-81ED-4DB2-BD59-A6C34878D82A}">
                    <a16:rowId xmlns:a16="http://schemas.microsoft.com/office/drawing/2014/main" val="10004"/>
                  </a:ext>
                </a:extLst>
              </a:tr>
              <a:tr h="512064">
                <a:tc>
                  <a:txBody>
                    <a:bodyPr/>
                    <a:lstStyle/>
                    <a:p>
                      <a:pPr algn="ctr"/>
                      <a:r>
                        <a:rPr sz="1400" b="0" i="0">
                          <a:solidFill>
                            <a:srgbClr val="262626"/>
                          </a:solidFill>
                          <a:latin typeface="Arial"/>
                        </a:rPr>
                        <a:t>2025</a:t>
                      </a:r>
                    </a:p>
                  </a:txBody>
                  <a:tcPr>
                    <a:solidFill>
                      <a:srgbClr val="FFFFFF"/>
                    </a:solidFill>
                  </a:tcPr>
                </a:tc>
                <a:tc>
                  <a:txBody>
                    <a:bodyPr/>
                    <a:lstStyle/>
                    <a:p>
                      <a:pPr algn="ctr"/>
                      <a:r>
                        <a:rPr sz="1400" b="0" i="0">
                          <a:solidFill>
                            <a:srgbClr val="262626"/>
                          </a:solidFill>
                          <a:latin typeface="Arial"/>
                        </a:rPr>
                        <a:t>Sep 26</a:t>
                      </a:r>
                    </a:p>
                  </a:txBody>
                  <a:tcPr>
                    <a:solidFill>
                      <a:srgbClr val="FFFFFF"/>
                    </a:solidFill>
                  </a:tcPr>
                </a:tc>
                <a:tc>
                  <a:txBody>
                    <a:bodyPr/>
                    <a:lstStyle/>
                    <a:p>
                      <a:pPr algn="l"/>
                      <a:r>
                        <a:rPr sz="1200" b="0" i="0">
                          <a:solidFill>
                            <a:srgbClr val="262626"/>
                          </a:solidFill>
                          <a:latin typeface="Arial"/>
                        </a:rPr>
                        <a:t>World Championship Series *</a:t>
                      </a:r>
                    </a:p>
                  </a:txBody>
                  <a:tcPr>
                    <a:solidFill>
                      <a:srgbClr val="FFFFFF"/>
                    </a:solidFill>
                  </a:tcPr>
                </a:tc>
                <a:tc>
                  <a:txBody>
                    <a:bodyPr/>
                    <a:lstStyle/>
                    <a:p>
                      <a:pPr algn="ctr"/>
                      <a:r>
                        <a:rPr sz="1400" b="0" i="0">
                          <a:solidFill>
                            <a:srgbClr val="262626"/>
                          </a:solidFill>
                          <a:latin typeface="Arial"/>
                        </a:rPr>
                        <a:t>37</a:t>
                      </a:r>
                    </a:p>
                  </a:txBody>
                  <a:tcPr>
                    <a:solidFill>
                      <a:srgbClr val="FFFFFF"/>
                    </a:solidFill>
                  </a:tcPr>
                </a:tc>
                <a:tc>
                  <a:txBody>
                    <a:bodyPr/>
                    <a:lstStyle/>
                    <a:p>
                      <a:pPr algn="ctr"/>
                      <a:r>
                        <a:rPr sz="1400" b="0" i="0">
                          <a:solidFill>
                            <a:srgbClr val="262626"/>
                          </a:solidFill>
                          <a:latin typeface="Arial"/>
                        </a:rPr>
                        <a:t>2</a:t>
                      </a:r>
                    </a:p>
                  </a:txBody>
                  <a:tcPr>
                    <a:solidFill>
                      <a:srgbClr val="FFFFFF"/>
                    </a:solidFill>
                  </a:tcPr>
                </a:tc>
                <a:tc>
                  <a:txBody>
                    <a:bodyPr/>
                    <a:lstStyle/>
                    <a:p>
                      <a:pPr algn="l"/>
                      <a:r>
                        <a:rPr sz="1400" b="0" i="0">
                          <a:solidFill>
                            <a:srgbClr val="262626"/>
                          </a:solidFill>
                          <a:latin typeface="Arial"/>
                        </a:rPr>
                        <a:t>Studer</a:t>
                      </a:r>
                    </a:p>
                  </a:txBody>
                  <a:tcPr>
                    <a:solidFill>
                      <a:srgbClr val="FFFFFF"/>
                    </a:solidFill>
                  </a:tcPr>
                </a:tc>
                <a:tc>
                  <a:txBody>
                    <a:bodyPr/>
                    <a:lstStyle/>
                    <a:p>
                      <a:pPr algn="ctr"/>
                      <a:r>
                        <a:rPr sz="1400" b="0" i="0">
                          <a:solidFill>
                            <a:srgbClr val="262626"/>
                          </a:solidFill>
                          <a:latin typeface="Arial"/>
                        </a:rPr>
                        <a:t>1:40:03</a:t>
                      </a:r>
                    </a:p>
                  </a:txBody>
                  <a:tcPr>
                    <a:solidFill>
                      <a:srgbClr val="FFFFFF"/>
                    </a:solidFill>
                  </a:tcPr>
                </a:tc>
                <a:tc>
                  <a:txBody>
                    <a:bodyPr/>
                    <a:lstStyle/>
                    <a:p>
                      <a:pPr algn="ctr"/>
                      <a:r>
                        <a:rPr sz="1400" b="0" i="0">
                          <a:solidFill>
                            <a:srgbClr val="262626"/>
                          </a:solidFill>
                          <a:latin typeface="Arial"/>
                        </a:rPr>
                        <a:t>24.9</a:t>
                      </a:r>
                    </a:p>
                  </a:txBody>
                  <a:tcPr>
                    <a:solidFill>
                      <a:srgbClr val="FFFFFF"/>
                    </a:solidFill>
                  </a:tcPr>
                </a:tc>
                <a:tc>
                  <a:txBody>
                    <a:bodyPr/>
                    <a:lstStyle/>
                    <a:p>
                      <a:pPr algn="ctr"/>
                      <a:r>
                        <a:rPr sz="1400" b="0" i="0">
                          <a:solidFill>
                            <a:srgbClr val="262626"/>
                          </a:solidFill>
                          <a:latin typeface="Arial"/>
                        </a:rPr>
                        <a:t>24.2</a:t>
                      </a:r>
                    </a:p>
                  </a:txBody>
                  <a:tcPr>
                    <a:solidFill>
                      <a:srgbClr val="FFFFFF"/>
                    </a:solidFill>
                  </a:tcPr>
                </a:tc>
                <a:tc>
                  <a:txBody>
                    <a:bodyPr/>
                    <a:lstStyle/>
                    <a:p>
                      <a:pPr algn="ctr"/>
                      <a:r>
                        <a:rPr sz="1400" b="0" i="0">
                          <a:solidFill>
                            <a:srgbClr val="262626"/>
                          </a:solidFill>
                          <a:latin typeface="Arial"/>
                        </a:rPr>
                        <a:t>1.50</a:t>
                      </a:r>
                    </a:p>
                  </a:txBody>
                  <a:tcPr>
                    <a:solidFill>
                      <a:srgbClr val="FFFFFF"/>
                    </a:solidFill>
                  </a:tcPr>
                </a:tc>
                <a:tc>
                  <a:txBody>
                    <a:bodyPr/>
                    <a:lstStyle/>
                    <a:p>
                      <a:pPr algn="ctr"/>
                      <a:r>
                        <a:rPr sz="1400" b="0" i="0">
                          <a:solidFill>
                            <a:srgbClr val="262626"/>
                          </a:solidFill>
                          <a:latin typeface="Arial"/>
                        </a:rPr>
                        <a:t>38.0</a:t>
                      </a:r>
                    </a:p>
                  </a:txBody>
                  <a:tcPr>
                    <a:solidFill>
                      <a:srgbClr val="FFFFFF"/>
                    </a:solidFill>
                  </a:tcPr>
                </a:tc>
                <a:tc>
                  <a:txBody>
                    <a:bodyPr/>
                    <a:lstStyle/>
                    <a:p>
                      <a:pPr algn="ctr"/>
                      <a:r>
                        <a:rPr sz="1400" b="0" i="0">
                          <a:solidFill>
                            <a:srgbClr val="262626"/>
                          </a:solidFill>
                          <a:latin typeface="Arial"/>
                        </a:rPr>
                        <a:t>10.0</a:t>
                      </a:r>
                    </a:p>
                  </a:txBody>
                  <a:tcP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274320" y="6492240"/>
            <a:ext cx="5486400" cy="256032"/>
          </a:xfrm>
          <a:prstGeom prst="rect">
            <a:avLst/>
          </a:prstGeom>
          <a:noFill/>
        </p:spPr>
        <p:txBody>
          <a:bodyPr wrap="square">
            <a:spAutoFit/>
          </a:bodyPr>
          <a:lstStyle/>
          <a:p>
            <a:pPr algn="l"/>
            <a:r>
              <a:rPr sz="800" b="0" i="1">
                <a:solidFill>
                  <a:srgbClr val="BFBFBF"/>
                </a:solidFill>
                <a:latin typeface="Arial"/>
              </a:rPr>
              <a:t>* Course distance changed vs. prior year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78992"/>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3"/>
          <a:stretch>
            <a:fillRect/>
          </a:stretch>
        </p:blipFill>
        <p:spPr>
          <a:xfrm>
            <a:off x="611627" y="1319669"/>
            <a:ext cx="10965699" cy="3531763"/>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1891370440"/>
              </p:ext>
            </p:extLst>
          </p:nvPr>
        </p:nvGraphicFramePr>
        <p:xfrm>
          <a:off x="274320" y="4899915"/>
          <a:ext cx="11640311" cy="142494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3822191">
                  <a:extLst>
                    <a:ext uri="{9D8B030D-6E8A-4147-A177-3AD203B41FA5}">
                      <a16:colId xmlns:a16="http://schemas.microsoft.com/office/drawing/2014/main" val="20005"/>
                    </a:ext>
                  </a:extLst>
                </a:gridCol>
              </a:tblGrid>
              <a:tr h="236220">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Lead Size @ T1</a:t>
                      </a:r>
                    </a:p>
                  </a:txBody>
                  <a:tcPr>
                    <a:solidFill>
                      <a:srgbClr val="002060"/>
                    </a:solidFill>
                  </a:tcPr>
                </a:tc>
                <a:tc>
                  <a:txBody>
                    <a:bodyPr/>
                    <a:lstStyle/>
                    <a:p>
                      <a:pPr algn="ctr"/>
                      <a:r>
                        <a:rPr sz="1000" b="1" i="0">
                          <a:solidFill>
                            <a:srgbClr val="FFFFFF"/>
                          </a:solidFill>
                          <a:latin typeface="Arial"/>
                        </a:rPr>
                        <a:t>Lead Size @ T2</a:t>
                      </a:r>
                    </a:p>
                  </a:txBody>
                  <a:tcPr>
                    <a:solidFill>
                      <a:srgbClr val="002060"/>
                    </a:solidFill>
                  </a:tcPr>
                </a:tc>
                <a:tc>
                  <a:txBody>
                    <a:bodyPr/>
                    <a:lstStyle/>
                    <a:p>
                      <a:pPr algn="ctr"/>
                      <a:r>
                        <a:rPr sz="1000" b="1" i="0">
                          <a:solidFill>
                            <a:srgbClr val="FFFFFF"/>
                          </a:solidFill>
                          <a:latin typeface="Arial"/>
                        </a:rPr>
                        <a:t>Change</a:t>
                      </a:r>
                    </a:p>
                  </a:txBody>
                  <a:tcPr>
                    <a:solidFill>
                      <a:srgbClr val="002060"/>
                    </a:solidFill>
                  </a:tcPr>
                </a:tc>
                <a:tc>
                  <a:txBody>
                    <a:bodyPr/>
                    <a:lstStyle/>
                    <a:p>
                      <a:pPr algn="ctr"/>
                      <a:r>
                        <a:rPr sz="1000" b="1" i="0">
                          <a:solidFill>
                            <a:srgbClr val="FFFFFF"/>
                          </a:solidFill>
                          <a:latin typeface="Arial"/>
                        </a:rPr>
                        <a:t>Chase Group @ T2</a:t>
                      </a:r>
                    </a:p>
                  </a:txBody>
                  <a:tcPr>
                    <a:solidFill>
                      <a:srgbClr val="002060"/>
                    </a:solidFill>
                  </a:tcPr>
                </a:tc>
                <a:tc>
                  <a:txBody>
                    <a:bodyPr/>
                    <a:lstStyle/>
                    <a:p>
                      <a:pPr algn="ctr"/>
                      <a:r>
                        <a:rPr sz="1000" b="1" i="0">
                          <a:solidFill>
                            <a:srgbClr val="FFFFFF"/>
                          </a:solidFill>
                          <a:latin typeface="Arial"/>
                        </a:rPr>
                        <a:t>Chase Gap*</a:t>
                      </a:r>
                    </a:p>
                  </a:txBody>
                  <a:tcPr>
                    <a:solidFill>
                      <a:srgbClr val="002060"/>
                    </a:solidFill>
                  </a:tcPr>
                </a:tc>
                <a:extLst>
                  <a:ext uri="{0D108BD9-81ED-4DB2-BD59-A6C34878D82A}">
                    <a16:rowId xmlns:a16="http://schemas.microsoft.com/office/drawing/2014/main" val="10000"/>
                  </a:ext>
                </a:extLst>
              </a:tr>
              <a:tr h="236220">
                <a:tc>
                  <a:txBody>
                    <a:bodyPr/>
                    <a:lstStyle/>
                    <a:p>
                      <a:pPr algn="ctr"/>
                      <a:r>
                        <a:rPr sz="950" b="0" i="0">
                          <a:solidFill>
                            <a:srgbClr val="262626"/>
                          </a:solidFill>
                          <a:latin typeface="Arial"/>
                        </a:rPr>
                        <a:t>2018</a:t>
                      </a:r>
                    </a:p>
                  </a:txBody>
                  <a:tcPr>
                    <a:solidFill>
                      <a:srgbClr val="FFFFFF"/>
                    </a:solidFill>
                  </a:tcPr>
                </a:tc>
                <a:tc>
                  <a:txBody>
                    <a:bodyPr/>
                    <a:lstStyle/>
                    <a:p>
                      <a:pPr algn="ctr"/>
                      <a:r>
                        <a:rPr sz="950" b="0" i="0">
                          <a:solidFill>
                            <a:srgbClr val="262626"/>
                          </a:solidFill>
                          <a:latin typeface="Arial"/>
                        </a:rPr>
                        <a:t>25</a:t>
                      </a:r>
                    </a:p>
                  </a:txBody>
                  <a:tcPr>
                    <a:solidFill>
                      <a:srgbClr val="FFFFFF"/>
                    </a:solidFill>
                  </a:tcPr>
                </a:tc>
                <a:tc>
                  <a:txBody>
                    <a:bodyPr/>
                    <a:lstStyle/>
                    <a:p>
                      <a:pPr algn="ctr"/>
                      <a:r>
                        <a:rPr sz="950" b="0" i="0">
                          <a:solidFill>
                            <a:srgbClr val="262626"/>
                          </a:solidFill>
                          <a:latin typeface="Arial"/>
                        </a:rPr>
                        <a:t>2</a:t>
                      </a:r>
                    </a:p>
                  </a:txBody>
                  <a:tcPr>
                    <a:solidFill>
                      <a:srgbClr val="FFFFFF"/>
                    </a:solidFill>
                  </a:tcPr>
                </a:tc>
                <a:tc>
                  <a:txBody>
                    <a:bodyPr/>
                    <a:lstStyle/>
                    <a:p>
                      <a:pPr algn="ctr"/>
                      <a:r>
                        <a:rPr sz="950" b="0" i="0">
                          <a:solidFill>
                            <a:srgbClr val="262626"/>
                          </a:solidFill>
                          <a:latin typeface="Arial"/>
                        </a:rPr>
                        <a:t>-23</a:t>
                      </a:r>
                    </a:p>
                  </a:txBody>
                  <a:tcPr>
                    <a:solidFill>
                      <a:srgbClr val="FFFFFF"/>
                    </a:solidFill>
                  </a:tcPr>
                </a:tc>
                <a:tc>
                  <a:txBody>
                    <a:bodyPr/>
                    <a:lstStyle/>
                    <a:p>
                      <a:pPr algn="ctr"/>
                      <a:r>
                        <a:rPr sz="950" b="0" i="0">
                          <a:solidFill>
                            <a:srgbClr val="262626"/>
                          </a:solidFill>
                          <a:latin typeface="Arial"/>
                        </a:rPr>
                        <a:t>24</a:t>
                      </a:r>
                    </a:p>
                  </a:txBody>
                  <a:tcPr>
                    <a:solidFill>
                      <a:srgbClr val="FFFFFF"/>
                    </a:solidFill>
                  </a:tcPr>
                </a:tc>
                <a:tc>
                  <a:txBody>
                    <a:bodyPr/>
                    <a:lstStyle/>
                    <a:p>
                      <a:pPr algn="ctr"/>
                      <a:r>
                        <a:rPr sz="950" b="0" i="0">
                          <a:solidFill>
                            <a:srgbClr val="262626"/>
                          </a:solidFill>
                          <a:latin typeface="Arial"/>
                        </a:rPr>
                        <a:t>26s</a:t>
                      </a:r>
                    </a:p>
                  </a:txBody>
                  <a:tcPr>
                    <a:solidFill>
                      <a:srgbClr val="FFFFFF"/>
                    </a:solidFill>
                  </a:tcPr>
                </a:tc>
                <a:extLst>
                  <a:ext uri="{0D108BD9-81ED-4DB2-BD59-A6C34878D82A}">
                    <a16:rowId xmlns:a16="http://schemas.microsoft.com/office/drawing/2014/main" val="10001"/>
                  </a:ext>
                </a:extLst>
              </a:tr>
              <a:tr h="236220">
                <a:tc>
                  <a:txBody>
                    <a:bodyPr/>
                    <a:lstStyle/>
                    <a:p>
                      <a:pPr algn="ctr"/>
                      <a:r>
                        <a:rPr sz="950" b="0" i="0">
                          <a:solidFill>
                            <a:srgbClr val="262626"/>
                          </a:solidFill>
                          <a:latin typeface="Arial"/>
                        </a:rPr>
                        <a:t>2019</a:t>
                      </a:r>
                    </a:p>
                  </a:txBody>
                  <a:tcPr>
                    <a:solidFill>
                      <a:srgbClr val="F2F2F2"/>
                    </a:solidFill>
                  </a:tcPr>
                </a:tc>
                <a:tc>
                  <a:txBody>
                    <a:bodyPr/>
                    <a:lstStyle/>
                    <a:p>
                      <a:pPr algn="ctr"/>
                      <a:r>
                        <a:rPr sz="950" b="0" i="0">
                          <a:solidFill>
                            <a:srgbClr val="262626"/>
                          </a:solidFill>
                          <a:latin typeface="Arial"/>
                        </a:rPr>
                        <a:t>13</a:t>
                      </a:r>
                    </a:p>
                  </a:txBody>
                  <a:tcPr>
                    <a:solidFill>
                      <a:srgbClr val="F2F2F2"/>
                    </a:solidFill>
                  </a:tcPr>
                </a:tc>
                <a:tc>
                  <a:txBody>
                    <a:bodyPr/>
                    <a:lstStyle/>
                    <a:p>
                      <a:pPr algn="ctr"/>
                      <a:r>
                        <a:rPr sz="950" b="0" i="0">
                          <a:solidFill>
                            <a:srgbClr val="262626"/>
                          </a:solidFill>
                          <a:latin typeface="Arial"/>
                        </a:rPr>
                        <a:t>26</a:t>
                      </a:r>
                    </a:p>
                  </a:txBody>
                  <a:tcPr>
                    <a:solidFill>
                      <a:srgbClr val="F2F2F2"/>
                    </a:solidFill>
                  </a:tcPr>
                </a:tc>
                <a:tc>
                  <a:txBody>
                    <a:bodyPr/>
                    <a:lstStyle/>
                    <a:p>
                      <a:pPr algn="ctr"/>
                      <a:r>
                        <a:rPr sz="950" b="0" i="0">
                          <a:solidFill>
                            <a:srgbClr val="262626"/>
                          </a:solidFill>
                          <a:latin typeface="Arial"/>
                        </a:rPr>
                        <a:t>+13</a:t>
                      </a:r>
                    </a:p>
                  </a:txBody>
                  <a:tcPr>
                    <a:solidFill>
                      <a:srgbClr val="F2F2F2"/>
                    </a:solidFill>
                  </a:tcPr>
                </a:tc>
                <a:tc>
                  <a:txBody>
                    <a:bodyPr/>
                    <a:lstStyle/>
                    <a:p>
                      <a:pPr algn="ctr"/>
                      <a:r>
                        <a:rPr sz="950" b="0" i="0">
                          <a:solidFill>
                            <a:srgbClr val="262626"/>
                          </a:solidFill>
                          <a:latin typeface="Arial"/>
                        </a:rPr>
                        <a:t>1</a:t>
                      </a:r>
                    </a:p>
                  </a:txBody>
                  <a:tcPr>
                    <a:solidFill>
                      <a:srgbClr val="F2F2F2"/>
                    </a:solidFill>
                  </a:tcPr>
                </a:tc>
                <a:tc>
                  <a:txBody>
                    <a:bodyPr/>
                    <a:lstStyle/>
                    <a:p>
                      <a:pPr algn="ctr"/>
                      <a:r>
                        <a:rPr sz="950" b="0" i="0">
                          <a:solidFill>
                            <a:srgbClr val="262626"/>
                          </a:solidFill>
                          <a:latin typeface="Arial"/>
                        </a:rPr>
                        <a:t>95s</a:t>
                      </a:r>
                    </a:p>
                  </a:txBody>
                  <a:tcPr>
                    <a:solidFill>
                      <a:srgbClr val="F2F2F2"/>
                    </a:solidFill>
                  </a:tcPr>
                </a:tc>
                <a:extLst>
                  <a:ext uri="{0D108BD9-81ED-4DB2-BD59-A6C34878D82A}">
                    <a16:rowId xmlns:a16="http://schemas.microsoft.com/office/drawing/2014/main" val="10002"/>
                  </a:ext>
                </a:extLst>
              </a:tr>
              <a:tr h="236220">
                <a:tc>
                  <a:txBody>
                    <a:bodyPr/>
                    <a:lstStyle/>
                    <a:p>
                      <a:pPr algn="ctr"/>
                      <a:r>
                        <a:rPr sz="950" b="0" i="0">
                          <a:solidFill>
                            <a:srgbClr val="262626"/>
                          </a:solidFill>
                          <a:latin typeface="Arial"/>
                        </a:rPr>
                        <a:t>2023</a:t>
                      </a:r>
                    </a:p>
                  </a:txBody>
                  <a:tcPr>
                    <a:solidFill>
                      <a:srgbClr val="FFFFFF"/>
                    </a:solidFill>
                  </a:tcPr>
                </a:tc>
                <a:tc>
                  <a:txBody>
                    <a:bodyPr/>
                    <a:lstStyle/>
                    <a:p>
                      <a:pPr algn="ctr"/>
                      <a:r>
                        <a:rPr sz="950" b="0" i="0">
                          <a:solidFill>
                            <a:srgbClr val="262626"/>
                          </a:solidFill>
                          <a:latin typeface="Arial"/>
                        </a:rPr>
                        <a:t>8</a:t>
                      </a:r>
                    </a:p>
                  </a:txBody>
                  <a:tcPr>
                    <a:solidFill>
                      <a:srgbClr val="FFFFFF"/>
                    </a:solidFill>
                  </a:tcPr>
                </a:tc>
                <a:tc>
                  <a:txBody>
                    <a:bodyPr/>
                    <a:lstStyle/>
                    <a:p>
                      <a:pPr algn="ctr"/>
                      <a:r>
                        <a:rPr sz="950" b="0" i="0">
                          <a:solidFill>
                            <a:srgbClr val="262626"/>
                          </a:solidFill>
                          <a:latin typeface="Arial"/>
                        </a:rPr>
                        <a:t>17</a:t>
                      </a:r>
                    </a:p>
                  </a:txBody>
                  <a:tcPr>
                    <a:solidFill>
                      <a:srgbClr val="FFFFFF"/>
                    </a:solidFill>
                  </a:tcPr>
                </a:tc>
                <a:tc>
                  <a:txBody>
                    <a:bodyPr/>
                    <a:lstStyle/>
                    <a:p>
                      <a:pPr algn="ctr"/>
                      <a:r>
                        <a:rPr sz="950" b="0" i="0">
                          <a:solidFill>
                            <a:srgbClr val="262626"/>
                          </a:solidFill>
                          <a:latin typeface="Arial"/>
                        </a:rPr>
                        <a:t>+9</a:t>
                      </a:r>
                    </a:p>
                  </a:txBody>
                  <a:tcPr>
                    <a:solidFill>
                      <a:srgbClr val="FFFFFF"/>
                    </a:solidFill>
                  </a:tcPr>
                </a:tc>
                <a:tc>
                  <a:txBody>
                    <a:bodyPr/>
                    <a:lstStyle/>
                    <a:p>
                      <a:pPr algn="ctr"/>
                      <a:r>
                        <a:rPr sz="950" b="0" i="0">
                          <a:solidFill>
                            <a:srgbClr val="262626"/>
                          </a:solidFill>
                          <a:latin typeface="Arial"/>
                        </a:rPr>
                        <a:t>5</a:t>
                      </a:r>
                    </a:p>
                  </a:txBody>
                  <a:tcPr>
                    <a:solidFill>
                      <a:srgbClr val="FFFFFF"/>
                    </a:solidFill>
                  </a:tcPr>
                </a:tc>
                <a:tc>
                  <a:txBody>
                    <a:bodyPr/>
                    <a:lstStyle/>
                    <a:p>
                      <a:pPr algn="ctr"/>
                      <a:r>
                        <a:rPr sz="950" b="0" i="0">
                          <a:solidFill>
                            <a:srgbClr val="262626"/>
                          </a:solidFill>
                          <a:latin typeface="Arial"/>
                        </a:rPr>
                        <a:t>155s</a:t>
                      </a:r>
                    </a:p>
                  </a:txBody>
                  <a:tcPr>
                    <a:solidFill>
                      <a:srgbClr val="FFFFFF"/>
                    </a:solidFill>
                  </a:tcPr>
                </a:tc>
                <a:extLst>
                  <a:ext uri="{0D108BD9-81ED-4DB2-BD59-A6C34878D82A}">
                    <a16:rowId xmlns:a16="http://schemas.microsoft.com/office/drawing/2014/main" val="10003"/>
                  </a:ext>
                </a:extLst>
              </a:tr>
              <a:tr h="236220">
                <a:tc>
                  <a:txBody>
                    <a:bodyPr/>
                    <a:lstStyle/>
                    <a:p>
                      <a:pPr algn="ctr"/>
                      <a:r>
                        <a:rPr sz="950" b="0" i="0">
                          <a:solidFill>
                            <a:srgbClr val="262626"/>
                          </a:solidFill>
                          <a:latin typeface="Arial"/>
                        </a:rPr>
                        <a:t>2024</a:t>
                      </a:r>
                    </a:p>
                  </a:txBody>
                  <a:tcPr>
                    <a:solidFill>
                      <a:srgbClr val="F2F2F2"/>
                    </a:solidFill>
                  </a:tcPr>
                </a:tc>
                <a:tc>
                  <a:txBody>
                    <a:bodyPr/>
                    <a:lstStyle/>
                    <a:p>
                      <a:pPr algn="ctr"/>
                      <a:r>
                        <a:rPr sz="950" b="0" i="0">
                          <a:solidFill>
                            <a:srgbClr val="262626"/>
                          </a:solidFill>
                          <a:latin typeface="Arial"/>
                        </a:rPr>
                        <a:t>20</a:t>
                      </a:r>
                    </a:p>
                  </a:txBody>
                  <a:tcPr>
                    <a:solidFill>
                      <a:srgbClr val="F2F2F2"/>
                    </a:solidFill>
                  </a:tcPr>
                </a:tc>
                <a:tc>
                  <a:txBody>
                    <a:bodyPr/>
                    <a:lstStyle/>
                    <a:p>
                      <a:pPr algn="ctr"/>
                      <a:r>
                        <a:rPr sz="950" b="0" i="0">
                          <a:solidFill>
                            <a:srgbClr val="262626"/>
                          </a:solidFill>
                          <a:latin typeface="Arial"/>
                        </a:rPr>
                        <a:t>10</a:t>
                      </a:r>
                    </a:p>
                  </a:txBody>
                  <a:tcPr>
                    <a:solidFill>
                      <a:srgbClr val="F2F2F2"/>
                    </a:solidFill>
                  </a:tcPr>
                </a:tc>
                <a:tc>
                  <a:txBody>
                    <a:bodyPr/>
                    <a:lstStyle/>
                    <a:p>
                      <a:pPr algn="ctr"/>
                      <a:r>
                        <a:rPr sz="950" b="0" i="0">
                          <a:solidFill>
                            <a:srgbClr val="262626"/>
                          </a:solidFill>
                          <a:latin typeface="Arial"/>
                        </a:rPr>
                        <a:t>-10</a:t>
                      </a:r>
                    </a:p>
                  </a:txBody>
                  <a:tcPr>
                    <a:solidFill>
                      <a:srgbClr val="F2F2F2"/>
                    </a:solidFill>
                  </a:tcPr>
                </a:tc>
                <a:tc>
                  <a:txBody>
                    <a:bodyPr/>
                    <a:lstStyle/>
                    <a:p>
                      <a:pPr algn="ctr"/>
                      <a:r>
                        <a:rPr sz="950" b="0" i="0">
                          <a:solidFill>
                            <a:srgbClr val="262626"/>
                          </a:solidFill>
                          <a:latin typeface="Arial"/>
                        </a:rPr>
                        <a:t>15</a:t>
                      </a:r>
                    </a:p>
                  </a:txBody>
                  <a:tcPr>
                    <a:solidFill>
                      <a:srgbClr val="F2F2F2"/>
                    </a:solidFill>
                  </a:tcPr>
                </a:tc>
                <a:tc>
                  <a:txBody>
                    <a:bodyPr/>
                    <a:lstStyle/>
                    <a:p>
                      <a:pPr algn="ctr"/>
                      <a:r>
                        <a:rPr sz="950" b="0" i="0">
                          <a:solidFill>
                            <a:srgbClr val="262626"/>
                          </a:solidFill>
                          <a:latin typeface="Arial"/>
                        </a:rPr>
                        <a:t>82s</a:t>
                      </a:r>
                    </a:p>
                  </a:txBody>
                  <a:tcPr>
                    <a:solidFill>
                      <a:srgbClr val="F2F2F2"/>
                    </a:solidFill>
                  </a:tcPr>
                </a:tc>
                <a:extLst>
                  <a:ext uri="{0D108BD9-81ED-4DB2-BD59-A6C34878D82A}">
                    <a16:rowId xmlns:a16="http://schemas.microsoft.com/office/drawing/2014/main" val="10004"/>
                  </a:ext>
                </a:extLst>
              </a:tr>
              <a:tr h="236220">
                <a:tc>
                  <a:txBody>
                    <a:bodyPr/>
                    <a:lstStyle/>
                    <a:p>
                      <a:pPr algn="ctr"/>
                      <a:r>
                        <a:rPr sz="950" b="0" i="0">
                          <a:solidFill>
                            <a:srgbClr val="262626"/>
                          </a:solidFill>
                          <a:latin typeface="Arial"/>
                        </a:rPr>
                        <a:t>2025</a:t>
                      </a:r>
                    </a:p>
                  </a:txBody>
                  <a:tcPr>
                    <a:solidFill>
                      <a:srgbClr val="FFFFFF"/>
                    </a:solidFill>
                  </a:tcPr>
                </a:tc>
                <a:tc>
                  <a:txBody>
                    <a:bodyPr/>
                    <a:lstStyle/>
                    <a:p>
                      <a:pPr algn="ctr"/>
                      <a:r>
                        <a:rPr sz="950" b="0" i="0">
                          <a:solidFill>
                            <a:srgbClr val="262626"/>
                          </a:solidFill>
                          <a:latin typeface="Arial"/>
                        </a:rPr>
                        <a:t>23</a:t>
                      </a:r>
                    </a:p>
                  </a:txBody>
                  <a:tcPr>
                    <a:solidFill>
                      <a:srgbClr val="FFFFFF"/>
                    </a:solidFill>
                  </a:tcPr>
                </a:tc>
                <a:tc>
                  <a:txBody>
                    <a:bodyPr/>
                    <a:lstStyle/>
                    <a:p>
                      <a:pPr algn="ctr"/>
                      <a:r>
                        <a:rPr sz="950" b="0" i="0">
                          <a:solidFill>
                            <a:srgbClr val="262626"/>
                          </a:solidFill>
                          <a:latin typeface="Arial"/>
                        </a:rPr>
                        <a:t>4</a:t>
                      </a:r>
                    </a:p>
                  </a:txBody>
                  <a:tcPr>
                    <a:solidFill>
                      <a:srgbClr val="FFFFFF"/>
                    </a:solidFill>
                  </a:tcPr>
                </a:tc>
                <a:tc>
                  <a:txBody>
                    <a:bodyPr/>
                    <a:lstStyle/>
                    <a:p>
                      <a:pPr algn="ctr"/>
                      <a:r>
                        <a:rPr sz="950" b="0" i="0">
                          <a:solidFill>
                            <a:srgbClr val="262626"/>
                          </a:solidFill>
                          <a:latin typeface="Arial"/>
                        </a:rPr>
                        <a:t>-19</a:t>
                      </a:r>
                    </a:p>
                  </a:txBody>
                  <a:tcPr>
                    <a:solidFill>
                      <a:srgbClr val="FFFFFF"/>
                    </a:solidFill>
                  </a:tcPr>
                </a:tc>
                <a:tc>
                  <a:txBody>
                    <a:bodyPr/>
                    <a:lstStyle/>
                    <a:p>
                      <a:pPr algn="ctr"/>
                      <a:r>
                        <a:rPr sz="950" b="0" i="0">
                          <a:solidFill>
                            <a:srgbClr val="262626"/>
                          </a:solidFill>
                          <a:latin typeface="Arial"/>
                        </a:rPr>
                        <a:t>14</a:t>
                      </a:r>
                    </a:p>
                  </a:txBody>
                  <a:tcPr>
                    <a:solidFill>
                      <a:srgbClr val="FFFFFF"/>
                    </a:solidFill>
                  </a:tcPr>
                </a:tc>
                <a:tc>
                  <a:txBody>
                    <a:bodyPr/>
                    <a:lstStyle/>
                    <a:p>
                      <a:pPr algn="ctr"/>
                      <a:r>
                        <a:rPr sz="950" b="0" i="0" dirty="0">
                          <a:solidFill>
                            <a:srgbClr val="262626"/>
                          </a:solidFill>
                          <a:latin typeface="Arial"/>
                        </a:rPr>
                        <a:t>19s</a:t>
                      </a:r>
                    </a:p>
                  </a:txBody>
                  <a:tcPr>
                    <a:solidFill>
                      <a:srgbClr val="FFFFFF"/>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274320" y="6323850"/>
            <a:ext cx="11640312" cy="201168"/>
          </a:xfrm>
          <a:prstGeom prst="rect">
            <a:avLst/>
          </a:prstGeom>
          <a:noFill/>
        </p:spPr>
        <p:txBody>
          <a:bodyPr wrap="square">
            <a:spAutoFit/>
          </a:bodyPr>
          <a:lstStyle/>
          <a:p>
            <a:pPr algn="l"/>
            <a:r>
              <a:rPr sz="800" b="0" i="1" dirty="0">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p>
        </p:txBody>
      </p:sp>
      <p:sp>
        <p:nvSpPr>
          <p:cNvPr id="12" name="TextBox 11"/>
          <p:cNvSpPr txBox="1"/>
          <p:nvPr/>
        </p:nvSpPr>
        <p:spPr>
          <a:xfrm>
            <a:off x="274320" y="6513804"/>
            <a:ext cx="11640312" cy="164592"/>
          </a:xfrm>
          <a:prstGeom prst="rect">
            <a:avLst/>
          </a:prstGeom>
          <a:noFill/>
        </p:spPr>
        <p:txBody>
          <a:bodyPr wrap="square">
            <a:spAutoFit/>
          </a:bodyPr>
          <a:lstStyle/>
          <a:p>
            <a:pPr algn="l"/>
            <a:r>
              <a:rPr sz="750" b="0" i="1">
                <a:solidFill>
                  <a:srgbClr val="BFBFBF"/>
                </a:solidFill>
                <a:latin typeface="Arial"/>
              </a:rPr>
              <a:t>Dropouts: 2018: 13 DNF/LAP (1 in lead group at t1)  |  2019: 8 DNF/LAP (1 in lead group at t1)  |  2023: 11 DNF/LAP (2 in lead group at bike)  |  2024: 7 DNF/LAP (1 in lead group at bike)  |  2025: 2 DNF/LAP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078992"/>
            <a:ext cx="11640312" cy="3017520"/>
          </a:xfrm>
          <a:prstGeom prst="rect">
            <a:avLst/>
          </a:prstGeom>
        </p:spPr>
      </p:pic>
      <p:graphicFrame>
        <p:nvGraphicFramePr>
          <p:cNvPr id="9" name="Table 8"/>
          <p:cNvGraphicFramePr>
            <a:graphicFrameLocks noGrp="1"/>
          </p:cNvGraphicFramePr>
          <p:nvPr/>
        </p:nvGraphicFramePr>
        <p:xfrm>
          <a:off x="274320" y="4187952"/>
          <a:ext cx="11640312" cy="2100072"/>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833372">
                  <a:extLst>
                    <a:ext uri="{9D8B030D-6E8A-4147-A177-3AD203B41FA5}">
                      <a16:colId xmlns:a16="http://schemas.microsoft.com/office/drawing/2014/main" val="20001"/>
                    </a:ext>
                  </a:extLst>
                </a:gridCol>
                <a:gridCol w="1833372">
                  <a:extLst>
                    <a:ext uri="{9D8B030D-6E8A-4147-A177-3AD203B41FA5}">
                      <a16:colId xmlns:a16="http://schemas.microsoft.com/office/drawing/2014/main" val="20002"/>
                    </a:ext>
                  </a:extLst>
                </a:gridCol>
                <a:gridCol w="1833372">
                  <a:extLst>
                    <a:ext uri="{9D8B030D-6E8A-4147-A177-3AD203B41FA5}">
                      <a16:colId xmlns:a16="http://schemas.microsoft.com/office/drawing/2014/main" val="20003"/>
                    </a:ext>
                  </a:extLst>
                </a:gridCol>
                <a:gridCol w="1833372">
                  <a:extLst>
                    <a:ext uri="{9D8B030D-6E8A-4147-A177-3AD203B41FA5}">
                      <a16:colId xmlns:a16="http://schemas.microsoft.com/office/drawing/2014/main" val="20004"/>
                    </a:ext>
                  </a:extLst>
                </a:gridCol>
                <a:gridCol w="1833372">
                  <a:extLst>
                    <a:ext uri="{9D8B030D-6E8A-4147-A177-3AD203B41FA5}">
                      <a16:colId xmlns:a16="http://schemas.microsoft.com/office/drawing/2014/main" val="20005"/>
                    </a:ext>
                  </a:extLst>
                </a:gridCol>
                <a:gridCol w="1833372">
                  <a:extLst>
                    <a:ext uri="{9D8B030D-6E8A-4147-A177-3AD203B41FA5}">
                      <a16:colId xmlns:a16="http://schemas.microsoft.com/office/drawing/2014/main" val="20006"/>
                    </a:ext>
                  </a:extLst>
                </a:gridCol>
              </a:tblGrid>
              <a:tr h="347472">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1st</a:t>
                      </a:r>
                    </a:p>
                  </a:txBody>
                  <a:tcPr>
                    <a:solidFill>
                      <a:srgbClr val="002060"/>
                    </a:solidFill>
                  </a:tcPr>
                </a:tc>
                <a:tc>
                  <a:txBody>
                    <a:bodyPr/>
                    <a:lstStyle/>
                    <a:p>
                      <a:pPr algn="ctr"/>
                      <a:r>
                        <a:rPr sz="1000" b="1" i="0">
                          <a:solidFill>
                            <a:srgbClr val="FFFFFF"/>
                          </a:solidFill>
                          <a:latin typeface="Arial"/>
                        </a:rPr>
                        <a:t>2nd</a:t>
                      </a:r>
                    </a:p>
                  </a:txBody>
                  <a:tcPr>
                    <a:solidFill>
                      <a:srgbClr val="002060"/>
                    </a:solidFill>
                  </a:tcPr>
                </a:tc>
                <a:tc>
                  <a:txBody>
                    <a:bodyPr/>
                    <a:lstStyle/>
                    <a:p>
                      <a:pPr algn="ctr"/>
                      <a:r>
                        <a:rPr sz="1000" b="1" i="0">
                          <a:solidFill>
                            <a:srgbClr val="FFFFFF"/>
                          </a:solidFill>
                          <a:latin typeface="Arial"/>
                        </a:rPr>
                        <a:t>3rd</a:t>
                      </a:r>
                    </a:p>
                  </a:txBody>
                  <a:tcPr>
                    <a:solidFill>
                      <a:srgbClr val="002060"/>
                    </a:solidFill>
                  </a:tcPr>
                </a:tc>
                <a:tc>
                  <a:txBody>
                    <a:bodyPr/>
                    <a:lstStyle/>
                    <a:p>
                      <a:pPr algn="ctr"/>
                      <a:r>
                        <a:rPr sz="1000" b="1" i="0">
                          <a:solidFill>
                            <a:srgbClr val="FFFFFF"/>
                          </a:solidFill>
                          <a:latin typeface="Arial"/>
                        </a:rPr>
                        <a:t>5th</a:t>
                      </a:r>
                    </a:p>
                  </a:txBody>
                  <a:tcPr>
                    <a:solidFill>
                      <a:srgbClr val="002060"/>
                    </a:solidFill>
                  </a:tcPr>
                </a:tc>
                <a:tc>
                  <a:txBody>
                    <a:bodyPr/>
                    <a:lstStyle/>
                    <a:p>
                      <a:pPr algn="ctr"/>
                      <a:r>
                        <a:rPr sz="1000" b="1" i="0">
                          <a:solidFill>
                            <a:srgbClr val="FFFFFF"/>
                          </a:solidFill>
                          <a:latin typeface="Arial"/>
                        </a:rPr>
                        <a:t>10th</a:t>
                      </a:r>
                    </a:p>
                  </a:txBody>
                  <a:tcPr>
                    <a:solidFill>
                      <a:srgbClr val="002060"/>
                    </a:solidFill>
                  </a:tcPr>
                </a:tc>
                <a:tc>
                  <a:txBody>
                    <a:bodyPr/>
                    <a:lstStyle/>
                    <a:p>
                      <a:pPr algn="ctr"/>
                      <a:r>
                        <a:rPr sz="1000" b="1" i="0">
                          <a:solidFill>
                            <a:srgbClr val="FFFFFF"/>
                          </a:solidFill>
                          <a:latin typeface="Arial"/>
                        </a:rPr>
                        <a:t>20th</a:t>
                      </a:r>
                    </a:p>
                  </a:txBody>
                  <a:tcPr>
                    <a:solidFill>
                      <a:srgbClr val="002060"/>
                    </a:solidFill>
                  </a:tcPr>
                </a:tc>
                <a:extLst>
                  <a:ext uri="{0D108BD9-81ED-4DB2-BD59-A6C34878D82A}">
                    <a16:rowId xmlns:a16="http://schemas.microsoft.com/office/drawing/2014/main" val="10000"/>
                  </a:ext>
                </a:extLst>
              </a:tr>
              <a:tr h="347472">
                <a:tc>
                  <a:txBody>
                    <a:bodyPr/>
                    <a:lstStyle/>
                    <a:p>
                      <a:pPr algn="ctr"/>
                      <a:r>
                        <a:rPr sz="1000" b="1" i="0">
                          <a:solidFill>
                            <a:srgbClr val="262626"/>
                          </a:solidFill>
                          <a:latin typeface="Arial"/>
                        </a:rPr>
                        <a:t>2018</a:t>
                      </a:r>
                    </a:p>
                  </a:txBody>
                  <a:tcPr>
                    <a:solidFill>
                      <a:srgbClr val="FFFFFF"/>
                    </a:solidFill>
                  </a:tcPr>
                </a:tc>
                <a:tc>
                  <a:txBody>
                    <a:bodyPr/>
                    <a:lstStyle/>
                    <a:p>
                      <a:pPr algn="ctr"/>
                      <a:r>
                        <a:rPr sz="850" b="0" i="0">
                          <a:solidFill>
                            <a:srgbClr val="262626"/>
                          </a:solidFill>
                          <a:latin typeface="Arial"/>
                        </a:rPr>
                        <a:t>1:53:11</a:t>
                      </a:r>
                    </a:p>
                  </a:txBody>
                  <a:tcPr>
                    <a:solidFill>
                      <a:srgbClr val="FFFFFF"/>
                    </a:solidFill>
                  </a:tcPr>
                </a:tc>
                <a:tc>
                  <a:txBody>
                    <a:bodyPr/>
                    <a:lstStyle/>
                    <a:p>
                      <a:pPr algn="ctr"/>
                      <a:r>
                        <a:rPr sz="850" b="0" i="0">
                          <a:solidFill>
                            <a:srgbClr val="262626"/>
                          </a:solidFill>
                          <a:latin typeface="Arial"/>
                        </a:rPr>
                        <a:t>1:53:26
+15s</a:t>
                      </a:r>
                    </a:p>
                  </a:txBody>
                  <a:tcPr>
                    <a:solidFill>
                      <a:srgbClr val="FFFFFF"/>
                    </a:solidFill>
                  </a:tcPr>
                </a:tc>
                <a:tc>
                  <a:txBody>
                    <a:bodyPr/>
                    <a:lstStyle/>
                    <a:p>
                      <a:pPr algn="ctr"/>
                      <a:r>
                        <a:rPr sz="850" b="0" i="0">
                          <a:solidFill>
                            <a:srgbClr val="262626"/>
                          </a:solidFill>
                          <a:latin typeface="Arial"/>
                        </a:rPr>
                        <a:t>1:53:30
+19s</a:t>
                      </a:r>
                    </a:p>
                  </a:txBody>
                  <a:tcPr>
                    <a:solidFill>
                      <a:srgbClr val="FFFFFF"/>
                    </a:solidFill>
                  </a:tcPr>
                </a:tc>
                <a:tc>
                  <a:txBody>
                    <a:bodyPr/>
                    <a:lstStyle/>
                    <a:p>
                      <a:pPr algn="ctr"/>
                      <a:r>
                        <a:rPr sz="850" b="0" i="0">
                          <a:solidFill>
                            <a:srgbClr val="262626"/>
                          </a:solidFill>
                          <a:latin typeface="Arial"/>
                        </a:rPr>
                        <a:t>1:54:11
+60s</a:t>
                      </a:r>
                    </a:p>
                  </a:txBody>
                  <a:tcPr>
                    <a:solidFill>
                      <a:srgbClr val="FFFFFF"/>
                    </a:solidFill>
                  </a:tcPr>
                </a:tc>
                <a:tc>
                  <a:txBody>
                    <a:bodyPr/>
                    <a:lstStyle/>
                    <a:p>
                      <a:pPr algn="ctr"/>
                      <a:r>
                        <a:rPr sz="850" b="0" i="0">
                          <a:solidFill>
                            <a:srgbClr val="262626"/>
                          </a:solidFill>
                          <a:latin typeface="Arial"/>
                        </a:rPr>
                        <a:t>1:55:12
+121s</a:t>
                      </a:r>
                    </a:p>
                  </a:txBody>
                  <a:tcPr>
                    <a:solidFill>
                      <a:srgbClr val="FFFFFF"/>
                    </a:solidFill>
                  </a:tcPr>
                </a:tc>
                <a:tc>
                  <a:txBody>
                    <a:bodyPr/>
                    <a:lstStyle/>
                    <a:p>
                      <a:pPr algn="ctr"/>
                      <a:r>
                        <a:rPr sz="850" b="0" i="0">
                          <a:solidFill>
                            <a:srgbClr val="262626"/>
                          </a:solidFill>
                          <a:latin typeface="Arial"/>
                        </a:rPr>
                        <a:t>1:56:12
+181s</a:t>
                      </a:r>
                    </a:p>
                  </a:txBody>
                  <a:tcPr>
                    <a:solidFill>
                      <a:srgbClr val="FFFFFF"/>
                    </a:solidFill>
                  </a:tcPr>
                </a:tc>
                <a:extLst>
                  <a:ext uri="{0D108BD9-81ED-4DB2-BD59-A6C34878D82A}">
                    <a16:rowId xmlns:a16="http://schemas.microsoft.com/office/drawing/2014/main" val="10001"/>
                  </a:ext>
                </a:extLst>
              </a:tr>
              <a:tr h="347472">
                <a:tc>
                  <a:txBody>
                    <a:bodyPr/>
                    <a:lstStyle/>
                    <a:p>
                      <a:pPr algn="ctr"/>
                      <a:r>
                        <a:rPr sz="1000" b="1" i="0">
                          <a:solidFill>
                            <a:srgbClr val="262626"/>
                          </a:solidFill>
                          <a:latin typeface="Arial"/>
                        </a:rPr>
                        <a:t>2019</a:t>
                      </a:r>
                    </a:p>
                  </a:txBody>
                  <a:tcPr>
                    <a:solidFill>
                      <a:srgbClr val="F2F2F2"/>
                    </a:solidFill>
                  </a:tcPr>
                </a:tc>
                <a:tc>
                  <a:txBody>
                    <a:bodyPr/>
                    <a:lstStyle/>
                    <a:p>
                      <a:pPr algn="ctr"/>
                      <a:r>
                        <a:rPr sz="850" b="0" i="0">
                          <a:solidFill>
                            <a:srgbClr val="262626"/>
                          </a:solidFill>
                          <a:latin typeface="Arial"/>
                        </a:rPr>
                        <a:t>1:54:47</a:t>
                      </a:r>
                    </a:p>
                  </a:txBody>
                  <a:tcPr>
                    <a:solidFill>
                      <a:srgbClr val="F2F2F2"/>
                    </a:solidFill>
                  </a:tcPr>
                </a:tc>
                <a:tc>
                  <a:txBody>
                    <a:bodyPr/>
                    <a:lstStyle/>
                    <a:p>
                      <a:pPr algn="ctr"/>
                      <a:r>
                        <a:rPr sz="850" b="0" i="0">
                          <a:solidFill>
                            <a:srgbClr val="262626"/>
                          </a:solidFill>
                          <a:latin typeface="Arial"/>
                        </a:rPr>
                        <a:t>1:54:49
+2s</a:t>
                      </a:r>
                    </a:p>
                  </a:txBody>
                  <a:tcPr>
                    <a:solidFill>
                      <a:srgbClr val="F2F2F2"/>
                    </a:solidFill>
                  </a:tcPr>
                </a:tc>
                <a:tc>
                  <a:txBody>
                    <a:bodyPr/>
                    <a:lstStyle/>
                    <a:p>
                      <a:pPr algn="ctr"/>
                      <a:r>
                        <a:rPr sz="850" b="0" i="0">
                          <a:solidFill>
                            <a:srgbClr val="262626"/>
                          </a:solidFill>
                          <a:latin typeface="Arial"/>
                        </a:rPr>
                        <a:t>1:54:53
+6s</a:t>
                      </a:r>
                    </a:p>
                  </a:txBody>
                  <a:tcPr>
                    <a:solidFill>
                      <a:srgbClr val="F2F2F2"/>
                    </a:solidFill>
                  </a:tcPr>
                </a:tc>
                <a:tc>
                  <a:txBody>
                    <a:bodyPr/>
                    <a:lstStyle/>
                    <a:p>
                      <a:pPr algn="ctr"/>
                      <a:r>
                        <a:rPr sz="850" b="0" i="0">
                          <a:solidFill>
                            <a:srgbClr val="262626"/>
                          </a:solidFill>
                          <a:latin typeface="Arial"/>
                        </a:rPr>
                        <a:t>1:55:21
+34s</a:t>
                      </a:r>
                    </a:p>
                  </a:txBody>
                  <a:tcPr>
                    <a:solidFill>
                      <a:srgbClr val="F2F2F2"/>
                    </a:solidFill>
                  </a:tcPr>
                </a:tc>
                <a:tc>
                  <a:txBody>
                    <a:bodyPr/>
                    <a:lstStyle/>
                    <a:p>
                      <a:pPr algn="ctr"/>
                      <a:r>
                        <a:rPr sz="850" b="0" i="0">
                          <a:solidFill>
                            <a:srgbClr val="262626"/>
                          </a:solidFill>
                          <a:latin typeface="Arial"/>
                        </a:rPr>
                        <a:t>1:55:53
+66s</a:t>
                      </a:r>
                    </a:p>
                  </a:txBody>
                  <a:tcPr>
                    <a:solidFill>
                      <a:srgbClr val="F2F2F2"/>
                    </a:solidFill>
                  </a:tcPr>
                </a:tc>
                <a:tc>
                  <a:txBody>
                    <a:bodyPr/>
                    <a:lstStyle/>
                    <a:p>
                      <a:pPr algn="ctr"/>
                      <a:r>
                        <a:rPr sz="850" b="0" i="0">
                          <a:solidFill>
                            <a:srgbClr val="262626"/>
                          </a:solidFill>
                          <a:latin typeface="Arial"/>
                        </a:rPr>
                        <a:t>1:57:42
+175s</a:t>
                      </a:r>
                    </a:p>
                  </a:txBody>
                  <a:tcPr>
                    <a:solidFill>
                      <a:srgbClr val="F2F2F2"/>
                    </a:solidFill>
                  </a:tcPr>
                </a:tc>
                <a:extLst>
                  <a:ext uri="{0D108BD9-81ED-4DB2-BD59-A6C34878D82A}">
                    <a16:rowId xmlns:a16="http://schemas.microsoft.com/office/drawing/2014/main" val="10002"/>
                  </a:ext>
                </a:extLst>
              </a:tr>
              <a:tr h="347472">
                <a:tc>
                  <a:txBody>
                    <a:bodyPr/>
                    <a:lstStyle/>
                    <a:p>
                      <a:pPr algn="ctr"/>
                      <a:r>
                        <a:rPr sz="1000" b="1" i="0">
                          <a:solidFill>
                            <a:srgbClr val="262626"/>
                          </a:solidFill>
                          <a:latin typeface="Arial"/>
                        </a:rPr>
                        <a:t>2023</a:t>
                      </a:r>
                    </a:p>
                  </a:txBody>
                  <a:tcPr>
                    <a:solidFill>
                      <a:srgbClr val="FFFFFF"/>
                    </a:solidFill>
                  </a:tcPr>
                </a:tc>
                <a:tc>
                  <a:txBody>
                    <a:bodyPr/>
                    <a:lstStyle/>
                    <a:p>
                      <a:pPr algn="ctr"/>
                      <a:r>
                        <a:rPr sz="850" b="0" i="0">
                          <a:solidFill>
                            <a:srgbClr val="262626"/>
                          </a:solidFill>
                          <a:latin typeface="Arial"/>
                        </a:rPr>
                        <a:t>1:46:35</a:t>
                      </a:r>
                    </a:p>
                  </a:txBody>
                  <a:tcPr>
                    <a:solidFill>
                      <a:srgbClr val="FFFFFF"/>
                    </a:solidFill>
                  </a:tcPr>
                </a:tc>
                <a:tc>
                  <a:txBody>
                    <a:bodyPr/>
                    <a:lstStyle/>
                    <a:p>
                      <a:pPr algn="ctr"/>
                      <a:r>
                        <a:rPr sz="850" b="0" i="0">
                          <a:solidFill>
                            <a:srgbClr val="262626"/>
                          </a:solidFill>
                          <a:latin typeface="Arial"/>
                        </a:rPr>
                        <a:t>1:46:50
+15s</a:t>
                      </a:r>
                    </a:p>
                  </a:txBody>
                  <a:tcPr>
                    <a:solidFill>
                      <a:srgbClr val="FFFFFF"/>
                    </a:solidFill>
                  </a:tcPr>
                </a:tc>
                <a:tc>
                  <a:txBody>
                    <a:bodyPr/>
                    <a:lstStyle/>
                    <a:p>
                      <a:pPr algn="ctr"/>
                      <a:r>
                        <a:rPr sz="850" b="0" i="0">
                          <a:solidFill>
                            <a:srgbClr val="262626"/>
                          </a:solidFill>
                          <a:latin typeface="Arial"/>
                        </a:rPr>
                        <a:t>1:46:57
+22s</a:t>
                      </a:r>
                    </a:p>
                  </a:txBody>
                  <a:tcPr>
                    <a:solidFill>
                      <a:srgbClr val="FFFFFF"/>
                    </a:solidFill>
                  </a:tcPr>
                </a:tc>
                <a:tc>
                  <a:txBody>
                    <a:bodyPr/>
                    <a:lstStyle/>
                    <a:p>
                      <a:pPr algn="ctr"/>
                      <a:r>
                        <a:rPr sz="850" b="0" i="0">
                          <a:solidFill>
                            <a:srgbClr val="262626"/>
                          </a:solidFill>
                          <a:latin typeface="Arial"/>
                        </a:rPr>
                        <a:t>1:47:07
+32s</a:t>
                      </a:r>
                    </a:p>
                  </a:txBody>
                  <a:tcPr>
                    <a:solidFill>
                      <a:srgbClr val="FFFFFF"/>
                    </a:solidFill>
                  </a:tcPr>
                </a:tc>
                <a:tc>
                  <a:txBody>
                    <a:bodyPr/>
                    <a:lstStyle/>
                    <a:p>
                      <a:pPr algn="ctr"/>
                      <a:r>
                        <a:rPr sz="850" b="0" i="0">
                          <a:solidFill>
                            <a:srgbClr val="262626"/>
                          </a:solidFill>
                          <a:latin typeface="Arial"/>
                        </a:rPr>
                        <a:t>1:47:48
+73s</a:t>
                      </a:r>
                    </a:p>
                  </a:txBody>
                  <a:tcPr>
                    <a:solidFill>
                      <a:srgbClr val="FFFFFF"/>
                    </a:solidFill>
                  </a:tcPr>
                </a:tc>
                <a:tc>
                  <a:txBody>
                    <a:bodyPr/>
                    <a:lstStyle/>
                    <a:p>
                      <a:pPr algn="ctr"/>
                      <a:r>
                        <a:rPr sz="850" b="0" i="0">
                          <a:solidFill>
                            <a:srgbClr val="262626"/>
                          </a:solidFill>
                          <a:latin typeface="Arial"/>
                        </a:rPr>
                        <a:t>1:52:01
+326s</a:t>
                      </a:r>
                    </a:p>
                  </a:txBody>
                  <a:tcPr>
                    <a:solidFill>
                      <a:srgbClr val="FFFFFF"/>
                    </a:solidFill>
                  </a:tcPr>
                </a:tc>
                <a:extLst>
                  <a:ext uri="{0D108BD9-81ED-4DB2-BD59-A6C34878D82A}">
                    <a16:rowId xmlns:a16="http://schemas.microsoft.com/office/drawing/2014/main" val="10003"/>
                  </a:ext>
                </a:extLst>
              </a:tr>
              <a:tr h="347472">
                <a:tc>
                  <a:txBody>
                    <a:bodyPr/>
                    <a:lstStyle/>
                    <a:p>
                      <a:pPr algn="ctr"/>
                      <a:r>
                        <a:rPr sz="1000" b="1" i="0">
                          <a:solidFill>
                            <a:srgbClr val="262626"/>
                          </a:solidFill>
                          <a:latin typeface="Arial"/>
                        </a:rPr>
                        <a:t>2024</a:t>
                      </a:r>
                    </a:p>
                  </a:txBody>
                  <a:tcPr>
                    <a:solidFill>
                      <a:srgbClr val="F2F2F2"/>
                    </a:solidFill>
                  </a:tcPr>
                </a:tc>
                <a:tc>
                  <a:txBody>
                    <a:bodyPr/>
                    <a:lstStyle/>
                    <a:p>
                      <a:pPr algn="ctr"/>
                      <a:r>
                        <a:rPr sz="850" b="0" i="0">
                          <a:solidFill>
                            <a:srgbClr val="262626"/>
                          </a:solidFill>
                          <a:latin typeface="Arial"/>
                        </a:rPr>
                        <a:t>1:48:21</a:t>
                      </a:r>
                    </a:p>
                  </a:txBody>
                  <a:tcPr>
                    <a:solidFill>
                      <a:srgbClr val="F2F2F2"/>
                    </a:solidFill>
                  </a:tcPr>
                </a:tc>
                <a:tc>
                  <a:txBody>
                    <a:bodyPr/>
                    <a:lstStyle/>
                    <a:p>
                      <a:pPr algn="ctr"/>
                      <a:r>
                        <a:rPr sz="850" b="0" i="0">
                          <a:solidFill>
                            <a:srgbClr val="262626"/>
                          </a:solidFill>
                          <a:latin typeface="Arial"/>
                        </a:rPr>
                        <a:t>1:49:07
+46s</a:t>
                      </a:r>
                    </a:p>
                  </a:txBody>
                  <a:tcPr>
                    <a:solidFill>
                      <a:srgbClr val="F2F2F2"/>
                    </a:solidFill>
                  </a:tcPr>
                </a:tc>
                <a:tc>
                  <a:txBody>
                    <a:bodyPr/>
                    <a:lstStyle/>
                    <a:p>
                      <a:pPr algn="ctr"/>
                      <a:r>
                        <a:rPr sz="850" b="0" i="0">
                          <a:solidFill>
                            <a:srgbClr val="262626"/>
                          </a:solidFill>
                          <a:latin typeface="Arial"/>
                        </a:rPr>
                        <a:t>1:49:18
+57s</a:t>
                      </a:r>
                    </a:p>
                  </a:txBody>
                  <a:tcPr>
                    <a:solidFill>
                      <a:srgbClr val="F2F2F2"/>
                    </a:solidFill>
                  </a:tcPr>
                </a:tc>
                <a:tc>
                  <a:txBody>
                    <a:bodyPr/>
                    <a:lstStyle/>
                    <a:p>
                      <a:pPr algn="ctr"/>
                      <a:r>
                        <a:rPr sz="850" b="0" i="0">
                          <a:solidFill>
                            <a:srgbClr val="262626"/>
                          </a:solidFill>
                          <a:latin typeface="Arial"/>
                        </a:rPr>
                        <a:t>1:49:52
+91s</a:t>
                      </a:r>
                    </a:p>
                  </a:txBody>
                  <a:tcPr>
                    <a:solidFill>
                      <a:srgbClr val="F2F2F2"/>
                    </a:solidFill>
                  </a:tcPr>
                </a:tc>
                <a:tc>
                  <a:txBody>
                    <a:bodyPr/>
                    <a:lstStyle/>
                    <a:p>
                      <a:pPr algn="ctr"/>
                      <a:r>
                        <a:rPr sz="850" b="0" i="0">
                          <a:solidFill>
                            <a:srgbClr val="262626"/>
                          </a:solidFill>
                          <a:latin typeface="Arial"/>
                        </a:rPr>
                        <a:t>1:50:42
+141s</a:t>
                      </a:r>
                    </a:p>
                  </a:txBody>
                  <a:tcPr>
                    <a:solidFill>
                      <a:srgbClr val="F2F2F2"/>
                    </a:solidFill>
                  </a:tcPr>
                </a:tc>
                <a:tc>
                  <a:txBody>
                    <a:bodyPr/>
                    <a:lstStyle/>
                    <a:p>
                      <a:pPr algn="ctr"/>
                      <a:r>
                        <a:rPr sz="850" b="0" i="0">
                          <a:solidFill>
                            <a:srgbClr val="262626"/>
                          </a:solidFill>
                          <a:latin typeface="Arial"/>
                        </a:rPr>
                        <a:t>1:52:07
+226s</a:t>
                      </a:r>
                    </a:p>
                  </a:txBody>
                  <a:tcPr>
                    <a:solidFill>
                      <a:srgbClr val="F2F2F2"/>
                    </a:solidFill>
                  </a:tcPr>
                </a:tc>
                <a:extLst>
                  <a:ext uri="{0D108BD9-81ED-4DB2-BD59-A6C34878D82A}">
                    <a16:rowId xmlns:a16="http://schemas.microsoft.com/office/drawing/2014/main" val="10004"/>
                  </a:ext>
                </a:extLst>
              </a:tr>
              <a:tr h="347472">
                <a:tc>
                  <a:txBody>
                    <a:bodyPr/>
                    <a:lstStyle/>
                    <a:p>
                      <a:pPr algn="ctr"/>
                      <a:r>
                        <a:rPr sz="1000" b="1" i="0">
                          <a:solidFill>
                            <a:srgbClr val="262626"/>
                          </a:solidFill>
                          <a:latin typeface="Arial"/>
                        </a:rPr>
                        <a:t>2025</a:t>
                      </a:r>
                    </a:p>
                  </a:txBody>
                  <a:tcPr>
                    <a:solidFill>
                      <a:srgbClr val="FFFFFF"/>
                    </a:solidFill>
                  </a:tcPr>
                </a:tc>
                <a:tc>
                  <a:txBody>
                    <a:bodyPr/>
                    <a:lstStyle/>
                    <a:p>
                      <a:pPr algn="ctr"/>
                      <a:r>
                        <a:rPr sz="850" b="0" i="0">
                          <a:solidFill>
                            <a:srgbClr val="262626"/>
                          </a:solidFill>
                          <a:latin typeface="Arial"/>
                        </a:rPr>
                        <a:t>1:40:03</a:t>
                      </a:r>
                    </a:p>
                  </a:txBody>
                  <a:tcPr>
                    <a:solidFill>
                      <a:srgbClr val="FFFFFF"/>
                    </a:solidFill>
                  </a:tcPr>
                </a:tc>
                <a:tc>
                  <a:txBody>
                    <a:bodyPr/>
                    <a:lstStyle/>
                    <a:p>
                      <a:pPr algn="ctr"/>
                      <a:r>
                        <a:rPr sz="850" b="0" i="0">
                          <a:solidFill>
                            <a:srgbClr val="262626"/>
                          </a:solidFill>
                          <a:latin typeface="Arial"/>
                        </a:rPr>
                        <a:t>1:40:27
+24s</a:t>
                      </a:r>
                    </a:p>
                  </a:txBody>
                  <a:tcPr>
                    <a:solidFill>
                      <a:srgbClr val="FFFFFF"/>
                    </a:solidFill>
                  </a:tcPr>
                </a:tc>
                <a:tc>
                  <a:txBody>
                    <a:bodyPr/>
                    <a:lstStyle/>
                    <a:p>
                      <a:pPr algn="ctr"/>
                      <a:r>
                        <a:rPr sz="850" b="0" i="0">
                          <a:solidFill>
                            <a:srgbClr val="262626"/>
                          </a:solidFill>
                          <a:latin typeface="Arial"/>
                        </a:rPr>
                        <a:t>1:40:35
+32s</a:t>
                      </a:r>
                    </a:p>
                  </a:txBody>
                  <a:tcPr>
                    <a:solidFill>
                      <a:srgbClr val="FFFFFF"/>
                    </a:solidFill>
                  </a:tcPr>
                </a:tc>
                <a:tc>
                  <a:txBody>
                    <a:bodyPr/>
                    <a:lstStyle/>
                    <a:p>
                      <a:pPr algn="ctr"/>
                      <a:r>
                        <a:rPr sz="850" b="0" i="0">
                          <a:solidFill>
                            <a:srgbClr val="262626"/>
                          </a:solidFill>
                          <a:latin typeface="Arial"/>
                        </a:rPr>
                        <a:t>1:41:05
+62s</a:t>
                      </a:r>
                    </a:p>
                  </a:txBody>
                  <a:tcPr>
                    <a:solidFill>
                      <a:srgbClr val="FFFFFF"/>
                    </a:solidFill>
                  </a:tcPr>
                </a:tc>
                <a:tc>
                  <a:txBody>
                    <a:bodyPr/>
                    <a:lstStyle/>
                    <a:p>
                      <a:pPr algn="ctr"/>
                      <a:r>
                        <a:rPr sz="850" b="0" i="0">
                          <a:solidFill>
                            <a:srgbClr val="262626"/>
                          </a:solidFill>
                          <a:latin typeface="Arial"/>
                        </a:rPr>
                        <a:t>1:41:28
+85s</a:t>
                      </a:r>
                    </a:p>
                  </a:txBody>
                  <a:tcPr>
                    <a:solidFill>
                      <a:srgbClr val="FFFFFF"/>
                    </a:solidFill>
                  </a:tcPr>
                </a:tc>
                <a:tc>
                  <a:txBody>
                    <a:bodyPr/>
                    <a:lstStyle/>
                    <a:p>
                      <a:pPr algn="ctr"/>
                      <a:r>
                        <a:rPr sz="850" b="0" i="0">
                          <a:solidFill>
                            <a:srgbClr val="262626"/>
                          </a:solidFill>
                          <a:latin typeface="Arial"/>
                        </a:rPr>
                        <a:t>1:42:37
+154s</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2743200"/>
        </p:xfrm>
        <a:graphic>
          <a:graphicData uri="http://schemas.openxmlformats.org/drawingml/2006/table">
            <a:tbl>
              <a:tblPr firstRow="1" bandRow="1">
                <a:tableStyleId>{5C22544A-7EE6-4342-B048-85BDC9FD1C3A}</a:tableStyleId>
              </a:tblPr>
              <a:tblGrid>
                <a:gridCol w="591571">
                  <a:extLst>
                    <a:ext uri="{9D8B030D-6E8A-4147-A177-3AD203B41FA5}">
                      <a16:colId xmlns:a16="http://schemas.microsoft.com/office/drawing/2014/main" val="20000"/>
                    </a:ext>
                  </a:extLst>
                </a:gridCol>
                <a:gridCol w="864604">
                  <a:extLst>
                    <a:ext uri="{9D8B030D-6E8A-4147-A177-3AD203B41FA5}">
                      <a16:colId xmlns:a16="http://schemas.microsoft.com/office/drawing/2014/main" val="20001"/>
                    </a:ext>
                  </a:extLst>
                </a:gridCol>
                <a:gridCol w="910110">
                  <a:extLst>
                    <a:ext uri="{9D8B030D-6E8A-4147-A177-3AD203B41FA5}">
                      <a16:colId xmlns:a16="http://schemas.microsoft.com/office/drawing/2014/main" val="20002"/>
                    </a:ext>
                  </a:extLst>
                </a:gridCol>
                <a:gridCol w="819099">
                  <a:extLst>
                    <a:ext uri="{9D8B030D-6E8A-4147-A177-3AD203B41FA5}">
                      <a16:colId xmlns:a16="http://schemas.microsoft.com/office/drawing/2014/main" val="20003"/>
                    </a:ext>
                  </a:extLst>
                </a:gridCol>
                <a:gridCol w="910110">
                  <a:extLst>
                    <a:ext uri="{9D8B030D-6E8A-4147-A177-3AD203B41FA5}">
                      <a16:colId xmlns:a16="http://schemas.microsoft.com/office/drawing/2014/main" val="20004"/>
                    </a:ext>
                  </a:extLst>
                </a:gridCol>
                <a:gridCol w="864604">
                  <a:extLst>
                    <a:ext uri="{9D8B030D-6E8A-4147-A177-3AD203B41FA5}">
                      <a16:colId xmlns:a16="http://schemas.microsoft.com/office/drawing/2014/main" val="20005"/>
                    </a:ext>
                  </a:extLst>
                </a:gridCol>
                <a:gridCol w="864604">
                  <a:extLst>
                    <a:ext uri="{9D8B030D-6E8A-4147-A177-3AD203B41FA5}">
                      <a16:colId xmlns:a16="http://schemas.microsoft.com/office/drawing/2014/main" val="20006"/>
                    </a:ext>
                  </a:extLst>
                </a:gridCol>
                <a:gridCol w="819099">
                  <a:extLst>
                    <a:ext uri="{9D8B030D-6E8A-4147-A177-3AD203B41FA5}">
                      <a16:colId xmlns:a16="http://schemas.microsoft.com/office/drawing/2014/main" val="20007"/>
                    </a:ext>
                  </a:extLst>
                </a:gridCol>
                <a:gridCol w="4996506">
                  <a:extLst>
                    <a:ext uri="{9D8B030D-6E8A-4147-A177-3AD203B41FA5}">
                      <a16:colId xmlns:a16="http://schemas.microsoft.com/office/drawing/2014/main" val="20008"/>
                    </a:ext>
                  </a:extLst>
                </a:gridCol>
              </a:tblGrid>
              <a:tr h="457200">
                <a:tc>
                  <a:txBody>
                    <a:bodyPr/>
                    <a:lstStyle/>
                    <a:p>
                      <a:pPr algn="ctr"/>
                      <a:r>
                        <a:rPr sz="1200" b="1" i="0">
                          <a:solidFill>
                            <a:srgbClr val="FFFFFF"/>
                          </a:solidFill>
                          <a:latin typeface="Arial"/>
                        </a:rPr>
                        <a:t>Year</a:t>
                      </a:r>
                    </a:p>
                  </a:txBody>
                  <a:tcPr>
                    <a:solidFill>
                      <a:srgbClr val="002060"/>
                    </a:solidFill>
                  </a:tcPr>
                </a:tc>
                <a:tc>
                  <a:txBody>
                    <a:bodyPr/>
                    <a:lstStyle/>
                    <a:p>
                      <a:pPr algn="ctr"/>
                      <a:r>
                        <a:rPr sz="1200" b="1" i="0">
                          <a:solidFill>
                            <a:srgbClr val="FFFFFF"/>
                          </a:solidFill>
                          <a:latin typeface="Arial"/>
                        </a:rPr>
                        <a:t>Date</a:t>
                      </a:r>
                    </a:p>
                  </a:txBody>
                  <a:tcPr>
                    <a:solidFill>
                      <a:srgbClr val="002060"/>
                    </a:solidFill>
                  </a:tcPr>
                </a:tc>
                <a:tc>
                  <a:txBody>
                    <a:bodyPr/>
                    <a:lstStyle/>
                    <a:p>
                      <a:pPr algn="ctr"/>
                      <a:r>
                        <a:rPr sz="1200" b="1" i="0">
                          <a:solidFill>
                            <a:srgbClr val="FFFFFF"/>
                          </a:solidFill>
                          <a:latin typeface="Arial"/>
                        </a:rPr>
                        <a:t>Air Temp</a:t>
                      </a:r>
                    </a:p>
                  </a:txBody>
                  <a:tcPr>
                    <a:solidFill>
                      <a:srgbClr val="002060"/>
                    </a:solidFill>
                  </a:tcPr>
                </a:tc>
                <a:tc>
                  <a:txBody>
                    <a:bodyPr/>
                    <a:lstStyle/>
                    <a:p>
                      <a:pPr algn="ctr"/>
                      <a:r>
                        <a:rPr sz="1200" b="1" i="0">
                          <a:solidFill>
                            <a:srgbClr val="FFFFFF"/>
                          </a:solidFill>
                          <a:latin typeface="Arial"/>
                        </a:rPr>
                        <a:t>Humidity</a:t>
                      </a:r>
                    </a:p>
                  </a:txBody>
                  <a:tcPr>
                    <a:solidFill>
                      <a:srgbClr val="002060"/>
                    </a:solidFill>
                  </a:tcPr>
                </a:tc>
                <a:tc>
                  <a:txBody>
                    <a:bodyPr/>
                    <a:lstStyle/>
                    <a:p>
                      <a:pPr algn="ctr"/>
                      <a:r>
                        <a:rPr sz="1200" b="1" i="0">
                          <a:solidFill>
                            <a:srgbClr val="FFFFFF"/>
                          </a:solidFill>
                          <a:latin typeface="Arial"/>
                        </a:rPr>
                        <a:t>Wind (km/h)</a:t>
                      </a:r>
                    </a:p>
                  </a:txBody>
                  <a:tcPr>
                    <a:solidFill>
                      <a:srgbClr val="002060"/>
                    </a:solidFill>
                  </a:tcPr>
                </a:tc>
                <a:tc>
                  <a:txBody>
                    <a:bodyPr/>
                    <a:lstStyle/>
                    <a:p>
                      <a:pPr algn="ctr"/>
                      <a:r>
                        <a:rPr sz="1200" b="1" i="0">
                          <a:solidFill>
                            <a:srgbClr val="FFFFFF"/>
                          </a:solidFill>
                          <a:latin typeface="Arial"/>
                        </a:rPr>
                        <a:t>Precip (mm)</a:t>
                      </a:r>
                    </a:p>
                  </a:txBody>
                  <a:tcPr>
                    <a:solidFill>
                      <a:srgbClr val="002060"/>
                    </a:solidFill>
                  </a:tcPr>
                </a:tc>
                <a:tc>
                  <a:txBody>
                    <a:bodyPr/>
                    <a:lstStyle/>
                    <a:p>
                      <a:pPr algn="ctr"/>
                      <a:r>
                        <a:rPr sz="1200" b="1" i="0">
                          <a:solidFill>
                            <a:srgbClr val="FFFFFF"/>
                          </a:solidFill>
                          <a:latin typeface="Arial"/>
                        </a:rPr>
                        <a:t>Water Temp</a:t>
                      </a:r>
                    </a:p>
                  </a:txBody>
                  <a:tcPr>
                    <a:solidFill>
                      <a:srgbClr val="002060"/>
                    </a:solidFill>
                  </a:tcPr>
                </a:tc>
                <a:tc>
                  <a:txBody>
                    <a:bodyPr/>
                    <a:lstStyle/>
                    <a:p>
                      <a:pPr algn="ctr"/>
                      <a:r>
                        <a:rPr sz="1200" b="1" i="0">
                          <a:solidFill>
                            <a:srgbClr val="FFFFFF"/>
                          </a:solidFill>
                          <a:latin typeface="Arial"/>
                        </a:rPr>
                        <a:t>Wetsuit</a:t>
                      </a:r>
                    </a:p>
                  </a:txBody>
                  <a:tcPr>
                    <a:solidFill>
                      <a:srgbClr val="002060"/>
                    </a:solidFill>
                  </a:tcPr>
                </a:tc>
                <a:tc>
                  <a:txBody>
                    <a:bodyPr/>
                    <a:lstStyle/>
                    <a:p>
                      <a:pPr algn="ctr"/>
                      <a:r>
                        <a:rPr sz="1200" b="1" i="0">
                          <a:solidFill>
                            <a:srgbClr val="FFFFFF"/>
                          </a:solidFill>
                          <a:latin typeface="Arial"/>
                        </a:rPr>
                        <a:t>Conditions</a:t>
                      </a:r>
                    </a:p>
                  </a:txBody>
                  <a:tcPr>
                    <a:solidFill>
                      <a:srgbClr val="002060"/>
                    </a:solidFill>
                  </a:tcPr>
                </a:tc>
                <a:extLst>
                  <a:ext uri="{0D108BD9-81ED-4DB2-BD59-A6C34878D82A}">
                    <a16:rowId xmlns:a16="http://schemas.microsoft.com/office/drawing/2014/main" val="10000"/>
                  </a:ext>
                </a:extLst>
              </a:tr>
              <a:tr h="457200">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Sep 22</a:t>
                      </a:r>
                    </a:p>
                  </a:txBody>
                  <a:tcPr>
                    <a:solidFill>
                      <a:srgbClr val="FFFFFF"/>
                    </a:solidFill>
                  </a:tcPr>
                </a:tc>
                <a:tc>
                  <a:txBody>
                    <a:bodyPr/>
                    <a:lstStyle/>
                    <a:p>
                      <a:pPr algn="ctr"/>
                      <a:r>
                        <a:rPr sz="1000" b="0" i="0">
                          <a:solidFill>
                            <a:srgbClr val="262626"/>
                          </a:solidFill>
                          <a:latin typeface="Arial"/>
                        </a:rPr>
                        <a:t>23.5°*</a:t>
                      </a:r>
                    </a:p>
                  </a:txBody>
                  <a:tcPr>
                    <a:solidFill>
                      <a:srgbClr val="FFFFFF"/>
                    </a:solidFill>
                  </a:tcPr>
                </a:tc>
                <a:tc>
                  <a:txBody>
                    <a:bodyPr/>
                    <a:lstStyle/>
                    <a:p>
                      <a:pPr algn="ctr"/>
                      <a:r>
                        <a:rPr sz="1000" b="0" i="0">
                          <a:solidFill>
                            <a:srgbClr val="262626"/>
                          </a:solidFill>
                          <a:latin typeface="Arial"/>
                        </a:rPr>
                        <a:t>39%</a:t>
                      </a:r>
                    </a:p>
                  </a:txBody>
                  <a:tcPr>
                    <a:solidFill>
                      <a:srgbClr val="FFFFFF"/>
                    </a:solidFill>
                  </a:tcPr>
                </a:tc>
                <a:tc>
                  <a:txBody>
                    <a:bodyPr/>
                    <a:lstStyle/>
                    <a:p>
                      <a:pPr algn="ctr"/>
                      <a:r>
                        <a:rPr sz="1000" b="0" i="0">
                          <a:solidFill>
                            <a:srgbClr val="262626"/>
                          </a:solidFill>
                          <a:latin typeface="Arial"/>
                        </a:rPr>
                        <a:t>9</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457200">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Sep 21</a:t>
                      </a:r>
                    </a:p>
                  </a:txBody>
                  <a:tcPr>
                    <a:solidFill>
                      <a:srgbClr val="F2F2F2"/>
                    </a:solidFill>
                  </a:tcPr>
                </a:tc>
                <a:tc>
                  <a:txBody>
                    <a:bodyPr/>
                    <a:lstStyle/>
                    <a:p>
                      <a:pPr algn="ctr"/>
                      <a:r>
                        <a:rPr sz="1000" b="0" i="0">
                          <a:solidFill>
                            <a:srgbClr val="262626"/>
                          </a:solidFill>
                          <a:latin typeface="Arial"/>
                        </a:rPr>
                        <a:t>23.3°*</a:t>
                      </a:r>
                    </a:p>
                  </a:txBody>
                  <a:tcPr>
                    <a:solidFill>
                      <a:srgbClr val="F2F2F2"/>
                    </a:solidFill>
                  </a:tcPr>
                </a:tc>
                <a:tc>
                  <a:txBody>
                    <a:bodyPr/>
                    <a:lstStyle/>
                    <a:p>
                      <a:pPr algn="ctr"/>
                      <a:r>
                        <a:rPr sz="1000" b="0" i="0">
                          <a:solidFill>
                            <a:srgbClr val="262626"/>
                          </a:solidFill>
                          <a:latin typeface="Arial"/>
                        </a:rPr>
                        <a:t>66%</a:t>
                      </a:r>
                    </a:p>
                  </a:txBody>
                  <a:tcPr>
                    <a:solidFill>
                      <a:srgbClr val="F2F2F2"/>
                    </a:solidFill>
                  </a:tcPr>
                </a:tc>
                <a:tc>
                  <a:txBody>
                    <a:bodyPr/>
                    <a:lstStyle/>
                    <a:p>
                      <a:pPr algn="ctr"/>
                      <a:r>
                        <a:rPr sz="1000" b="0" i="0">
                          <a:solidFill>
                            <a:srgbClr val="262626"/>
                          </a:solidFill>
                          <a:latin typeface="Arial"/>
                        </a:rPr>
                        <a:t>20</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457200">
                <a:tc>
                  <a:txBody>
                    <a:bodyPr/>
                    <a:lstStyle/>
                    <a:p>
                      <a:pPr algn="ctr"/>
                      <a:r>
                        <a:rPr sz="1000" b="0" i="0">
                          <a:solidFill>
                            <a:srgbClr val="262626"/>
                          </a:solidFill>
                          <a:latin typeface="Arial"/>
                        </a:rPr>
                        <a:t>2023</a:t>
                      </a:r>
                    </a:p>
                  </a:txBody>
                  <a:tcPr>
                    <a:solidFill>
                      <a:srgbClr val="FFFFFF"/>
                    </a:solidFill>
                  </a:tcPr>
                </a:tc>
                <a:tc>
                  <a:txBody>
                    <a:bodyPr/>
                    <a:lstStyle/>
                    <a:p>
                      <a:pPr algn="ctr"/>
                      <a:r>
                        <a:rPr sz="1000" b="0" i="0">
                          <a:solidFill>
                            <a:srgbClr val="262626"/>
                          </a:solidFill>
                          <a:latin typeface="Arial"/>
                        </a:rPr>
                        <a:t>Aug 26</a:t>
                      </a:r>
                    </a:p>
                  </a:txBody>
                  <a:tcPr>
                    <a:solidFill>
                      <a:srgbClr val="FFFFFF"/>
                    </a:solidFill>
                  </a:tcPr>
                </a:tc>
                <a:tc>
                  <a:txBody>
                    <a:bodyPr/>
                    <a:lstStyle/>
                    <a:p>
                      <a:pPr algn="ctr"/>
                      <a:r>
                        <a:rPr sz="1000" b="0" i="0">
                          <a:solidFill>
                            <a:srgbClr val="262626"/>
                          </a:solidFill>
                          <a:latin typeface="Arial"/>
                        </a:rPr>
                        <a:t>27.2</a:t>
                      </a:r>
                    </a:p>
                  </a:txBody>
                  <a:tcPr>
                    <a:solidFill>
                      <a:srgbClr val="FFFFFF"/>
                    </a:solidFill>
                  </a:tcPr>
                </a:tc>
                <a:tc>
                  <a:txBody>
                    <a:bodyPr/>
                    <a:lstStyle/>
                    <a:p>
                      <a:pPr algn="ctr"/>
                      <a:r>
                        <a:rPr sz="1000" b="0" i="0">
                          <a:solidFill>
                            <a:srgbClr val="262626"/>
                          </a:solidFill>
                          <a:latin typeface="Arial"/>
                        </a:rPr>
                        <a:t>60%</a:t>
                      </a:r>
                    </a:p>
                  </a:txBody>
                  <a:tcPr>
                    <a:solidFill>
                      <a:srgbClr val="FFFFFF"/>
                    </a:solidFill>
                  </a:tcPr>
                </a:tc>
                <a:tc>
                  <a:txBody>
                    <a:bodyPr/>
                    <a:lstStyle/>
                    <a:p>
                      <a:pPr algn="ctr"/>
                      <a:r>
                        <a:rPr sz="1000" b="0" i="0">
                          <a:solidFill>
                            <a:srgbClr val="262626"/>
                          </a:solidFill>
                          <a:latin typeface="Arial"/>
                        </a:rPr>
                        <a:t>16</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25.8</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457200">
                <a:tc>
                  <a:txBody>
                    <a:bodyPr/>
                    <a:lstStyle/>
                    <a:p>
                      <a:pPr algn="ctr"/>
                      <a:r>
                        <a:rPr sz="1000" b="0" i="0">
                          <a:solidFill>
                            <a:srgbClr val="262626"/>
                          </a:solidFill>
                          <a:latin typeface="Arial"/>
                        </a:rPr>
                        <a:t>2024</a:t>
                      </a:r>
                    </a:p>
                  </a:txBody>
                  <a:tcPr>
                    <a:solidFill>
                      <a:srgbClr val="F2F2F2"/>
                    </a:solidFill>
                  </a:tcPr>
                </a:tc>
                <a:tc>
                  <a:txBody>
                    <a:bodyPr/>
                    <a:lstStyle/>
                    <a:p>
                      <a:pPr algn="ctr"/>
                      <a:r>
                        <a:rPr sz="1000" b="0" i="0">
                          <a:solidFill>
                            <a:srgbClr val="262626"/>
                          </a:solidFill>
                          <a:latin typeface="Arial"/>
                        </a:rPr>
                        <a:t>Sep 27</a:t>
                      </a:r>
                    </a:p>
                  </a:txBody>
                  <a:tcPr>
                    <a:solidFill>
                      <a:srgbClr val="F2F2F2"/>
                    </a:solidFill>
                  </a:tcPr>
                </a:tc>
                <a:tc>
                  <a:txBody>
                    <a:bodyPr/>
                    <a:lstStyle/>
                    <a:p>
                      <a:pPr algn="ctr"/>
                      <a:r>
                        <a:rPr sz="1000" b="0" i="0">
                          <a:solidFill>
                            <a:srgbClr val="262626"/>
                          </a:solidFill>
                          <a:latin typeface="Arial"/>
                        </a:rPr>
                        <a:t>24.1</a:t>
                      </a:r>
                    </a:p>
                  </a:txBody>
                  <a:tcPr>
                    <a:solidFill>
                      <a:srgbClr val="F2F2F2"/>
                    </a:solidFill>
                  </a:tcPr>
                </a:tc>
                <a:tc>
                  <a:txBody>
                    <a:bodyPr/>
                    <a:lstStyle/>
                    <a:p>
                      <a:pPr algn="ctr"/>
                      <a:r>
                        <a:rPr sz="1000" b="0" i="0">
                          <a:solidFill>
                            <a:srgbClr val="262626"/>
                          </a:solidFill>
                          <a:latin typeface="Arial"/>
                        </a:rPr>
                        <a:t>62%</a:t>
                      </a:r>
                    </a:p>
                  </a:txBody>
                  <a:tcPr>
                    <a:solidFill>
                      <a:srgbClr val="F2F2F2"/>
                    </a:solidFill>
                  </a:tcPr>
                </a:tc>
                <a:tc>
                  <a:txBody>
                    <a:bodyPr/>
                    <a:lstStyle/>
                    <a:p>
                      <a:pPr algn="ctr"/>
                      <a:r>
                        <a:rPr sz="1000" b="0" i="0">
                          <a:solidFill>
                            <a:srgbClr val="262626"/>
                          </a:solidFill>
                          <a:latin typeface="Arial"/>
                        </a:rPr>
                        <a:t>14</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24.4</a:t>
                      </a:r>
                    </a:p>
                  </a:txBody>
                  <a:tcPr>
                    <a:solidFill>
                      <a:srgbClr val="F2F2F2"/>
                    </a:solidFill>
                  </a:tcPr>
                </a:tc>
                <a:tc>
                  <a:txBody>
                    <a:bodyPr/>
                    <a:lstStyle/>
                    <a:p>
                      <a:pPr algn="ctr"/>
                      <a:r>
                        <a:rPr sz="1000" b="0" i="0">
                          <a:solidFill>
                            <a:srgbClr val="262626"/>
                          </a:solidFill>
                          <a:latin typeface="Arial"/>
                        </a:rPr>
                        <a:t>forbidden</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457200">
                <a:tc>
                  <a:txBody>
                    <a:bodyPr/>
                    <a:lstStyle/>
                    <a:p>
                      <a:pPr algn="ctr"/>
                      <a:r>
                        <a:rPr sz="1000" b="0" i="0">
                          <a:solidFill>
                            <a:srgbClr val="262626"/>
                          </a:solidFill>
                          <a:latin typeface="Arial"/>
                        </a:rPr>
                        <a:t>2025</a:t>
                      </a:r>
                    </a:p>
                  </a:txBody>
                  <a:tcPr>
                    <a:solidFill>
                      <a:srgbClr val="FFFFFF"/>
                    </a:solidFill>
                  </a:tcPr>
                </a:tc>
                <a:tc>
                  <a:txBody>
                    <a:bodyPr/>
                    <a:lstStyle/>
                    <a:p>
                      <a:pPr algn="ctr"/>
                      <a:r>
                        <a:rPr sz="1000" b="0" i="0">
                          <a:solidFill>
                            <a:srgbClr val="262626"/>
                          </a:solidFill>
                          <a:latin typeface="Arial"/>
                        </a:rPr>
                        <a:t>Sep 26</a:t>
                      </a:r>
                    </a:p>
                  </a:txBody>
                  <a:tcPr>
                    <a:solidFill>
                      <a:srgbClr val="FFFFFF"/>
                    </a:solidFill>
                  </a:tcPr>
                </a:tc>
                <a:tc>
                  <a:txBody>
                    <a:bodyPr/>
                    <a:lstStyle/>
                    <a:p>
                      <a:pPr algn="ctr"/>
                      <a:r>
                        <a:rPr sz="1000" b="0" i="0">
                          <a:solidFill>
                            <a:srgbClr val="262626"/>
                          </a:solidFill>
                          <a:latin typeface="Arial"/>
                        </a:rPr>
                        <a:t>24.9</a:t>
                      </a:r>
                    </a:p>
                  </a:txBody>
                  <a:tcPr>
                    <a:solidFill>
                      <a:srgbClr val="FFFFFF"/>
                    </a:solidFill>
                  </a:tcPr>
                </a:tc>
                <a:tc>
                  <a:txBody>
                    <a:bodyPr/>
                    <a:lstStyle/>
                    <a:p>
                      <a:pPr algn="ctr"/>
                      <a:r>
                        <a:rPr sz="1000" b="0" i="0">
                          <a:solidFill>
                            <a:srgbClr val="262626"/>
                          </a:solidFill>
                          <a:latin typeface="Arial"/>
                        </a:rPr>
                        <a:t>78%</a:t>
                      </a:r>
                    </a:p>
                  </a:txBody>
                  <a:tcPr>
                    <a:solidFill>
                      <a:srgbClr val="FFFFFF"/>
                    </a:solidFill>
                  </a:tcPr>
                </a:tc>
                <a:tc>
                  <a:txBody>
                    <a:bodyPr/>
                    <a:lstStyle/>
                    <a:p>
                      <a:pPr algn="ctr"/>
                      <a:r>
                        <a:rPr sz="1000" b="0" i="0">
                          <a:solidFill>
                            <a:srgbClr val="262626"/>
                          </a:solidFill>
                          <a:latin typeface="Arial"/>
                        </a:rPr>
                        <a:t>8</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24.2</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09:00–14:00 local) where WT API data is absent. Values marked * are Open-Meteo estimates. Water temp and wetsuit ruling are from the World Triathlon API per program.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WOMEN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Overview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640080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115568"/>
            <a:ext cx="6035040" cy="274320"/>
          </a:xfrm>
          <a:prstGeom prst="rect">
            <a:avLst/>
          </a:prstGeom>
          <a:noFill/>
        </p:spPr>
        <p:txBody>
          <a:bodyPr wrap="square">
            <a:spAutoFit/>
          </a:bodyPr>
          <a:lstStyle/>
          <a:p>
            <a:pPr algn="l"/>
            <a:r>
              <a:rPr sz="1200" b="1" i="0">
                <a:solidFill>
                  <a:srgbClr val="FFFFFF"/>
                </a:solidFill>
                <a:latin typeface="Arial"/>
              </a:rPr>
              <a:t>RACE HISTORY AT WEIHAI</a:t>
            </a:r>
          </a:p>
        </p:txBody>
      </p:sp>
      <p:sp>
        <p:nvSpPr>
          <p:cNvPr id="10" name="TextBox 9"/>
          <p:cNvSpPr txBox="1"/>
          <p:nvPr/>
        </p:nvSpPr>
        <p:spPr>
          <a:xfrm>
            <a:off x="274320" y="1508760"/>
            <a:ext cx="6400800" cy="2031325"/>
          </a:xfrm>
          <a:prstGeom prst="rect">
            <a:avLst/>
          </a:prstGeom>
          <a:noFill/>
        </p:spPr>
        <p:txBody>
          <a:bodyPr wrap="square">
            <a:spAutoFit/>
          </a:bodyPr>
          <a:lstStyle/>
          <a:p>
            <a:pPr algn="l"/>
            <a:r>
              <a:rPr sz="1400" b="0" i="0" dirty="0">
                <a:solidFill>
                  <a:srgbClr val="262626"/>
                </a:solidFill>
                <a:latin typeface="Arial"/>
              </a:rPr>
              <a:t>The Elite Women race at Weihai has been held 5 times in this analysis window (2018–2025). The event is staged as part of the World Cup / World Championship Series calendar.
</a:t>
            </a:r>
            <a:r>
              <a:rPr lang="en-US" sz="1400" b="0" i="0" dirty="0">
                <a:solidFill>
                  <a:srgbClr val="262626"/>
                </a:solidFill>
                <a:latin typeface="Arial"/>
              </a:rPr>
              <a:t>With a smaller field in the last two editions held at the WTCS level, the racing has tended to come together into T2 with the field then getting very spread out across the 10K. With warm temperatures anticipated here, its likely that a large group will race together on the bike, making it important to not overdo the opening 1-2K on the run. </a:t>
            </a:r>
            <a:endParaRPr sz="1400" b="0" i="0" dirty="0">
              <a:solidFill>
                <a:srgbClr val="262626"/>
              </a:solidFill>
              <a:latin typeface="Arial"/>
            </a:endParaRPr>
          </a:p>
        </p:txBody>
      </p:sp>
      <p:sp>
        <p:nvSpPr>
          <p:cNvPr id="11" name="Rectangle 10"/>
          <p:cNvSpPr/>
          <p:nvPr/>
        </p:nvSpPr>
        <p:spPr>
          <a:xfrm>
            <a:off x="6903720" y="1097280"/>
            <a:ext cx="4983480"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0" y="1115568"/>
            <a:ext cx="4663440"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p:cNvSpPr/>
          <p:nvPr/>
        </p:nvSpPr>
        <p:spPr>
          <a:xfrm>
            <a:off x="6949440" y="155448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4" name="TextBox 13"/>
          <p:cNvSpPr txBox="1"/>
          <p:nvPr/>
        </p:nvSpPr>
        <p:spPr>
          <a:xfrm>
            <a:off x="7452360" y="1536192"/>
            <a:ext cx="4434840" cy="954107"/>
          </a:xfrm>
          <a:prstGeom prst="rect">
            <a:avLst/>
          </a:prstGeom>
          <a:noFill/>
        </p:spPr>
        <p:txBody>
          <a:bodyPr wrap="square">
            <a:spAutoFit/>
          </a:bodyPr>
          <a:lstStyle/>
          <a:p>
            <a:pPr algn="l"/>
            <a:r>
              <a:rPr lang="en-US" sz="1400" b="0" i="0" dirty="0">
                <a:solidFill>
                  <a:srgbClr val="262626"/>
                </a:solidFill>
                <a:latin typeface="Arial"/>
              </a:rPr>
              <a:t>The swim here has been important in separating the field into roughly two groups; however, a small breakaway has not been able to definitely break</a:t>
            </a:r>
            <a:r>
              <a:rPr lang="en-US" sz="1400" dirty="0">
                <a:solidFill>
                  <a:srgbClr val="262626"/>
                </a:solidFill>
                <a:latin typeface="Arial"/>
              </a:rPr>
              <a:t>away in the last two WTCS editions here. </a:t>
            </a:r>
            <a:r>
              <a:rPr lang="en-US" sz="1400" b="0" i="0" dirty="0">
                <a:solidFill>
                  <a:srgbClr val="262626"/>
                </a:solidFill>
                <a:latin typeface="Arial"/>
              </a:rPr>
              <a:t>  </a:t>
            </a:r>
            <a:endParaRPr sz="1400" b="0" i="0" dirty="0">
              <a:solidFill>
                <a:srgbClr val="262626"/>
              </a:solidFill>
              <a:latin typeface="Arial"/>
            </a:endParaRPr>
          </a:p>
        </p:txBody>
      </p:sp>
      <p:sp>
        <p:nvSpPr>
          <p:cNvPr id="15" name="Rectangle 14"/>
          <p:cNvSpPr/>
          <p:nvPr/>
        </p:nvSpPr>
        <p:spPr>
          <a:xfrm>
            <a:off x="6949440" y="324612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6" name="TextBox 15"/>
          <p:cNvSpPr txBox="1"/>
          <p:nvPr/>
        </p:nvSpPr>
        <p:spPr>
          <a:xfrm>
            <a:off x="7452360" y="3227832"/>
            <a:ext cx="4434840" cy="1384995"/>
          </a:xfrm>
          <a:prstGeom prst="rect">
            <a:avLst/>
          </a:prstGeom>
          <a:noFill/>
        </p:spPr>
        <p:txBody>
          <a:bodyPr wrap="square">
            <a:spAutoFit/>
          </a:bodyPr>
          <a:lstStyle/>
          <a:p>
            <a:pPr algn="l"/>
            <a:r>
              <a:rPr lang="en-US" sz="1400" b="0" i="0" dirty="0">
                <a:solidFill>
                  <a:srgbClr val="262626"/>
                </a:solidFill>
                <a:latin typeface="Arial"/>
              </a:rPr>
              <a:t>In the past two editions of the race, the bike has largely come together with the main group of ~20 athletes all together into T2 with only a field size of 28 athletes. The flat course here enables motivated chasers the opportunity to close small to mid deficits out of the water.   </a:t>
            </a:r>
            <a:endParaRPr sz="1400" b="0" i="0" dirty="0">
              <a:solidFill>
                <a:srgbClr val="262626"/>
              </a:solidFill>
              <a:latin typeface="Arial"/>
            </a:endParaRPr>
          </a:p>
        </p:txBody>
      </p:sp>
      <p:sp>
        <p:nvSpPr>
          <p:cNvPr id="17" name="Rectangle 16"/>
          <p:cNvSpPr/>
          <p:nvPr/>
        </p:nvSpPr>
        <p:spPr>
          <a:xfrm>
            <a:off x="6949440" y="493776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8" name="TextBox 17"/>
          <p:cNvSpPr txBox="1"/>
          <p:nvPr/>
        </p:nvSpPr>
        <p:spPr>
          <a:xfrm>
            <a:off x="7452360" y="4919472"/>
            <a:ext cx="4434840" cy="1384995"/>
          </a:xfrm>
          <a:prstGeom prst="rect">
            <a:avLst/>
          </a:prstGeom>
          <a:noFill/>
        </p:spPr>
        <p:txBody>
          <a:bodyPr wrap="square">
            <a:spAutoFit/>
          </a:bodyPr>
          <a:lstStyle/>
          <a:p>
            <a:pPr algn="l"/>
            <a:r>
              <a:rPr lang="en-US" sz="1400" b="0" i="0" dirty="0">
                <a:solidFill>
                  <a:srgbClr val="262626"/>
                </a:solidFill>
                <a:latin typeface="Arial"/>
              </a:rPr>
              <a:t>Field gets very separated on the run here, making it very important to stay true to one’s own red line pacing. With the top 10 separated by ~3 minutes, letting the field go out hard and come back in the back half of the race should be top of mind for younger athletes with less 10K experience. </a:t>
            </a:r>
            <a:endParaRPr sz="1400" b="0" i="0" dirty="0">
              <a:solidFill>
                <a:srgbClr val="262626"/>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3291840"/>
        </p:xfrm>
        <a:graphic>
          <a:graphicData uri="http://schemas.openxmlformats.org/drawingml/2006/table">
            <a:tbl>
              <a:tblPr firstRow="1" bandRow="1">
                <a:tableStyleId>{5C22544A-7EE6-4342-B048-85BDC9FD1C3A}</a:tableStyleId>
              </a:tblPr>
              <a:tblGrid>
                <a:gridCol w="655082">
                  <a:extLst>
                    <a:ext uri="{9D8B030D-6E8A-4147-A177-3AD203B41FA5}">
                      <a16:colId xmlns:a16="http://schemas.microsoft.com/office/drawing/2014/main" val="20000"/>
                    </a:ext>
                  </a:extLst>
                </a:gridCol>
                <a:gridCol w="957428">
                  <a:extLst>
                    <a:ext uri="{9D8B030D-6E8A-4147-A177-3AD203B41FA5}">
                      <a16:colId xmlns:a16="http://schemas.microsoft.com/office/drawing/2014/main" val="20001"/>
                    </a:ext>
                  </a:extLst>
                </a:gridCol>
                <a:gridCol w="1914856">
                  <a:extLst>
                    <a:ext uri="{9D8B030D-6E8A-4147-A177-3AD203B41FA5}">
                      <a16:colId xmlns:a16="http://schemas.microsoft.com/office/drawing/2014/main" val="20002"/>
                    </a:ext>
                  </a:extLst>
                </a:gridCol>
                <a:gridCol w="554300">
                  <a:extLst>
                    <a:ext uri="{9D8B030D-6E8A-4147-A177-3AD203B41FA5}">
                      <a16:colId xmlns:a16="http://schemas.microsoft.com/office/drawing/2014/main" val="20003"/>
                    </a:ext>
                  </a:extLst>
                </a:gridCol>
                <a:gridCol w="755864">
                  <a:extLst>
                    <a:ext uri="{9D8B030D-6E8A-4147-A177-3AD203B41FA5}">
                      <a16:colId xmlns:a16="http://schemas.microsoft.com/office/drawing/2014/main" val="20004"/>
                    </a:ext>
                  </a:extLst>
                </a:gridCol>
                <a:gridCol w="2015638">
                  <a:extLst>
                    <a:ext uri="{9D8B030D-6E8A-4147-A177-3AD203B41FA5}">
                      <a16:colId xmlns:a16="http://schemas.microsoft.com/office/drawing/2014/main" val="20005"/>
                    </a:ext>
                  </a:extLst>
                </a:gridCol>
                <a:gridCol w="1007819">
                  <a:extLst>
                    <a:ext uri="{9D8B030D-6E8A-4147-A177-3AD203B41FA5}">
                      <a16:colId xmlns:a16="http://schemas.microsoft.com/office/drawing/2014/main" val="20006"/>
                    </a:ext>
                  </a:extLst>
                </a:gridCol>
                <a:gridCol w="806255">
                  <a:extLst>
                    <a:ext uri="{9D8B030D-6E8A-4147-A177-3AD203B41FA5}">
                      <a16:colId xmlns:a16="http://schemas.microsoft.com/office/drawing/2014/main" val="20007"/>
                    </a:ext>
                  </a:extLst>
                </a:gridCol>
                <a:gridCol w="856646">
                  <a:extLst>
                    <a:ext uri="{9D8B030D-6E8A-4147-A177-3AD203B41FA5}">
                      <a16:colId xmlns:a16="http://schemas.microsoft.com/office/drawing/2014/main" val="20008"/>
                    </a:ext>
                  </a:extLst>
                </a:gridCol>
                <a:gridCol w="705473">
                  <a:extLst>
                    <a:ext uri="{9D8B030D-6E8A-4147-A177-3AD203B41FA5}">
                      <a16:colId xmlns:a16="http://schemas.microsoft.com/office/drawing/2014/main" val="20009"/>
                    </a:ext>
                  </a:extLst>
                </a:gridCol>
                <a:gridCol w="705473">
                  <a:extLst>
                    <a:ext uri="{9D8B030D-6E8A-4147-A177-3AD203B41FA5}">
                      <a16:colId xmlns:a16="http://schemas.microsoft.com/office/drawing/2014/main" val="20010"/>
                    </a:ext>
                  </a:extLst>
                </a:gridCol>
                <a:gridCol w="705473">
                  <a:extLst>
                    <a:ext uri="{9D8B030D-6E8A-4147-A177-3AD203B41FA5}">
                      <a16:colId xmlns:a16="http://schemas.microsoft.com/office/drawing/2014/main" val="20011"/>
                    </a:ext>
                  </a:extLst>
                </a:gridCol>
              </a:tblGrid>
              <a:tr h="512064">
                <a:tc>
                  <a:txBody>
                    <a:bodyPr/>
                    <a:lstStyle/>
                    <a:p>
                      <a:pPr algn="ctr"/>
                      <a:r>
                        <a:rPr sz="1400" b="1" i="0">
                          <a:solidFill>
                            <a:srgbClr val="FFFFFF"/>
                          </a:solidFill>
                          <a:latin typeface="Arial"/>
                        </a:rPr>
                        <a:t>Year</a:t>
                      </a:r>
                    </a:p>
                  </a:txBody>
                  <a:tcPr>
                    <a:solidFill>
                      <a:srgbClr val="002060"/>
                    </a:solidFill>
                  </a:tcPr>
                </a:tc>
                <a:tc>
                  <a:txBody>
                    <a:bodyPr/>
                    <a:lstStyle/>
                    <a:p>
                      <a:pPr algn="ctr"/>
                      <a:r>
                        <a:rPr sz="1400" b="1" i="0">
                          <a:solidFill>
                            <a:srgbClr val="FFFFFF"/>
                          </a:solidFill>
                          <a:latin typeface="Arial"/>
                        </a:rPr>
                        <a:t>Date</a:t>
                      </a:r>
                    </a:p>
                  </a:txBody>
                  <a:tcPr>
                    <a:solidFill>
                      <a:srgbClr val="002060"/>
                    </a:solidFill>
                  </a:tcPr>
                </a:tc>
                <a:tc>
                  <a:txBody>
                    <a:bodyPr/>
                    <a:lstStyle/>
                    <a:p>
                      <a:pPr algn="ctr"/>
                      <a:r>
                        <a:rPr sz="1400" b="1" i="0">
                          <a:solidFill>
                            <a:srgbClr val="FFFFFF"/>
                          </a:solidFill>
                          <a:latin typeface="Arial"/>
                        </a:rPr>
                        <a:t>Category</a:t>
                      </a:r>
                    </a:p>
                  </a:txBody>
                  <a:tcPr>
                    <a:solidFill>
                      <a:srgbClr val="002060"/>
                    </a:solidFill>
                  </a:tcPr>
                </a:tc>
                <a:tc>
                  <a:txBody>
                    <a:bodyPr/>
                    <a:lstStyle/>
                    <a:p>
                      <a:pPr algn="ctr"/>
                      <a:r>
                        <a:rPr sz="1400" b="1" i="0">
                          <a:solidFill>
                            <a:srgbClr val="FFFFFF"/>
                          </a:solidFill>
                          <a:latin typeface="Arial"/>
                        </a:rPr>
                        <a:t>Field</a:t>
                      </a:r>
                    </a:p>
                  </a:txBody>
                  <a:tcPr>
                    <a:solidFill>
                      <a:srgbClr val="002060"/>
                    </a:solidFill>
                  </a:tcPr>
                </a:tc>
                <a:tc>
                  <a:txBody>
                    <a:bodyPr/>
                    <a:lstStyle/>
                    <a:p>
                      <a:pPr algn="ctr"/>
                      <a:r>
                        <a:rPr sz="1400" b="1" i="0">
                          <a:solidFill>
                            <a:srgbClr val="FFFFFF"/>
                          </a:solidFill>
                          <a:latin typeface="Arial"/>
                        </a:rPr>
                        <a:t>DNF/LAP/DNS</a:t>
                      </a:r>
                    </a:p>
                  </a:txBody>
                  <a:tcPr>
                    <a:solidFill>
                      <a:srgbClr val="002060"/>
                    </a:solidFill>
                  </a:tcPr>
                </a:tc>
                <a:tc>
                  <a:txBody>
                    <a:bodyPr/>
                    <a:lstStyle/>
                    <a:p>
                      <a:pPr algn="ctr"/>
                      <a:r>
                        <a:rPr sz="1400" b="1" i="0">
                          <a:solidFill>
                            <a:srgbClr val="FFFFFF"/>
                          </a:solidFill>
                          <a:latin typeface="Arial"/>
                        </a:rPr>
                        <a:t>Winner</a:t>
                      </a:r>
                    </a:p>
                  </a:txBody>
                  <a:tcPr>
                    <a:solidFill>
                      <a:srgbClr val="002060"/>
                    </a:solidFill>
                  </a:tcPr>
                </a:tc>
                <a:tc>
                  <a:txBody>
                    <a:bodyPr/>
                    <a:lstStyle/>
                    <a:p>
                      <a:pPr algn="ctr"/>
                      <a:r>
                        <a:rPr sz="1400" b="1" i="0">
                          <a:solidFill>
                            <a:srgbClr val="FFFFFF"/>
                          </a:solidFill>
                          <a:latin typeface="Arial"/>
                        </a:rPr>
                        <a:t>Winner Time</a:t>
                      </a:r>
                    </a:p>
                  </a:txBody>
                  <a:tcPr>
                    <a:solidFill>
                      <a:srgbClr val="002060"/>
                    </a:solidFill>
                  </a:tcPr>
                </a:tc>
                <a:tc>
                  <a:txBody>
                    <a:bodyPr/>
                    <a:lstStyle/>
                    <a:p>
                      <a:pPr algn="ctr"/>
                      <a:r>
                        <a:rPr sz="1400" b="1" i="0">
                          <a:solidFill>
                            <a:srgbClr val="FFFFFF"/>
                          </a:solidFill>
                          <a:latin typeface="Arial"/>
                        </a:rPr>
                        <a:t>Air Temp</a:t>
                      </a:r>
                    </a:p>
                  </a:txBody>
                  <a:tcPr>
                    <a:solidFill>
                      <a:srgbClr val="002060"/>
                    </a:solidFill>
                  </a:tcPr>
                </a:tc>
                <a:tc>
                  <a:txBody>
                    <a:bodyPr/>
                    <a:lstStyle/>
                    <a:p>
                      <a:pPr algn="ctr"/>
                      <a:r>
                        <a:rPr sz="1400" b="1" i="0">
                          <a:solidFill>
                            <a:srgbClr val="FFFFFF"/>
                          </a:solidFill>
                          <a:latin typeface="Arial"/>
                        </a:rPr>
                        <a:t>Water Temp</a:t>
                      </a:r>
                    </a:p>
                  </a:txBody>
                  <a:tcPr>
                    <a:solidFill>
                      <a:srgbClr val="002060"/>
                    </a:solidFill>
                  </a:tcPr>
                </a:tc>
                <a:tc>
                  <a:txBody>
                    <a:bodyPr/>
                    <a:lstStyle/>
                    <a:p>
                      <a:pPr algn="ctr"/>
                      <a:r>
                        <a:rPr sz="1400" b="1" i="0">
                          <a:solidFill>
                            <a:srgbClr val="FFFFFF"/>
                          </a:solidFill>
                          <a:latin typeface="Arial"/>
                        </a:rPr>
                        <a:t>Swim km</a:t>
                      </a:r>
                    </a:p>
                  </a:txBody>
                  <a:tcPr>
                    <a:solidFill>
                      <a:srgbClr val="002060"/>
                    </a:solidFill>
                  </a:tcPr>
                </a:tc>
                <a:tc>
                  <a:txBody>
                    <a:bodyPr/>
                    <a:lstStyle/>
                    <a:p>
                      <a:pPr algn="ctr"/>
                      <a:r>
                        <a:rPr sz="1400" b="1" i="0">
                          <a:solidFill>
                            <a:srgbClr val="FFFFFF"/>
                          </a:solidFill>
                          <a:latin typeface="Arial"/>
                        </a:rPr>
                        <a:t>Bike km</a:t>
                      </a:r>
                    </a:p>
                  </a:txBody>
                  <a:tcPr>
                    <a:solidFill>
                      <a:srgbClr val="002060"/>
                    </a:solidFill>
                  </a:tcPr>
                </a:tc>
                <a:tc>
                  <a:txBody>
                    <a:bodyPr/>
                    <a:lstStyle/>
                    <a:p>
                      <a:pPr algn="ctr"/>
                      <a:r>
                        <a:rPr sz="1400" b="1" i="0">
                          <a:solidFill>
                            <a:srgbClr val="FFFFFF"/>
                          </a:solidFill>
                          <a:latin typeface="Arial"/>
                        </a:rPr>
                        <a:t>Run km</a:t>
                      </a:r>
                    </a:p>
                  </a:txBody>
                  <a:tcPr>
                    <a:solidFill>
                      <a:srgbClr val="002060"/>
                    </a:solidFill>
                  </a:tcPr>
                </a:tc>
                <a:extLst>
                  <a:ext uri="{0D108BD9-81ED-4DB2-BD59-A6C34878D82A}">
                    <a16:rowId xmlns:a16="http://schemas.microsoft.com/office/drawing/2014/main" val="10000"/>
                  </a:ext>
                </a:extLst>
              </a:tr>
              <a:tr h="512064">
                <a:tc>
                  <a:txBody>
                    <a:bodyPr/>
                    <a:lstStyle/>
                    <a:p>
                      <a:pPr algn="ctr"/>
                      <a:r>
                        <a:rPr sz="1400" b="0" i="0">
                          <a:solidFill>
                            <a:srgbClr val="262626"/>
                          </a:solidFill>
                          <a:latin typeface="Arial"/>
                        </a:rPr>
                        <a:t>2018</a:t>
                      </a:r>
                    </a:p>
                  </a:txBody>
                  <a:tcPr>
                    <a:solidFill>
                      <a:srgbClr val="FFFFFF"/>
                    </a:solidFill>
                  </a:tcPr>
                </a:tc>
                <a:tc>
                  <a:txBody>
                    <a:bodyPr/>
                    <a:lstStyle/>
                    <a:p>
                      <a:pPr algn="ctr"/>
                      <a:r>
                        <a:rPr sz="1400" b="0" i="0">
                          <a:solidFill>
                            <a:srgbClr val="262626"/>
                          </a:solidFill>
                          <a:latin typeface="Arial"/>
                        </a:rPr>
                        <a:t>Sep 22</a:t>
                      </a:r>
                    </a:p>
                  </a:txBody>
                  <a:tcPr>
                    <a:solidFill>
                      <a:srgbClr val="FFFFFF"/>
                    </a:solidFill>
                  </a:tcPr>
                </a:tc>
                <a:tc>
                  <a:txBody>
                    <a:bodyPr/>
                    <a:lstStyle/>
                    <a:p>
                      <a:pPr algn="l"/>
                      <a:r>
                        <a:rPr sz="1200" b="0" i="0">
                          <a:solidFill>
                            <a:srgbClr val="262626"/>
                          </a:solidFill>
                          <a:latin typeface="Arial"/>
                        </a:rPr>
                        <a:t>World Cup</a:t>
                      </a:r>
                    </a:p>
                  </a:txBody>
                  <a:tcPr>
                    <a:solidFill>
                      <a:srgbClr val="FFFFFF"/>
                    </a:solidFill>
                  </a:tcPr>
                </a:tc>
                <a:tc>
                  <a:txBody>
                    <a:bodyPr/>
                    <a:lstStyle/>
                    <a:p>
                      <a:pPr algn="ctr"/>
                      <a:r>
                        <a:rPr sz="1400" b="0" i="0">
                          <a:solidFill>
                            <a:srgbClr val="262626"/>
                          </a:solidFill>
                          <a:latin typeface="Arial"/>
                        </a:rPr>
                        <a:t>44</a:t>
                      </a:r>
                    </a:p>
                  </a:txBody>
                  <a:tcPr>
                    <a:solidFill>
                      <a:srgbClr val="FFFFFF"/>
                    </a:solidFill>
                  </a:tcPr>
                </a:tc>
                <a:tc>
                  <a:txBody>
                    <a:bodyPr/>
                    <a:lstStyle/>
                    <a:p>
                      <a:pPr algn="ctr"/>
                      <a:r>
                        <a:rPr sz="1400" b="0" i="0">
                          <a:solidFill>
                            <a:srgbClr val="262626"/>
                          </a:solidFill>
                          <a:latin typeface="Arial"/>
                        </a:rPr>
                        <a:t>9</a:t>
                      </a:r>
                    </a:p>
                  </a:txBody>
                  <a:tcPr>
                    <a:solidFill>
                      <a:srgbClr val="FFFFFF"/>
                    </a:solidFill>
                  </a:tcPr>
                </a:tc>
                <a:tc>
                  <a:txBody>
                    <a:bodyPr/>
                    <a:lstStyle/>
                    <a:p>
                      <a:pPr algn="l"/>
                      <a:r>
                        <a:rPr sz="1400" b="0" i="0">
                          <a:solidFill>
                            <a:srgbClr val="262626"/>
                          </a:solidFill>
                          <a:latin typeface="Arial"/>
                        </a:rPr>
                        <a:t>Spivey</a:t>
                      </a:r>
                    </a:p>
                  </a:txBody>
                  <a:tcPr>
                    <a:solidFill>
                      <a:srgbClr val="FFFFFF"/>
                    </a:solidFill>
                  </a:tcPr>
                </a:tc>
                <a:tc>
                  <a:txBody>
                    <a:bodyPr/>
                    <a:lstStyle/>
                    <a:p>
                      <a:pPr algn="ctr"/>
                      <a:r>
                        <a:rPr sz="1400" b="0" i="0">
                          <a:solidFill>
                            <a:srgbClr val="262626"/>
                          </a:solidFill>
                          <a:latin typeface="Arial"/>
                        </a:rPr>
                        <a:t>2:08:02</a:t>
                      </a:r>
                    </a:p>
                  </a:txBody>
                  <a:tcPr>
                    <a:solidFill>
                      <a:srgbClr val="FFFFFF"/>
                    </a:solidFill>
                  </a:tcPr>
                </a:tc>
                <a:tc>
                  <a:txBody>
                    <a:bodyPr/>
                    <a:lstStyle/>
                    <a:p>
                      <a:pPr algn="ctr"/>
                      <a:r>
                        <a:rPr sz="1400" b="0" i="0">
                          <a:solidFill>
                            <a:srgbClr val="262626"/>
                          </a:solidFill>
                          <a:latin typeface="Arial"/>
                        </a:rPr>
                        <a:t>23.5°*</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512064">
                <a:tc>
                  <a:txBody>
                    <a:bodyPr/>
                    <a:lstStyle/>
                    <a:p>
                      <a:pPr algn="ctr"/>
                      <a:r>
                        <a:rPr sz="1400" b="0" i="0">
                          <a:solidFill>
                            <a:srgbClr val="262626"/>
                          </a:solidFill>
                          <a:latin typeface="Arial"/>
                        </a:rPr>
                        <a:t>2019</a:t>
                      </a:r>
                    </a:p>
                  </a:txBody>
                  <a:tcPr>
                    <a:solidFill>
                      <a:srgbClr val="F2F2F2"/>
                    </a:solidFill>
                  </a:tcPr>
                </a:tc>
                <a:tc>
                  <a:txBody>
                    <a:bodyPr/>
                    <a:lstStyle/>
                    <a:p>
                      <a:pPr algn="ctr"/>
                      <a:r>
                        <a:rPr sz="1400" b="0" i="0">
                          <a:solidFill>
                            <a:srgbClr val="262626"/>
                          </a:solidFill>
                          <a:latin typeface="Arial"/>
                        </a:rPr>
                        <a:t>Sep 21</a:t>
                      </a:r>
                    </a:p>
                  </a:txBody>
                  <a:tcPr>
                    <a:solidFill>
                      <a:srgbClr val="F2F2F2"/>
                    </a:solidFill>
                  </a:tcPr>
                </a:tc>
                <a:tc>
                  <a:txBody>
                    <a:bodyPr/>
                    <a:lstStyle/>
                    <a:p>
                      <a:pPr algn="l"/>
                      <a:r>
                        <a:rPr sz="1200" b="0" i="0">
                          <a:solidFill>
                            <a:srgbClr val="262626"/>
                          </a:solidFill>
                          <a:latin typeface="Arial"/>
                        </a:rPr>
                        <a:t>World Cup</a:t>
                      </a:r>
                    </a:p>
                  </a:txBody>
                  <a:tcPr>
                    <a:solidFill>
                      <a:srgbClr val="F2F2F2"/>
                    </a:solidFill>
                  </a:tcPr>
                </a:tc>
                <a:tc>
                  <a:txBody>
                    <a:bodyPr/>
                    <a:lstStyle/>
                    <a:p>
                      <a:pPr algn="ctr"/>
                      <a:r>
                        <a:rPr sz="1400" b="0" i="0">
                          <a:solidFill>
                            <a:srgbClr val="262626"/>
                          </a:solidFill>
                          <a:latin typeface="Arial"/>
                        </a:rPr>
                        <a:t>32</a:t>
                      </a:r>
                    </a:p>
                  </a:txBody>
                  <a:tcPr>
                    <a:solidFill>
                      <a:srgbClr val="F2F2F2"/>
                    </a:solidFill>
                  </a:tcPr>
                </a:tc>
                <a:tc>
                  <a:txBody>
                    <a:bodyPr/>
                    <a:lstStyle/>
                    <a:p>
                      <a:pPr algn="ctr"/>
                      <a:r>
                        <a:rPr sz="1400" b="0" i="0">
                          <a:solidFill>
                            <a:srgbClr val="262626"/>
                          </a:solidFill>
                          <a:latin typeface="Arial"/>
                        </a:rPr>
                        <a:t>5</a:t>
                      </a:r>
                    </a:p>
                  </a:txBody>
                  <a:tcPr>
                    <a:solidFill>
                      <a:srgbClr val="F2F2F2"/>
                    </a:solidFill>
                  </a:tcPr>
                </a:tc>
                <a:tc>
                  <a:txBody>
                    <a:bodyPr/>
                    <a:lstStyle/>
                    <a:p>
                      <a:pPr algn="l"/>
                      <a:r>
                        <a:rPr sz="1400" b="0" i="0">
                          <a:solidFill>
                            <a:srgbClr val="262626"/>
                          </a:solidFill>
                          <a:latin typeface="Arial"/>
                        </a:rPr>
                        <a:t>Derron</a:t>
                      </a:r>
                    </a:p>
                  </a:txBody>
                  <a:tcPr>
                    <a:solidFill>
                      <a:srgbClr val="F2F2F2"/>
                    </a:solidFill>
                  </a:tcPr>
                </a:tc>
                <a:tc>
                  <a:txBody>
                    <a:bodyPr/>
                    <a:lstStyle/>
                    <a:p>
                      <a:pPr algn="ctr"/>
                      <a:r>
                        <a:rPr sz="1400" b="0" i="0">
                          <a:solidFill>
                            <a:srgbClr val="262626"/>
                          </a:solidFill>
                          <a:latin typeface="Arial"/>
                        </a:rPr>
                        <a:t>2:08:03</a:t>
                      </a:r>
                    </a:p>
                  </a:txBody>
                  <a:tcPr>
                    <a:solidFill>
                      <a:srgbClr val="F2F2F2"/>
                    </a:solidFill>
                  </a:tcPr>
                </a:tc>
                <a:tc>
                  <a:txBody>
                    <a:bodyPr/>
                    <a:lstStyle/>
                    <a:p>
                      <a:pPr algn="ctr"/>
                      <a:r>
                        <a:rPr sz="1400" b="0" i="0">
                          <a:solidFill>
                            <a:srgbClr val="262626"/>
                          </a:solidFill>
                          <a:latin typeface="Arial"/>
                        </a:rPr>
                        <a:t>23.3°*</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512064">
                <a:tc>
                  <a:txBody>
                    <a:bodyPr/>
                    <a:lstStyle/>
                    <a:p>
                      <a:pPr algn="ctr"/>
                      <a:r>
                        <a:rPr sz="1400" b="0" i="0">
                          <a:solidFill>
                            <a:srgbClr val="262626"/>
                          </a:solidFill>
                          <a:latin typeface="Arial"/>
                        </a:rPr>
                        <a:t>2023</a:t>
                      </a:r>
                    </a:p>
                  </a:txBody>
                  <a:tcPr>
                    <a:solidFill>
                      <a:srgbClr val="FFFFFF"/>
                    </a:solidFill>
                  </a:tcPr>
                </a:tc>
                <a:tc>
                  <a:txBody>
                    <a:bodyPr/>
                    <a:lstStyle/>
                    <a:p>
                      <a:pPr algn="ctr"/>
                      <a:r>
                        <a:rPr sz="1400" b="0" i="0">
                          <a:solidFill>
                            <a:srgbClr val="262626"/>
                          </a:solidFill>
                          <a:latin typeface="Arial"/>
                        </a:rPr>
                        <a:t>Aug 26</a:t>
                      </a:r>
                    </a:p>
                  </a:txBody>
                  <a:tcPr>
                    <a:solidFill>
                      <a:srgbClr val="FFFFFF"/>
                    </a:solidFill>
                  </a:tcPr>
                </a:tc>
                <a:tc>
                  <a:txBody>
                    <a:bodyPr/>
                    <a:lstStyle/>
                    <a:p>
                      <a:pPr algn="l"/>
                      <a:r>
                        <a:rPr sz="1200" b="0" i="0">
                          <a:solidFill>
                            <a:srgbClr val="262626"/>
                          </a:solidFill>
                          <a:latin typeface="Arial"/>
                        </a:rPr>
                        <a:t>World Cup *</a:t>
                      </a:r>
                    </a:p>
                  </a:txBody>
                  <a:tcPr>
                    <a:solidFill>
                      <a:srgbClr val="FFFFFF"/>
                    </a:solidFill>
                  </a:tcPr>
                </a:tc>
                <a:tc>
                  <a:txBody>
                    <a:bodyPr/>
                    <a:lstStyle/>
                    <a:p>
                      <a:pPr algn="ctr"/>
                      <a:r>
                        <a:rPr sz="1400" b="0" i="0">
                          <a:solidFill>
                            <a:srgbClr val="262626"/>
                          </a:solidFill>
                          <a:latin typeface="Arial"/>
                        </a:rPr>
                        <a:t>34</a:t>
                      </a:r>
                    </a:p>
                  </a:txBody>
                  <a:tcPr>
                    <a:solidFill>
                      <a:srgbClr val="FFFFFF"/>
                    </a:solidFill>
                  </a:tcPr>
                </a:tc>
                <a:tc>
                  <a:txBody>
                    <a:bodyPr/>
                    <a:lstStyle/>
                    <a:p>
                      <a:pPr algn="ctr"/>
                      <a:r>
                        <a:rPr sz="1400" b="0" i="0">
                          <a:solidFill>
                            <a:srgbClr val="262626"/>
                          </a:solidFill>
                          <a:latin typeface="Arial"/>
                        </a:rPr>
                        <a:t>7</a:t>
                      </a:r>
                    </a:p>
                  </a:txBody>
                  <a:tcPr>
                    <a:solidFill>
                      <a:srgbClr val="FFFFFF"/>
                    </a:solidFill>
                  </a:tcPr>
                </a:tc>
                <a:tc>
                  <a:txBody>
                    <a:bodyPr/>
                    <a:lstStyle/>
                    <a:p>
                      <a:pPr algn="l"/>
                      <a:r>
                        <a:rPr sz="1400" b="0" i="0">
                          <a:solidFill>
                            <a:srgbClr val="262626"/>
                          </a:solidFill>
                          <a:latin typeface="Arial"/>
                        </a:rPr>
                        <a:t>Seregni</a:t>
                      </a:r>
                    </a:p>
                  </a:txBody>
                  <a:tcPr>
                    <a:solidFill>
                      <a:srgbClr val="FFFFFF"/>
                    </a:solidFill>
                  </a:tcPr>
                </a:tc>
                <a:tc>
                  <a:txBody>
                    <a:bodyPr/>
                    <a:lstStyle/>
                    <a:p>
                      <a:pPr algn="ctr"/>
                      <a:r>
                        <a:rPr sz="1400" b="0" i="0">
                          <a:solidFill>
                            <a:srgbClr val="262626"/>
                          </a:solidFill>
                          <a:latin typeface="Arial"/>
                        </a:rPr>
                        <a:t>1:58:42</a:t>
                      </a:r>
                    </a:p>
                  </a:txBody>
                  <a:tcPr>
                    <a:solidFill>
                      <a:srgbClr val="FFFFFF"/>
                    </a:solidFill>
                  </a:tcPr>
                </a:tc>
                <a:tc>
                  <a:txBody>
                    <a:bodyPr/>
                    <a:lstStyle/>
                    <a:p>
                      <a:pPr algn="ctr"/>
                      <a:r>
                        <a:rPr sz="1400" b="0" i="0">
                          <a:solidFill>
                            <a:srgbClr val="262626"/>
                          </a:solidFill>
                          <a:latin typeface="Arial"/>
                        </a:rPr>
                        <a:t>31.9</a:t>
                      </a:r>
                    </a:p>
                  </a:txBody>
                  <a:tcPr>
                    <a:solidFill>
                      <a:srgbClr val="FFFFFF"/>
                    </a:solidFill>
                  </a:tcPr>
                </a:tc>
                <a:tc>
                  <a:txBody>
                    <a:bodyPr/>
                    <a:lstStyle/>
                    <a:p>
                      <a:pPr algn="ctr"/>
                      <a:r>
                        <a:rPr sz="1400" b="0" i="0">
                          <a:solidFill>
                            <a:srgbClr val="262626"/>
                          </a:solidFill>
                          <a:latin typeface="Arial"/>
                        </a:rPr>
                        <a:t>25.9</a:t>
                      </a:r>
                    </a:p>
                  </a:txBody>
                  <a:tcPr>
                    <a:solidFill>
                      <a:srgbClr val="FFFFFF"/>
                    </a:solidFill>
                  </a:tcPr>
                </a:tc>
                <a:tc>
                  <a:txBody>
                    <a:bodyPr/>
                    <a:lstStyle/>
                    <a:p>
                      <a:pPr algn="ctr"/>
                      <a:r>
                        <a:rPr sz="1400" b="0" i="0">
                          <a:solidFill>
                            <a:srgbClr val="262626"/>
                          </a:solidFill>
                          <a:latin typeface="Arial"/>
                        </a:rPr>
                        <a:t>1.50</a:t>
                      </a:r>
                    </a:p>
                  </a:txBody>
                  <a:tcPr>
                    <a:solidFill>
                      <a:srgbClr val="FFFFFF"/>
                    </a:solidFill>
                  </a:tcPr>
                </a:tc>
                <a:tc>
                  <a:txBody>
                    <a:bodyPr/>
                    <a:lstStyle/>
                    <a:p>
                      <a:pPr algn="ctr"/>
                      <a:r>
                        <a:rPr sz="1400" b="0" i="0">
                          <a:solidFill>
                            <a:srgbClr val="262626"/>
                          </a:solidFill>
                          <a:latin typeface="Arial"/>
                        </a:rPr>
                        <a:t>38.4</a:t>
                      </a:r>
                    </a:p>
                  </a:txBody>
                  <a:tcPr>
                    <a:solidFill>
                      <a:srgbClr val="FFFFFF"/>
                    </a:solidFill>
                  </a:tcPr>
                </a:tc>
                <a:tc>
                  <a:txBody>
                    <a:bodyPr/>
                    <a:lstStyle/>
                    <a:p>
                      <a:pPr algn="ctr"/>
                      <a:r>
                        <a:rPr sz="1400" b="0" i="0">
                          <a:solidFill>
                            <a:srgbClr val="262626"/>
                          </a:solidFill>
                          <a:latin typeface="Arial"/>
                        </a:rPr>
                        <a:t>10.0</a:t>
                      </a:r>
                    </a:p>
                  </a:txBody>
                  <a:tcPr>
                    <a:solidFill>
                      <a:srgbClr val="FFFFFF"/>
                    </a:solidFill>
                  </a:tcPr>
                </a:tc>
                <a:extLst>
                  <a:ext uri="{0D108BD9-81ED-4DB2-BD59-A6C34878D82A}">
                    <a16:rowId xmlns:a16="http://schemas.microsoft.com/office/drawing/2014/main" val="10003"/>
                  </a:ext>
                </a:extLst>
              </a:tr>
              <a:tr h="512064">
                <a:tc>
                  <a:txBody>
                    <a:bodyPr/>
                    <a:lstStyle/>
                    <a:p>
                      <a:pPr algn="ctr"/>
                      <a:r>
                        <a:rPr sz="1400" b="0" i="0">
                          <a:solidFill>
                            <a:srgbClr val="262626"/>
                          </a:solidFill>
                          <a:latin typeface="Arial"/>
                        </a:rPr>
                        <a:t>2024</a:t>
                      </a:r>
                    </a:p>
                  </a:txBody>
                  <a:tcPr>
                    <a:solidFill>
                      <a:srgbClr val="F2F2F2"/>
                    </a:solidFill>
                  </a:tcPr>
                </a:tc>
                <a:tc>
                  <a:txBody>
                    <a:bodyPr/>
                    <a:lstStyle/>
                    <a:p>
                      <a:pPr algn="ctr"/>
                      <a:r>
                        <a:rPr sz="1400" b="0" i="0">
                          <a:solidFill>
                            <a:srgbClr val="262626"/>
                          </a:solidFill>
                          <a:latin typeface="Arial"/>
                        </a:rPr>
                        <a:t>Sep 27</a:t>
                      </a:r>
                    </a:p>
                  </a:txBody>
                  <a:tcPr>
                    <a:solidFill>
                      <a:srgbClr val="F2F2F2"/>
                    </a:solidFill>
                  </a:tcPr>
                </a:tc>
                <a:tc>
                  <a:txBody>
                    <a:bodyPr/>
                    <a:lstStyle/>
                    <a:p>
                      <a:pPr algn="l"/>
                      <a:r>
                        <a:rPr sz="1200" b="0" i="0">
                          <a:solidFill>
                            <a:srgbClr val="262626"/>
                          </a:solidFill>
                          <a:latin typeface="Arial"/>
                        </a:rPr>
                        <a:t>World Championship Series *</a:t>
                      </a:r>
                    </a:p>
                  </a:txBody>
                  <a:tcPr>
                    <a:solidFill>
                      <a:srgbClr val="F2F2F2"/>
                    </a:solidFill>
                  </a:tcPr>
                </a:tc>
                <a:tc>
                  <a:txBody>
                    <a:bodyPr/>
                    <a:lstStyle/>
                    <a:p>
                      <a:pPr algn="ctr"/>
                      <a:r>
                        <a:rPr sz="1400" b="0" i="0">
                          <a:solidFill>
                            <a:srgbClr val="262626"/>
                          </a:solidFill>
                          <a:latin typeface="Arial"/>
                        </a:rPr>
                        <a:t>28</a:t>
                      </a:r>
                    </a:p>
                  </a:txBody>
                  <a:tcPr>
                    <a:solidFill>
                      <a:srgbClr val="F2F2F2"/>
                    </a:solidFill>
                  </a:tcPr>
                </a:tc>
                <a:tc>
                  <a:txBody>
                    <a:bodyPr/>
                    <a:lstStyle/>
                    <a:p>
                      <a:pPr algn="ctr"/>
                      <a:r>
                        <a:rPr sz="1400" b="0" i="0">
                          <a:solidFill>
                            <a:srgbClr val="262626"/>
                          </a:solidFill>
                          <a:latin typeface="Arial"/>
                        </a:rPr>
                        <a:t>2</a:t>
                      </a:r>
                    </a:p>
                  </a:txBody>
                  <a:tcPr>
                    <a:solidFill>
                      <a:srgbClr val="F2F2F2"/>
                    </a:solidFill>
                  </a:tcPr>
                </a:tc>
                <a:tc>
                  <a:txBody>
                    <a:bodyPr/>
                    <a:lstStyle/>
                    <a:p>
                      <a:pPr algn="l"/>
                      <a:r>
                        <a:rPr sz="1400" b="0" i="0">
                          <a:solidFill>
                            <a:srgbClr val="262626"/>
                          </a:solidFill>
                          <a:latin typeface="Arial"/>
                        </a:rPr>
                        <a:t>Tertsch</a:t>
                      </a:r>
                    </a:p>
                  </a:txBody>
                  <a:tcPr>
                    <a:solidFill>
                      <a:srgbClr val="F2F2F2"/>
                    </a:solidFill>
                  </a:tcPr>
                </a:tc>
                <a:tc>
                  <a:txBody>
                    <a:bodyPr/>
                    <a:lstStyle/>
                    <a:p>
                      <a:pPr algn="ctr"/>
                      <a:r>
                        <a:rPr sz="1400" b="0" i="0">
                          <a:solidFill>
                            <a:srgbClr val="262626"/>
                          </a:solidFill>
                          <a:latin typeface="Arial"/>
                        </a:rPr>
                        <a:t>2:04:42</a:t>
                      </a:r>
                    </a:p>
                  </a:txBody>
                  <a:tcPr>
                    <a:solidFill>
                      <a:srgbClr val="F2F2F2"/>
                    </a:solidFill>
                  </a:tcPr>
                </a:tc>
                <a:tc>
                  <a:txBody>
                    <a:bodyPr/>
                    <a:lstStyle/>
                    <a:p>
                      <a:pPr algn="ctr"/>
                      <a:r>
                        <a:rPr sz="1400" b="0" i="0">
                          <a:solidFill>
                            <a:srgbClr val="262626"/>
                          </a:solidFill>
                          <a:latin typeface="Arial"/>
                        </a:rPr>
                        <a:t>28</a:t>
                      </a:r>
                    </a:p>
                  </a:txBody>
                  <a:tcPr>
                    <a:solidFill>
                      <a:srgbClr val="F2F2F2"/>
                    </a:solidFill>
                  </a:tcPr>
                </a:tc>
                <a:tc>
                  <a:txBody>
                    <a:bodyPr/>
                    <a:lstStyle/>
                    <a:p>
                      <a:pPr algn="ctr"/>
                      <a:r>
                        <a:rPr sz="1400" b="0" i="0">
                          <a:solidFill>
                            <a:srgbClr val="262626"/>
                          </a:solidFill>
                          <a:latin typeface="Arial"/>
                        </a:rPr>
                        <a:t>24.8</a:t>
                      </a:r>
                    </a:p>
                  </a:txBody>
                  <a:tcPr>
                    <a:solidFill>
                      <a:srgbClr val="F2F2F2"/>
                    </a:solidFill>
                  </a:tcPr>
                </a:tc>
                <a:tc>
                  <a:txBody>
                    <a:bodyPr/>
                    <a:lstStyle/>
                    <a:p>
                      <a:pPr algn="ctr"/>
                      <a:r>
                        <a:rPr sz="1400" b="0" i="0">
                          <a:solidFill>
                            <a:srgbClr val="262626"/>
                          </a:solidFill>
                          <a:latin typeface="Arial"/>
                        </a:rPr>
                        <a:t>1.50</a:t>
                      </a:r>
                    </a:p>
                  </a:txBody>
                  <a:tcPr>
                    <a:solidFill>
                      <a:srgbClr val="F2F2F2"/>
                    </a:solidFill>
                  </a:tcPr>
                </a:tc>
                <a:tc>
                  <a:txBody>
                    <a:bodyPr/>
                    <a:lstStyle/>
                    <a:p>
                      <a:pPr algn="ctr"/>
                      <a:r>
                        <a:rPr sz="1400" b="0" i="0">
                          <a:solidFill>
                            <a:srgbClr val="262626"/>
                          </a:solidFill>
                          <a:latin typeface="Arial"/>
                        </a:rPr>
                        <a:t>40.0</a:t>
                      </a:r>
                    </a:p>
                  </a:txBody>
                  <a:tcPr>
                    <a:solidFill>
                      <a:srgbClr val="F2F2F2"/>
                    </a:solidFill>
                  </a:tcPr>
                </a:tc>
                <a:tc>
                  <a:txBody>
                    <a:bodyPr/>
                    <a:lstStyle/>
                    <a:p>
                      <a:pPr algn="ctr"/>
                      <a:r>
                        <a:rPr sz="1400" b="0" i="0">
                          <a:solidFill>
                            <a:srgbClr val="262626"/>
                          </a:solidFill>
                          <a:latin typeface="Arial"/>
                        </a:rPr>
                        <a:t>10.0</a:t>
                      </a:r>
                    </a:p>
                  </a:txBody>
                  <a:tcPr>
                    <a:solidFill>
                      <a:srgbClr val="F2F2F2"/>
                    </a:solidFill>
                  </a:tcPr>
                </a:tc>
                <a:extLst>
                  <a:ext uri="{0D108BD9-81ED-4DB2-BD59-A6C34878D82A}">
                    <a16:rowId xmlns:a16="http://schemas.microsoft.com/office/drawing/2014/main" val="10004"/>
                  </a:ext>
                </a:extLst>
              </a:tr>
              <a:tr h="512064">
                <a:tc>
                  <a:txBody>
                    <a:bodyPr/>
                    <a:lstStyle/>
                    <a:p>
                      <a:pPr algn="ctr"/>
                      <a:r>
                        <a:rPr sz="1400" b="0" i="0">
                          <a:solidFill>
                            <a:srgbClr val="262626"/>
                          </a:solidFill>
                          <a:latin typeface="Arial"/>
                        </a:rPr>
                        <a:t>2025</a:t>
                      </a:r>
                    </a:p>
                  </a:txBody>
                  <a:tcPr>
                    <a:solidFill>
                      <a:srgbClr val="FFFFFF"/>
                    </a:solidFill>
                  </a:tcPr>
                </a:tc>
                <a:tc>
                  <a:txBody>
                    <a:bodyPr/>
                    <a:lstStyle/>
                    <a:p>
                      <a:pPr algn="ctr"/>
                      <a:r>
                        <a:rPr sz="1400" b="0" i="0">
                          <a:solidFill>
                            <a:srgbClr val="262626"/>
                          </a:solidFill>
                          <a:latin typeface="Arial"/>
                        </a:rPr>
                        <a:t>Sep 26</a:t>
                      </a:r>
                    </a:p>
                  </a:txBody>
                  <a:tcPr>
                    <a:solidFill>
                      <a:srgbClr val="FFFFFF"/>
                    </a:solidFill>
                  </a:tcPr>
                </a:tc>
                <a:tc>
                  <a:txBody>
                    <a:bodyPr/>
                    <a:lstStyle/>
                    <a:p>
                      <a:pPr algn="l"/>
                      <a:r>
                        <a:rPr sz="1200" b="0" i="0">
                          <a:solidFill>
                            <a:srgbClr val="262626"/>
                          </a:solidFill>
                          <a:latin typeface="Arial"/>
                        </a:rPr>
                        <a:t>World Championship Series *</a:t>
                      </a:r>
                    </a:p>
                  </a:txBody>
                  <a:tcPr>
                    <a:solidFill>
                      <a:srgbClr val="FFFFFF"/>
                    </a:solidFill>
                  </a:tcPr>
                </a:tc>
                <a:tc>
                  <a:txBody>
                    <a:bodyPr/>
                    <a:lstStyle/>
                    <a:p>
                      <a:pPr algn="ctr"/>
                      <a:r>
                        <a:rPr sz="1400" b="0" i="0">
                          <a:solidFill>
                            <a:srgbClr val="262626"/>
                          </a:solidFill>
                          <a:latin typeface="Arial"/>
                        </a:rPr>
                        <a:t>28</a:t>
                      </a:r>
                    </a:p>
                  </a:txBody>
                  <a:tcPr>
                    <a:solidFill>
                      <a:srgbClr val="FFFFFF"/>
                    </a:solidFill>
                  </a:tcPr>
                </a:tc>
                <a:tc>
                  <a:txBody>
                    <a:bodyPr/>
                    <a:lstStyle/>
                    <a:p>
                      <a:pPr algn="ctr"/>
                      <a:r>
                        <a:rPr sz="1400" b="0" i="0">
                          <a:solidFill>
                            <a:srgbClr val="262626"/>
                          </a:solidFill>
                          <a:latin typeface="Arial"/>
                        </a:rPr>
                        <a:t>1</a:t>
                      </a:r>
                    </a:p>
                  </a:txBody>
                  <a:tcPr>
                    <a:solidFill>
                      <a:srgbClr val="FFFFFF"/>
                    </a:solidFill>
                  </a:tcPr>
                </a:tc>
                <a:tc>
                  <a:txBody>
                    <a:bodyPr/>
                    <a:lstStyle/>
                    <a:p>
                      <a:pPr algn="l"/>
                      <a:r>
                        <a:rPr sz="1400" b="0" i="0">
                          <a:solidFill>
                            <a:srgbClr val="262626"/>
                          </a:solidFill>
                          <a:latin typeface="Arial"/>
                        </a:rPr>
                        <a:t>Potter</a:t>
                      </a:r>
                    </a:p>
                  </a:txBody>
                  <a:tcPr>
                    <a:solidFill>
                      <a:srgbClr val="FFFFFF"/>
                    </a:solidFill>
                  </a:tcPr>
                </a:tc>
                <a:tc>
                  <a:txBody>
                    <a:bodyPr/>
                    <a:lstStyle/>
                    <a:p>
                      <a:pPr algn="ctr"/>
                      <a:r>
                        <a:rPr sz="1400" b="0" i="0">
                          <a:solidFill>
                            <a:srgbClr val="262626"/>
                          </a:solidFill>
                          <a:latin typeface="Arial"/>
                        </a:rPr>
                        <a:t>1:51:58</a:t>
                      </a:r>
                    </a:p>
                  </a:txBody>
                  <a:tcPr>
                    <a:solidFill>
                      <a:srgbClr val="FFFFFF"/>
                    </a:solidFill>
                  </a:tcPr>
                </a:tc>
                <a:tc>
                  <a:txBody>
                    <a:bodyPr/>
                    <a:lstStyle/>
                    <a:p>
                      <a:pPr algn="ctr"/>
                      <a:r>
                        <a:rPr sz="1400" b="0" i="0">
                          <a:solidFill>
                            <a:srgbClr val="262626"/>
                          </a:solidFill>
                          <a:latin typeface="Arial"/>
                        </a:rPr>
                        <a:t>28.9</a:t>
                      </a:r>
                    </a:p>
                  </a:txBody>
                  <a:tcPr>
                    <a:solidFill>
                      <a:srgbClr val="FFFFFF"/>
                    </a:solidFill>
                  </a:tcPr>
                </a:tc>
                <a:tc>
                  <a:txBody>
                    <a:bodyPr/>
                    <a:lstStyle/>
                    <a:p>
                      <a:pPr algn="ctr"/>
                      <a:r>
                        <a:rPr sz="1400" b="0" i="0">
                          <a:solidFill>
                            <a:srgbClr val="262626"/>
                          </a:solidFill>
                          <a:latin typeface="Arial"/>
                        </a:rPr>
                        <a:t>24.3</a:t>
                      </a:r>
                    </a:p>
                  </a:txBody>
                  <a:tcPr>
                    <a:solidFill>
                      <a:srgbClr val="FFFFFF"/>
                    </a:solidFill>
                  </a:tcPr>
                </a:tc>
                <a:tc>
                  <a:txBody>
                    <a:bodyPr/>
                    <a:lstStyle/>
                    <a:p>
                      <a:pPr algn="ctr"/>
                      <a:r>
                        <a:rPr sz="1400" b="0" i="0">
                          <a:solidFill>
                            <a:srgbClr val="262626"/>
                          </a:solidFill>
                          <a:latin typeface="Arial"/>
                        </a:rPr>
                        <a:t>1.50</a:t>
                      </a:r>
                    </a:p>
                  </a:txBody>
                  <a:tcPr>
                    <a:solidFill>
                      <a:srgbClr val="FFFFFF"/>
                    </a:solidFill>
                  </a:tcPr>
                </a:tc>
                <a:tc>
                  <a:txBody>
                    <a:bodyPr/>
                    <a:lstStyle/>
                    <a:p>
                      <a:pPr algn="ctr"/>
                      <a:r>
                        <a:rPr sz="1400" b="0" i="0">
                          <a:solidFill>
                            <a:srgbClr val="262626"/>
                          </a:solidFill>
                          <a:latin typeface="Arial"/>
                        </a:rPr>
                        <a:t>38.0</a:t>
                      </a:r>
                    </a:p>
                  </a:txBody>
                  <a:tcPr>
                    <a:solidFill>
                      <a:srgbClr val="FFFFFF"/>
                    </a:solidFill>
                  </a:tcPr>
                </a:tc>
                <a:tc>
                  <a:txBody>
                    <a:bodyPr/>
                    <a:lstStyle/>
                    <a:p>
                      <a:pPr algn="ctr"/>
                      <a:r>
                        <a:rPr sz="1400" b="0" i="0">
                          <a:solidFill>
                            <a:srgbClr val="262626"/>
                          </a:solidFill>
                          <a:latin typeface="Arial"/>
                        </a:rPr>
                        <a:t>10.0</a:t>
                      </a:r>
                    </a:p>
                  </a:txBody>
                  <a:tcP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274320" y="6492240"/>
            <a:ext cx="5486400" cy="256032"/>
          </a:xfrm>
          <a:prstGeom prst="rect">
            <a:avLst/>
          </a:prstGeom>
          <a:noFill/>
        </p:spPr>
        <p:txBody>
          <a:bodyPr wrap="square">
            <a:spAutoFit/>
          </a:bodyPr>
          <a:lstStyle/>
          <a:p>
            <a:pPr algn="l"/>
            <a:r>
              <a:rPr sz="800" b="0" i="1">
                <a:solidFill>
                  <a:srgbClr val="BFBFBF"/>
                </a:solidFill>
                <a:latin typeface="Arial"/>
              </a:rPr>
              <a:t>* Course distance changed vs. prior year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78992"/>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3"/>
          <a:stretch>
            <a:fillRect/>
          </a:stretch>
        </p:blipFill>
        <p:spPr>
          <a:xfrm>
            <a:off x="501421" y="1318680"/>
            <a:ext cx="11186110" cy="3602752"/>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1504714546"/>
              </p:ext>
            </p:extLst>
          </p:nvPr>
        </p:nvGraphicFramePr>
        <p:xfrm>
          <a:off x="274320" y="4922919"/>
          <a:ext cx="11640311" cy="142494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3822191">
                  <a:extLst>
                    <a:ext uri="{9D8B030D-6E8A-4147-A177-3AD203B41FA5}">
                      <a16:colId xmlns:a16="http://schemas.microsoft.com/office/drawing/2014/main" val="20005"/>
                    </a:ext>
                  </a:extLst>
                </a:gridCol>
              </a:tblGrid>
              <a:tr h="236220">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Lead Size @ T1</a:t>
                      </a:r>
                    </a:p>
                  </a:txBody>
                  <a:tcPr>
                    <a:solidFill>
                      <a:srgbClr val="002060"/>
                    </a:solidFill>
                  </a:tcPr>
                </a:tc>
                <a:tc>
                  <a:txBody>
                    <a:bodyPr/>
                    <a:lstStyle/>
                    <a:p>
                      <a:pPr algn="ctr"/>
                      <a:r>
                        <a:rPr sz="1000" b="1" i="0">
                          <a:solidFill>
                            <a:srgbClr val="FFFFFF"/>
                          </a:solidFill>
                          <a:latin typeface="Arial"/>
                        </a:rPr>
                        <a:t>Lead Size @ T2</a:t>
                      </a:r>
                    </a:p>
                  </a:txBody>
                  <a:tcPr>
                    <a:solidFill>
                      <a:srgbClr val="002060"/>
                    </a:solidFill>
                  </a:tcPr>
                </a:tc>
                <a:tc>
                  <a:txBody>
                    <a:bodyPr/>
                    <a:lstStyle/>
                    <a:p>
                      <a:pPr algn="ctr"/>
                      <a:r>
                        <a:rPr sz="1000" b="1" i="0">
                          <a:solidFill>
                            <a:srgbClr val="FFFFFF"/>
                          </a:solidFill>
                          <a:latin typeface="Arial"/>
                        </a:rPr>
                        <a:t>Change</a:t>
                      </a:r>
                    </a:p>
                  </a:txBody>
                  <a:tcPr>
                    <a:solidFill>
                      <a:srgbClr val="002060"/>
                    </a:solidFill>
                  </a:tcPr>
                </a:tc>
                <a:tc>
                  <a:txBody>
                    <a:bodyPr/>
                    <a:lstStyle/>
                    <a:p>
                      <a:pPr algn="ctr"/>
                      <a:r>
                        <a:rPr sz="1000" b="1" i="0">
                          <a:solidFill>
                            <a:srgbClr val="FFFFFF"/>
                          </a:solidFill>
                          <a:latin typeface="Arial"/>
                        </a:rPr>
                        <a:t>Chase Group @ T2</a:t>
                      </a:r>
                    </a:p>
                  </a:txBody>
                  <a:tcPr>
                    <a:solidFill>
                      <a:srgbClr val="002060"/>
                    </a:solidFill>
                  </a:tcPr>
                </a:tc>
                <a:tc>
                  <a:txBody>
                    <a:bodyPr/>
                    <a:lstStyle/>
                    <a:p>
                      <a:pPr algn="ctr"/>
                      <a:r>
                        <a:rPr sz="1000" b="1" i="0">
                          <a:solidFill>
                            <a:srgbClr val="FFFFFF"/>
                          </a:solidFill>
                          <a:latin typeface="Arial"/>
                        </a:rPr>
                        <a:t>Chase Gap*</a:t>
                      </a:r>
                    </a:p>
                  </a:txBody>
                  <a:tcPr>
                    <a:solidFill>
                      <a:srgbClr val="002060"/>
                    </a:solidFill>
                  </a:tcPr>
                </a:tc>
                <a:extLst>
                  <a:ext uri="{0D108BD9-81ED-4DB2-BD59-A6C34878D82A}">
                    <a16:rowId xmlns:a16="http://schemas.microsoft.com/office/drawing/2014/main" val="10000"/>
                  </a:ext>
                </a:extLst>
              </a:tr>
              <a:tr h="236220">
                <a:tc>
                  <a:txBody>
                    <a:bodyPr/>
                    <a:lstStyle/>
                    <a:p>
                      <a:pPr algn="ctr"/>
                      <a:r>
                        <a:rPr sz="950" b="0" i="0">
                          <a:solidFill>
                            <a:srgbClr val="262626"/>
                          </a:solidFill>
                          <a:latin typeface="Arial"/>
                        </a:rPr>
                        <a:t>2018</a:t>
                      </a:r>
                    </a:p>
                  </a:txBody>
                  <a:tcPr>
                    <a:solidFill>
                      <a:srgbClr val="FFFFFF"/>
                    </a:solidFill>
                  </a:tcPr>
                </a:tc>
                <a:tc>
                  <a:txBody>
                    <a:bodyPr/>
                    <a:lstStyle/>
                    <a:p>
                      <a:pPr algn="ctr"/>
                      <a:r>
                        <a:rPr sz="950" b="0" i="0">
                          <a:solidFill>
                            <a:srgbClr val="262626"/>
                          </a:solidFill>
                          <a:latin typeface="Arial"/>
                        </a:rPr>
                        <a:t>16</a:t>
                      </a:r>
                    </a:p>
                  </a:txBody>
                  <a:tcPr>
                    <a:solidFill>
                      <a:srgbClr val="FFFFFF"/>
                    </a:solidFill>
                  </a:tcPr>
                </a:tc>
                <a:tc>
                  <a:txBody>
                    <a:bodyPr/>
                    <a:lstStyle/>
                    <a:p>
                      <a:pPr algn="ctr"/>
                      <a:r>
                        <a:rPr sz="950" b="0" i="0">
                          <a:solidFill>
                            <a:srgbClr val="262626"/>
                          </a:solidFill>
                          <a:latin typeface="Arial"/>
                        </a:rPr>
                        <a:t>6</a:t>
                      </a:r>
                    </a:p>
                  </a:txBody>
                  <a:tcPr>
                    <a:solidFill>
                      <a:srgbClr val="FFFFFF"/>
                    </a:solidFill>
                  </a:tcPr>
                </a:tc>
                <a:tc>
                  <a:txBody>
                    <a:bodyPr/>
                    <a:lstStyle/>
                    <a:p>
                      <a:pPr algn="ctr"/>
                      <a:r>
                        <a:rPr sz="950" b="0" i="0">
                          <a:solidFill>
                            <a:srgbClr val="262626"/>
                          </a:solidFill>
                          <a:latin typeface="Arial"/>
                        </a:rPr>
                        <a:t>-10</a:t>
                      </a:r>
                    </a:p>
                  </a:txBody>
                  <a:tcPr>
                    <a:solidFill>
                      <a:srgbClr val="FFFFFF"/>
                    </a:solidFill>
                  </a:tcPr>
                </a:tc>
                <a:tc>
                  <a:txBody>
                    <a:bodyPr/>
                    <a:lstStyle/>
                    <a:p>
                      <a:pPr algn="ctr"/>
                      <a:r>
                        <a:rPr sz="950" b="0" i="0">
                          <a:solidFill>
                            <a:srgbClr val="262626"/>
                          </a:solidFill>
                          <a:latin typeface="Arial"/>
                        </a:rPr>
                        <a:t>1</a:t>
                      </a:r>
                    </a:p>
                  </a:txBody>
                  <a:tcPr>
                    <a:solidFill>
                      <a:srgbClr val="FFFFFF"/>
                    </a:solidFill>
                  </a:tcPr>
                </a:tc>
                <a:tc>
                  <a:txBody>
                    <a:bodyPr/>
                    <a:lstStyle/>
                    <a:p>
                      <a:pPr algn="ctr"/>
                      <a:r>
                        <a:rPr sz="950" b="0" i="0">
                          <a:solidFill>
                            <a:srgbClr val="262626"/>
                          </a:solidFill>
                          <a:latin typeface="Arial"/>
                        </a:rPr>
                        <a:t>87s</a:t>
                      </a:r>
                    </a:p>
                  </a:txBody>
                  <a:tcPr>
                    <a:solidFill>
                      <a:srgbClr val="FFFFFF"/>
                    </a:solidFill>
                  </a:tcPr>
                </a:tc>
                <a:extLst>
                  <a:ext uri="{0D108BD9-81ED-4DB2-BD59-A6C34878D82A}">
                    <a16:rowId xmlns:a16="http://schemas.microsoft.com/office/drawing/2014/main" val="10001"/>
                  </a:ext>
                </a:extLst>
              </a:tr>
              <a:tr h="236220">
                <a:tc>
                  <a:txBody>
                    <a:bodyPr/>
                    <a:lstStyle/>
                    <a:p>
                      <a:pPr algn="ctr"/>
                      <a:r>
                        <a:rPr sz="950" b="0" i="0">
                          <a:solidFill>
                            <a:srgbClr val="262626"/>
                          </a:solidFill>
                          <a:latin typeface="Arial"/>
                        </a:rPr>
                        <a:t>2019</a:t>
                      </a:r>
                    </a:p>
                  </a:txBody>
                  <a:tcPr>
                    <a:solidFill>
                      <a:srgbClr val="F2F2F2"/>
                    </a:solidFill>
                  </a:tcPr>
                </a:tc>
                <a:tc>
                  <a:txBody>
                    <a:bodyPr/>
                    <a:lstStyle/>
                    <a:p>
                      <a:pPr algn="ctr"/>
                      <a:r>
                        <a:rPr sz="950" b="0" i="0">
                          <a:solidFill>
                            <a:srgbClr val="262626"/>
                          </a:solidFill>
                          <a:latin typeface="Arial"/>
                        </a:rPr>
                        <a:t>7</a:t>
                      </a:r>
                    </a:p>
                  </a:txBody>
                  <a:tcPr>
                    <a:solidFill>
                      <a:srgbClr val="F2F2F2"/>
                    </a:solidFill>
                  </a:tcPr>
                </a:tc>
                <a:tc>
                  <a:txBody>
                    <a:bodyPr/>
                    <a:lstStyle/>
                    <a:p>
                      <a:pPr algn="ctr"/>
                      <a:r>
                        <a:rPr sz="950" b="0" i="0">
                          <a:solidFill>
                            <a:srgbClr val="262626"/>
                          </a:solidFill>
                          <a:latin typeface="Arial"/>
                        </a:rPr>
                        <a:t>3</a:t>
                      </a:r>
                    </a:p>
                  </a:txBody>
                  <a:tcPr>
                    <a:solidFill>
                      <a:srgbClr val="F2F2F2"/>
                    </a:solidFill>
                  </a:tcPr>
                </a:tc>
                <a:tc>
                  <a:txBody>
                    <a:bodyPr/>
                    <a:lstStyle/>
                    <a:p>
                      <a:pPr algn="ctr"/>
                      <a:r>
                        <a:rPr sz="950" b="0" i="0">
                          <a:solidFill>
                            <a:srgbClr val="262626"/>
                          </a:solidFill>
                          <a:latin typeface="Arial"/>
                        </a:rPr>
                        <a:t>-4</a:t>
                      </a:r>
                    </a:p>
                  </a:txBody>
                  <a:tcPr>
                    <a:solidFill>
                      <a:srgbClr val="F2F2F2"/>
                    </a:solidFill>
                  </a:tcPr>
                </a:tc>
                <a:tc>
                  <a:txBody>
                    <a:bodyPr/>
                    <a:lstStyle/>
                    <a:p>
                      <a:pPr algn="ctr"/>
                      <a:r>
                        <a:rPr sz="950" b="0" i="0">
                          <a:solidFill>
                            <a:srgbClr val="262626"/>
                          </a:solidFill>
                          <a:latin typeface="Arial"/>
                        </a:rPr>
                        <a:t>8</a:t>
                      </a:r>
                    </a:p>
                  </a:txBody>
                  <a:tcPr>
                    <a:solidFill>
                      <a:srgbClr val="F2F2F2"/>
                    </a:solidFill>
                  </a:tcPr>
                </a:tc>
                <a:tc>
                  <a:txBody>
                    <a:bodyPr/>
                    <a:lstStyle/>
                    <a:p>
                      <a:pPr algn="ctr"/>
                      <a:r>
                        <a:rPr sz="950" b="0" i="0">
                          <a:solidFill>
                            <a:srgbClr val="262626"/>
                          </a:solidFill>
                          <a:latin typeface="Arial"/>
                        </a:rPr>
                        <a:t>171s</a:t>
                      </a:r>
                    </a:p>
                  </a:txBody>
                  <a:tcPr>
                    <a:solidFill>
                      <a:srgbClr val="F2F2F2"/>
                    </a:solidFill>
                  </a:tcPr>
                </a:tc>
                <a:extLst>
                  <a:ext uri="{0D108BD9-81ED-4DB2-BD59-A6C34878D82A}">
                    <a16:rowId xmlns:a16="http://schemas.microsoft.com/office/drawing/2014/main" val="10002"/>
                  </a:ext>
                </a:extLst>
              </a:tr>
              <a:tr h="236220">
                <a:tc>
                  <a:txBody>
                    <a:bodyPr/>
                    <a:lstStyle/>
                    <a:p>
                      <a:pPr algn="ctr"/>
                      <a:r>
                        <a:rPr sz="950" b="0" i="0">
                          <a:solidFill>
                            <a:srgbClr val="262626"/>
                          </a:solidFill>
                          <a:latin typeface="Arial"/>
                        </a:rPr>
                        <a:t>2023</a:t>
                      </a:r>
                    </a:p>
                  </a:txBody>
                  <a:tcPr>
                    <a:solidFill>
                      <a:srgbClr val="FFFFFF"/>
                    </a:solidFill>
                  </a:tcPr>
                </a:tc>
                <a:tc>
                  <a:txBody>
                    <a:bodyPr/>
                    <a:lstStyle/>
                    <a:p>
                      <a:pPr algn="ctr"/>
                      <a:r>
                        <a:rPr sz="950" b="0" i="0">
                          <a:solidFill>
                            <a:srgbClr val="262626"/>
                          </a:solidFill>
                          <a:latin typeface="Arial"/>
                        </a:rPr>
                        <a:t>1</a:t>
                      </a:r>
                    </a:p>
                  </a:txBody>
                  <a:tcPr>
                    <a:solidFill>
                      <a:srgbClr val="FFFFFF"/>
                    </a:solidFill>
                  </a:tcPr>
                </a:tc>
                <a:tc>
                  <a:txBody>
                    <a:bodyPr/>
                    <a:lstStyle/>
                    <a:p>
                      <a:pPr algn="ctr"/>
                      <a:r>
                        <a:rPr sz="950" b="0" i="0">
                          <a:solidFill>
                            <a:srgbClr val="262626"/>
                          </a:solidFill>
                          <a:latin typeface="Arial"/>
                        </a:rPr>
                        <a:t>1</a:t>
                      </a:r>
                    </a:p>
                  </a:txBody>
                  <a:tcPr>
                    <a:solidFill>
                      <a:srgbClr val="FFFFFF"/>
                    </a:solidFill>
                  </a:tcPr>
                </a:tc>
                <a:tc>
                  <a:txBody>
                    <a:bodyPr/>
                    <a:lstStyle/>
                    <a:p>
                      <a:pPr algn="ctr"/>
                      <a:r>
                        <a:rPr sz="950" b="0" i="0">
                          <a:solidFill>
                            <a:srgbClr val="262626"/>
                          </a:solidFill>
                          <a:latin typeface="Arial"/>
                        </a:rPr>
                        <a:t>0</a:t>
                      </a:r>
                    </a:p>
                  </a:txBody>
                  <a:tcPr>
                    <a:solidFill>
                      <a:srgbClr val="FFFFFF"/>
                    </a:solidFill>
                  </a:tcPr>
                </a:tc>
                <a:tc>
                  <a:txBody>
                    <a:bodyPr/>
                    <a:lstStyle/>
                    <a:p>
                      <a:pPr algn="ctr"/>
                      <a:r>
                        <a:rPr sz="950" b="0" i="0">
                          <a:solidFill>
                            <a:srgbClr val="262626"/>
                          </a:solidFill>
                          <a:latin typeface="Arial"/>
                        </a:rPr>
                        <a:t>14</a:t>
                      </a:r>
                    </a:p>
                  </a:txBody>
                  <a:tcPr>
                    <a:solidFill>
                      <a:srgbClr val="FFFFFF"/>
                    </a:solidFill>
                  </a:tcPr>
                </a:tc>
                <a:tc>
                  <a:txBody>
                    <a:bodyPr/>
                    <a:lstStyle/>
                    <a:p>
                      <a:pPr algn="ctr"/>
                      <a:r>
                        <a:rPr sz="950" b="0" i="0">
                          <a:solidFill>
                            <a:srgbClr val="262626"/>
                          </a:solidFill>
                          <a:latin typeface="Arial"/>
                        </a:rPr>
                        <a:t>460s</a:t>
                      </a:r>
                    </a:p>
                  </a:txBody>
                  <a:tcPr>
                    <a:solidFill>
                      <a:srgbClr val="FFFFFF"/>
                    </a:solidFill>
                  </a:tcPr>
                </a:tc>
                <a:extLst>
                  <a:ext uri="{0D108BD9-81ED-4DB2-BD59-A6C34878D82A}">
                    <a16:rowId xmlns:a16="http://schemas.microsoft.com/office/drawing/2014/main" val="10003"/>
                  </a:ext>
                </a:extLst>
              </a:tr>
              <a:tr h="236220">
                <a:tc>
                  <a:txBody>
                    <a:bodyPr/>
                    <a:lstStyle/>
                    <a:p>
                      <a:pPr algn="ctr"/>
                      <a:r>
                        <a:rPr sz="950" b="0" i="0">
                          <a:solidFill>
                            <a:srgbClr val="262626"/>
                          </a:solidFill>
                          <a:latin typeface="Arial"/>
                        </a:rPr>
                        <a:t>2024</a:t>
                      </a:r>
                    </a:p>
                  </a:txBody>
                  <a:tcPr>
                    <a:solidFill>
                      <a:srgbClr val="F2F2F2"/>
                    </a:solidFill>
                  </a:tcPr>
                </a:tc>
                <a:tc>
                  <a:txBody>
                    <a:bodyPr/>
                    <a:lstStyle/>
                    <a:p>
                      <a:pPr algn="ctr"/>
                      <a:r>
                        <a:rPr sz="950" b="0" i="0">
                          <a:solidFill>
                            <a:srgbClr val="262626"/>
                          </a:solidFill>
                          <a:latin typeface="Arial"/>
                        </a:rPr>
                        <a:t>8</a:t>
                      </a:r>
                    </a:p>
                  </a:txBody>
                  <a:tcPr>
                    <a:solidFill>
                      <a:srgbClr val="F2F2F2"/>
                    </a:solidFill>
                  </a:tcPr>
                </a:tc>
                <a:tc>
                  <a:txBody>
                    <a:bodyPr/>
                    <a:lstStyle/>
                    <a:p>
                      <a:pPr algn="ctr"/>
                      <a:r>
                        <a:rPr sz="950" b="0" i="0">
                          <a:solidFill>
                            <a:srgbClr val="262626"/>
                          </a:solidFill>
                          <a:latin typeface="Arial"/>
                        </a:rPr>
                        <a:t>17</a:t>
                      </a:r>
                    </a:p>
                  </a:txBody>
                  <a:tcPr>
                    <a:solidFill>
                      <a:srgbClr val="F2F2F2"/>
                    </a:solidFill>
                  </a:tcPr>
                </a:tc>
                <a:tc>
                  <a:txBody>
                    <a:bodyPr/>
                    <a:lstStyle/>
                    <a:p>
                      <a:pPr algn="ctr"/>
                      <a:r>
                        <a:rPr sz="950" b="0" i="0">
                          <a:solidFill>
                            <a:srgbClr val="262626"/>
                          </a:solidFill>
                          <a:latin typeface="Arial"/>
                        </a:rPr>
                        <a:t>+9</a:t>
                      </a:r>
                    </a:p>
                  </a:txBody>
                  <a:tcPr>
                    <a:solidFill>
                      <a:srgbClr val="F2F2F2"/>
                    </a:solidFill>
                  </a:tcPr>
                </a:tc>
                <a:tc>
                  <a:txBody>
                    <a:bodyPr/>
                    <a:lstStyle/>
                    <a:p>
                      <a:pPr algn="ctr"/>
                      <a:r>
                        <a:rPr sz="950" b="0" i="0">
                          <a:solidFill>
                            <a:srgbClr val="262626"/>
                          </a:solidFill>
                          <a:latin typeface="Arial"/>
                        </a:rPr>
                        <a:t>1</a:t>
                      </a:r>
                    </a:p>
                  </a:txBody>
                  <a:tcPr>
                    <a:solidFill>
                      <a:srgbClr val="F2F2F2"/>
                    </a:solidFill>
                  </a:tcPr>
                </a:tc>
                <a:tc>
                  <a:txBody>
                    <a:bodyPr/>
                    <a:lstStyle/>
                    <a:p>
                      <a:pPr algn="ctr"/>
                      <a:r>
                        <a:rPr sz="950" b="0" i="0">
                          <a:solidFill>
                            <a:srgbClr val="262626"/>
                          </a:solidFill>
                          <a:latin typeface="Arial"/>
                        </a:rPr>
                        <a:t>124s</a:t>
                      </a:r>
                    </a:p>
                  </a:txBody>
                  <a:tcPr>
                    <a:solidFill>
                      <a:srgbClr val="F2F2F2"/>
                    </a:solidFill>
                  </a:tcPr>
                </a:tc>
                <a:extLst>
                  <a:ext uri="{0D108BD9-81ED-4DB2-BD59-A6C34878D82A}">
                    <a16:rowId xmlns:a16="http://schemas.microsoft.com/office/drawing/2014/main" val="10004"/>
                  </a:ext>
                </a:extLst>
              </a:tr>
              <a:tr h="236220">
                <a:tc>
                  <a:txBody>
                    <a:bodyPr/>
                    <a:lstStyle/>
                    <a:p>
                      <a:pPr algn="ctr"/>
                      <a:r>
                        <a:rPr sz="950" b="0" i="0">
                          <a:solidFill>
                            <a:srgbClr val="262626"/>
                          </a:solidFill>
                          <a:latin typeface="Arial"/>
                        </a:rPr>
                        <a:t>2025</a:t>
                      </a:r>
                    </a:p>
                  </a:txBody>
                  <a:tcPr>
                    <a:solidFill>
                      <a:srgbClr val="FFFFFF"/>
                    </a:solidFill>
                  </a:tcPr>
                </a:tc>
                <a:tc>
                  <a:txBody>
                    <a:bodyPr/>
                    <a:lstStyle/>
                    <a:p>
                      <a:pPr algn="ctr"/>
                      <a:r>
                        <a:rPr sz="950" b="0" i="0">
                          <a:solidFill>
                            <a:srgbClr val="262626"/>
                          </a:solidFill>
                          <a:latin typeface="Arial"/>
                        </a:rPr>
                        <a:t>14</a:t>
                      </a:r>
                    </a:p>
                  </a:txBody>
                  <a:tcPr>
                    <a:solidFill>
                      <a:srgbClr val="FFFFFF"/>
                    </a:solidFill>
                  </a:tcPr>
                </a:tc>
                <a:tc>
                  <a:txBody>
                    <a:bodyPr/>
                    <a:lstStyle/>
                    <a:p>
                      <a:pPr algn="ctr"/>
                      <a:r>
                        <a:rPr sz="950" b="0" i="0">
                          <a:solidFill>
                            <a:srgbClr val="262626"/>
                          </a:solidFill>
                          <a:latin typeface="Arial"/>
                        </a:rPr>
                        <a:t>23</a:t>
                      </a:r>
                    </a:p>
                  </a:txBody>
                  <a:tcPr>
                    <a:solidFill>
                      <a:srgbClr val="FFFFFF"/>
                    </a:solidFill>
                  </a:tcPr>
                </a:tc>
                <a:tc>
                  <a:txBody>
                    <a:bodyPr/>
                    <a:lstStyle/>
                    <a:p>
                      <a:pPr algn="ctr"/>
                      <a:r>
                        <a:rPr sz="950" b="0" i="0">
                          <a:solidFill>
                            <a:srgbClr val="262626"/>
                          </a:solidFill>
                          <a:latin typeface="Arial"/>
                        </a:rPr>
                        <a:t>+9</a:t>
                      </a:r>
                    </a:p>
                  </a:txBody>
                  <a:tcPr>
                    <a:solidFill>
                      <a:srgbClr val="FFFFFF"/>
                    </a:solidFill>
                  </a:tcPr>
                </a:tc>
                <a:tc>
                  <a:txBody>
                    <a:bodyPr/>
                    <a:lstStyle/>
                    <a:p>
                      <a:pPr algn="ctr"/>
                      <a:r>
                        <a:rPr sz="950" b="0" i="0">
                          <a:solidFill>
                            <a:srgbClr val="262626"/>
                          </a:solidFill>
                          <a:latin typeface="Arial"/>
                        </a:rPr>
                        <a:t>4</a:t>
                      </a:r>
                    </a:p>
                  </a:txBody>
                  <a:tcPr>
                    <a:solidFill>
                      <a:srgbClr val="FFFFFF"/>
                    </a:solidFill>
                  </a:tcPr>
                </a:tc>
                <a:tc>
                  <a:txBody>
                    <a:bodyPr/>
                    <a:lstStyle/>
                    <a:p>
                      <a:pPr algn="ctr"/>
                      <a:r>
                        <a:rPr sz="950" b="0" i="0" dirty="0">
                          <a:solidFill>
                            <a:srgbClr val="262626"/>
                          </a:solidFill>
                          <a:latin typeface="Arial"/>
                        </a:rPr>
                        <a:t>204s</a:t>
                      </a:r>
                    </a:p>
                  </a:txBody>
                  <a:tcPr>
                    <a:solidFill>
                      <a:srgbClr val="FFFFFF"/>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274320" y="6346854"/>
            <a:ext cx="11640312" cy="201168"/>
          </a:xfrm>
          <a:prstGeom prst="rect">
            <a:avLst/>
          </a:prstGeom>
          <a:noFill/>
        </p:spPr>
        <p:txBody>
          <a:bodyPr wrap="square">
            <a:spAutoFit/>
          </a:bodyPr>
          <a:lstStyle/>
          <a:p>
            <a:pPr algn="l"/>
            <a:r>
              <a:rPr sz="800" b="0" i="1">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p>
        </p:txBody>
      </p:sp>
      <p:sp>
        <p:nvSpPr>
          <p:cNvPr id="12" name="TextBox 11"/>
          <p:cNvSpPr txBox="1"/>
          <p:nvPr/>
        </p:nvSpPr>
        <p:spPr>
          <a:xfrm>
            <a:off x="274320" y="6525306"/>
            <a:ext cx="11640312" cy="164592"/>
          </a:xfrm>
          <a:prstGeom prst="rect">
            <a:avLst/>
          </a:prstGeom>
          <a:noFill/>
        </p:spPr>
        <p:txBody>
          <a:bodyPr wrap="square">
            <a:spAutoFit/>
          </a:bodyPr>
          <a:lstStyle/>
          <a:p>
            <a:pPr algn="l"/>
            <a:r>
              <a:rPr sz="750" b="0" i="1" dirty="0">
                <a:solidFill>
                  <a:srgbClr val="BFBFBF"/>
                </a:solidFill>
                <a:latin typeface="Arial"/>
              </a:rPr>
              <a:t>Dropouts: 2018: 9 DNF/LAP  |  2019: 4 DNF/LAP  |  2023: 7 DNF/LAP  |  2024: 1 DNF/LAP  |  2025: 1 DNF/LAP (1 in lead group at bike)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078992"/>
            <a:ext cx="11640312" cy="3017520"/>
          </a:xfrm>
          <a:prstGeom prst="rect">
            <a:avLst/>
          </a:prstGeom>
        </p:spPr>
      </p:pic>
      <p:graphicFrame>
        <p:nvGraphicFramePr>
          <p:cNvPr id="9" name="Table 8"/>
          <p:cNvGraphicFramePr>
            <a:graphicFrameLocks noGrp="1"/>
          </p:cNvGraphicFramePr>
          <p:nvPr/>
        </p:nvGraphicFramePr>
        <p:xfrm>
          <a:off x="274320" y="4187952"/>
          <a:ext cx="11640312" cy="2100072"/>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833372">
                  <a:extLst>
                    <a:ext uri="{9D8B030D-6E8A-4147-A177-3AD203B41FA5}">
                      <a16:colId xmlns:a16="http://schemas.microsoft.com/office/drawing/2014/main" val="20001"/>
                    </a:ext>
                  </a:extLst>
                </a:gridCol>
                <a:gridCol w="1833372">
                  <a:extLst>
                    <a:ext uri="{9D8B030D-6E8A-4147-A177-3AD203B41FA5}">
                      <a16:colId xmlns:a16="http://schemas.microsoft.com/office/drawing/2014/main" val="20002"/>
                    </a:ext>
                  </a:extLst>
                </a:gridCol>
                <a:gridCol w="1833372">
                  <a:extLst>
                    <a:ext uri="{9D8B030D-6E8A-4147-A177-3AD203B41FA5}">
                      <a16:colId xmlns:a16="http://schemas.microsoft.com/office/drawing/2014/main" val="20003"/>
                    </a:ext>
                  </a:extLst>
                </a:gridCol>
                <a:gridCol w="1833372">
                  <a:extLst>
                    <a:ext uri="{9D8B030D-6E8A-4147-A177-3AD203B41FA5}">
                      <a16:colId xmlns:a16="http://schemas.microsoft.com/office/drawing/2014/main" val="20004"/>
                    </a:ext>
                  </a:extLst>
                </a:gridCol>
                <a:gridCol w="1833372">
                  <a:extLst>
                    <a:ext uri="{9D8B030D-6E8A-4147-A177-3AD203B41FA5}">
                      <a16:colId xmlns:a16="http://schemas.microsoft.com/office/drawing/2014/main" val="20005"/>
                    </a:ext>
                  </a:extLst>
                </a:gridCol>
                <a:gridCol w="1833372">
                  <a:extLst>
                    <a:ext uri="{9D8B030D-6E8A-4147-A177-3AD203B41FA5}">
                      <a16:colId xmlns:a16="http://schemas.microsoft.com/office/drawing/2014/main" val="20006"/>
                    </a:ext>
                  </a:extLst>
                </a:gridCol>
              </a:tblGrid>
              <a:tr h="347472">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1st</a:t>
                      </a:r>
                    </a:p>
                  </a:txBody>
                  <a:tcPr>
                    <a:solidFill>
                      <a:srgbClr val="002060"/>
                    </a:solidFill>
                  </a:tcPr>
                </a:tc>
                <a:tc>
                  <a:txBody>
                    <a:bodyPr/>
                    <a:lstStyle/>
                    <a:p>
                      <a:pPr algn="ctr"/>
                      <a:r>
                        <a:rPr sz="1000" b="1" i="0">
                          <a:solidFill>
                            <a:srgbClr val="FFFFFF"/>
                          </a:solidFill>
                          <a:latin typeface="Arial"/>
                        </a:rPr>
                        <a:t>2nd</a:t>
                      </a:r>
                    </a:p>
                  </a:txBody>
                  <a:tcPr>
                    <a:solidFill>
                      <a:srgbClr val="002060"/>
                    </a:solidFill>
                  </a:tcPr>
                </a:tc>
                <a:tc>
                  <a:txBody>
                    <a:bodyPr/>
                    <a:lstStyle/>
                    <a:p>
                      <a:pPr algn="ctr"/>
                      <a:r>
                        <a:rPr sz="1000" b="1" i="0">
                          <a:solidFill>
                            <a:srgbClr val="FFFFFF"/>
                          </a:solidFill>
                          <a:latin typeface="Arial"/>
                        </a:rPr>
                        <a:t>3rd</a:t>
                      </a:r>
                    </a:p>
                  </a:txBody>
                  <a:tcPr>
                    <a:solidFill>
                      <a:srgbClr val="002060"/>
                    </a:solidFill>
                  </a:tcPr>
                </a:tc>
                <a:tc>
                  <a:txBody>
                    <a:bodyPr/>
                    <a:lstStyle/>
                    <a:p>
                      <a:pPr algn="ctr"/>
                      <a:r>
                        <a:rPr sz="1000" b="1" i="0">
                          <a:solidFill>
                            <a:srgbClr val="FFFFFF"/>
                          </a:solidFill>
                          <a:latin typeface="Arial"/>
                        </a:rPr>
                        <a:t>5th</a:t>
                      </a:r>
                    </a:p>
                  </a:txBody>
                  <a:tcPr>
                    <a:solidFill>
                      <a:srgbClr val="002060"/>
                    </a:solidFill>
                  </a:tcPr>
                </a:tc>
                <a:tc>
                  <a:txBody>
                    <a:bodyPr/>
                    <a:lstStyle/>
                    <a:p>
                      <a:pPr algn="ctr"/>
                      <a:r>
                        <a:rPr sz="1000" b="1" i="0">
                          <a:solidFill>
                            <a:srgbClr val="FFFFFF"/>
                          </a:solidFill>
                          <a:latin typeface="Arial"/>
                        </a:rPr>
                        <a:t>10th</a:t>
                      </a:r>
                    </a:p>
                  </a:txBody>
                  <a:tcPr>
                    <a:solidFill>
                      <a:srgbClr val="002060"/>
                    </a:solidFill>
                  </a:tcPr>
                </a:tc>
                <a:tc>
                  <a:txBody>
                    <a:bodyPr/>
                    <a:lstStyle/>
                    <a:p>
                      <a:pPr algn="ctr"/>
                      <a:r>
                        <a:rPr sz="1000" b="1" i="0">
                          <a:solidFill>
                            <a:srgbClr val="FFFFFF"/>
                          </a:solidFill>
                          <a:latin typeface="Arial"/>
                        </a:rPr>
                        <a:t>20th</a:t>
                      </a:r>
                    </a:p>
                  </a:txBody>
                  <a:tcPr>
                    <a:solidFill>
                      <a:srgbClr val="002060"/>
                    </a:solidFill>
                  </a:tcPr>
                </a:tc>
                <a:extLst>
                  <a:ext uri="{0D108BD9-81ED-4DB2-BD59-A6C34878D82A}">
                    <a16:rowId xmlns:a16="http://schemas.microsoft.com/office/drawing/2014/main" val="10000"/>
                  </a:ext>
                </a:extLst>
              </a:tr>
              <a:tr h="347472">
                <a:tc>
                  <a:txBody>
                    <a:bodyPr/>
                    <a:lstStyle/>
                    <a:p>
                      <a:pPr algn="ctr"/>
                      <a:r>
                        <a:rPr sz="1000" b="1" i="0">
                          <a:solidFill>
                            <a:srgbClr val="262626"/>
                          </a:solidFill>
                          <a:latin typeface="Arial"/>
                        </a:rPr>
                        <a:t>2018</a:t>
                      </a:r>
                    </a:p>
                  </a:txBody>
                  <a:tcPr>
                    <a:solidFill>
                      <a:srgbClr val="FFFFFF"/>
                    </a:solidFill>
                  </a:tcPr>
                </a:tc>
                <a:tc>
                  <a:txBody>
                    <a:bodyPr/>
                    <a:lstStyle/>
                    <a:p>
                      <a:pPr algn="ctr"/>
                      <a:r>
                        <a:rPr sz="850" b="0" i="0">
                          <a:solidFill>
                            <a:srgbClr val="262626"/>
                          </a:solidFill>
                          <a:latin typeface="Arial"/>
                        </a:rPr>
                        <a:t>2:08:02</a:t>
                      </a:r>
                    </a:p>
                  </a:txBody>
                  <a:tcPr>
                    <a:solidFill>
                      <a:srgbClr val="FFFFFF"/>
                    </a:solidFill>
                  </a:tcPr>
                </a:tc>
                <a:tc>
                  <a:txBody>
                    <a:bodyPr/>
                    <a:lstStyle/>
                    <a:p>
                      <a:pPr algn="ctr"/>
                      <a:r>
                        <a:rPr sz="850" b="0" i="0">
                          <a:solidFill>
                            <a:srgbClr val="262626"/>
                          </a:solidFill>
                          <a:latin typeface="Arial"/>
                        </a:rPr>
                        <a:t>2:08:13
+11s</a:t>
                      </a:r>
                    </a:p>
                  </a:txBody>
                  <a:tcPr>
                    <a:solidFill>
                      <a:srgbClr val="FFFFFF"/>
                    </a:solidFill>
                  </a:tcPr>
                </a:tc>
                <a:tc>
                  <a:txBody>
                    <a:bodyPr/>
                    <a:lstStyle/>
                    <a:p>
                      <a:pPr algn="ctr"/>
                      <a:r>
                        <a:rPr sz="850" b="0" i="0">
                          <a:solidFill>
                            <a:srgbClr val="262626"/>
                          </a:solidFill>
                          <a:latin typeface="Arial"/>
                        </a:rPr>
                        <a:t>2:09:07
+65s</a:t>
                      </a:r>
                    </a:p>
                  </a:txBody>
                  <a:tcPr>
                    <a:solidFill>
                      <a:srgbClr val="FFFFFF"/>
                    </a:solidFill>
                  </a:tcPr>
                </a:tc>
                <a:tc>
                  <a:txBody>
                    <a:bodyPr/>
                    <a:lstStyle/>
                    <a:p>
                      <a:pPr algn="ctr"/>
                      <a:r>
                        <a:rPr sz="850" b="0" i="0">
                          <a:solidFill>
                            <a:srgbClr val="262626"/>
                          </a:solidFill>
                          <a:latin typeface="Arial"/>
                        </a:rPr>
                        <a:t>2:09:35
+93s</a:t>
                      </a:r>
                    </a:p>
                  </a:txBody>
                  <a:tcPr>
                    <a:solidFill>
                      <a:srgbClr val="FFFFFF"/>
                    </a:solidFill>
                  </a:tcPr>
                </a:tc>
                <a:tc>
                  <a:txBody>
                    <a:bodyPr/>
                    <a:lstStyle/>
                    <a:p>
                      <a:pPr algn="ctr"/>
                      <a:r>
                        <a:rPr sz="850" b="0" i="0">
                          <a:solidFill>
                            <a:srgbClr val="262626"/>
                          </a:solidFill>
                          <a:latin typeface="Arial"/>
                        </a:rPr>
                        <a:t>2:10:44
+162s</a:t>
                      </a:r>
                    </a:p>
                  </a:txBody>
                  <a:tcPr>
                    <a:solidFill>
                      <a:srgbClr val="FFFFFF"/>
                    </a:solidFill>
                  </a:tcPr>
                </a:tc>
                <a:tc>
                  <a:txBody>
                    <a:bodyPr/>
                    <a:lstStyle/>
                    <a:p>
                      <a:pPr algn="ctr"/>
                      <a:r>
                        <a:rPr sz="850" b="0" i="0">
                          <a:solidFill>
                            <a:srgbClr val="262626"/>
                          </a:solidFill>
                          <a:latin typeface="Arial"/>
                        </a:rPr>
                        <a:t>2:12:37
+275s</a:t>
                      </a:r>
                    </a:p>
                  </a:txBody>
                  <a:tcPr>
                    <a:solidFill>
                      <a:srgbClr val="FFFFFF"/>
                    </a:solidFill>
                  </a:tcPr>
                </a:tc>
                <a:extLst>
                  <a:ext uri="{0D108BD9-81ED-4DB2-BD59-A6C34878D82A}">
                    <a16:rowId xmlns:a16="http://schemas.microsoft.com/office/drawing/2014/main" val="10001"/>
                  </a:ext>
                </a:extLst>
              </a:tr>
              <a:tr h="347472">
                <a:tc>
                  <a:txBody>
                    <a:bodyPr/>
                    <a:lstStyle/>
                    <a:p>
                      <a:pPr algn="ctr"/>
                      <a:r>
                        <a:rPr sz="1000" b="1" i="0">
                          <a:solidFill>
                            <a:srgbClr val="262626"/>
                          </a:solidFill>
                          <a:latin typeface="Arial"/>
                        </a:rPr>
                        <a:t>2019</a:t>
                      </a:r>
                    </a:p>
                  </a:txBody>
                  <a:tcPr>
                    <a:solidFill>
                      <a:srgbClr val="F2F2F2"/>
                    </a:solidFill>
                  </a:tcPr>
                </a:tc>
                <a:tc>
                  <a:txBody>
                    <a:bodyPr/>
                    <a:lstStyle/>
                    <a:p>
                      <a:pPr algn="ctr"/>
                      <a:r>
                        <a:rPr sz="850" b="0" i="0">
                          <a:solidFill>
                            <a:srgbClr val="262626"/>
                          </a:solidFill>
                          <a:latin typeface="Arial"/>
                        </a:rPr>
                        <a:t>2:08:03</a:t>
                      </a:r>
                    </a:p>
                  </a:txBody>
                  <a:tcPr>
                    <a:solidFill>
                      <a:srgbClr val="F2F2F2"/>
                    </a:solidFill>
                  </a:tcPr>
                </a:tc>
                <a:tc>
                  <a:txBody>
                    <a:bodyPr/>
                    <a:lstStyle/>
                    <a:p>
                      <a:pPr algn="ctr"/>
                      <a:r>
                        <a:rPr sz="850" b="0" i="0">
                          <a:solidFill>
                            <a:srgbClr val="262626"/>
                          </a:solidFill>
                          <a:latin typeface="Arial"/>
                        </a:rPr>
                        <a:t>2:09:48
+105s</a:t>
                      </a:r>
                    </a:p>
                  </a:txBody>
                  <a:tcPr>
                    <a:solidFill>
                      <a:srgbClr val="F2F2F2"/>
                    </a:solidFill>
                  </a:tcPr>
                </a:tc>
                <a:tc>
                  <a:txBody>
                    <a:bodyPr/>
                    <a:lstStyle/>
                    <a:p>
                      <a:pPr algn="ctr"/>
                      <a:r>
                        <a:rPr sz="850" b="0" i="0">
                          <a:solidFill>
                            <a:srgbClr val="262626"/>
                          </a:solidFill>
                          <a:latin typeface="Arial"/>
                        </a:rPr>
                        <a:t>2:10:11
+128s</a:t>
                      </a:r>
                    </a:p>
                  </a:txBody>
                  <a:tcPr>
                    <a:solidFill>
                      <a:srgbClr val="F2F2F2"/>
                    </a:solidFill>
                  </a:tcPr>
                </a:tc>
                <a:tc>
                  <a:txBody>
                    <a:bodyPr/>
                    <a:lstStyle/>
                    <a:p>
                      <a:pPr algn="ctr"/>
                      <a:r>
                        <a:rPr sz="850" b="0" i="0">
                          <a:solidFill>
                            <a:srgbClr val="262626"/>
                          </a:solidFill>
                          <a:latin typeface="Arial"/>
                        </a:rPr>
                        <a:t>2:11:47
+224s</a:t>
                      </a:r>
                    </a:p>
                  </a:txBody>
                  <a:tcPr>
                    <a:solidFill>
                      <a:srgbClr val="F2F2F2"/>
                    </a:solidFill>
                  </a:tcPr>
                </a:tc>
                <a:tc>
                  <a:txBody>
                    <a:bodyPr/>
                    <a:lstStyle/>
                    <a:p>
                      <a:pPr algn="ctr"/>
                      <a:r>
                        <a:rPr sz="850" b="0" i="0">
                          <a:solidFill>
                            <a:srgbClr val="262626"/>
                          </a:solidFill>
                          <a:latin typeface="Arial"/>
                        </a:rPr>
                        <a:t>2:12:51
+288s</a:t>
                      </a:r>
                    </a:p>
                  </a:txBody>
                  <a:tcPr>
                    <a:solidFill>
                      <a:srgbClr val="F2F2F2"/>
                    </a:solidFill>
                  </a:tcPr>
                </a:tc>
                <a:tc>
                  <a:txBody>
                    <a:bodyPr/>
                    <a:lstStyle/>
                    <a:p>
                      <a:pPr algn="ctr"/>
                      <a:r>
                        <a:rPr sz="850" b="0" i="0">
                          <a:solidFill>
                            <a:srgbClr val="262626"/>
                          </a:solidFill>
                          <a:latin typeface="Arial"/>
                        </a:rPr>
                        <a:t>2:15:30
+447s</a:t>
                      </a:r>
                    </a:p>
                  </a:txBody>
                  <a:tcPr>
                    <a:solidFill>
                      <a:srgbClr val="F2F2F2"/>
                    </a:solidFill>
                  </a:tcPr>
                </a:tc>
                <a:extLst>
                  <a:ext uri="{0D108BD9-81ED-4DB2-BD59-A6C34878D82A}">
                    <a16:rowId xmlns:a16="http://schemas.microsoft.com/office/drawing/2014/main" val="10002"/>
                  </a:ext>
                </a:extLst>
              </a:tr>
              <a:tr h="347472">
                <a:tc>
                  <a:txBody>
                    <a:bodyPr/>
                    <a:lstStyle/>
                    <a:p>
                      <a:pPr algn="ctr"/>
                      <a:r>
                        <a:rPr sz="1000" b="1" i="0">
                          <a:solidFill>
                            <a:srgbClr val="262626"/>
                          </a:solidFill>
                          <a:latin typeface="Arial"/>
                        </a:rPr>
                        <a:t>2023</a:t>
                      </a:r>
                    </a:p>
                  </a:txBody>
                  <a:tcPr>
                    <a:solidFill>
                      <a:srgbClr val="FFFFFF"/>
                    </a:solidFill>
                  </a:tcPr>
                </a:tc>
                <a:tc>
                  <a:txBody>
                    <a:bodyPr/>
                    <a:lstStyle/>
                    <a:p>
                      <a:pPr algn="ctr"/>
                      <a:r>
                        <a:rPr sz="850" b="0" i="0">
                          <a:solidFill>
                            <a:srgbClr val="262626"/>
                          </a:solidFill>
                          <a:latin typeface="Arial"/>
                        </a:rPr>
                        <a:t>1:58:42</a:t>
                      </a:r>
                    </a:p>
                  </a:txBody>
                  <a:tcPr>
                    <a:solidFill>
                      <a:srgbClr val="FFFFFF"/>
                    </a:solidFill>
                  </a:tcPr>
                </a:tc>
                <a:tc>
                  <a:txBody>
                    <a:bodyPr/>
                    <a:lstStyle/>
                    <a:p>
                      <a:pPr algn="ctr"/>
                      <a:r>
                        <a:rPr sz="850" b="0" i="0">
                          <a:solidFill>
                            <a:srgbClr val="262626"/>
                          </a:solidFill>
                          <a:latin typeface="Arial"/>
                        </a:rPr>
                        <a:t>1:58:59
+17s</a:t>
                      </a:r>
                    </a:p>
                  </a:txBody>
                  <a:tcPr>
                    <a:solidFill>
                      <a:srgbClr val="FFFFFF"/>
                    </a:solidFill>
                  </a:tcPr>
                </a:tc>
                <a:tc>
                  <a:txBody>
                    <a:bodyPr/>
                    <a:lstStyle/>
                    <a:p>
                      <a:pPr algn="ctr"/>
                      <a:r>
                        <a:rPr sz="850" b="0" i="0">
                          <a:solidFill>
                            <a:srgbClr val="262626"/>
                          </a:solidFill>
                          <a:latin typeface="Arial"/>
                        </a:rPr>
                        <a:t>1:59:04
+22s</a:t>
                      </a:r>
                    </a:p>
                  </a:txBody>
                  <a:tcPr>
                    <a:solidFill>
                      <a:srgbClr val="FFFFFF"/>
                    </a:solidFill>
                  </a:tcPr>
                </a:tc>
                <a:tc>
                  <a:txBody>
                    <a:bodyPr/>
                    <a:lstStyle/>
                    <a:p>
                      <a:pPr algn="ctr"/>
                      <a:r>
                        <a:rPr sz="850" b="0" i="0">
                          <a:solidFill>
                            <a:srgbClr val="262626"/>
                          </a:solidFill>
                          <a:latin typeface="Arial"/>
                        </a:rPr>
                        <a:t>1:59:42
+60s</a:t>
                      </a:r>
                    </a:p>
                  </a:txBody>
                  <a:tcPr>
                    <a:solidFill>
                      <a:srgbClr val="FFFFFF"/>
                    </a:solidFill>
                  </a:tcPr>
                </a:tc>
                <a:tc>
                  <a:txBody>
                    <a:bodyPr/>
                    <a:lstStyle/>
                    <a:p>
                      <a:pPr algn="ctr"/>
                      <a:r>
                        <a:rPr sz="850" b="0" i="0">
                          <a:solidFill>
                            <a:srgbClr val="262626"/>
                          </a:solidFill>
                          <a:latin typeface="Arial"/>
                        </a:rPr>
                        <a:t>2:00:51
+129s</a:t>
                      </a:r>
                    </a:p>
                  </a:txBody>
                  <a:tcPr>
                    <a:solidFill>
                      <a:srgbClr val="FFFFFF"/>
                    </a:solidFill>
                  </a:tcPr>
                </a:tc>
                <a:tc>
                  <a:txBody>
                    <a:bodyPr/>
                    <a:lstStyle/>
                    <a:p>
                      <a:pPr algn="ctr"/>
                      <a:r>
                        <a:rPr sz="850" b="0" i="0">
                          <a:solidFill>
                            <a:srgbClr val="262626"/>
                          </a:solidFill>
                          <a:latin typeface="Arial"/>
                        </a:rPr>
                        <a:t>2:08:51
+609s</a:t>
                      </a:r>
                    </a:p>
                  </a:txBody>
                  <a:tcPr>
                    <a:solidFill>
                      <a:srgbClr val="FFFFFF"/>
                    </a:solidFill>
                  </a:tcPr>
                </a:tc>
                <a:extLst>
                  <a:ext uri="{0D108BD9-81ED-4DB2-BD59-A6C34878D82A}">
                    <a16:rowId xmlns:a16="http://schemas.microsoft.com/office/drawing/2014/main" val="10003"/>
                  </a:ext>
                </a:extLst>
              </a:tr>
              <a:tr h="347472">
                <a:tc>
                  <a:txBody>
                    <a:bodyPr/>
                    <a:lstStyle/>
                    <a:p>
                      <a:pPr algn="ctr"/>
                      <a:r>
                        <a:rPr sz="1000" b="1" i="0">
                          <a:solidFill>
                            <a:srgbClr val="262626"/>
                          </a:solidFill>
                          <a:latin typeface="Arial"/>
                        </a:rPr>
                        <a:t>2024</a:t>
                      </a:r>
                    </a:p>
                  </a:txBody>
                  <a:tcPr>
                    <a:solidFill>
                      <a:srgbClr val="F2F2F2"/>
                    </a:solidFill>
                  </a:tcPr>
                </a:tc>
                <a:tc>
                  <a:txBody>
                    <a:bodyPr/>
                    <a:lstStyle/>
                    <a:p>
                      <a:pPr algn="ctr"/>
                      <a:r>
                        <a:rPr sz="850" b="0" i="0">
                          <a:solidFill>
                            <a:srgbClr val="262626"/>
                          </a:solidFill>
                          <a:latin typeface="Arial"/>
                        </a:rPr>
                        <a:t>2:04:42</a:t>
                      </a:r>
                    </a:p>
                  </a:txBody>
                  <a:tcPr>
                    <a:solidFill>
                      <a:srgbClr val="F2F2F2"/>
                    </a:solidFill>
                  </a:tcPr>
                </a:tc>
                <a:tc>
                  <a:txBody>
                    <a:bodyPr/>
                    <a:lstStyle/>
                    <a:p>
                      <a:pPr algn="ctr"/>
                      <a:r>
                        <a:rPr sz="850" b="0" i="0">
                          <a:solidFill>
                            <a:srgbClr val="262626"/>
                          </a:solidFill>
                          <a:latin typeface="Arial"/>
                        </a:rPr>
                        <a:t>2:04:59
+17s</a:t>
                      </a:r>
                    </a:p>
                  </a:txBody>
                  <a:tcPr>
                    <a:solidFill>
                      <a:srgbClr val="F2F2F2"/>
                    </a:solidFill>
                  </a:tcPr>
                </a:tc>
                <a:tc>
                  <a:txBody>
                    <a:bodyPr/>
                    <a:lstStyle/>
                    <a:p>
                      <a:pPr algn="ctr"/>
                      <a:r>
                        <a:rPr sz="850" b="0" i="0">
                          <a:solidFill>
                            <a:srgbClr val="262626"/>
                          </a:solidFill>
                          <a:latin typeface="Arial"/>
                        </a:rPr>
                        <a:t>2:05:40
+58s</a:t>
                      </a:r>
                    </a:p>
                  </a:txBody>
                  <a:tcPr>
                    <a:solidFill>
                      <a:srgbClr val="F2F2F2"/>
                    </a:solidFill>
                  </a:tcPr>
                </a:tc>
                <a:tc>
                  <a:txBody>
                    <a:bodyPr/>
                    <a:lstStyle/>
                    <a:p>
                      <a:pPr algn="ctr"/>
                      <a:r>
                        <a:rPr sz="850" b="0" i="0">
                          <a:solidFill>
                            <a:srgbClr val="262626"/>
                          </a:solidFill>
                          <a:latin typeface="Arial"/>
                        </a:rPr>
                        <a:t>2:06:00
+78s</a:t>
                      </a:r>
                    </a:p>
                  </a:txBody>
                  <a:tcPr>
                    <a:solidFill>
                      <a:srgbClr val="F2F2F2"/>
                    </a:solidFill>
                  </a:tcPr>
                </a:tc>
                <a:tc>
                  <a:txBody>
                    <a:bodyPr/>
                    <a:lstStyle/>
                    <a:p>
                      <a:pPr algn="ctr"/>
                      <a:r>
                        <a:rPr sz="850" b="0" i="0">
                          <a:solidFill>
                            <a:srgbClr val="262626"/>
                          </a:solidFill>
                          <a:latin typeface="Arial"/>
                        </a:rPr>
                        <a:t>2:06:46
+124s</a:t>
                      </a:r>
                    </a:p>
                  </a:txBody>
                  <a:tcPr>
                    <a:solidFill>
                      <a:srgbClr val="F2F2F2"/>
                    </a:solidFill>
                  </a:tcPr>
                </a:tc>
                <a:tc>
                  <a:txBody>
                    <a:bodyPr/>
                    <a:lstStyle/>
                    <a:p>
                      <a:pPr algn="ctr"/>
                      <a:r>
                        <a:rPr sz="850" b="0" i="0">
                          <a:solidFill>
                            <a:srgbClr val="262626"/>
                          </a:solidFill>
                          <a:latin typeface="Arial"/>
                        </a:rPr>
                        <a:t>2:12:31
+469s</a:t>
                      </a:r>
                    </a:p>
                  </a:txBody>
                  <a:tcPr>
                    <a:solidFill>
                      <a:srgbClr val="F2F2F2"/>
                    </a:solidFill>
                  </a:tcPr>
                </a:tc>
                <a:extLst>
                  <a:ext uri="{0D108BD9-81ED-4DB2-BD59-A6C34878D82A}">
                    <a16:rowId xmlns:a16="http://schemas.microsoft.com/office/drawing/2014/main" val="10004"/>
                  </a:ext>
                </a:extLst>
              </a:tr>
              <a:tr h="347472">
                <a:tc>
                  <a:txBody>
                    <a:bodyPr/>
                    <a:lstStyle/>
                    <a:p>
                      <a:pPr algn="ctr"/>
                      <a:r>
                        <a:rPr sz="1000" b="1" i="0">
                          <a:solidFill>
                            <a:srgbClr val="262626"/>
                          </a:solidFill>
                          <a:latin typeface="Arial"/>
                        </a:rPr>
                        <a:t>2025</a:t>
                      </a:r>
                    </a:p>
                  </a:txBody>
                  <a:tcPr>
                    <a:solidFill>
                      <a:srgbClr val="FFFFFF"/>
                    </a:solidFill>
                  </a:tcPr>
                </a:tc>
                <a:tc>
                  <a:txBody>
                    <a:bodyPr/>
                    <a:lstStyle/>
                    <a:p>
                      <a:pPr algn="ctr"/>
                      <a:r>
                        <a:rPr sz="850" b="0" i="0">
                          <a:solidFill>
                            <a:srgbClr val="262626"/>
                          </a:solidFill>
                          <a:latin typeface="Arial"/>
                        </a:rPr>
                        <a:t>1:51:58</a:t>
                      </a:r>
                    </a:p>
                  </a:txBody>
                  <a:tcPr>
                    <a:solidFill>
                      <a:srgbClr val="FFFFFF"/>
                    </a:solidFill>
                  </a:tcPr>
                </a:tc>
                <a:tc>
                  <a:txBody>
                    <a:bodyPr/>
                    <a:lstStyle/>
                    <a:p>
                      <a:pPr algn="ctr"/>
                      <a:r>
                        <a:rPr sz="850" b="0" i="0">
                          <a:solidFill>
                            <a:srgbClr val="262626"/>
                          </a:solidFill>
                          <a:latin typeface="Arial"/>
                        </a:rPr>
                        <a:t>1:52:15
+17s</a:t>
                      </a:r>
                    </a:p>
                  </a:txBody>
                  <a:tcPr>
                    <a:solidFill>
                      <a:srgbClr val="FFFFFF"/>
                    </a:solidFill>
                  </a:tcPr>
                </a:tc>
                <a:tc>
                  <a:txBody>
                    <a:bodyPr/>
                    <a:lstStyle/>
                    <a:p>
                      <a:pPr algn="ctr"/>
                      <a:r>
                        <a:rPr sz="850" b="0" i="0">
                          <a:solidFill>
                            <a:srgbClr val="262626"/>
                          </a:solidFill>
                          <a:latin typeface="Arial"/>
                        </a:rPr>
                        <a:t>1:52:19
+21s</a:t>
                      </a:r>
                    </a:p>
                  </a:txBody>
                  <a:tcPr>
                    <a:solidFill>
                      <a:srgbClr val="FFFFFF"/>
                    </a:solidFill>
                  </a:tcPr>
                </a:tc>
                <a:tc>
                  <a:txBody>
                    <a:bodyPr/>
                    <a:lstStyle/>
                    <a:p>
                      <a:pPr algn="ctr"/>
                      <a:r>
                        <a:rPr sz="850" b="0" i="0">
                          <a:solidFill>
                            <a:srgbClr val="262626"/>
                          </a:solidFill>
                          <a:latin typeface="Arial"/>
                        </a:rPr>
                        <a:t>1:53:00
+62s</a:t>
                      </a:r>
                    </a:p>
                  </a:txBody>
                  <a:tcPr>
                    <a:solidFill>
                      <a:srgbClr val="FFFFFF"/>
                    </a:solidFill>
                  </a:tcPr>
                </a:tc>
                <a:tc>
                  <a:txBody>
                    <a:bodyPr/>
                    <a:lstStyle/>
                    <a:p>
                      <a:pPr algn="ctr"/>
                      <a:r>
                        <a:rPr sz="850" b="0" i="0">
                          <a:solidFill>
                            <a:srgbClr val="262626"/>
                          </a:solidFill>
                          <a:latin typeface="Arial"/>
                        </a:rPr>
                        <a:t>1:53:52
+114s</a:t>
                      </a:r>
                    </a:p>
                  </a:txBody>
                  <a:tcPr>
                    <a:solidFill>
                      <a:srgbClr val="FFFFFF"/>
                    </a:solidFill>
                  </a:tcPr>
                </a:tc>
                <a:tc>
                  <a:txBody>
                    <a:bodyPr/>
                    <a:lstStyle/>
                    <a:p>
                      <a:pPr algn="ctr"/>
                      <a:r>
                        <a:rPr sz="850" b="0" i="0">
                          <a:solidFill>
                            <a:srgbClr val="262626"/>
                          </a:solidFill>
                          <a:latin typeface="Arial"/>
                        </a:rPr>
                        <a:t>1:56:45
+287s</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Weihai</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2743200"/>
        </p:xfrm>
        <a:graphic>
          <a:graphicData uri="http://schemas.openxmlformats.org/drawingml/2006/table">
            <a:tbl>
              <a:tblPr firstRow="1" bandRow="1">
                <a:tableStyleId>{5C22544A-7EE6-4342-B048-85BDC9FD1C3A}</a:tableStyleId>
              </a:tblPr>
              <a:tblGrid>
                <a:gridCol w="591571">
                  <a:extLst>
                    <a:ext uri="{9D8B030D-6E8A-4147-A177-3AD203B41FA5}">
                      <a16:colId xmlns:a16="http://schemas.microsoft.com/office/drawing/2014/main" val="20000"/>
                    </a:ext>
                  </a:extLst>
                </a:gridCol>
                <a:gridCol w="864604">
                  <a:extLst>
                    <a:ext uri="{9D8B030D-6E8A-4147-A177-3AD203B41FA5}">
                      <a16:colId xmlns:a16="http://schemas.microsoft.com/office/drawing/2014/main" val="20001"/>
                    </a:ext>
                  </a:extLst>
                </a:gridCol>
                <a:gridCol w="910110">
                  <a:extLst>
                    <a:ext uri="{9D8B030D-6E8A-4147-A177-3AD203B41FA5}">
                      <a16:colId xmlns:a16="http://schemas.microsoft.com/office/drawing/2014/main" val="20002"/>
                    </a:ext>
                  </a:extLst>
                </a:gridCol>
                <a:gridCol w="819099">
                  <a:extLst>
                    <a:ext uri="{9D8B030D-6E8A-4147-A177-3AD203B41FA5}">
                      <a16:colId xmlns:a16="http://schemas.microsoft.com/office/drawing/2014/main" val="20003"/>
                    </a:ext>
                  </a:extLst>
                </a:gridCol>
                <a:gridCol w="910110">
                  <a:extLst>
                    <a:ext uri="{9D8B030D-6E8A-4147-A177-3AD203B41FA5}">
                      <a16:colId xmlns:a16="http://schemas.microsoft.com/office/drawing/2014/main" val="20004"/>
                    </a:ext>
                  </a:extLst>
                </a:gridCol>
                <a:gridCol w="864604">
                  <a:extLst>
                    <a:ext uri="{9D8B030D-6E8A-4147-A177-3AD203B41FA5}">
                      <a16:colId xmlns:a16="http://schemas.microsoft.com/office/drawing/2014/main" val="20005"/>
                    </a:ext>
                  </a:extLst>
                </a:gridCol>
                <a:gridCol w="864604">
                  <a:extLst>
                    <a:ext uri="{9D8B030D-6E8A-4147-A177-3AD203B41FA5}">
                      <a16:colId xmlns:a16="http://schemas.microsoft.com/office/drawing/2014/main" val="20006"/>
                    </a:ext>
                  </a:extLst>
                </a:gridCol>
                <a:gridCol w="819099">
                  <a:extLst>
                    <a:ext uri="{9D8B030D-6E8A-4147-A177-3AD203B41FA5}">
                      <a16:colId xmlns:a16="http://schemas.microsoft.com/office/drawing/2014/main" val="20007"/>
                    </a:ext>
                  </a:extLst>
                </a:gridCol>
                <a:gridCol w="4996506">
                  <a:extLst>
                    <a:ext uri="{9D8B030D-6E8A-4147-A177-3AD203B41FA5}">
                      <a16:colId xmlns:a16="http://schemas.microsoft.com/office/drawing/2014/main" val="20008"/>
                    </a:ext>
                  </a:extLst>
                </a:gridCol>
              </a:tblGrid>
              <a:tr h="457200">
                <a:tc>
                  <a:txBody>
                    <a:bodyPr/>
                    <a:lstStyle/>
                    <a:p>
                      <a:pPr algn="ctr"/>
                      <a:r>
                        <a:rPr sz="1200" b="1" i="0">
                          <a:solidFill>
                            <a:srgbClr val="FFFFFF"/>
                          </a:solidFill>
                          <a:latin typeface="Arial"/>
                        </a:rPr>
                        <a:t>Year</a:t>
                      </a:r>
                    </a:p>
                  </a:txBody>
                  <a:tcPr>
                    <a:solidFill>
                      <a:srgbClr val="002060"/>
                    </a:solidFill>
                  </a:tcPr>
                </a:tc>
                <a:tc>
                  <a:txBody>
                    <a:bodyPr/>
                    <a:lstStyle/>
                    <a:p>
                      <a:pPr algn="ctr"/>
                      <a:r>
                        <a:rPr sz="1200" b="1" i="0">
                          <a:solidFill>
                            <a:srgbClr val="FFFFFF"/>
                          </a:solidFill>
                          <a:latin typeface="Arial"/>
                        </a:rPr>
                        <a:t>Date</a:t>
                      </a:r>
                    </a:p>
                  </a:txBody>
                  <a:tcPr>
                    <a:solidFill>
                      <a:srgbClr val="002060"/>
                    </a:solidFill>
                  </a:tcPr>
                </a:tc>
                <a:tc>
                  <a:txBody>
                    <a:bodyPr/>
                    <a:lstStyle/>
                    <a:p>
                      <a:pPr algn="ctr"/>
                      <a:r>
                        <a:rPr sz="1200" b="1" i="0">
                          <a:solidFill>
                            <a:srgbClr val="FFFFFF"/>
                          </a:solidFill>
                          <a:latin typeface="Arial"/>
                        </a:rPr>
                        <a:t>Air Temp</a:t>
                      </a:r>
                    </a:p>
                  </a:txBody>
                  <a:tcPr>
                    <a:solidFill>
                      <a:srgbClr val="002060"/>
                    </a:solidFill>
                  </a:tcPr>
                </a:tc>
                <a:tc>
                  <a:txBody>
                    <a:bodyPr/>
                    <a:lstStyle/>
                    <a:p>
                      <a:pPr algn="ctr"/>
                      <a:r>
                        <a:rPr sz="1200" b="1" i="0">
                          <a:solidFill>
                            <a:srgbClr val="FFFFFF"/>
                          </a:solidFill>
                          <a:latin typeface="Arial"/>
                        </a:rPr>
                        <a:t>Humidity</a:t>
                      </a:r>
                    </a:p>
                  </a:txBody>
                  <a:tcPr>
                    <a:solidFill>
                      <a:srgbClr val="002060"/>
                    </a:solidFill>
                  </a:tcPr>
                </a:tc>
                <a:tc>
                  <a:txBody>
                    <a:bodyPr/>
                    <a:lstStyle/>
                    <a:p>
                      <a:pPr algn="ctr"/>
                      <a:r>
                        <a:rPr sz="1200" b="1" i="0">
                          <a:solidFill>
                            <a:srgbClr val="FFFFFF"/>
                          </a:solidFill>
                          <a:latin typeface="Arial"/>
                        </a:rPr>
                        <a:t>Wind (km/h)</a:t>
                      </a:r>
                    </a:p>
                  </a:txBody>
                  <a:tcPr>
                    <a:solidFill>
                      <a:srgbClr val="002060"/>
                    </a:solidFill>
                  </a:tcPr>
                </a:tc>
                <a:tc>
                  <a:txBody>
                    <a:bodyPr/>
                    <a:lstStyle/>
                    <a:p>
                      <a:pPr algn="ctr"/>
                      <a:r>
                        <a:rPr sz="1200" b="1" i="0">
                          <a:solidFill>
                            <a:srgbClr val="FFFFFF"/>
                          </a:solidFill>
                          <a:latin typeface="Arial"/>
                        </a:rPr>
                        <a:t>Precip (mm)</a:t>
                      </a:r>
                    </a:p>
                  </a:txBody>
                  <a:tcPr>
                    <a:solidFill>
                      <a:srgbClr val="002060"/>
                    </a:solidFill>
                  </a:tcPr>
                </a:tc>
                <a:tc>
                  <a:txBody>
                    <a:bodyPr/>
                    <a:lstStyle/>
                    <a:p>
                      <a:pPr algn="ctr"/>
                      <a:r>
                        <a:rPr sz="1200" b="1" i="0">
                          <a:solidFill>
                            <a:srgbClr val="FFFFFF"/>
                          </a:solidFill>
                          <a:latin typeface="Arial"/>
                        </a:rPr>
                        <a:t>Water Temp</a:t>
                      </a:r>
                    </a:p>
                  </a:txBody>
                  <a:tcPr>
                    <a:solidFill>
                      <a:srgbClr val="002060"/>
                    </a:solidFill>
                  </a:tcPr>
                </a:tc>
                <a:tc>
                  <a:txBody>
                    <a:bodyPr/>
                    <a:lstStyle/>
                    <a:p>
                      <a:pPr algn="ctr"/>
                      <a:r>
                        <a:rPr sz="1200" b="1" i="0">
                          <a:solidFill>
                            <a:srgbClr val="FFFFFF"/>
                          </a:solidFill>
                          <a:latin typeface="Arial"/>
                        </a:rPr>
                        <a:t>Wetsuit</a:t>
                      </a:r>
                    </a:p>
                  </a:txBody>
                  <a:tcPr>
                    <a:solidFill>
                      <a:srgbClr val="002060"/>
                    </a:solidFill>
                  </a:tcPr>
                </a:tc>
                <a:tc>
                  <a:txBody>
                    <a:bodyPr/>
                    <a:lstStyle/>
                    <a:p>
                      <a:pPr algn="ctr"/>
                      <a:r>
                        <a:rPr sz="1200" b="1" i="0">
                          <a:solidFill>
                            <a:srgbClr val="FFFFFF"/>
                          </a:solidFill>
                          <a:latin typeface="Arial"/>
                        </a:rPr>
                        <a:t>Conditions</a:t>
                      </a:r>
                    </a:p>
                  </a:txBody>
                  <a:tcPr>
                    <a:solidFill>
                      <a:srgbClr val="002060"/>
                    </a:solidFill>
                  </a:tcPr>
                </a:tc>
                <a:extLst>
                  <a:ext uri="{0D108BD9-81ED-4DB2-BD59-A6C34878D82A}">
                    <a16:rowId xmlns:a16="http://schemas.microsoft.com/office/drawing/2014/main" val="10000"/>
                  </a:ext>
                </a:extLst>
              </a:tr>
              <a:tr h="457200">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Sep 22</a:t>
                      </a:r>
                    </a:p>
                  </a:txBody>
                  <a:tcPr>
                    <a:solidFill>
                      <a:srgbClr val="FFFFFF"/>
                    </a:solidFill>
                  </a:tcPr>
                </a:tc>
                <a:tc>
                  <a:txBody>
                    <a:bodyPr/>
                    <a:lstStyle/>
                    <a:p>
                      <a:pPr algn="ctr"/>
                      <a:r>
                        <a:rPr sz="1000" b="0" i="0">
                          <a:solidFill>
                            <a:srgbClr val="262626"/>
                          </a:solidFill>
                          <a:latin typeface="Arial"/>
                        </a:rPr>
                        <a:t>23.5°*</a:t>
                      </a:r>
                    </a:p>
                  </a:txBody>
                  <a:tcPr>
                    <a:solidFill>
                      <a:srgbClr val="FFFFFF"/>
                    </a:solidFill>
                  </a:tcPr>
                </a:tc>
                <a:tc>
                  <a:txBody>
                    <a:bodyPr/>
                    <a:lstStyle/>
                    <a:p>
                      <a:pPr algn="ctr"/>
                      <a:r>
                        <a:rPr sz="1000" b="0" i="0">
                          <a:solidFill>
                            <a:srgbClr val="262626"/>
                          </a:solidFill>
                          <a:latin typeface="Arial"/>
                        </a:rPr>
                        <a:t>39%</a:t>
                      </a:r>
                    </a:p>
                  </a:txBody>
                  <a:tcPr>
                    <a:solidFill>
                      <a:srgbClr val="FFFFFF"/>
                    </a:solidFill>
                  </a:tcPr>
                </a:tc>
                <a:tc>
                  <a:txBody>
                    <a:bodyPr/>
                    <a:lstStyle/>
                    <a:p>
                      <a:pPr algn="ctr"/>
                      <a:r>
                        <a:rPr sz="1000" b="0" i="0">
                          <a:solidFill>
                            <a:srgbClr val="262626"/>
                          </a:solidFill>
                          <a:latin typeface="Arial"/>
                        </a:rPr>
                        <a:t>9</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457200">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Sep 21</a:t>
                      </a:r>
                    </a:p>
                  </a:txBody>
                  <a:tcPr>
                    <a:solidFill>
                      <a:srgbClr val="F2F2F2"/>
                    </a:solidFill>
                  </a:tcPr>
                </a:tc>
                <a:tc>
                  <a:txBody>
                    <a:bodyPr/>
                    <a:lstStyle/>
                    <a:p>
                      <a:pPr algn="ctr"/>
                      <a:r>
                        <a:rPr sz="1000" b="0" i="0">
                          <a:solidFill>
                            <a:srgbClr val="262626"/>
                          </a:solidFill>
                          <a:latin typeface="Arial"/>
                        </a:rPr>
                        <a:t>23.3°*</a:t>
                      </a:r>
                    </a:p>
                  </a:txBody>
                  <a:tcPr>
                    <a:solidFill>
                      <a:srgbClr val="F2F2F2"/>
                    </a:solidFill>
                  </a:tcPr>
                </a:tc>
                <a:tc>
                  <a:txBody>
                    <a:bodyPr/>
                    <a:lstStyle/>
                    <a:p>
                      <a:pPr algn="ctr"/>
                      <a:r>
                        <a:rPr sz="1000" b="0" i="0">
                          <a:solidFill>
                            <a:srgbClr val="262626"/>
                          </a:solidFill>
                          <a:latin typeface="Arial"/>
                        </a:rPr>
                        <a:t>66%</a:t>
                      </a:r>
                    </a:p>
                  </a:txBody>
                  <a:tcPr>
                    <a:solidFill>
                      <a:srgbClr val="F2F2F2"/>
                    </a:solidFill>
                  </a:tcPr>
                </a:tc>
                <a:tc>
                  <a:txBody>
                    <a:bodyPr/>
                    <a:lstStyle/>
                    <a:p>
                      <a:pPr algn="ctr"/>
                      <a:r>
                        <a:rPr sz="1000" b="0" i="0">
                          <a:solidFill>
                            <a:srgbClr val="262626"/>
                          </a:solidFill>
                          <a:latin typeface="Arial"/>
                        </a:rPr>
                        <a:t>20</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457200">
                <a:tc>
                  <a:txBody>
                    <a:bodyPr/>
                    <a:lstStyle/>
                    <a:p>
                      <a:pPr algn="ctr"/>
                      <a:r>
                        <a:rPr sz="1000" b="0" i="0">
                          <a:solidFill>
                            <a:srgbClr val="262626"/>
                          </a:solidFill>
                          <a:latin typeface="Arial"/>
                        </a:rPr>
                        <a:t>2023</a:t>
                      </a:r>
                    </a:p>
                  </a:txBody>
                  <a:tcPr>
                    <a:solidFill>
                      <a:srgbClr val="FFFFFF"/>
                    </a:solidFill>
                  </a:tcPr>
                </a:tc>
                <a:tc>
                  <a:txBody>
                    <a:bodyPr/>
                    <a:lstStyle/>
                    <a:p>
                      <a:pPr algn="ctr"/>
                      <a:r>
                        <a:rPr sz="1000" b="0" i="0">
                          <a:solidFill>
                            <a:srgbClr val="262626"/>
                          </a:solidFill>
                          <a:latin typeface="Arial"/>
                        </a:rPr>
                        <a:t>Aug 26</a:t>
                      </a:r>
                    </a:p>
                  </a:txBody>
                  <a:tcPr>
                    <a:solidFill>
                      <a:srgbClr val="FFFFFF"/>
                    </a:solidFill>
                  </a:tcPr>
                </a:tc>
                <a:tc>
                  <a:txBody>
                    <a:bodyPr/>
                    <a:lstStyle/>
                    <a:p>
                      <a:pPr algn="ctr"/>
                      <a:r>
                        <a:rPr sz="1000" b="0" i="0">
                          <a:solidFill>
                            <a:srgbClr val="262626"/>
                          </a:solidFill>
                          <a:latin typeface="Arial"/>
                        </a:rPr>
                        <a:t>31.9</a:t>
                      </a:r>
                    </a:p>
                  </a:txBody>
                  <a:tcPr>
                    <a:solidFill>
                      <a:srgbClr val="FFFFFF"/>
                    </a:solidFill>
                  </a:tcPr>
                </a:tc>
                <a:tc>
                  <a:txBody>
                    <a:bodyPr/>
                    <a:lstStyle/>
                    <a:p>
                      <a:pPr algn="ctr"/>
                      <a:r>
                        <a:rPr sz="1000" b="0" i="0">
                          <a:solidFill>
                            <a:srgbClr val="262626"/>
                          </a:solidFill>
                          <a:latin typeface="Arial"/>
                        </a:rPr>
                        <a:t>60%</a:t>
                      </a:r>
                    </a:p>
                  </a:txBody>
                  <a:tcPr>
                    <a:solidFill>
                      <a:srgbClr val="FFFFFF"/>
                    </a:solidFill>
                  </a:tcPr>
                </a:tc>
                <a:tc>
                  <a:txBody>
                    <a:bodyPr/>
                    <a:lstStyle/>
                    <a:p>
                      <a:pPr algn="ctr"/>
                      <a:r>
                        <a:rPr sz="1000" b="0" i="0">
                          <a:solidFill>
                            <a:srgbClr val="262626"/>
                          </a:solidFill>
                          <a:latin typeface="Arial"/>
                        </a:rPr>
                        <a:t>16</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25.9</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457200">
                <a:tc>
                  <a:txBody>
                    <a:bodyPr/>
                    <a:lstStyle/>
                    <a:p>
                      <a:pPr algn="ctr"/>
                      <a:r>
                        <a:rPr sz="1000" b="0" i="0">
                          <a:solidFill>
                            <a:srgbClr val="262626"/>
                          </a:solidFill>
                          <a:latin typeface="Arial"/>
                        </a:rPr>
                        <a:t>2024</a:t>
                      </a:r>
                    </a:p>
                  </a:txBody>
                  <a:tcPr>
                    <a:solidFill>
                      <a:srgbClr val="F2F2F2"/>
                    </a:solidFill>
                  </a:tcPr>
                </a:tc>
                <a:tc>
                  <a:txBody>
                    <a:bodyPr/>
                    <a:lstStyle/>
                    <a:p>
                      <a:pPr algn="ctr"/>
                      <a:r>
                        <a:rPr sz="1000" b="0" i="0">
                          <a:solidFill>
                            <a:srgbClr val="262626"/>
                          </a:solidFill>
                          <a:latin typeface="Arial"/>
                        </a:rPr>
                        <a:t>Sep 27</a:t>
                      </a:r>
                    </a:p>
                  </a:txBody>
                  <a:tcPr>
                    <a:solidFill>
                      <a:srgbClr val="F2F2F2"/>
                    </a:solidFill>
                  </a:tcPr>
                </a:tc>
                <a:tc>
                  <a:txBody>
                    <a:bodyPr/>
                    <a:lstStyle/>
                    <a:p>
                      <a:pPr algn="ctr"/>
                      <a:r>
                        <a:rPr sz="1000" b="0" i="0">
                          <a:solidFill>
                            <a:srgbClr val="262626"/>
                          </a:solidFill>
                          <a:latin typeface="Arial"/>
                        </a:rPr>
                        <a:t>28</a:t>
                      </a:r>
                    </a:p>
                  </a:txBody>
                  <a:tcPr>
                    <a:solidFill>
                      <a:srgbClr val="F2F2F2"/>
                    </a:solidFill>
                  </a:tcPr>
                </a:tc>
                <a:tc>
                  <a:txBody>
                    <a:bodyPr/>
                    <a:lstStyle/>
                    <a:p>
                      <a:pPr algn="ctr"/>
                      <a:r>
                        <a:rPr sz="1000" b="0" i="0">
                          <a:solidFill>
                            <a:srgbClr val="262626"/>
                          </a:solidFill>
                          <a:latin typeface="Arial"/>
                        </a:rPr>
                        <a:t>62%</a:t>
                      </a:r>
                    </a:p>
                  </a:txBody>
                  <a:tcPr>
                    <a:solidFill>
                      <a:srgbClr val="F2F2F2"/>
                    </a:solidFill>
                  </a:tcPr>
                </a:tc>
                <a:tc>
                  <a:txBody>
                    <a:bodyPr/>
                    <a:lstStyle/>
                    <a:p>
                      <a:pPr algn="ctr"/>
                      <a:r>
                        <a:rPr sz="1000" b="0" i="0">
                          <a:solidFill>
                            <a:srgbClr val="262626"/>
                          </a:solidFill>
                          <a:latin typeface="Arial"/>
                        </a:rPr>
                        <a:t>14</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24.8</a:t>
                      </a:r>
                    </a:p>
                  </a:txBody>
                  <a:tcPr>
                    <a:solidFill>
                      <a:srgbClr val="F2F2F2"/>
                    </a:solidFill>
                  </a:tcPr>
                </a:tc>
                <a:tc>
                  <a:txBody>
                    <a:bodyPr/>
                    <a:lstStyle/>
                    <a:p>
                      <a:pPr algn="ctr"/>
                      <a:r>
                        <a:rPr sz="1000" b="0" i="0">
                          <a:solidFill>
                            <a:srgbClr val="262626"/>
                          </a:solidFill>
                          <a:latin typeface="Arial"/>
                        </a:rPr>
                        <a:t>forbidden</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457200">
                <a:tc>
                  <a:txBody>
                    <a:bodyPr/>
                    <a:lstStyle/>
                    <a:p>
                      <a:pPr algn="ctr"/>
                      <a:r>
                        <a:rPr sz="1000" b="0" i="0">
                          <a:solidFill>
                            <a:srgbClr val="262626"/>
                          </a:solidFill>
                          <a:latin typeface="Arial"/>
                        </a:rPr>
                        <a:t>2025</a:t>
                      </a:r>
                    </a:p>
                  </a:txBody>
                  <a:tcPr>
                    <a:solidFill>
                      <a:srgbClr val="FFFFFF"/>
                    </a:solidFill>
                  </a:tcPr>
                </a:tc>
                <a:tc>
                  <a:txBody>
                    <a:bodyPr/>
                    <a:lstStyle/>
                    <a:p>
                      <a:pPr algn="ctr"/>
                      <a:r>
                        <a:rPr sz="1000" b="0" i="0">
                          <a:solidFill>
                            <a:srgbClr val="262626"/>
                          </a:solidFill>
                          <a:latin typeface="Arial"/>
                        </a:rPr>
                        <a:t>Sep 26</a:t>
                      </a:r>
                    </a:p>
                  </a:txBody>
                  <a:tcPr>
                    <a:solidFill>
                      <a:srgbClr val="FFFFFF"/>
                    </a:solidFill>
                  </a:tcPr>
                </a:tc>
                <a:tc>
                  <a:txBody>
                    <a:bodyPr/>
                    <a:lstStyle/>
                    <a:p>
                      <a:pPr algn="ctr"/>
                      <a:r>
                        <a:rPr sz="1000" b="0" i="0">
                          <a:solidFill>
                            <a:srgbClr val="262626"/>
                          </a:solidFill>
                          <a:latin typeface="Arial"/>
                        </a:rPr>
                        <a:t>28.9</a:t>
                      </a:r>
                    </a:p>
                  </a:txBody>
                  <a:tcPr>
                    <a:solidFill>
                      <a:srgbClr val="FFFFFF"/>
                    </a:solidFill>
                  </a:tcPr>
                </a:tc>
                <a:tc>
                  <a:txBody>
                    <a:bodyPr/>
                    <a:lstStyle/>
                    <a:p>
                      <a:pPr algn="ctr"/>
                      <a:r>
                        <a:rPr sz="1000" b="0" i="0">
                          <a:solidFill>
                            <a:srgbClr val="262626"/>
                          </a:solidFill>
                          <a:latin typeface="Arial"/>
                        </a:rPr>
                        <a:t>78%</a:t>
                      </a:r>
                    </a:p>
                  </a:txBody>
                  <a:tcPr>
                    <a:solidFill>
                      <a:srgbClr val="FFFFFF"/>
                    </a:solidFill>
                  </a:tcPr>
                </a:tc>
                <a:tc>
                  <a:txBody>
                    <a:bodyPr/>
                    <a:lstStyle/>
                    <a:p>
                      <a:pPr algn="ctr"/>
                      <a:r>
                        <a:rPr sz="1000" b="0" i="0">
                          <a:solidFill>
                            <a:srgbClr val="262626"/>
                          </a:solidFill>
                          <a:latin typeface="Arial"/>
                        </a:rPr>
                        <a:t>8</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24.3</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09:00–14:00 local) where WT API data is absent. Values marked * are Open-Meteo estimates. Water temp and wetsuit ruling are from the World Triathlon API per program.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1480</TotalTime>
  <Words>4484</Words>
  <Application>Microsoft Office PowerPoint</Application>
  <PresentationFormat>Custom</PresentationFormat>
  <Paragraphs>1340</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High</cp:lastModifiedBy>
  <cp:revision>4</cp:revision>
  <dcterms:created xsi:type="dcterms:W3CDTF">2013-01-27T09:14:16Z</dcterms:created>
  <dcterms:modified xsi:type="dcterms:W3CDTF">2026-08-11T19:46:34Z</dcterms:modified>
  <cp:category/>
</cp:coreProperties>
</file>