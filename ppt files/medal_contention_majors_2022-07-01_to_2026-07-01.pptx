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1471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rial"/>
              </a:rPr>
              <a:t>Total Medals by Nation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DD"/>
                </a:solidFill>
                <a:latin typeface="Arial"/>
              </a:rPr>
              <a:t>Distinct athletes who have won a WTCS or Olympic medal  ·  Jul 2022–Jul 2026 (4 yrs)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DE22419-DFEA-A39A-5017-A6B057FF08D3}"/>
              </a:ext>
            </a:extLst>
          </p:cNvPr>
          <p:cNvGrpSpPr/>
          <p:nvPr/>
        </p:nvGrpSpPr>
        <p:grpSpPr>
          <a:xfrm>
            <a:off x="320040" y="1170432"/>
            <a:ext cx="2761488" cy="1051560"/>
            <a:chOff x="320040" y="1170432"/>
            <a:chExt cx="2761488" cy="1051560"/>
          </a:xfrm>
        </p:grpSpPr>
        <p:sp>
          <p:nvSpPr>
            <p:cNvPr id="8" name="Rectangle 7"/>
            <p:cNvSpPr/>
            <p:nvPr/>
          </p:nvSpPr>
          <p:spPr>
            <a:xfrm>
              <a:off x="320040" y="1170432"/>
              <a:ext cx="2761488" cy="1051560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rgbClr val="0020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040" y="1225296"/>
              <a:ext cx="2761488" cy="566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400" b="1" i="0">
                  <a:solidFill>
                    <a:srgbClr val="002060"/>
                  </a:solidFill>
                  <a:latin typeface="Arial"/>
                </a:rPr>
                <a:t>48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3192" y="1810512"/>
              <a:ext cx="26151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262626"/>
                  </a:solidFill>
                  <a:latin typeface="Arial"/>
                </a:rPr>
                <a:t>medallists in 4 yrs
25 men · 23 women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F90E118-BF32-241E-5917-5C61BB6B5BBA}"/>
              </a:ext>
            </a:extLst>
          </p:cNvPr>
          <p:cNvGrpSpPr/>
          <p:nvPr/>
        </p:nvGrpSpPr>
        <p:grpSpPr>
          <a:xfrm>
            <a:off x="4718356" y="1170432"/>
            <a:ext cx="2761488" cy="1051560"/>
            <a:chOff x="3246120" y="1170432"/>
            <a:chExt cx="2761488" cy="1051560"/>
          </a:xfrm>
        </p:grpSpPr>
        <p:sp>
          <p:nvSpPr>
            <p:cNvPr id="11" name="Rectangle 10"/>
            <p:cNvSpPr/>
            <p:nvPr/>
          </p:nvSpPr>
          <p:spPr>
            <a:xfrm>
              <a:off x="3246120" y="1170432"/>
              <a:ext cx="2761488" cy="1051560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rgbClr val="0020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46120" y="1225296"/>
              <a:ext cx="2761488" cy="566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400" b="1" i="0">
                  <a:solidFill>
                    <a:srgbClr val="002060"/>
                  </a:solidFill>
                  <a:latin typeface="Arial"/>
                </a:rPr>
                <a:t>19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19272" y="1810512"/>
              <a:ext cx="26151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>
                  <a:solidFill>
                    <a:srgbClr val="262626"/>
                  </a:solidFill>
                  <a:latin typeface="Arial"/>
                </a:rPr>
                <a:t>nations have ANY WTCS/Olympic medallist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E4E4354-8972-7643-D9D1-74D0AEDE5988}"/>
              </a:ext>
            </a:extLst>
          </p:cNvPr>
          <p:cNvGrpSpPr/>
          <p:nvPr/>
        </p:nvGrpSpPr>
        <p:grpSpPr>
          <a:xfrm>
            <a:off x="9116672" y="1170432"/>
            <a:ext cx="2761488" cy="1051560"/>
            <a:chOff x="6172200" y="1170432"/>
            <a:chExt cx="2761488" cy="1051560"/>
          </a:xfrm>
        </p:grpSpPr>
        <p:sp>
          <p:nvSpPr>
            <p:cNvPr id="14" name="Rectangle 13"/>
            <p:cNvSpPr/>
            <p:nvPr/>
          </p:nvSpPr>
          <p:spPr>
            <a:xfrm>
              <a:off x="6172200" y="1170432"/>
              <a:ext cx="2761488" cy="1051560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72200" y="1225296"/>
              <a:ext cx="2761488" cy="566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400" b="1" i="0">
                  <a:solidFill>
                    <a:srgbClr val="C00000"/>
                  </a:solidFill>
                  <a:latin typeface="Arial"/>
                </a:rPr>
                <a:t>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45352" y="1810512"/>
              <a:ext cx="261518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50" b="0" i="0" dirty="0">
                  <a:solidFill>
                    <a:srgbClr val="262626"/>
                  </a:solidFill>
                  <a:latin typeface="Arial"/>
                </a:rPr>
                <a:t>USA medalists</a:t>
              </a:r>
              <a:r>
                <a:rPr lang="en-US" sz="1050" dirty="0">
                  <a:solidFill>
                    <a:srgbClr val="262626"/>
                  </a:solidFill>
                  <a:latin typeface="Arial"/>
                </a:rPr>
                <a:t>: </a:t>
              </a:r>
              <a:r>
                <a:rPr sz="1050" b="0" i="0" dirty="0">
                  <a:solidFill>
                    <a:srgbClr val="262626"/>
                  </a:solidFill>
                  <a:latin typeface="Arial"/>
                </a:rPr>
                <a:t>4th-most of any nation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20040" y="2395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Arial"/>
              </a:rPr>
              <a:t>Distinct medallists by nation (top 10)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97480"/>
            <a:ext cx="5152174" cy="3703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23560" y="2487168"/>
            <a:ext cx="6309360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Only 23 women on the planet have won a WTCS or Olympic medal in 4 years</a:t>
            </a:r>
            <a:r>
              <a:rPr lang="en-US" sz="1600" dirty="0">
                <a:solidFill>
                  <a:srgbClr val="262626"/>
                </a:solidFill>
                <a:latin typeface="Arial"/>
              </a:rPr>
              <a:t> 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and the USA has 3 of them, tied for the 3rd-most of any nation. 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The men’s side tells a similar story with only 25 men obtaining medals at the highest level, with the USA claiming two of those athletes</a:t>
            </a:r>
            <a:endParaRPr sz="16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23560" y="4007547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2060"/>
                </a:solidFill>
                <a:latin typeface="Arial"/>
              </a:rPr>
              <a:t>USA's proven </a:t>
            </a:r>
            <a:r>
              <a:rPr sz="1300" b="1" i="0" dirty="0" err="1">
                <a:solidFill>
                  <a:srgbClr val="002060"/>
                </a:solidFill>
                <a:latin typeface="Arial"/>
              </a:rPr>
              <a:t>medallists</a:t>
            </a:r>
            <a:r>
              <a:rPr sz="1300" b="1" i="0" dirty="0">
                <a:solidFill>
                  <a:srgbClr val="002060"/>
                </a:solidFill>
                <a:latin typeface="Arial"/>
              </a:rPr>
              <a:t> (WTCS + Olympic)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56196"/>
              </p:ext>
            </p:extLst>
          </p:nvPr>
        </p:nvGraphicFramePr>
        <p:xfrm>
          <a:off x="5623560" y="4327587"/>
          <a:ext cx="4343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USA medallist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Medals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Last WTCS medal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Taylor Knibb (W)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 (W)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2025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Summer Rappaport (W)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 (M)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May 2024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John Reed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BFBFBF"/>
                </a:solidFill>
                <a:latin typeface="Arial"/>
              </a:rPr>
              <a:t>MAJORS = World Triathlon Championship Series/Finals rounds + individual Olympic medals (Elite Men/Women). Excludes Mixed Relay (team), T100, and regional/distance championships. Source: World Triathlon results database.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Arial"/>
              </a:rPr>
              <a:t>Top 10 Finishes by Nation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ABBDD"/>
                </a:solidFill>
                <a:latin typeface="Arial"/>
              </a:rPr>
              <a:t>USA has the 2nd-deepest pool of top-10 athletes in the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Arial"/>
              </a:rPr>
              <a:t>Podium medallists vs. top-10 finishers, by nation (top 10)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36192"/>
            <a:ext cx="5710864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3796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Arial"/>
              </a:rPr>
              <a:t>The global funnel (4 yrs, WTCS + Olympic)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1691640" cy="10515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550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2060"/>
                </a:solidFill>
                <a:latin typeface="Arial"/>
              </a:rPr>
              <a:t>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240280"/>
            <a:ext cx="1545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reached a
top-10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600200"/>
            <a:ext cx="1691640" cy="10515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6550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2060"/>
                </a:solidFill>
                <a:latin typeface="Arial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240280"/>
            <a:ext cx="1545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reached a
top-6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95560" y="1600200"/>
            <a:ext cx="1691640" cy="105156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95560" y="16550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0000"/>
                </a:solidFill>
                <a:latin typeface="Arial"/>
              </a:rPr>
              <a:t>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8712" y="2240280"/>
            <a:ext cx="1545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won a
medal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063240"/>
            <a:ext cx="5349240" cy="1965960"/>
          </a:xfrm>
          <a:prstGeom prst="rect">
            <a:avLst/>
          </a:prstGeom>
          <a:solidFill>
            <a:srgbClr val="F2F2F2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32004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C00000"/>
                </a:solidFill>
                <a:latin typeface="Arial"/>
              </a:rPr>
              <a:t>USA Successfully Building Out Detailed Pipeline</a:t>
            </a:r>
            <a:endParaRPr sz="1600" b="1" i="0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20840" y="3566160"/>
            <a:ext cx="5029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USA: 5 medalists and 13 top-10 finishers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This is currently the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2nd-deepest pipeline in the world,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and does not include several other young developing athletes succeeding at the World Cup stage.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040" y="6400800"/>
            <a:ext cx="11521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i="1" dirty="0">
                <a:solidFill>
                  <a:srgbClr val="BFBFBF"/>
                </a:solidFill>
                <a:latin typeface="Arial"/>
              </a:rPr>
              <a:t>T</a:t>
            </a:r>
            <a:r>
              <a:rPr sz="800" b="0" i="1" dirty="0">
                <a:solidFill>
                  <a:srgbClr val="BFBFBF"/>
                </a:solidFill>
                <a:latin typeface="Arial"/>
              </a:rPr>
              <a:t>op-10 counts include the </a:t>
            </a:r>
            <a:r>
              <a:rPr sz="800" b="0" i="1" dirty="0" err="1">
                <a:solidFill>
                  <a:srgbClr val="BFBFBF"/>
                </a:solidFill>
                <a:latin typeface="Arial"/>
              </a:rPr>
              <a:t>medallists</a:t>
            </a:r>
            <a:r>
              <a:rPr sz="800" b="0" i="1" dirty="0">
                <a:solidFill>
                  <a:srgbClr val="BFBFBF"/>
                </a:solidFill>
                <a:latin typeface="Arial"/>
              </a:rPr>
              <a:t>. MAJORS = World Triathlon Championship Series/Finals rounds + individual Olympic medals (Elite Men/Women). Excludes Mixed Relay (team), T100, and regional/distance championships. Source: World Triathlon results database.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354</Words>
  <Application>Microsoft Office PowerPoint</Application>
  <PresentationFormat>Custom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High</dc:creator>
  <cp:keywords/>
  <dc:description>generated using python-pptx</dc:description>
  <cp:lastModifiedBy>John High</cp:lastModifiedBy>
  <cp:revision>3</cp:revision>
  <dcterms:created xsi:type="dcterms:W3CDTF">2013-01-27T09:14:16Z</dcterms:created>
  <dcterms:modified xsi:type="dcterms:W3CDTF">2026-07-01T19:13:11Z</dcterms:modified>
  <cp:category/>
</cp:coreProperties>
</file>