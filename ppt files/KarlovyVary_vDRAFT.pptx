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55" autoAdjust="0"/>
    <p:restoredTop sz="94660"/>
  </p:normalViewPr>
  <p:slideViewPr>
    <p:cSldViewPr snapToGrid="0" snapToObjects="1">
      <p:cViewPr varScale="1">
        <p:scale>
          <a:sx n="150" d="100"/>
          <a:sy n="150" d="100"/>
        </p:scale>
        <p:origin x="912"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vents.triathlon.org/2026-wtcs-karlovy-vary/race-info"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KARLOVY VARY RACE PREVIEW</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September 12 – 13,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September 12 – 13, 2026   •   Lake Rolava (T1) + Theatre Square (T2), Karlovy Vary (CEST, UTC+2)</a:t>
            </a:r>
          </a:p>
        </p:txBody>
      </p:sp>
      <p:sp>
        <p:nvSpPr>
          <p:cNvPr id="10" name="Rectangle 9"/>
          <p:cNvSpPr/>
          <p:nvPr/>
        </p:nvSpPr>
        <p:spPr>
          <a:xfrm>
            <a:off x="274320"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728216"/>
            <a:ext cx="3544824" cy="201168"/>
          </a:xfrm>
          <a:prstGeom prst="rect">
            <a:avLst/>
          </a:prstGeom>
          <a:noFill/>
        </p:spPr>
        <p:txBody>
          <a:bodyPr wrap="square">
            <a:spAutoFit/>
          </a:bodyPr>
          <a:lstStyle/>
          <a:p>
            <a:pPr algn="ctr"/>
            <a:r>
              <a:rPr sz="1200" b="1" i="0">
                <a:solidFill>
                  <a:srgbClr val="FFFFFF"/>
                </a:solidFill>
                <a:latin typeface="Arial"/>
              </a:rPr>
              <a:t>Sat • Sep 12</a:t>
            </a:r>
          </a:p>
        </p:txBody>
      </p:sp>
      <p:sp>
        <p:nvSpPr>
          <p:cNvPr id="12" name="TextBox 11"/>
          <p:cNvSpPr txBox="1"/>
          <p:nvPr/>
        </p:nvSpPr>
        <p:spPr>
          <a:xfrm>
            <a:off x="365760" y="1929384"/>
            <a:ext cx="3544824" cy="201168"/>
          </a:xfrm>
          <a:prstGeom prst="rect">
            <a:avLst/>
          </a:prstGeom>
          <a:noFill/>
        </p:spPr>
        <p:txBody>
          <a:bodyPr wrap="square">
            <a:spAutoFit/>
          </a:bodyPr>
          <a:lstStyle/>
          <a:p>
            <a:pPr algn="ctr"/>
            <a:r>
              <a:rPr sz="950" b="0" i="1">
                <a:solidFill>
                  <a:srgbClr val="AABBDD"/>
                </a:solidFill>
                <a:latin typeface="Arial"/>
              </a:rPr>
              <a:t>Familiarisation &amp; Briefing</a:t>
            </a:r>
          </a:p>
        </p:txBody>
      </p:sp>
      <p:graphicFrame>
        <p:nvGraphicFramePr>
          <p:cNvPr id="13" name="Table 12"/>
          <p:cNvGraphicFramePr>
            <a:graphicFrameLocks noGrp="1"/>
          </p:cNvGraphicFramePr>
          <p:nvPr>
            <p:extLst>
              <p:ext uri="{D42A27DB-BD31-4B8C-83A1-F6EECF244321}">
                <p14:modId xmlns:p14="http://schemas.microsoft.com/office/powerpoint/2010/main" val="1404856090"/>
              </p:ext>
            </p:extLst>
          </p:nvPr>
        </p:nvGraphicFramePr>
        <p:xfrm>
          <a:off x="274320" y="2240280"/>
          <a:ext cx="3727703" cy="2011680"/>
        </p:xfrm>
        <a:graphic>
          <a:graphicData uri="http://schemas.openxmlformats.org/drawingml/2006/table">
            <a:tbl>
              <a:tblPr firstRow="1" bandRow="1">
                <a:tableStyleId>{5C22544A-7EE6-4342-B048-85BDC9FD1C3A}</a:tableStyleId>
              </a:tblPr>
              <a:tblGrid>
                <a:gridCol w="1341973">
                  <a:extLst>
                    <a:ext uri="{9D8B030D-6E8A-4147-A177-3AD203B41FA5}">
                      <a16:colId xmlns:a16="http://schemas.microsoft.com/office/drawing/2014/main" val="20000"/>
                    </a:ext>
                  </a:extLst>
                </a:gridCol>
                <a:gridCol w="2385730">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07:30 – 09:30</a:t>
                      </a:r>
                    </a:p>
                  </a:txBody>
                  <a:tcPr>
                    <a:solidFill>
                      <a:srgbClr val="F2F2F2"/>
                    </a:solidFill>
                  </a:tcPr>
                </a:tc>
                <a:tc>
                  <a:txBody>
                    <a:bodyPr/>
                    <a:lstStyle/>
                    <a:p>
                      <a:pPr algn="l"/>
                      <a:r>
                        <a:rPr sz="1000" b="0" i="0">
                          <a:solidFill>
                            <a:srgbClr val="262626"/>
                          </a:solidFill>
                          <a:latin typeface="Arial"/>
                        </a:rPr>
                        <a:t>Athletes Lounge open — Lake Rolava</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07:45 – 08:45</a:t>
                      </a:r>
                    </a:p>
                  </a:txBody>
                  <a:tcPr>
                    <a:solidFill>
                      <a:srgbClr val="FFFFFF"/>
                    </a:solidFill>
                  </a:tcPr>
                </a:tc>
                <a:tc>
                  <a:txBody>
                    <a:bodyPr/>
                    <a:lstStyle/>
                    <a:p>
                      <a:pPr algn="l"/>
                      <a:r>
                        <a:rPr sz="1000" b="0" i="0">
                          <a:solidFill>
                            <a:srgbClr val="262626"/>
                          </a:solidFill>
                          <a:latin typeface="Arial"/>
                        </a:rPr>
                        <a:t>Swim course familiarisation — Lake Rolava</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09:00</a:t>
                      </a:r>
                    </a:p>
                  </a:txBody>
                  <a:tcPr>
                    <a:solidFill>
                      <a:srgbClr val="F2F2F2"/>
                    </a:solidFill>
                  </a:tcPr>
                </a:tc>
                <a:tc>
                  <a:txBody>
                    <a:bodyPr/>
                    <a:lstStyle/>
                    <a:p>
                      <a:pPr algn="l"/>
                      <a:r>
                        <a:rPr sz="1000" b="0" i="0" dirty="0">
                          <a:solidFill>
                            <a:srgbClr val="262626"/>
                          </a:solidFill>
                          <a:latin typeface="Arial"/>
                        </a:rPr>
                        <a:t>Bike escorted </a:t>
                      </a:r>
                      <a:r>
                        <a:rPr sz="1000" b="0" i="0" dirty="0" err="1">
                          <a:solidFill>
                            <a:srgbClr val="262626"/>
                          </a:solidFill>
                          <a:latin typeface="Arial"/>
                        </a:rPr>
                        <a:t>familiarisation</a:t>
                      </a:r>
                      <a:endParaRPr sz="1000" b="0" i="0" dirty="0">
                        <a:solidFill>
                          <a:srgbClr val="262626"/>
                        </a:solidFill>
                        <a:latin typeface="Arial"/>
                      </a:endParaRP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1" i="0">
                          <a:solidFill>
                            <a:srgbClr val="C00000"/>
                          </a:solidFill>
                          <a:latin typeface="Arial"/>
                        </a:rPr>
                        <a:t>16:00 – 16:30</a:t>
                      </a:r>
                    </a:p>
                  </a:txBody>
                  <a:tcPr>
                    <a:solidFill>
                      <a:srgbClr val="FDECEC"/>
                    </a:solidFill>
                  </a:tcPr>
                </a:tc>
                <a:tc>
                  <a:txBody>
                    <a:bodyPr/>
                    <a:lstStyle/>
                    <a:p>
                      <a:pPr algn="l"/>
                      <a:r>
                        <a:rPr sz="1000" b="1" i="0" dirty="0">
                          <a:solidFill>
                            <a:srgbClr val="C00000"/>
                          </a:solidFill>
                          <a:latin typeface="Arial"/>
                        </a:rPr>
                        <a:t>★ Mandatory Elite Athletes briefing — Spa Hotel Thermal</a:t>
                      </a:r>
                    </a:p>
                  </a:txBody>
                  <a:tcPr>
                    <a:solidFill>
                      <a:srgbClr val="FDECEC"/>
                    </a:solidFill>
                  </a:tcPr>
                </a:tc>
                <a:extLst>
                  <a:ext uri="{0D108BD9-81ED-4DB2-BD59-A6C34878D82A}">
                    <a16:rowId xmlns:a16="http://schemas.microsoft.com/office/drawing/2014/main" val="10003"/>
                  </a:ext>
                </a:extLst>
              </a:tr>
            </a:tbl>
          </a:graphicData>
        </a:graphic>
      </p:graphicFrame>
      <p:sp>
        <p:nvSpPr>
          <p:cNvPr id="14" name="Rectangle 13"/>
          <p:cNvSpPr/>
          <p:nvPr/>
        </p:nvSpPr>
        <p:spPr>
          <a:xfrm>
            <a:off x="4230624"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22064" y="1728216"/>
            <a:ext cx="3544824" cy="201168"/>
          </a:xfrm>
          <a:prstGeom prst="rect">
            <a:avLst/>
          </a:prstGeom>
          <a:noFill/>
        </p:spPr>
        <p:txBody>
          <a:bodyPr wrap="square">
            <a:spAutoFit/>
          </a:bodyPr>
          <a:lstStyle/>
          <a:p>
            <a:pPr algn="ctr"/>
            <a:r>
              <a:rPr sz="1200" b="1" i="0">
                <a:solidFill>
                  <a:srgbClr val="FFFFFF"/>
                </a:solidFill>
                <a:latin typeface="Arial"/>
              </a:rPr>
              <a:t>Sun • Sep 13 — Women</a:t>
            </a:r>
          </a:p>
        </p:txBody>
      </p:sp>
      <p:sp>
        <p:nvSpPr>
          <p:cNvPr id="16" name="TextBox 15"/>
          <p:cNvSpPr txBox="1"/>
          <p:nvPr/>
        </p:nvSpPr>
        <p:spPr>
          <a:xfrm>
            <a:off x="4322064" y="1929384"/>
            <a:ext cx="3544824" cy="201168"/>
          </a:xfrm>
          <a:prstGeom prst="rect">
            <a:avLst/>
          </a:prstGeom>
          <a:noFill/>
        </p:spPr>
        <p:txBody>
          <a:bodyPr wrap="square">
            <a:spAutoFit/>
          </a:bodyPr>
          <a:lstStyle/>
          <a:p>
            <a:pPr algn="ctr"/>
            <a:r>
              <a:rPr sz="950" b="0" i="1">
                <a:solidFill>
                  <a:srgbClr val="AABBDD"/>
                </a:solidFill>
                <a:latin typeface="Arial"/>
              </a:rPr>
              <a:t>WTCS RACE DAY (AM)</a:t>
            </a:r>
          </a:p>
        </p:txBody>
      </p:sp>
      <p:graphicFrame>
        <p:nvGraphicFramePr>
          <p:cNvPr id="17" name="Table 16"/>
          <p:cNvGraphicFramePr>
            <a:graphicFrameLocks noGrp="1"/>
          </p:cNvGraphicFramePr>
          <p:nvPr/>
        </p:nvGraphicFramePr>
        <p:xfrm>
          <a:off x="4230624" y="2240280"/>
          <a:ext cx="3727703" cy="3520440"/>
        </p:xfrm>
        <a:graphic>
          <a:graphicData uri="http://schemas.openxmlformats.org/drawingml/2006/table">
            <a:tbl>
              <a:tblPr firstRow="1" bandRow="1">
                <a:tableStyleId>{5C22544A-7EE6-4342-B048-85BDC9FD1C3A}</a:tableStyleId>
              </a:tblPr>
              <a:tblGrid>
                <a:gridCol w="1341973">
                  <a:extLst>
                    <a:ext uri="{9D8B030D-6E8A-4147-A177-3AD203B41FA5}">
                      <a16:colId xmlns:a16="http://schemas.microsoft.com/office/drawing/2014/main" val="20000"/>
                    </a:ext>
                  </a:extLst>
                </a:gridCol>
                <a:gridCol w="2385730">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08:00 – 08:30</a:t>
                      </a:r>
                    </a:p>
                  </a:txBody>
                  <a:tcPr>
                    <a:solidFill>
                      <a:srgbClr val="F2F2F2"/>
                    </a:solidFill>
                  </a:tcPr>
                </a:tc>
                <a:tc>
                  <a:txBody>
                    <a:bodyPr/>
                    <a:lstStyle/>
                    <a:p>
                      <a:pPr algn="l"/>
                      <a:r>
                        <a:rPr sz="1000" b="0" i="0">
                          <a:solidFill>
                            <a:srgbClr val="262626"/>
                          </a:solidFill>
                          <a:latin typeface="Arial"/>
                        </a:rPr>
                        <a:t>Elite Women — TA2 check-in (Theatre Square)</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08:30 – 09:30</a:t>
                      </a:r>
                    </a:p>
                  </a:txBody>
                  <a:tcPr>
                    <a:solidFill>
                      <a:srgbClr val="FFFFFF"/>
                    </a:solidFill>
                  </a:tcPr>
                </a:tc>
                <a:tc>
                  <a:txBody>
                    <a:bodyPr/>
                    <a:lstStyle/>
                    <a:p>
                      <a:pPr algn="l"/>
                      <a:r>
                        <a:rPr sz="1000" b="0" i="0">
                          <a:solidFill>
                            <a:srgbClr val="262626"/>
                          </a:solidFill>
                          <a:latin typeface="Arial"/>
                        </a:rPr>
                        <a:t>Elite Women — Athletes Lounge check-in (re-entry to 09:50)</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08:45 – 09:45</a:t>
                      </a:r>
                    </a:p>
                  </a:txBody>
                  <a:tcPr>
                    <a:solidFill>
                      <a:srgbClr val="F2F2F2"/>
                    </a:solidFill>
                  </a:tcPr>
                </a:tc>
                <a:tc>
                  <a:txBody>
                    <a:bodyPr/>
                    <a:lstStyle/>
                    <a:p>
                      <a:pPr algn="l"/>
                      <a:r>
                        <a:rPr sz="1000" b="0" i="0">
                          <a:solidFill>
                            <a:srgbClr val="262626"/>
                          </a:solidFill>
                          <a:latin typeface="Arial"/>
                        </a:rPr>
                        <a:t>Elite Women — TA1 check-in (Lake Rolava)</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09:00 – 09:45</a:t>
                      </a:r>
                    </a:p>
                  </a:txBody>
                  <a:tcPr>
                    <a:solidFill>
                      <a:srgbClr val="FFFFFF"/>
                    </a:solidFill>
                  </a:tcPr>
                </a:tc>
                <a:tc>
                  <a:txBody>
                    <a:bodyPr/>
                    <a:lstStyle/>
                    <a:p>
                      <a:pPr algn="l"/>
                      <a:r>
                        <a:rPr sz="1000" b="0" i="0">
                          <a:solidFill>
                            <a:srgbClr val="262626"/>
                          </a:solidFill>
                          <a:latin typeface="Arial"/>
                        </a:rPr>
                        <a:t>Elite Women — Swim warm-up</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09:50 – 09:59</a:t>
                      </a:r>
                    </a:p>
                  </a:txBody>
                  <a:tcPr>
                    <a:solidFill>
                      <a:srgbClr val="F2F2F2"/>
                    </a:solidFill>
                  </a:tcPr>
                </a:tc>
                <a:tc>
                  <a:txBody>
                    <a:bodyPr/>
                    <a:lstStyle/>
                    <a:p>
                      <a:pPr algn="l"/>
                      <a:r>
                        <a:rPr sz="1000" b="0" i="0">
                          <a:solidFill>
                            <a:srgbClr val="262626"/>
                          </a:solidFill>
                          <a:latin typeface="Arial"/>
                        </a:rPr>
                        <a:t>Elite Women — Line-up and presentation</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1" i="0">
                          <a:solidFill>
                            <a:srgbClr val="C00000"/>
                          </a:solidFill>
                          <a:latin typeface="Arial"/>
                        </a:rPr>
                        <a:t>10:00</a:t>
                      </a:r>
                    </a:p>
                  </a:txBody>
                  <a:tcPr>
                    <a:solidFill>
                      <a:srgbClr val="FDECEC"/>
                    </a:solidFill>
                  </a:tcPr>
                </a:tc>
                <a:tc>
                  <a:txBody>
                    <a:bodyPr/>
                    <a:lstStyle/>
                    <a:p>
                      <a:pPr algn="l"/>
                      <a:r>
                        <a:rPr sz="1000" b="1" i="0">
                          <a:solidFill>
                            <a:srgbClr val="C00000"/>
                          </a:solidFill>
                          <a:latin typeface="Arial"/>
                        </a:rPr>
                        <a:t>★ ELITE WOMEN RACE START</a:t>
                      </a:r>
                    </a:p>
                  </a:txBody>
                  <a:tcPr>
                    <a:solidFill>
                      <a:srgbClr val="FDECEC"/>
                    </a:solidFill>
                  </a:tcPr>
                </a:tc>
                <a:extLst>
                  <a:ext uri="{0D108BD9-81ED-4DB2-BD59-A6C34878D82A}">
                    <a16:rowId xmlns:a16="http://schemas.microsoft.com/office/drawing/2014/main" val="10005"/>
                  </a:ext>
                </a:extLst>
              </a:tr>
              <a:tr h="502920">
                <a:tc>
                  <a:txBody>
                    <a:bodyPr/>
                    <a:lstStyle/>
                    <a:p>
                      <a:pPr algn="ctr"/>
                      <a:r>
                        <a:rPr sz="1000" b="0" i="0">
                          <a:solidFill>
                            <a:srgbClr val="262626"/>
                          </a:solidFill>
                          <a:latin typeface="Arial"/>
                        </a:rPr>
                        <a:t>12:10 / 12:25</a:t>
                      </a:r>
                    </a:p>
                  </a:txBody>
                  <a:tcPr>
                    <a:solidFill>
                      <a:srgbClr val="F2F2F2"/>
                    </a:solidFill>
                  </a:tcPr>
                </a:tc>
                <a:tc>
                  <a:txBody>
                    <a:bodyPr/>
                    <a:lstStyle/>
                    <a:p>
                      <a:pPr algn="l"/>
                      <a:r>
                        <a:rPr sz="1000" b="0" i="0">
                          <a:solidFill>
                            <a:srgbClr val="262626"/>
                          </a:solidFill>
                          <a:latin typeface="Arial"/>
                        </a:rPr>
                        <a:t>Women awards + Chocolate ceremony — Theatre Square</a:t>
                      </a:r>
                    </a:p>
                  </a:txBody>
                  <a:tcPr>
                    <a:solidFill>
                      <a:srgbClr val="F2F2F2"/>
                    </a:solidFill>
                  </a:tcPr>
                </a:tc>
                <a:extLst>
                  <a:ext uri="{0D108BD9-81ED-4DB2-BD59-A6C34878D82A}">
                    <a16:rowId xmlns:a16="http://schemas.microsoft.com/office/drawing/2014/main" val="10006"/>
                  </a:ext>
                </a:extLst>
              </a:tr>
            </a:tbl>
          </a:graphicData>
        </a:graphic>
      </p:graphicFrame>
      <p:sp>
        <p:nvSpPr>
          <p:cNvPr id="18" name="Rectangle 17"/>
          <p:cNvSpPr/>
          <p:nvPr/>
        </p:nvSpPr>
        <p:spPr>
          <a:xfrm>
            <a:off x="8186928"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8368" y="1728216"/>
            <a:ext cx="3544824" cy="201168"/>
          </a:xfrm>
          <a:prstGeom prst="rect">
            <a:avLst/>
          </a:prstGeom>
          <a:noFill/>
        </p:spPr>
        <p:txBody>
          <a:bodyPr wrap="square">
            <a:spAutoFit/>
          </a:bodyPr>
          <a:lstStyle/>
          <a:p>
            <a:pPr algn="ctr"/>
            <a:r>
              <a:rPr sz="1200" b="1" i="0">
                <a:solidFill>
                  <a:srgbClr val="FFFFFF"/>
                </a:solidFill>
                <a:latin typeface="Arial"/>
              </a:rPr>
              <a:t>Sun • Sep 13 — Men</a:t>
            </a:r>
          </a:p>
        </p:txBody>
      </p:sp>
      <p:sp>
        <p:nvSpPr>
          <p:cNvPr id="20" name="TextBox 19"/>
          <p:cNvSpPr txBox="1"/>
          <p:nvPr/>
        </p:nvSpPr>
        <p:spPr>
          <a:xfrm>
            <a:off x="8278368" y="1929384"/>
            <a:ext cx="3544824" cy="201168"/>
          </a:xfrm>
          <a:prstGeom prst="rect">
            <a:avLst/>
          </a:prstGeom>
          <a:noFill/>
        </p:spPr>
        <p:txBody>
          <a:bodyPr wrap="square">
            <a:spAutoFit/>
          </a:bodyPr>
          <a:lstStyle/>
          <a:p>
            <a:pPr algn="ctr"/>
            <a:r>
              <a:rPr sz="950" b="0" i="1">
                <a:solidFill>
                  <a:srgbClr val="AABBDD"/>
                </a:solidFill>
                <a:latin typeface="Arial"/>
              </a:rPr>
              <a:t>WTCS RACE DAY (PM)</a:t>
            </a:r>
          </a:p>
        </p:txBody>
      </p:sp>
      <p:graphicFrame>
        <p:nvGraphicFramePr>
          <p:cNvPr id="21" name="Table 20"/>
          <p:cNvGraphicFramePr>
            <a:graphicFrameLocks noGrp="1"/>
          </p:cNvGraphicFramePr>
          <p:nvPr/>
        </p:nvGraphicFramePr>
        <p:xfrm>
          <a:off x="8186928" y="2240280"/>
          <a:ext cx="3727703" cy="3520440"/>
        </p:xfrm>
        <a:graphic>
          <a:graphicData uri="http://schemas.openxmlformats.org/drawingml/2006/table">
            <a:tbl>
              <a:tblPr firstRow="1" bandRow="1">
                <a:tableStyleId>{5C22544A-7EE6-4342-B048-85BDC9FD1C3A}</a:tableStyleId>
              </a:tblPr>
              <a:tblGrid>
                <a:gridCol w="1341973">
                  <a:extLst>
                    <a:ext uri="{9D8B030D-6E8A-4147-A177-3AD203B41FA5}">
                      <a16:colId xmlns:a16="http://schemas.microsoft.com/office/drawing/2014/main" val="20000"/>
                    </a:ext>
                  </a:extLst>
                </a:gridCol>
                <a:gridCol w="2385730">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13:00 – 13:30</a:t>
                      </a:r>
                    </a:p>
                  </a:txBody>
                  <a:tcPr>
                    <a:solidFill>
                      <a:srgbClr val="F2F2F2"/>
                    </a:solidFill>
                  </a:tcPr>
                </a:tc>
                <a:tc>
                  <a:txBody>
                    <a:bodyPr/>
                    <a:lstStyle/>
                    <a:p>
                      <a:pPr algn="l"/>
                      <a:r>
                        <a:rPr sz="1000" b="0" i="0">
                          <a:solidFill>
                            <a:srgbClr val="262626"/>
                          </a:solidFill>
                          <a:latin typeface="Arial"/>
                        </a:rPr>
                        <a:t>Elite Men — TA2 check-in (Theatre Square)</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13:30 – 14:30</a:t>
                      </a:r>
                    </a:p>
                  </a:txBody>
                  <a:tcPr>
                    <a:solidFill>
                      <a:srgbClr val="FFFFFF"/>
                    </a:solidFill>
                  </a:tcPr>
                </a:tc>
                <a:tc>
                  <a:txBody>
                    <a:bodyPr/>
                    <a:lstStyle/>
                    <a:p>
                      <a:pPr algn="l"/>
                      <a:r>
                        <a:rPr sz="1000" b="0" i="0">
                          <a:solidFill>
                            <a:srgbClr val="262626"/>
                          </a:solidFill>
                          <a:latin typeface="Arial"/>
                        </a:rPr>
                        <a:t>Elite Men — Athletes Lounge check-in</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13:45 – 14:45</a:t>
                      </a:r>
                    </a:p>
                  </a:txBody>
                  <a:tcPr>
                    <a:solidFill>
                      <a:srgbClr val="F2F2F2"/>
                    </a:solidFill>
                  </a:tcPr>
                </a:tc>
                <a:tc>
                  <a:txBody>
                    <a:bodyPr/>
                    <a:lstStyle/>
                    <a:p>
                      <a:pPr algn="l"/>
                      <a:r>
                        <a:rPr sz="1000" b="0" i="0">
                          <a:solidFill>
                            <a:srgbClr val="262626"/>
                          </a:solidFill>
                          <a:latin typeface="Arial"/>
                        </a:rPr>
                        <a:t>Elite Men — TA1 check-in (Lake Rolava)</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14:00 – 14:45</a:t>
                      </a:r>
                    </a:p>
                  </a:txBody>
                  <a:tcPr>
                    <a:solidFill>
                      <a:srgbClr val="FFFFFF"/>
                    </a:solidFill>
                  </a:tcPr>
                </a:tc>
                <a:tc>
                  <a:txBody>
                    <a:bodyPr/>
                    <a:lstStyle/>
                    <a:p>
                      <a:pPr algn="l"/>
                      <a:r>
                        <a:rPr sz="1000" b="0" i="0">
                          <a:solidFill>
                            <a:srgbClr val="262626"/>
                          </a:solidFill>
                          <a:latin typeface="Arial"/>
                        </a:rPr>
                        <a:t>Elite Men — Swim warm-up</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14:50 – 14:59</a:t>
                      </a:r>
                    </a:p>
                  </a:txBody>
                  <a:tcPr>
                    <a:solidFill>
                      <a:srgbClr val="F2F2F2"/>
                    </a:solidFill>
                  </a:tcPr>
                </a:tc>
                <a:tc>
                  <a:txBody>
                    <a:bodyPr/>
                    <a:lstStyle/>
                    <a:p>
                      <a:pPr algn="l"/>
                      <a:r>
                        <a:rPr sz="1000" b="0" i="0">
                          <a:solidFill>
                            <a:srgbClr val="262626"/>
                          </a:solidFill>
                          <a:latin typeface="Arial"/>
                        </a:rPr>
                        <a:t>Elite Men — Line-up and presentation</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1" i="0">
                          <a:solidFill>
                            <a:srgbClr val="C00000"/>
                          </a:solidFill>
                          <a:latin typeface="Arial"/>
                        </a:rPr>
                        <a:t>15:00</a:t>
                      </a:r>
                    </a:p>
                  </a:txBody>
                  <a:tcPr>
                    <a:solidFill>
                      <a:srgbClr val="FDECEC"/>
                    </a:solidFill>
                  </a:tcPr>
                </a:tc>
                <a:tc>
                  <a:txBody>
                    <a:bodyPr/>
                    <a:lstStyle/>
                    <a:p>
                      <a:pPr algn="l"/>
                      <a:r>
                        <a:rPr sz="1000" b="1" i="0">
                          <a:solidFill>
                            <a:srgbClr val="C00000"/>
                          </a:solidFill>
                          <a:latin typeface="Arial"/>
                        </a:rPr>
                        <a:t>★ ELITE MEN RACE START</a:t>
                      </a:r>
                    </a:p>
                  </a:txBody>
                  <a:tcPr>
                    <a:solidFill>
                      <a:srgbClr val="FDECEC"/>
                    </a:solidFill>
                  </a:tcPr>
                </a:tc>
                <a:extLst>
                  <a:ext uri="{0D108BD9-81ED-4DB2-BD59-A6C34878D82A}">
                    <a16:rowId xmlns:a16="http://schemas.microsoft.com/office/drawing/2014/main" val="10005"/>
                  </a:ext>
                </a:extLst>
              </a:tr>
              <a:tr h="502920">
                <a:tc>
                  <a:txBody>
                    <a:bodyPr/>
                    <a:lstStyle/>
                    <a:p>
                      <a:pPr algn="ctr"/>
                      <a:r>
                        <a:rPr sz="1000" b="0" i="0">
                          <a:solidFill>
                            <a:srgbClr val="262626"/>
                          </a:solidFill>
                          <a:latin typeface="Arial"/>
                        </a:rPr>
                        <a:t>17:10 / 17:25</a:t>
                      </a:r>
                    </a:p>
                  </a:txBody>
                  <a:tcPr>
                    <a:solidFill>
                      <a:srgbClr val="F2F2F2"/>
                    </a:solidFill>
                  </a:tcPr>
                </a:tc>
                <a:tc>
                  <a:txBody>
                    <a:bodyPr/>
                    <a:lstStyle/>
                    <a:p>
                      <a:pPr algn="l"/>
                      <a:r>
                        <a:rPr sz="1000" b="0" i="0">
                          <a:solidFill>
                            <a:srgbClr val="262626"/>
                          </a:solidFill>
                          <a:latin typeface="Arial"/>
                        </a:rPr>
                        <a:t>Men awards + Chocolate ceremony — Theatre Square</a:t>
                      </a:r>
                    </a:p>
                  </a:txBody>
                  <a:tcPr>
                    <a:solidFill>
                      <a:srgbClr val="F2F2F2"/>
                    </a:solidFill>
                  </a:tcPr>
                </a:tc>
                <a:extLst>
                  <a:ext uri="{0D108BD9-81ED-4DB2-BD59-A6C34878D82A}">
                    <a16:rowId xmlns:a16="http://schemas.microsoft.com/office/drawing/2014/main" val="10006"/>
                  </a:ext>
                </a:extLst>
              </a:tr>
            </a:tbl>
          </a:graphicData>
        </a:graphic>
      </p:graphicFrame>
      <p:sp>
        <p:nvSpPr>
          <p:cNvPr id="22" name="TextBox 21"/>
          <p:cNvSpPr txBox="1"/>
          <p:nvPr/>
        </p:nvSpPr>
        <p:spPr>
          <a:xfrm>
            <a:off x="274320" y="6355080"/>
            <a:ext cx="11640312" cy="274320"/>
          </a:xfrm>
          <a:prstGeom prst="rect">
            <a:avLst/>
          </a:prstGeom>
          <a:noFill/>
        </p:spPr>
        <p:txBody>
          <a:bodyPr wrap="square">
            <a:spAutoFit/>
          </a:bodyPr>
          <a:lstStyle/>
          <a:p>
            <a:pPr algn="ctr"/>
            <a:r>
              <a:rPr sz="900" b="0" i="1">
                <a:solidFill>
                  <a:srgbClr val="BFBFBF"/>
                </a:solidFill>
                <a:latin typeface="Arial"/>
              </a:rPr>
              <a:t>Times Lake Rolava (T1) + Theatre Square (T2), Karlovy Vary (CEST, UTC+2). Schedule confirmed from World Triathlon race-info page / athlete guide; subject to organiser updates.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KARLOVY VARY</a:t>
            </a:r>
          </a:p>
        </p:txBody>
      </p:sp>
      <p:sp>
        <p:nvSpPr>
          <p:cNvPr id="9" name="TextBox 8"/>
          <p:cNvSpPr txBox="1"/>
          <p:nvPr/>
        </p:nvSpPr>
        <p:spPr>
          <a:xfrm>
            <a:off x="274320" y="1633982"/>
            <a:ext cx="6035040" cy="2246769"/>
          </a:xfrm>
          <a:prstGeom prst="rect">
            <a:avLst/>
          </a:prstGeom>
          <a:noFill/>
        </p:spPr>
        <p:txBody>
          <a:bodyPr wrap="square">
            <a:spAutoFit/>
          </a:bodyPr>
          <a:lstStyle/>
          <a:p>
            <a:pPr algn="l"/>
            <a:r>
              <a:rPr sz="1400" b="0" i="0" dirty="0">
                <a:solidFill>
                  <a:srgbClr val="262626"/>
                </a:solidFill>
                <a:latin typeface="Arial"/>
              </a:rPr>
              <a:t>WTCS Karlovy Vary returns to the Czech spa town for its second year at Championship Series level (World Cup 2017–2024, WTCS from 2025). This is a standard-distance, </a:t>
            </a:r>
            <a:r>
              <a:rPr sz="1400" b="0" i="1" dirty="0">
                <a:solidFill>
                  <a:srgbClr val="262626"/>
                </a:solidFill>
                <a:latin typeface="Arial"/>
              </a:rPr>
              <a:t>two-transition </a:t>
            </a:r>
            <a:r>
              <a:rPr sz="1400" b="0" i="0" dirty="0">
                <a:solidFill>
                  <a:srgbClr val="262626"/>
                </a:solidFill>
                <a:latin typeface="Arial"/>
              </a:rPr>
              <a:t>race: a 1.5 km two-lap swim in Lake </a:t>
            </a:r>
            <a:r>
              <a:rPr sz="1400" b="0" i="0" dirty="0" err="1">
                <a:solidFill>
                  <a:srgbClr val="262626"/>
                </a:solidFill>
                <a:latin typeface="Arial"/>
              </a:rPr>
              <a:t>Rolava</a:t>
            </a:r>
            <a:r>
              <a:rPr sz="1400" b="0" i="0" dirty="0">
                <a:solidFill>
                  <a:srgbClr val="262626"/>
                </a:solidFill>
                <a:latin typeface="Arial"/>
              </a:rPr>
              <a:t> with an Australian exit, a 6.5 km approach into 7 </a:t>
            </a:r>
            <a:r>
              <a:rPr lang="en-US" sz="1400" dirty="0">
                <a:solidFill>
                  <a:srgbClr val="262626"/>
                </a:solidFill>
                <a:latin typeface="Arial"/>
              </a:rPr>
              <a:t>difficult</a:t>
            </a:r>
            <a:r>
              <a:rPr sz="1400" b="0" i="0" dirty="0">
                <a:solidFill>
                  <a:srgbClr val="262626"/>
                </a:solidFill>
                <a:latin typeface="Arial"/>
              </a:rPr>
              <a:t> 4.9 km bike laps (40.8 km, </a:t>
            </a:r>
            <a:r>
              <a:rPr lang="en-US" sz="1400" b="0" i="0" dirty="0">
                <a:solidFill>
                  <a:srgbClr val="262626"/>
                </a:solidFill>
                <a:latin typeface="Arial"/>
              </a:rPr>
              <a:t>with a Cat 4, 1.3 mile climb averaging 4.1%</a:t>
            </a:r>
            <a:r>
              <a:rPr sz="1400" b="0" i="0" dirty="0">
                <a:solidFill>
                  <a:srgbClr val="262626"/>
                </a:solidFill>
                <a:latin typeface="Arial"/>
              </a:rPr>
              <a:t>, part cobbled), then a 4-lap 10 km run through the city </a:t>
            </a:r>
            <a:r>
              <a:rPr sz="1400" b="0" i="0" dirty="0" err="1">
                <a:solidFill>
                  <a:srgbClr val="262626"/>
                </a:solidFill>
                <a:latin typeface="Arial"/>
              </a:rPr>
              <a:t>centre</a:t>
            </a:r>
            <a:r>
              <a:rPr sz="1400" b="0" i="0" dirty="0">
                <a:solidFill>
                  <a:srgbClr val="262626"/>
                </a:solidFill>
                <a:latin typeface="Arial"/>
              </a:rPr>
              <a:t> from Theatre Square.</a:t>
            </a:r>
            <a:r>
              <a:rPr lang="en-US" sz="1400" b="0" i="0" dirty="0">
                <a:solidFill>
                  <a:srgbClr val="262626"/>
                </a:solidFill>
                <a:latin typeface="Arial"/>
              </a:rPr>
              <a:t> The course is the same as the previous year for those racing here again.</a:t>
            </a:r>
            <a:r>
              <a:rPr sz="1400" b="0" i="0" dirty="0">
                <a:solidFill>
                  <a:srgbClr val="262626"/>
                </a:solidFill>
                <a:latin typeface="Arial"/>
              </a:rPr>
              <a:t> </a:t>
            </a:r>
            <a:r>
              <a:rPr lang="en-US" sz="1400" b="0" i="0" dirty="0">
                <a:solidFill>
                  <a:srgbClr val="262626"/>
                </a:solidFill>
                <a:latin typeface="Arial"/>
              </a:rPr>
              <a:t>A technical swim with multiples turns along with a difficult hilly </a:t>
            </a:r>
            <a:r>
              <a:rPr sz="1400" b="0" i="0" dirty="0">
                <a:solidFill>
                  <a:srgbClr val="262626"/>
                </a:solidFill>
                <a:latin typeface="Arial"/>
              </a:rPr>
              <a:t>bike is the story here</a:t>
            </a:r>
            <a:r>
              <a:rPr lang="en-US" sz="1400" dirty="0">
                <a:solidFill>
                  <a:srgbClr val="262626"/>
                </a:solidFill>
                <a:latin typeface="Arial"/>
              </a:rPr>
              <a:t> with the course offering strong swim, bikers the opportunity to separate the field and gap the strong runners. </a:t>
            </a:r>
            <a:endParaRPr sz="1400" b="0" i="0" dirty="0">
              <a:solidFill>
                <a:srgbClr val="262626"/>
              </a:solidFill>
              <a:latin typeface="Arial"/>
            </a:endParaRPr>
          </a:p>
        </p:txBody>
      </p:sp>
      <p:sp>
        <p:nvSpPr>
          <p:cNvPr id="10" name="Rectangle 9"/>
          <p:cNvSpPr/>
          <p:nvPr/>
        </p:nvSpPr>
        <p:spPr>
          <a:xfrm>
            <a:off x="274320" y="387985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3898138"/>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4291330"/>
            <a:ext cx="5852160" cy="600164"/>
          </a:xfrm>
          <a:prstGeom prst="rect">
            <a:avLst/>
          </a:prstGeom>
          <a:noFill/>
        </p:spPr>
        <p:txBody>
          <a:bodyPr wrap="square">
            <a:spAutoFit/>
          </a:bodyPr>
          <a:lstStyle/>
          <a:p>
            <a:pPr algn="l"/>
            <a:r>
              <a:rPr sz="1100" b="0" i="0" dirty="0">
                <a:solidFill>
                  <a:srgbClr val="262626"/>
                </a:solidFill>
                <a:latin typeface="Arial"/>
              </a:rPr>
              <a:t>•  1.5 km swim (2 x 750 m) in Lake </a:t>
            </a:r>
            <a:r>
              <a:rPr sz="1100" b="0" i="0" dirty="0" err="1">
                <a:solidFill>
                  <a:srgbClr val="262626"/>
                </a:solidFill>
                <a:latin typeface="Arial"/>
              </a:rPr>
              <a:t>Rolava</a:t>
            </a:r>
            <a:r>
              <a:rPr lang="en-US" sz="1100" dirty="0">
                <a:solidFill>
                  <a:srgbClr val="262626"/>
                </a:solidFill>
                <a:latin typeface="Arial"/>
              </a:rPr>
              <a:t>. P</a:t>
            </a:r>
            <a:r>
              <a:rPr sz="1100" b="0" i="0" dirty="0">
                <a:solidFill>
                  <a:srgbClr val="262626"/>
                </a:solidFill>
                <a:latin typeface="Arial"/>
              </a:rPr>
              <a:t>ontoon start, Australian exit, </a:t>
            </a:r>
            <a:r>
              <a:rPr lang="en-US" sz="1100" b="0" i="0" dirty="0">
                <a:solidFill>
                  <a:srgbClr val="262626"/>
                </a:solidFill>
                <a:latin typeface="Arial"/>
              </a:rPr>
              <a:t>and </a:t>
            </a:r>
            <a:r>
              <a:rPr sz="1100" b="0" i="0" dirty="0">
                <a:solidFill>
                  <a:srgbClr val="262626"/>
                </a:solidFill>
                <a:latin typeface="Arial"/>
              </a:rPr>
              <a:t>navigation</a:t>
            </a:r>
            <a:r>
              <a:rPr lang="en-US" sz="1100" b="0" i="0" dirty="0">
                <a:solidFill>
                  <a:srgbClr val="262626"/>
                </a:solidFill>
                <a:latin typeface="Arial"/>
              </a:rPr>
              <a:t> heavy</a:t>
            </a:r>
            <a:r>
              <a:rPr sz="1100" b="0" i="0" dirty="0">
                <a:solidFill>
                  <a:srgbClr val="262626"/>
                </a:solidFill>
                <a:latin typeface="Arial"/>
              </a:rPr>
              <a:t>. Wetsuit ruling has flipped year to year.</a:t>
            </a:r>
            <a:r>
              <a:rPr lang="en-US" sz="1100" b="0" i="0" dirty="0">
                <a:solidFill>
                  <a:srgbClr val="262626"/>
                </a:solidFill>
                <a:latin typeface="Arial"/>
              </a:rPr>
              <a:t> Overall, the highly technical course favors strong swimmers</a:t>
            </a:r>
            <a:endParaRPr sz="1100" b="0" i="0" dirty="0">
              <a:solidFill>
                <a:srgbClr val="262626"/>
              </a:solidFill>
              <a:latin typeface="Arial"/>
            </a:endParaRPr>
          </a:p>
        </p:txBody>
      </p:sp>
      <p:sp>
        <p:nvSpPr>
          <p:cNvPr id="13" name="TextBox 12"/>
          <p:cNvSpPr txBox="1"/>
          <p:nvPr/>
        </p:nvSpPr>
        <p:spPr>
          <a:xfrm>
            <a:off x="365760" y="4949698"/>
            <a:ext cx="5852160" cy="430887"/>
          </a:xfrm>
          <a:prstGeom prst="rect">
            <a:avLst/>
          </a:prstGeom>
          <a:noFill/>
        </p:spPr>
        <p:txBody>
          <a:bodyPr wrap="square">
            <a:spAutoFit/>
          </a:bodyPr>
          <a:lstStyle/>
          <a:p>
            <a:pPr algn="l"/>
            <a:r>
              <a:rPr sz="1100" b="0" i="0" dirty="0">
                <a:solidFill>
                  <a:srgbClr val="262626"/>
                </a:solidFill>
                <a:latin typeface="Arial"/>
              </a:rPr>
              <a:t>•  40.8 km bike: 6.5 km approach + 7 x 4.9 km laps</a:t>
            </a:r>
            <a:r>
              <a:rPr lang="en-US" sz="1100" b="0" i="0" dirty="0">
                <a:solidFill>
                  <a:srgbClr val="262626"/>
                </a:solidFill>
                <a:latin typeface="Arial"/>
              </a:rPr>
              <a:t>. Each lap contains significant cat 4 climb averaging 4.1% grade over 1.35 miles. C</a:t>
            </a:r>
            <a:r>
              <a:rPr lang="en-US" sz="1100" dirty="0">
                <a:solidFill>
                  <a:srgbClr val="262626"/>
                </a:solidFill>
                <a:latin typeface="Arial"/>
              </a:rPr>
              <a:t>obble section on each lap too</a:t>
            </a:r>
            <a:endParaRPr sz="1100" b="0" i="0" dirty="0">
              <a:solidFill>
                <a:srgbClr val="262626"/>
              </a:solidFill>
              <a:latin typeface="Arial"/>
            </a:endParaRPr>
          </a:p>
        </p:txBody>
      </p:sp>
      <p:sp>
        <p:nvSpPr>
          <p:cNvPr id="14" name="TextBox 13"/>
          <p:cNvSpPr txBox="1"/>
          <p:nvPr/>
        </p:nvSpPr>
        <p:spPr>
          <a:xfrm>
            <a:off x="365760" y="5608066"/>
            <a:ext cx="5852160" cy="430887"/>
          </a:xfrm>
          <a:prstGeom prst="rect">
            <a:avLst/>
          </a:prstGeom>
          <a:noFill/>
        </p:spPr>
        <p:txBody>
          <a:bodyPr wrap="square">
            <a:spAutoFit/>
          </a:bodyPr>
          <a:lstStyle/>
          <a:p>
            <a:pPr algn="l"/>
            <a:r>
              <a:rPr sz="1100" b="0" i="0" dirty="0">
                <a:solidFill>
                  <a:srgbClr val="262626"/>
                </a:solidFill>
                <a:latin typeface="Arial"/>
              </a:rPr>
              <a:t>•  10 km run (4 x 2.5 km) through the spa-town </a:t>
            </a:r>
            <a:r>
              <a:rPr sz="1100" b="0" i="0" dirty="0" err="1">
                <a:solidFill>
                  <a:srgbClr val="262626"/>
                </a:solidFill>
                <a:latin typeface="Arial"/>
              </a:rPr>
              <a:t>centre</a:t>
            </a:r>
            <a:r>
              <a:rPr lang="en-US" sz="1100" dirty="0">
                <a:solidFill>
                  <a:srgbClr val="262626"/>
                </a:solidFill>
                <a:latin typeface="Arial"/>
              </a:rPr>
              <a:t>. </a:t>
            </a:r>
            <a:r>
              <a:rPr lang="en-US" sz="1100">
                <a:solidFill>
                  <a:srgbClr val="262626"/>
                </a:solidFill>
                <a:latin typeface="Arial"/>
              </a:rPr>
              <a:t>Running surface is </a:t>
            </a:r>
            <a:r>
              <a:rPr lang="en-US" sz="1100" dirty="0">
                <a:solidFill>
                  <a:srgbClr val="262626"/>
                </a:solidFill>
                <a:latin typeface="Arial"/>
              </a:rPr>
              <a:t>a </a:t>
            </a:r>
            <a:r>
              <a:rPr lang="en-US" sz="1100" b="0" i="0" dirty="0">
                <a:solidFill>
                  <a:srgbClr val="262626"/>
                </a:solidFill>
                <a:latin typeface="Arial"/>
              </a:rPr>
              <a:t>mix between </a:t>
            </a:r>
            <a:r>
              <a:rPr sz="1100" b="0" i="0" dirty="0">
                <a:solidFill>
                  <a:srgbClr val="262626"/>
                </a:solidFill>
                <a:latin typeface="Arial"/>
              </a:rPr>
              <a:t>asphalt/pavement</a:t>
            </a:r>
            <a:r>
              <a:rPr lang="en-US" sz="1100" b="0" i="0" dirty="0">
                <a:solidFill>
                  <a:srgbClr val="262626"/>
                </a:solidFill>
                <a:latin typeface="Arial"/>
              </a:rPr>
              <a:t>. </a:t>
            </a:r>
            <a:endParaRPr sz="1100" b="0" i="0" dirty="0">
              <a:solidFill>
                <a:srgbClr val="262626"/>
              </a:solidFill>
              <a:latin typeface="Arial"/>
            </a:endParaRPr>
          </a:p>
        </p:txBody>
      </p:sp>
      <p:sp>
        <p:nvSpPr>
          <p:cNvPr id="15" name="TextBox 14"/>
          <p:cNvSpPr txBox="1"/>
          <p:nvPr/>
        </p:nvSpPr>
        <p:spPr>
          <a:xfrm>
            <a:off x="365760" y="6266434"/>
            <a:ext cx="5852160" cy="640080"/>
          </a:xfrm>
          <a:prstGeom prst="rect">
            <a:avLst/>
          </a:prstGeom>
          <a:noFill/>
        </p:spPr>
        <p:txBody>
          <a:bodyPr wrap="square">
            <a:spAutoFit/>
          </a:bodyPr>
          <a:lstStyle/>
          <a:p>
            <a:pPr algn="l"/>
            <a:r>
              <a:rPr sz="1100" b="0" i="0">
                <a:solidFill>
                  <a:srgbClr val="262626"/>
                </a:solidFill>
                <a:latin typeface="Arial"/>
              </a:rPr>
              <a:t>•  Two transitions (T1 Lake Rolava to T2 Theatre Square) and split start times: Women 10:00, Men 15:00.</a:t>
            </a: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229600" y="1508760"/>
            <a:ext cx="3657600" cy="320040"/>
          </a:xfrm>
          <a:prstGeom prst="rect">
            <a:avLst/>
          </a:prstGeom>
          <a:noFill/>
        </p:spPr>
        <p:txBody>
          <a:bodyPr wrap="square">
            <a:spAutoFit/>
          </a:bodyPr>
          <a:lstStyle/>
          <a:p>
            <a:pPr algn="l"/>
            <a:r>
              <a:rPr sz="1200" b="0" i="0">
                <a:solidFill>
                  <a:srgbClr val="262626"/>
                </a:solidFill>
                <a:latin typeface="Arial"/>
              </a:rPr>
              <a:t>1.5 km – 2 laps × 750 m</a:t>
            </a: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229600" y="1847088"/>
            <a:ext cx="3657600" cy="320040"/>
          </a:xfrm>
          <a:prstGeom prst="rect">
            <a:avLst/>
          </a:prstGeom>
          <a:noFill/>
        </p:spPr>
        <p:txBody>
          <a:bodyPr wrap="square">
            <a:spAutoFit/>
          </a:bodyPr>
          <a:lstStyle/>
          <a:p>
            <a:pPr algn="l"/>
            <a:r>
              <a:rPr sz="1200" b="0" i="0">
                <a:solidFill>
                  <a:srgbClr val="262626"/>
                </a:solidFill>
                <a:latin typeface="Arial"/>
              </a:rPr>
              <a:t>40.8 km – 7 laps × 4.9 km</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229600" y="2185415"/>
            <a:ext cx="3657600" cy="320040"/>
          </a:xfrm>
          <a:prstGeom prst="rect">
            <a:avLst/>
          </a:prstGeom>
          <a:noFill/>
        </p:spPr>
        <p:txBody>
          <a:bodyPr wrap="square">
            <a:spAutoFit/>
          </a:bodyPr>
          <a:lstStyle/>
          <a:p>
            <a:pPr algn="l"/>
            <a:r>
              <a:rPr sz="1200" b="0" i="0">
                <a:solidFill>
                  <a:srgbClr val="262626"/>
                </a:solidFill>
                <a:latin typeface="Arial"/>
              </a:rPr>
              <a:t>10 km – 4 laps × 2.5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229600" y="2523744"/>
            <a:ext cx="3657600" cy="320040"/>
          </a:xfrm>
          <a:prstGeom prst="rect">
            <a:avLst/>
          </a:prstGeom>
          <a:noFill/>
        </p:spPr>
        <p:txBody>
          <a:bodyPr wrap="square">
            <a:spAutoFit/>
          </a:bodyPr>
          <a:lstStyle/>
          <a:p>
            <a:pPr algn="l"/>
            <a:r>
              <a:rPr sz="1200" b="0" i="0">
                <a:solidFill>
                  <a:srgbClr val="262626"/>
                </a:solidFill>
                <a:latin typeface="Arial"/>
              </a:rPr>
              <a:t>Standard Triathlon (WTCS)</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229600" y="2862072"/>
            <a:ext cx="3657600" cy="320040"/>
          </a:xfrm>
          <a:prstGeom prst="rect">
            <a:avLst/>
          </a:prstGeom>
          <a:noFill/>
        </p:spPr>
        <p:txBody>
          <a:bodyPr wrap="square">
            <a:spAutoFit/>
          </a:bodyPr>
          <a:lstStyle/>
          <a:p>
            <a:pPr algn="l"/>
            <a:r>
              <a:rPr sz="1200" b="0" i="0">
                <a:solidFill>
                  <a:srgbClr val="262626"/>
                </a:solidFill>
                <a:latin typeface="Arial"/>
              </a:rPr>
              <a:t>7</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229600" y="3200400"/>
            <a:ext cx="3657600" cy="320040"/>
          </a:xfrm>
          <a:prstGeom prst="rect">
            <a:avLst/>
          </a:prstGeom>
          <a:noFill/>
        </p:spPr>
        <p:txBody>
          <a:bodyPr wrap="square">
            <a:spAutoFit/>
          </a:bodyPr>
          <a:lstStyle/>
          <a:p>
            <a:pPr algn="l"/>
            <a:r>
              <a:rPr sz="1200" b="0" i="0">
                <a:solidFill>
                  <a:srgbClr val="262626"/>
                </a:solidFill>
                <a:latin typeface="Arial"/>
              </a:rPr>
              <a:t>4</a:t>
            </a: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246221"/>
          </a:xfrm>
          <a:prstGeom prst="rect">
            <a:avLst/>
          </a:prstGeom>
          <a:noFill/>
        </p:spPr>
        <p:txBody>
          <a:bodyPr wrap="square">
            <a:spAutoFit/>
          </a:bodyPr>
          <a:lstStyle/>
          <a:p>
            <a:pPr algn="l"/>
            <a:r>
              <a:rPr sz="1000" b="0" i="1" dirty="0">
                <a:solidFill>
                  <a:srgbClr val="262626"/>
                </a:solidFill>
                <a:latin typeface="Arial"/>
                <a:hlinkClick r:id="rId3"/>
              </a:rPr>
              <a:t>Race Info | 2026 WTCS Karlovy Vary</a:t>
            </a:r>
            <a:endParaRPr sz="1000" b="0" i="1" dirty="0">
              <a:solidFill>
                <a:srgbClr val="262626"/>
              </a:solidFill>
              <a:latin typeface="Arial"/>
            </a:endParaRPr>
          </a:p>
        </p:txBody>
      </p:sp>
      <p:pic>
        <p:nvPicPr>
          <p:cNvPr id="35" name="Picture 34">
            <a:extLst>
              <a:ext uri="{FF2B5EF4-FFF2-40B4-BE49-F238E27FC236}">
                <a16:creationId xmlns:a16="http://schemas.microsoft.com/office/drawing/2014/main" id="{D7A2A9D7-F460-B79F-536F-4CC815906841}"/>
              </a:ext>
            </a:extLst>
          </p:cNvPr>
          <p:cNvPicPr>
            <a:picLocks noChangeAspect="1"/>
          </p:cNvPicPr>
          <p:nvPr/>
        </p:nvPicPr>
        <p:blipFill>
          <a:blip r:embed="rId4"/>
          <a:stretch>
            <a:fillRect/>
          </a:stretch>
        </p:blipFill>
        <p:spPr>
          <a:xfrm>
            <a:off x="7132119" y="4688078"/>
            <a:ext cx="4663641" cy="19620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swim course map here]
Save the organiser map as:
ppt files/support/karlovy vary_swim_course.png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WTCS Karlovy Vary Athletes Guide V5 (Lake Rolava)</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1.5 km   •   2 × 750 m</a:t>
            </a:r>
          </a:p>
        </p:txBody>
      </p:sp>
      <p:sp>
        <p:nvSpPr>
          <p:cNvPr id="13" name="TextBox 12"/>
          <p:cNvSpPr txBox="1"/>
          <p:nvPr/>
        </p:nvSpPr>
        <p:spPr>
          <a:xfrm>
            <a:off x="5577840" y="1636776"/>
            <a:ext cx="6309360" cy="261610"/>
          </a:xfrm>
          <a:prstGeom prst="rect">
            <a:avLst/>
          </a:prstGeom>
          <a:noFill/>
        </p:spPr>
        <p:txBody>
          <a:bodyPr wrap="square">
            <a:spAutoFit/>
          </a:bodyPr>
          <a:lstStyle/>
          <a:p>
            <a:pPr algn="ctr"/>
            <a:r>
              <a:rPr sz="1100" b="0" i="1" dirty="0">
                <a:solidFill>
                  <a:srgbClr val="AABBDD"/>
                </a:solidFill>
                <a:latin typeface="Arial"/>
              </a:rPr>
              <a:t>Freshwater lake</a:t>
            </a:r>
            <a:r>
              <a:rPr lang="en-US" sz="1100" b="0" i="1" dirty="0">
                <a:solidFill>
                  <a:srgbClr val="AABBDD"/>
                </a:solidFill>
                <a:latin typeface="Arial"/>
              </a:rPr>
              <a:t>. </a:t>
            </a:r>
            <a:r>
              <a:rPr lang="en-US" sz="1100" i="1" dirty="0">
                <a:solidFill>
                  <a:srgbClr val="AABBDD"/>
                </a:solidFill>
                <a:latin typeface="Arial"/>
              </a:rPr>
              <a:t>S</a:t>
            </a:r>
            <a:r>
              <a:rPr sz="1100" b="0" i="1" dirty="0">
                <a:solidFill>
                  <a:srgbClr val="AABBDD"/>
                </a:solidFill>
                <a:latin typeface="Arial"/>
              </a:rPr>
              <a:t>heltered, island-lined course</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1.5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Lake Rolava</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2" name="TextBox 21"/>
          <p:cNvSpPr txBox="1"/>
          <p:nvPr/>
        </p:nvSpPr>
        <p:spPr>
          <a:xfrm>
            <a:off x="9875520" y="2340864"/>
            <a:ext cx="1920240" cy="307777"/>
          </a:xfrm>
          <a:prstGeom prst="rect">
            <a:avLst/>
          </a:prstGeom>
          <a:noFill/>
        </p:spPr>
        <p:txBody>
          <a:bodyPr wrap="square">
            <a:spAutoFit/>
          </a:bodyPr>
          <a:lstStyle/>
          <a:p>
            <a:pPr algn="ctr"/>
            <a:r>
              <a:rPr sz="1400" b="1" i="0" dirty="0">
                <a:solidFill>
                  <a:srgbClr val="262626"/>
                </a:solidFill>
                <a:latin typeface="Arial"/>
              </a:rPr>
              <a:t>Pontoon start</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5" name="TextBox 24"/>
          <p:cNvSpPr txBox="1"/>
          <p:nvPr/>
        </p:nvSpPr>
        <p:spPr>
          <a:xfrm>
            <a:off x="5669280" y="3054096"/>
            <a:ext cx="1920240" cy="307777"/>
          </a:xfrm>
          <a:prstGeom prst="rect">
            <a:avLst/>
          </a:prstGeom>
          <a:noFill/>
        </p:spPr>
        <p:txBody>
          <a:bodyPr wrap="square">
            <a:spAutoFit/>
          </a:bodyPr>
          <a:lstStyle/>
          <a:p>
            <a:pPr algn="ctr"/>
            <a:r>
              <a:rPr sz="1400" b="1" i="0" dirty="0">
                <a:solidFill>
                  <a:srgbClr val="262626"/>
                </a:solidFill>
                <a:latin typeface="Arial"/>
              </a:rPr>
              <a:t>18.0–20.0 °C</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8" name="TextBox 27"/>
          <p:cNvSpPr txBox="1"/>
          <p:nvPr/>
        </p:nvSpPr>
        <p:spPr>
          <a:xfrm>
            <a:off x="7772400" y="3054096"/>
            <a:ext cx="1920240" cy="307777"/>
          </a:xfrm>
          <a:prstGeom prst="rect">
            <a:avLst/>
          </a:prstGeom>
          <a:noFill/>
        </p:spPr>
        <p:txBody>
          <a:bodyPr wrap="square">
            <a:spAutoFit/>
          </a:bodyPr>
          <a:lstStyle/>
          <a:p>
            <a:pPr algn="ctr"/>
            <a:r>
              <a:rPr lang="en-US" sz="1400" b="1" i="0" dirty="0">
                <a:solidFill>
                  <a:srgbClr val="262626"/>
                </a:solidFill>
                <a:latin typeface="Arial"/>
              </a:rPr>
              <a:t>Likely</a:t>
            </a:r>
            <a:endParaRPr sz="1400" b="1" i="0" dirty="0">
              <a:solidFill>
                <a:srgbClr val="262626"/>
              </a:solidFill>
              <a:latin typeface="Arial"/>
            </a:endParaRP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2</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40"/>
            <a:ext cx="6126480" cy="738664"/>
          </a:xfrm>
          <a:prstGeom prst="rect">
            <a:avLst/>
          </a:prstGeom>
          <a:noFill/>
        </p:spPr>
        <p:txBody>
          <a:bodyPr wrap="square">
            <a:spAutoFit/>
          </a:bodyPr>
          <a:lstStyle/>
          <a:p>
            <a:r>
              <a:rPr sz="1050" b="0" i="0" dirty="0">
                <a:solidFill>
                  <a:srgbClr val="262626"/>
                </a:solidFill>
                <a:latin typeface="Arial"/>
              </a:rPr>
              <a:t>•  2 × 750 m anti-clockwise laps in Lake </a:t>
            </a:r>
            <a:r>
              <a:rPr sz="1050" b="0" i="0" dirty="0" err="1">
                <a:solidFill>
                  <a:srgbClr val="262626"/>
                </a:solidFill>
                <a:latin typeface="Arial"/>
              </a:rPr>
              <a:t>Rolava</a:t>
            </a:r>
            <a:r>
              <a:rPr lang="en-US" sz="1050" dirty="0">
                <a:solidFill>
                  <a:srgbClr val="262626"/>
                </a:solidFill>
                <a:latin typeface="Arial"/>
              </a:rPr>
              <a:t>. P</a:t>
            </a:r>
            <a:r>
              <a:rPr sz="1050" b="0" i="0" dirty="0">
                <a:solidFill>
                  <a:srgbClr val="262626"/>
                </a:solidFill>
                <a:latin typeface="Arial"/>
              </a:rPr>
              <a:t>ontoon start</a:t>
            </a:r>
            <a:r>
              <a:rPr lang="en-US" sz="1050" dirty="0">
                <a:solidFill>
                  <a:srgbClr val="262626"/>
                </a:solidFill>
                <a:latin typeface="Arial"/>
              </a:rPr>
              <a:t> with a </a:t>
            </a:r>
            <a:r>
              <a:rPr sz="1050" b="0" i="0" dirty="0">
                <a:solidFill>
                  <a:srgbClr val="262626"/>
                </a:solidFill>
                <a:latin typeface="Arial"/>
              </a:rPr>
              <a:t>hard 205 m opening leg to the first turn buoy</a:t>
            </a:r>
            <a:r>
              <a:rPr lang="en-US" sz="1050" dirty="0">
                <a:solidFill>
                  <a:srgbClr val="262626"/>
                </a:solidFill>
                <a:latin typeface="Arial"/>
              </a:rPr>
              <a:t>. Swim contains an Australian exit at different point than the start. Athletes will run the wooden pier at the end of lap 1 dive back and take a different route to the first </a:t>
            </a:r>
            <a:r>
              <a:rPr lang="en-US" sz="1050" dirty="0" err="1">
                <a:solidFill>
                  <a:srgbClr val="262626"/>
                </a:solidFill>
                <a:latin typeface="Arial"/>
              </a:rPr>
              <a:t>bouy</a:t>
            </a:r>
            <a:endParaRPr lang="en-US" sz="1050" dirty="0">
              <a:solidFill>
                <a:srgbClr val="262626"/>
              </a:solidFill>
              <a:latin typeface="Arial"/>
            </a:endParaRPr>
          </a:p>
          <a:p>
            <a:pPr algn="l"/>
            <a:endParaRPr sz="1050" b="0" i="0" dirty="0">
              <a:solidFill>
                <a:srgbClr val="262626"/>
              </a:solidFill>
              <a:latin typeface="Arial"/>
            </a:endParaRPr>
          </a:p>
        </p:txBody>
      </p:sp>
      <p:sp>
        <p:nvSpPr>
          <p:cNvPr id="36" name="TextBox 35"/>
          <p:cNvSpPr txBox="1"/>
          <p:nvPr/>
        </p:nvSpPr>
        <p:spPr>
          <a:xfrm>
            <a:off x="5669280" y="4550156"/>
            <a:ext cx="6126480" cy="577081"/>
          </a:xfrm>
          <a:prstGeom prst="rect">
            <a:avLst/>
          </a:prstGeom>
          <a:noFill/>
        </p:spPr>
        <p:txBody>
          <a:bodyPr wrap="square">
            <a:spAutoFit/>
          </a:bodyPr>
          <a:lstStyle/>
          <a:p>
            <a:pPr algn="l"/>
            <a:r>
              <a:rPr sz="1050" b="0" i="0" dirty="0">
                <a:solidFill>
                  <a:srgbClr val="262626"/>
                </a:solidFill>
                <a:latin typeface="Arial"/>
              </a:rPr>
              <a:t>•  </a:t>
            </a:r>
            <a:r>
              <a:rPr lang="en-US" sz="1050" b="0" i="0" dirty="0">
                <a:solidFill>
                  <a:srgbClr val="262626"/>
                </a:solidFill>
                <a:latin typeface="Arial"/>
              </a:rPr>
              <a:t>The swim is </a:t>
            </a:r>
            <a:r>
              <a:rPr lang="en-US" sz="1050" dirty="0">
                <a:solidFill>
                  <a:srgbClr val="262626"/>
                </a:solidFill>
                <a:latin typeface="Arial"/>
              </a:rPr>
              <a:t>n</a:t>
            </a:r>
            <a:r>
              <a:rPr sz="1050" b="0" i="0" dirty="0">
                <a:solidFill>
                  <a:srgbClr val="262626"/>
                </a:solidFill>
                <a:latin typeface="Arial"/>
              </a:rPr>
              <a:t>avigation-heavy</a:t>
            </a:r>
            <a:r>
              <a:rPr lang="en-US" sz="1050" b="0" i="0" dirty="0">
                <a:solidFill>
                  <a:srgbClr val="262626"/>
                </a:solidFill>
                <a:latin typeface="Arial"/>
              </a:rPr>
              <a:t> with athletes needing to manage </a:t>
            </a:r>
            <a:r>
              <a:rPr sz="1050" b="0" i="0" dirty="0">
                <a:solidFill>
                  <a:srgbClr val="262626"/>
                </a:solidFill>
                <a:latin typeface="Arial"/>
              </a:rPr>
              <a:t>swim</a:t>
            </a:r>
            <a:r>
              <a:rPr lang="en-US" sz="1050" b="0" i="0" dirty="0">
                <a:solidFill>
                  <a:srgbClr val="262626"/>
                </a:solidFill>
                <a:latin typeface="Arial"/>
              </a:rPr>
              <a:t>ming</a:t>
            </a:r>
            <a:r>
              <a:rPr sz="1050" b="0" i="0" dirty="0">
                <a:solidFill>
                  <a:srgbClr val="262626"/>
                </a:solidFill>
                <a:latin typeface="Arial"/>
              </a:rPr>
              <a:t> behind the big island, under the bridge, left between the big and small islands, then right to the pier</a:t>
            </a:r>
            <a:r>
              <a:rPr lang="en-US" sz="1050" b="0" i="0" dirty="0">
                <a:solidFill>
                  <a:srgbClr val="262626"/>
                </a:solidFill>
                <a:latin typeface="Arial"/>
              </a:rPr>
              <a:t>. The water is sheltered with </a:t>
            </a:r>
            <a:r>
              <a:rPr lang="en-US" sz="1050" dirty="0">
                <a:solidFill>
                  <a:srgbClr val="262626"/>
                </a:solidFill>
                <a:latin typeface="Arial"/>
              </a:rPr>
              <a:t>s</a:t>
            </a:r>
            <a:r>
              <a:rPr lang="en-US" sz="1050" b="0" i="0" dirty="0">
                <a:solidFill>
                  <a:srgbClr val="262626"/>
                </a:solidFill>
                <a:latin typeface="Arial"/>
              </a:rPr>
              <a:t>hould help make sighting easier than in surf conditions.</a:t>
            </a:r>
            <a:endParaRPr sz="1050" b="0" i="0" dirty="0">
              <a:solidFill>
                <a:srgbClr val="262626"/>
              </a:solidFill>
              <a:latin typeface="Arial"/>
            </a:endParaRPr>
          </a:p>
        </p:txBody>
      </p:sp>
      <p:sp>
        <p:nvSpPr>
          <p:cNvPr id="38" name="TextBox 37"/>
          <p:cNvSpPr txBox="1"/>
          <p:nvPr/>
        </p:nvSpPr>
        <p:spPr>
          <a:xfrm>
            <a:off x="5669280" y="5097272"/>
            <a:ext cx="6126480" cy="310896"/>
          </a:xfrm>
          <a:prstGeom prst="rect">
            <a:avLst/>
          </a:prstGeom>
          <a:noFill/>
        </p:spPr>
        <p:txBody>
          <a:bodyPr wrap="square">
            <a:spAutoFit/>
          </a:bodyPr>
          <a:lstStyle/>
          <a:p>
            <a:pPr algn="l"/>
            <a:r>
              <a:rPr sz="1050" b="0" i="0" dirty="0">
                <a:solidFill>
                  <a:srgbClr val="262626"/>
                </a:solidFill>
                <a:latin typeface="Arial"/>
              </a:rPr>
              <a:t>•  Wetsuit ruling has flipped year to year (18–19 °C most editions, 23–25 °C in 2024) — bring both setups</a:t>
            </a:r>
          </a:p>
        </p:txBody>
      </p:sp>
      <p:sp>
        <p:nvSpPr>
          <p:cNvPr id="39" name="TextBox 38"/>
          <p:cNvSpPr txBox="1"/>
          <p:nvPr/>
        </p:nvSpPr>
        <p:spPr>
          <a:xfrm>
            <a:off x="5669280" y="5440680"/>
            <a:ext cx="6126480" cy="310896"/>
          </a:xfrm>
          <a:prstGeom prst="rect">
            <a:avLst/>
          </a:prstGeom>
          <a:noFill/>
        </p:spPr>
        <p:txBody>
          <a:bodyPr wrap="square">
            <a:spAutoFit/>
          </a:bodyPr>
          <a:lstStyle/>
          <a:p>
            <a:pPr algn="l"/>
            <a:r>
              <a:rPr sz="1050" b="0" i="0" dirty="0">
                <a:solidFill>
                  <a:srgbClr val="262626"/>
                </a:solidFill>
                <a:latin typeface="Arial"/>
              </a:rPr>
              <a:t>•  Swim exits into TA1 at Lake </a:t>
            </a:r>
            <a:r>
              <a:rPr sz="1050" b="0" i="0" dirty="0" err="1">
                <a:solidFill>
                  <a:srgbClr val="262626"/>
                </a:solidFill>
                <a:latin typeface="Arial"/>
              </a:rPr>
              <a:t>Rolava</a:t>
            </a:r>
            <a:r>
              <a:rPr sz="1050" b="0" i="0" dirty="0">
                <a:solidFill>
                  <a:srgbClr val="262626"/>
                </a:solidFill>
                <a:latin typeface="Arial"/>
              </a:rPr>
              <a:t>; last-minute gear is transported by the LOC to the finish area in the city</a:t>
            </a:r>
          </a:p>
        </p:txBody>
      </p:sp>
      <p:pic>
        <p:nvPicPr>
          <p:cNvPr id="43" name="Picture 42">
            <a:extLst>
              <a:ext uri="{FF2B5EF4-FFF2-40B4-BE49-F238E27FC236}">
                <a16:creationId xmlns:a16="http://schemas.microsoft.com/office/drawing/2014/main" id="{85AAC7CF-CE37-AF71-0754-7B75B05F895B}"/>
              </a:ext>
            </a:extLst>
          </p:cNvPr>
          <p:cNvPicPr>
            <a:picLocks noChangeAspect="1"/>
          </p:cNvPicPr>
          <p:nvPr/>
        </p:nvPicPr>
        <p:blipFill>
          <a:blip r:embed="rId3"/>
          <a:stretch>
            <a:fillRect/>
          </a:stretch>
        </p:blipFill>
        <p:spPr>
          <a:xfrm>
            <a:off x="228601" y="1139399"/>
            <a:ext cx="5166360" cy="50968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29184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240280"/>
            <a:ext cx="4754880" cy="1280160"/>
          </a:xfrm>
          <a:prstGeom prst="rect">
            <a:avLst/>
          </a:prstGeom>
          <a:noFill/>
        </p:spPr>
        <p:txBody>
          <a:bodyPr wrap="square">
            <a:spAutoFit/>
          </a:bodyPr>
          <a:lstStyle/>
          <a:p>
            <a:pPr algn="ctr"/>
            <a:r>
              <a:rPr sz="1000" b="0" i="1">
                <a:solidFill>
                  <a:srgbClr val="BFBFBF"/>
                </a:solidFill>
                <a:latin typeface="Arial"/>
              </a:rPr>
              <a:t>[Drop course map here]
Save the organiser course map as:
ppt files/support/karlovy vary_bike_course.png
It will be embedded automatically on the next run.</a:t>
            </a:r>
          </a:p>
        </p:txBody>
      </p:sp>
      <p:sp>
        <p:nvSpPr>
          <p:cNvPr id="10" name="TextBox 9"/>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2026 WTCS Karlovy Vary Athletes Guide V5 (Lake Rolava to city centre)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40.8 km   •   7 × 4.9 km loops</a:t>
            </a:r>
          </a:p>
        </p:txBody>
      </p:sp>
      <p:sp>
        <p:nvSpPr>
          <p:cNvPr id="13" name="TextBox 12"/>
          <p:cNvSpPr txBox="1"/>
          <p:nvPr/>
        </p:nvSpPr>
        <p:spPr>
          <a:xfrm>
            <a:off x="5577840" y="1636776"/>
            <a:ext cx="6309360" cy="261610"/>
          </a:xfrm>
          <a:prstGeom prst="rect">
            <a:avLst/>
          </a:prstGeom>
          <a:noFill/>
        </p:spPr>
        <p:txBody>
          <a:bodyPr wrap="square">
            <a:spAutoFit/>
          </a:bodyPr>
          <a:lstStyle/>
          <a:p>
            <a:pPr algn="ctr"/>
            <a:r>
              <a:rPr sz="1100" b="0" i="1" dirty="0">
                <a:solidFill>
                  <a:srgbClr val="AABBDD"/>
                </a:solidFill>
                <a:latin typeface="Arial"/>
              </a:rPr>
              <a:t>80% asphalt / 20% pavement (cobbles)</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6" name="TextBox 15"/>
          <p:cNvSpPr txBox="1"/>
          <p:nvPr/>
        </p:nvSpPr>
        <p:spPr>
          <a:xfrm>
            <a:off x="5669280" y="2340864"/>
            <a:ext cx="1920240" cy="461665"/>
          </a:xfrm>
          <a:prstGeom prst="rect">
            <a:avLst/>
          </a:prstGeom>
          <a:noFill/>
        </p:spPr>
        <p:txBody>
          <a:bodyPr wrap="square">
            <a:spAutoFit/>
          </a:bodyPr>
          <a:lstStyle/>
          <a:p>
            <a:pPr algn="ctr"/>
            <a:r>
              <a:rPr lang="en-US" sz="1200" b="1" i="0" dirty="0">
                <a:solidFill>
                  <a:srgbClr val="262626"/>
                </a:solidFill>
                <a:latin typeface="Arial"/>
              </a:rPr>
              <a:t>~340 / lap +220 ft on lead in</a:t>
            </a:r>
            <a:endParaRPr sz="1200" b="1" i="0" dirty="0">
              <a:solidFill>
                <a:srgbClr val="262626"/>
              </a:solidFill>
              <a:latin typeface="Arial"/>
            </a:endParaRP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9" name="TextBox 18"/>
          <p:cNvSpPr txBox="1"/>
          <p:nvPr/>
        </p:nvSpPr>
        <p:spPr>
          <a:xfrm>
            <a:off x="7772400" y="2340864"/>
            <a:ext cx="1920240" cy="323165"/>
          </a:xfrm>
          <a:prstGeom prst="rect">
            <a:avLst/>
          </a:prstGeom>
          <a:noFill/>
        </p:spPr>
        <p:txBody>
          <a:bodyPr wrap="square">
            <a:spAutoFit/>
          </a:bodyPr>
          <a:lstStyle/>
          <a:p>
            <a:pPr algn="ctr"/>
            <a:r>
              <a:rPr lang="en-US" sz="1500" b="1" i="0" dirty="0">
                <a:solidFill>
                  <a:srgbClr val="262626"/>
                </a:solidFill>
                <a:latin typeface="Arial"/>
              </a:rPr>
              <a:t>~ 2,600 ft</a:t>
            </a:r>
            <a:endParaRPr sz="1500" b="1" i="0" dirty="0">
              <a:solidFill>
                <a:srgbClr val="262626"/>
              </a:solidFill>
              <a:latin typeface="Arial"/>
            </a:endParaRP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2" name="TextBox 21"/>
          <p:cNvSpPr txBox="1"/>
          <p:nvPr/>
        </p:nvSpPr>
        <p:spPr>
          <a:xfrm>
            <a:off x="9875520" y="2340864"/>
            <a:ext cx="1920240" cy="276999"/>
          </a:xfrm>
          <a:prstGeom prst="rect">
            <a:avLst/>
          </a:prstGeom>
          <a:noFill/>
        </p:spPr>
        <p:txBody>
          <a:bodyPr wrap="square">
            <a:spAutoFit/>
          </a:bodyPr>
          <a:lstStyle/>
          <a:p>
            <a:pPr algn="ctr"/>
            <a:r>
              <a:rPr lang="en-US" sz="1200" b="1" i="0" dirty="0">
                <a:solidFill>
                  <a:srgbClr val="262626"/>
                </a:solidFill>
                <a:latin typeface="Arial"/>
              </a:rPr>
              <a:t>~4% (on main climb)</a:t>
            </a:r>
            <a:endParaRPr sz="1200" b="1" i="0" dirty="0">
              <a:solidFill>
                <a:srgbClr val="262626"/>
              </a:solidFill>
              <a:latin typeface="Arial"/>
            </a:endParaRP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5" name="TextBox 24"/>
          <p:cNvSpPr txBox="1"/>
          <p:nvPr/>
        </p:nvSpPr>
        <p:spPr>
          <a:xfrm>
            <a:off x="5669280" y="3054096"/>
            <a:ext cx="1920240" cy="323165"/>
          </a:xfrm>
          <a:prstGeom prst="rect">
            <a:avLst/>
          </a:prstGeom>
          <a:noFill/>
        </p:spPr>
        <p:txBody>
          <a:bodyPr wrap="square">
            <a:spAutoFit/>
          </a:bodyPr>
          <a:lstStyle/>
          <a:p>
            <a:pPr algn="ctr"/>
            <a:r>
              <a:rPr lang="en-US" sz="1500" b="1" i="0" dirty="0">
                <a:solidFill>
                  <a:srgbClr val="262626"/>
                </a:solidFill>
                <a:latin typeface="Arial"/>
              </a:rPr>
              <a:t>6-9%</a:t>
            </a:r>
            <a:endParaRPr sz="1500" b="1" i="0" dirty="0">
              <a:solidFill>
                <a:srgbClr val="262626"/>
              </a:solidFill>
              <a:latin typeface="Arial"/>
            </a:endParaRP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8" name="TextBox 27"/>
          <p:cNvSpPr txBox="1"/>
          <p:nvPr/>
        </p:nvSpPr>
        <p:spPr>
          <a:xfrm>
            <a:off x="7772400" y="3054096"/>
            <a:ext cx="1920240" cy="261610"/>
          </a:xfrm>
          <a:prstGeom prst="rect">
            <a:avLst/>
          </a:prstGeom>
          <a:noFill/>
        </p:spPr>
        <p:txBody>
          <a:bodyPr wrap="square">
            <a:spAutoFit/>
          </a:bodyPr>
          <a:lstStyle/>
          <a:p>
            <a:pPr algn="ctr"/>
            <a:r>
              <a:rPr sz="1100" b="1" i="0" dirty="0">
                <a:solidFill>
                  <a:srgbClr val="262626"/>
                </a:solidFill>
                <a:latin typeface="Arial"/>
              </a:rPr>
              <a:t>Sheltered</a:t>
            </a:r>
            <a:r>
              <a:rPr lang="en-US" sz="1100" b="1" i="0" dirty="0">
                <a:solidFill>
                  <a:srgbClr val="262626"/>
                </a:solidFill>
                <a:latin typeface="Arial"/>
              </a:rPr>
              <a:t> Valley</a:t>
            </a:r>
            <a:endParaRPr sz="1100" b="1" i="0" dirty="0">
              <a:solidFill>
                <a:srgbClr val="262626"/>
              </a:solidFill>
              <a:latin typeface="Arial"/>
            </a:endParaRP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7 × 4.9 km</a:t>
            </a:r>
          </a:p>
        </p:txBody>
      </p:sp>
      <p:sp>
        <p:nvSpPr>
          <p:cNvPr id="32" name="Rectangle 31"/>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4" name="TextBox 33"/>
          <p:cNvSpPr txBox="1"/>
          <p:nvPr/>
        </p:nvSpPr>
        <p:spPr>
          <a:xfrm>
            <a:off x="5669280" y="4056380"/>
            <a:ext cx="4374460" cy="415498"/>
          </a:xfrm>
          <a:prstGeom prst="rect">
            <a:avLst/>
          </a:prstGeom>
          <a:noFill/>
        </p:spPr>
        <p:txBody>
          <a:bodyPr wrap="square">
            <a:spAutoFit/>
          </a:bodyPr>
          <a:lstStyle/>
          <a:p>
            <a:pPr algn="l"/>
            <a:r>
              <a:rPr sz="1050" b="0" i="0" dirty="0">
                <a:solidFill>
                  <a:srgbClr val="262626"/>
                </a:solidFill>
                <a:latin typeface="Arial"/>
              </a:rPr>
              <a:t>•  6.5 km approach from Lake </a:t>
            </a:r>
            <a:r>
              <a:rPr sz="1050" b="0" i="0" dirty="0" err="1">
                <a:solidFill>
                  <a:srgbClr val="262626"/>
                </a:solidFill>
                <a:latin typeface="Arial"/>
              </a:rPr>
              <a:t>Rolava</a:t>
            </a:r>
            <a:r>
              <a:rPr sz="1050" b="0" i="0" dirty="0">
                <a:solidFill>
                  <a:srgbClr val="262626"/>
                </a:solidFill>
                <a:latin typeface="Arial"/>
              </a:rPr>
              <a:t>, then 7 technically challenging laps of 4.9 km = 40.8 km total</a:t>
            </a:r>
          </a:p>
        </p:txBody>
      </p:sp>
      <p:sp>
        <p:nvSpPr>
          <p:cNvPr id="35" name="TextBox 34"/>
          <p:cNvSpPr txBox="1"/>
          <p:nvPr/>
        </p:nvSpPr>
        <p:spPr>
          <a:xfrm>
            <a:off x="5669280" y="4412488"/>
            <a:ext cx="4160520" cy="415498"/>
          </a:xfrm>
          <a:prstGeom prst="rect">
            <a:avLst/>
          </a:prstGeom>
          <a:noFill/>
        </p:spPr>
        <p:txBody>
          <a:bodyPr wrap="square">
            <a:spAutoFit/>
          </a:bodyPr>
          <a:lstStyle/>
          <a:p>
            <a:pPr algn="l"/>
            <a:r>
              <a:rPr sz="1050" b="0" i="0" dirty="0">
                <a:solidFill>
                  <a:srgbClr val="262626"/>
                </a:solidFill>
                <a:latin typeface="Arial"/>
              </a:rPr>
              <a:t>•  THE defining feature: </a:t>
            </a:r>
            <a:r>
              <a:rPr lang="en-US" sz="1050" b="0" i="0" dirty="0">
                <a:solidFill>
                  <a:srgbClr val="262626"/>
                </a:solidFill>
                <a:latin typeface="Arial"/>
              </a:rPr>
              <a:t>A 1.35 mile climb repeated 7 time. Average 4.1% and gains 316 ft. </a:t>
            </a:r>
            <a:endParaRPr sz="1050" b="0" i="0" dirty="0">
              <a:solidFill>
                <a:srgbClr val="262626"/>
              </a:solidFill>
              <a:latin typeface="Arial"/>
            </a:endParaRPr>
          </a:p>
        </p:txBody>
      </p:sp>
      <p:sp>
        <p:nvSpPr>
          <p:cNvPr id="36" name="TextBox 35"/>
          <p:cNvSpPr txBox="1"/>
          <p:nvPr/>
        </p:nvSpPr>
        <p:spPr>
          <a:xfrm>
            <a:off x="5669280" y="4774946"/>
            <a:ext cx="4219011" cy="415498"/>
          </a:xfrm>
          <a:prstGeom prst="rect">
            <a:avLst/>
          </a:prstGeom>
          <a:noFill/>
        </p:spPr>
        <p:txBody>
          <a:bodyPr wrap="square">
            <a:spAutoFit/>
          </a:bodyPr>
          <a:lstStyle/>
          <a:p>
            <a:pPr algn="l"/>
            <a:r>
              <a:rPr sz="1050" b="0" i="0" dirty="0">
                <a:solidFill>
                  <a:srgbClr val="262626"/>
                </a:solidFill>
                <a:latin typeface="Arial"/>
              </a:rPr>
              <a:t>•  Corrugated terrain, 80% asphalt / 20% pavement</a:t>
            </a:r>
            <a:r>
              <a:rPr lang="en-US" sz="1050" dirty="0">
                <a:solidFill>
                  <a:srgbClr val="262626"/>
                </a:solidFill>
                <a:latin typeface="Arial"/>
              </a:rPr>
              <a:t>. Some c</a:t>
            </a:r>
            <a:r>
              <a:rPr sz="1050" b="0" i="0" dirty="0">
                <a:solidFill>
                  <a:srgbClr val="262626"/>
                </a:solidFill>
                <a:latin typeface="Arial"/>
              </a:rPr>
              <a:t>obbled sections add </a:t>
            </a:r>
            <a:r>
              <a:rPr lang="en-US" sz="1050" b="0" i="0" dirty="0">
                <a:solidFill>
                  <a:srgbClr val="262626"/>
                </a:solidFill>
                <a:latin typeface="Arial"/>
              </a:rPr>
              <a:t>additional complexity, </a:t>
            </a:r>
            <a:r>
              <a:rPr sz="1050" b="0" i="0" dirty="0">
                <a:solidFill>
                  <a:srgbClr val="262626"/>
                </a:solidFill>
                <a:latin typeface="Arial"/>
              </a:rPr>
              <a:t>check </a:t>
            </a:r>
            <a:r>
              <a:rPr sz="1050" b="0" i="0" dirty="0" err="1">
                <a:solidFill>
                  <a:srgbClr val="262626"/>
                </a:solidFill>
                <a:latin typeface="Arial"/>
              </a:rPr>
              <a:t>tyre</a:t>
            </a:r>
            <a:r>
              <a:rPr sz="1050" b="0" i="0" dirty="0">
                <a:solidFill>
                  <a:srgbClr val="262626"/>
                </a:solidFill>
                <a:latin typeface="Arial"/>
              </a:rPr>
              <a:t> pressure and bottle</a:t>
            </a:r>
            <a:r>
              <a:rPr lang="en-US" sz="1050" b="0" i="0" dirty="0">
                <a:solidFill>
                  <a:srgbClr val="262626"/>
                </a:solidFill>
                <a:latin typeface="Arial"/>
              </a:rPr>
              <a:t>s</a:t>
            </a:r>
            <a:endParaRPr sz="1050" b="0" i="0" dirty="0">
              <a:solidFill>
                <a:srgbClr val="262626"/>
              </a:solidFill>
              <a:latin typeface="Arial"/>
            </a:endParaRPr>
          </a:p>
        </p:txBody>
      </p:sp>
      <p:sp>
        <p:nvSpPr>
          <p:cNvPr id="38" name="TextBox 37"/>
          <p:cNvSpPr txBox="1"/>
          <p:nvPr/>
        </p:nvSpPr>
        <p:spPr>
          <a:xfrm>
            <a:off x="5669280" y="5239512"/>
            <a:ext cx="4293870" cy="415498"/>
          </a:xfrm>
          <a:prstGeom prst="rect">
            <a:avLst/>
          </a:prstGeom>
          <a:noFill/>
        </p:spPr>
        <p:txBody>
          <a:bodyPr wrap="square">
            <a:spAutoFit/>
          </a:bodyPr>
          <a:lstStyle/>
          <a:p>
            <a:pPr algn="l"/>
            <a:r>
              <a:rPr sz="1050" b="0" i="0" dirty="0">
                <a:solidFill>
                  <a:srgbClr val="262626"/>
                </a:solidFill>
                <a:latin typeface="Arial"/>
              </a:rPr>
              <a:t>•  One of the hardest bike courses on the circuit: expect the lead group to shrink substantially rather than a bunch finish</a:t>
            </a:r>
          </a:p>
        </p:txBody>
      </p:sp>
      <p:sp>
        <p:nvSpPr>
          <p:cNvPr id="39" name="TextBox 38"/>
          <p:cNvSpPr txBox="1"/>
          <p:nvPr/>
        </p:nvSpPr>
        <p:spPr>
          <a:xfrm>
            <a:off x="5669280" y="5532120"/>
            <a:ext cx="6126480" cy="310896"/>
          </a:xfrm>
          <a:prstGeom prst="rect">
            <a:avLst/>
          </a:prstGeom>
          <a:noFill/>
        </p:spPr>
        <p:txBody>
          <a:bodyPr wrap="square">
            <a:spAutoFit/>
          </a:bodyPr>
          <a:lstStyle/>
          <a:p>
            <a:pPr algn="l"/>
            <a:r>
              <a:rPr sz="1050" b="0" i="0">
                <a:solidFill>
                  <a:srgbClr val="262626"/>
                </a:solidFill>
                <a:latin typeface="Arial"/>
              </a:rPr>
              <a:t>•  Team wheel station near TA2; neutral wheel station on Nábřeží Osvobození street</a:t>
            </a:r>
          </a:p>
        </p:txBody>
      </p:sp>
      <p:sp>
        <p:nvSpPr>
          <p:cNvPr id="40" name="TextBox 39"/>
          <p:cNvSpPr txBox="1"/>
          <p:nvPr/>
        </p:nvSpPr>
        <p:spPr>
          <a:xfrm>
            <a:off x="5669280" y="5824728"/>
            <a:ext cx="6126480" cy="310896"/>
          </a:xfrm>
          <a:prstGeom prst="rect">
            <a:avLst/>
          </a:prstGeom>
          <a:noFill/>
        </p:spPr>
        <p:txBody>
          <a:bodyPr wrap="square">
            <a:spAutoFit/>
          </a:bodyPr>
          <a:lstStyle/>
          <a:p>
            <a:pPr algn="l"/>
            <a:r>
              <a:rPr sz="1050" b="0" i="0">
                <a:solidFill>
                  <a:srgbClr val="262626"/>
                </a:solidFill>
                <a:latin typeface="Arial"/>
              </a:rPr>
              <a:t>•  Saturday escorted familiarisation covers the approach plus 2 laps, with a regroup at the top of the main climb</a:t>
            </a:r>
          </a:p>
        </p:txBody>
      </p:sp>
      <p:sp>
        <p:nvSpPr>
          <p:cNvPr id="42" name="TextBox 41"/>
          <p:cNvSpPr txBox="1"/>
          <p:nvPr/>
        </p:nvSpPr>
        <p:spPr>
          <a:xfrm>
            <a:off x="274320" y="5577840"/>
            <a:ext cx="11640312" cy="548640"/>
          </a:xfrm>
          <a:prstGeom prst="rect">
            <a:avLst/>
          </a:prstGeom>
          <a:noFill/>
        </p:spPr>
        <p:txBody>
          <a:bodyPr wrap="square">
            <a:spAutoFit/>
          </a:bodyPr>
          <a:lstStyle/>
          <a:p>
            <a:pPr algn="ctr"/>
            <a:r>
              <a:rPr sz="1100" b="0" i="1">
                <a:solidFill>
                  <a:srgbClr val="BFBFBF"/>
                </a:solidFill>
                <a:latin typeface="Arial"/>
              </a:rPr>
              <a:t>Flat course — published profile shows no significant climbs.
No elevation chart synthesized; if a race GPS FIT becomes available, real contours will replace this block.</a:t>
            </a:r>
          </a:p>
        </p:txBody>
      </p:sp>
      <p:pic>
        <p:nvPicPr>
          <p:cNvPr id="46" name="Picture 45">
            <a:extLst>
              <a:ext uri="{FF2B5EF4-FFF2-40B4-BE49-F238E27FC236}">
                <a16:creationId xmlns:a16="http://schemas.microsoft.com/office/drawing/2014/main" id="{550D6A7E-CBEB-1D16-287B-15CD68F29105}"/>
              </a:ext>
            </a:extLst>
          </p:cNvPr>
          <p:cNvPicPr>
            <a:picLocks noChangeAspect="1"/>
          </p:cNvPicPr>
          <p:nvPr/>
        </p:nvPicPr>
        <p:blipFill>
          <a:blip r:embed="rId3"/>
          <a:stretch>
            <a:fillRect/>
          </a:stretch>
        </p:blipFill>
        <p:spPr>
          <a:xfrm>
            <a:off x="81391" y="1036321"/>
            <a:ext cx="5377578" cy="4028440"/>
          </a:xfrm>
          <a:prstGeom prst="rect">
            <a:avLst/>
          </a:prstGeom>
        </p:spPr>
      </p:pic>
      <p:pic>
        <p:nvPicPr>
          <p:cNvPr id="48" name="Picture 47">
            <a:extLst>
              <a:ext uri="{FF2B5EF4-FFF2-40B4-BE49-F238E27FC236}">
                <a16:creationId xmlns:a16="http://schemas.microsoft.com/office/drawing/2014/main" id="{00B2EE39-D8A0-37F0-ABDF-BA72C84854AE}"/>
              </a:ext>
            </a:extLst>
          </p:cNvPr>
          <p:cNvPicPr>
            <a:picLocks noChangeAspect="1"/>
          </p:cNvPicPr>
          <p:nvPr/>
        </p:nvPicPr>
        <p:blipFill>
          <a:blip r:embed="rId4"/>
          <a:stretch>
            <a:fillRect/>
          </a:stretch>
        </p:blipFill>
        <p:spPr>
          <a:xfrm>
            <a:off x="1108202" y="5594349"/>
            <a:ext cx="11080750" cy="1076963"/>
          </a:xfrm>
          <a:prstGeom prst="rect">
            <a:avLst/>
          </a:prstGeom>
        </p:spPr>
      </p:pic>
      <p:pic>
        <p:nvPicPr>
          <p:cNvPr id="52" name="Picture 51">
            <a:extLst>
              <a:ext uri="{FF2B5EF4-FFF2-40B4-BE49-F238E27FC236}">
                <a16:creationId xmlns:a16="http://schemas.microsoft.com/office/drawing/2014/main" id="{92CA7E35-9559-8BB8-5E77-90E3DC2957CB}"/>
              </a:ext>
            </a:extLst>
          </p:cNvPr>
          <p:cNvPicPr>
            <a:picLocks noChangeAspect="1"/>
          </p:cNvPicPr>
          <p:nvPr/>
        </p:nvPicPr>
        <p:blipFill>
          <a:blip r:embed="rId5"/>
          <a:stretch>
            <a:fillRect/>
          </a:stretch>
        </p:blipFill>
        <p:spPr>
          <a:xfrm>
            <a:off x="10162611" y="3700780"/>
            <a:ext cx="1921185" cy="2454033"/>
          </a:xfrm>
          <a:prstGeom prst="rect">
            <a:avLst/>
          </a:prstGeom>
          <a:ln w="28575" cap="sq">
            <a:solidFill>
              <a:srgbClr val="FFC000"/>
            </a:solidFill>
            <a:miter lim="800000"/>
          </a:ln>
          <a:effectLst>
            <a:outerShdw blurRad="57150" dist="50800" dir="2700000" algn="tl" rotWithShape="0">
              <a:srgbClr val="000000">
                <a:alpha val="4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run course map here]
Save the organiser map as:
ppt files/support/karlovy vary_run_course.png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WTCS Karlovy Vary Athletes Guide V5 (city centre)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10.0 km   •   4 × 2.5 km</a:t>
            </a:r>
          </a:p>
        </p:txBody>
      </p:sp>
      <p:sp>
        <p:nvSpPr>
          <p:cNvPr id="13" name="TextBox 12"/>
          <p:cNvSpPr txBox="1"/>
          <p:nvPr/>
        </p:nvSpPr>
        <p:spPr>
          <a:xfrm>
            <a:off x="5577840" y="1636776"/>
            <a:ext cx="6309360" cy="261610"/>
          </a:xfrm>
          <a:prstGeom prst="rect">
            <a:avLst/>
          </a:prstGeom>
          <a:noFill/>
        </p:spPr>
        <p:txBody>
          <a:bodyPr wrap="square">
            <a:spAutoFit/>
          </a:bodyPr>
          <a:lstStyle/>
          <a:p>
            <a:pPr algn="ctr"/>
            <a:r>
              <a:rPr sz="1100" b="0" i="1" dirty="0">
                <a:solidFill>
                  <a:srgbClr val="AABBDD"/>
                </a:solidFill>
                <a:latin typeface="Arial"/>
              </a:rPr>
              <a:t>Mixed asphalt and pavement</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10.0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4 × 2.5 km</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2" name="TextBox 21"/>
          <p:cNvSpPr txBox="1"/>
          <p:nvPr/>
        </p:nvSpPr>
        <p:spPr>
          <a:xfrm>
            <a:off x="9875520" y="2340864"/>
            <a:ext cx="1920240" cy="307777"/>
          </a:xfrm>
          <a:prstGeom prst="rect">
            <a:avLst/>
          </a:prstGeom>
          <a:noFill/>
        </p:spPr>
        <p:txBody>
          <a:bodyPr wrap="square">
            <a:spAutoFit/>
          </a:bodyPr>
          <a:lstStyle/>
          <a:p>
            <a:pPr algn="ctr"/>
            <a:r>
              <a:rPr lang="en-US" sz="1400" b="1" i="0" dirty="0">
                <a:solidFill>
                  <a:srgbClr val="262626"/>
                </a:solidFill>
                <a:latin typeface="Arial"/>
              </a:rPr>
              <a:t>~ 400 ft (100 ft / lap)</a:t>
            </a:r>
            <a:endParaRPr sz="1400" b="1" i="0" dirty="0">
              <a:solidFill>
                <a:srgbClr val="262626"/>
              </a:solidFill>
              <a:latin typeface="Arial"/>
            </a:endParaRP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5" name="TextBox 24"/>
          <p:cNvSpPr txBox="1"/>
          <p:nvPr/>
        </p:nvSpPr>
        <p:spPr>
          <a:xfrm>
            <a:off x="5669280" y="3054096"/>
            <a:ext cx="1920240" cy="307777"/>
          </a:xfrm>
          <a:prstGeom prst="rect">
            <a:avLst/>
          </a:prstGeom>
          <a:noFill/>
        </p:spPr>
        <p:txBody>
          <a:bodyPr wrap="square">
            <a:spAutoFit/>
          </a:bodyPr>
          <a:lstStyle/>
          <a:p>
            <a:pPr algn="ctr"/>
            <a:r>
              <a:rPr lang="en-US" sz="1400" b="1" i="0" dirty="0">
                <a:solidFill>
                  <a:srgbClr val="262626"/>
                </a:solidFill>
                <a:latin typeface="Arial"/>
              </a:rPr>
              <a:t>0-3%</a:t>
            </a:r>
            <a:endParaRPr sz="1400" b="1" i="0" dirty="0">
              <a:solidFill>
                <a:srgbClr val="262626"/>
              </a:solidFill>
              <a:latin typeface="Arial"/>
            </a:endParaRP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LOW</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40"/>
            <a:ext cx="6126480" cy="461665"/>
          </a:xfrm>
          <a:prstGeom prst="rect">
            <a:avLst/>
          </a:prstGeom>
          <a:noFill/>
        </p:spPr>
        <p:txBody>
          <a:bodyPr wrap="square">
            <a:spAutoFit/>
          </a:bodyPr>
          <a:lstStyle/>
          <a:p>
            <a:pPr algn="l"/>
            <a:r>
              <a:rPr sz="1200" b="0" i="0" dirty="0">
                <a:solidFill>
                  <a:srgbClr val="262626"/>
                </a:solidFill>
                <a:latin typeface="Arial"/>
              </a:rPr>
              <a:t>•  4 laps of 2.5 km (10 km) through the Karlovy Vary spa-town </a:t>
            </a:r>
            <a:r>
              <a:rPr sz="1200" b="0" i="0" dirty="0" err="1">
                <a:solidFill>
                  <a:srgbClr val="262626"/>
                </a:solidFill>
                <a:latin typeface="Arial"/>
              </a:rPr>
              <a:t>centre</a:t>
            </a:r>
            <a:r>
              <a:rPr lang="en-US" sz="1200" dirty="0">
                <a:solidFill>
                  <a:srgbClr val="262626"/>
                </a:solidFill>
                <a:latin typeface="Arial"/>
              </a:rPr>
              <a:t>. O</a:t>
            </a:r>
            <a:r>
              <a:rPr sz="1200" b="0" i="0" dirty="0">
                <a:solidFill>
                  <a:srgbClr val="262626"/>
                </a:solidFill>
                <a:latin typeface="Arial"/>
              </a:rPr>
              <a:t>ut of TA2 at Theatre Square</a:t>
            </a:r>
          </a:p>
        </p:txBody>
      </p:sp>
      <p:sp>
        <p:nvSpPr>
          <p:cNvPr id="35" name="TextBox 34"/>
          <p:cNvSpPr txBox="1"/>
          <p:nvPr/>
        </p:nvSpPr>
        <p:spPr>
          <a:xfrm>
            <a:off x="5669280" y="4539747"/>
            <a:ext cx="6126480" cy="276999"/>
          </a:xfrm>
          <a:prstGeom prst="rect">
            <a:avLst/>
          </a:prstGeom>
          <a:noFill/>
        </p:spPr>
        <p:txBody>
          <a:bodyPr wrap="square">
            <a:spAutoFit/>
          </a:bodyPr>
          <a:lstStyle/>
          <a:p>
            <a:pPr algn="l"/>
            <a:r>
              <a:rPr sz="1200" b="0" i="0" dirty="0">
                <a:solidFill>
                  <a:srgbClr val="262626"/>
                </a:solidFill>
                <a:latin typeface="Arial"/>
              </a:rPr>
              <a:t>•  Mixed asphalt and pavement surface</a:t>
            </a:r>
            <a:r>
              <a:rPr lang="en-US" sz="1200" b="0" i="0" dirty="0">
                <a:solidFill>
                  <a:srgbClr val="262626"/>
                </a:solidFill>
                <a:latin typeface="Arial"/>
              </a:rPr>
              <a:t>.</a:t>
            </a:r>
            <a:endParaRPr sz="1200" b="0" i="0" dirty="0">
              <a:solidFill>
                <a:srgbClr val="262626"/>
              </a:solidFill>
              <a:latin typeface="Arial"/>
            </a:endParaRPr>
          </a:p>
        </p:txBody>
      </p:sp>
      <p:sp>
        <p:nvSpPr>
          <p:cNvPr id="38" name="TextBox 37"/>
          <p:cNvSpPr txBox="1"/>
          <p:nvPr/>
        </p:nvSpPr>
        <p:spPr>
          <a:xfrm>
            <a:off x="5669280" y="4917188"/>
            <a:ext cx="6126480" cy="276999"/>
          </a:xfrm>
          <a:prstGeom prst="rect">
            <a:avLst/>
          </a:prstGeom>
          <a:noFill/>
        </p:spPr>
        <p:txBody>
          <a:bodyPr wrap="square">
            <a:spAutoFit/>
          </a:bodyPr>
          <a:lstStyle/>
          <a:p>
            <a:pPr algn="l"/>
            <a:r>
              <a:rPr sz="1200" b="0" i="0" dirty="0">
                <a:solidFill>
                  <a:srgbClr val="262626"/>
                </a:solidFill>
                <a:latin typeface="Arial"/>
              </a:rPr>
              <a:t>•  Mid-September Czech conditions: mild and often cool (historic race-day air 14–27 °C)</a:t>
            </a:r>
          </a:p>
        </p:txBody>
      </p:sp>
      <p:sp>
        <p:nvSpPr>
          <p:cNvPr id="39" name="TextBox 38"/>
          <p:cNvSpPr txBox="1"/>
          <p:nvPr/>
        </p:nvSpPr>
        <p:spPr>
          <a:xfrm>
            <a:off x="5669280" y="5212080"/>
            <a:ext cx="6126480" cy="461665"/>
          </a:xfrm>
          <a:prstGeom prst="rect">
            <a:avLst/>
          </a:prstGeom>
          <a:noFill/>
        </p:spPr>
        <p:txBody>
          <a:bodyPr wrap="square">
            <a:spAutoFit/>
          </a:bodyPr>
          <a:lstStyle/>
          <a:p>
            <a:pPr algn="l"/>
            <a:r>
              <a:rPr sz="1200" b="0" i="0" dirty="0">
                <a:solidFill>
                  <a:srgbClr val="262626"/>
                </a:solidFill>
                <a:latin typeface="Arial"/>
              </a:rPr>
              <a:t>•  After a brutally selective bike, the run is usually contested by a much-reduced front group</a:t>
            </a:r>
          </a:p>
        </p:txBody>
      </p:sp>
      <p:pic>
        <p:nvPicPr>
          <p:cNvPr id="43" name="Picture 42">
            <a:extLst>
              <a:ext uri="{FF2B5EF4-FFF2-40B4-BE49-F238E27FC236}">
                <a16:creationId xmlns:a16="http://schemas.microsoft.com/office/drawing/2014/main" id="{91AC8677-0D4A-8CBA-5F11-D82946F871F3}"/>
              </a:ext>
            </a:extLst>
          </p:cNvPr>
          <p:cNvPicPr>
            <a:picLocks noChangeAspect="1"/>
          </p:cNvPicPr>
          <p:nvPr/>
        </p:nvPicPr>
        <p:blipFill>
          <a:blip r:embed="rId3"/>
          <a:stretch>
            <a:fillRect/>
          </a:stretch>
        </p:blipFill>
        <p:spPr>
          <a:xfrm>
            <a:off x="210510" y="1144966"/>
            <a:ext cx="5184450" cy="4494916"/>
          </a:xfrm>
          <a:prstGeom prst="rect">
            <a:avLst/>
          </a:prstGeom>
        </p:spPr>
      </p:pic>
      <p:pic>
        <p:nvPicPr>
          <p:cNvPr id="45" name="Picture 44">
            <a:extLst>
              <a:ext uri="{FF2B5EF4-FFF2-40B4-BE49-F238E27FC236}">
                <a16:creationId xmlns:a16="http://schemas.microsoft.com/office/drawing/2014/main" id="{6A22314E-B7DA-DD27-1404-0314260B378A}"/>
              </a:ext>
            </a:extLst>
          </p:cNvPr>
          <p:cNvPicPr>
            <a:picLocks noChangeAspect="1"/>
          </p:cNvPicPr>
          <p:nvPr/>
        </p:nvPicPr>
        <p:blipFill>
          <a:blip r:embed="rId4"/>
          <a:stretch>
            <a:fillRect/>
          </a:stretch>
        </p:blipFill>
        <p:spPr>
          <a:xfrm>
            <a:off x="628650" y="5677408"/>
            <a:ext cx="10706099" cy="10037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Race-Day Weather Outlook</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dirty="0">
                <a:solidFill>
                  <a:srgbClr val="002060"/>
                </a:solidFill>
                <a:latin typeface="Arial"/>
              </a:rPr>
              <a:t>2026-09-13   •   </a:t>
            </a:r>
            <a:r>
              <a:rPr sz="1200" b="1" i="0">
                <a:solidFill>
                  <a:srgbClr val="002060"/>
                </a:solidFill>
                <a:latin typeface="Arial"/>
              </a:rPr>
              <a:t>Historical climatology</a:t>
            </a:r>
            <a:r>
              <a:rPr lang="en-US" sz="1200" b="1" i="0">
                <a:solidFill>
                  <a:srgbClr val="002060"/>
                </a:solidFill>
                <a:latin typeface="Arial"/>
              </a:rPr>
              <a:t> (</a:t>
            </a:r>
            <a:r>
              <a:rPr sz="1200" b="1" i="0">
                <a:solidFill>
                  <a:srgbClr val="002060"/>
                </a:solidFill>
                <a:latin typeface="Arial"/>
              </a:rPr>
              <a:t>same </a:t>
            </a:r>
            <a:r>
              <a:rPr sz="1200" b="1" i="0" dirty="0">
                <a:solidFill>
                  <a:srgbClr val="002060"/>
                </a:solidFill>
                <a:latin typeface="Arial"/>
              </a:rPr>
              <a:t>calendar day, </a:t>
            </a:r>
            <a:r>
              <a:rPr sz="1200" b="1" i="0">
                <a:solidFill>
                  <a:srgbClr val="002060"/>
                </a:solidFill>
                <a:latin typeface="Arial"/>
              </a:rPr>
              <a:t>7-year mean</a:t>
            </a:r>
            <a:r>
              <a:rPr lang="en-US" sz="1200" b="1" i="0">
                <a:solidFill>
                  <a:srgbClr val="002060"/>
                </a:solidFill>
                <a:latin typeface="Arial"/>
              </a:rPr>
              <a:t>)</a:t>
            </a:r>
            <a:endParaRPr sz="1200" b="1" i="0" dirty="0">
              <a:solidFill>
                <a:srgbClr val="002060"/>
              </a:solidFill>
              <a:latin typeface="Arial"/>
            </a:endParaRPr>
          </a:p>
        </p:txBody>
      </p:sp>
      <p:pic>
        <p:nvPicPr>
          <p:cNvPr id="10" name="Picture 9" descr="image.png"/>
          <p:cNvPicPr>
            <a:picLocks noChangeAspect="1"/>
          </p:cNvPicPr>
          <p:nvPr/>
        </p:nvPicPr>
        <p:blipFill>
          <a:blip r:embed="rId3"/>
          <a:stretch>
            <a:fillRect/>
          </a:stretch>
        </p:blipFill>
        <p:spPr>
          <a:xfrm>
            <a:off x="274320" y="1600200"/>
            <a:ext cx="7040880" cy="3108960"/>
          </a:xfrm>
          <a:prstGeom prst="rect">
            <a:avLst/>
          </a:prstGeom>
        </p:spPr>
      </p:pic>
      <p:sp>
        <p:nvSpPr>
          <p:cNvPr id="11" name="Rectangle 10"/>
          <p:cNvSpPr/>
          <p:nvPr/>
        </p:nvSpPr>
        <p:spPr>
          <a:xfrm>
            <a:off x="7498079" y="16459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19" y="1682496"/>
            <a:ext cx="4233672" cy="246888"/>
          </a:xfrm>
          <a:prstGeom prst="rect">
            <a:avLst/>
          </a:prstGeom>
          <a:noFill/>
        </p:spPr>
        <p:txBody>
          <a:bodyPr wrap="square">
            <a:spAutoFit/>
          </a:bodyPr>
          <a:lstStyle/>
          <a:p>
            <a:pPr algn="ctr"/>
            <a:r>
              <a:rPr sz="1100" b="1" i="0">
                <a:solidFill>
                  <a:srgbClr val="FFFFFF"/>
                </a:solidFill>
                <a:latin typeface="Arial"/>
              </a:rPr>
              <a:t>Elite Women — 10:00</a:t>
            </a:r>
          </a:p>
        </p:txBody>
      </p:sp>
      <p:sp>
        <p:nvSpPr>
          <p:cNvPr id="13" name="Rectangle 12"/>
          <p:cNvSpPr/>
          <p:nvPr/>
        </p:nvSpPr>
        <p:spPr>
          <a:xfrm>
            <a:off x="7516367"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34655" y="20391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15" name="TextBox 14"/>
          <p:cNvSpPr txBox="1"/>
          <p:nvPr/>
        </p:nvSpPr>
        <p:spPr>
          <a:xfrm>
            <a:off x="7534655" y="2212848"/>
            <a:ext cx="1399032" cy="310896"/>
          </a:xfrm>
          <a:prstGeom prst="rect">
            <a:avLst/>
          </a:prstGeom>
          <a:noFill/>
        </p:spPr>
        <p:txBody>
          <a:bodyPr wrap="square">
            <a:spAutoFit/>
          </a:bodyPr>
          <a:lstStyle/>
          <a:p>
            <a:pPr algn="ctr"/>
            <a:r>
              <a:rPr sz="1200" b="1" i="0">
                <a:solidFill>
                  <a:srgbClr val="262626"/>
                </a:solidFill>
                <a:latin typeface="Arial"/>
              </a:rPr>
              <a:t>18.0 °C</a:t>
            </a:r>
          </a:p>
        </p:txBody>
      </p:sp>
      <p:sp>
        <p:nvSpPr>
          <p:cNvPr id="16" name="Rectangle 15"/>
          <p:cNvSpPr/>
          <p:nvPr/>
        </p:nvSpPr>
        <p:spPr>
          <a:xfrm>
            <a:off x="8988551"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06839" y="20391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18" name="TextBox 17"/>
          <p:cNvSpPr txBox="1"/>
          <p:nvPr/>
        </p:nvSpPr>
        <p:spPr>
          <a:xfrm>
            <a:off x="9006839" y="2212848"/>
            <a:ext cx="1399032" cy="310896"/>
          </a:xfrm>
          <a:prstGeom prst="rect">
            <a:avLst/>
          </a:prstGeom>
          <a:noFill/>
        </p:spPr>
        <p:txBody>
          <a:bodyPr wrap="square">
            <a:spAutoFit/>
          </a:bodyPr>
          <a:lstStyle/>
          <a:p>
            <a:pPr algn="ctr"/>
            <a:r>
              <a:rPr sz="1200" b="1" i="0">
                <a:solidFill>
                  <a:srgbClr val="262626"/>
                </a:solidFill>
                <a:latin typeface="Arial"/>
              </a:rPr>
              <a:t>17.2 °C</a:t>
            </a:r>
          </a:p>
        </p:txBody>
      </p:sp>
      <p:sp>
        <p:nvSpPr>
          <p:cNvPr id="19" name="Rectangle 18"/>
          <p:cNvSpPr/>
          <p:nvPr/>
        </p:nvSpPr>
        <p:spPr>
          <a:xfrm>
            <a:off x="10460735"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79023" y="20391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21" name="TextBox 20"/>
          <p:cNvSpPr txBox="1"/>
          <p:nvPr/>
        </p:nvSpPr>
        <p:spPr>
          <a:xfrm>
            <a:off x="10479023" y="2212848"/>
            <a:ext cx="1399032" cy="310896"/>
          </a:xfrm>
          <a:prstGeom prst="rect">
            <a:avLst/>
          </a:prstGeom>
          <a:noFill/>
        </p:spPr>
        <p:txBody>
          <a:bodyPr wrap="square">
            <a:spAutoFit/>
          </a:bodyPr>
          <a:lstStyle/>
          <a:p>
            <a:pPr algn="ctr"/>
            <a:r>
              <a:rPr sz="1200" b="1" i="0">
                <a:solidFill>
                  <a:srgbClr val="262626"/>
                </a:solidFill>
                <a:latin typeface="Arial"/>
              </a:rPr>
              <a:t>69%</a:t>
            </a:r>
          </a:p>
        </p:txBody>
      </p:sp>
      <p:sp>
        <p:nvSpPr>
          <p:cNvPr id="22" name="Rectangle 21"/>
          <p:cNvSpPr/>
          <p:nvPr/>
        </p:nvSpPr>
        <p:spPr>
          <a:xfrm>
            <a:off x="7516367"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34655" y="26060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24" name="TextBox 23"/>
          <p:cNvSpPr txBox="1"/>
          <p:nvPr/>
        </p:nvSpPr>
        <p:spPr>
          <a:xfrm>
            <a:off x="7534655" y="2779776"/>
            <a:ext cx="1399032" cy="310896"/>
          </a:xfrm>
          <a:prstGeom prst="rect">
            <a:avLst/>
          </a:prstGeom>
          <a:noFill/>
        </p:spPr>
        <p:txBody>
          <a:bodyPr wrap="square">
            <a:spAutoFit/>
          </a:bodyPr>
          <a:lstStyle/>
          <a:p>
            <a:pPr algn="ctr"/>
            <a:r>
              <a:rPr sz="1200" b="1" i="0">
                <a:solidFill>
                  <a:srgbClr val="262626"/>
                </a:solidFill>
                <a:latin typeface="Arial"/>
              </a:rPr>
              <a:t>11.1 km/h</a:t>
            </a:r>
          </a:p>
        </p:txBody>
      </p:sp>
      <p:sp>
        <p:nvSpPr>
          <p:cNvPr id="25" name="Rectangle 24"/>
          <p:cNvSpPr/>
          <p:nvPr/>
        </p:nvSpPr>
        <p:spPr>
          <a:xfrm>
            <a:off x="8988551"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06839" y="26060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27" name="TextBox 26"/>
          <p:cNvSpPr txBox="1"/>
          <p:nvPr/>
        </p:nvSpPr>
        <p:spPr>
          <a:xfrm>
            <a:off x="9006839" y="2779776"/>
            <a:ext cx="1399032" cy="310896"/>
          </a:xfrm>
          <a:prstGeom prst="rect">
            <a:avLst/>
          </a:prstGeom>
          <a:noFill/>
        </p:spPr>
        <p:txBody>
          <a:bodyPr wrap="square">
            <a:spAutoFit/>
          </a:bodyPr>
          <a:lstStyle/>
          <a:p>
            <a:pPr algn="ctr"/>
            <a:r>
              <a:rPr sz="1200" b="1" i="0">
                <a:solidFill>
                  <a:srgbClr val="262626"/>
                </a:solidFill>
                <a:latin typeface="Arial"/>
              </a:rPr>
              <a:t>—</a:t>
            </a:r>
          </a:p>
        </p:txBody>
      </p:sp>
      <p:sp>
        <p:nvSpPr>
          <p:cNvPr id="28" name="Rectangle 27"/>
          <p:cNvSpPr/>
          <p:nvPr/>
        </p:nvSpPr>
        <p:spPr>
          <a:xfrm>
            <a:off x="10460735"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479023" y="26060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30" name="TextBox 29"/>
          <p:cNvSpPr txBox="1"/>
          <p:nvPr/>
        </p:nvSpPr>
        <p:spPr>
          <a:xfrm>
            <a:off x="10479023" y="2779776"/>
            <a:ext cx="1399032" cy="310896"/>
          </a:xfrm>
          <a:prstGeom prst="rect">
            <a:avLst/>
          </a:prstGeom>
          <a:noFill/>
        </p:spPr>
        <p:txBody>
          <a:bodyPr wrap="square">
            <a:spAutoFit/>
          </a:bodyPr>
          <a:lstStyle/>
          <a:p>
            <a:pPr algn="ctr"/>
            <a:r>
              <a:rPr sz="1200" b="1" i="0">
                <a:solidFill>
                  <a:srgbClr val="1B7F3A"/>
                </a:solidFill>
                <a:latin typeface="Arial"/>
              </a:rPr>
              <a:t>LOW</a:t>
            </a:r>
          </a:p>
        </p:txBody>
      </p:sp>
      <p:sp>
        <p:nvSpPr>
          <p:cNvPr id="31" name="Rectangle 30"/>
          <p:cNvSpPr/>
          <p:nvPr/>
        </p:nvSpPr>
        <p:spPr>
          <a:xfrm>
            <a:off x="7498079" y="32461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19" y="3282696"/>
            <a:ext cx="4233672" cy="246888"/>
          </a:xfrm>
          <a:prstGeom prst="rect">
            <a:avLst/>
          </a:prstGeom>
          <a:noFill/>
        </p:spPr>
        <p:txBody>
          <a:bodyPr wrap="square">
            <a:spAutoFit/>
          </a:bodyPr>
          <a:lstStyle/>
          <a:p>
            <a:pPr algn="ctr"/>
            <a:r>
              <a:rPr sz="1100" b="1" i="0">
                <a:solidFill>
                  <a:srgbClr val="FFFFFF"/>
                </a:solidFill>
                <a:latin typeface="Arial"/>
              </a:rPr>
              <a:t>Elite Men — 15:00</a:t>
            </a:r>
          </a:p>
        </p:txBody>
      </p:sp>
      <p:sp>
        <p:nvSpPr>
          <p:cNvPr id="33" name="Rectangle 32"/>
          <p:cNvSpPr/>
          <p:nvPr/>
        </p:nvSpPr>
        <p:spPr>
          <a:xfrm>
            <a:off x="7516367"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34655" y="36393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35" name="TextBox 34"/>
          <p:cNvSpPr txBox="1"/>
          <p:nvPr/>
        </p:nvSpPr>
        <p:spPr>
          <a:xfrm>
            <a:off x="7534655" y="3813048"/>
            <a:ext cx="1399032" cy="310896"/>
          </a:xfrm>
          <a:prstGeom prst="rect">
            <a:avLst/>
          </a:prstGeom>
          <a:noFill/>
        </p:spPr>
        <p:txBody>
          <a:bodyPr wrap="square">
            <a:spAutoFit/>
          </a:bodyPr>
          <a:lstStyle/>
          <a:p>
            <a:pPr algn="ctr"/>
            <a:r>
              <a:rPr sz="1200" b="1" i="0">
                <a:solidFill>
                  <a:srgbClr val="262626"/>
                </a:solidFill>
                <a:latin typeface="Arial"/>
              </a:rPr>
              <a:t>20.1 °C</a:t>
            </a:r>
          </a:p>
        </p:txBody>
      </p:sp>
      <p:sp>
        <p:nvSpPr>
          <p:cNvPr id="36" name="Rectangle 35"/>
          <p:cNvSpPr/>
          <p:nvPr/>
        </p:nvSpPr>
        <p:spPr>
          <a:xfrm>
            <a:off x="8988551"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06839" y="36393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38" name="TextBox 37"/>
          <p:cNvSpPr txBox="1"/>
          <p:nvPr/>
        </p:nvSpPr>
        <p:spPr>
          <a:xfrm>
            <a:off x="9006839" y="3813048"/>
            <a:ext cx="1399032" cy="310896"/>
          </a:xfrm>
          <a:prstGeom prst="rect">
            <a:avLst/>
          </a:prstGeom>
          <a:noFill/>
        </p:spPr>
        <p:txBody>
          <a:bodyPr wrap="square">
            <a:spAutoFit/>
          </a:bodyPr>
          <a:lstStyle/>
          <a:p>
            <a:pPr algn="ctr"/>
            <a:r>
              <a:rPr sz="1200" b="1" i="0">
                <a:solidFill>
                  <a:srgbClr val="262626"/>
                </a:solidFill>
                <a:latin typeface="Arial"/>
              </a:rPr>
              <a:t>18.9 °C</a:t>
            </a:r>
          </a:p>
        </p:txBody>
      </p:sp>
      <p:sp>
        <p:nvSpPr>
          <p:cNvPr id="39" name="Rectangle 38"/>
          <p:cNvSpPr/>
          <p:nvPr/>
        </p:nvSpPr>
        <p:spPr>
          <a:xfrm>
            <a:off x="10460735"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479023" y="36393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41" name="TextBox 40"/>
          <p:cNvSpPr txBox="1"/>
          <p:nvPr/>
        </p:nvSpPr>
        <p:spPr>
          <a:xfrm>
            <a:off x="10479023" y="3813048"/>
            <a:ext cx="1399032" cy="310896"/>
          </a:xfrm>
          <a:prstGeom prst="rect">
            <a:avLst/>
          </a:prstGeom>
          <a:noFill/>
        </p:spPr>
        <p:txBody>
          <a:bodyPr wrap="square">
            <a:spAutoFit/>
          </a:bodyPr>
          <a:lstStyle/>
          <a:p>
            <a:pPr algn="ctr"/>
            <a:r>
              <a:rPr sz="1200" b="1" i="0">
                <a:solidFill>
                  <a:srgbClr val="262626"/>
                </a:solidFill>
                <a:latin typeface="Arial"/>
              </a:rPr>
              <a:t>59%</a:t>
            </a:r>
          </a:p>
        </p:txBody>
      </p:sp>
      <p:sp>
        <p:nvSpPr>
          <p:cNvPr id="42" name="Rectangle 41"/>
          <p:cNvSpPr/>
          <p:nvPr/>
        </p:nvSpPr>
        <p:spPr>
          <a:xfrm>
            <a:off x="7516367"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34655" y="42062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44" name="TextBox 43"/>
          <p:cNvSpPr txBox="1"/>
          <p:nvPr/>
        </p:nvSpPr>
        <p:spPr>
          <a:xfrm>
            <a:off x="7534655" y="4379976"/>
            <a:ext cx="1399032" cy="310896"/>
          </a:xfrm>
          <a:prstGeom prst="rect">
            <a:avLst/>
          </a:prstGeom>
          <a:noFill/>
        </p:spPr>
        <p:txBody>
          <a:bodyPr wrap="square">
            <a:spAutoFit/>
          </a:bodyPr>
          <a:lstStyle/>
          <a:p>
            <a:pPr algn="ctr"/>
            <a:r>
              <a:rPr sz="1200" b="1" i="0">
                <a:solidFill>
                  <a:srgbClr val="262626"/>
                </a:solidFill>
                <a:latin typeface="Arial"/>
              </a:rPr>
              <a:t>11.9 km/h</a:t>
            </a:r>
          </a:p>
        </p:txBody>
      </p:sp>
      <p:sp>
        <p:nvSpPr>
          <p:cNvPr id="45" name="Rectangle 44"/>
          <p:cNvSpPr/>
          <p:nvPr/>
        </p:nvSpPr>
        <p:spPr>
          <a:xfrm>
            <a:off x="8988551"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06839" y="42062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47" name="TextBox 46"/>
          <p:cNvSpPr txBox="1"/>
          <p:nvPr/>
        </p:nvSpPr>
        <p:spPr>
          <a:xfrm>
            <a:off x="9006839" y="4379976"/>
            <a:ext cx="1399032" cy="310896"/>
          </a:xfrm>
          <a:prstGeom prst="rect">
            <a:avLst/>
          </a:prstGeom>
          <a:noFill/>
        </p:spPr>
        <p:txBody>
          <a:bodyPr wrap="square">
            <a:spAutoFit/>
          </a:bodyPr>
          <a:lstStyle/>
          <a:p>
            <a:pPr algn="ctr"/>
            <a:r>
              <a:rPr sz="1200" b="1" i="0">
                <a:solidFill>
                  <a:srgbClr val="262626"/>
                </a:solidFill>
                <a:latin typeface="Arial"/>
              </a:rPr>
              <a:t>—</a:t>
            </a:r>
          </a:p>
        </p:txBody>
      </p:sp>
      <p:sp>
        <p:nvSpPr>
          <p:cNvPr id="48" name="Rectangle 47"/>
          <p:cNvSpPr/>
          <p:nvPr/>
        </p:nvSpPr>
        <p:spPr>
          <a:xfrm>
            <a:off x="10460735"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479023" y="42062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50" name="TextBox 49"/>
          <p:cNvSpPr txBox="1"/>
          <p:nvPr/>
        </p:nvSpPr>
        <p:spPr>
          <a:xfrm>
            <a:off x="10479023" y="4379976"/>
            <a:ext cx="1399032" cy="310896"/>
          </a:xfrm>
          <a:prstGeom prst="rect">
            <a:avLst/>
          </a:prstGeom>
          <a:noFill/>
        </p:spPr>
        <p:txBody>
          <a:bodyPr wrap="square">
            <a:spAutoFit/>
          </a:bodyPr>
          <a:lstStyle/>
          <a:p>
            <a:pPr algn="ctr"/>
            <a:r>
              <a:rPr sz="1200" b="1" i="0">
                <a:solidFill>
                  <a:srgbClr val="1B7F3A"/>
                </a:solidFill>
                <a:latin typeface="Arial"/>
              </a:rPr>
              <a:t>LOW</a:t>
            </a:r>
          </a:p>
        </p:txBody>
      </p:sp>
      <p:sp>
        <p:nvSpPr>
          <p:cNvPr id="51" name="Rectangle 50"/>
          <p:cNvSpPr/>
          <p:nvPr/>
        </p:nvSpPr>
        <p:spPr>
          <a:xfrm>
            <a:off x="274320" y="4846320"/>
            <a:ext cx="11640312"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73752"/>
            <a:ext cx="11430000" cy="237744"/>
          </a:xfrm>
          <a:prstGeom prst="rect">
            <a:avLst/>
          </a:prstGeom>
          <a:noFill/>
        </p:spPr>
        <p:txBody>
          <a:bodyPr wrap="square">
            <a:spAutoFit/>
          </a:bodyPr>
          <a:lstStyle/>
          <a:p>
            <a:pPr algn="l"/>
            <a:r>
              <a:rPr sz="1200" b="1" i="0">
                <a:solidFill>
                  <a:srgbClr val="FFFFFF"/>
                </a:solidFill>
                <a:latin typeface="Arial"/>
              </a:rPr>
              <a:t>Hydration &amp; Cooling Cues</a:t>
            </a:r>
          </a:p>
        </p:txBody>
      </p:sp>
      <p:sp>
        <p:nvSpPr>
          <p:cNvPr id="53" name="TextBox 52"/>
          <p:cNvSpPr txBox="1"/>
          <p:nvPr/>
        </p:nvSpPr>
        <p:spPr>
          <a:xfrm>
            <a:off x="365760" y="5212080"/>
            <a:ext cx="11430000" cy="253916"/>
          </a:xfrm>
          <a:prstGeom prst="rect">
            <a:avLst/>
          </a:prstGeom>
          <a:noFill/>
        </p:spPr>
        <p:txBody>
          <a:bodyPr wrap="square">
            <a:spAutoFit/>
          </a:bodyPr>
          <a:lstStyle/>
          <a:p>
            <a:pPr algn="l"/>
            <a:r>
              <a:rPr sz="1050" b="0" i="0" dirty="0">
                <a:solidFill>
                  <a:srgbClr val="262626"/>
                </a:solidFill>
                <a:latin typeface="Arial"/>
              </a:rPr>
              <a:t>•  Cool to mild outlook</a:t>
            </a:r>
            <a:r>
              <a:rPr lang="en-US" sz="1050" dirty="0">
                <a:solidFill>
                  <a:srgbClr val="262626"/>
                </a:solidFill>
                <a:latin typeface="Arial"/>
              </a:rPr>
              <a:t>. S</a:t>
            </a:r>
            <a:r>
              <a:rPr sz="1050" b="0" i="0" dirty="0">
                <a:solidFill>
                  <a:srgbClr val="262626"/>
                </a:solidFill>
                <a:latin typeface="Arial"/>
              </a:rPr>
              <a:t>tandard fluid plan (~500 ml/h)</a:t>
            </a:r>
          </a:p>
        </p:txBody>
      </p:sp>
      <p:sp>
        <p:nvSpPr>
          <p:cNvPr id="54" name="TextBox 53"/>
          <p:cNvSpPr txBox="1"/>
          <p:nvPr/>
        </p:nvSpPr>
        <p:spPr>
          <a:xfrm>
            <a:off x="365760" y="5504688"/>
            <a:ext cx="11430000" cy="253916"/>
          </a:xfrm>
          <a:prstGeom prst="rect">
            <a:avLst/>
          </a:prstGeom>
          <a:noFill/>
        </p:spPr>
        <p:txBody>
          <a:bodyPr wrap="square">
            <a:spAutoFit/>
          </a:bodyPr>
          <a:lstStyle/>
          <a:p>
            <a:pPr algn="l"/>
            <a:r>
              <a:rPr sz="1050" b="0" i="0" dirty="0">
                <a:solidFill>
                  <a:srgbClr val="262626"/>
                </a:solidFill>
                <a:latin typeface="Arial"/>
              </a:rPr>
              <a:t>•  Men's race runs 2.1 °C hotter than women’s</a:t>
            </a:r>
            <a:r>
              <a:rPr lang="en-US" sz="1050" dirty="0">
                <a:solidFill>
                  <a:srgbClr val="262626"/>
                </a:solidFill>
                <a:latin typeface="Arial"/>
              </a:rPr>
              <a:t>. </a:t>
            </a:r>
            <a:r>
              <a:rPr lang="en-US" sz="1050" b="0" i="0" dirty="0">
                <a:solidFill>
                  <a:srgbClr val="262626"/>
                </a:solidFill>
                <a:latin typeface="Arial"/>
              </a:rPr>
              <a:t>H</a:t>
            </a:r>
            <a:r>
              <a:rPr sz="1050" b="0" i="0" dirty="0">
                <a:solidFill>
                  <a:srgbClr val="262626"/>
                </a:solidFill>
                <a:latin typeface="Arial"/>
              </a:rPr>
              <a:t>eavier cooling kit</a:t>
            </a:r>
            <a:r>
              <a:rPr lang="en-US" sz="1050" b="0" i="0" dirty="0">
                <a:solidFill>
                  <a:srgbClr val="262626"/>
                </a:solidFill>
                <a:latin typeface="Arial"/>
              </a:rPr>
              <a:t> may be required</a:t>
            </a:r>
            <a:r>
              <a:rPr sz="1050" b="0" i="0" dirty="0">
                <a:solidFill>
                  <a:srgbClr val="262626"/>
                </a:solidFill>
                <a:latin typeface="Arial"/>
              </a:rPr>
              <a:t> for the 15:00 start</a:t>
            </a:r>
          </a:p>
        </p:txBody>
      </p:sp>
      <p:sp>
        <p:nvSpPr>
          <p:cNvPr id="55" name="TextBox 54"/>
          <p:cNvSpPr txBox="1"/>
          <p:nvPr/>
        </p:nvSpPr>
        <p:spPr>
          <a:xfrm>
            <a:off x="274320" y="6446520"/>
            <a:ext cx="11640312" cy="228600"/>
          </a:xfrm>
          <a:prstGeom prst="rect">
            <a:avLst/>
          </a:prstGeom>
          <a:noFill/>
        </p:spPr>
        <p:txBody>
          <a:bodyPr wrap="square">
            <a:spAutoFit/>
          </a:bodyPr>
          <a:lstStyle/>
          <a:p>
            <a:pPr algn="ctr"/>
            <a:r>
              <a:rPr sz="900" b="0" i="1" dirty="0">
                <a:solidFill>
                  <a:srgbClr val="BFBFBF"/>
                </a:solidFill>
                <a:latin typeface="Arial"/>
              </a:rPr>
              <a:t>Data source: Open-</a:t>
            </a:r>
            <a:r>
              <a:rPr sz="900" b="0" i="1" dirty="0" err="1">
                <a:solidFill>
                  <a:srgbClr val="BFBFBF"/>
                </a:solidFill>
                <a:latin typeface="Arial"/>
              </a:rPr>
              <a:t>Meteo</a:t>
            </a:r>
            <a:r>
              <a:rPr sz="900" b="0" i="1" dirty="0">
                <a:solidFill>
                  <a:srgbClr val="BFBFBF"/>
                </a:solidFill>
                <a:latin typeface="Arial"/>
              </a:rPr>
              <a:t>. Historical Race Conditions slide shows what actually happened in prior years.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Travel &amp; Arrival Load</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Denver, CO to Karlovy Vary race week</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960120"/>
          </a:xfrm>
          <a:prstGeom prst="rect">
            <a:avLst/>
          </a:prstGeom>
          <a:solidFill>
            <a:srgbClr val="E9EFF9"/>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Core travel read</a:t>
            </a:r>
          </a:p>
        </p:txBody>
      </p:sp>
      <p:sp>
        <p:nvSpPr>
          <p:cNvPr id="10" name="TextBox 9"/>
          <p:cNvSpPr txBox="1"/>
          <p:nvPr/>
        </p:nvSpPr>
        <p:spPr>
          <a:xfrm>
            <a:off x="457200" y="1444752"/>
            <a:ext cx="11247120" cy="415498"/>
          </a:xfrm>
          <a:prstGeom prst="rect">
            <a:avLst/>
          </a:prstGeom>
          <a:noFill/>
        </p:spPr>
        <p:txBody>
          <a:bodyPr wrap="square">
            <a:spAutoFit/>
          </a:bodyPr>
          <a:lstStyle/>
          <a:p>
            <a:pPr algn="ctr"/>
            <a:r>
              <a:rPr sz="1050" b="0" i="0" dirty="0">
                <a:solidFill>
                  <a:srgbClr val="262626"/>
                </a:solidFill>
                <a:latin typeface="Arial"/>
              </a:rPr>
              <a:t>Fly Denver to Prague (PRG)</a:t>
            </a:r>
            <a:r>
              <a:rPr lang="en-US" sz="1050" b="0" i="0" dirty="0">
                <a:solidFill>
                  <a:srgbClr val="262626"/>
                </a:solidFill>
                <a:latin typeface="Arial"/>
              </a:rPr>
              <a:t>. </a:t>
            </a:r>
            <a:r>
              <a:rPr lang="en-US" sz="1050" dirty="0">
                <a:solidFill>
                  <a:srgbClr val="262626"/>
                </a:solidFill>
                <a:latin typeface="Arial"/>
              </a:rPr>
              <a:t>R</a:t>
            </a:r>
            <a:r>
              <a:rPr sz="1050" b="0" i="0" dirty="0">
                <a:solidFill>
                  <a:srgbClr val="262626"/>
                </a:solidFill>
                <a:latin typeface="Arial"/>
              </a:rPr>
              <a:t>oughly 13–15 h door-to-door and a +8 h shift (MDT to CEST)</a:t>
            </a:r>
            <a:r>
              <a:rPr lang="en-US" sz="1050" b="0" i="0" dirty="0">
                <a:solidFill>
                  <a:srgbClr val="262626"/>
                </a:solidFill>
                <a:latin typeface="Arial"/>
              </a:rPr>
              <a:t>. </a:t>
            </a:r>
            <a:r>
              <a:rPr sz="1050" b="0" i="0" dirty="0">
                <a:solidFill>
                  <a:srgbClr val="262626"/>
                </a:solidFill>
                <a:latin typeface="Arial"/>
              </a:rPr>
              <a:t>From Prague it is a ~2 h ground transfer to Karlovy Vary (~125 km). The LOC provides a FREE bus transfer for elite athletes and coaches (bike included)</a:t>
            </a:r>
            <a:r>
              <a:rPr lang="en-US" sz="1050" b="0" i="0" dirty="0">
                <a:solidFill>
                  <a:srgbClr val="262626"/>
                </a:solidFill>
                <a:latin typeface="Arial"/>
              </a:rPr>
              <a:t>, </a:t>
            </a:r>
            <a:r>
              <a:rPr sz="1050" b="0" i="0" dirty="0">
                <a:solidFill>
                  <a:srgbClr val="262626"/>
                </a:solidFill>
                <a:latin typeface="Arial"/>
              </a:rPr>
              <a:t>but you must email flight</a:t>
            </a:r>
            <a:r>
              <a:rPr lang="en-US" sz="1050" b="0" i="0" dirty="0">
                <a:solidFill>
                  <a:srgbClr val="262626"/>
                </a:solidFill>
                <a:latin typeface="Arial"/>
              </a:rPr>
              <a:t>s </a:t>
            </a:r>
            <a:r>
              <a:rPr sz="1050" b="0" i="0" dirty="0">
                <a:solidFill>
                  <a:srgbClr val="262626"/>
                </a:solidFill>
                <a:latin typeface="Arial"/>
              </a:rPr>
              <a:t>to transfer@citytriathlon.cz before 31 Aug 2026 or it becomes 20 EUR</a:t>
            </a:r>
            <a:r>
              <a:rPr lang="en-US" sz="1050" dirty="0">
                <a:solidFill>
                  <a:srgbClr val="262626"/>
                </a:solidFill>
                <a:latin typeface="Arial"/>
              </a:rPr>
              <a:t> a </a:t>
            </a:r>
            <a:r>
              <a:rPr sz="1050" b="0" i="0" dirty="0">
                <a:solidFill>
                  <a:srgbClr val="262626"/>
                </a:solidFill>
                <a:latin typeface="Arial"/>
              </a:rPr>
              <a:t>person each way. </a:t>
            </a:r>
          </a:p>
        </p:txBody>
      </p:sp>
      <p:sp>
        <p:nvSpPr>
          <p:cNvPr id="11" name="Rectangle 10"/>
          <p:cNvSpPr/>
          <p:nvPr/>
        </p:nvSpPr>
        <p:spPr>
          <a:xfrm>
            <a:off x="274320"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2286000"/>
            <a:ext cx="2072030" cy="201168"/>
          </a:xfrm>
          <a:prstGeom prst="rect">
            <a:avLst/>
          </a:prstGeom>
          <a:noFill/>
        </p:spPr>
        <p:txBody>
          <a:bodyPr wrap="square">
            <a:spAutoFit/>
          </a:bodyPr>
          <a:lstStyle/>
          <a:p>
            <a:pPr algn="ctr"/>
            <a:r>
              <a:rPr sz="1000" b="1" i="0">
                <a:solidFill>
                  <a:srgbClr val="002060"/>
                </a:solidFill>
                <a:latin typeface="Arial"/>
              </a:rPr>
              <a:t>Primary route</a:t>
            </a:r>
          </a:p>
        </p:txBody>
      </p:sp>
      <p:sp>
        <p:nvSpPr>
          <p:cNvPr id="13" name="TextBox 12"/>
          <p:cNvSpPr txBox="1"/>
          <p:nvPr/>
        </p:nvSpPr>
        <p:spPr>
          <a:xfrm>
            <a:off x="347472" y="2496312"/>
            <a:ext cx="2072030" cy="292608"/>
          </a:xfrm>
          <a:prstGeom prst="rect">
            <a:avLst/>
          </a:prstGeom>
          <a:noFill/>
        </p:spPr>
        <p:txBody>
          <a:bodyPr wrap="square">
            <a:spAutoFit/>
          </a:bodyPr>
          <a:lstStyle/>
          <a:p>
            <a:pPr algn="ctr"/>
            <a:r>
              <a:rPr sz="1400" b="1" i="0">
                <a:solidFill>
                  <a:srgbClr val="262626"/>
                </a:solidFill>
                <a:latin typeface="Arial"/>
              </a:rPr>
              <a:t>DEN → PRG</a:t>
            </a:r>
          </a:p>
        </p:txBody>
      </p:sp>
      <p:sp>
        <p:nvSpPr>
          <p:cNvPr id="14" name="TextBox 13"/>
          <p:cNvSpPr txBox="1"/>
          <p:nvPr/>
        </p:nvSpPr>
        <p:spPr>
          <a:xfrm>
            <a:off x="347472" y="2807208"/>
            <a:ext cx="2072030" cy="256032"/>
          </a:xfrm>
          <a:prstGeom prst="rect">
            <a:avLst/>
          </a:prstGeom>
          <a:noFill/>
        </p:spPr>
        <p:txBody>
          <a:bodyPr wrap="square">
            <a:spAutoFit/>
          </a:bodyPr>
          <a:lstStyle/>
          <a:p>
            <a:pPr algn="ctr"/>
            <a:r>
              <a:rPr sz="900" b="0" i="1">
                <a:solidFill>
                  <a:srgbClr val="BFBFBF"/>
                </a:solidFill>
                <a:latin typeface="Arial"/>
              </a:rPr>
              <a:t>1-stop, overnight</a:t>
            </a:r>
          </a:p>
        </p:txBody>
      </p:sp>
      <p:sp>
        <p:nvSpPr>
          <p:cNvPr id="15" name="Rectangle 14"/>
          <p:cNvSpPr/>
          <p:nvPr/>
        </p:nvSpPr>
        <p:spPr>
          <a:xfrm>
            <a:off x="2629814"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02966" y="2286000"/>
            <a:ext cx="2072030" cy="201168"/>
          </a:xfrm>
          <a:prstGeom prst="rect">
            <a:avLst/>
          </a:prstGeom>
          <a:noFill/>
        </p:spPr>
        <p:txBody>
          <a:bodyPr wrap="square">
            <a:spAutoFit/>
          </a:bodyPr>
          <a:lstStyle/>
          <a:p>
            <a:pPr algn="ctr"/>
            <a:r>
              <a:rPr sz="1000" b="1" i="0">
                <a:solidFill>
                  <a:srgbClr val="002060"/>
                </a:solidFill>
                <a:latin typeface="Arial"/>
              </a:rPr>
              <a:t>Flight time</a:t>
            </a:r>
          </a:p>
        </p:txBody>
      </p:sp>
      <p:sp>
        <p:nvSpPr>
          <p:cNvPr id="17" name="TextBox 16"/>
          <p:cNvSpPr txBox="1"/>
          <p:nvPr/>
        </p:nvSpPr>
        <p:spPr>
          <a:xfrm>
            <a:off x="2702966" y="2496312"/>
            <a:ext cx="2072030" cy="292608"/>
          </a:xfrm>
          <a:prstGeom prst="rect">
            <a:avLst/>
          </a:prstGeom>
          <a:noFill/>
        </p:spPr>
        <p:txBody>
          <a:bodyPr wrap="square">
            <a:spAutoFit/>
          </a:bodyPr>
          <a:lstStyle/>
          <a:p>
            <a:pPr algn="ctr"/>
            <a:r>
              <a:rPr sz="1400" b="1" i="0">
                <a:solidFill>
                  <a:srgbClr val="262626"/>
                </a:solidFill>
                <a:latin typeface="Arial"/>
              </a:rPr>
              <a:t>~13–15 h</a:t>
            </a:r>
          </a:p>
        </p:txBody>
      </p:sp>
      <p:sp>
        <p:nvSpPr>
          <p:cNvPr id="18" name="TextBox 17"/>
          <p:cNvSpPr txBox="1"/>
          <p:nvPr/>
        </p:nvSpPr>
        <p:spPr>
          <a:xfrm>
            <a:off x="2702966" y="2807208"/>
            <a:ext cx="2072030" cy="256032"/>
          </a:xfrm>
          <a:prstGeom prst="rect">
            <a:avLst/>
          </a:prstGeom>
          <a:noFill/>
        </p:spPr>
        <p:txBody>
          <a:bodyPr wrap="square">
            <a:spAutoFit/>
          </a:bodyPr>
          <a:lstStyle/>
          <a:p>
            <a:pPr algn="ctr"/>
            <a:r>
              <a:rPr sz="900" b="0" i="1">
                <a:solidFill>
                  <a:srgbClr val="BFBFBF"/>
                </a:solidFill>
                <a:latin typeface="Arial"/>
              </a:rPr>
              <a:t>via LHR / FRA / AMS</a:t>
            </a:r>
          </a:p>
        </p:txBody>
      </p:sp>
      <p:sp>
        <p:nvSpPr>
          <p:cNvPr id="19" name="Rectangle 18"/>
          <p:cNvSpPr/>
          <p:nvPr/>
        </p:nvSpPr>
        <p:spPr>
          <a:xfrm>
            <a:off x="4985308"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58460" y="2286000"/>
            <a:ext cx="2072030" cy="201168"/>
          </a:xfrm>
          <a:prstGeom prst="rect">
            <a:avLst/>
          </a:prstGeom>
          <a:noFill/>
        </p:spPr>
        <p:txBody>
          <a:bodyPr wrap="square">
            <a:spAutoFit/>
          </a:bodyPr>
          <a:lstStyle/>
          <a:p>
            <a:pPr algn="ctr"/>
            <a:r>
              <a:rPr sz="1000" b="1" i="0">
                <a:solidFill>
                  <a:srgbClr val="002060"/>
                </a:solidFill>
                <a:latin typeface="Arial"/>
              </a:rPr>
              <a:t>Time zones</a:t>
            </a:r>
          </a:p>
        </p:txBody>
      </p:sp>
      <p:sp>
        <p:nvSpPr>
          <p:cNvPr id="21" name="TextBox 20"/>
          <p:cNvSpPr txBox="1"/>
          <p:nvPr/>
        </p:nvSpPr>
        <p:spPr>
          <a:xfrm>
            <a:off x="5058460" y="2496312"/>
            <a:ext cx="2072030" cy="292608"/>
          </a:xfrm>
          <a:prstGeom prst="rect">
            <a:avLst/>
          </a:prstGeom>
          <a:noFill/>
        </p:spPr>
        <p:txBody>
          <a:bodyPr wrap="square">
            <a:spAutoFit/>
          </a:bodyPr>
          <a:lstStyle/>
          <a:p>
            <a:pPr algn="ctr"/>
            <a:r>
              <a:rPr sz="1400" b="1" i="0">
                <a:solidFill>
                  <a:srgbClr val="262626"/>
                </a:solidFill>
                <a:latin typeface="Arial"/>
              </a:rPr>
              <a:t>+8 h</a:t>
            </a:r>
          </a:p>
        </p:txBody>
      </p:sp>
      <p:sp>
        <p:nvSpPr>
          <p:cNvPr id="22" name="TextBox 21"/>
          <p:cNvSpPr txBox="1"/>
          <p:nvPr/>
        </p:nvSpPr>
        <p:spPr>
          <a:xfrm>
            <a:off x="5058460" y="2807208"/>
            <a:ext cx="2072030" cy="256032"/>
          </a:xfrm>
          <a:prstGeom prst="rect">
            <a:avLst/>
          </a:prstGeom>
          <a:noFill/>
        </p:spPr>
        <p:txBody>
          <a:bodyPr wrap="square">
            <a:spAutoFit/>
          </a:bodyPr>
          <a:lstStyle/>
          <a:p>
            <a:pPr algn="ctr"/>
            <a:r>
              <a:rPr sz="900" b="0" i="1">
                <a:solidFill>
                  <a:srgbClr val="BFBFBF"/>
                </a:solidFill>
                <a:latin typeface="Arial"/>
              </a:rPr>
              <a:t>Czechia ahead of Denver</a:t>
            </a:r>
          </a:p>
        </p:txBody>
      </p:sp>
      <p:sp>
        <p:nvSpPr>
          <p:cNvPr id="23" name="Rectangle 22"/>
          <p:cNvSpPr/>
          <p:nvPr/>
        </p:nvSpPr>
        <p:spPr>
          <a:xfrm>
            <a:off x="7340803"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13955" y="2286000"/>
            <a:ext cx="2072030" cy="201168"/>
          </a:xfrm>
          <a:prstGeom prst="rect">
            <a:avLst/>
          </a:prstGeom>
          <a:noFill/>
        </p:spPr>
        <p:txBody>
          <a:bodyPr wrap="square">
            <a:spAutoFit/>
          </a:bodyPr>
          <a:lstStyle/>
          <a:p>
            <a:pPr algn="ctr"/>
            <a:r>
              <a:rPr sz="1000" b="1" i="0">
                <a:solidFill>
                  <a:srgbClr val="002060"/>
                </a:solidFill>
                <a:latin typeface="Arial"/>
              </a:rPr>
              <a:t>Airport Transfer</a:t>
            </a:r>
          </a:p>
        </p:txBody>
      </p:sp>
      <p:sp>
        <p:nvSpPr>
          <p:cNvPr id="25" name="TextBox 24"/>
          <p:cNvSpPr txBox="1"/>
          <p:nvPr/>
        </p:nvSpPr>
        <p:spPr>
          <a:xfrm>
            <a:off x="7413955" y="2496312"/>
            <a:ext cx="2072030" cy="292608"/>
          </a:xfrm>
          <a:prstGeom prst="rect">
            <a:avLst/>
          </a:prstGeom>
          <a:noFill/>
        </p:spPr>
        <p:txBody>
          <a:bodyPr wrap="square">
            <a:spAutoFit/>
          </a:bodyPr>
          <a:lstStyle/>
          <a:p>
            <a:pPr algn="ctr"/>
            <a:r>
              <a:rPr sz="1400" b="1" i="0">
                <a:solidFill>
                  <a:srgbClr val="262626"/>
                </a:solidFill>
                <a:latin typeface="Arial"/>
              </a:rPr>
              <a:t>PRG → Karlovy Vary</a:t>
            </a:r>
          </a:p>
        </p:txBody>
      </p:sp>
      <p:sp>
        <p:nvSpPr>
          <p:cNvPr id="26" name="TextBox 25"/>
          <p:cNvSpPr txBox="1"/>
          <p:nvPr/>
        </p:nvSpPr>
        <p:spPr>
          <a:xfrm>
            <a:off x="7413955" y="2807208"/>
            <a:ext cx="2072030" cy="256032"/>
          </a:xfrm>
          <a:prstGeom prst="rect">
            <a:avLst/>
          </a:prstGeom>
          <a:noFill/>
        </p:spPr>
        <p:txBody>
          <a:bodyPr wrap="square">
            <a:spAutoFit/>
          </a:bodyPr>
          <a:lstStyle/>
          <a:p>
            <a:pPr algn="ctr"/>
            <a:r>
              <a:rPr sz="900" b="0" i="1">
                <a:solidFill>
                  <a:srgbClr val="BFBFBF"/>
                </a:solidFill>
                <a:latin typeface="Arial"/>
              </a:rPr>
              <a:t>Free LOC bus (register!)</a:t>
            </a:r>
          </a:p>
        </p:txBody>
      </p:sp>
      <p:sp>
        <p:nvSpPr>
          <p:cNvPr id="27" name="Rectangle 26"/>
          <p:cNvSpPr/>
          <p:nvPr/>
        </p:nvSpPr>
        <p:spPr>
          <a:xfrm>
            <a:off x="9696297"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69449" y="2286000"/>
            <a:ext cx="2072030" cy="201168"/>
          </a:xfrm>
          <a:prstGeom prst="rect">
            <a:avLst/>
          </a:prstGeom>
          <a:noFill/>
        </p:spPr>
        <p:txBody>
          <a:bodyPr wrap="square">
            <a:spAutoFit/>
          </a:bodyPr>
          <a:lstStyle/>
          <a:p>
            <a:pPr algn="ctr"/>
            <a:r>
              <a:rPr sz="1000" b="1" i="0">
                <a:solidFill>
                  <a:srgbClr val="002060"/>
                </a:solidFill>
                <a:latin typeface="Arial"/>
              </a:rPr>
              <a:t>Transfer Distance</a:t>
            </a:r>
          </a:p>
        </p:txBody>
      </p:sp>
      <p:sp>
        <p:nvSpPr>
          <p:cNvPr id="29" name="TextBox 28"/>
          <p:cNvSpPr txBox="1"/>
          <p:nvPr/>
        </p:nvSpPr>
        <p:spPr>
          <a:xfrm>
            <a:off x="9769449" y="2496312"/>
            <a:ext cx="2072030" cy="292608"/>
          </a:xfrm>
          <a:prstGeom prst="rect">
            <a:avLst/>
          </a:prstGeom>
          <a:noFill/>
        </p:spPr>
        <p:txBody>
          <a:bodyPr wrap="square">
            <a:spAutoFit/>
          </a:bodyPr>
          <a:lstStyle/>
          <a:p>
            <a:pPr algn="ctr"/>
            <a:r>
              <a:rPr sz="1400" b="1" i="0">
                <a:solidFill>
                  <a:srgbClr val="262626"/>
                </a:solidFill>
                <a:latin typeface="Arial"/>
              </a:rPr>
              <a:t>~125 km / ~2 h</a:t>
            </a:r>
          </a:p>
        </p:txBody>
      </p:sp>
      <p:sp>
        <p:nvSpPr>
          <p:cNvPr id="30" name="TextBox 29"/>
          <p:cNvSpPr txBox="1"/>
          <p:nvPr/>
        </p:nvSpPr>
        <p:spPr>
          <a:xfrm>
            <a:off x="9769449" y="2807208"/>
            <a:ext cx="2072030" cy="256032"/>
          </a:xfrm>
          <a:prstGeom prst="rect">
            <a:avLst/>
          </a:prstGeom>
          <a:noFill/>
        </p:spPr>
        <p:txBody>
          <a:bodyPr wrap="square">
            <a:spAutoFit/>
          </a:bodyPr>
          <a:lstStyle/>
          <a:p>
            <a:pPr algn="ctr"/>
            <a:r>
              <a:rPr sz="900" b="0" i="1">
                <a:solidFill>
                  <a:srgbClr val="BFBFBF"/>
                </a:solidFill>
                <a:latin typeface="Arial"/>
              </a:rPr>
              <a:t>Coach transfer</a:t>
            </a:r>
          </a:p>
        </p:txBody>
      </p:sp>
      <p:sp>
        <p:nvSpPr>
          <p:cNvPr id="31" name="Rectangle 30"/>
          <p:cNvSpPr/>
          <p:nvPr/>
        </p:nvSpPr>
        <p:spPr>
          <a:xfrm>
            <a:off x="2743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3401568"/>
            <a:ext cx="5394960" cy="292608"/>
          </a:xfrm>
          <a:prstGeom prst="rect">
            <a:avLst/>
          </a:prstGeom>
          <a:noFill/>
        </p:spPr>
        <p:txBody>
          <a:bodyPr wrap="square">
            <a:spAutoFit/>
          </a:bodyPr>
          <a:lstStyle/>
          <a:p>
            <a:pPr algn="ctr"/>
            <a:r>
              <a:rPr sz="1300" b="1" i="0">
                <a:solidFill>
                  <a:srgbClr val="002060"/>
                </a:solidFill>
                <a:latin typeface="Arial"/>
              </a:rPr>
              <a:t>Accommodation / Venue Logistics Read</a:t>
            </a:r>
          </a:p>
        </p:txBody>
      </p:sp>
      <p:sp>
        <p:nvSpPr>
          <p:cNvPr id="33" name="TextBox 32"/>
          <p:cNvSpPr txBox="1"/>
          <p:nvPr/>
        </p:nvSpPr>
        <p:spPr>
          <a:xfrm>
            <a:off x="438912" y="3749040"/>
            <a:ext cx="5340096" cy="246221"/>
          </a:xfrm>
          <a:prstGeom prst="rect">
            <a:avLst/>
          </a:prstGeom>
          <a:noFill/>
        </p:spPr>
        <p:txBody>
          <a:bodyPr wrap="square">
            <a:spAutoFit/>
          </a:bodyPr>
          <a:lstStyle/>
          <a:p>
            <a:pPr algn="l"/>
            <a:r>
              <a:rPr sz="1000" b="0" i="0" dirty="0">
                <a:solidFill>
                  <a:srgbClr val="262626"/>
                </a:solidFill>
                <a:latin typeface="Arial"/>
              </a:rPr>
              <a:t>•  Briefing is at the Spa Hotel Thermal (Sat 12 Sep, 16:00–16:30)</a:t>
            </a:r>
          </a:p>
        </p:txBody>
      </p:sp>
      <p:sp>
        <p:nvSpPr>
          <p:cNvPr id="34" name="TextBox 33"/>
          <p:cNvSpPr txBox="1"/>
          <p:nvPr/>
        </p:nvSpPr>
        <p:spPr>
          <a:xfrm>
            <a:off x="438912" y="4015486"/>
            <a:ext cx="5340096" cy="329184"/>
          </a:xfrm>
          <a:prstGeom prst="rect">
            <a:avLst/>
          </a:prstGeom>
          <a:noFill/>
        </p:spPr>
        <p:txBody>
          <a:bodyPr wrap="square">
            <a:spAutoFit/>
          </a:bodyPr>
          <a:lstStyle/>
          <a:p>
            <a:pPr algn="l"/>
            <a:r>
              <a:rPr sz="1000" b="0" i="0" dirty="0">
                <a:solidFill>
                  <a:srgbClr val="262626"/>
                </a:solidFill>
                <a:latin typeface="Arial"/>
              </a:rPr>
              <a:t>•  FREE LOC bus PRG to Karlovy Vary: email arrival time + flight number to transfer@citytriathlon.cz before 31 Aug 2026.</a:t>
            </a:r>
          </a:p>
        </p:txBody>
      </p:sp>
      <p:sp>
        <p:nvSpPr>
          <p:cNvPr id="35" name="TextBox 34"/>
          <p:cNvSpPr txBox="1"/>
          <p:nvPr/>
        </p:nvSpPr>
        <p:spPr>
          <a:xfrm>
            <a:off x="438912" y="4370832"/>
            <a:ext cx="5340096" cy="329184"/>
          </a:xfrm>
          <a:prstGeom prst="rect">
            <a:avLst/>
          </a:prstGeom>
          <a:noFill/>
        </p:spPr>
        <p:txBody>
          <a:bodyPr wrap="square">
            <a:spAutoFit/>
          </a:bodyPr>
          <a:lstStyle/>
          <a:p>
            <a:pPr algn="l"/>
            <a:r>
              <a:rPr sz="1000" b="0" i="0" dirty="0">
                <a:solidFill>
                  <a:srgbClr val="262626"/>
                </a:solidFill>
                <a:latin typeface="Arial"/>
              </a:rPr>
              <a:t>•  Private LOC transfer if you miss the deadline: 140 EUR for 1–3 people, 180 EUR for 4–7. Extra escort staff 20 EUR per person per journey.</a:t>
            </a:r>
          </a:p>
        </p:txBody>
      </p:sp>
      <p:sp>
        <p:nvSpPr>
          <p:cNvPr id="36" name="TextBox 35"/>
          <p:cNvSpPr txBox="1"/>
          <p:nvPr/>
        </p:nvSpPr>
        <p:spPr>
          <a:xfrm>
            <a:off x="438912" y="4732528"/>
            <a:ext cx="5340096" cy="400110"/>
          </a:xfrm>
          <a:prstGeom prst="rect">
            <a:avLst/>
          </a:prstGeom>
          <a:noFill/>
        </p:spPr>
        <p:txBody>
          <a:bodyPr wrap="square">
            <a:spAutoFit/>
          </a:bodyPr>
          <a:lstStyle/>
          <a:p>
            <a:pPr algn="l"/>
            <a:r>
              <a:rPr sz="1000" b="0" i="0" dirty="0">
                <a:solidFill>
                  <a:srgbClr val="262626"/>
                </a:solidFill>
                <a:latin typeface="Arial"/>
              </a:rPr>
              <a:t>•  Race-weekend shuttle runs between </a:t>
            </a:r>
            <a:r>
              <a:rPr sz="1000" b="0" i="0" dirty="0" err="1">
                <a:solidFill>
                  <a:srgbClr val="262626"/>
                </a:solidFill>
                <a:latin typeface="Arial"/>
              </a:rPr>
              <a:t>Divadelní</a:t>
            </a:r>
            <a:r>
              <a:rPr sz="1000" b="0" i="0" dirty="0">
                <a:solidFill>
                  <a:srgbClr val="262626"/>
                </a:solidFill>
                <a:latin typeface="Arial"/>
              </a:rPr>
              <a:t> </a:t>
            </a:r>
            <a:r>
              <a:rPr sz="1000" b="0" i="0" dirty="0" err="1">
                <a:solidFill>
                  <a:srgbClr val="262626"/>
                </a:solidFill>
                <a:latin typeface="Arial"/>
              </a:rPr>
              <a:t>náměstí</a:t>
            </a:r>
            <a:r>
              <a:rPr sz="1000" b="0" i="0" dirty="0">
                <a:solidFill>
                  <a:srgbClr val="262626"/>
                </a:solidFill>
                <a:latin typeface="Arial"/>
              </a:rPr>
              <a:t> (T2) and Lake </a:t>
            </a:r>
            <a:r>
              <a:rPr sz="1000" b="0" i="0" dirty="0" err="1">
                <a:solidFill>
                  <a:srgbClr val="262626"/>
                </a:solidFill>
                <a:latin typeface="Arial"/>
              </a:rPr>
              <a:t>Rolava</a:t>
            </a:r>
            <a:r>
              <a:rPr sz="1000" b="0" i="0" dirty="0">
                <a:solidFill>
                  <a:srgbClr val="262626"/>
                </a:solidFill>
                <a:latin typeface="Arial"/>
              </a:rPr>
              <a:t> (T1)</a:t>
            </a:r>
            <a:r>
              <a:rPr lang="en-US" sz="1000" b="0" i="0" dirty="0">
                <a:solidFill>
                  <a:srgbClr val="262626"/>
                </a:solidFill>
                <a:latin typeface="Arial"/>
              </a:rPr>
              <a:t>. </a:t>
            </a:r>
            <a:r>
              <a:rPr lang="en-US" sz="1000" dirty="0">
                <a:solidFill>
                  <a:srgbClr val="262626"/>
                </a:solidFill>
                <a:latin typeface="Arial"/>
              </a:rPr>
              <a:t>A</a:t>
            </a:r>
            <a:r>
              <a:rPr sz="1000" b="0" i="0" dirty="0">
                <a:solidFill>
                  <a:srgbClr val="262626"/>
                </a:solidFill>
                <a:latin typeface="Arial"/>
              </a:rPr>
              <a:t>bout 20 min, with a funicular link at the Imperial stop.</a:t>
            </a:r>
          </a:p>
        </p:txBody>
      </p:sp>
      <p:sp>
        <p:nvSpPr>
          <p:cNvPr id="37" name="TextBox 36"/>
          <p:cNvSpPr txBox="1"/>
          <p:nvPr/>
        </p:nvSpPr>
        <p:spPr>
          <a:xfrm>
            <a:off x="438912" y="5075174"/>
            <a:ext cx="5340096" cy="246221"/>
          </a:xfrm>
          <a:prstGeom prst="rect">
            <a:avLst/>
          </a:prstGeom>
          <a:noFill/>
        </p:spPr>
        <p:txBody>
          <a:bodyPr wrap="square">
            <a:spAutoFit/>
          </a:bodyPr>
          <a:lstStyle/>
          <a:p>
            <a:pPr algn="l"/>
            <a:r>
              <a:rPr sz="1000" b="0" i="0" dirty="0">
                <a:solidFill>
                  <a:srgbClr val="262626"/>
                </a:solidFill>
                <a:latin typeface="Arial"/>
              </a:rPr>
              <a:t>•  Two-transition race: TA2 checks in first (city), then TA1 at the lake.</a:t>
            </a:r>
          </a:p>
        </p:txBody>
      </p:sp>
      <p:sp>
        <p:nvSpPr>
          <p:cNvPr id="38" name="TextBox 37"/>
          <p:cNvSpPr txBox="1"/>
          <p:nvPr/>
        </p:nvSpPr>
        <p:spPr>
          <a:xfrm>
            <a:off x="438912" y="5303520"/>
            <a:ext cx="5340096" cy="400110"/>
          </a:xfrm>
          <a:prstGeom prst="rect">
            <a:avLst/>
          </a:prstGeom>
          <a:noFill/>
        </p:spPr>
        <p:txBody>
          <a:bodyPr wrap="square">
            <a:spAutoFit/>
          </a:bodyPr>
          <a:lstStyle/>
          <a:p>
            <a:pPr algn="l"/>
            <a:r>
              <a:rPr sz="1000" b="0" i="0" dirty="0">
                <a:solidFill>
                  <a:srgbClr val="262626"/>
                </a:solidFill>
                <a:latin typeface="Arial"/>
              </a:rPr>
              <a:t>•  Free daily 2 h pool access at Mattoni </a:t>
            </a:r>
            <a:r>
              <a:rPr sz="1000" b="0" i="0" dirty="0" err="1">
                <a:solidFill>
                  <a:srgbClr val="262626"/>
                </a:solidFill>
                <a:latin typeface="Arial"/>
              </a:rPr>
              <a:t>Aréna</a:t>
            </a:r>
            <a:r>
              <a:rPr sz="1000" b="0" i="0" dirty="0">
                <a:solidFill>
                  <a:srgbClr val="262626"/>
                </a:solidFill>
                <a:latin typeface="Arial"/>
              </a:rPr>
              <a:t> and run track at AC Start stadium</a:t>
            </a:r>
            <a:r>
              <a:rPr lang="en-US" sz="1000" b="0" i="0" dirty="0">
                <a:solidFill>
                  <a:srgbClr val="262626"/>
                </a:solidFill>
                <a:latin typeface="Arial"/>
              </a:rPr>
              <a:t>. B</a:t>
            </a:r>
            <a:r>
              <a:rPr sz="1000" b="0" i="0" dirty="0">
                <a:solidFill>
                  <a:srgbClr val="262626"/>
                </a:solidFill>
                <a:latin typeface="Arial"/>
              </a:rPr>
              <a:t>ring photo ID.</a:t>
            </a:r>
          </a:p>
        </p:txBody>
      </p:sp>
      <p:sp>
        <p:nvSpPr>
          <p:cNvPr id="39" name="Rectangle 38"/>
          <p:cNvSpPr/>
          <p:nvPr/>
        </p:nvSpPr>
        <p:spPr>
          <a:xfrm>
            <a:off x="62179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55080" y="3401568"/>
            <a:ext cx="5394960" cy="292608"/>
          </a:xfrm>
          <a:prstGeom prst="rect">
            <a:avLst/>
          </a:prstGeom>
          <a:noFill/>
        </p:spPr>
        <p:txBody>
          <a:bodyPr wrap="square">
            <a:spAutoFit/>
          </a:bodyPr>
          <a:lstStyle/>
          <a:p>
            <a:pPr algn="ctr"/>
            <a:r>
              <a:rPr sz="1300" b="1" i="0">
                <a:solidFill>
                  <a:srgbClr val="002060"/>
                </a:solidFill>
                <a:latin typeface="Arial"/>
              </a:rPr>
              <a:t>Food / Grocery Options</a:t>
            </a:r>
          </a:p>
        </p:txBody>
      </p:sp>
      <p:sp>
        <p:nvSpPr>
          <p:cNvPr id="41" name="TextBox 40"/>
          <p:cNvSpPr txBox="1"/>
          <p:nvPr/>
        </p:nvSpPr>
        <p:spPr>
          <a:xfrm>
            <a:off x="6382512" y="3749040"/>
            <a:ext cx="5340096" cy="400110"/>
          </a:xfrm>
          <a:prstGeom prst="rect">
            <a:avLst/>
          </a:prstGeom>
          <a:noFill/>
        </p:spPr>
        <p:txBody>
          <a:bodyPr wrap="square">
            <a:spAutoFit/>
          </a:bodyPr>
          <a:lstStyle/>
          <a:p>
            <a:pPr algn="l"/>
            <a:r>
              <a:rPr sz="1000" b="0" i="0" dirty="0">
                <a:solidFill>
                  <a:srgbClr val="262626"/>
                </a:solidFill>
                <a:latin typeface="Arial"/>
              </a:rPr>
              <a:t>•  Karlovy Vary is a compact spa town</a:t>
            </a:r>
            <a:r>
              <a:rPr lang="en-US" sz="1000" dirty="0">
                <a:solidFill>
                  <a:srgbClr val="262626"/>
                </a:solidFill>
                <a:latin typeface="Arial"/>
              </a:rPr>
              <a:t>. S</a:t>
            </a:r>
            <a:r>
              <a:rPr sz="1000" b="0" i="0" dirty="0">
                <a:solidFill>
                  <a:srgbClr val="262626"/>
                </a:solidFill>
                <a:latin typeface="Arial"/>
              </a:rPr>
              <a:t>upermarkets (Billa, Albert, Lidl, Tesco) are an easy walk or short bus from the </a:t>
            </a:r>
            <a:r>
              <a:rPr sz="1000" b="0" i="0" dirty="0" err="1">
                <a:solidFill>
                  <a:srgbClr val="262626"/>
                </a:solidFill>
                <a:latin typeface="Arial"/>
              </a:rPr>
              <a:t>centre</a:t>
            </a:r>
            <a:r>
              <a:rPr sz="1000" b="0" i="0" dirty="0">
                <a:solidFill>
                  <a:srgbClr val="262626"/>
                </a:solidFill>
                <a:latin typeface="Arial"/>
              </a:rPr>
              <a:t>.</a:t>
            </a:r>
          </a:p>
        </p:txBody>
      </p:sp>
      <p:sp>
        <p:nvSpPr>
          <p:cNvPr id="42" name="TextBox 41"/>
          <p:cNvSpPr txBox="1"/>
          <p:nvPr/>
        </p:nvSpPr>
        <p:spPr>
          <a:xfrm>
            <a:off x="6382512" y="4187210"/>
            <a:ext cx="5340096" cy="400110"/>
          </a:xfrm>
          <a:prstGeom prst="rect">
            <a:avLst/>
          </a:prstGeom>
          <a:noFill/>
        </p:spPr>
        <p:txBody>
          <a:bodyPr wrap="square">
            <a:spAutoFit/>
          </a:bodyPr>
          <a:lstStyle/>
          <a:p>
            <a:pPr algn="l"/>
            <a:r>
              <a:rPr sz="1000" b="0" i="0" dirty="0">
                <a:solidFill>
                  <a:srgbClr val="262626"/>
                </a:solidFill>
                <a:latin typeface="Arial"/>
              </a:rPr>
              <a:t>•  Tap water is safe throughout Czechia; the town's famous mineral springs are drinkable but heavily minerali</a:t>
            </a:r>
            <a:r>
              <a:rPr lang="en-US" sz="1000" b="0" i="0" dirty="0">
                <a:solidFill>
                  <a:srgbClr val="262626"/>
                </a:solidFill>
                <a:latin typeface="Arial"/>
              </a:rPr>
              <a:t>z</a:t>
            </a:r>
            <a:r>
              <a:rPr sz="1000" b="0" i="0" dirty="0">
                <a:solidFill>
                  <a:srgbClr val="262626"/>
                </a:solidFill>
                <a:latin typeface="Arial"/>
              </a:rPr>
              <a:t>ed</a:t>
            </a:r>
            <a:r>
              <a:rPr lang="en-US" sz="1000" dirty="0">
                <a:solidFill>
                  <a:srgbClr val="262626"/>
                </a:solidFill>
                <a:latin typeface="Arial"/>
              </a:rPr>
              <a:t>. Do n</a:t>
            </a:r>
            <a:r>
              <a:rPr sz="1000" b="0" i="0" dirty="0">
                <a:solidFill>
                  <a:srgbClr val="262626"/>
                </a:solidFill>
                <a:latin typeface="Arial"/>
              </a:rPr>
              <a:t>ot </a:t>
            </a:r>
            <a:r>
              <a:rPr lang="en-US" sz="1000" b="0" i="0" dirty="0">
                <a:solidFill>
                  <a:srgbClr val="262626"/>
                </a:solidFill>
                <a:latin typeface="Arial"/>
              </a:rPr>
              <a:t>utilize prior to the race.</a:t>
            </a:r>
            <a:endParaRPr sz="1000" b="0" i="0" dirty="0">
              <a:solidFill>
                <a:srgbClr val="262626"/>
              </a:solidFill>
              <a:latin typeface="Arial"/>
            </a:endParaRPr>
          </a:p>
        </p:txBody>
      </p:sp>
      <p:sp>
        <p:nvSpPr>
          <p:cNvPr id="43" name="TextBox 42"/>
          <p:cNvSpPr txBox="1"/>
          <p:nvPr/>
        </p:nvSpPr>
        <p:spPr>
          <a:xfrm>
            <a:off x="6382512" y="4625380"/>
            <a:ext cx="5340096" cy="400110"/>
          </a:xfrm>
          <a:prstGeom prst="rect">
            <a:avLst/>
          </a:prstGeom>
          <a:noFill/>
        </p:spPr>
        <p:txBody>
          <a:bodyPr wrap="square">
            <a:spAutoFit/>
          </a:bodyPr>
          <a:lstStyle/>
          <a:p>
            <a:pPr algn="l"/>
            <a:r>
              <a:rPr sz="1000" b="0" i="0" dirty="0">
                <a:solidFill>
                  <a:srgbClr val="262626"/>
                </a:solidFill>
                <a:latin typeface="Arial"/>
              </a:rPr>
              <a:t>•  Czech restaurant staples run heavy (dumplings, pork, sauces)</a:t>
            </a:r>
            <a:r>
              <a:rPr lang="en-US" sz="1000" b="0" i="0" dirty="0">
                <a:solidFill>
                  <a:srgbClr val="262626"/>
                </a:solidFill>
                <a:latin typeface="Arial"/>
              </a:rPr>
              <a:t>. </a:t>
            </a:r>
            <a:r>
              <a:rPr lang="en-US" sz="1000" dirty="0">
                <a:solidFill>
                  <a:srgbClr val="262626"/>
                </a:solidFill>
                <a:latin typeface="Arial"/>
              </a:rPr>
              <a:t>I</a:t>
            </a:r>
            <a:r>
              <a:rPr sz="1000" b="0" i="0" dirty="0">
                <a:solidFill>
                  <a:srgbClr val="262626"/>
                </a:solidFill>
                <a:latin typeface="Arial"/>
              </a:rPr>
              <a:t>dentify a couple of lighter pasta-and-rice options early in the week.</a:t>
            </a:r>
          </a:p>
        </p:txBody>
      </p:sp>
      <p:sp>
        <p:nvSpPr>
          <p:cNvPr id="45" name="TextBox 44"/>
          <p:cNvSpPr txBox="1"/>
          <p:nvPr/>
        </p:nvSpPr>
        <p:spPr>
          <a:xfrm>
            <a:off x="6382512" y="4992624"/>
            <a:ext cx="5340096" cy="400110"/>
          </a:xfrm>
          <a:prstGeom prst="rect">
            <a:avLst/>
          </a:prstGeom>
          <a:noFill/>
        </p:spPr>
        <p:txBody>
          <a:bodyPr wrap="square">
            <a:spAutoFit/>
          </a:bodyPr>
          <a:lstStyle/>
          <a:p>
            <a:pPr algn="l"/>
            <a:r>
              <a:rPr sz="1000" b="0" i="0" dirty="0">
                <a:solidFill>
                  <a:srgbClr val="262626"/>
                </a:solidFill>
                <a:latin typeface="Arial"/>
              </a:rPr>
              <a:t>•  Split start times (W 10:00 / M 15:00) mean very different </a:t>
            </a:r>
            <a:r>
              <a:rPr lang="en-US" sz="1000" b="0" i="0" dirty="0">
                <a:solidFill>
                  <a:srgbClr val="262626"/>
                </a:solidFill>
                <a:latin typeface="Arial"/>
              </a:rPr>
              <a:t>fueling</a:t>
            </a:r>
            <a:r>
              <a:rPr sz="1000" b="0" i="0" dirty="0">
                <a:solidFill>
                  <a:srgbClr val="262626"/>
                </a:solidFill>
                <a:latin typeface="Arial"/>
              </a:rPr>
              <a:t> timelines</a:t>
            </a:r>
            <a:r>
              <a:rPr lang="en-US" sz="1000" b="0" i="0" dirty="0">
                <a:solidFill>
                  <a:srgbClr val="262626"/>
                </a:solidFill>
                <a:latin typeface="Arial"/>
              </a:rPr>
              <a:t>. </a:t>
            </a:r>
            <a:r>
              <a:rPr lang="en-US" sz="1000" dirty="0">
                <a:solidFill>
                  <a:srgbClr val="262626"/>
                </a:solidFill>
                <a:latin typeface="Arial"/>
              </a:rPr>
              <a:t>M</a:t>
            </a:r>
            <a:r>
              <a:rPr sz="1000" b="0" i="0" dirty="0">
                <a:solidFill>
                  <a:srgbClr val="262626"/>
                </a:solidFill>
                <a:latin typeface="Arial"/>
              </a:rPr>
              <a:t>en </a:t>
            </a:r>
            <a:r>
              <a:rPr lang="en-US" sz="1000" b="0" i="0" dirty="0">
                <a:solidFill>
                  <a:srgbClr val="262626"/>
                </a:solidFill>
                <a:latin typeface="Arial"/>
              </a:rPr>
              <a:t>will need to plan out race day meals more carefully</a:t>
            </a:r>
            <a:endParaRPr sz="1000" b="0" i="0" dirty="0">
              <a:solidFill>
                <a:srgbClr val="262626"/>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2988610868"/>
              </p:ext>
            </p:extLst>
          </p:nvPr>
        </p:nvGraphicFramePr>
        <p:xfrm>
          <a:off x="274320" y="1347978"/>
          <a:ext cx="4709158" cy="2834640"/>
        </p:xfrm>
        <a:graphic>
          <a:graphicData uri="http://schemas.openxmlformats.org/drawingml/2006/table">
            <a:tbl>
              <a:tblPr firstRow="1" bandRow="1">
                <a:tableStyleId>{5C22544A-7EE6-4342-B048-85BDC9FD1C3A}</a:tableStyleId>
              </a:tblPr>
              <a:tblGrid>
                <a:gridCol w="612190">
                  <a:extLst>
                    <a:ext uri="{9D8B030D-6E8A-4147-A177-3AD203B41FA5}">
                      <a16:colId xmlns:a16="http://schemas.microsoft.com/office/drawing/2014/main" val="20000"/>
                    </a:ext>
                  </a:extLst>
                </a:gridCol>
                <a:gridCol w="800557">
                  <a:extLst>
                    <a:ext uri="{9D8B030D-6E8A-4147-A177-3AD203B41FA5}">
                      <a16:colId xmlns:a16="http://schemas.microsoft.com/office/drawing/2014/main" val="20001"/>
                    </a:ext>
                  </a:extLst>
                </a:gridCol>
                <a:gridCol w="894740">
                  <a:extLst>
                    <a:ext uri="{9D8B030D-6E8A-4147-A177-3AD203B41FA5}">
                      <a16:colId xmlns:a16="http://schemas.microsoft.com/office/drawing/2014/main" val="20002"/>
                    </a:ext>
                  </a:extLst>
                </a:gridCol>
                <a:gridCol w="800557">
                  <a:extLst>
                    <a:ext uri="{9D8B030D-6E8A-4147-A177-3AD203B41FA5}">
                      <a16:colId xmlns:a16="http://schemas.microsoft.com/office/drawing/2014/main" val="20003"/>
                    </a:ext>
                  </a:extLst>
                </a:gridCol>
                <a:gridCol w="800557">
                  <a:extLst>
                    <a:ext uri="{9D8B030D-6E8A-4147-A177-3AD203B41FA5}">
                      <a16:colId xmlns:a16="http://schemas.microsoft.com/office/drawing/2014/main" val="20004"/>
                    </a:ext>
                  </a:extLst>
                </a:gridCol>
                <a:gridCol w="800557">
                  <a:extLst>
                    <a:ext uri="{9D8B030D-6E8A-4147-A177-3AD203B41FA5}">
                      <a16:colId xmlns:a16="http://schemas.microsoft.com/office/drawing/2014/main" val="20005"/>
                    </a:ext>
                  </a:extLst>
                </a:gridCol>
              </a:tblGrid>
              <a:tr h="343515">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Date</a:t>
                      </a:r>
                    </a:p>
                  </a:txBody>
                  <a:tcPr>
                    <a:solidFill>
                      <a:srgbClr val="002060"/>
                    </a:solidFill>
                  </a:tcPr>
                </a:tc>
                <a:tc>
                  <a:txBody>
                    <a:bodyPr/>
                    <a:lstStyle/>
                    <a:p>
                      <a:pPr algn="ctr"/>
                      <a:r>
                        <a:rPr sz="1000" b="1" i="0" dirty="0">
                          <a:solidFill>
                            <a:srgbClr val="FFFFFF"/>
                          </a:solidFill>
                          <a:latin typeface="Arial"/>
                        </a:rPr>
                        <a:t>Air Temp</a:t>
                      </a:r>
                    </a:p>
                  </a:txBody>
                  <a:tcPr>
                    <a:solidFill>
                      <a:srgbClr val="002060"/>
                    </a:solidFill>
                  </a:tcPr>
                </a:tc>
                <a:tc>
                  <a:txBody>
                    <a:bodyPr/>
                    <a:lstStyle/>
                    <a:p>
                      <a:pPr algn="ctr"/>
                      <a:r>
                        <a:rPr sz="1000" b="1" i="0">
                          <a:solidFill>
                            <a:srgbClr val="FFFFFF"/>
                          </a:solidFill>
                          <a:latin typeface="Arial"/>
                        </a:rPr>
                        <a:t>Humidity</a:t>
                      </a:r>
                    </a:p>
                  </a:txBody>
                  <a:tcPr>
                    <a:solidFill>
                      <a:srgbClr val="002060"/>
                    </a:solidFill>
                  </a:tcPr>
                </a:tc>
                <a:tc>
                  <a:txBody>
                    <a:bodyPr/>
                    <a:lstStyle/>
                    <a:p>
                      <a:pPr algn="ctr"/>
                      <a:r>
                        <a:rPr sz="1000" b="1" i="0">
                          <a:solidFill>
                            <a:srgbClr val="FFFFFF"/>
                          </a:solidFill>
                          <a:latin typeface="Arial"/>
                        </a:rPr>
                        <a:t>Wind km/h</a:t>
                      </a:r>
                    </a:p>
                  </a:txBody>
                  <a:tcPr>
                    <a:solidFill>
                      <a:srgbClr val="002060"/>
                    </a:solidFill>
                  </a:tcPr>
                </a:tc>
                <a:tc>
                  <a:txBody>
                    <a:bodyPr/>
                    <a:lstStyle/>
                    <a:p>
                      <a:pPr algn="ctr"/>
                      <a:r>
                        <a:rPr sz="1000" b="1" i="0">
                          <a:solidFill>
                            <a:srgbClr val="FFFFFF"/>
                          </a:solidFill>
                          <a:latin typeface="Arial"/>
                        </a:rPr>
                        <a:t>Precip mm</a:t>
                      </a:r>
                    </a:p>
                  </a:txBody>
                  <a:tcPr>
                    <a:solidFill>
                      <a:srgbClr val="002060"/>
                    </a:solidFill>
                  </a:tcPr>
                </a:tc>
                <a:extLst>
                  <a:ext uri="{0D108BD9-81ED-4DB2-BD59-A6C34878D82A}">
                    <a16:rowId xmlns:a16="http://schemas.microsoft.com/office/drawing/2014/main" val="10000"/>
                  </a:ext>
                </a:extLst>
              </a:tr>
              <a:tr h="211394">
                <a:tc>
                  <a:txBody>
                    <a:bodyPr/>
                    <a:lstStyle/>
                    <a:p>
                      <a:pPr algn="ctr"/>
                      <a:r>
                        <a:rPr sz="1000" b="0" i="0">
                          <a:solidFill>
                            <a:srgbClr val="262626"/>
                          </a:solidFill>
                          <a:latin typeface="Arial"/>
                        </a:rPr>
                        <a:t>2016</a:t>
                      </a:r>
                    </a:p>
                  </a:txBody>
                  <a:tcPr>
                    <a:solidFill>
                      <a:srgbClr val="FFFFFF"/>
                    </a:solidFill>
                  </a:tcPr>
                </a:tc>
                <a:tc>
                  <a:txBody>
                    <a:bodyPr/>
                    <a:lstStyle/>
                    <a:p>
                      <a:pPr algn="ctr"/>
                      <a:r>
                        <a:rPr sz="1000" b="0" i="0">
                          <a:solidFill>
                            <a:srgbClr val="262626"/>
                          </a:solidFill>
                          <a:latin typeface="Arial"/>
                        </a:rPr>
                        <a:t>Aug 28</a:t>
                      </a:r>
                    </a:p>
                  </a:txBody>
                  <a:tcPr>
                    <a:solidFill>
                      <a:srgbClr val="FFFFFF"/>
                    </a:solidFill>
                  </a:tcPr>
                </a:tc>
                <a:tc>
                  <a:txBody>
                    <a:bodyPr/>
                    <a:lstStyle/>
                    <a:p>
                      <a:pPr algn="ctr"/>
                      <a:r>
                        <a:rPr sz="1000" b="0" i="0">
                          <a:solidFill>
                            <a:srgbClr val="262626"/>
                          </a:solidFill>
                          <a:latin typeface="Arial"/>
                        </a:rPr>
                        <a:t>25.8</a:t>
                      </a:r>
                    </a:p>
                  </a:txBody>
                  <a:tcPr>
                    <a:solidFill>
                      <a:srgbClr val="FFFFFF"/>
                    </a:solidFill>
                  </a:tcPr>
                </a:tc>
                <a:tc>
                  <a:txBody>
                    <a:bodyPr/>
                    <a:lstStyle/>
                    <a:p>
                      <a:pPr algn="ctr"/>
                      <a:r>
                        <a:rPr sz="1000" b="0" i="0">
                          <a:solidFill>
                            <a:srgbClr val="262626"/>
                          </a:solidFill>
                          <a:latin typeface="Arial"/>
                        </a:rPr>
                        <a:t>52%</a:t>
                      </a:r>
                    </a:p>
                  </a:txBody>
                  <a:tcPr>
                    <a:solidFill>
                      <a:srgbClr val="FFFFFF"/>
                    </a:solidFill>
                  </a:tcPr>
                </a:tc>
                <a:tc>
                  <a:txBody>
                    <a:bodyPr/>
                    <a:lstStyle/>
                    <a:p>
                      <a:pPr algn="ctr"/>
                      <a:r>
                        <a:rPr sz="1000" b="0" i="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1"/>
                  </a:ext>
                </a:extLst>
              </a:tr>
              <a:tr h="211394">
                <a:tc>
                  <a:txBody>
                    <a:bodyPr/>
                    <a:lstStyle/>
                    <a:p>
                      <a:pPr algn="ctr"/>
                      <a:r>
                        <a:rPr sz="1000" b="0" i="0">
                          <a:solidFill>
                            <a:srgbClr val="262626"/>
                          </a:solidFill>
                          <a:latin typeface="Arial"/>
                        </a:rPr>
                        <a:t>2017</a:t>
                      </a:r>
                    </a:p>
                  </a:txBody>
                  <a:tcPr>
                    <a:solidFill>
                      <a:srgbClr val="F2F2F2"/>
                    </a:solidFill>
                  </a:tcPr>
                </a:tc>
                <a:tc>
                  <a:txBody>
                    <a:bodyPr/>
                    <a:lstStyle/>
                    <a:p>
                      <a:pPr algn="ctr"/>
                      <a:r>
                        <a:rPr sz="1000" b="0" i="0">
                          <a:solidFill>
                            <a:srgbClr val="262626"/>
                          </a:solidFill>
                          <a:latin typeface="Arial"/>
                        </a:rPr>
                        <a:t>Sep 03</a:t>
                      </a:r>
                    </a:p>
                  </a:txBody>
                  <a:tcPr>
                    <a:solidFill>
                      <a:srgbClr val="F2F2F2"/>
                    </a:solidFill>
                  </a:tcPr>
                </a:tc>
                <a:tc>
                  <a:txBody>
                    <a:bodyPr/>
                    <a:lstStyle/>
                    <a:p>
                      <a:pPr algn="ctr"/>
                      <a:r>
                        <a:rPr sz="1000" b="0" i="0">
                          <a:solidFill>
                            <a:srgbClr val="262626"/>
                          </a:solidFill>
                          <a:latin typeface="Arial"/>
                        </a:rPr>
                        <a:t>14.0</a:t>
                      </a:r>
                    </a:p>
                  </a:txBody>
                  <a:tcPr>
                    <a:solidFill>
                      <a:srgbClr val="F2F2F2"/>
                    </a:solidFill>
                  </a:tcPr>
                </a:tc>
                <a:tc>
                  <a:txBody>
                    <a:bodyPr/>
                    <a:lstStyle/>
                    <a:p>
                      <a:pPr algn="ctr"/>
                      <a:r>
                        <a:rPr sz="1000" b="0" i="0">
                          <a:solidFill>
                            <a:srgbClr val="262626"/>
                          </a:solidFill>
                          <a:latin typeface="Arial"/>
                        </a:rPr>
                        <a:t>59%</a:t>
                      </a:r>
                    </a:p>
                  </a:txBody>
                  <a:tcPr>
                    <a:solidFill>
                      <a:srgbClr val="F2F2F2"/>
                    </a:solidFill>
                  </a:tcPr>
                </a:tc>
                <a:tc>
                  <a:txBody>
                    <a:bodyPr/>
                    <a:lstStyle/>
                    <a:p>
                      <a:pPr algn="ctr"/>
                      <a:r>
                        <a:rPr sz="1000" b="0" i="0">
                          <a:solidFill>
                            <a:srgbClr val="262626"/>
                          </a:solidFill>
                          <a:latin typeface="Arial"/>
                        </a:rPr>
                        <a:t>8</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2"/>
                  </a:ext>
                </a:extLst>
              </a:tr>
              <a:tr h="211394">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Sep 01</a:t>
                      </a:r>
                    </a:p>
                  </a:txBody>
                  <a:tcPr>
                    <a:solidFill>
                      <a:srgbClr val="FFFFFF"/>
                    </a:solidFill>
                  </a:tcPr>
                </a:tc>
                <a:tc>
                  <a:txBody>
                    <a:bodyPr/>
                    <a:lstStyle/>
                    <a:p>
                      <a:pPr algn="ctr"/>
                      <a:r>
                        <a:rPr sz="1000" b="0" i="0">
                          <a:solidFill>
                            <a:srgbClr val="262626"/>
                          </a:solidFill>
                          <a:latin typeface="Arial"/>
                        </a:rPr>
                        <a:t>15.8</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15</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3"/>
                  </a:ext>
                </a:extLst>
              </a:tr>
              <a:tr h="211394">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Aug 25</a:t>
                      </a:r>
                    </a:p>
                  </a:txBody>
                  <a:tcPr>
                    <a:solidFill>
                      <a:srgbClr val="F2F2F2"/>
                    </a:solidFill>
                  </a:tcPr>
                </a:tc>
                <a:tc>
                  <a:txBody>
                    <a:bodyPr/>
                    <a:lstStyle/>
                    <a:p>
                      <a:pPr algn="ctr"/>
                      <a:r>
                        <a:rPr sz="1000" b="0" i="0">
                          <a:solidFill>
                            <a:srgbClr val="262626"/>
                          </a:solidFill>
                          <a:latin typeface="Arial"/>
                        </a:rPr>
                        <a:t>24.5</a:t>
                      </a:r>
                    </a:p>
                  </a:txBody>
                  <a:tcPr>
                    <a:solidFill>
                      <a:srgbClr val="F2F2F2"/>
                    </a:solidFill>
                  </a:tcPr>
                </a:tc>
                <a:tc>
                  <a:txBody>
                    <a:bodyPr/>
                    <a:lstStyle/>
                    <a:p>
                      <a:pPr algn="ctr"/>
                      <a:r>
                        <a:rPr sz="1000" b="0" i="0">
                          <a:solidFill>
                            <a:srgbClr val="262626"/>
                          </a:solidFill>
                          <a:latin typeface="Arial"/>
                        </a:rPr>
                        <a:t>59%</a:t>
                      </a:r>
                    </a:p>
                  </a:txBody>
                  <a:tcPr>
                    <a:solidFill>
                      <a:srgbClr val="F2F2F2"/>
                    </a:solidFill>
                  </a:tcPr>
                </a:tc>
                <a:tc>
                  <a:txBody>
                    <a:bodyPr/>
                    <a:lstStyle/>
                    <a:p>
                      <a:pPr algn="ctr"/>
                      <a:r>
                        <a:rPr sz="1000" b="0" i="0">
                          <a:solidFill>
                            <a:srgbClr val="262626"/>
                          </a:solidFill>
                          <a:latin typeface="Arial"/>
                        </a:rPr>
                        <a:t>13</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4"/>
                  </a:ext>
                </a:extLst>
              </a:tr>
              <a:tr h="211394">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Sep 13</a:t>
                      </a:r>
                    </a:p>
                  </a:txBody>
                  <a:tcPr>
                    <a:solidFill>
                      <a:srgbClr val="FFFFFF"/>
                    </a:solidFill>
                  </a:tcPr>
                </a:tc>
                <a:tc>
                  <a:txBody>
                    <a:bodyPr/>
                    <a:lstStyle/>
                    <a:p>
                      <a:pPr algn="ctr"/>
                      <a:r>
                        <a:rPr sz="1000" b="0" i="0">
                          <a:solidFill>
                            <a:srgbClr val="262626"/>
                          </a:solidFill>
                          <a:latin typeface="Arial"/>
                        </a:rPr>
                        <a:t>21.8</a:t>
                      </a:r>
                    </a:p>
                  </a:txBody>
                  <a:tcPr>
                    <a:solidFill>
                      <a:srgbClr val="FFFFFF"/>
                    </a:solidFill>
                  </a:tcPr>
                </a:tc>
                <a:tc>
                  <a:txBody>
                    <a:bodyPr/>
                    <a:lstStyle/>
                    <a:p>
                      <a:pPr algn="ctr"/>
                      <a:r>
                        <a:rPr sz="1000" b="0" i="0">
                          <a:solidFill>
                            <a:srgbClr val="262626"/>
                          </a:solidFill>
                          <a:latin typeface="Arial"/>
                        </a:rPr>
                        <a:t>50%</a:t>
                      </a:r>
                    </a:p>
                  </a:txBody>
                  <a:tcPr>
                    <a:solidFill>
                      <a:srgbClr val="FFFFFF"/>
                    </a:solidFill>
                  </a:tcPr>
                </a:tc>
                <a:tc>
                  <a:txBody>
                    <a:bodyPr/>
                    <a:lstStyle/>
                    <a:p>
                      <a:pPr algn="ctr"/>
                      <a:r>
                        <a:rPr sz="1000" b="0" i="0">
                          <a:solidFill>
                            <a:srgbClr val="262626"/>
                          </a:solidFill>
                          <a:latin typeface="Arial"/>
                        </a:rPr>
                        <a:t>7</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5"/>
                  </a:ext>
                </a:extLst>
              </a:tr>
              <a:tr h="211394">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Sep 11</a:t>
                      </a:r>
                    </a:p>
                  </a:txBody>
                  <a:tcPr>
                    <a:solidFill>
                      <a:srgbClr val="F2F2F2"/>
                    </a:solidFill>
                  </a:tcPr>
                </a:tc>
                <a:tc>
                  <a:txBody>
                    <a:bodyPr/>
                    <a:lstStyle/>
                    <a:p>
                      <a:pPr algn="ctr"/>
                      <a:r>
                        <a:rPr sz="1000" b="0" i="0">
                          <a:solidFill>
                            <a:srgbClr val="262626"/>
                          </a:solidFill>
                          <a:latin typeface="Arial"/>
                        </a:rPr>
                        <a:t>18.8</a:t>
                      </a:r>
                    </a:p>
                  </a:txBody>
                  <a:tcPr>
                    <a:solidFill>
                      <a:srgbClr val="F2F2F2"/>
                    </a:solidFill>
                  </a:tcPr>
                </a:tc>
                <a:tc>
                  <a:txBody>
                    <a:bodyPr/>
                    <a:lstStyle/>
                    <a:p>
                      <a:pPr algn="ctr"/>
                      <a:r>
                        <a:rPr sz="1000" b="0" i="0">
                          <a:solidFill>
                            <a:srgbClr val="262626"/>
                          </a:solidFill>
                          <a:latin typeface="Arial"/>
                        </a:rPr>
                        <a:t>81%</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0.1</a:t>
                      </a:r>
                    </a:p>
                  </a:txBody>
                  <a:tcPr>
                    <a:solidFill>
                      <a:srgbClr val="F2F2F2"/>
                    </a:solidFill>
                  </a:tcPr>
                </a:tc>
                <a:extLst>
                  <a:ext uri="{0D108BD9-81ED-4DB2-BD59-A6C34878D82A}">
                    <a16:rowId xmlns:a16="http://schemas.microsoft.com/office/drawing/2014/main" val="10006"/>
                  </a:ext>
                </a:extLst>
              </a:tr>
              <a:tr h="211394">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Sep 11</a:t>
                      </a:r>
                    </a:p>
                  </a:txBody>
                  <a:tcPr>
                    <a:solidFill>
                      <a:srgbClr val="FFFFFF"/>
                    </a:solidFill>
                  </a:tcPr>
                </a:tc>
                <a:tc>
                  <a:txBody>
                    <a:bodyPr/>
                    <a:lstStyle/>
                    <a:p>
                      <a:pPr algn="ctr"/>
                      <a:r>
                        <a:rPr sz="1000" b="0" i="0">
                          <a:solidFill>
                            <a:srgbClr val="262626"/>
                          </a:solidFill>
                          <a:latin typeface="Arial"/>
                        </a:rPr>
                        <a:t>16.9</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12</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extLst>
                  <a:ext uri="{0D108BD9-81ED-4DB2-BD59-A6C34878D82A}">
                    <a16:rowId xmlns:a16="http://schemas.microsoft.com/office/drawing/2014/main" val="10007"/>
                  </a:ext>
                </a:extLst>
              </a:tr>
              <a:tr h="211394">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Sep 10</a:t>
                      </a:r>
                    </a:p>
                  </a:txBody>
                  <a:tcPr>
                    <a:solidFill>
                      <a:srgbClr val="F2F2F2"/>
                    </a:solidFill>
                  </a:tcPr>
                </a:tc>
                <a:tc>
                  <a:txBody>
                    <a:bodyPr/>
                    <a:lstStyle/>
                    <a:p>
                      <a:pPr algn="ctr"/>
                      <a:r>
                        <a:rPr sz="1000" b="0" i="0">
                          <a:solidFill>
                            <a:srgbClr val="262626"/>
                          </a:solidFill>
                          <a:latin typeface="Arial"/>
                        </a:rPr>
                        <a:t>27</a:t>
                      </a:r>
                    </a:p>
                  </a:txBody>
                  <a:tcPr>
                    <a:solidFill>
                      <a:srgbClr val="F2F2F2"/>
                    </a:solidFill>
                  </a:tcPr>
                </a:tc>
                <a:tc>
                  <a:txBody>
                    <a:bodyPr/>
                    <a:lstStyle/>
                    <a:p>
                      <a:pPr algn="ctr"/>
                      <a:r>
                        <a:rPr sz="1000" b="0" i="0">
                          <a:solidFill>
                            <a:srgbClr val="262626"/>
                          </a:solidFill>
                          <a:latin typeface="Arial"/>
                        </a:rPr>
                        <a:t>48%</a:t>
                      </a:r>
                    </a:p>
                  </a:txBody>
                  <a:tcPr>
                    <a:solidFill>
                      <a:srgbClr val="F2F2F2"/>
                    </a:solidFill>
                  </a:tcPr>
                </a:tc>
                <a:tc>
                  <a:txBody>
                    <a:bodyPr/>
                    <a:lstStyle/>
                    <a:p>
                      <a:pPr algn="ctr"/>
                      <a:r>
                        <a:rPr sz="1000" b="0" i="0">
                          <a:solidFill>
                            <a:srgbClr val="262626"/>
                          </a:solidFill>
                          <a:latin typeface="Arial"/>
                        </a:rPr>
                        <a:t>4</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8"/>
                  </a:ext>
                </a:extLst>
              </a:tr>
              <a:tr h="211394">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Sep 08</a:t>
                      </a:r>
                    </a:p>
                  </a:txBody>
                  <a:tcPr>
                    <a:solidFill>
                      <a:srgbClr val="FFFFFF"/>
                    </a:solidFill>
                  </a:tcPr>
                </a:tc>
                <a:tc>
                  <a:txBody>
                    <a:bodyPr/>
                    <a:lstStyle/>
                    <a:p>
                      <a:pPr algn="ctr"/>
                      <a:r>
                        <a:rPr sz="1000" b="0" i="0">
                          <a:solidFill>
                            <a:srgbClr val="262626"/>
                          </a:solidFill>
                          <a:latin typeface="Arial"/>
                        </a:rPr>
                        <a:t>27.5</a:t>
                      </a:r>
                    </a:p>
                  </a:txBody>
                  <a:tcPr>
                    <a:solidFill>
                      <a:srgbClr val="FFFFFF"/>
                    </a:solidFill>
                  </a:tcPr>
                </a:tc>
                <a:tc>
                  <a:txBody>
                    <a:bodyPr/>
                    <a:lstStyle/>
                    <a:p>
                      <a:pPr algn="ctr"/>
                      <a:r>
                        <a:rPr sz="1000" b="0" i="0">
                          <a:solidFill>
                            <a:srgbClr val="262626"/>
                          </a:solidFill>
                          <a:latin typeface="Arial"/>
                        </a:rPr>
                        <a:t>46%</a:t>
                      </a:r>
                    </a:p>
                  </a:txBody>
                  <a:tcPr>
                    <a:solidFill>
                      <a:srgbClr val="FFFFFF"/>
                    </a:solidFill>
                  </a:tcPr>
                </a:tc>
                <a:tc>
                  <a:txBody>
                    <a:bodyPr/>
                    <a:lstStyle/>
                    <a:p>
                      <a:pPr algn="ctr"/>
                      <a:r>
                        <a:rPr sz="1000" b="0" i="0" dirty="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9"/>
                  </a:ext>
                </a:extLst>
              </a:tr>
              <a:tr h="211394">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Sep 14</a:t>
                      </a:r>
                    </a:p>
                  </a:txBody>
                  <a:tcPr>
                    <a:solidFill>
                      <a:srgbClr val="F2F2F2"/>
                    </a:solidFill>
                  </a:tcPr>
                </a:tc>
                <a:tc>
                  <a:txBody>
                    <a:bodyPr/>
                    <a:lstStyle/>
                    <a:p>
                      <a:pPr algn="ctr"/>
                      <a:r>
                        <a:rPr sz="1000" b="0" i="0">
                          <a:solidFill>
                            <a:srgbClr val="262626"/>
                          </a:solidFill>
                          <a:latin typeface="Arial"/>
                        </a:rPr>
                        <a:t>19.3</a:t>
                      </a:r>
                    </a:p>
                  </a:txBody>
                  <a:tcPr>
                    <a:solidFill>
                      <a:srgbClr val="F2F2F2"/>
                    </a:solidFill>
                  </a:tcPr>
                </a:tc>
                <a:tc>
                  <a:txBody>
                    <a:bodyPr/>
                    <a:lstStyle/>
                    <a:p>
                      <a:pPr algn="ctr"/>
                      <a:r>
                        <a:rPr sz="1000" b="0" i="0">
                          <a:solidFill>
                            <a:srgbClr val="262626"/>
                          </a:solidFill>
                          <a:latin typeface="Arial"/>
                        </a:rPr>
                        <a:t>81%</a:t>
                      </a:r>
                    </a:p>
                  </a:txBody>
                  <a:tcPr>
                    <a:solidFill>
                      <a:srgbClr val="F2F2F2"/>
                    </a:solidFill>
                  </a:tcPr>
                </a:tc>
                <a:tc>
                  <a:txBody>
                    <a:bodyPr/>
                    <a:lstStyle/>
                    <a:p>
                      <a:pPr algn="ctr"/>
                      <a:r>
                        <a:rPr sz="1000" b="0" i="0">
                          <a:solidFill>
                            <a:srgbClr val="262626"/>
                          </a:solidFill>
                          <a:latin typeface="Arial"/>
                        </a:rPr>
                        <a:t>13</a:t>
                      </a:r>
                    </a:p>
                  </a:txBody>
                  <a:tcPr>
                    <a:solidFill>
                      <a:srgbClr val="F2F2F2"/>
                    </a:solidFill>
                  </a:tcPr>
                </a:tc>
                <a:tc>
                  <a:txBody>
                    <a:bodyPr/>
                    <a:lstStyle/>
                    <a:p>
                      <a:pPr algn="ctr"/>
                      <a:r>
                        <a:rPr sz="1000" b="0" i="0" dirty="0">
                          <a:solidFill>
                            <a:srgbClr val="262626"/>
                          </a:solidFill>
                          <a:latin typeface="Arial"/>
                        </a:rPr>
                        <a:t>0.6</a:t>
                      </a:r>
                    </a:p>
                  </a:txBody>
                  <a:tcPr>
                    <a:solidFill>
                      <a:srgbClr val="F2F2F2"/>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320040" y="1088136"/>
            <a:ext cx="4572000" cy="91440"/>
          </a:xfrm>
          <a:prstGeom prst="rect">
            <a:avLst/>
          </a:prstGeom>
          <a:noFill/>
        </p:spPr>
        <p:txBody>
          <a:bodyPr wrap="square">
            <a:spAutoFit/>
          </a:bodyPr>
          <a:lstStyle/>
          <a:p>
            <a:pPr algn="l"/>
            <a:r>
              <a:rPr sz="950" b="1" i="0">
                <a:solidFill>
                  <a:srgbClr val="002060"/>
                </a:solidFill>
                <a:latin typeface="Arial"/>
              </a:rPr>
              <a:t>RACE-DAY WEATHER (10:00–17:00 local)</a:t>
            </a:r>
          </a:p>
        </p:txBody>
      </p:sp>
      <p:graphicFrame>
        <p:nvGraphicFramePr>
          <p:cNvPr id="11" name="Table 10"/>
          <p:cNvGraphicFramePr>
            <a:graphicFrameLocks noGrp="1"/>
          </p:cNvGraphicFramePr>
          <p:nvPr>
            <p:extLst>
              <p:ext uri="{D42A27DB-BD31-4B8C-83A1-F6EECF244321}">
                <p14:modId xmlns:p14="http://schemas.microsoft.com/office/powerpoint/2010/main" val="1083509557"/>
              </p:ext>
            </p:extLst>
          </p:nvPr>
        </p:nvGraphicFramePr>
        <p:xfrm>
          <a:off x="5170809" y="1342136"/>
          <a:ext cx="4069078" cy="2682240"/>
        </p:xfrm>
        <a:graphic>
          <a:graphicData uri="http://schemas.openxmlformats.org/drawingml/2006/table">
            <a:tbl>
              <a:tblPr firstRow="1" bandRow="1">
                <a:tableStyleId>{5C22544A-7EE6-4342-B048-85BDC9FD1C3A}</a:tableStyleId>
              </a:tblPr>
              <a:tblGrid>
                <a:gridCol w="629738">
                  <a:extLst>
                    <a:ext uri="{9D8B030D-6E8A-4147-A177-3AD203B41FA5}">
                      <a16:colId xmlns:a16="http://schemas.microsoft.com/office/drawing/2014/main" val="20000"/>
                    </a:ext>
                  </a:extLst>
                </a:gridCol>
                <a:gridCol w="823504">
                  <a:extLst>
                    <a:ext uri="{9D8B030D-6E8A-4147-A177-3AD203B41FA5}">
                      <a16:colId xmlns:a16="http://schemas.microsoft.com/office/drawing/2014/main" val="20001"/>
                    </a:ext>
                  </a:extLst>
                </a:gridCol>
                <a:gridCol w="726621">
                  <a:extLst>
                    <a:ext uri="{9D8B030D-6E8A-4147-A177-3AD203B41FA5}">
                      <a16:colId xmlns:a16="http://schemas.microsoft.com/office/drawing/2014/main" val="20002"/>
                    </a:ext>
                  </a:extLst>
                </a:gridCol>
                <a:gridCol w="823504">
                  <a:extLst>
                    <a:ext uri="{9D8B030D-6E8A-4147-A177-3AD203B41FA5}">
                      <a16:colId xmlns:a16="http://schemas.microsoft.com/office/drawing/2014/main" val="20003"/>
                    </a:ext>
                  </a:extLst>
                </a:gridCol>
                <a:gridCol w="1065711">
                  <a:extLst>
                    <a:ext uri="{9D8B030D-6E8A-4147-A177-3AD203B41FA5}">
                      <a16:colId xmlns:a16="http://schemas.microsoft.com/office/drawing/2014/main" val="20004"/>
                    </a:ext>
                  </a:extLst>
                </a:gridCol>
              </a:tblGrid>
              <a:tr h="207887">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PM2.5</a:t>
                      </a:r>
                    </a:p>
                  </a:txBody>
                  <a:tcPr>
                    <a:solidFill>
                      <a:srgbClr val="002060"/>
                    </a:solidFill>
                  </a:tcPr>
                </a:tc>
                <a:tc>
                  <a:txBody>
                    <a:bodyPr/>
                    <a:lstStyle/>
                    <a:p>
                      <a:pPr algn="ctr"/>
                      <a:r>
                        <a:rPr sz="1000" b="1" i="0">
                          <a:solidFill>
                            <a:srgbClr val="FFFFFF"/>
                          </a:solidFill>
                          <a:latin typeface="Arial"/>
                        </a:rPr>
                        <a:t>EU AQI</a:t>
                      </a:r>
                    </a:p>
                  </a:txBody>
                  <a:tcPr>
                    <a:solidFill>
                      <a:srgbClr val="002060"/>
                    </a:solidFill>
                  </a:tcPr>
                </a:tc>
                <a:tc>
                  <a:txBody>
                    <a:bodyPr/>
                    <a:lstStyle/>
                    <a:p>
                      <a:pPr algn="ctr"/>
                      <a:r>
                        <a:rPr sz="1000" b="1" i="0">
                          <a:solidFill>
                            <a:srgbClr val="FFFFFF"/>
                          </a:solidFill>
                          <a:latin typeface="Arial"/>
                        </a:rPr>
                        <a:t>UV Index</a:t>
                      </a:r>
                    </a:p>
                  </a:txBody>
                  <a:tcPr>
                    <a:solidFill>
                      <a:srgbClr val="002060"/>
                    </a:solidFill>
                  </a:tcPr>
                </a:tc>
                <a:tc>
                  <a:txBody>
                    <a:bodyPr/>
                    <a:lstStyle/>
                    <a:p>
                      <a:pPr algn="ctr"/>
                      <a:r>
                        <a:rPr sz="1000" b="1" i="0">
                          <a:solidFill>
                            <a:srgbClr val="FFFFFF"/>
                          </a:solidFill>
                          <a:latin typeface="Arial"/>
                        </a:rPr>
                        <a:t>Risk</a:t>
                      </a:r>
                    </a:p>
                  </a:txBody>
                  <a:tcPr>
                    <a:solidFill>
                      <a:srgbClr val="002060"/>
                    </a:solidFill>
                  </a:tcPr>
                </a:tc>
                <a:extLst>
                  <a:ext uri="{0D108BD9-81ED-4DB2-BD59-A6C34878D82A}">
                    <a16:rowId xmlns:a16="http://schemas.microsoft.com/office/drawing/2014/main" val="10000"/>
                  </a:ext>
                </a:extLst>
              </a:tr>
              <a:tr h="207887">
                <a:tc>
                  <a:txBody>
                    <a:bodyPr/>
                    <a:lstStyle/>
                    <a:p>
                      <a:pPr algn="ctr"/>
                      <a:r>
                        <a:rPr sz="1000" b="0" i="0">
                          <a:solidFill>
                            <a:srgbClr val="262626"/>
                          </a:solidFill>
                          <a:latin typeface="Arial"/>
                        </a:rPr>
                        <a:t>2016</a:t>
                      </a:r>
                    </a:p>
                  </a:txBody>
                  <a:tcPr>
                    <a:solidFill>
                      <a:srgbClr val="FFFFFF"/>
                    </a:solidFill>
                  </a:tcPr>
                </a:tc>
                <a:tc>
                  <a:txBody>
                    <a:bodyPr/>
                    <a:lstStyle/>
                    <a:p>
                      <a:pPr algn="ctr"/>
                      <a:r>
                        <a:rPr sz="1000" b="0" i="0">
                          <a:solidFill>
                            <a:srgbClr val="262626"/>
                          </a:solidFill>
                          <a:latin typeface="Arial"/>
                        </a:rPr>
                        <a:t>16.8</a:t>
                      </a:r>
                    </a:p>
                  </a:txBody>
                  <a:tcPr>
                    <a:solidFill>
                      <a:srgbClr val="FFFFFF"/>
                    </a:solidFill>
                  </a:tcPr>
                </a:tc>
                <a:tc>
                  <a:txBody>
                    <a:bodyPr/>
                    <a:lstStyle/>
                    <a:p>
                      <a:pPr algn="ctr"/>
                      <a:r>
                        <a:rPr sz="1000" b="0" i="0" dirty="0">
                          <a:solidFill>
                            <a:srgbClr val="262626"/>
                          </a:solidFill>
                          <a:latin typeface="Arial"/>
                        </a:rPr>
                        <a:t>51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Moderate</a:t>
                      </a:r>
                    </a:p>
                  </a:txBody>
                  <a:tcPr>
                    <a:solidFill>
                      <a:srgbClr val="FFFFFF"/>
                    </a:solidFill>
                  </a:tcPr>
                </a:tc>
                <a:extLst>
                  <a:ext uri="{0D108BD9-81ED-4DB2-BD59-A6C34878D82A}">
                    <a16:rowId xmlns:a16="http://schemas.microsoft.com/office/drawing/2014/main" val="10001"/>
                  </a:ext>
                </a:extLst>
              </a:tr>
              <a:tr h="207887">
                <a:tc>
                  <a:txBody>
                    <a:bodyPr/>
                    <a:lstStyle/>
                    <a:p>
                      <a:pPr algn="ctr"/>
                      <a:r>
                        <a:rPr sz="1000" b="0" i="0">
                          <a:solidFill>
                            <a:srgbClr val="262626"/>
                          </a:solidFill>
                          <a:latin typeface="Arial"/>
                        </a:rPr>
                        <a:t>2017</a:t>
                      </a:r>
                    </a:p>
                  </a:txBody>
                  <a:tcPr>
                    <a:solidFill>
                      <a:srgbClr val="F2F2F2"/>
                    </a:solidFill>
                  </a:tcPr>
                </a:tc>
                <a:tc>
                  <a:txBody>
                    <a:bodyPr/>
                    <a:lstStyle/>
                    <a:p>
                      <a:pPr algn="ctr"/>
                      <a:r>
                        <a:rPr sz="1000" b="0" i="0">
                          <a:solidFill>
                            <a:srgbClr val="262626"/>
                          </a:solidFill>
                          <a:latin typeface="Arial"/>
                        </a:rPr>
                        <a:t>6.5</a:t>
                      </a:r>
                    </a:p>
                  </a:txBody>
                  <a:tcPr>
                    <a:solidFill>
                      <a:srgbClr val="F2F2F2"/>
                    </a:solidFill>
                  </a:tcPr>
                </a:tc>
                <a:tc>
                  <a:txBody>
                    <a:bodyPr/>
                    <a:lstStyle/>
                    <a:p>
                      <a:pPr algn="ctr"/>
                      <a:r>
                        <a:rPr sz="1000" b="0" i="0">
                          <a:solidFill>
                            <a:srgbClr val="262626"/>
                          </a:solidFill>
                          <a:latin typeface="Arial"/>
                        </a:rPr>
                        <a:t>27</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Fair</a:t>
                      </a:r>
                    </a:p>
                  </a:txBody>
                  <a:tcPr>
                    <a:solidFill>
                      <a:srgbClr val="F2F2F2"/>
                    </a:solidFill>
                  </a:tcPr>
                </a:tc>
                <a:extLst>
                  <a:ext uri="{0D108BD9-81ED-4DB2-BD59-A6C34878D82A}">
                    <a16:rowId xmlns:a16="http://schemas.microsoft.com/office/drawing/2014/main" val="10002"/>
                  </a:ext>
                </a:extLst>
              </a:tr>
              <a:tr h="207887">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9.5</a:t>
                      </a:r>
                    </a:p>
                  </a:txBody>
                  <a:tcPr>
                    <a:solidFill>
                      <a:srgbClr val="FFFFFF"/>
                    </a:solidFill>
                  </a:tcPr>
                </a:tc>
                <a:tc>
                  <a:txBody>
                    <a:bodyPr/>
                    <a:lstStyle/>
                    <a:p>
                      <a:pPr algn="ctr"/>
                      <a:r>
                        <a:rPr sz="1000" b="0" i="0">
                          <a:solidFill>
                            <a:srgbClr val="262626"/>
                          </a:solidFill>
                          <a:latin typeface="Arial"/>
                        </a:rPr>
                        <a:t>24</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3"/>
                  </a:ext>
                </a:extLst>
              </a:tr>
              <a:tr h="207887">
                <a:tc>
                  <a:txBody>
                    <a:bodyPr/>
                    <a:lstStyle/>
                    <a:p>
                      <a:pPr algn="ctr"/>
                      <a:r>
                        <a:rPr sz="1000" b="0" i="0" dirty="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15.7</a:t>
                      </a:r>
                    </a:p>
                  </a:txBody>
                  <a:tcPr>
                    <a:solidFill>
                      <a:srgbClr val="F2F2F2"/>
                    </a:solidFill>
                  </a:tcPr>
                </a:tc>
                <a:tc>
                  <a:txBody>
                    <a:bodyPr/>
                    <a:lstStyle/>
                    <a:p>
                      <a:pPr algn="ctr"/>
                      <a:r>
                        <a:rPr sz="1000" b="0" i="0">
                          <a:solidFill>
                            <a:srgbClr val="262626"/>
                          </a:solidFill>
                          <a:latin typeface="Arial"/>
                        </a:rPr>
                        <a:t>46</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Moderate</a:t>
                      </a:r>
                    </a:p>
                  </a:txBody>
                  <a:tcPr>
                    <a:solidFill>
                      <a:srgbClr val="F2F2F2"/>
                    </a:solidFill>
                  </a:tcPr>
                </a:tc>
                <a:extLst>
                  <a:ext uri="{0D108BD9-81ED-4DB2-BD59-A6C34878D82A}">
                    <a16:rowId xmlns:a16="http://schemas.microsoft.com/office/drawing/2014/main" val="10004"/>
                  </a:ext>
                </a:extLst>
              </a:tr>
              <a:tr h="207887">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11.3</a:t>
                      </a:r>
                    </a:p>
                  </a:txBody>
                  <a:tcPr>
                    <a:solidFill>
                      <a:srgbClr val="FFFFFF"/>
                    </a:solidFill>
                  </a:tcPr>
                </a:tc>
                <a:tc>
                  <a:txBody>
                    <a:bodyPr/>
                    <a:lstStyle/>
                    <a:p>
                      <a:pPr algn="ctr"/>
                      <a:r>
                        <a:rPr sz="1000" b="0" i="0">
                          <a:solidFill>
                            <a:srgbClr val="262626"/>
                          </a:solidFill>
                          <a:latin typeface="Arial"/>
                        </a:rPr>
                        <a:t>39</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5"/>
                  </a:ext>
                </a:extLst>
              </a:tr>
              <a:tr h="207887">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8.9</a:t>
                      </a:r>
                    </a:p>
                  </a:txBody>
                  <a:tcPr>
                    <a:solidFill>
                      <a:srgbClr val="F2F2F2"/>
                    </a:solidFill>
                  </a:tcPr>
                </a:tc>
                <a:tc>
                  <a:txBody>
                    <a:bodyPr/>
                    <a:lstStyle/>
                    <a:p>
                      <a:pPr algn="ctr"/>
                      <a:r>
                        <a:rPr sz="1000" b="0" i="0">
                          <a:solidFill>
                            <a:srgbClr val="262626"/>
                          </a:solidFill>
                          <a:latin typeface="Arial"/>
                        </a:rPr>
                        <a:t>26</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Fair</a:t>
                      </a:r>
                    </a:p>
                  </a:txBody>
                  <a:tcPr>
                    <a:solidFill>
                      <a:srgbClr val="F2F2F2"/>
                    </a:solidFill>
                  </a:tcPr>
                </a:tc>
                <a:extLst>
                  <a:ext uri="{0D108BD9-81ED-4DB2-BD59-A6C34878D82A}">
                    <a16:rowId xmlns:a16="http://schemas.microsoft.com/office/drawing/2014/main" val="10006"/>
                  </a:ext>
                </a:extLst>
              </a:tr>
              <a:tr h="207887">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6.6</a:t>
                      </a:r>
                    </a:p>
                  </a:txBody>
                  <a:tcPr>
                    <a:solidFill>
                      <a:srgbClr val="FFFFFF"/>
                    </a:solidFill>
                  </a:tcPr>
                </a:tc>
                <a:tc>
                  <a:txBody>
                    <a:bodyPr/>
                    <a:lstStyle/>
                    <a:p>
                      <a:pPr algn="ctr"/>
                      <a:r>
                        <a:rPr sz="1000" b="0" i="0">
                          <a:solidFill>
                            <a:srgbClr val="262626"/>
                          </a:solidFill>
                          <a:latin typeface="Arial"/>
                        </a:rPr>
                        <a:t>26</a:t>
                      </a:r>
                    </a:p>
                  </a:txBody>
                  <a:tcPr>
                    <a:solidFill>
                      <a:srgbClr val="FFFFFF"/>
                    </a:solidFill>
                  </a:tcPr>
                </a:tc>
                <a:tc>
                  <a:txBody>
                    <a:bodyPr/>
                    <a:lstStyle/>
                    <a:p>
                      <a:pPr algn="ctr"/>
                      <a:r>
                        <a:rPr sz="1000" b="0" i="0">
                          <a:solidFill>
                            <a:srgbClr val="262626"/>
                          </a:solidFill>
                          <a:latin typeface="Arial"/>
                        </a:rPr>
                        <a:t>1.3</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7"/>
                  </a:ext>
                </a:extLst>
              </a:tr>
              <a:tr h="207887">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11.8</a:t>
                      </a:r>
                    </a:p>
                  </a:txBody>
                  <a:tcPr>
                    <a:solidFill>
                      <a:srgbClr val="F2F2F2"/>
                    </a:solidFill>
                  </a:tcPr>
                </a:tc>
                <a:tc>
                  <a:txBody>
                    <a:bodyPr/>
                    <a:lstStyle/>
                    <a:p>
                      <a:pPr algn="ctr"/>
                      <a:r>
                        <a:rPr sz="1000" b="0" i="0">
                          <a:solidFill>
                            <a:srgbClr val="262626"/>
                          </a:solidFill>
                          <a:latin typeface="Arial"/>
                        </a:rPr>
                        <a:t>53</a:t>
                      </a:r>
                    </a:p>
                  </a:txBody>
                  <a:tcPr>
                    <a:solidFill>
                      <a:srgbClr val="F2F2F2"/>
                    </a:solidFill>
                  </a:tcPr>
                </a:tc>
                <a:tc>
                  <a:txBody>
                    <a:bodyPr/>
                    <a:lstStyle/>
                    <a:p>
                      <a:pPr algn="ctr"/>
                      <a:r>
                        <a:rPr sz="1000" b="0" i="0">
                          <a:solidFill>
                            <a:srgbClr val="262626"/>
                          </a:solidFill>
                          <a:latin typeface="Arial"/>
                        </a:rPr>
                        <a:t>3.7</a:t>
                      </a:r>
                    </a:p>
                  </a:txBody>
                  <a:tcPr>
                    <a:solidFill>
                      <a:srgbClr val="F2F2F2"/>
                    </a:solidFill>
                  </a:tcPr>
                </a:tc>
                <a:tc>
                  <a:txBody>
                    <a:bodyPr/>
                    <a:lstStyle/>
                    <a:p>
                      <a:pPr algn="ctr"/>
                      <a:r>
                        <a:rPr sz="1000" b="0" i="0">
                          <a:solidFill>
                            <a:srgbClr val="262626"/>
                          </a:solidFill>
                          <a:latin typeface="Arial"/>
                        </a:rPr>
                        <a:t>Moderate</a:t>
                      </a:r>
                    </a:p>
                  </a:txBody>
                  <a:tcPr>
                    <a:solidFill>
                      <a:srgbClr val="F2F2F2"/>
                    </a:solidFill>
                  </a:tcPr>
                </a:tc>
                <a:extLst>
                  <a:ext uri="{0D108BD9-81ED-4DB2-BD59-A6C34878D82A}">
                    <a16:rowId xmlns:a16="http://schemas.microsoft.com/office/drawing/2014/main" val="10008"/>
                  </a:ext>
                </a:extLst>
              </a:tr>
              <a:tr h="207887">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6.7</a:t>
                      </a:r>
                    </a:p>
                  </a:txBody>
                  <a:tcPr>
                    <a:solidFill>
                      <a:srgbClr val="FFFFFF"/>
                    </a:solidFill>
                  </a:tcPr>
                </a:tc>
                <a:tc>
                  <a:txBody>
                    <a:bodyPr/>
                    <a:lstStyle/>
                    <a:p>
                      <a:pPr algn="ctr"/>
                      <a:r>
                        <a:rPr sz="1000" b="0" i="0" dirty="0">
                          <a:solidFill>
                            <a:srgbClr val="262626"/>
                          </a:solidFill>
                          <a:latin typeface="Arial"/>
                        </a:rPr>
                        <a:t>33</a:t>
                      </a:r>
                    </a:p>
                  </a:txBody>
                  <a:tcPr>
                    <a:solidFill>
                      <a:srgbClr val="FFFFFF"/>
                    </a:solidFill>
                  </a:tcPr>
                </a:tc>
                <a:tc>
                  <a:txBody>
                    <a:bodyPr/>
                    <a:lstStyle/>
                    <a:p>
                      <a:pPr algn="ctr"/>
                      <a:r>
                        <a:rPr sz="1000" b="0" i="0">
                          <a:solidFill>
                            <a:srgbClr val="262626"/>
                          </a:solidFill>
                          <a:latin typeface="Arial"/>
                        </a:rPr>
                        <a:t>3.3</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9"/>
                  </a:ext>
                </a:extLst>
              </a:tr>
              <a:tr h="207887">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1.9</a:t>
                      </a:r>
                    </a:p>
                  </a:txBody>
                  <a:tcPr>
                    <a:solidFill>
                      <a:srgbClr val="F2F2F2"/>
                    </a:solidFill>
                  </a:tcPr>
                </a:tc>
                <a:tc>
                  <a:txBody>
                    <a:bodyPr/>
                    <a:lstStyle/>
                    <a:p>
                      <a:pPr algn="ctr"/>
                      <a:r>
                        <a:rPr sz="1000" b="0" i="0" dirty="0">
                          <a:solidFill>
                            <a:srgbClr val="262626"/>
                          </a:solidFill>
                          <a:latin typeface="Arial"/>
                        </a:rPr>
                        <a:t>22</a:t>
                      </a:r>
                    </a:p>
                  </a:txBody>
                  <a:tcPr>
                    <a:solidFill>
                      <a:srgbClr val="F2F2F2"/>
                    </a:solidFill>
                  </a:tcPr>
                </a:tc>
                <a:tc>
                  <a:txBody>
                    <a:bodyPr/>
                    <a:lstStyle/>
                    <a:p>
                      <a:pPr algn="ctr"/>
                      <a:r>
                        <a:rPr sz="1000" b="0" i="0">
                          <a:solidFill>
                            <a:srgbClr val="262626"/>
                          </a:solidFill>
                          <a:latin typeface="Arial"/>
                        </a:rPr>
                        <a:t>1.3</a:t>
                      </a:r>
                    </a:p>
                  </a:txBody>
                  <a:tcPr>
                    <a:solidFill>
                      <a:srgbClr val="F2F2F2"/>
                    </a:solidFill>
                  </a:tcPr>
                </a:tc>
                <a:tc>
                  <a:txBody>
                    <a:bodyPr/>
                    <a:lstStyle/>
                    <a:p>
                      <a:pPr algn="ctr"/>
                      <a:r>
                        <a:rPr sz="1000" b="0" i="0" dirty="0">
                          <a:solidFill>
                            <a:srgbClr val="262626"/>
                          </a:solidFill>
                          <a:latin typeface="Arial"/>
                        </a:rPr>
                        <a:t>Fair</a:t>
                      </a:r>
                    </a:p>
                  </a:txBody>
                  <a:tcPr>
                    <a:solidFill>
                      <a:srgbClr val="F2F2F2"/>
                    </a:solidFill>
                  </a:tcPr>
                </a:tc>
                <a:extLst>
                  <a:ext uri="{0D108BD9-81ED-4DB2-BD59-A6C34878D82A}">
                    <a16:rowId xmlns:a16="http://schemas.microsoft.com/office/drawing/2014/main" val="10010"/>
                  </a:ext>
                </a:extLst>
              </a:tr>
            </a:tbl>
          </a:graphicData>
        </a:graphic>
      </p:graphicFrame>
      <p:sp>
        <p:nvSpPr>
          <p:cNvPr id="12" name="TextBox 11"/>
          <p:cNvSpPr txBox="1"/>
          <p:nvPr/>
        </p:nvSpPr>
        <p:spPr>
          <a:xfrm>
            <a:off x="5212080" y="1088136"/>
            <a:ext cx="3931920" cy="91440"/>
          </a:xfrm>
          <a:prstGeom prst="rect">
            <a:avLst/>
          </a:prstGeom>
          <a:noFill/>
        </p:spPr>
        <p:txBody>
          <a:bodyPr wrap="square">
            <a:spAutoFit/>
          </a:bodyPr>
          <a:lstStyle/>
          <a:p>
            <a:pPr algn="l"/>
            <a:r>
              <a:rPr sz="950" b="1" i="0">
                <a:solidFill>
                  <a:srgbClr val="002060"/>
                </a:solidFill>
                <a:latin typeface="Arial"/>
              </a:rPr>
              <a:t>AIR QUALITY (Open-Meteo archive)</a:t>
            </a:r>
          </a:p>
        </p:txBody>
      </p:sp>
      <p:sp>
        <p:nvSpPr>
          <p:cNvPr id="19" name="TextBox 18"/>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Weather and AQ data: Open-Meteo historical archive (archive-api.open-meteo.com). EU AQI: Good ≤20, Fair ≤40, Moderate ≤60, Poor ≤80, Very Poor &gt;80.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Who to Watch — Karlovy Vary Race Week</a:t>
            </a:r>
          </a:p>
        </p:txBody>
      </p:sp>
      <p:sp>
        <p:nvSpPr>
          <p:cNvPr id="4" name="Rectangle 3"/>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6" name="Rectangle 5"/>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400" b="1" i="0">
                <a:solidFill>
                  <a:srgbClr val="FFFFFF"/>
                </a:solidFill>
                <a:latin typeface="Arial"/>
              </a:rPr>
              <a:t>ELITE MEN</a:t>
            </a:r>
          </a:p>
        </p:txBody>
      </p:sp>
      <p:sp>
        <p:nvSpPr>
          <p:cNvPr id="9" name="Rectangle 8"/>
          <p:cNvSpPr/>
          <p:nvPr/>
        </p:nvSpPr>
        <p:spPr>
          <a:xfrm>
            <a:off x="2743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11" name="Table 10"/>
          <p:cNvGraphicFramePr>
            <a:graphicFrameLocks noGrp="1"/>
          </p:cNvGraphicFramePr>
          <p:nvPr/>
        </p:nvGraphicFramePr>
        <p:xfrm>
          <a:off x="2743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2</a:t>
                      </a:r>
                    </a:p>
                  </a:txBody>
                  <a:tcPr>
                    <a:solidFill>
                      <a:srgbClr val="FFFFFF"/>
                    </a:solidFill>
                  </a:tcPr>
                </a:tc>
                <a:tc>
                  <a:txBody>
                    <a:bodyPr/>
                    <a:lstStyle/>
                    <a:p>
                      <a:pPr algn="l"/>
                      <a:r>
                        <a:rPr sz="1000" b="0" i="0">
                          <a:solidFill>
                            <a:srgbClr val="262626"/>
                          </a:solidFill>
                          <a:latin typeface="Arial"/>
                        </a:rPr>
                        <a:t>Miguel Hidalgo</a:t>
                      </a:r>
                    </a:p>
                  </a:txBody>
                  <a:tcPr>
                    <a:solidFill>
                      <a:srgbClr val="FFFFFF"/>
                    </a:solidFill>
                  </a:tcPr>
                </a:tc>
                <a:tc>
                  <a:txBody>
                    <a:bodyPr/>
                    <a:lstStyle/>
                    <a:p>
                      <a:pPr algn="ctr"/>
                      <a:r>
                        <a:rPr sz="1000" b="0" i="0">
                          <a:solidFill>
                            <a:srgbClr val="262626"/>
                          </a:solidFill>
                          <a:latin typeface="Arial"/>
                        </a:rPr>
                        <a:t>6,742</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3</a:t>
                      </a:r>
                    </a:p>
                  </a:txBody>
                  <a:tcPr>
                    <a:solidFill>
                      <a:srgbClr val="F2F2F2"/>
                    </a:solidFill>
                  </a:tcPr>
                </a:tc>
                <a:tc>
                  <a:txBody>
                    <a:bodyPr/>
                    <a:lstStyle/>
                    <a:p>
                      <a:pPr algn="l"/>
                      <a:r>
                        <a:rPr sz="1000" b="0" i="0">
                          <a:solidFill>
                            <a:srgbClr val="262626"/>
                          </a:solidFill>
                          <a:latin typeface="Arial"/>
                        </a:rPr>
                        <a:t>Vasco Vilaca</a:t>
                      </a:r>
                    </a:p>
                  </a:txBody>
                  <a:tcPr>
                    <a:solidFill>
                      <a:srgbClr val="F2F2F2"/>
                    </a:solidFill>
                  </a:tcPr>
                </a:tc>
                <a:tc>
                  <a:txBody>
                    <a:bodyPr/>
                    <a:lstStyle/>
                    <a:p>
                      <a:pPr algn="ctr"/>
                      <a:r>
                        <a:rPr sz="1000" b="0" i="0">
                          <a:solidFill>
                            <a:srgbClr val="262626"/>
                          </a:solidFill>
                          <a:latin typeface="Arial"/>
                        </a:rPr>
                        <a:t>6,632</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4</a:t>
                      </a:r>
                    </a:p>
                  </a:txBody>
                  <a:tcPr>
                    <a:solidFill>
                      <a:srgbClr val="FFFFFF"/>
                    </a:solidFill>
                  </a:tcPr>
                </a:tc>
                <a:tc>
                  <a:txBody>
                    <a:bodyPr/>
                    <a:lstStyle/>
                    <a:p>
                      <a:pPr algn="l"/>
                      <a:r>
                        <a:rPr sz="1000" b="0" i="0">
                          <a:solidFill>
                            <a:srgbClr val="262626"/>
                          </a:solidFill>
                          <a:latin typeface="Arial"/>
                        </a:rPr>
                        <a:t>Henry Graf</a:t>
                      </a:r>
                    </a:p>
                  </a:txBody>
                  <a:tcPr>
                    <a:solidFill>
                      <a:srgbClr val="FFFFFF"/>
                    </a:solidFill>
                  </a:tcPr>
                </a:tc>
                <a:tc>
                  <a:txBody>
                    <a:bodyPr/>
                    <a:lstStyle/>
                    <a:p>
                      <a:pPr algn="ctr"/>
                      <a:r>
                        <a:rPr sz="1000" b="0" i="0">
                          <a:solidFill>
                            <a:srgbClr val="262626"/>
                          </a:solidFill>
                          <a:latin typeface="Arial"/>
                        </a:rPr>
                        <a:t>6,009</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5</a:t>
                      </a:r>
                    </a:p>
                  </a:txBody>
                  <a:tcPr>
                    <a:solidFill>
                      <a:srgbClr val="F2F2F2"/>
                    </a:solidFill>
                  </a:tcPr>
                </a:tc>
                <a:tc>
                  <a:txBody>
                    <a:bodyPr/>
                    <a:lstStyle/>
                    <a:p>
                      <a:pPr algn="l"/>
                      <a:r>
                        <a:rPr sz="1000" b="0" i="0">
                          <a:solidFill>
                            <a:srgbClr val="262626"/>
                          </a:solidFill>
                          <a:latin typeface="Arial"/>
                        </a:rPr>
                        <a:t>Csongor Lehmann</a:t>
                      </a:r>
                    </a:p>
                  </a:txBody>
                  <a:tcPr>
                    <a:solidFill>
                      <a:srgbClr val="F2F2F2"/>
                    </a:solidFill>
                  </a:tcPr>
                </a:tc>
                <a:tc>
                  <a:txBody>
                    <a:bodyPr/>
                    <a:lstStyle/>
                    <a:p>
                      <a:pPr algn="ctr"/>
                      <a:r>
                        <a:rPr sz="1000" b="0" i="0">
                          <a:solidFill>
                            <a:srgbClr val="262626"/>
                          </a:solidFill>
                          <a:latin typeface="Arial"/>
                        </a:rPr>
                        <a:t>5,281</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6</a:t>
                      </a:r>
                    </a:p>
                  </a:txBody>
                  <a:tcPr>
                    <a:solidFill>
                      <a:srgbClr val="FFFFFF"/>
                    </a:solidFill>
                  </a:tcPr>
                </a:tc>
                <a:tc>
                  <a:txBody>
                    <a:bodyPr/>
                    <a:lstStyle/>
                    <a:p>
                      <a:pPr algn="l"/>
                      <a:r>
                        <a:rPr sz="1000" b="0" i="0">
                          <a:solidFill>
                            <a:srgbClr val="262626"/>
                          </a:solidFill>
                          <a:latin typeface="Arial"/>
                        </a:rPr>
                        <a:t>David Cantero Del Campo</a:t>
                      </a:r>
                    </a:p>
                  </a:txBody>
                  <a:tcPr>
                    <a:solidFill>
                      <a:srgbClr val="FFFFFF"/>
                    </a:solidFill>
                  </a:tcPr>
                </a:tc>
                <a:tc>
                  <a:txBody>
                    <a:bodyPr/>
                    <a:lstStyle/>
                    <a:p>
                      <a:pPr algn="ctr"/>
                      <a:r>
                        <a:rPr sz="1000" b="0" i="0">
                          <a:solidFill>
                            <a:srgbClr val="262626"/>
                          </a:solidFill>
                          <a:latin typeface="Arial"/>
                        </a:rPr>
                        <a:t>5,092</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8</a:t>
                      </a:r>
                    </a:p>
                  </a:txBody>
                  <a:tcPr>
                    <a:solidFill>
                      <a:srgbClr val="F2F2F2"/>
                    </a:solidFill>
                  </a:tcPr>
                </a:tc>
                <a:tc>
                  <a:txBody>
                    <a:bodyPr/>
                    <a:lstStyle/>
                    <a:p>
                      <a:pPr algn="l"/>
                      <a:r>
                        <a:rPr sz="1000" b="0" i="0">
                          <a:solidFill>
                            <a:srgbClr val="262626"/>
                          </a:solidFill>
                          <a:latin typeface="Arial"/>
                        </a:rPr>
                        <a:t>Dorian Coninx</a:t>
                      </a:r>
                    </a:p>
                  </a:txBody>
                  <a:tcPr>
                    <a:solidFill>
                      <a:srgbClr val="F2F2F2"/>
                    </a:solidFill>
                  </a:tcPr>
                </a:tc>
                <a:tc>
                  <a:txBody>
                    <a:bodyPr/>
                    <a:lstStyle/>
                    <a:p>
                      <a:pPr algn="ctr"/>
                      <a:r>
                        <a:rPr sz="1000" b="0" i="0">
                          <a:solidFill>
                            <a:srgbClr val="262626"/>
                          </a:solidFill>
                          <a:latin typeface="Arial"/>
                        </a:rPr>
                        <a:t>4,423</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9</a:t>
                      </a:r>
                    </a:p>
                  </a:txBody>
                  <a:tcPr>
                    <a:solidFill>
                      <a:srgbClr val="FFFFFF"/>
                    </a:solidFill>
                  </a:tcPr>
                </a:tc>
                <a:tc>
                  <a:txBody>
                    <a:bodyPr/>
                    <a:lstStyle/>
                    <a:p>
                      <a:pPr algn="l"/>
                      <a:r>
                        <a:rPr sz="1000" b="0" i="0">
                          <a:solidFill>
                            <a:srgbClr val="262626"/>
                          </a:solidFill>
                          <a:latin typeface="Arial"/>
                        </a:rPr>
                        <a:t>Ricardo Batista</a:t>
                      </a:r>
                    </a:p>
                  </a:txBody>
                  <a:tcPr>
                    <a:solidFill>
                      <a:srgbClr val="FFFFFF"/>
                    </a:solidFill>
                  </a:tcPr>
                </a:tc>
                <a:tc>
                  <a:txBody>
                    <a:bodyPr/>
                    <a:lstStyle/>
                    <a:p>
                      <a:pPr algn="ctr"/>
                      <a:r>
                        <a:rPr sz="1000" b="0" i="0">
                          <a:solidFill>
                            <a:srgbClr val="262626"/>
                          </a:solidFill>
                          <a:latin typeface="Arial"/>
                        </a:rPr>
                        <a:t>4,055</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10</a:t>
                      </a:r>
                    </a:p>
                  </a:txBody>
                  <a:tcPr>
                    <a:solidFill>
                      <a:srgbClr val="F2F2F2"/>
                    </a:solidFill>
                  </a:tcPr>
                </a:tc>
                <a:tc>
                  <a:txBody>
                    <a:bodyPr/>
                    <a:lstStyle/>
                    <a:p>
                      <a:pPr algn="l"/>
                      <a:r>
                        <a:rPr sz="1000" b="0" i="0">
                          <a:solidFill>
                            <a:srgbClr val="262626"/>
                          </a:solidFill>
                          <a:latin typeface="Arial"/>
                        </a:rPr>
                        <a:t>Charles Paquet</a:t>
                      </a:r>
                    </a:p>
                  </a:txBody>
                  <a:tcPr>
                    <a:solidFill>
                      <a:srgbClr val="F2F2F2"/>
                    </a:solidFill>
                  </a:tcPr>
                </a:tc>
                <a:tc>
                  <a:txBody>
                    <a:bodyPr/>
                    <a:lstStyle/>
                    <a:p>
                      <a:pPr algn="ctr"/>
                      <a:r>
                        <a:rPr sz="1000" b="0" i="0">
                          <a:solidFill>
                            <a:srgbClr val="262626"/>
                          </a:solidFill>
                          <a:latin typeface="Arial"/>
                        </a:rPr>
                        <a:t>3,998</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12</a:t>
                      </a:r>
                    </a:p>
                  </a:txBody>
                  <a:tcPr>
                    <a:solidFill>
                      <a:srgbClr val="FFFFFF"/>
                    </a:solidFill>
                  </a:tcPr>
                </a:tc>
                <a:tc>
                  <a:txBody>
                    <a:bodyPr/>
                    <a:lstStyle/>
                    <a:p>
                      <a:pPr algn="l"/>
                      <a:r>
                        <a:rPr sz="1000" b="0" i="0">
                          <a:solidFill>
                            <a:srgbClr val="262626"/>
                          </a:solidFill>
                          <a:latin typeface="Arial"/>
                        </a:rPr>
                        <a:t>Oliver Conway</a:t>
                      </a:r>
                    </a:p>
                  </a:txBody>
                  <a:tcPr>
                    <a:solidFill>
                      <a:srgbClr val="FFFFFF"/>
                    </a:solidFill>
                  </a:tcPr>
                </a:tc>
                <a:tc>
                  <a:txBody>
                    <a:bodyPr/>
                    <a:lstStyle/>
                    <a:p>
                      <a:pPr algn="ctr"/>
                      <a:r>
                        <a:rPr sz="1000" b="0" i="0">
                          <a:solidFill>
                            <a:srgbClr val="262626"/>
                          </a:solidFill>
                          <a:latin typeface="Arial"/>
                        </a:rPr>
                        <a:t>3,682</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15</a:t>
                      </a:r>
                    </a:p>
                  </a:txBody>
                  <a:tcPr>
                    <a:solidFill>
                      <a:srgbClr val="F2F2F2"/>
                    </a:solidFill>
                  </a:tcPr>
                </a:tc>
                <a:tc>
                  <a:txBody>
                    <a:bodyPr/>
                    <a:lstStyle/>
                    <a:p>
                      <a:pPr algn="l"/>
                      <a:r>
                        <a:rPr sz="1000" b="0" i="0">
                          <a:solidFill>
                            <a:srgbClr val="262626"/>
                          </a:solidFill>
                          <a:latin typeface="Arial"/>
                        </a:rPr>
                        <a:t>Tjebbe Kaindl</a:t>
                      </a:r>
                    </a:p>
                  </a:txBody>
                  <a:tcPr>
                    <a:solidFill>
                      <a:srgbClr val="F2F2F2"/>
                    </a:solidFill>
                  </a:tcPr>
                </a:tc>
                <a:tc>
                  <a:txBody>
                    <a:bodyPr/>
                    <a:lstStyle/>
                    <a:p>
                      <a:pPr algn="ctr"/>
                      <a:r>
                        <a:rPr sz="1000" b="0" i="0">
                          <a:solidFill>
                            <a:srgbClr val="262626"/>
                          </a:solidFill>
                          <a:latin typeface="Arial"/>
                        </a:rPr>
                        <a:t>3,293</a:t>
                      </a:r>
                    </a:p>
                  </a:txBody>
                  <a:tcPr>
                    <a:solidFill>
                      <a:srgbClr val="F2F2F2"/>
                    </a:solidFill>
                  </a:tcPr>
                </a:tc>
                <a:extLst>
                  <a:ext uri="{0D108BD9-81ED-4DB2-BD59-A6C34878D82A}">
                    <a16:rowId xmlns:a16="http://schemas.microsoft.com/office/drawing/2014/main" val="10010"/>
                  </a:ext>
                </a:extLst>
              </a:tr>
            </a:tbl>
          </a:graphicData>
        </a:graphic>
      </p:graphicFrame>
      <p:sp>
        <p:nvSpPr>
          <p:cNvPr id="12" name="Rectangle 11"/>
          <p:cNvSpPr/>
          <p:nvPr/>
        </p:nvSpPr>
        <p:spPr>
          <a:xfrm>
            <a:off x="2743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14" name="TextBox 13"/>
          <p:cNvSpPr txBox="1"/>
          <p:nvPr/>
        </p:nvSpPr>
        <p:spPr>
          <a:xfrm>
            <a:off x="411480" y="5422392"/>
            <a:ext cx="5394960" cy="292608"/>
          </a:xfrm>
          <a:prstGeom prst="rect">
            <a:avLst/>
          </a:prstGeom>
          <a:noFill/>
        </p:spPr>
        <p:txBody>
          <a:bodyPr wrap="square">
            <a:spAutoFit/>
          </a:bodyPr>
          <a:lstStyle/>
          <a:p>
            <a:pPr algn="l"/>
            <a:r>
              <a:rPr sz="1100" b="1" i="0">
                <a:solidFill>
                  <a:srgbClr val="262626"/>
                </a:solidFill>
                <a:latin typeface="Arial"/>
              </a:rPr>
              <a:t>1.  Henry Graf   (01:49:22)</a:t>
            </a:r>
          </a:p>
        </p:txBody>
      </p:sp>
      <p:sp>
        <p:nvSpPr>
          <p:cNvPr id="15" name="TextBox 14"/>
          <p:cNvSpPr txBox="1"/>
          <p:nvPr/>
        </p:nvSpPr>
        <p:spPr>
          <a:xfrm>
            <a:off x="411480" y="5715000"/>
            <a:ext cx="5394960" cy="292608"/>
          </a:xfrm>
          <a:prstGeom prst="rect">
            <a:avLst/>
          </a:prstGeom>
          <a:noFill/>
        </p:spPr>
        <p:txBody>
          <a:bodyPr wrap="square">
            <a:spAutoFit/>
          </a:bodyPr>
          <a:lstStyle/>
          <a:p>
            <a:pPr algn="l"/>
            <a:r>
              <a:rPr sz="1100" b="0" i="0">
                <a:solidFill>
                  <a:srgbClr val="262626"/>
                </a:solidFill>
                <a:latin typeface="Arial"/>
              </a:rPr>
              <a:t>2.  Miguel Hidalgo   (01:49:29)</a:t>
            </a:r>
          </a:p>
        </p:txBody>
      </p:sp>
      <p:sp>
        <p:nvSpPr>
          <p:cNvPr id="16" name="TextBox 15"/>
          <p:cNvSpPr txBox="1"/>
          <p:nvPr/>
        </p:nvSpPr>
        <p:spPr>
          <a:xfrm>
            <a:off x="411480" y="6007608"/>
            <a:ext cx="5394960" cy="292608"/>
          </a:xfrm>
          <a:prstGeom prst="rect">
            <a:avLst/>
          </a:prstGeom>
          <a:noFill/>
        </p:spPr>
        <p:txBody>
          <a:bodyPr wrap="square">
            <a:spAutoFit/>
          </a:bodyPr>
          <a:lstStyle/>
          <a:p>
            <a:pPr algn="l"/>
            <a:r>
              <a:rPr sz="1100" b="0" i="0">
                <a:solidFill>
                  <a:srgbClr val="262626"/>
                </a:solidFill>
                <a:latin typeface="Arial"/>
              </a:rPr>
              <a:t>3.  Csongor Lehmann   (01:49:46)</a:t>
            </a:r>
          </a:p>
        </p:txBody>
      </p:sp>
      <p:sp>
        <p:nvSpPr>
          <p:cNvPr id="17" name="Rectangle 16"/>
          <p:cNvSpPr/>
          <p:nvPr/>
        </p:nvSpPr>
        <p:spPr>
          <a:xfrm>
            <a:off x="62179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234440"/>
            <a:ext cx="5486400" cy="292608"/>
          </a:xfrm>
          <a:prstGeom prst="rect">
            <a:avLst/>
          </a:prstGeom>
          <a:noFill/>
        </p:spPr>
        <p:txBody>
          <a:bodyPr wrap="square">
            <a:spAutoFit/>
          </a:bodyPr>
          <a:lstStyle/>
          <a:p>
            <a:pPr algn="ctr"/>
            <a:r>
              <a:rPr sz="1400" b="1" i="0">
                <a:solidFill>
                  <a:srgbClr val="FFFFFF"/>
                </a:solidFill>
                <a:latin typeface="Arial"/>
              </a:rPr>
              <a:t>ELITE WOMEN</a:t>
            </a:r>
          </a:p>
        </p:txBody>
      </p:sp>
      <p:sp>
        <p:nvSpPr>
          <p:cNvPr id="19" name="Rectangle 18"/>
          <p:cNvSpPr/>
          <p:nvPr/>
        </p:nvSpPr>
        <p:spPr>
          <a:xfrm>
            <a:off x="62179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21" name="Table 20"/>
          <p:cNvGraphicFramePr>
            <a:graphicFrameLocks noGrp="1"/>
          </p:cNvGraphicFramePr>
          <p:nvPr/>
        </p:nvGraphicFramePr>
        <p:xfrm>
          <a:off x="62179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1</a:t>
                      </a:r>
                    </a:p>
                  </a:txBody>
                  <a:tcPr>
                    <a:solidFill>
                      <a:srgbClr val="FFFFFF"/>
                    </a:solidFill>
                  </a:tcPr>
                </a:tc>
                <a:tc>
                  <a:txBody>
                    <a:bodyPr/>
                    <a:lstStyle/>
                    <a:p>
                      <a:pPr algn="l"/>
                      <a:r>
                        <a:rPr sz="1000" b="0" i="0">
                          <a:solidFill>
                            <a:srgbClr val="262626"/>
                          </a:solidFill>
                          <a:latin typeface="Arial"/>
                        </a:rPr>
                        <a:t>Beth Potter</a:t>
                      </a:r>
                    </a:p>
                  </a:txBody>
                  <a:tcPr>
                    <a:solidFill>
                      <a:srgbClr val="FFFFFF"/>
                    </a:solidFill>
                  </a:tcPr>
                </a:tc>
                <a:tc>
                  <a:txBody>
                    <a:bodyPr/>
                    <a:lstStyle/>
                    <a:p>
                      <a:pPr algn="ctr"/>
                      <a:r>
                        <a:rPr sz="1000" b="0" i="0">
                          <a:solidFill>
                            <a:srgbClr val="262626"/>
                          </a:solidFill>
                          <a:latin typeface="Arial"/>
                        </a:rPr>
                        <a:t>7,276</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2</a:t>
                      </a:r>
                    </a:p>
                  </a:txBody>
                  <a:tcPr>
                    <a:solidFill>
                      <a:srgbClr val="F2F2F2"/>
                    </a:solidFill>
                  </a:tcPr>
                </a:tc>
                <a:tc>
                  <a:txBody>
                    <a:bodyPr/>
                    <a:lstStyle/>
                    <a:p>
                      <a:pPr algn="l"/>
                      <a:r>
                        <a:rPr sz="1000" b="0" i="0">
                          <a:solidFill>
                            <a:srgbClr val="262626"/>
                          </a:solidFill>
                          <a:latin typeface="Arial"/>
                        </a:rPr>
                        <a:t>Lisa Tertsch</a:t>
                      </a:r>
                    </a:p>
                  </a:txBody>
                  <a:tcPr>
                    <a:solidFill>
                      <a:srgbClr val="F2F2F2"/>
                    </a:solidFill>
                  </a:tcPr>
                </a:tc>
                <a:tc>
                  <a:txBody>
                    <a:bodyPr/>
                    <a:lstStyle/>
                    <a:p>
                      <a:pPr algn="ctr"/>
                      <a:r>
                        <a:rPr sz="1000" b="0" i="0">
                          <a:solidFill>
                            <a:srgbClr val="262626"/>
                          </a:solidFill>
                          <a:latin typeface="Arial"/>
                        </a:rPr>
                        <a:t>7,270</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4</a:t>
                      </a:r>
                    </a:p>
                  </a:txBody>
                  <a:tcPr>
                    <a:solidFill>
                      <a:srgbClr val="FFFFFF"/>
                    </a:solidFill>
                  </a:tcPr>
                </a:tc>
                <a:tc>
                  <a:txBody>
                    <a:bodyPr/>
                    <a:lstStyle/>
                    <a:p>
                      <a:pPr algn="l"/>
                      <a:r>
                        <a:rPr sz="1000" b="0" i="0">
                          <a:solidFill>
                            <a:srgbClr val="262626"/>
                          </a:solidFill>
                          <a:latin typeface="Arial"/>
                        </a:rPr>
                        <a:t>Jeanne Lehair</a:t>
                      </a:r>
                    </a:p>
                  </a:txBody>
                  <a:tcPr>
                    <a:solidFill>
                      <a:srgbClr val="FFFFFF"/>
                    </a:solidFill>
                  </a:tcPr>
                </a:tc>
                <a:tc>
                  <a:txBody>
                    <a:bodyPr/>
                    <a:lstStyle/>
                    <a:p>
                      <a:pPr algn="ctr"/>
                      <a:r>
                        <a:rPr sz="1000" b="0" i="0">
                          <a:solidFill>
                            <a:srgbClr val="262626"/>
                          </a:solidFill>
                          <a:latin typeface="Arial"/>
                        </a:rPr>
                        <a:t>6,306</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6</a:t>
                      </a:r>
                    </a:p>
                  </a:txBody>
                  <a:tcPr>
                    <a:solidFill>
                      <a:srgbClr val="F2F2F2"/>
                    </a:solidFill>
                  </a:tcPr>
                </a:tc>
                <a:tc>
                  <a:txBody>
                    <a:bodyPr/>
                    <a:lstStyle/>
                    <a:p>
                      <a:pPr algn="l"/>
                      <a:r>
                        <a:rPr sz="1000" b="0" i="0">
                          <a:solidFill>
                            <a:srgbClr val="262626"/>
                          </a:solidFill>
                          <a:latin typeface="Arial"/>
                        </a:rPr>
                        <a:t>Cassandre Beaugrand</a:t>
                      </a:r>
                    </a:p>
                  </a:txBody>
                  <a:tcPr>
                    <a:solidFill>
                      <a:srgbClr val="F2F2F2"/>
                    </a:solidFill>
                  </a:tcPr>
                </a:tc>
                <a:tc>
                  <a:txBody>
                    <a:bodyPr/>
                    <a:lstStyle/>
                    <a:p>
                      <a:pPr algn="ctr"/>
                      <a:r>
                        <a:rPr sz="1000" b="0" i="0">
                          <a:solidFill>
                            <a:srgbClr val="262626"/>
                          </a:solidFill>
                          <a:latin typeface="Arial"/>
                        </a:rPr>
                        <a:t>5,391</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7</a:t>
                      </a:r>
                    </a:p>
                  </a:txBody>
                  <a:tcPr>
                    <a:solidFill>
                      <a:srgbClr val="FFFFFF"/>
                    </a:solidFill>
                  </a:tcPr>
                </a:tc>
                <a:tc>
                  <a:txBody>
                    <a:bodyPr/>
                    <a:lstStyle/>
                    <a:p>
                      <a:pPr algn="l"/>
                      <a:r>
                        <a:rPr sz="1000" b="0" i="0">
                          <a:solidFill>
                            <a:srgbClr val="262626"/>
                          </a:solidFill>
                          <a:latin typeface="Arial"/>
                        </a:rPr>
                        <a:t>Jolien Vermeylen</a:t>
                      </a:r>
                    </a:p>
                  </a:txBody>
                  <a:tcPr>
                    <a:solidFill>
                      <a:srgbClr val="FFFFFF"/>
                    </a:solidFill>
                  </a:tcPr>
                </a:tc>
                <a:tc>
                  <a:txBody>
                    <a:bodyPr/>
                    <a:lstStyle/>
                    <a:p>
                      <a:pPr algn="ctr"/>
                      <a:r>
                        <a:rPr sz="1000" b="0" i="0">
                          <a:solidFill>
                            <a:srgbClr val="262626"/>
                          </a:solidFill>
                          <a:latin typeface="Arial"/>
                        </a:rPr>
                        <a:t>5,167</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9</a:t>
                      </a:r>
                    </a:p>
                  </a:txBody>
                  <a:tcPr>
                    <a:solidFill>
                      <a:srgbClr val="F2F2F2"/>
                    </a:solidFill>
                  </a:tcPr>
                </a:tc>
                <a:tc>
                  <a:txBody>
                    <a:bodyPr/>
                    <a:lstStyle/>
                    <a:p>
                      <a:pPr algn="l"/>
                      <a:r>
                        <a:rPr sz="1000" b="0" i="0">
                          <a:solidFill>
                            <a:srgbClr val="262626"/>
                          </a:solidFill>
                          <a:latin typeface="Arial"/>
                        </a:rPr>
                        <a:t>Taylor Spivey</a:t>
                      </a:r>
                    </a:p>
                  </a:txBody>
                  <a:tcPr>
                    <a:solidFill>
                      <a:srgbClr val="F2F2F2"/>
                    </a:solidFill>
                  </a:tcPr>
                </a:tc>
                <a:tc>
                  <a:txBody>
                    <a:bodyPr/>
                    <a:lstStyle/>
                    <a:p>
                      <a:pPr algn="ctr"/>
                      <a:r>
                        <a:rPr sz="1000" b="0" i="0">
                          <a:solidFill>
                            <a:srgbClr val="262626"/>
                          </a:solidFill>
                          <a:latin typeface="Arial"/>
                        </a:rPr>
                        <a:t>5,091</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10</a:t>
                      </a:r>
                    </a:p>
                  </a:txBody>
                  <a:tcPr>
                    <a:solidFill>
                      <a:srgbClr val="FFFFFF"/>
                    </a:solidFill>
                  </a:tcPr>
                </a:tc>
                <a:tc>
                  <a:txBody>
                    <a:bodyPr/>
                    <a:lstStyle/>
                    <a:p>
                      <a:pPr algn="l"/>
                      <a:r>
                        <a:rPr sz="1000" b="0" i="0">
                          <a:solidFill>
                            <a:srgbClr val="262626"/>
                          </a:solidFill>
                          <a:latin typeface="Arial"/>
                        </a:rPr>
                        <a:t>Diana Isakova</a:t>
                      </a:r>
                    </a:p>
                  </a:txBody>
                  <a:tcPr>
                    <a:solidFill>
                      <a:srgbClr val="FFFFFF"/>
                    </a:solidFill>
                  </a:tcPr>
                </a:tc>
                <a:tc>
                  <a:txBody>
                    <a:bodyPr/>
                    <a:lstStyle/>
                    <a:p>
                      <a:pPr algn="ctr"/>
                      <a:r>
                        <a:rPr sz="1000" b="0" i="0">
                          <a:solidFill>
                            <a:srgbClr val="262626"/>
                          </a:solidFill>
                          <a:latin typeface="Arial"/>
                        </a:rPr>
                        <a:t>4,750</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11</a:t>
                      </a:r>
                    </a:p>
                  </a:txBody>
                  <a:tcPr>
                    <a:solidFill>
                      <a:srgbClr val="F2F2F2"/>
                    </a:solidFill>
                  </a:tcPr>
                </a:tc>
                <a:tc>
                  <a:txBody>
                    <a:bodyPr/>
                    <a:lstStyle/>
                    <a:p>
                      <a:pPr algn="l"/>
                      <a:r>
                        <a:rPr sz="1000" b="0" i="0">
                          <a:solidFill>
                            <a:srgbClr val="262626"/>
                          </a:solidFill>
                          <a:latin typeface="Arial"/>
                        </a:rPr>
                        <a:t>Tanja Neubert</a:t>
                      </a:r>
                    </a:p>
                  </a:txBody>
                  <a:tcPr>
                    <a:solidFill>
                      <a:srgbClr val="F2F2F2"/>
                    </a:solidFill>
                  </a:tcPr>
                </a:tc>
                <a:tc>
                  <a:txBody>
                    <a:bodyPr/>
                    <a:lstStyle/>
                    <a:p>
                      <a:pPr algn="ctr"/>
                      <a:r>
                        <a:rPr sz="1000" b="0" i="0">
                          <a:solidFill>
                            <a:srgbClr val="262626"/>
                          </a:solidFill>
                          <a:latin typeface="Arial"/>
                        </a:rPr>
                        <a:t>4,583</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12</a:t>
                      </a:r>
                    </a:p>
                  </a:txBody>
                  <a:tcPr>
                    <a:solidFill>
                      <a:srgbClr val="FFFFFF"/>
                    </a:solidFill>
                  </a:tcPr>
                </a:tc>
                <a:tc>
                  <a:txBody>
                    <a:bodyPr/>
                    <a:lstStyle/>
                    <a:p>
                      <a:pPr algn="l"/>
                      <a:r>
                        <a:rPr sz="1000" b="0" i="0">
                          <a:solidFill>
                            <a:srgbClr val="262626"/>
                          </a:solidFill>
                          <a:latin typeface="Arial"/>
                        </a:rPr>
                        <a:t>Bianca Seregni</a:t>
                      </a:r>
                    </a:p>
                  </a:txBody>
                  <a:tcPr>
                    <a:solidFill>
                      <a:srgbClr val="FFFFFF"/>
                    </a:solidFill>
                  </a:tcPr>
                </a:tc>
                <a:tc>
                  <a:txBody>
                    <a:bodyPr/>
                    <a:lstStyle/>
                    <a:p>
                      <a:pPr algn="ctr"/>
                      <a:r>
                        <a:rPr sz="1000" b="0" i="0">
                          <a:solidFill>
                            <a:srgbClr val="262626"/>
                          </a:solidFill>
                          <a:latin typeface="Arial"/>
                        </a:rPr>
                        <a:t>4,437</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13</a:t>
                      </a:r>
                    </a:p>
                  </a:txBody>
                  <a:tcPr>
                    <a:solidFill>
                      <a:srgbClr val="F2F2F2"/>
                    </a:solidFill>
                  </a:tcPr>
                </a:tc>
                <a:tc>
                  <a:txBody>
                    <a:bodyPr/>
                    <a:lstStyle/>
                    <a:p>
                      <a:pPr algn="l"/>
                      <a:r>
                        <a:rPr sz="1000" b="0" i="0">
                          <a:solidFill>
                            <a:srgbClr val="262626"/>
                          </a:solidFill>
                          <a:latin typeface="Arial"/>
                        </a:rPr>
                        <a:t>Georgia Taylor-Brown</a:t>
                      </a:r>
                    </a:p>
                  </a:txBody>
                  <a:tcPr>
                    <a:solidFill>
                      <a:srgbClr val="F2F2F2"/>
                    </a:solidFill>
                  </a:tcPr>
                </a:tc>
                <a:tc>
                  <a:txBody>
                    <a:bodyPr/>
                    <a:lstStyle/>
                    <a:p>
                      <a:pPr algn="ctr"/>
                      <a:r>
                        <a:rPr sz="1000" b="0" i="0">
                          <a:solidFill>
                            <a:srgbClr val="262626"/>
                          </a:solidFill>
                          <a:latin typeface="Arial"/>
                        </a:rPr>
                        <a:t>3,728</a:t>
                      </a:r>
                    </a:p>
                  </a:txBody>
                  <a:tcPr>
                    <a:solidFill>
                      <a:srgbClr val="F2F2F2"/>
                    </a:solidFill>
                  </a:tcPr>
                </a:tc>
                <a:extLst>
                  <a:ext uri="{0D108BD9-81ED-4DB2-BD59-A6C34878D82A}">
                    <a16:rowId xmlns:a16="http://schemas.microsoft.com/office/drawing/2014/main" val="10010"/>
                  </a:ext>
                </a:extLst>
              </a:tr>
            </a:tbl>
          </a:graphicData>
        </a:graphic>
      </p:graphicFrame>
      <p:sp>
        <p:nvSpPr>
          <p:cNvPr id="22" name="Rectangle 21"/>
          <p:cNvSpPr/>
          <p:nvPr/>
        </p:nvSpPr>
        <p:spPr>
          <a:xfrm>
            <a:off x="62179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24" name="TextBox 23"/>
          <p:cNvSpPr txBox="1"/>
          <p:nvPr/>
        </p:nvSpPr>
        <p:spPr>
          <a:xfrm>
            <a:off x="6355080" y="5422392"/>
            <a:ext cx="5394960" cy="292608"/>
          </a:xfrm>
          <a:prstGeom prst="rect">
            <a:avLst/>
          </a:prstGeom>
          <a:noFill/>
        </p:spPr>
        <p:txBody>
          <a:bodyPr wrap="square">
            <a:spAutoFit/>
          </a:bodyPr>
          <a:lstStyle/>
          <a:p>
            <a:pPr algn="l"/>
            <a:r>
              <a:rPr sz="1100" b="1" i="0">
                <a:solidFill>
                  <a:srgbClr val="262626"/>
                </a:solidFill>
                <a:latin typeface="Arial"/>
              </a:rPr>
              <a:t>1.  Beth Potter   (02:02:12)</a:t>
            </a:r>
          </a:p>
        </p:txBody>
      </p:sp>
      <p:sp>
        <p:nvSpPr>
          <p:cNvPr id="25" name="TextBox 24"/>
          <p:cNvSpPr txBox="1"/>
          <p:nvPr/>
        </p:nvSpPr>
        <p:spPr>
          <a:xfrm>
            <a:off x="6355080" y="5715000"/>
            <a:ext cx="5394960" cy="292608"/>
          </a:xfrm>
          <a:prstGeom prst="rect">
            <a:avLst/>
          </a:prstGeom>
          <a:noFill/>
        </p:spPr>
        <p:txBody>
          <a:bodyPr wrap="square">
            <a:spAutoFit/>
          </a:bodyPr>
          <a:lstStyle/>
          <a:p>
            <a:pPr algn="l"/>
            <a:r>
              <a:rPr sz="1100" b="0" i="0">
                <a:solidFill>
                  <a:srgbClr val="262626"/>
                </a:solidFill>
                <a:latin typeface="Arial"/>
              </a:rPr>
              <a:t>2.  Taylor Spivey   (02:02:25)</a:t>
            </a:r>
          </a:p>
        </p:txBody>
      </p:sp>
      <p:sp>
        <p:nvSpPr>
          <p:cNvPr id="26" name="TextBox 25"/>
          <p:cNvSpPr txBox="1"/>
          <p:nvPr/>
        </p:nvSpPr>
        <p:spPr>
          <a:xfrm>
            <a:off x="6355080" y="6007608"/>
            <a:ext cx="5394960" cy="292608"/>
          </a:xfrm>
          <a:prstGeom prst="rect">
            <a:avLst/>
          </a:prstGeom>
          <a:noFill/>
        </p:spPr>
        <p:txBody>
          <a:bodyPr wrap="square">
            <a:spAutoFit/>
          </a:bodyPr>
          <a:lstStyle/>
          <a:p>
            <a:pPr algn="l"/>
            <a:r>
              <a:rPr sz="1100" b="0" i="0">
                <a:solidFill>
                  <a:srgbClr val="262626"/>
                </a:solidFill>
                <a:latin typeface="Arial"/>
              </a:rPr>
              <a:t>3.  Lisa Tertsch   (02:03:07)</a:t>
            </a:r>
          </a:p>
        </p:txBody>
      </p:sp>
      <p:sp>
        <p:nvSpPr>
          <p:cNvPr id="27" name="TextBox 26"/>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Rankings = current World Triathlon rankings snapshot; startlist intersect uses program_entries when available.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Top Swim Threats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78992"/>
            <a:ext cx="11640312" cy="32004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15568"/>
            <a:ext cx="11430000" cy="246888"/>
          </a:xfrm>
          <a:prstGeom prst="rect">
            <a:avLst/>
          </a:prstGeom>
          <a:noFill/>
        </p:spPr>
        <p:txBody>
          <a:bodyPr wrap="square">
            <a:spAutoFit/>
          </a:bodyPr>
          <a:lstStyle/>
          <a:p>
            <a:pPr algn="ctr"/>
            <a:r>
              <a:rPr sz="1000" b="1" i="0">
                <a:solidFill>
                  <a:srgbClr val="002060"/>
                </a:solidFill>
                <a:latin typeface="Arial"/>
              </a:rPr>
              <a:t>Ranked by Lead Pack % (within 15 s of swim leader — robust to course speed)   •   EWMA swim split (span-5) shown per distance; Standard = this race   •   WTCS / World Cup / Continental, last 4 yrs</a:t>
            </a:r>
          </a:p>
        </p:txBody>
      </p:sp>
      <p:sp>
        <p:nvSpPr>
          <p:cNvPr id="10" name="Rectangle 9"/>
          <p:cNvSpPr/>
          <p:nvPr/>
        </p:nvSpPr>
        <p:spPr>
          <a:xfrm>
            <a:off x="27432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536192"/>
            <a:ext cx="5806440" cy="219456"/>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1828800"/>
          <a:ext cx="5806439" cy="3840480"/>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gridCol w="956462">
                  <a:extLst>
                    <a:ext uri="{9D8B030D-6E8A-4147-A177-3AD203B41FA5}">
                      <a16:colId xmlns:a16="http://schemas.microsoft.com/office/drawing/2014/main" val="20005"/>
                    </a:ext>
                  </a:extLst>
                </a:gridCol>
              </a:tblGrid>
              <a:tr h="256032">
                <a:tc>
                  <a:txBody>
                    <a:bodyPr/>
                    <a:lstStyle/>
                    <a:p>
                      <a:pPr algn="ctr"/>
                      <a:r>
                        <a:rPr sz="850" b="1" i="0">
                          <a:solidFill>
                            <a:srgbClr val="FFFFFF"/>
                          </a:solidFill>
                          <a:latin typeface="Arial"/>
                        </a:rPr>
                        <a:t>#</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Lead %</a:t>
                      </a:r>
                    </a:p>
                  </a:txBody>
                  <a:tcPr>
                    <a:solidFill>
                      <a:srgbClr val="002060"/>
                    </a:solidFill>
                  </a:tcPr>
                </a:tc>
                <a:tc>
                  <a:txBody>
                    <a:bodyPr/>
                    <a:lstStyle/>
                    <a:p>
                      <a:pPr algn="ctr"/>
                      <a:r>
                        <a:rPr sz="850" b="1" i="0">
                          <a:solidFill>
                            <a:srgbClr val="FFFFFF"/>
                          </a:solidFill>
                          <a:latin typeface="Arial"/>
                        </a:rPr>
                        <a:t>EWMA Spr</a:t>
                      </a:r>
                    </a:p>
                  </a:txBody>
                  <a:tcPr>
                    <a:solidFill>
                      <a:srgbClr val="002060"/>
                    </a:solidFill>
                  </a:tcPr>
                </a:tc>
                <a:tc>
                  <a:txBody>
                    <a:bodyPr/>
                    <a:lstStyle/>
                    <a:p>
                      <a:pPr algn="ctr"/>
                      <a:r>
                        <a:rPr sz="850" b="1" i="0">
                          <a:solidFill>
                            <a:srgbClr val="FFFFFF"/>
                          </a:solidFill>
                          <a:latin typeface="Arial"/>
                        </a:rPr>
                        <a:t>EWMA Std ▸</a:t>
                      </a:r>
                    </a:p>
                  </a:txBody>
                  <a:tcPr>
                    <a:solidFill>
                      <a:srgbClr val="002060"/>
                    </a:solidFill>
                  </a:tcPr>
                </a:tc>
                <a:tc>
                  <a:txBody>
                    <a:bodyPr/>
                    <a:lstStyle/>
                    <a:p>
                      <a:pPr algn="ctr"/>
                      <a:r>
                        <a:rPr sz="850" b="1" i="0">
                          <a:solidFill>
                            <a:srgbClr val="FFFFFF"/>
                          </a:solidFill>
                          <a:latin typeface="Arial"/>
                        </a:rPr>
                        <a:t>Spr/Std</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Alessio Crociani</a:t>
                      </a:r>
                    </a:p>
                  </a:txBody>
                  <a:tcPr>
                    <a:solidFill>
                      <a:srgbClr val="FFFFFF"/>
                    </a:solidFill>
                  </a:tcPr>
                </a:tc>
                <a:tc>
                  <a:txBody>
                    <a:bodyPr/>
                    <a:lstStyle/>
                    <a:p>
                      <a:pPr algn="ctr"/>
                      <a:r>
                        <a:rPr sz="850" b="1" i="0">
                          <a:solidFill>
                            <a:srgbClr val="262626"/>
                          </a:solidFill>
                          <a:latin typeface="Arial"/>
                        </a:rPr>
                        <a:t>100%</a:t>
                      </a:r>
                    </a:p>
                  </a:txBody>
                  <a:tcPr>
                    <a:solidFill>
                      <a:srgbClr val="FFFFFF"/>
                    </a:solidFill>
                  </a:tcPr>
                </a:tc>
                <a:tc>
                  <a:txBody>
                    <a:bodyPr/>
                    <a:lstStyle/>
                    <a:p>
                      <a:pPr algn="ctr"/>
                      <a:r>
                        <a:rPr sz="850" b="0" i="0">
                          <a:solidFill>
                            <a:srgbClr val="262626"/>
                          </a:solidFill>
                          <a:latin typeface="Arial"/>
                        </a:rPr>
                        <a:t>8:39</a:t>
                      </a:r>
                    </a:p>
                  </a:txBody>
                  <a:tcPr>
                    <a:solidFill>
                      <a:srgbClr val="FFFFFF"/>
                    </a:solidFill>
                  </a:tcPr>
                </a:tc>
                <a:tc>
                  <a:txBody>
                    <a:bodyPr/>
                    <a:lstStyle/>
                    <a:p>
                      <a:pPr algn="ctr"/>
                      <a:r>
                        <a:rPr sz="850" b="1" i="0">
                          <a:solidFill>
                            <a:srgbClr val="262626"/>
                          </a:solidFill>
                          <a:latin typeface="Arial"/>
                        </a:rPr>
                        <a:t>17:19</a:t>
                      </a:r>
                    </a:p>
                  </a:txBody>
                  <a:tcPr>
                    <a:solidFill>
                      <a:srgbClr val="FFFFFF"/>
                    </a:solidFill>
                  </a:tcPr>
                </a:tc>
                <a:tc>
                  <a:txBody>
                    <a:bodyPr/>
                    <a:lstStyle/>
                    <a:p>
                      <a:pPr algn="ctr"/>
                      <a:r>
                        <a:rPr sz="850" b="0" i="0">
                          <a:solidFill>
                            <a:srgbClr val="BFBFBF"/>
                          </a:solidFill>
                          <a:latin typeface="Arial"/>
                        </a:rPr>
                        <a:t>17/4</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Dorian Coninx</a:t>
                      </a:r>
                    </a:p>
                  </a:txBody>
                  <a:tcPr>
                    <a:solidFill>
                      <a:srgbClr val="F2F2F2"/>
                    </a:solidFill>
                  </a:tcPr>
                </a:tc>
                <a:tc>
                  <a:txBody>
                    <a:bodyPr/>
                    <a:lstStyle/>
                    <a:p>
                      <a:pPr algn="ctr"/>
                      <a:r>
                        <a:rPr sz="850" b="1" i="0">
                          <a:solidFill>
                            <a:srgbClr val="262626"/>
                          </a:solidFill>
                          <a:latin typeface="Arial"/>
                        </a:rPr>
                        <a:t>100%</a:t>
                      </a:r>
                    </a:p>
                  </a:txBody>
                  <a:tcPr>
                    <a:solidFill>
                      <a:srgbClr val="F2F2F2"/>
                    </a:solidFill>
                  </a:tcPr>
                </a:tc>
                <a:tc>
                  <a:txBody>
                    <a:bodyPr/>
                    <a:lstStyle/>
                    <a:p>
                      <a:pPr algn="ctr"/>
                      <a:r>
                        <a:rPr sz="850" b="0" i="0">
                          <a:solidFill>
                            <a:srgbClr val="262626"/>
                          </a:solidFill>
                          <a:latin typeface="Arial"/>
                        </a:rPr>
                        <a:t>8:58</a:t>
                      </a:r>
                    </a:p>
                  </a:txBody>
                  <a:tcPr>
                    <a:solidFill>
                      <a:srgbClr val="F2F2F2"/>
                    </a:solidFill>
                  </a:tcPr>
                </a:tc>
                <a:tc>
                  <a:txBody>
                    <a:bodyPr/>
                    <a:lstStyle/>
                    <a:p>
                      <a:pPr algn="ctr"/>
                      <a:r>
                        <a:rPr sz="850" b="1" i="0">
                          <a:solidFill>
                            <a:srgbClr val="262626"/>
                          </a:solidFill>
                          <a:latin typeface="Arial"/>
                        </a:rPr>
                        <a:t>17:26</a:t>
                      </a:r>
                    </a:p>
                  </a:txBody>
                  <a:tcPr>
                    <a:solidFill>
                      <a:srgbClr val="F2F2F2"/>
                    </a:solidFill>
                  </a:tcPr>
                </a:tc>
                <a:tc>
                  <a:txBody>
                    <a:bodyPr/>
                    <a:lstStyle/>
                    <a:p>
                      <a:pPr algn="ctr"/>
                      <a:r>
                        <a:rPr sz="850" b="0" i="0">
                          <a:solidFill>
                            <a:srgbClr val="BFBFBF"/>
                          </a:solidFill>
                          <a:latin typeface="Arial"/>
                        </a:rPr>
                        <a:t>5/9</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Márk Dévay</a:t>
                      </a:r>
                    </a:p>
                  </a:txBody>
                  <a:tcPr>
                    <a:solidFill>
                      <a:srgbClr val="FFFFFF"/>
                    </a:solidFill>
                  </a:tcPr>
                </a:tc>
                <a:tc>
                  <a:txBody>
                    <a:bodyPr/>
                    <a:lstStyle/>
                    <a:p>
                      <a:pPr algn="ctr"/>
                      <a:r>
                        <a:rPr sz="850" b="1" i="0">
                          <a:solidFill>
                            <a:srgbClr val="262626"/>
                          </a:solidFill>
                          <a:latin typeface="Arial"/>
                        </a:rPr>
                        <a:t>97%</a:t>
                      </a:r>
                    </a:p>
                  </a:txBody>
                  <a:tcPr>
                    <a:solidFill>
                      <a:srgbClr val="FFFFFF"/>
                    </a:solidFill>
                  </a:tcPr>
                </a:tc>
                <a:tc>
                  <a:txBody>
                    <a:bodyPr/>
                    <a:lstStyle/>
                    <a:p>
                      <a:pPr algn="ctr"/>
                      <a:r>
                        <a:rPr sz="850" b="0" i="0">
                          <a:solidFill>
                            <a:srgbClr val="262626"/>
                          </a:solidFill>
                          <a:latin typeface="Arial"/>
                        </a:rPr>
                        <a:t>8:50</a:t>
                      </a:r>
                    </a:p>
                  </a:txBody>
                  <a:tcPr>
                    <a:solidFill>
                      <a:srgbClr val="FFFFFF"/>
                    </a:solidFill>
                  </a:tcPr>
                </a:tc>
                <a:tc>
                  <a:txBody>
                    <a:bodyPr/>
                    <a:lstStyle/>
                    <a:p>
                      <a:pPr algn="ctr"/>
                      <a:r>
                        <a:rPr sz="850" b="1" i="0">
                          <a:solidFill>
                            <a:srgbClr val="262626"/>
                          </a:solidFill>
                          <a:latin typeface="Arial"/>
                        </a:rPr>
                        <a:t>17:12</a:t>
                      </a:r>
                    </a:p>
                  </a:txBody>
                  <a:tcPr>
                    <a:solidFill>
                      <a:srgbClr val="FFFFFF"/>
                    </a:solidFill>
                  </a:tcPr>
                </a:tc>
                <a:tc>
                  <a:txBody>
                    <a:bodyPr/>
                    <a:lstStyle/>
                    <a:p>
                      <a:pPr algn="ctr"/>
                      <a:r>
                        <a:rPr sz="850" b="0" i="0">
                          <a:solidFill>
                            <a:srgbClr val="BFBFBF"/>
                          </a:solidFill>
                          <a:latin typeface="Arial"/>
                        </a:rPr>
                        <a:t>9/24</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Miguel Tiago Silva</a:t>
                      </a:r>
                    </a:p>
                  </a:txBody>
                  <a:tcPr>
                    <a:solidFill>
                      <a:srgbClr val="F2F2F2"/>
                    </a:solidFill>
                  </a:tcPr>
                </a:tc>
                <a:tc>
                  <a:txBody>
                    <a:bodyPr/>
                    <a:lstStyle/>
                    <a:p>
                      <a:pPr algn="ctr"/>
                      <a:r>
                        <a:rPr sz="850" b="1" i="0">
                          <a:solidFill>
                            <a:srgbClr val="262626"/>
                          </a:solidFill>
                          <a:latin typeface="Arial"/>
                        </a:rPr>
                        <a:t>95%</a:t>
                      </a:r>
                    </a:p>
                  </a:txBody>
                  <a:tcPr>
                    <a:solidFill>
                      <a:srgbClr val="F2F2F2"/>
                    </a:solidFill>
                  </a:tcPr>
                </a:tc>
                <a:tc>
                  <a:txBody>
                    <a:bodyPr/>
                    <a:lstStyle/>
                    <a:p>
                      <a:pPr algn="ctr"/>
                      <a:r>
                        <a:rPr sz="850" b="0" i="0">
                          <a:solidFill>
                            <a:srgbClr val="262626"/>
                          </a:solidFill>
                          <a:latin typeface="Arial"/>
                        </a:rPr>
                        <a:t>8:58</a:t>
                      </a:r>
                    </a:p>
                  </a:txBody>
                  <a:tcPr>
                    <a:solidFill>
                      <a:srgbClr val="F2F2F2"/>
                    </a:solidFill>
                  </a:tcPr>
                </a:tc>
                <a:tc>
                  <a:txBody>
                    <a:bodyPr/>
                    <a:lstStyle/>
                    <a:p>
                      <a:pPr algn="ctr"/>
                      <a:r>
                        <a:rPr sz="850" b="1" i="0">
                          <a:solidFill>
                            <a:srgbClr val="262626"/>
                          </a:solidFill>
                          <a:latin typeface="Arial"/>
                        </a:rPr>
                        <a:t>17:30</a:t>
                      </a:r>
                    </a:p>
                  </a:txBody>
                  <a:tcPr>
                    <a:solidFill>
                      <a:srgbClr val="F2F2F2"/>
                    </a:solidFill>
                  </a:tcPr>
                </a:tc>
                <a:tc>
                  <a:txBody>
                    <a:bodyPr/>
                    <a:lstStyle/>
                    <a:p>
                      <a:pPr algn="ctr"/>
                      <a:r>
                        <a:rPr sz="850" b="0" i="0">
                          <a:solidFill>
                            <a:srgbClr val="BFBFBF"/>
                          </a:solidFill>
                          <a:latin typeface="Arial"/>
                        </a:rPr>
                        <a:t>8/13</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Henry Graf</a:t>
                      </a:r>
                    </a:p>
                  </a:txBody>
                  <a:tcPr>
                    <a:solidFill>
                      <a:srgbClr val="FFFFFF"/>
                    </a:solidFill>
                  </a:tcPr>
                </a:tc>
                <a:tc>
                  <a:txBody>
                    <a:bodyPr/>
                    <a:lstStyle/>
                    <a:p>
                      <a:pPr algn="ctr"/>
                      <a:r>
                        <a:rPr sz="850" b="1" i="0">
                          <a:solidFill>
                            <a:srgbClr val="262626"/>
                          </a:solidFill>
                          <a:latin typeface="Arial"/>
                        </a:rPr>
                        <a:t>88%</a:t>
                      </a:r>
                    </a:p>
                  </a:txBody>
                  <a:tcPr>
                    <a:solidFill>
                      <a:srgbClr val="FFFFFF"/>
                    </a:solidFill>
                  </a:tcPr>
                </a:tc>
                <a:tc>
                  <a:txBody>
                    <a:bodyPr/>
                    <a:lstStyle/>
                    <a:p>
                      <a:pPr algn="ctr"/>
                      <a:r>
                        <a:rPr sz="850" b="0" i="0">
                          <a:solidFill>
                            <a:srgbClr val="262626"/>
                          </a:solidFill>
                          <a:latin typeface="Arial"/>
                        </a:rPr>
                        <a:t>8:56</a:t>
                      </a:r>
                    </a:p>
                  </a:txBody>
                  <a:tcPr>
                    <a:solidFill>
                      <a:srgbClr val="FFFFFF"/>
                    </a:solidFill>
                  </a:tcPr>
                </a:tc>
                <a:tc>
                  <a:txBody>
                    <a:bodyPr/>
                    <a:lstStyle/>
                    <a:p>
                      <a:pPr algn="ctr"/>
                      <a:r>
                        <a:rPr sz="850" b="1" i="0">
                          <a:solidFill>
                            <a:srgbClr val="262626"/>
                          </a:solidFill>
                          <a:latin typeface="Arial"/>
                        </a:rPr>
                        <a:t>17:31</a:t>
                      </a:r>
                    </a:p>
                  </a:txBody>
                  <a:tcPr>
                    <a:solidFill>
                      <a:srgbClr val="FFFFFF"/>
                    </a:solidFill>
                  </a:tcPr>
                </a:tc>
                <a:tc>
                  <a:txBody>
                    <a:bodyPr/>
                    <a:lstStyle/>
                    <a:p>
                      <a:pPr algn="ctr"/>
                      <a:r>
                        <a:rPr sz="850" b="0" i="0">
                          <a:solidFill>
                            <a:srgbClr val="BFBFBF"/>
                          </a:solidFill>
                          <a:latin typeface="Arial"/>
                        </a:rPr>
                        <a:t>11/5</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Csongor Lehmann</a:t>
                      </a:r>
                    </a:p>
                  </a:txBody>
                  <a:tcPr>
                    <a:solidFill>
                      <a:srgbClr val="F2F2F2"/>
                    </a:solidFill>
                  </a:tcPr>
                </a:tc>
                <a:tc>
                  <a:txBody>
                    <a:bodyPr/>
                    <a:lstStyle/>
                    <a:p>
                      <a:pPr algn="ctr"/>
                      <a:r>
                        <a:rPr sz="850" b="1" i="0">
                          <a:solidFill>
                            <a:srgbClr val="262626"/>
                          </a:solidFill>
                          <a:latin typeface="Arial"/>
                        </a:rPr>
                        <a:t>86%</a:t>
                      </a:r>
                    </a:p>
                  </a:txBody>
                  <a:tcPr>
                    <a:solidFill>
                      <a:srgbClr val="F2F2F2"/>
                    </a:solidFill>
                  </a:tcPr>
                </a:tc>
                <a:tc>
                  <a:txBody>
                    <a:bodyPr/>
                    <a:lstStyle/>
                    <a:p>
                      <a:pPr algn="ctr"/>
                      <a:r>
                        <a:rPr sz="850" b="0" i="0">
                          <a:solidFill>
                            <a:srgbClr val="262626"/>
                          </a:solidFill>
                          <a:latin typeface="Arial"/>
                        </a:rPr>
                        <a:t>8:37</a:t>
                      </a:r>
                    </a:p>
                  </a:txBody>
                  <a:tcPr>
                    <a:solidFill>
                      <a:srgbClr val="F2F2F2"/>
                    </a:solidFill>
                  </a:tcPr>
                </a:tc>
                <a:tc>
                  <a:txBody>
                    <a:bodyPr/>
                    <a:lstStyle/>
                    <a:p>
                      <a:pPr algn="ctr"/>
                      <a:r>
                        <a:rPr sz="850" b="1" i="0">
                          <a:solidFill>
                            <a:srgbClr val="262626"/>
                          </a:solidFill>
                          <a:latin typeface="Arial"/>
                        </a:rPr>
                        <a:t>17:27</a:t>
                      </a:r>
                    </a:p>
                  </a:txBody>
                  <a:tcPr>
                    <a:solidFill>
                      <a:srgbClr val="F2F2F2"/>
                    </a:solidFill>
                  </a:tcPr>
                </a:tc>
                <a:tc>
                  <a:txBody>
                    <a:bodyPr/>
                    <a:lstStyle/>
                    <a:p>
                      <a:pPr algn="ctr"/>
                      <a:r>
                        <a:rPr sz="850" b="0" i="0">
                          <a:solidFill>
                            <a:srgbClr val="BFBFBF"/>
                          </a:solidFill>
                          <a:latin typeface="Arial"/>
                        </a:rPr>
                        <a:t>5/16</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Tayler Reid</a:t>
                      </a:r>
                    </a:p>
                  </a:txBody>
                  <a:tcPr>
                    <a:solidFill>
                      <a:srgbClr val="FFFFFF"/>
                    </a:solidFill>
                  </a:tcPr>
                </a:tc>
                <a:tc>
                  <a:txBody>
                    <a:bodyPr/>
                    <a:lstStyle/>
                    <a:p>
                      <a:pPr algn="ctr"/>
                      <a:r>
                        <a:rPr sz="850" b="1" i="0">
                          <a:solidFill>
                            <a:srgbClr val="262626"/>
                          </a:solidFill>
                          <a:latin typeface="Arial"/>
                        </a:rPr>
                        <a:t>85%</a:t>
                      </a:r>
                    </a:p>
                  </a:txBody>
                  <a:tcPr>
                    <a:solidFill>
                      <a:srgbClr val="FFFFFF"/>
                    </a:solidFill>
                  </a:tcPr>
                </a:tc>
                <a:tc>
                  <a:txBody>
                    <a:bodyPr/>
                    <a:lstStyle/>
                    <a:p>
                      <a:pPr algn="ctr"/>
                      <a:r>
                        <a:rPr sz="850" b="0" i="0">
                          <a:solidFill>
                            <a:srgbClr val="262626"/>
                          </a:solidFill>
                          <a:latin typeface="Arial"/>
                        </a:rPr>
                        <a:t>8:51</a:t>
                      </a:r>
                    </a:p>
                  </a:txBody>
                  <a:tcPr>
                    <a:solidFill>
                      <a:srgbClr val="FFFFFF"/>
                    </a:solidFill>
                  </a:tcPr>
                </a:tc>
                <a:tc>
                  <a:txBody>
                    <a:bodyPr/>
                    <a:lstStyle/>
                    <a:p>
                      <a:pPr algn="ctr"/>
                      <a:r>
                        <a:rPr sz="850" b="1" i="0">
                          <a:solidFill>
                            <a:srgbClr val="262626"/>
                          </a:solidFill>
                          <a:latin typeface="Arial"/>
                        </a:rPr>
                        <a:t>17:11</a:t>
                      </a:r>
                    </a:p>
                  </a:txBody>
                  <a:tcPr>
                    <a:solidFill>
                      <a:srgbClr val="FFFFFF"/>
                    </a:solidFill>
                  </a:tcPr>
                </a:tc>
                <a:tc>
                  <a:txBody>
                    <a:bodyPr/>
                    <a:lstStyle/>
                    <a:p>
                      <a:pPr algn="ctr"/>
                      <a:r>
                        <a:rPr sz="850" b="0" i="0">
                          <a:solidFill>
                            <a:srgbClr val="BFBFBF"/>
                          </a:solidFill>
                          <a:latin typeface="Arial"/>
                        </a:rPr>
                        <a:t>13/14</a:t>
                      </a:r>
                    </a:p>
                  </a:txBody>
                  <a:tcPr>
                    <a:solidFill>
                      <a:srgbClr val="FFFFFF"/>
                    </a:solidFill>
                  </a:tcPr>
                </a:tc>
                <a:extLst>
                  <a:ext uri="{0D108BD9-81ED-4DB2-BD59-A6C34878D82A}">
                    <a16:rowId xmlns:a16="http://schemas.microsoft.com/office/drawing/2014/main" val="10007"/>
                  </a:ext>
                </a:extLst>
              </a:tr>
              <a:tr h="256032">
                <a:tc>
                  <a:txBody>
                    <a:bodyPr/>
                    <a:lstStyle/>
                    <a:p>
                      <a:pPr algn="ctr"/>
                      <a:r>
                        <a:rPr sz="850" b="1" i="0">
                          <a:solidFill>
                            <a:srgbClr val="002060"/>
                          </a:solidFill>
                          <a:latin typeface="Arial"/>
                        </a:rPr>
                        <a:t>8</a:t>
                      </a:r>
                    </a:p>
                  </a:txBody>
                  <a:tcPr>
                    <a:solidFill>
                      <a:srgbClr val="F2F2F2"/>
                    </a:solidFill>
                  </a:tcPr>
                </a:tc>
                <a:tc>
                  <a:txBody>
                    <a:bodyPr/>
                    <a:lstStyle/>
                    <a:p>
                      <a:pPr algn="l"/>
                      <a:r>
                        <a:rPr sz="850" b="0" i="0">
                          <a:solidFill>
                            <a:srgbClr val="262626"/>
                          </a:solidFill>
                          <a:latin typeface="Arial"/>
                        </a:rPr>
                        <a:t>Max Stapley</a:t>
                      </a:r>
                    </a:p>
                  </a:txBody>
                  <a:tcPr>
                    <a:solidFill>
                      <a:srgbClr val="F2F2F2"/>
                    </a:solidFill>
                  </a:tcPr>
                </a:tc>
                <a:tc>
                  <a:txBody>
                    <a:bodyPr/>
                    <a:lstStyle/>
                    <a:p>
                      <a:pPr algn="ctr"/>
                      <a:r>
                        <a:rPr sz="850" b="1" i="0">
                          <a:solidFill>
                            <a:srgbClr val="262626"/>
                          </a:solidFill>
                          <a:latin typeface="Arial"/>
                        </a:rPr>
                        <a:t>85%</a:t>
                      </a:r>
                    </a:p>
                  </a:txBody>
                  <a:tcPr>
                    <a:solidFill>
                      <a:srgbClr val="F2F2F2"/>
                    </a:solidFill>
                  </a:tcPr>
                </a:tc>
                <a:tc>
                  <a:txBody>
                    <a:bodyPr/>
                    <a:lstStyle/>
                    <a:p>
                      <a:pPr algn="ctr"/>
                      <a:r>
                        <a:rPr sz="850" b="0" i="0">
                          <a:solidFill>
                            <a:srgbClr val="262626"/>
                          </a:solidFill>
                          <a:latin typeface="Arial"/>
                        </a:rPr>
                        <a:t>8:50</a:t>
                      </a:r>
                    </a:p>
                  </a:txBody>
                  <a:tcPr>
                    <a:solidFill>
                      <a:srgbClr val="F2F2F2"/>
                    </a:solidFill>
                  </a:tcPr>
                </a:tc>
                <a:tc>
                  <a:txBody>
                    <a:bodyPr/>
                    <a:lstStyle/>
                    <a:p>
                      <a:pPr algn="ctr"/>
                      <a:r>
                        <a:rPr sz="850" b="1" i="0">
                          <a:solidFill>
                            <a:srgbClr val="262626"/>
                          </a:solidFill>
                          <a:latin typeface="Arial"/>
                        </a:rPr>
                        <a:t>17:38</a:t>
                      </a:r>
                    </a:p>
                  </a:txBody>
                  <a:tcPr>
                    <a:solidFill>
                      <a:srgbClr val="F2F2F2"/>
                    </a:solidFill>
                  </a:tcPr>
                </a:tc>
                <a:tc>
                  <a:txBody>
                    <a:bodyPr/>
                    <a:lstStyle/>
                    <a:p>
                      <a:pPr algn="ctr"/>
                      <a:r>
                        <a:rPr sz="850" b="0" i="0">
                          <a:solidFill>
                            <a:srgbClr val="BFBFBF"/>
                          </a:solidFill>
                          <a:latin typeface="Arial"/>
                        </a:rPr>
                        <a:t>10/10</a:t>
                      </a:r>
                    </a:p>
                  </a:txBody>
                  <a:tcPr>
                    <a:solidFill>
                      <a:srgbClr val="F2F2F2"/>
                    </a:solidFill>
                  </a:tcPr>
                </a:tc>
                <a:extLst>
                  <a:ext uri="{0D108BD9-81ED-4DB2-BD59-A6C34878D82A}">
                    <a16:rowId xmlns:a16="http://schemas.microsoft.com/office/drawing/2014/main" val="10008"/>
                  </a:ext>
                </a:extLst>
              </a:tr>
              <a:tr h="256032">
                <a:tc>
                  <a:txBody>
                    <a:bodyPr/>
                    <a:lstStyle/>
                    <a:p>
                      <a:pPr algn="ctr"/>
                      <a:r>
                        <a:rPr sz="850" b="1" i="0">
                          <a:solidFill>
                            <a:srgbClr val="002060"/>
                          </a:solidFill>
                          <a:latin typeface="Arial"/>
                        </a:rPr>
                        <a:t>9</a:t>
                      </a:r>
                    </a:p>
                  </a:txBody>
                  <a:tcPr>
                    <a:solidFill>
                      <a:srgbClr val="FFFFFF"/>
                    </a:solidFill>
                  </a:tcPr>
                </a:tc>
                <a:tc>
                  <a:txBody>
                    <a:bodyPr/>
                    <a:lstStyle/>
                    <a:p>
                      <a:pPr algn="l"/>
                      <a:r>
                        <a:rPr sz="850" b="0" i="0">
                          <a:solidFill>
                            <a:srgbClr val="262626"/>
                          </a:solidFill>
                          <a:latin typeface="Arial"/>
                        </a:rPr>
                        <a:t>Márton Kropkó</a:t>
                      </a:r>
                    </a:p>
                  </a:txBody>
                  <a:tcPr>
                    <a:solidFill>
                      <a:srgbClr val="FFFFFF"/>
                    </a:solidFill>
                  </a:tcPr>
                </a:tc>
                <a:tc>
                  <a:txBody>
                    <a:bodyPr/>
                    <a:lstStyle/>
                    <a:p>
                      <a:pPr algn="ctr"/>
                      <a:r>
                        <a:rPr sz="850" b="1" i="0">
                          <a:solidFill>
                            <a:srgbClr val="262626"/>
                          </a:solidFill>
                          <a:latin typeface="Arial"/>
                        </a:rPr>
                        <a:t>80%</a:t>
                      </a:r>
                    </a:p>
                  </a:txBody>
                  <a:tcPr>
                    <a:solidFill>
                      <a:srgbClr val="FFFFFF"/>
                    </a:solidFill>
                  </a:tcPr>
                </a:tc>
                <a:tc>
                  <a:txBody>
                    <a:bodyPr/>
                    <a:lstStyle/>
                    <a:p>
                      <a:pPr algn="ctr"/>
                      <a:r>
                        <a:rPr sz="850" b="0" i="0">
                          <a:solidFill>
                            <a:srgbClr val="262626"/>
                          </a:solidFill>
                          <a:latin typeface="Arial"/>
                        </a:rPr>
                        <a:t>8:56</a:t>
                      </a:r>
                    </a:p>
                  </a:txBody>
                  <a:tcPr>
                    <a:solidFill>
                      <a:srgbClr val="FFFFFF"/>
                    </a:solidFill>
                  </a:tcPr>
                </a:tc>
                <a:tc>
                  <a:txBody>
                    <a:bodyPr/>
                    <a:lstStyle/>
                    <a:p>
                      <a:pPr algn="ctr"/>
                      <a:r>
                        <a:rPr sz="850" b="1" i="0">
                          <a:solidFill>
                            <a:srgbClr val="262626"/>
                          </a:solidFill>
                          <a:latin typeface="Arial"/>
                        </a:rPr>
                        <a:t>17:47</a:t>
                      </a:r>
                    </a:p>
                  </a:txBody>
                  <a:tcPr>
                    <a:solidFill>
                      <a:srgbClr val="FFFFFF"/>
                    </a:solidFill>
                  </a:tcPr>
                </a:tc>
                <a:tc>
                  <a:txBody>
                    <a:bodyPr/>
                    <a:lstStyle/>
                    <a:p>
                      <a:pPr algn="ctr"/>
                      <a:r>
                        <a:rPr sz="850" b="0" i="0">
                          <a:solidFill>
                            <a:srgbClr val="BFBFBF"/>
                          </a:solidFill>
                          <a:latin typeface="Arial"/>
                        </a:rPr>
                        <a:t>2/3</a:t>
                      </a:r>
                    </a:p>
                  </a:txBody>
                  <a:tcPr>
                    <a:solidFill>
                      <a:srgbClr val="FFFFFF"/>
                    </a:solidFill>
                  </a:tcPr>
                </a:tc>
                <a:extLst>
                  <a:ext uri="{0D108BD9-81ED-4DB2-BD59-A6C34878D82A}">
                    <a16:rowId xmlns:a16="http://schemas.microsoft.com/office/drawing/2014/main" val="10009"/>
                  </a:ext>
                </a:extLst>
              </a:tr>
              <a:tr h="256032">
                <a:tc>
                  <a:txBody>
                    <a:bodyPr/>
                    <a:lstStyle/>
                    <a:p>
                      <a:pPr algn="ctr"/>
                      <a:r>
                        <a:rPr sz="850" b="1" i="0">
                          <a:solidFill>
                            <a:srgbClr val="002060"/>
                          </a:solidFill>
                          <a:latin typeface="Arial"/>
                        </a:rPr>
                        <a:t>10</a:t>
                      </a:r>
                    </a:p>
                  </a:txBody>
                  <a:tcPr>
                    <a:solidFill>
                      <a:srgbClr val="F2F2F2"/>
                    </a:solidFill>
                  </a:tcPr>
                </a:tc>
                <a:tc>
                  <a:txBody>
                    <a:bodyPr/>
                    <a:lstStyle/>
                    <a:p>
                      <a:pPr algn="l"/>
                      <a:r>
                        <a:rPr sz="850" b="1" i="0">
                          <a:solidFill>
                            <a:srgbClr val="C00000"/>
                          </a:solidFill>
                          <a:latin typeface="Arial"/>
                        </a:rPr>
                        <a:t>Chase McQueen</a:t>
                      </a:r>
                    </a:p>
                  </a:txBody>
                  <a:tcPr>
                    <a:solidFill>
                      <a:srgbClr val="F2F2F2"/>
                    </a:solidFill>
                  </a:tcPr>
                </a:tc>
                <a:tc>
                  <a:txBody>
                    <a:bodyPr/>
                    <a:lstStyle/>
                    <a:p>
                      <a:pPr algn="ctr"/>
                      <a:r>
                        <a:rPr sz="850" b="1" i="0">
                          <a:solidFill>
                            <a:srgbClr val="262626"/>
                          </a:solidFill>
                          <a:latin typeface="Arial"/>
                        </a:rPr>
                        <a:t>77%</a:t>
                      </a:r>
                    </a:p>
                  </a:txBody>
                  <a:tcPr>
                    <a:solidFill>
                      <a:srgbClr val="F2F2F2"/>
                    </a:solidFill>
                  </a:tcPr>
                </a:tc>
                <a:tc>
                  <a:txBody>
                    <a:bodyPr/>
                    <a:lstStyle/>
                    <a:p>
                      <a:pPr algn="ctr"/>
                      <a:r>
                        <a:rPr sz="850" b="0" i="0">
                          <a:solidFill>
                            <a:srgbClr val="262626"/>
                          </a:solidFill>
                          <a:latin typeface="Arial"/>
                        </a:rPr>
                        <a:t>9:04</a:t>
                      </a:r>
                    </a:p>
                  </a:txBody>
                  <a:tcPr>
                    <a:solidFill>
                      <a:srgbClr val="F2F2F2"/>
                    </a:solidFill>
                  </a:tcPr>
                </a:tc>
                <a:tc>
                  <a:txBody>
                    <a:bodyPr/>
                    <a:lstStyle/>
                    <a:p>
                      <a:pPr algn="ctr"/>
                      <a:r>
                        <a:rPr sz="850" b="1" i="0">
                          <a:solidFill>
                            <a:srgbClr val="262626"/>
                          </a:solidFill>
                          <a:latin typeface="Arial"/>
                        </a:rPr>
                        <a:t>18:02</a:t>
                      </a:r>
                    </a:p>
                  </a:txBody>
                  <a:tcPr>
                    <a:solidFill>
                      <a:srgbClr val="F2F2F2"/>
                    </a:solidFill>
                  </a:tcPr>
                </a:tc>
                <a:tc>
                  <a:txBody>
                    <a:bodyPr/>
                    <a:lstStyle/>
                    <a:p>
                      <a:pPr algn="ctr"/>
                      <a:r>
                        <a:rPr sz="850" b="0" i="0">
                          <a:solidFill>
                            <a:srgbClr val="BFBFBF"/>
                          </a:solidFill>
                          <a:latin typeface="Arial"/>
                        </a:rPr>
                        <a:t>9/13</a:t>
                      </a:r>
                    </a:p>
                  </a:txBody>
                  <a:tcPr>
                    <a:solidFill>
                      <a:srgbClr val="F2F2F2"/>
                    </a:solidFill>
                  </a:tcPr>
                </a:tc>
                <a:extLst>
                  <a:ext uri="{0D108BD9-81ED-4DB2-BD59-A6C34878D82A}">
                    <a16:rowId xmlns:a16="http://schemas.microsoft.com/office/drawing/2014/main" val="10010"/>
                  </a:ext>
                </a:extLst>
              </a:tr>
              <a:tr h="256032">
                <a:tc>
                  <a:txBody>
                    <a:bodyPr/>
                    <a:lstStyle/>
                    <a:p>
                      <a:pPr algn="ctr"/>
                      <a:r>
                        <a:rPr sz="850" b="1" i="0">
                          <a:solidFill>
                            <a:srgbClr val="002060"/>
                          </a:solidFill>
                          <a:latin typeface="Arial"/>
                        </a:rPr>
                        <a:t>11</a:t>
                      </a:r>
                    </a:p>
                  </a:txBody>
                  <a:tcPr>
                    <a:solidFill>
                      <a:srgbClr val="FFFFFF"/>
                    </a:solidFill>
                  </a:tcPr>
                </a:tc>
                <a:tc>
                  <a:txBody>
                    <a:bodyPr/>
                    <a:lstStyle/>
                    <a:p>
                      <a:pPr algn="l"/>
                      <a:r>
                        <a:rPr sz="850" b="0" i="0">
                          <a:solidFill>
                            <a:srgbClr val="262626"/>
                          </a:solidFill>
                          <a:latin typeface="Arial"/>
                        </a:rPr>
                        <a:t>Jules Rethoret</a:t>
                      </a:r>
                    </a:p>
                  </a:txBody>
                  <a:tcPr>
                    <a:solidFill>
                      <a:srgbClr val="FFFFFF"/>
                    </a:solidFill>
                  </a:tcPr>
                </a:tc>
                <a:tc>
                  <a:txBody>
                    <a:bodyPr/>
                    <a:lstStyle/>
                    <a:p>
                      <a:pPr algn="ctr"/>
                      <a:r>
                        <a:rPr sz="850" b="1" i="0">
                          <a:solidFill>
                            <a:srgbClr val="262626"/>
                          </a:solidFill>
                          <a:latin typeface="Arial"/>
                        </a:rPr>
                        <a:t>69%</a:t>
                      </a:r>
                    </a:p>
                  </a:txBody>
                  <a:tcPr>
                    <a:solidFill>
                      <a:srgbClr val="FFFFFF"/>
                    </a:solidFill>
                  </a:tcPr>
                </a:tc>
                <a:tc>
                  <a:txBody>
                    <a:bodyPr/>
                    <a:lstStyle/>
                    <a:p>
                      <a:pPr algn="ctr"/>
                      <a:r>
                        <a:rPr sz="850" b="0" i="0">
                          <a:solidFill>
                            <a:srgbClr val="262626"/>
                          </a:solidFill>
                          <a:latin typeface="Arial"/>
                        </a:rPr>
                        <a:t>8:48</a:t>
                      </a:r>
                    </a:p>
                  </a:txBody>
                  <a:tcPr>
                    <a:solidFill>
                      <a:srgbClr val="FFFFFF"/>
                    </a:solidFill>
                  </a:tcPr>
                </a:tc>
                <a:tc>
                  <a:txBody>
                    <a:bodyPr/>
                    <a:lstStyle/>
                    <a:p>
                      <a:pPr algn="ctr"/>
                      <a:r>
                        <a:rPr sz="850" b="1" i="0">
                          <a:solidFill>
                            <a:srgbClr val="262626"/>
                          </a:solidFill>
                          <a:latin typeface="Arial"/>
                        </a:rPr>
                        <a:t>17:53</a:t>
                      </a:r>
                    </a:p>
                  </a:txBody>
                  <a:tcPr>
                    <a:solidFill>
                      <a:srgbClr val="FFFFFF"/>
                    </a:solidFill>
                  </a:tcPr>
                </a:tc>
                <a:tc>
                  <a:txBody>
                    <a:bodyPr/>
                    <a:lstStyle/>
                    <a:p>
                      <a:pPr algn="ctr"/>
                      <a:r>
                        <a:rPr sz="850" b="0" i="0">
                          <a:solidFill>
                            <a:srgbClr val="BFBFBF"/>
                          </a:solidFill>
                          <a:latin typeface="Arial"/>
                        </a:rPr>
                        <a:t>9/4</a:t>
                      </a:r>
                    </a:p>
                  </a:txBody>
                  <a:tcPr>
                    <a:solidFill>
                      <a:srgbClr val="FFFFFF"/>
                    </a:solidFill>
                  </a:tcPr>
                </a:tc>
                <a:extLst>
                  <a:ext uri="{0D108BD9-81ED-4DB2-BD59-A6C34878D82A}">
                    <a16:rowId xmlns:a16="http://schemas.microsoft.com/office/drawing/2014/main" val="10011"/>
                  </a:ext>
                </a:extLst>
              </a:tr>
              <a:tr h="256032">
                <a:tc>
                  <a:txBody>
                    <a:bodyPr/>
                    <a:lstStyle/>
                    <a:p>
                      <a:pPr algn="ctr"/>
                      <a:r>
                        <a:rPr sz="850" b="1" i="0">
                          <a:solidFill>
                            <a:srgbClr val="002060"/>
                          </a:solidFill>
                          <a:latin typeface="Arial"/>
                        </a:rPr>
                        <a:t>12</a:t>
                      </a:r>
                    </a:p>
                  </a:txBody>
                  <a:tcPr>
                    <a:solidFill>
                      <a:srgbClr val="F2F2F2"/>
                    </a:solidFill>
                  </a:tcPr>
                </a:tc>
                <a:tc>
                  <a:txBody>
                    <a:bodyPr/>
                    <a:lstStyle/>
                    <a:p>
                      <a:pPr algn="l"/>
                      <a:r>
                        <a:rPr sz="850" b="0" i="0">
                          <a:solidFill>
                            <a:srgbClr val="262626"/>
                          </a:solidFill>
                          <a:latin typeface="Arial"/>
                        </a:rPr>
                        <a:t>Kenji Nener</a:t>
                      </a:r>
                    </a:p>
                  </a:txBody>
                  <a:tcPr>
                    <a:solidFill>
                      <a:srgbClr val="F2F2F2"/>
                    </a:solidFill>
                  </a:tcPr>
                </a:tc>
                <a:tc>
                  <a:txBody>
                    <a:bodyPr/>
                    <a:lstStyle/>
                    <a:p>
                      <a:pPr algn="ctr"/>
                      <a:r>
                        <a:rPr sz="850" b="1" i="0">
                          <a:solidFill>
                            <a:srgbClr val="262626"/>
                          </a:solidFill>
                          <a:latin typeface="Arial"/>
                        </a:rPr>
                        <a:t>69%</a:t>
                      </a:r>
                    </a:p>
                  </a:txBody>
                  <a:tcPr>
                    <a:solidFill>
                      <a:srgbClr val="F2F2F2"/>
                    </a:solidFill>
                  </a:tcPr>
                </a:tc>
                <a:tc>
                  <a:txBody>
                    <a:bodyPr/>
                    <a:lstStyle/>
                    <a:p>
                      <a:pPr algn="ctr"/>
                      <a:r>
                        <a:rPr sz="850" b="0" i="0">
                          <a:solidFill>
                            <a:srgbClr val="262626"/>
                          </a:solidFill>
                          <a:latin typeface="Arial"/>
                        </a:rPr>
                        <a:t>8:55</a:t>
                      </a:r>
                    </a:p>
                  </a:txBody>
                  <a:tcPr>
                    <a:solidFill>
                      <a:srgbClr val="F2F2F2"/>
                    </a:solidFill>
                  </a:tcPr>
                </a:tc>
                <a:tc>
                  <a:txBody>
                    <a:bodyPr/>
                    <a:lstStyle/>
                    <a:p>
                      <a:pPr algn="ctr"/>
                      <a:r>
                        <a:rPr sz="850" b="1" i="0">
                          <a:solidFill>
                            <a:srgbClr val="262626"/>
                          </a:solidFill>
                          <a:latin typeface="Arial"/>
                        </a:rPr>
                        <a:t>18:16</a:t>
                      </a:r>
                    </a:p>
                  </a:txBody>
                  <a:tcPr>
                    <a:solidFill>
                      <a:srgbClr val="F2F2F2"/>
                    </a:solidFill>
                  </a:tcPr>
                </a:tc>
                <a:tc>
                  <a:txBody>
                    <a:bodyPr/>
                    <a:lstStyle/>
                    <a:p>
                      <a:pPr algn="ctr"/>
                      <a:r>
                        <a:rPr sz="850" b="0" i="0">
                          <a:solidFill>
                            <a:srgbClr val="BFBFBF"/>
                          </a:solidFill>
                          <a:latin typeface="Arial"/>
                        </a:rPr>
                        <a:t>11/15</a:t>
                      </a:r>
                    </a:p>
                  </a:txBody>
                  <a:tcPr>
                    <a:solidFill>
                      <a:srgbClr val="F2F2F2"/>
                    </a:solidFill>
                  </a:tcPr>
                </a:tc>
                <a:extLst>
                  <a:ext uri="{0D108BD9-81ED-4DB2-BD59-A6C34878D82A}">
                    <a16:rowId xmlns:a16="http://schemas.microsoft.com/office/drawing/2014/main" val="10012"/>
                  </a:ext>
                </a:extLst>
              </a:tr>
              <a:tr h="256032">
                <a:tc>
                  <a:txBody>
                    <a:bodyPr/>
                    <a:lstStyle/>
                    <a:p>
                      <a:pPr algn="ctr"/>
                      <a:r>
                        <a:rPr sz="850" b="1" i="0">
                          <a:solidFill>
                            <a:srgbClr val="002060"/>
                          </a:solidFill>
                          <a:latin typeface="Arial"/>
                        </a:rPr>
                        <a:t>13</a:t>
                      </a:r>
                    </a:p>
                  </a:txBody>
                  <a:tcPr>
                    <a:solidFill>
                      <a:srgbClr val="FFFFFF"/>
                    </a:solidFill>
                  </a:tcPr>
                </a:tc>
                <a:tc>
                  <a:txBody>
                    <a:bodyPr/>
                    <a:lstStyle/>
                    <a:p>
                      <a:pPr algn="l"/>
                      <a:r>
                        <a:rPr sz="850" b="0" i="0">
                          <a:solidFill>
                            <a:srgbClr val="262626"/>
                          </a:solidFill>
                          <a:latin typeface="Arial"/>
                        </a:rPr>
                        <a:t>Miguel Hidalgo</a:t>
                      </a:r>
                    </a:p>
                  </a:txBody>
                  <a:tcPr>
                    <a:solidFill>
                      <a:srgbClr val="FFFFFF"/>
                    </a:solidFill>
                  </a:tcPr>
                </a:tc>
                <a:tc>
                  <a:txBody>
                    <a:bodyPr/>
                    <a:lstStyle/>
                    <a:p>
                      <a:pPr algn="ctr"/>
                      <a:r>
                        <a:rPr sz="850" b="1" i="0">
                          <a:solidFill>
                            <a:srgbClr val="262626"/>
                          </a:solidFill>
                          <a:latin typeface="Arial"/>
                        </a:rPr>
                        <a:t>67%</a:t>
                      </a:r>
                    </a:p>
                  </a:txBody>
                  <a:tcPr>
                    <a:solidFill>
                      <a:srgbClr val="FFFFFF"/>
                    </a:solidFill>
                  </a:tcPr>
                </a:tc>
                <a:tc>
                  <a:txBody>
                    <a:bodyPr/>
                    <a:lstStyle/>
                    <a:p>
                      <a:pPr algn="ctr"/>
                      <a:r>
                        <a:rPr sz="850" b="0" i="0">
                          <a:solidFill>
                            <a:srgbClr val="262626"/>
                          </a:solidFill>
                          <a:latin typeface="Arial"/>
                        </a:rPr>
                        <a:t>8:50</a:t>
                      </a:r>
                    </a:p>
                  </a:txBody>
                  <a:tcPr>
                    <a:solidFill>
                      <a:srgbClr val="FFFFFF"/>
                    </a:solidFill>
                  </a:tcPr>
                </a:tc>
                <a:tc>
                  <a:txBody>
                    <a:bodyPr/>
                    <a:lstStyle/>
                    <a:p>
                      <a:pPr algn="ctr"/>
                      <a:r>
                        <a:rPr sz="850" b="1" i="0">
                          <a:solidFill>
                            <a:srgbClr val="262626"/>
                          </a:solidFill>
                          <a:latin typeface="Arial"/>
                        </a:rPr>
                        <a:t>17:39</a:t>
                      </a:r>
                    </a:p>
                  </a:txBody>
                  <a:tcPr>
                    <a:solidFill>
                      <a:srgbClr val="FFFFFF"/>
                    </a:solidFill>
                  </a:tcPr>
                </a:tc>
                <a:tc>
                  <a:txBody>
                    <a:bodyPr/>
                    <a:lstStyle/>
                    <a:p>
                      <a:pPr algn="ctr"/>
                      <a:r>
                        <a:rPr sz="850" b="0" i="0">
                          <a:solidFill>
                            <a:srgbClr val="BFBFBF"/>
                          </a:solidFill>
                          <a:latin typeface="Arial"/>
                        </a:rPr>
                        <a:t>7/14</a:t>
                      </a:r>
                    </a:p>
                  </a:txBody>
                  <a:tcPr>
                    <a:solidFill>
                      <a:srgbClr val="FFFFFF"/>
                    </a:solidFill>
                  </a:tcPr>
                </a:tc>
                <a:extLst>
                  <a:ext uri="{0D108BD9-81ED-4DB2-BD59-A6C34878D82A}">
                    <a16:rowId xmlns:a16="http://schemas.microsoft.com/office/drawing/2014/main" val="10013"/>
                  </a:ext>
                </a:extLst>
              </a:tr>
              <a:tr h="256032">
                <a:tc>
                  <a:txBody>
                    <a:bodyPr/>
                    <a:lstStyle/>
                    <a:p>
                      <a:pPr algn="ctr"/>
                      <a:r>
                        <a:rPr sz="850" b="1" i="0">
                          <a:solidFill>
                            <a:srgbClr val="002060"/>
                          </a:solidFill>
                          <a:latin typeface="Arial"/>
                        </a:rPr>
                        <a:t>14</a:t>
                      </a:r>
                    </a:p>
                  </a:txBody>
                  <a:tcPr>
                    <a:solidFill>
                      <a:srgbClr val="F2F2F2"/>
                    </a:solidFill>
                  </a:tcPr>
                </a:tc>
                <a:tc>
                  <a:txBody>
                    <a:bodyPr/>
                    <a:lstStyle/>
                    <a:p>
                      <a:pPr algn="l"/>
                      <a:r>
                        <a:rPr sz="850" b="0" i="0">
                          <a:solidFill>
                            <a:srgbClr val="262626"/>
                          </a:solidFill>
                          <a:latin typeface="Arial"/>
                        </a:rPr>
                        <a:t>Maciej Bruzdziak</a:t>
                      </a:r>
                    </a:p>
                  </a:txBody>
                  <a:tcPr>
                    <a:solidFill>
                      <a:srgbClr val="F2F2F2"/>
                    </a:solidFill>
                  </a:tcPr>
                </a:tc>
                <a:tc>
                  <a:txBody>
                    <a:bodyPr/>
                    <a:lstStyle/>
                    <a:p>
                      <a:pPr algn="ctr"/>
                      <a:r>
                        <a:rPr sz="850" b="1" i="0">
                          <a:solidFill>
                            <a:srgbClr val="262626"/>
                          </a:solidFill>
                          <a:latin typeface="Arial"/>
                        </a:rPr>
                        <a:t>67%</a:t>
                      </a:r>
                    </a:p>
                  </a:txBody>
                  <a:tcPr>
                    <a:solidFill>
                      <a:srgbClr val="F2F2F2"/>
                    </a:solidFill>
                  </a:tcPr>
                </a:tc>
                <a:tc>
                  <a:txBody>
                    <a:bodyPr/>
                    <a:lstStyle/>
                    <a:p>
                      <a:pPr algn="ctr"/>
                      <a:r>
                        <a:rPr sz="850" b="0" i="0">
                          <a:solidFill>
                            <a:srgbClr val="262626"/>
                          </a:solidFill>
                          <a:latin typeface="Arial"/>
                        </a:rPr>
                        <a:t>8:52</a:t>
                      </a:r>
                    </a:p>
                  </a:txBody>
                  <a:tcPr>
                    <a:solidFill>
                      <a:srgbClr val="F2F2F2"/>
                    </a:solidFill>
                  </a:tcPr>
                </a:tc>
                <a:tc>
                  <a:txBody>
                    <a:bodyPr/>
                    <a:lstStyle/>
                    <a:p>
                      <a:pPr algn="ctr"/>
                      <a:r>
                        <a:rPr sz="850" b="1" i="0">
                          <a:solidFill>
                            <a:srgbClr val="262626"/>
                          </a:solidFill>
                          <a:latin typeface="Arial"/>
                        </a:rPr>
                        <a:t>17:57</a:t>
                      </a:r>
                    </a:p>
                  </a:txBody>
                  <a:tcPr>
                    <a:solidFill>
                      <a:srgbClr val="F2F2F2"/>
                    </a:solidFill>
                  </a:tcPr>
                </a:tc>
                <a:tc>
                  <a:txBody>
                    <a:bodyPr/>
                    <a:lstStyle/>
                    <a:p>
                      <a:pPr algn="ctr"/>
                      <a:r>
                        <a:rPr sz="850" b="0" i="0">
                          <a:solidFill>
                            <a:srgbClr val="BFBFBF"/>
                          </a:solidFill>
                          <a:latin typeface="Arial"/>
                        </a:rPr>
                        <a:t>8/16</a:t>
                      </a:r>
                    </a:p>
                  </a:txBody>
                  <a:tcPr>
                    <a:solidFill>
                      <a:srgbClr val="F2F2F2"/>
                    </a:solidFill>
                  </a:tcPr>
                </a:tc>
                <a:extLst>
                  <a:ext uri="{0D108BD9-81ED-4DB2-BD59-A6C34878D82A}">
                    <a16:rowId xmlns:a16="http://schemas.microsoft.com/office/drawing/2014/main" val="10014"/>
                  </a:ext>
                </a:extLst>
              </a:tr>
            </a:tbl>
          </a:graphicData>
        </a:graphic>
      </p:graphicFrame>
      <p:sp>
        <p:nvSpPr>
          <p:cNvPr id="13" name="Rectangle 12"/>
          <p:cNvSpPr/>
          <p:nvPr/>
        </p:nvSpPr>
        <p:spPr>
          <a:xfrm>
            <a:off x="612648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536192"/>
            <a:ext cx="5806440" cy="219456"/>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1828800"/>
          <a:ext cx="5806439" cy="3840480"/>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gridCol w="956462">
                  <a:extLst>
                    <a:ext uri="{9D8B030D-6E8A-4147-A177-3AD203B41FA5}">
                      <a16:colId xmlns:a16="http://schemas.microsoft.com/office/drawing/2014/main" val="20005"/>
                    </a:ext>
                  </a:extLst>
                </a:gridCol>
              </a:tblGrid>
              <a:tr h="256032">
                <a:tc>
                  <a:txBody>
                    <a:bodyPr/>
                    <a:lstStyle/>
                    <a:p>
                      <a:pPr algn="ctr"/>
                      <a:r>
                        <a:rPr sz="850" b="1" i="0">
                          <a:solidFill>
                            <a:srgbClr val="FFFFFF"/>
                          </a:solidFill>
                          <a:latin typeface="Arial"/>
                        </a:rPr>
                        <a:t>#</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Lead %</a:t>
                      </a:r>
                    </a:p>
                  </a:txBody>
                  <a:tcPr>
                    <a:solidFill>
                      <a:srgbClr val="002060"/>
                    </a:solidFill>
                  </a:tcPr>
                </a:tc>
                <a:tc>
                  <a:txBody>
                    <a:bodyPr/>
                    <a:lstStyle/>
                    <a:p>
                      <a:pPr algn="ctr"/>
                      <a:r>
                        <a:rPr sz="850" b="1" i="0">
                          <a:solidFill>
                            <a:srgbClr val="FFFFFF"/>
                          </a:solidFill>
                          <a:latin typeface="Arial"/>
                        </a:rPr>
                        <a:t>EWMA Spr</a:t>
                      </a:r>
                    </a:p>
                  </a:txBody>
                  <a:tcPr>
                    <a:solidFill>
                      <a:srgbClr val="002060"/>
                    </a:solidFill>
                  </a:tcPr>
                </a:tc>
                <a:tc>
                  <a:txBody>
                    <a:bodyPr/>
                    <a:lstStyle/>
                    <a:p>
                      <a:pPr algn="ctr"/>
                      <a:r>
                        <a:rPr sz="850" b="1" i="0">
                          <a:solidFill>
                            <a:srgbClr val="FFFFFF"/>
                          </a:solidFill>
                          <a:latin typeface="Arial"/>
                        </a:rPr>
                        <a:t>EWMA Std ▸</a:t>
                      </a:r>
                    </a:p>
                  </a:txBody>
                  <a:tcPr>
                    <a:solidFill>
                      <a:srgbClr val="002060"/>
                    </a:solidFill>
                  </a:tcPr>
                </a:tc>
                <a:tc>
                  <a:txBody>
                    <a:bodyPr/>
                    <a:lstStyle/>
                    <a:p>
                      <a:pPr algn="ctr"/>
                      <a:r>
                        <a:rPr sz="850" b="1" i="0">
                          <a:solidFill>
                            <a:srgbClr val="FFFFFF"/>
                          </a:solidFill>
                          <a:latin typeface="Arial"/>
                        </a:rPr>
                        <a:t>Spr/Std</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Bianca Seregni</a:t>
                      </a:r>
                    </a:p>
                  </a:txBody>
                  <a:tcPr>
                    <a:solidFill>
                      <a:srgbClr val="FFFFFF"/>
                    </a:solidFill>
                  </a:tcPr>
                </a:tc>
                <a:tc>
                  <a:txBody>
                    <a:bodyPr/>
                    <a:lstStyle/>
                    <a:p>
                      <a:pPr algn="ctr"/>
                      <a:r>
                        <a:rPr sz="850" b="1" i="0">
                          <a:solidFill>
                            <a:srgbClr val="262626"/>
                          </a:solidFill>
                          <a:latin typeface="Arial"/>
                        </a:rPr>
                        <a:t>93%</a:t>
                      </a:r>
                    </a:p>
                  </a:txBody>
                  <a:tcPr>
                    <a:solidFill>
                      <a:srgbClr val="FFFFFF"/>
                    </a:solidFill>
                  </a:tcPr>
                </a:tc>
                <a:tc>
                  <a:txBody>
                    <a:bodyPr/>
                    <a:lstStyle/>
                    <a:p>
                      <a:pPr algn="ctr"/>
                      <a:r>
                        <a:rPr sz="850" b="0" i="0">
                          <a:solidFill>
                            <a:srgbClr val="262626"/>
                          </a:solidFill>
                          <a:latin typeface="Arial"/>
                        </a:rPr>
                        <a:t>9:02</a:t>
                      </a:r>
                    </a:p>
                  </a:txBody>
                  <a:tcPr>
                    <a:solidFill>
                      <a:srgbClr val="FFFFFF"/>
                    </a:solidFill>
                  </a:tcPr>
                </a:tc>
                <a:tc>
                  <a:txBody>
                    <a:bodyPr/>
                    <a:lstStyle/>
                    <a:p>
                      <a:pPr algn="ctr"/>
                      <a:r>
                        <a:rPr sz="850" b="1" i="0">
                          <a:solidFill>
                            <a:srgbClr val="262626"/>
                          </a:solidFill>
                          <a:latin typeface="Arial"/>
                        </a:rPr>
                        <a:t>19:03</a:t>
                      </a:r>
                    </a:p>
                  </a:txBody>
                  <a:tcPr>
                    <a:solidFill>
                      <a:srgbClr val="FFFFFF"/>
                    </a:solidFill>
                  </a:tcPr>
                </a:tc>
                <a:tc>
                  <a:txBody>
                    <a:bodyPr/>
                    <a:lstStyle/>
                    <a:p>
                      <a:pPr algn="ctr"/>
                      <a:r>
                        <a:rPr sz="850" b="0" i="0">
                          <a:solidFill>
                            <a:srgbClr val="BFBFBF"/>
                          </a:solidFill>
                          <a:latin typeface="Arial"/>
                        </a:rPr>
                        <a:t>8/20</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Cassandre Beaugrand</a:t>
                      </a:r>
                    </a:p>
                  </a:txBody>
                  <a:tcPr>
                    <a:solidFill>
                      <a:srgbClr val="F2F2F2"/>
                    </a:solidFill>
                  </a:tcPr>
                </a:tc>
                <a:tc>
                  <a:txBody>
                    <a:bodyPr/>
                    <a:lstStyle/>
                    <a:p>
                      <a:pPr algn="ctr"/>
                      <a:r>
                        <a:rPr sz="850" b="1" i="0">
                          <a:solidFill>
                            <a:srgbClr val="262626"/>
                          </a:solidFill>
                          <a:latin typeface="Arial"/>
                        </a:rPr>
                        <a:t>87%</a:t>
                      </a:r>
                    </a:p>
                  </a:txBody>
                  <a:tcPr>
                    <a:solidFill>
                      <a:srgbClr val="F2F2F2"/>
                    </a:solidFill>
                  </a:tcPr>
                </a:tc>
                <a:tc>
                  <a:txBody>
                    <a:bodyPr/>
                    <a:lstStyle/>
                    <a:p>
                      <a:pPr algn="ctr"/>
                      <a:r>
                        <a:rPr sz="850" b="0" i="0">
                          <a:solidFill>
                            <a:srgbClr val="262626"/>
                          </a:solidFill>
                          <a:latin typeface="Arial"/>
                        </a:rPr>
                        <a:t>9:50</a:t>
                      </a:r>
                    </a:p>
                  </a:txBody>
                  <a:tcPr>
                    <a:solidFill>
                      <a:srgbClr val="F2F2F2"/>
                    </a:solidFill>
                  </a:tcPr>
                </a:tc>
                <a:tc>
                  <a:txBody>
                    <a:bodyPr/>
                    <a:lstStyle/>
                    <a:p>
                      <a:pPr algn="ctr"/>
                      <a:r>
                        <a:rPr sz="850" b="1" i="0">
                          <a:solidFill>
                            <a:srgbClr val="262626"/>
                          </a:solidFill>
                          <a:latin typeface="Arial"/>
                        </a:rPr>
                        <a:t>19:42</a:t>
                      </a:r>
                    </a:p>
                  </a:txBody>
                  <a:tcPr>
                    <a:solidFill>
                      <a:srgbClr val="F2F2F2"/>
                    </a:solidFill>
                  </a:tcPr>
                </a:tc>
                <a:tc>
                  <a:txBody>
                    <a:bodyPr/>
                    <a:lstStyle/>
                    <a:p>
                      <a:pPr algn="ctr"/>
                      <a:r>
                        <a:rPr sz="850" b="0" i="0">
                          <a:solidFill>
                            <a:srgbClr val="BFBFBF"/>
                          </a:solidFill>
                          <a:latin typeface="Arial"/>
                        </a:rPr>
                        <a:t>5/10</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Olivia Mathias</a:t>
                      </a:r>
                    </a:p>
                  </a:txBody>
                  <a:tcPr>
                    <a:solidFill>
                      <a:srgbClr val="FFFFFF"/>
                    </a:solidFill>
                  </a:tcPr>
                </a:tc>
                <a:tc>
                  <a:txBody>
                    <a:bodyPr/>
                    <a:lstStyle/>
                    <a:p>
                      <a:pPr algn="ctr"/>
                      <a:r>
                        <a:rPr sz="850" b="1" i="0">
                          <a:solidFill>
                            <a:srgbClr val="262626"/>
                          </a:solidFill>
                          <a:latin typeface="Arial"/>
                        </a:rPr>
                        <a:t>78%</a:t>
                      </a:r>
                    </a:p>
                  </a:txBody>
                  <a:tcPr>
                    <a:solidFill>
                      <a:srgbClr val="FFFFFF"/>
                    </a:solidFill>
                  </a:tcPr>
                </a:tc>
                <a:tc>
                  <a:txBody>
                    <a:bodyPr/>
                    <a:lstStyle/>
                    <a:p>
                      <a:pPr algn="ctr"/>
                      <a:r>
                        <a:rPr sz="850" b="0" i="0">
                          <a:solidFill>
                            <a:srgbClr val="262626"/>
                          </a:solidFill>
                          <a:latin typeface="Arial"/>
                        </a:rPr>
                        <a:t>9:45</a:t>
                      </a:r>
                    </a:p>
                  </a:txBody>
                  <a:tcPr>
                    <a:solidFill>
                      <a:srgbClr val="FFFFFF"/>
                    </a:solidFill>
                  </a:tcPr>
                </a:tc>
                <a:tc>
                  <a:txBody>
                    <a:bodyPr/>
                    <a:lstStyle/>
                    <a:p>
                      <a:pPr algn="ctr"/>
                      <a:r>
                        <a:rPr sz="850" b="1" i="0">
                          <a:solidFill>
                            <a:srgbClr val="262626"/>
                          </a:solidFill>
                          <a:latin typeface="Arial"/>
                        </a:rPr>
                        <a:t>18:58</a:t>
                      </a:r>
                    </a:p>
                  </a:txBody>
                  <a:tcPr>
                    <a:solidFill>
                      <a:srgbClr val="FFFFFF"/>
                    </a:solidFill>
                  </a:tcPr>
                </a:tc>
                <a:tc>
                  <a:txBody>
                    <a:bodyPr/>
                    <a:lstStyle/>
                    <a:p>
                      <a:pPr algn="ctr"/>
                      <a:r>
                        <a:rPr sz="850" b="0" i="0">
                          <a:solidFill>
                            <a:srgbClr val="BFBFBF"/>
                          </a:solidFill>
                          <a:latin typeface="Arial"/>
                        </a:rPr>
                        <a:t>13/10</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Erin McConnell</a:t>
                      </a:r>
                    </a:p>
                  </a:txBody>
                  <a:tcPr>
                    <a:solidFill>
                      <a:srgbClr val="F2F2F2"/>
                    </a:solidFill>
                  </a:tcPr>
                </a:tc>
                <a:tc>
                  <a:txBody>
                    <a:bodyPr/>
                    <a:lstStyle/>
                    <a:p>
                      <a:pPr algn="ctr"/>
                      <a:r>
                        <a:rPr sz="850" b="1" i="0">
                          <a:solidFill>
                            <a:srgbClr val="262626"/>
                          </a:solidFill>
                          <a:latin typeface="Arial"/>
                        </a:rPr>
                        <a:t>77%</a:t>
                      </a:r>
                    </a:p>
                  </a:txBody>
                  <a:tcPr>
                    <a:solidFill>
                      <a:srgbClr val="F2F2F2"/>
                    </a:solidFill>
                  </a:tcPr>
                </a:tc>
                <a:tc>
                  <a:txBody>
                    <a:bodyPr/>
                    <a:lstStyle/>
                    <a:p>
                      <a:pPr algn="ctr"/>
                      <a:r>
                        <a:rPr sz="850" b="0" i="0">
                          <a:solidFill>
                            <a:srgbClr val="262626"/>
                          </a:solidFill>
                          <a:latin typeface="Arial"/>
                        </a:rPr>
                        <a:t>9:28</a:t>
                      </a:r>
                    </a:p>
                  </a:txBody>
                  <a:tcPr>
                    <a:solidFill>
                      <a:srgbClr val="F2F2F2"/>
                    </a:solidFill>
                  </a:tcPr>
                </a:tc>
                <a:tc>
                  <a:txBody>
                    <a:bodyPr/>
                    <a:lstStyle/>
                    <a:p>
                      <a:pPr algn="ctr"/>
                      <a:r>
                        <a:rPr sz="850" b="1" i="0">
                          <a:solidFill>
                            <a:srgbClr val="262626"/>
                          </a:solidFill>
                          <a:latin typeface="Arial"/>
                        </a:rPr>
                        <a:t>—</a:t>
                      </a:r>
                    </a:p>
                  </a:txBody>
                  <a:tcPr>
                    <a:solidFill>
                      <a:srgbClr val="F2F2F2"/>
                    </a:solidFill>
                  </a:tcPr>
                </a:tc>
                <a:tc>
                  <a:txBody>
                    <a:bodyPr/>
                    <a:lstStyle/>
                    <a:p>
                      <a:pPr algn="ctr"/>
                      <a:r>
                        <a:rPr sz="850" b="0" i="0">
                          <a:solidFill>
                            <a:srgbClr val="BFBFBF"/>
                          </a:solidFill>
                          <a:latin typeface="Arial"/>
                        </a:rPr>
                        <a:t>13/0</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Sophia Howell</a:t>
                      </a:r>
                    </a:p>
                  </a:txBody>
                  <a:tcPr>
                    <a:solidFill>
                      <a:srgbClr val="FFFFFF"/>
                    </a:solidFill>
                  </a:tcPr>
                </a:tc>
                <a:tc>
                  <a:txBody>
                    <a:bodyPr/>
                    <a:lstStyle/>
                    <a:p>
                      <a:pPr algn="ctr"/>
                      <a:r>
                        <a:rPr sz="850" b="1" i="0">
                          <a:solidFill>
                            <a:srgbClr val="262626"/>
                          </a:solidFill>
                          <a:latin typeface="Arial"/>
                        </a:rPr>
                        <a:t>74%</a:t>
                      </a:r>
                    </a:p>
                  </a:txBody>
                  <a:tcPr>
                    <a:solidFill>
                      <a:srgbClr val="FFFFFF"/>
                    </a:solidFill>
                  </a:tcPr>
                </a:tc>
                <a:tc>
                  <a:txBody>
                    <a:bodyPr/>
                    <a:lstStyle/>
                    <a:p>
                      <a:pPr algn="ctr"/>
                      <a:r>
                        <a:rPr sz="850" b="0" i="0">
                          <a:solidFill>
                            <a:srgbClr val="262626"/>
                          </a:solidFill>
                          <a:latin typeface="Arial"/>
                        </a:rPr>
                        <a:t>9:49</a:t>
                      </a:r>
                    </a:p>
                  </a:txBody>
                  <a:tcPr>
                    <a:solidFill>
                      <a:srgbClr val="FFFFFF"/>
                    </a:solidFill>
                  </a:tcPr>
                </a:tc>
                <a:tc>
                  <a:txBody>
                    <a:bodyPr/>
                    <a:lstStyle/>
                    <a:p>
                      <a:pPr algn="ctr"/>
                      <a:r>
                        <a:rPr sz="850" b="1" i="0">
                          <a:solidFill>
                            <a:srgbClr val="262626"/>
                          </a:solidFill>
                          <a:latin typeface="Arial"/>
                        </a:rPr>
                        <a:t>19:46</a:t>
                      </a:r>
                    </a:p>
                  </a:txBody>
                  <a:tcPr>
                    <a:solidFill>
                      <a:srgbClr val="FFFFFF"/>
                    </a:solidFill>
                  </a:tcPr>
                </a:tc>
                <a:tc>
                  <a:txBody>
                    <a:bodyPr/>
                    <a:lstStyle/>
                    <a:p>
                      <a:pPr algn="ctr"/>
                      <a:r>
                        <a:rPr sz="850" b="0" i="0">
                          <a:solidFill>
                            <a:srgbClr val="BFBFBF"/>
                          </a:solidFill>
                          <a:latin typeface="Arial"/>
                        </a:rPr>
                        <a:t>26/8</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Márta Kropkó</a:t>
                      </a:r>
                    </a:p>
                  </a:txBody>
                  <a:tcPr>
                    <a:solidFill>
                      <a:srgbClr val="F2F2F2"/>
                    </a:solidFill>
                  </a:tcPr>
                </a:tc>
                <a:tc>
                  <a:txBody>
                    <a:bodyPr/>
                    <a:lstStyle/>
                    <a:p>
                      <a:pPr algn="ctr"/>
                      <a:r>
                        <a:rPr sz="850" b="1" i="0">
                          <a:solidFill>
                            <a:srgbClr val="262626"/>
                          </a:solidFill>
                          <a:latin typeface="Arial"/>
                        </a:rPr>
                        <a:t>73%</a:t>
                      </a:r>
                    </a:p>
                  </a:txBody>
                  <a:tcPr>
                    <a:solidFill>
                      <a:srgbClr val="F2F2F2"/>
                    </a:solidFill>
                  </a:tcPr>
                </a:tc>
                <a:tc>
                  <a:txBody>
                    <a:bodyPr/>
                    <a:lstStyle/>
                    <a:p>
                      <a:pPr algn="ctr"/>
                      <a:r>
                        <a:rPr sz="850" b="0" i="0">
                          <a:solidFill>
                            <a:srgbClr val="262626"/>
                          </a:solidFill>
                          <a:latin typeface="Arial"/>
                        </a:rPr>
                        <a:t>9:38</a:t>
                      </a:r>
                    </a:p>
                  </a:txBody>
                  <a:tcPr>
                    <a:solidFill>
                      <a:srgbClr val="F2F2F2"/>
                    </a:solidFill>
                  </a:tcPr>
                </a:tc>
                <a:tc>
                  <a:txBody>
                    <a:bodyPr/>
                    <a:lstStyle/>
                    <a:p>
                      <a:pPr algn="ctr"/>
                      <a:r>
                        <a:rPr sz="850" b="1" i="0">
                          <a:solidFill>
                            <a:srgbClr val="262626"/>
                          </a:solidFill>
                          <a:latin typeface="Arial"/>
                        </a:rPr>
                        <a:t>18:46</a:t>
                      </a:r>
                    </a:p>
                  </a:txBody>
                  <a:tcPr>
                    <a:solidFill>
                      <a:srgbClr val="F2F2F2"/>
                    </a:solidFill>
                  </a:tcPr>
                </a:tc>
                <a:tc>
                  <a:txBody>
                    <a:bodyPr/>
                    <a:lstStyle/>
                    <a:p>
                      <a:pPr algn="ctr"/>
                      <a:r>
                        <a:rPr sz="850" b="0" i="0">
                          <a:solidFill>
                            <a:srgbClr val="BFBFBF"/>
                          </a:solidFill>
                          <a:latin typeface="Arial"/>
                        </a:rPr>
                        <a:t>12/10</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Jolien Vermeylen</a:t>
                      </a:r>
                    </a:p>
                  </a:txBody>
                  <a:tcPr>
                    <a:solidFill>
                      <a:srgbClr val="FFFFFF"/>
                    </a:solidFill>
                  </a:tcPr>
                </a:tc>
                <a:tc>
                  <a:txBody>
                    <a:bodyPr/>
                    <a:lstStyle/>
                    <a:p>
                      <a:pPr algn="ctr"/>
                      <a:r>
                        <a:rPr sz="850" b="1" i="0">
                          <a:solidFill>
                            <a:srgbClr val="262626"/>
                          </a:solidFill>
                          <a:latin typeface="Arial"/>
                        </a:rPr>
                        <a:t>72%</a:t>
                      </a:r>
                    </a:p>
                  </a:txBody>
                  <a:tcPr>
                    <a:solidFill>
                      <a:srgbClr val="FFFFFF"/>
                    </a:solidFill>
                  </a:tcPr>
                </a:tc>
                <a:tc>
                  <a:txBody>
                    <a:bodyPr/>
                    <a:lstStyle/>
                    <a:p>
                      <a:pPr algn="ctr"/>
                      <a:r>
                        <a:rPr sz="850" b="0" i="0">
                          <a:solidFill>
                            <a:srgbClr val="262626"/>
                          </a:solidFill>
                          <a:latin typeface="Arial"/>
                        </a:rPr>
                        <a:t>9:07</a:t>
                      </a:r>
                    </a:p>
                  </a:txBody>
                  <a:tcPr>
                    <a:solidFill>
                      <a:srgbClr val="FFFFFF"/>
                    </a:solidFill>
                  </a:tcPr>
                </a:tc>
                <a:tc>
                  <a:txBody>
                    <a:bodyPr/>
                    <a:lstStyle/>
                    <a:p>
                      <a:pPr algn="ctr"/>
                      <a:r>
                        <a:rPr sz="850" b="1" i="0">
                          <a:solidFill>
                            <a:srgbClr val="262626"/>
                          </a:solidFill>
                          <a:latin typeface="Arial"/>
                        </a:rPr>
                        <a:t>18:41</a:t>
                      </a:r>
                    </a:p>
                  </a:txBody>
                  <a:tcPr>
                    <a:solidFill>
                      <a:srgbClr val="FFFFFF"/>
                    </a:solidFill>
                  </a:tcPr>
                </a:tc>
                <a:tc>
                  <a:txBody>
                    <a:bodyPr/>
                    <a:lstStyle/>
                    <a:p>
                      <a:pPr algn="ctr"/>
                      <a:r>
                        <a:rPr sz="850" b="0" i="0">
                          <a:solidFill>
                            <a:srgbClr val="BFBFBF"/>
                          </a:solidFill>
                          <a:latin typeface="Arial"/>
                        </a:rPr>
                        <a:t>18/18</a:t>
                      </a:r>
                    </a:p>
                  </a:txBody>
                  <a:tcPr>
                    <a:solidFill>
                      <a:srgbClr val="FFFFFF"/>
                    </a:solidFill>
                  </a:tcPr>
                </a:tc>
                <a:extLst>
                  <a:ext uri="{0D108BD9-81ED-4DB2-BD59-A6C34878D82A}">
                    <a16:rowId xmlns:a16="http://schemas.microsoft.com/office/drawing/2014/main" val="10007"/>
                  </a:ext>
                </a:extLst>
              </a:tr>
              <a:tr h="256032">
                <a:tc>
                  <a:txBody>
                    <a:bodyPr/>
                    <a:lstStyle/>
                    <a:p>
                      <a:pPr algn="ctr"/>
                      <a:r>
                        <a:rPr sz="850" b="1" i="0">
                          <a:solidFill>
                            <a:srgbClr val="002060"/>
                          </a:solidFill>
                          <a:latin typeface="Arial"/>
                        </a:rPr>
                        <a:t>8</a:t>
                      </a:r>
                    </a:p>
                  </a:txBody>
                  <a:tcPr>
                    <a:solidFill>
                      <a:srgbClr val="F2F2F2"/>
                    </a:solidFill>
                  </a:tcPr>
                </a:tc>
                <a:tc>
                  <a:txBody>
                    <a:bodyPr/>
                    <a:lstStyle/>
                    <a:p>
                      <a:pPr algn="l"/>
                      <a:r>
                        <a:rPr sz="850" b="1" i="0">
                          <a:solidFill>
                            <a:srgbClr val="C00000"/>
                          </a:solidFill>
                          <a:latin typeface="Arial"/>
                        </a:rPr>
                        <a:t>Taylor Spivey</a:t>
                      </a:r>
                    </a:p>
                  </a:txBody>
                  <a:tcPr>
                    <a:solidFill>
                      <a:srgbClr val="F2F2F2"/>
                    </a:solidFill>
                  </a:tcPr>
                </a:tc>
                <a:tc>
                  <a:txBody>
                    <a:bodyPr/>
                    <a:lstStyle/>
                    <a:p>
                      <a:pPr algn="ctr"/>
                      <a:r>
                        <a:rPr sz="850" b="1" i="0">
                          <a:solidFill>
                            <a:srgbClr val="262626"/>
                          </a:solidFill>
                          <a:latin typeface="Arial"/>
                        </a:rPr>
                        <a:t>68%</a:t>
                      </a:r>
                    </a:p>
                  </a:txBody>
                  <a:tcPr>
                    <a:solidFill>
                      <a:srgbClr val="F2F2F2"/>
                    </a:solidFill>
                  </a:tcPr>
                </a:tc>
                <a:tc>
                  <a:txBody>
                    <a:bodyPr/>
                    <a:lstStyle/>
                    <a:p>
                      <a:pPr algn="ctr"/>
                      <a:r>
                        <a:rPr sz="850" b="0" i="0">
                          <a:solidFill>
                            <a:srgbClr val="262626"/>
                          </a:solidFill>
                          <a:latin typeface="Arial"/>
                        </a:rPr>
                        <a:t>9:44</a:t>
                      </a:r>
                    </a:p>
                  </a:txBody>
                  <a:tcPr>
                    <a:solidFill>
                      <a:srgbClr val="F2F2F2"/>
                    </a:solidFill>
                  </a:tcPr>
                </a:tc>
                <a:tc>
                  <a:txBody>
                    <a:bodyPr/>
                    <a:lstStyle/>
                    <a:p>
                      <a:pPr algn="ctr"/>
                      <a:r>
                        <a:rPr sz="850" b="1" i="0">
                          <a:solidFill>
                            <a:srgbClr val="262626"/>
                          </a:solidFill>
                          <a:latin typeface="Arial"/>
                        </a:rPr>
                        <a:t>19:14</a:t>
                      </a:r>
                    </a:p>
                  </a:txBody>
                  <a:tcPr>
                    <a:solidFill>
                      <a:srgbClr val="F2F2F2"/>
                    </a:solidFill>
                  </a:tcPr>
                </a:tc>
                <a:tc>
                  <a:txBody>
                    <a:bodyPr/>
                    <a:lstStyle/>
                    <a:p>
                      <a:pPr algn="ctr"/>
                      <a:r>
                        <a:rPr sz="850" b="0" i="0">
                          <a:solidFill>
                            <a:srgbClr val="BFBFBF"/>
                          </a:solidFill>
                          <a:latin typeface="Arial"/>
                        </a:rPr>
                        <a:t>5/14</a:t>
                      </a:r>
                    </a:p>
                  </a:txBody>
                  <a:tcPr>
                    <a:solidFill>
                      <a:srgbClr val="F2F2F2"/>
                    </a:solidFill>
                  </a:tcPr>
                </a:tc>
                <a:extLst>
                  <a:ext uri="{0D108BD9-81ED-4DB2-BD59-A6C34878D82A}">
                    <a16:rowId xmlns:a16="http://schemas.microsoft.com/office/drawing/2014/main" val="10008"/>
                  </a:ext>
                </a:extLst>
              </a:tr>
              <a:tr h="256032">
                <a:tc>
                  <a:txBody>
                    <a:bodyPr/>
                    <a:lstStyle/>
                    <a:p>
                      <a:pPr algn="ctr"/>
                      <a:r>
                        <a:rPr sz="850" b="1" i="0">
                          <a:solidFill>
                            <a:srgbClr val="002060"/>
                          </a:solidFill>
                          <a:latin typeface="Arial"/>
                        </a:rPr>
                        <a:t>9</a:t>
                      </a:r>
                    </a:p>
                  </a:txBody>
                  <a:tcPr>
                    <a:solidFill>
                      <a:srgbClr val="FFFFFF"/>
                    </a:solidFill>
                  </a:tcPr>
                </a:tc>
                <a:tc>
                  <a:txBody>
                    <a:bodyPr/>
                    <a:lstStyle/>
                    <a:p>
                      <a:pPr algn="l"/>
                      <a:r>
                        <a:rPr sz="850" b="0" i="0">
                          <a:solidFill>
                            <a:srgbClr val="262626"/>
                          </a:solidFill>
                          <a:latin typeface="Arial"/>
                        </a:rPr>
                        <a:t>Sian Rainsley</a:t>
                      </a:r>
                    </a:p>
                  </a:txBody>
                  <a:tcPr>
                    <a:solidFill>
                      <a:srgbClr val="FFFFFF"/>
                    </a:solidFill>
                  </a:tcPr>
                </a:tc>
                <a:tc>
                  <a:txBody>
                    <a:bodyPr/>
                    <a:lstStyle/>
                    <a:p>
                      <a:pPr algn="ctr"/>
                      <a:r>
                        <a:rPr sz="850" b="1" i="0">
                          <a:solidFill>
                            <a:srgbClr val="262626"/>
                          </a:solidFill>
                          <a:latin typeface="Arial"/>
                        </a:rPr>
                        <a:t>67%</a:t>
                      </a:r>
                    </a:p>
                  </a:txBody>
                  <a:tcPr>
                    <a:solidFill>
                      <a:srgbClr val="FFFFFF"/>
                    </a:solidFill>
                  </a:tcPr>
                </a:tc>
                <a:tc>
                  <a:txBody>
                    <a:bodyPr/>
                    <a:lstStyle/>
                    <a:p>
                      <a:pPr algn="ctr"/>
                      <a:r>
                        <a:rPr sz="850" b="0" i="0">
                          <a:solidFill>
                            <a:srgbClr val="262626"/>
                          </a:solidFill>
                          <a:latin typeface="Arial"/>
                        </a:rPr>
                        <a:t>9:49</a:t>
                      </a:r>
                    </a:p>
                  </a:txBody>
                  <a:tcPr>
                    <a:solidFill>
                      <a:srgbClr val="FFFFFF"/>
                    </a:solidFill>
                  </a:tcPr>
                </a:tc>
                <a:tc>
                  <a:txBody>
                    <a:bodyPr/>
                    <a:lstStyle/>
                    <a:p>
                      <a:pPr algn="ctr"/>
                      <a:r>
                        <a:rPr sz="850" b="1" i="0">
                          <a:solidFill>
                            <a:srgbClr val="262626"/>
                          </a:solidFill>
                          <a:latin typeface="Arial"/>
                        </a:rPr>
                        <a:t>19:15</a:t>
                      </a:r>
                    </a:p>
                  </a:txBody>
                  <a:tcPr>
                    <a:solidFill>
                      <a:srgbClr val="FFFFFF"/>
                    </a:solidFill>
                  </a:tcPr>
                </a:tc>
                <a:tc>
                  <a:txBody>
                    <a:bodyPr/>
                    <a:lstStyle/>
                    <a:p>
                      <a:pPr algn="ctr"/>
                      <a:r>
                        <a:rPr sz="850" b="0" i="0">
                          <a:solidFill>
                            <a:srgbClr val="BFBFBF"/>
                          </a:solidFill>
                          <a:latin typeface="Arial"/>
                        </a:rPr>
                        <a:t>10/11</a:t>
                      </a:r>
                    </a:p>
                  </a:txBody>
                  <a:tcPr>
                    <a:solidFill>
                      <a:srgbClr val="FFFFFF"/>
                    </a:solidFill>
                  </a:tcPr>
                </a:tc>
                <a:extLst>
                  <a:ext uri="{0D108BD9-81ED-4DB2-BD59-A6C34878D82A}">
                    <a16:rowId xmlns:a16="http://schemas.microsoft.com/office/drawing/2014/main" val="10009"/>
                  </a:ext>
                </a:extLst>
              </a:tr>
              <a:tr h="256032">
                <a:tc>
                  <a:txBody>
                    <a:bodyPr/>
                    <a:lstStyle/>
                    <a:p>
                      <a:pPr algn="ctr"/>
                      <a:r>
                        <a:rPr sz="850" b="1" i="0">
                          <a:solidFill>
                            <a:srgbClr val="002060"/>
                          </a:solidFill>
                          <a:latin typeface="Arial"/>
                        </a:rPr>
                        <a:t>10</a:t>
                      </a:r>
                    </a:p>
                  </a:txBody>
                  <a:tcPr>
                    <a:solidFill>
                      <a:srgbClr val="F2F2F2"/>
                    </a:solidFill>
                  </a:tcPr>
                </a:tc>
                <a:tc>
                  <a:txBody>
                    <a:bodyPr/>
                    <a:lstStyle/>
                    <a:p>
                      <a:pPr algn="l"/>
                      <a:r>
                        <a:rPr sz="850" b="0" i="0">
                          <a:solidFill>
                            <a:srgbClr val="262626"/>
                          </a:solidFill>
                          <a:latin typeface="Arial"/>
                        </a:rPr>
                        <a:t>Laura Lindemann</a:t>
                      </a:r>
                    </a:p>
                  </a:txBody>
                  <a:tcPr>
                    <a:solidFill>
                      <a:srgbClr val="F2F2F2"/>
                    </a:solidFill>
                  </a:tcPr>
                </a:tc>
                <a:tc>
                  <a:txBody>
                    <a:bodyPr/>
                    <a:lstStyle/>
                    <a:p>
                      <a:pPr algn="ctr"/>
                      <a:r>
                        <a:rPr sz="850" b="1" i="0">
                          <a:solidFill>
                            <a:srgbClr val="262626"/>
                          </a:solidFill>
                          <a:latin typeface="Arial"/>
                        </a:rPr>
                        <a:t>62%</a:t>
                      </a:r>
                    </a:p>
                  </a:txBody>
                  <a:tcPr>
                    <a:solidFill>
                      <a:srgbClr val="F2F2F2"/>
                    </a:solidFill>
                  </a:tcPr>
                </a:tc>
                <a:tc>
                  <a:txBody>
                    <a:bodyPr/>
                    <a:lstStyle/>
                    <a:p>
                      <a:pPr algn="ctr"/>
                      <a:r>
                        <a:rPr sz="850" b="0" i="0">
                          <a:solidFill>
                            <a:srgbClr val="262626"/>
                          </a:solidFill>
                          <a:latin typeface="Arial"/>
                        </a:rPr>
                        <a:t>9:44</a:t>
                      </a:r>
                    </a:p>
                  </a:txBody>
                  <a:tcPr>
                    <a:solidFill>
                      <a:srgbClr val="F2F2F2"/>
                    </a:solidFill>
                  </a:tcPr>
                </a:tc>
                <a:tc>
                  <a:txBody>
                    <a:bodyPr/>
                    <a:lstStyle/>
                    <a:p>
                      <a:pPr algn="ctr"/>
                      <a:r>
                        <a:rPr sz="850" b="1" i="0">
                          <a:solidFill>
                            <a:srgbClr val="262626"/>
                          </a:solidFill>
                          <a:latin typeface="Arial"/>
                        </a:rPr>
                        <a:t>19:26</a:t>
                      </a:r>
                    </a:p>
                  </a:txBody>
                  <a:tcPr>
                    <a:solidFill>
                      <a:srgbClr val="F2F2F2"/>
                    </a:solidFill>
                  </a:tcPr>
                </a:tc>
                <a:tc>
                  <a:txBody>
                    <a:bodyPr/>
                    <a:lstStyle/>
                    <a:p>
                      <a:pPr algn="ctr"/>
                      <a:r>
                        <a:rPr sz="850" b="0" i="0">
                          <a:solidFill>
                            <a:srgbClr val="BFBFBF"/>
                          </a:solidFill>
                          <a:latin typeface="Arial"/>
                        </a:rPr>
                        <a:t>4/12</a:t>
                      </a:r>
                    </a:p>
                  </a:txBody>
                  <a:tcPr>
                    <a:solidFill>
                      <a:srgbClr val="F2F2F2"/>
                    </a:solidFill>
                  </a:tcPr>
                </a:tc>
                <a:extLst>
                  <a:ext uri="{0D108BD9-81ED-4DB2-BD59-A6C34878D82A}">
                    <a16:rowId xmlns:a16="http://schemas.microsoft.com/office/drawing/2014/main" val="10010"/>
                  </a:ext>
                </a:extLst>
              </a:tr>
              <a:tr h="256032">
                <a:tc>
                  <a:txBody>
                    <a:bodyPr/>
                    <a:lstStyle/>
                    <a:p>
                      <a:pPr algn="ctr"/>
                      <a:r>
                        <a:rPr sz="850" b="1" i="0">
                          <a:solidFill>
                            <a:srgbClr val="002060"/>
                          </a:solidFill>
                          <a:latin typeface="Arial"/>
                        </a:rPr>
                        <a:t>11</a:t>
                      </a:r>
                    </a:p>
                  </a:txBody>
                  <a:tcPr>
                    <a:solidFill>
                      <a:srgbClr val="FFFFFF"/>
                    </a:solidFill>
                  </a:tcPr>
                </a:tc>
                <a:tc>
                  <a:txBody>
                    <a:bodyPr/>
                    <a:lstStyle/>
                    <a:p>
                      <a:pPr algn="l"/>
                      <a:r>
                        <a:rPr sz="850" b="0" i="0">
                          <a:solidFill>
                            <a:srgbClr val="262626"/>
                          </a:solidFill>
                          <a:latin typeface="Arial"/>
                        </a:rPr>
                        <a:t>Eva Goodisson</a:t>
                      </a:r>
                    </a:p>
                  </a:txBody>
                  <a:tcPr>
                    <a:solidFill>
                      <a:srgbClr val="FFFFFF"/>
                    </a:solidFill>
                  </a:tcPr>
                </a:tc>
                <a:tc>
                  <a:txBody>
                    <a:bodyPr/>
                    <a:lstStyle/>
                    <a:p>
                      <a:pPr algn="ctr"/>
                      <a:r>
                        <a:rPr sz="850" b="1" i="0">
                          <a:solidFill>
                            <a:srgbClr val="262626"/>
                          </a:solidFill>
                          <a:latin typeface="Arial"/>
                        </a:rPr>
                        <a:t>61%</a:t>
                      </a:r>
                    </a:p>
                  </a:txBody>
                  <a:tcPr>
                    <a:solidFill>
                      <a:srgbClr val="FFFFFF"/>
                    </a:solidFill>
                  </a:tcPr>
                </a:tc>
                <a:tc>
                  <a:txBody>
                    <a:bodyPr/>
                    <a:lstStyle/>
                    <a:p>
                      <a:pPr algn="ctr"/>
                      <a:r>
                        <a:rPr sz="850" b="0" i="0">
                          <a:solidFill>
                            <a:srgbClr val="262626"/>
                          </a:solidFill>
                          <a:latin typeface="Arial"/>
                        </a:rPr>
                        <a:t>10:25</a:t>
                      </a:r>
                    </a:p>
                  </a:txBody>
                  <a:tcPr>
                    <a:solidFill>
                      <a:srgbClr val="FFFFFF"/>
                    </a:solidFill>
                  </a:tcPr>
                </a:tc>
                <a:tc>
                  <a:txBody>
                    <a:bodyPr/>
                    <a:lstStyle/>
                    <a:p>
                      <a:pPr algn="ctr"/>
                      <a:r>
                        <a:rPr sz="850" b="1" i="0">
                          <a:solidFill>
                            <a:srgbClr val="262626"/>
                          </a:solidFill>
                          <a:latin typeface="Arial"/>
                        </a:rPr>
                        <a:t>19:33</a:t>
                      </a:r>
                    </a:p>
                  </a:txBody>
                  <a:tcPr>
                    <a:solidFill>
                      <a:srgbClr val="FFFFFF"/>
                    </a:solidFill>
                  </a:tcPr>
                </a:tc>
                <a:tc>
                  <a:txBody>
                    <a:bodyPr/>
                    <a:lstStyle/>
                    <a:p>
                      <a:pPr algn="ctr"/>
                      <a:r>
                        <a:rPr sz="850" b="0" i="0">
                          <a:solidFill>
                            <a:srgbClr val="BFBFBF"/>
                          </a:solidFill>
                          <a:latin typeface="Arial"/>
                        </a:rPr>
                        <a:t>17/11</a:t>
                      </a:r>
                    </a:p>
                  </a:txBody>
                  <a:tcPr>
                    <a:solidFill>
                      <a:srgbClr val="FFFFFF"/>
                    </a:solidFill>
                  </a:tcPr>
                </a:tc>
                <a:extLst>
                  <a:ext uri="{0D108BD9-81ED-4DB2-BD59-A6C34878D82A}">
                    <a16:rowId xmlns:a16="http://schemas.microsoft.com/office/drawing/2014/main" val="10011"/>
                  </a:ext>
                </a:extLst>
              </a:tr>
              <a:tr h="256032">
                <a:tc>
                  <a:txBody>
                    <a:bodyPr/>
                    <a:lstStyle/>
                    <a:p>
                      <a:pPr algn="ctr"/>
                      <a:r>
                        <a:rPr sz="850" b="1" i="0">
                          <a:solidFill>
                            <a:srgbClr val="002060"/>
                          </a:solidFill>
                          <a:latin typeface="Arial"/>
                        </a:rPr>
                        <a:t>12</a:t>
                      </a:r>
                    </a:p>
                  </a:txBody>
                  <a:tcPr>
                    <a:solidFill>
                      <a:srgbClr val="F2F2F2"/>
                    </a:solidFill>
                  </a:tcPr>
                </a:tc>
                <a:tc>
                  <a:txBody>
                    <a:bodyPr/>
                    <a:lstStyle/>
                    <a:p>
                      <a:pPr algn="l"/>
                      <a:r>
                        <a:rPr sz="850" b="0" i="0">
                          <a:solidFill>
                            <a:srgbClr val="262626"/>
                          </a:solidFill>
                          <a:latin typeface="Arial"/>
                        </a:rPr>
                        <a:t>Beth Potter</a:t>
                      </a:r>
                    </a:p>
                  </a:txBody>
                  <a:tcPr>
                    <a:solidFill>
                      <a:srgbClr val="F2F2F2"/>
                    </a:solidFill>
                  </a:tcPr>
                </a:tc>
                <a:tc>
                  <a:txBody>
                    <a:bodyPr/>
                    <a:lstStyle/>
                    <a:p>
                      <a:pPr algn="ctr"/>
                      <a:r>
                        <a:rPr sz="850" b="1" i="0">
                          <a:solidFill>
                            <a:srgbClr val="262626"/>
                          </a:solidFill>
                          <a:latin typeface="Arial"/>
                        </a:rPr>
                        <a:t>60%</a:t>
                      </a:r>
                    </a:p>
                  </a:txBody>
                  <a:tcPr>
                    <a:solidFill>
                      <a:srgbClr val="F2F2F2"/>
                    </a:solidFill>
                  </a:tcPr>
                </a:tc>
                <a:tc>
                  <a:txBody>
                    <a:bodyPr/>
                    <a:lstStyle/>
                    <a:p>
                      <a:pPr algn="ctr"/>
                      <a:r>
                        <a:rPr sz="850" b="0" i="0">
                          <a:solidFill>
                            <a:srgbClr val="262626"/>
                          </a:solidFill>
                          <a:latin typeface="Arial"/>
                        </a:rPr>
                        <a:t>9:56</a:t>
                      </a:r>
                    </a:p>
                  </a:txBody>
                  <a:tcPr>
                    <a:solidFill>
                      <a:srgbClr val="F2F2F2"/>
                    </a:solidFill>
                  </a:tcPr>
                </a:tc>
                <a:tc>
                  <a:txBody>
                    <a:bodyPr/>
                    <a:lstStyle/>
                    <a:p>
                      <a:pPr algn="ctr"/>
                      <a:r>
                        <a:rPr sz="850" b="1" i="0">
                          <a:solidFill>
                            <a:srgbClr val="262626"/>
                          </a:solidFill>
                          <a:latin typeface="Arial"/>
                        </a:rPr>
                        <a:t>19:25</a:t>
                      </a:r>
                    </a:p>
                  </a:txBody>
                  <a:tcPr>
                    <a:solidFill>
                      <a:srgbClr val="F2F2F2"/>
                    </a:solidFill>
                  </a:tcPr>
                </a:tc>
                <a:tc>
                  <a:txBody>
                    <a:bodyPr/>
                    <a:lstStyle/>
                    <a:p>
                      <a:pPr algn="ctr"/>
                      <a:r>
                        <a:rPr sz="850" b="0" i="0">
                          <a:solidFill>
                            <a:srgbClr val="BFBFBF"/>
                          </a:solidFill>
                          <a:latin typeface="Arial"/>
                        </a:rPr>
                        <a:t>5/15</a:t>
                      </a:r>
                    </a:p>
                  </a:txBody>
                  <a:tcPr>
                    <a:solidFill>
                      <a:srgbClr val="F2F2F2"/>
                    </a:solidFill>
                  </a:tcPr>
                </a:tc>
                <a:extLst>
                  <a:ext uri="{0D108BD9-81ED-4DB2-BD59-A6C34878D82A}">
                    <a16:rowId xmlns:a16="http://schemas.microsoft.com/office/drawing/2014/main" val="10012"/>
                  </a:ext>
                </a:extLst>
              </a:tr>
              <a:tr h="256032">
                <a:tc>
                  <a:txBody>
                    <a:bodyPr/>
                    <a:lstStyle/>
                    <a:p>
                      <a:pPr algn="ctr"/>
                      <a:r>
                        <a:rPr sz="850" b="1" i="0">
                          <a:solidFill>
                            <a:srgbClr val="002060"/>
                          </a:solidFill>
                          <a:latin typeface="Arial"/>
                        </a:rPr>
                        <a:t>13</a:t>
                      </a:r>
                    </a:p>
                  </a:txBody>
                  <a:tcPr>
                    <a:solidFill>
                      <a:srgbClr val="FFFFFF"/>
                    </a:solidFill>
                  </a:tcPr>
                </a:tc>
                <a:tc>
                  <a:txBody>
                    <a:bodyPr/>
                    <a:lstStyle/>
                    <a:p>
                      <a:pPr algn="l"/>
                      <a:r>
                        <a:rPr sz="850" b="0" i="0">
                          <a:solidFill>
                            <a:srgbClr val="262626"/>
                          </a:solidFill>
                          <a:latin typeface="Arial"/>
                        </a:rPr>
                        <a:t>Therese Feuersinger</a:t>
                      </a:r>
                    </a:p>
                  </a:txBody>
                  <a:tcPr>
                    <a:solidFill>
                      <a:srgbClr val="FFFFFF"/>
                    </a:solidFill>
                  </a:tcPr>
                </a:tc>
                <a:tc>
                  <a:txBody>
                    <a:bodyPr/>
                    <a:lstStyle/>
                    <a:p>
                      <a:pPr algn="ctr"/>
                      <a:r>
                        <a:rPr sz="850" b="1" i="0">
                          <a:solidFill>
                            <a:srgbClr val="262626"/>
                          </a:solidFill>
                          <a:latin typeface="Arial"/>
                        </a:rPr>
                        <a:t>57%</a:t>
                      </a:r>
                    </a:p>
                  </a:txBody>
                  <a:tcPr>
                    <a:solidFill>
                      <a:srgbClr val="FFFFFF"/>
                    </a:solidFill>
                  </a:tcPr>
                </a:tc>
                <a:tc>
                  <a:txBody>
                    <a:bodyPr/>
                    <a:lstStyle/>
                    <a:p>
                      <a:pPr algn="ctr"/>
                      <a:r>
                        <a:rPr sz="850" b="0" i="0">
                          <a:solidFill>
                            <a:srgbClr val="262626"/>
                          </a:solidFill>
                          <a:latin typeface="Arial"/>
                        </a:rPr>
                        <a:t>9:51</a:t>
                      </a:r>
                    </a:p>
                  </a:txBody>
                  <a:tcPr>
                    <a:solidFill>
                      <a:srgbClr val="FFFFFF"/>
                    </a:solidFill>
                  </a:tcPr>
                </a:tc>
                <a:tc>
                  <a:txBody>
                    <a:bodyPr/>
                    <a:lstStyle/>
                    <a:p>
                      <a:pPr algn="ctr"/>
                      <a:r>
                        <a:rPr sz="850" b="1" i="0">
                          <a:solidFill>
                            <a:srgbClr val="262626"/>
                          </a:solidFill>
                          <a:latin typeface="Arial"/>
                        </a:rPr>
                        <a:t>18:53</a:t>
                      </a:r>
                    </a:p>
                  </a:txBody>
                  <a:tcPr>
                    <a:solidFill>
                      <a:srgbClr val="FFFFFF"/>
                    </a:solidFill>
                  </a:tcPr>
                </a:tc>
                <a:tc>
                  <a:txBody>
                    <a:bodyPr/>
                    <a:lstStyle/>
                    <a:p>
                      <a:pPr algn="ctr"/>
                      <a:r>
                        <a:rPr sz="850" b="0" i="0">
                          <a:solidFill>
                            <a:srgbClr val="BFBFBF"/>
                          </a:solidFill>
                          <a:latin typeface="Arial"/>
                        </a:rPr>
                        <a:t>14/9</a:t>
                      </a:r>
                    </a:p>
                  </a:txBody>
                  <a:tcPr>
                    <a:solidFill>
                      <a:srgbClr val="FFFFFF"/>
                    </a:solidFill>
                  </a:tcPr>
                </a:tc>
                <a:extLst>
                  <a:ext uri="{0D108BD9-81ED-4DB2-BD59-A6C34878D82A}">
                    <a16:rowId xmlns:a16="http://schemas.microsoft.com/office/drawing/2014/main" val="10013"/>
                  </a:ext>
                </a:extLst>
              </a:tr>
              <a:tr h="256032">
                <a:tc>
                  <a:txBody>
                    <a:bodyPr/>
                    <a:lstStyle/>
                    <a:p>
                      <a:pPr algn="ctr"/>
                      <a:r>
                        <a:rPr sz="850" b="1" i="0">
                          <a:solidFill>
                            <a:srgbClr val="002060"/>
                          </a:solidFill>
                          <a:latin typeface="Arial"/>
                        </a:rPr>
                        <a:t>14</a:t>
                      </a:r>
                    </a:p>
                  </a:txBody>
                  <a:tcPr>
                    <a:solidFill>
                      <a:srgbClr val="F2F2F2"/>
                    </a:solidFill>
                  </a:tcPr>
                </a:tc>
                <a:tc>
                  <a:txBody>
                    <a:bodyPr/>
                    <a:lstStyle/>
                    <a:p>
                      <a:pPr algn="l"/>
                      <a:r>
                        <a:rPr sz="850" b="0" i="0">
                          <a:solidFill>
                            <a:srgbClr val="262626"/>
                          </a:solidFill>
                          <a:latin typeface="Arial"/>
                        </a:rPr>
                        <a:t>Jessica Fullagar</a:t>
                      </a:r>
                    </a:p>
                  </a:txBody>
                  <a:tcPr>
                    <a:solidFill>
                      <a:srgbClr val="F2F2F2"/>
                    </a:solidFill>
                  </a:tcPr>
                </a:tc>
                <a:tc>
                  <a:txBody>
                    <a:bodyPr/>
                    <a:lstStyle/>
                    <a:p>
                      <a:pPr algn="ctr"/>
                      <a:r>
                        <a:rPr sz="850" b="1" i="0">
                          <a:solidFill>
                            <a:srgbClr val="262626"/>
                          </a:solidFill>
                          <a:latin typeface="Arial"/>
                        </a:rPr>
                        <a:t>56%</a:t>
                      </a:r>
                    </a:p>
                  </a:txBody>
                  <a:tcPr>
                    <a:solidFill>
                      <a:srgbClr val="F2F2F2"/>
                    </a:solidFill>
                  </a:tcPr>
                </a:tc>
                <a:tc>
                  <a:txBody>
                    <a:bodyPr/>
                    <a:lstStyle/>
                    <a:p>
                      <a:pPr algn="ctr"/>
                      <a:r>
                        <a:rPr sz="850" b="0" i="0">
                          <a:solidFill>
                            <a:srgbClr val="262626"/>
                          </a:solidFill>
                          <a:latin typeface="Arial"/>
                        </a:rPr>
                        <a:t>9:41</a:t>
                      </a:r>
                    </a:p>
                  </a:txBody>
                  <a:tcPr>
                    <a:solidFill>
                      <a:srgbClr val="F2F2F2"/>
                    </a:solidFill>
                  </a:tcPr>
                </a:tc>
                <a:tc>
                  <a:txBody>
                    <a:bodyPr/>
                    <a:lstStyle/>
                    <a:p>
                      <a:pPr algn="ctr"/>
                      <a:r>
                        <a:rPr sz="850" b="1" i="0">
                          <a:solidFill>
                            <a:srgbClr val="262626"/>
                          </a:solidFill>
                          <a:latin typeface="Arial"/>
                        </a:rPr>
                        <a:t>19:38</a:t>
                      </a:r>
                    </a:p>
                  </a:txBody>
                  <a:tcPr>
                    <a:solidFill>
                      <a:srgbClr val="F2F2F2"/>
                    </a:solidFill>
                  </a:tcPr>
                </a:tc>
                <a:tc>
                  <a:txBody>
                    <a:bodyPr/>
                    <a:lstStyle/>
                    <a:p>
                      <a:pPr algn="ctr"/>
                      <a:r>
                        <a:rPr sz="850" b="0" i="0">
                          <a:solidFill>
                            <a:srgbClr val="BFBFBF"/>
                          </a:solidFill>
                          <a:latin typeface="Arial"/>
                        </a:rPr>
                        <a:t>8/8</a:t>
                      </a:r>
                    </a:p>
                  </a:txBody>
                  <a:tcPr>
                    <a:solidFill>
                      <a:srgbClr val="F2F2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World Rankings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2026-08-17   •   World Triathlon Rankings   •   Heading into Karlovy Vary   •   Race tier: WTCS</a:t>
            </a:r>
          </a:p>
        </p:txBody>
      </p:sp>
      <p:sp>
        <p:nvSpPr>
          <p:cNvPr id="10" name="Rectangle 9"/>
          <p:cNvSpPr/>
          <p:nvPr/>
        </p:nvSpPr>
        <p:spPr>
          <a:xfrm>
            <a:off x="274320" y="160020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627632"/>
            <a:ext cx="11430000" cy="246888"/>
          </a:xfrm>
          <a:prstGeom prst="rect">
            <a:avLst/>
          </a:prstGeom>
          <a:noFill/>
        </p:spPr>
        <p:txBody>
          <a:bodyPr wrap="square">
            <a:spAutoFit/>
          </a:bodyPr>
          <a:lstStyle/>
          <a:p>
            <a:pPr algn="l"/>
            <a:r>
              <a:rPr sz="1200" b="1" i="0">
                <a:solidFill>
                  <a:srgbClr val="FFFFFF"/>
                </a:solidFill>
                <a:latin typeface="Arial"/>
              </a:rPr>
              <a:t>Max Points Available at this Race</a:t>
            </a:r>
          </a:p>
        </p:txBody>
      </p:sp>
      <p:sp>
        <p:nvSpPr>
          <p:cNvPr id="12" name="Rectangle 11"/>
          <p:cNvSpPr/>
          <p:nvPr/>
        </p:nvSpPr>
        <p:spPr>
          <a:xfrm>
            <a:off x="274320" y="1984248"/>
            <a:ext cx="1803196" cy="502920"/>
          </a:xfrm>
          <a:prstGeom prst="rect">
            <a:avLst/>
          </a:prstGeom>
          <a:solidFill>
            <a:srgbClr val="F2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011680"/>
            <a:ext cx="1803196" cy="182880"/>
          </a:xfrm>
          <a:prstGeom prst="rect">
            <a:avLst/>
          </a:prstGeom>
          <a:noFill/>
        </p:spPr>
        <p:txBody>
          <a:bodyPr wrap="square">
            <a:spAutoFit/>
          </a:bodyPr>
          <a:lstStyle/>
          <a:p>
            <a:pPr algn="ctr"/>
            <a:r>
              <a:rPr sz="900" b="1" i="0">
                <a:solidFill>
                  <a:srgbClr val="002060"/>
                </a:solidFill>
                <a:latin typeface="Arial"/>
              </a:rPr>
              <a:t>Win</a:t>
            </a:r>
          </a:p>
        </p:txBody>
      </p:sp>
      <p:sp>
        <p:nvSpPr>
          <p:cNvPr id="14" name="TextBox 13"/>
          <p:cNvSpPr txBox="1"/>
          <p:nvPr/>
        </p:nvSpPr>
        <p:spPr>
          <a:xfrm>
            <a:off x="274320" y="2185416"/>
            <a:ext cx="1803196" cy="292608"/>
          </a:xfrm>
          <a:prstGeom prst="rect">
            <a:avLst/>
          </a:prstGeom>
          <a:noFill/>
        </p:spPr>
        <p:txBody>
          <a:bodyPr wrap="square">
            <a:spAutoFit/>
          </a:bodyPr>
          <a:lstStyle/>
          <a:p>
            <a:pPr algn="ctr"/>
            <a:r>
              <a:rPr sz="1400" b="1" i="0">
                <a:solidFill>
                  <a:srgbClr val="C00000"/>
                </a:solidFill>
                <a:latin typeface="Arial"/>
              </a:rPr>
              <a:t>1,000 pts</a:t>
            </a:r>
          </a:p>
        </p:txBody>
      </p:sp>
      <p:sp>
        <p:nvSpPr>
          <p:cNvPr id="15" name="Rectangle 14"/>
          <p:cNvSpPr/>
          <p:nvPr/>
        </p:nvSpPr>
        <p:spPr>
          <a:xfrm>
            <a:off x="2242108"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42108" y="2011680"/>
            <a:ext cx="1803196" cy="182880"/>
          </a:xfrm>
          <a:prstGeom prst="rect">
            <a:avLst/>
          </a:prstGeom>
          <a:noFill/>
        </p:spPr>
        <p:txBody>
          <a:bodyPr wrap="square">
            <a:spAutoFit/>
          </a:bodyPr>
          <a:lstStyle/>
          <a:p>
            <a:pPr algn="ctr"/>
            <a:r>
              <a:rPr sz="900" b="1" i="0">
                <a:solidFill>
                  <a:srgbClr val="002060"/>
                </a:solidFill>
                <a:latin typeface="Arial"/>
              </a:rPr>
              <a:t>Podium</a:t>
            </a:r>
          </a:p>
        </p:txBody>
      </p:sp>
      <p:sp>
        <p:nvSpPr>
          <p:cNvPr id="17" name="TextBox 16"/>
          <p:cNvSpPr txBox="1"/>
          <p:nvPr/>
        </p:nvSpPr>
        <p:spPr>
          <a:xfrm>
            <a:off x="2242108" y="2185416"/>
            <a:ext cx="1803196" cy="292608"/>
          </a:xfrm>
          <a:prstGeom prst="rect">
            <a:avLst/>
          </a:prstGeom>
          <a:noFill/>
        </p:spPr>
        <p:txBody>
          <a:bodyPr wrap="square">
            <a:spAutoFit/>
          </a:bodyPr>
          <a:lstStyle/>
          <a:p>
            <a:pPr algn="ctr"/>
            <a:r>
              <a:rPr sz="1400" b="1" i="0">
                <a:solidFill>
                  <a:srgbClr val="002060"/>
                </a:solidFill>
                <a:latin typeface="Arial"/>
              </a:rPr>
              <a:t>855 pts</a:t>
            </a:r>
          </a:p>
        </p:txBody>
      </p:sp>
      <p:sp>
        <p:nvSpPr>
          <p:cNvPr id="18" name="Rectangle 17"/>
          <p:cNvSpPr/>
          <p:nvPr/>
        </p:nvSpPr>
        <p:spPr>
          <a:xfrm>
            <a:off x="4209896"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09896" y="2011680"/>
            <a:ext cx="1803196" cy="182880"/>
          </a:xfrm>
          <a:prstGeom prst="rect">
            <a:avLst/>
          </a:prstGeom>
          <a:noFill/>
        </p:spPr>
        <p:txBody>
          <a:bodyPr wrap="square">
            <a:spAutoFit/>
          </a:bodyPr>
          <a:lstStyle/>
          <a:p>
            <a:pPr algn="ctr"/>
            <a:r>
              <a:rPr sz="900" b="1" i="0">
                <a:solidFill>
                  <a:srgbClr val="002060"/>
                </a:solidFill>
                <a:latin typeface="Arial"/>
              </a:rPr>
              <a:t>Top 5</a:t>
            </a:r>
          </a:p>
        </p:txBody>
      </p:sp>
      <p:sp>
        <p:nvSpPr>
          <p:cNvPr id="20" name="TextBox 19"/>
          <p:cNvSpPr txBox="1"/>
          <p:nvPr/>
        </p:nvSpPr>
        <p:spPr>
          <a:xfrm>
            <a:off x="4209896" y="2185416"/>
            <a:ext cx="1803196" cy="292608"/>
          </a:xfrm>
          <a:prstGeom prst="rect">
            <a:avLst/>
          </a:prstGeom>
          <a:noFill/>
        </p:spPr>
        <p:txBody>
          <a:bodyPr wrap="square">
            <a:spAutoFit/>
          </a:bodyPr>
          <a:lstStyle/>
          <a:p>
            <a:pPr algn="ctr"/>
            <a:r>
              <a:rPr sz="1400" b="1" i="0">
                <a:solidFill>
                  <a:srgbClr val="002060"/>
                </a:solidFill>
                <a:latin typeface="Arial"/>
              </a:rPr>
              <a:t>732 pts</a:t>
            </a:r>
          </a:p>
        </p:txBody>
      </p:sp>
      <p:sp>
        <p:nvSpPr>
          <p:cNvPr id="21" name="Rectangle 20"/>
          <p:cNvSpPr/>
          <p:nvPr/>
        </p:nvSpPr>
        <p:spPr>
          <a:xfrm>
            <a:off x="6177684"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7684" y="2011680"/>
            <a:ext cx="1803196" cy="182880"/>
          </a:xfrm>
          <a:prstGeom prst="rect">
            <a:avLst/>
          </a:prstGeom>
          <a:noFill/>
        </p:spPr>
        <p:txBody>
          <a:bodyPr wrap="square">
            <a:spAutoFit/>
          </a:bodyPr>
          <a:lstStyle/>
          <a:p>
            <a:pPr algn="ctr"/>
            <a:r>
              <a:rPr sz="900" b="1" i="0">
                <a:solidFill>
                  <a:srgbClr val="002060"/>
                </a:solidFill>
                <a:latin typeface="Arial"/>
              </a:rPr>
              <a:t>Top 10</a:t>
            </a:r>
          </a:p>
        </p:txBody>
      </p:sp>
      <p:sp>
        <p:nvSpPr>
          <p:cNvPr id="23" name="TextBox 22"/>
          <p:cNvSpPr txBox="1"/>
          <p:nvPr/>
        </p:nvSpPr>
        <p:spPr>
          <a:xfrm>
            <a:off x="6177684" y="2185416"/>
            <a:ext cx="1803196" cy="292608"/>
          </a:xfrm>
          <a:prstGeom prst="rect">
            <a:avLst/>
          </a:prstGeom>
          <a:noFill/>
        </p:spPr>
        <p:txBody>
          <a:bodyPr wrap="square">
            <a:spAutoFit/>
          </a:bodyPr>
          <a:lstStyle/>
          <a:p>
            <a:pPr algn="ctr"/>
            <a:r>
              <a:rPr sz="1400" b="1" i="0">
                <a:solidFill>
                  <a:srgbClr val="002060"/>
                </a:solidFill>
                <a:latin typeface="Arial"/>
              </a:rPr>
              <a:t>495 pts</a:t>
            </a:r>
          </a:p>
        </p:txBody>
      </p:sp>
      <p:sp>
        <p:nvSpPr>
          <p:cNvPr id="24" name="Rectangle 23"/>
          <p:cNvSpPr/>
          <p:nvPr/>
        </p:nvSpPr>
        <p:spPr>
          <a:xfrm>
            <a:off x="8145472"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45472" y="2011680"/>
            <a:ext cx="1803196" cy="182880"/>
          </a:xfrm>
          <a:prstGeom prst="rect">
            <a:avLst/>
          </a:prstGeom>
          <a:noFill/>
        </p:spPr>
        <p:txBody>
          <a:bodyPr wrap="square">
            <a:spAutoFit/>
          </a:bodyPr>
          <a:lstStyle/>
          <a:p>
            <a:pPr algn="ctr"/>
            <a:r>
              <a:rPr sz="900" b="1" i="0">
                <a:solidFill>
                  <a:srgbClr val="002060"/>
                </a:solidFill>
                <a:latin typeface="Arial"/>
              </a:rPr>
              <a:t>Top 15</a:t>
            </a:r>
          </a:p>
        </p:txBody>
      </p:sp>
      <p:sp>
        <p:nvSpPr>
          <p:cNvPr id="26" name="TextBox 25"/>
          <p:cNvSpPr txBox="1"/>
          <p:nvPr/>
        </p:nvSpPr>
        <p:spPr>
          <a:xfrm>
            <a:off x="8145472" y="2185416"/>
            <a:ext cx="1803196" cy="292608"/>
          </a:xfrm>
          <a:prstGeom prst="rect">
            <a:avLst/>
          </a:prstGeom>
          <a:noFill/>
        </p:spPr>
        <p:txBody>
          <a:bodyPr wrap="square">
            <a:spAutoFit/>
          </a:bodyPr>
          <a:lstStyle/>
          <a:p>
            <a:pPr algn="ctr"/>
            <a:r>
              <a:rPr sz="1400" b="1" i="0">
                <a:solidFill>
                  <a:srgbClr val="002060"/>
                </a:solidFill>
                <a:latin typeface="Arial"/>
              </a:rPr>
              <a:t>335 pts</a:t>
            </a:r>
          </a:p>
        </p:txBody>
      </p:sp>
      <p:sp>
        <p:nvSpPr>
          <p:cNvPr id="27" name="Rectangle 26"/>
          <p:cNvSpPr/>
          <p:nvPr/>
        </p:nvSpPr>
        <p:spPr>
          <a:xfrm>
            <a:off x="10113260"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13260" y="2011680"/>
            <a:ext cx="1803196" cy="182880"/>
          </a:xfrm>
          <a:prstGeom prst="rect">
            <a:avLst/>
          </a:prstGeom>
          <a:noFill/>
        </p:spPr>
        <p:txBody>
          <a:bodyPr wrap="square">
            <a:spAutoFit/>
          </a:bodyPr>
          <a:lstStyle/>
          <a:p>
            <a:pPr algn="ctr"/>
            <a:r>
              <a:rPr sz="900" b="1" i="0">
                <a:solidFill>
                  <a:srgbClr val="002060"/>
                </a:solidFill>
                <a:latin typeface="Arial"/>
              </a:rPr>
              <a:t>Top 20</a:t>
            </a:r>
          </a:p>
        </p:txBody>
      </p:sp>
      <p:sp>
        <p:nvSpPr>
          <p:cNvPr id="29" name="TextBox 28"/>
          <p:cNvSpPr txBox="1"/>
          <p:nvPr/>
        </p:nvSpPr>
        <p:spPr>
          <a:xfrm>
            <a:off x="10113260" y="2185416"/>
            <a:ext cx="1803196" cy="292608"/>
          </a:xfrm>
          <a:prstGeom prst="rect">
            <a:avLst/>
          </a:prstGeom>
          <a:noFill/>
        </p:spPr>
        <p:txBody>
          <a:bodyPr wrap="square">
            <a:spAutoFit/>
          </a:bodyPr>
          <a:lstStyle/>
          <a:p>
            <a:pPr algn="ctr"/>
            <a:r>
              <a:rPr sz="1400" b="1" i="0">
                <a:solidFill>
                  <a:srgbClr val="BFBFBF"/>
                </a:solidFill>
                <a:latin typeface="Arial"/>
              </a:rPr>
              <a:t>227 pts</a:t>
            </a:r>
          </a:p>
        </p:txBody>
      </p:sp>
      <p:sp>
        <p:nvSpPr>
          <p:cNvPr id="30" name="Rectangle 29"/>
          <p:cNvSpPr/>
          <p:nvPr/>
        </p:nvSpPr>
        <p:spPr>
          <a:xfrm>
            <a:off x="27432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26334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32" name="Table 31"/>
          <p:cNvGraphicFramePr>
            <a:graphicFrameLocks noGrp="1"/>
          </p:cNvGraphicFramePr>
          <p:nvPr/>
        </p:nvGraphicFramePr>
        <p:xfrm>
          <a:off x="27432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20</a:t>
                      </a:r>
                    </a:p>
                  </a:txBody>
                  <a:tcPr>
                    <a:solidFill>
                      <a:srgbClr val="FFFFFF"/>
                    </a:solidFill>
                  </a:tcPr>
                </a:tc>
                <a:tc>
                  <a:txBody>
                    <a:bodyPr/>
                    <a:lstStyle/>
                    <a:p>
                      <a:pPr algn="l"/>
                      <a:r>
                        <a:rPr sz="850" b="0" i="0">
                          <a:solidFill>
                            <a:srgbClr val="262626"/>
                          </a:solidFill>
                          <a:latin typeface="Arial"/>
                        </a:rPr>
                        <a:t>John Reed</a:t>
                      </a:r>
                    </a:p>
                  </a:txBody>
                  <a:tcPr>
                    <a:solidFill>
                      <a:srgbClr val="FFFFFF"/>
                    </a:solidFill>
                  </a:tcPr>
                </a:tc>
                <a:tc>
                  <a:txBody>
                    <a:bodyPr/>
                    <a:lstStyle/>
                    <a:p>
                      <a:pPr algn="ctr"/>
                      <a:r>
                        <a:rPr sz="850" b="0" i="0">
                          <a:solidFill>
                            <a:srgbClr val="262626"/>
                          </a:solidFill>
                          <a:latin typeface="Arial"/>
                        </a:rPr>
                        <a:t>2,898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22</a:t>
                      </a:r>
                    </a:p>
                  </a:txBody>
                  <a:tcPr>
                    <a:solidFill>
                      <a:srgbClr val="F2F2F2"/>
                    </a:solidFill>
                  </a:tcPr>
                </a:tc>
                <a:tc>
                  <a:txBody>
                    <a:bodyPr/>
                    <a:lstStyle/>
                    <a:p>
                      <a:pPr algn="l"/>
                      <a:r>
                        <a:rPr sz="850" b="0" i="0">
                          <a:solidFill>
                            <a:srgbClr val="262626"/>
                          </a:solidFill>
                          <a:latin typeface="Arial"/>
                        </a:rPr>
                        <a:t>Reese Vannerson</a:t>
                      </a:r>
                    </a:p>
                  </a:txBody>
                  <a:tcPr>
                    <a:solidFill>
                      <a:srgbClr val="F2F2F2"/>
                    </a:solidFill>
                  </a:tcPr>
                </a:tc>
                <a:tc>
                  <a:txBody>
                    <a:bodyPr/>
                    <a:lstStyle/>
                    <a:p>
                      <a:pPr algn="ctr"/>
                      <a:r>
                        <a:rPr sz="850" b="0" i="0">
                          <a:solidFill>
                            <a:srgbClr val="262626"/>
                          </a:solidFill>
                          <a:latin typeface="Arial"/>
                        </a:rPr>
                        <a:t>2,818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27</a:t>
                      </a:r>
                    </a:p>
                  </a:txBody>
                  <a:tcPr>
                    <a:solidFill>
                      <a:srgbClr val="FFFFFF"/>
                    </a:solidFill>
                  </a:tcPr>
                </a:tc>
                <a:tc>
                  <a:txBody>
                    <a:bodyPr/>
                    <a:lstStyle/>
                    <a:p>
                      <a:pPr algn="l"/>
                      <a:r>
                        <a:rPr sz="850" b="0" i="0">
                          <a:solidFill>
                            <a:srgbClr val="262626"/>
                          </a:solidFill>
                          <a:latin typeface="Arial"/>
                        </a:rPr>
                        <a:t>Morgan Pearson</a:t>
                      </a:r>
                    </a:p>
                  </a:txBody>
                  <a:tcPr>
                    <a:solidFill>
                      <a:srgbClr val="FFFFFF"/>
                    </a:solidFill>
                  </a:tcPr>
                </a:tc>
                <a:tc>
                  <a:txBody>
                    <a:bodyPr/>
                    <a:lstStyle/>
                    <a:p>
                      <a:pPr algn="ctr"/>
                      <a:r>
                        <a:rPr sz="850" b="0" i="0">
                          <a:solidFill>
                            <a:srgbClr val="262626"/>
                          </a:solidFill>
                          <a:latin typeface="Arial"/>
                        </a:rPr>
                        <a:t>2,680</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42</a:t>
                      </a:r>
                    </a:p>
                  </a:txBody>
                  <a:tcPr>
                    <a:solidFill>
                      <a:srgbClr val="F2F2F2"/>
                    </a:solidFill>
                  </a:tcPr>
                </a:tc>
                <a:tc>
                  <a:txBody>
                    <a:bodyPr/>
                    <a:lstStyle/>
                    <a:p>
                      <a:pPr algn="l"/>
                      <a:r>
                        <a:rPr sz="850" b="0" i="0">
                          <a:solidFill>
                            <a:srgbClr val="262626"/>
                          </a:solidFill>
                          <a:latin typeface="Arial"/>
                        </a:rPr>
                        <a:t>Braxton Legg</a:t>
                      </a:r>
                    </a:p>
                  </a:txBody>
                  <a:tcPr>
                    <a:solidFill>
                      <a:srgbClr val="F2F2F2"/>
                    </a:solidFill>
                  </a:tcPr>
                </a:tc>
                <a:tc>
                  <a:txBody>
                    <a:bodyPr/>
                    <a:lstStyle/>
                    <a:p>
                      <a:pPr algn="ctr"/>
                      <a:r>
                        <a:rPr sz="850" b="0" i="0">
                          <a:solidFill>
                            <a:srgbClr val="262626"/>
                          </a:solidFill>
                          <a:latin typeface="Arial"/>
                        </a:rPr>
                        <a:t>2,442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49</a:t>
                      </a:r>
                    </a:p>
                  </a:txBody>
                  <a:tcPr>
                    <a:solidFill>
                      <a:srgbClr val="FFFFFF"/>
                    </a:solidFill>
                  </a:tcPr>
                </a:tc>
                <a:tc>
                  <a:txBody>
                    <a:bodyPr/>
                    <a:lstStyle/>
                    <a:p>
                      <a:pPr algn="l"/>
                      <a:r>
                        <a:rPr sz="850" b="0" i="0">
                          <a:solidFill>
                            <a:srgbClr val="262626"/>
                          </a:solidFill>
                          <a:latin typeface="Arial"/>
                        </a:rPr>
                        <a:t>Sullivan Middaugh</a:t>
                      </a:r>
                    </a:p>
                  </a:txBody>
                  <a:tcPr>
                    <a:solidFill>
                      <a:srgbClr val="FFFFFF"/>
                    </a:solidFill>
                  </a:tcPr>
                </a:tc>
                <a:tc>
                  <a:txBody>
                    <a:bodyPr/>
                    <a:lstStyle/>
                    <a:p>
                      <a:pPr algn="ctr"/>
                      <a:r>
                        <a:rPr sz="850" b="0" i="0">
                          <a:solidFill>
                            <a:srgbClr val="262626"/>
                          </a:solidFill>
                          <a:latin typeface="Arial"/>
                        </a:rPr>
                        <a:t>2,296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53</a:t>
                      </a:r>
                    </a:p>
                  </a:txBody>
                  <a:tcPr>
                    <a:solidFill>
                      <a:srgbClr val="F2F2F2"/>
                    </a:solidFill>
                  </a:tcPr>
                </a:tc>
                <a:tc>
                  <a:txBody>
                    <a:bodyPr/>
                    <a:lstStyle/>
                    <a:p>
                      <a:pPr algn="l"/>
                      <a:r>
                        <a:rPr sz="850" b="0" i="0">
                          <a:solidFill>
                            <a:srgbClr val="262626"/>
                          </a:solidFill>
                          <a:latin typeface="Arial"/>
                        </a:rPr>
                        <a:t>Seth Rider</a:t>
                      </a:r>
                    </a:p>
                  </a:txBody>
                  <a:tcPr>
                    <a:solidFill>
                      <a:srgbClr val="F2F2F2"/>
                    </a:solidFill>
                  </a:tcPr>
                </a:tc>
                <a:tc>
                  <a:txBody>
                    <a:bodyPr/>
                    <a:lstStyle/>
                    <a:p>
                      <a:pPr algn="ctr"/>
                      <a:r>
                        <a:rPr sz="850" b="0" i="0">
                          <a:solidFill>
                            <a:srgbClr val="262626"/>
                          </a:solidFill>
                          <a:latin typeface="Arial"/>
                        </a:rPr>
                        <a:t>2,243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67</a:t>
                      </a:r>
                    </a:p>
                  </a:txBody>
                  <a:tcPr>
                    <a:solidFill>
                      <a:srgbClr val="FFFFFF"/>
                    </a:solidFill>
                  </a:tcPr>
                </a:tc>
                <a:tc>
                  <a:txBody>
                    <a:bodyPr/>
                    <a:lstStyle/>
                    <a:p>
                      <a:pPr algn="l"/>
                      <a:r>
                        <a:rPr sz="850" b="0" i="0">
                          <a:solidFill>
                            <a:srgbClr val="262626"/>
                          </a:solidFill>
                          <a:latin typeface="Arial"/>
                        </a:rPr>
                        <a:t>Keller Norland</a:t>
                      </a:r>
                    </a:p>
                  </a:txBody>
                  <a:tcPr>
                    <a:solidFill>
                      <a:srgbClr val="FFFFFF"/>
                    </a:solidFill>
                  </a:tcPr>
                </a:tc>
                <a:tc>
                  <a:txBody>
                    <a:bodyPr/>
                    <a:lstStyle/>
                    <a:p>
                      <a:pPr algn="ctr"/>
                      <a:r>
                        <a:rPr sz="850" b="0" i="0">
                          <a:solidFill>
                            <a:srgbClr val="262626"/>
                          </a:solidFill>
                          <a:latin typeface="Arial"/>
                        </a:rPr>
                        <a:t>1,989</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80</a:t>
                      </a:r>
                    </a:p>
                  </a:txBody>
                  <a:tcPr>
                    <a:solidFill>
                      <a:srgbClr val="F2F2F2"/>
                    </a:solidFill>
                  </a:tcPr>
                </a:tc>
                <a:tc>
                  <a:txBody>
                    <a:bodyPr/>
                    <a:lstStyle/>
                    <a:p>
                      <a:pPr algn="l"/>
                      <a:r>
                        <a:rPr sz="850" b="0" i="0">
                          <a:solidFill>
                            <a:srgbClr val="262626"/>
                          </a:solidFill>
                          <a:latin typeface="Arial"/>
                        </a:rPr>
                        <a:t>Blake Bullard</a:t>
                      </a:r>
                    </a:p>
                  </a:txBody>
                  <a:tcPr>
                    <a:solidFill>
                      <a:srgbClr val="F2F2F2"/>
                    </a:solidFill>
                  </a:tcPr>
                </a:tc>
                <a:tc>
                  <a:txBody>
                    <a:bodyPr/>
                    <a:lstStyle/>
                    <a:p>
                      <a:pPr algn="ctr"/>
                      <a:r>
                        <a:rPr sz="850" b="0" i="0">
                          <a:solidFill>
                            <a:srgbClr val="262626"/>
                          </a:solidFill>
                          <a:latin typeface="Arial"/>
                        </a:rPr>
                        <a:t>1,732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84</a:t>
                      </a:r>
                    </a:p>
                  </a:txBody>
                  <a:tcPr>
                    <a:solidFill>
                      <a:srgbClr val="FFFFFF"/>
                    </a:solidFill>
                  </a:tcPr>
                </a:tc>
                <a:tc>
                  <a:txBody>
                    <a:bodyPr/>
                    <a:lstStyle/>
                    <a:p>
                      <a:pPr algn="l"/>
                      <a:r>
                        <a:rPr sz="850" b="0" i="0">
                          <a:solidFill>
                            <a:srgbClr val="262626"/>
                          </a:solidFill>
                          <a:latin typeface="Arial"/>
                        </a:rPr>
                        <a:t>Chase McQueen</a:t>
                      </a:r>
                    </a:p>
                  </a:txBody>
                  <a:tcPr>
                    <a:solidFill>
                      <a:srgbClr val="FFFFFF"/>
                    </a:solidFill>
                  </a:tcPr>
                </a:tc>
                <a:tc>
                  <a:txBody>
                    <a:bodyPr/>
                    <a:lstStyle/>
                    <a:p>
                      <a:pPr algn="ctr"/>
                      <a:r>
                        <a:rPr sz="850" b="0" i="0">
                          <a:solidFill>
                            <a:srgbClr val="262626"/>
                          </a:solidFill>
                          <a:latin typeface="Arial"/>
                        </a:rPr>
                        <a:t>1,708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108</a:t>
                      </a:r>
                    </a:p>
                  </a:txBody>
                  <a:tcPr>
                    <a:solidFill>
                      <a:srgbClr val="F2F2F2"/>
                    </a:solidFill>
                  </a:tcPr>
                </a:tc>
                <a:tc>
                  <a:txBody>
                    <a:bodyPr/>
                    <a:lstStyle/>
                    <a:p>
                      <a:pPr algn="l"/>
                      <a:r>
                        <a:rPr sz="850" b="0" i="0">
                          <a:solidFill>
                            <a:srgbClr val="262626"/>
                          </a:solidFill>
                          <a:latin typeface="Arial"/>
                        </a:rPr>
                        <a:t>Porter Middaugh</a:t>
                      </a:r>
                    </a:p>
                  </a:txBody>
                  <a:tcPr>
                    <a:solidFill>
                      <a:srgbClr val="F2F2F2"/>
                    </a:solidFill>
                  </a:tcPr>
                </a:tc>
                <a:tc>
                  <a:txBody>
                    <a:bodyPr/>
                    <a:lstStyle/>
                    <a:p>
                      <a:pPr algn="ctr"/>
                      <a:r>
                        <a:rPr sz="850" b="0" i="0">
                          <a:solidFill>
                            <a:srgbClr val="262626"/>
                          </a:solidFill>
                          <a:latin typeface="Arial"/>
                        </a:rPr>
                        <a:t>1,513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113</a:t>
                      </a:r>
                    </a:p>
                  </a:txBody>
                  <a:tcPr>
                    <a:solidFill>
                      <a:srgbClr val="FFFFFF"/>
                    </a:solidFill>
                  </a:tcPr>
                </a:tc>
                <a:tc>
                  <a:txBody>
                    <a:bodyPr/>
                    <a:lstStyle/>
                    <a:p>
                      <a:pPr algn="l"/>
                      <a:r>
                        <a:rPr sz="850" b="0" i="0">
                          <a:solidFill>
                            <a:srgbClr val="262626"/>
                          </a:solidFill>
                          <a:latin typeface="Arial"/>
                        </a:rPr>
                        <a:t>Darr Smith</a:t>
                      </a:r>
                    </a:p>
                  </a:txBody>
                  <a:tcPr>
                    <a:solidFill>
                      <a:srgbClr val="FFFFFF"/>
                    </a:solidFill>
                  </a:tcPr>
                </a:tc>
                <a:tc>
                  <a:txBody>
                    <a:bodyPr/>
                    <a:lstStyle/>
                    <a:p>
                      <a:pPr algn="ctr"/>
                      <a:r>
                        <a:rPr sz="850" b="0" i="0">
                          <a:solidFill>
                            <a:srgbClr val="262626"/>
                          </a:solidFill>
                          <a:latin typeface="Arial"/>
                        </a:rPr>
                        <a:t>1,452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116</a:t>
                      </a:r>
                    </a:p>
                  </a:txBody>
                  <a:tcPr>
                    <a:solidFill>
                      <a:srgbClr val="F2F2F2"/>
                    </a:solidFill>
                  </a:tcPr>
                </a:tc>
                <a:tc>
                  <a:txBody>
                    <a:bodyPr/>
                    <a:lstStyle/>
                    <a:p>
                      <a:pPr algn="l"/>
                      <a:r>
                        <a:rPr sz="850" b="0" i="0">
                          <a:solidFill>
                            <a:srgbClr val="262626"/>
                          </a:solidFill>
                          <a:latin typeface="Arial"/>
                        </a:rPr>
                        <a:t>Zach Leachman</a:t>
                      </a:r>
                    </a:p>
                  </a:txBody>
                  <a:tcPr>
                    <a:solidFill>
                      <a:srgbClr val="F2F2F2"/>
                    </a:solidFill>
                  </a:tcPr>
                </a:tc>
                <a:tc>
                  <a:txBody>
                    <a:bodyPr/>
                    <a:lstStyle/>
                    <a:p>
                      <a:pPr algn="ctr"/>
                      <a:r>
                        <a:rPr sz="850" b="0" i="0">
                          <a:solidFill>
                            <a:srgbClr val="262626"/>
                          </a:solidFill>
                          <a:latin typeface="Arial"/>
                        </a:rPr>
                        <a:t>1,433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178</a:t>
                      </a:r>
                    </a:p>
                  </a:txBody>
                  <a:tcPr>
                    <a:solidFill>
                      <a:srgbClr val="FFFFFF"/>
                    </a:solidFill>
                  </a:tcPr>
                </a:tc>
                <a:tc>
                  <a:txBody>
                    <a:bodyPr/>
                    <a:lstStyle/>
                    <a:p>
                      <a:pPr algn="l"/>
                      <a:r>
                        <a:rPr sz="850" b="0" i="0">
                          <a:solidFill>
                            <a:srgbClr val="262626"/>
                          </a:solidFill>
                          <a:latin typeface="Arial"/>
                        </a:rPr>
                        <a:t>Carter Stuhlmacher</a:t>
                      </a:r>
                    </a:p>
                  </a:txBody>
                  <a:tcPr>
                    <a:solidFill>
                      <a:srgbClr val="FFFFFF"/>
                    </a:solidFill>
                  </a:tcPr>
                </a:tc>
                <a:tc>
                  <a:txBody>
                    <a:bodyPr/>
                    <a:lstStyle/>
                    <a:p>
                      <a:pPr algn="ctr"/>
                      <a:r>
                        <a:rPr sz="850" b="0" i="0">
                          <a:solidFill>
                            <a:srgbClr val="262626"/>
                          </a:solidFill>
                          <a:latin typeface="Arial"/>
                        </a:rPr>
                        <a:t>1,025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282</a:t>
                      </a:r>
                    </a:p>
                  </a:txBody>
                  <a:tcPr>
                    <a:solidFill>
                      <a:srgbClr val="F2F2F2"/>
                    </a:solidFill>
                  </a:tcPr>
                </a:tc>
                <a:tc>
                  <a:txBody>
                    <a:bodyPr/>
                    <a:lstStyle/>
                    <a:p>
                      <a:pPr algn="l"/>
                      <a:r>
                        <a:rPr sz="850" b="0" i="0">
                          <a:solidFill>
                            <a:srgbClr val="262626"/>
                          </a:solidFill>
                          <a:latin typeface="Arial"/>
                        </a:rPr>
                        <a:t>Cole Jamieson </a:t>
                      </a:r>
                    </a:p>
                  </a:txBody>
                  <a:tcPr>
                    <a:solidFill>
                      <a:srgbClr val="F2F2F2"/>
                    </a:solidFill>
                  </a:tcPr>
                </a:tc>
                <a:tc>
                  <a:txBody>
                    <a:bodyPr/>
                    <a:lstStyle/>
                    <a:p>
                      <a:pPr algn="ctr"/>
                      <a:r>
                        <a:rPr sz="850" b="0" i="0">
                          <a:solidFill>
                            <a:srgbClr val="262626"/>
                          </a:solidFill>
                          <a:latin typeface="Arial"/>
                        </a:rPr>
                        <a:t>600</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362</a:t>
                      </a:r>
                    </a:p>
                  </a:txBody>
                  <a:tcPr>
                    <a:solidFill>
                      <a:srgbClr val="FFFFFF"/>
                    </a:solidFill>
                  </a:tcPr>
                </a:tc>
                <a:tc>
                  <a:txBody>
                    <a:bodyPr/>
                    <a:lstStyle/>
                    <a:p>
                      <a:pPr algn="l"/>
                      <a:r>
                        <a:rPr sz="850" b="0" i="0">
                          <a:solidFill>
                            <a:srgbClr val="262626"/>
                          </a:solidFill>
                          <a:latin typeface="Arial"/>
                        </a:rPr>
                        <a:t>Isaac Lamprecht</a:t>
                      </a:r>
                    </a:p>
                  </a:txBody>
                  <a:tcPr>
                    <a:solidFill>
                      <a:srgbClr val="FFFFFF"/>
                    </a:solidFill>
                  </a:tcPr>
                </a:tc>
                <a:tc>
                  <a:txBody>
                    <a:bodyPr/>
                    <a:lstStyle/>
                    <a:p>
                      <a:pPr algn="ctr"/>
                      <a:r>
                        <a:rPr sz="850" b="0" i="0">
                          <a:solidFill>
                            <a:srgbClr val="262626"/>
                          </a:solidFill>
                          <a:latin typeface="Arial"/>
                        </a:rPr>
                        <a:t>417</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15"/>
                  </a:ext>
                </a:extLst>
              </a:tr>
            </a:tbl>
          </a:graphicData>
        </a:graphic>
      </p:graphicFrame>
      <p:sp>
        <p:nvSpPr>
          <p:cNvPr id="33" name="Rectangle 32"/>
          <p:cNvSpPr/>
          <p:nvPr/>
        </p:nvSpPr>
        <p:spPr>
          <a:xfrm>
            <a:off x="612648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26334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35" name="Table 34"/>
          <p:cNvGraphicFramePr>
            <a:graphicFrameLocks noGrp="1"/>
          </p:cNvGraphicFramePr>
          <p:nvPr/>
        </p:nvGraphicFramePr>
        <p:xfrm>
          <a:off x="612648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9</a:t>
                      </a:r>
                    </a:p>
                  </a:txBody>
                  <a:tcPr>
                    <a:solidFill>
                      <a:srgbClr val="FFFFFF"/>
                    </a:solidFill>
                  </a:tcPr>
                </a:tc>
                <a:tc>
                  <a:txBody>
                    <a:bodyPr/>
                    <a:lstStyle/>
                    <a:p>
                      <a:pPr algn="l"/>
                      <a:r>
                        <a:rPr sz="850" b="0" i="0">
                          <a:solidFill>
                            <a:srgbClr val="262626"/>
                          </a:solidFill>
                          <a:latin typeface="Arial"/>
                        </a:rPr>
                        <a:t>Taylor Spivey</a:t>
                      </a:r>
                    </a:p>
                  </a:txBody>
                  <a:tcPr>
                    <a:solidFill>
                      <a:srgbClr val="FFFFFF"/>
                    </a:solidFill>
                  </a:tcPr>
                </a:tc>
                <a:tc>
                  <a:txBody>
                    <a:bodyPr/>
                    <a:lstStyle/>
                    <a:p>
                      <a:pPr algn="ctr"/>
                      <a:r>
                        <a:rPr sz="850" b="0" i="0">
                          <a:solidFill>
                            <a:srgbClr val="262626"/>
                          </a:solidFill>
                          <a:latin typeface="Arial"/>
                        </a:rPr>
                        <a:t>5,091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16</a:t>
                      </a:r>
                    </a:p>
                  </a:txBody>
                  <a:tcPr>
                    <a:solidFill>
                      <a:srgbClr val="F2F2F2"/>
                    </a:solidFill>
                  </a:tcPr>
                </a:tc>
                <a:tc>
                  <a:txBody>
                    <a:bodyPr/>
                    <a:lstStyle/>
                    <a:p>
                      <a:pPr algn="l"/>
                      <a:r>
                        <a:rPr sz="850" b="0" i="0">
                          <a:solidFill>
                            <a:srgbClr val="262626"/>
                          </a:solidFill>
                          <a:latin typeface="Arial"/>
                        </a:rPr>
                        <a:t>Gina Sereno</a:t>
                      </a:r>
                    </a:p>
                  </a:txBody>
                  <a:tcPr>
                    <a:solidFill>
                      <a:srgbClr val="F2F2F2"/>
                    </a:solidFill>
                  </a:tcPr>
                </a:tc>
                <a:tc>
                  <a:txBody>
                    <a:bodyPr/>
                    <a:lstStyle/>
                    <a:p>
                      <a:pPr algn="ctr"/>
                      <a:r>
                        <a:rPr sz="850" b="0" i="0">
                          <a:solidFill>
                            <a:srgbClr val="262626"/>
                          </a:solidFill>
                          <a:latin typeface="Arial"/>
                        </a:rPr>
                        <a:t>3,205</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26</a:t>
                      </a:r>
                    </a:p>
                  </a:txBody>
                  <a:tcPr>
                    <a:solidFill>
                      <a:srgbClr val="FFFFFF"/>
                    </a:solidFill>
                  </a:tcPr>
                </a:tc>
                <a:tc>
                  <a:txBody>
                    <a:bodyPr/>
                    <a:lstStyle/>
                    <a:p>
                      <a:pPr algn="l"/>
                      <a:r>
                        <a:rPr sz="850" b="0" i="0">
                          <a:solidFill>
                            <a:srgbClr val="262626"/>
                          </a:solidFill>
                          <a:latin typeface="Arial"/>
                        </a:rPr>
                        <a:t>Danielle Orie</a:t>
                      </a:r>
                    </a:p>
                  </a:txBody>
                  <a:tcPr>
                    <a:solidFill>
                      <a:srgbClr val="FFFFFF"/>
                    </a:solidFill>
                  </a:tcPr>
                </a:tc>
                <a:tc>
                  <a:txBody>
                    <a:bodyPr/>
                    <a:lstStyle/>
                    <a:p>
                      <a:pPr algn="ctr"/>
                      <a:r>
                        <a:rPr sz="850" b="0" i="0">
                          <a:solidFill>
                            <a:srgbClr val="262626"/>
                          </a:solidFill>
                          <a:latin typeface="Arial"/>
                        </a:rPr>
                        <a:t>2,741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27</a:t>
                      </a:r>
                    </a:p>
                  </a:txBody>
                  <a:tcPr>
                    <a:solidFill>
                      <a:srgbClr val="F2F2F2"/>
                    </a:solidFill>
                  </a:tcPr>
                </a:tc>
                <a:tc>
                  <a:txBody>
                    <a:bodyPr/>
                    <a:lstStyle/>
                    <a:p>
                      <a:pPr algn="l"/>
                      <a:r>
                        <a:rPr sz="850" b="0" i="0">
                          <a:solidFill>
                            <a:srgbClr val="262626"/>
                          </a:solidFill>
                          <a:latin typeface="Arial"/>
                        </a:rPr>
                        <a:t>Gwen Jorgensen</a:t>
                      </a:r>
                    </a:p>
                  </a:txBody>
                  <a:tcPr>
                    <a:solidFill>
                      <a:srgbClr val="F2F2F2"/>
                    </a:solidFill>
                  </a:tcPr>
                </a:tc>
                <a:tc>
                  <a:txBody>
                    <a:bodyPr/>
                    <a:lstStyle/>
                    <a:p>
                      <a:pPr algn="ctr"/>
                      <a:r>
                        <a:rPr sz="850" b="0" i="0">
                          <a:solidFill>
                            <a:srgbClr val="262626"/>
                          </a:solidFill>
                          <a:latin typeface="Arial"/>
                        </a:rPr>
                        <a:t>2,700</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42</a:t>
                      </a:r>
                    </a:p>
                  </a:txBody>
                  <a:tcPr>
                    <a:solidFill>
                      <a:srgbClr val="FFFFFF"/>
                    </a:solidFill>
                  </a:tcPr>
                </a:tc>
                <a:tc>
                  <a:txBody>
                    <a:bodyPr/>
                    <a:lstStyle/>
                    <a:p>
                      <a:pPr algn="l"/>
                      <a:r>
                        <a:rPr sz="850" b="0" i="0">
                          <a:solidFill>
                            <a:srgbClr val="262626"/>
                          </a:solidFill>
                          <a:latin typeface="Arial"/>
                        </a:rPr>
                        <a:t>Erika Ackerlund</a:t>
                      </a:r>
                    </a:p>
                  </a:txBody>
                  <a:tcPr>
                    <a:solidFill>
                      <a:srgbClr val="FFFFFF"/>
                    </a:solidFill>
                  </a:tcPr>
                </a:tc>
                <a:tc>
                  <a:txBody>
                    <a:bodyPr/>
                    <a:lstStyle/>
                    <a:p>
                      <a:pPr algn="ctr"/>
                      <a:r>
                        <a:rPr sz="850" b="0" i="0">
                          <a:solidFill>
                            <a:srgbClr val="262626"/>
                          </a:solidFill>
                          <a:latin typeface="Arial"/>
                        </a:rPr>
                        <a:t>2,341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46</a:t>
                      </a:r>
                    </a:p>
                  </a:txBody>
                  <a:tcPr>
                    <a:solidFill>
                      <a:srgbClr val="F2F2F2"/>
                    </a:solidFill>
                  </a:tcPr>
                </a:tc>
                <a:tc>
                  <a:txBody>
                    <a:bodyPr/>
                    <a:lstStyle/>
                    <a:p>
                      <a:pPr algn="l"/>
                      <a:r>
                        <a:rPr sz="850" b="0" i="0">
                          <a:solidFill>
                            <a:srgbClr val="262626"/>
                          </a:solidFill>
                          <a:latin typeface="Arial"/>
                        </a:rPr>
                        <a:t>Kelly Wetteland</a:t>
                      </a:r>
                    </a:p>
                  </a:txBody>
                  <a:tcPr>
                    <a:solidFill>
                      <a:srgbClr val="F2F2F2"/>
                    </a:solidFill>
                  </a:tcPr>
                </a:tc>
                <a:tc>
                  <a:txBody>
                    <a:bodyPr/>
                    <a:lstStyle/>
                    <a:p>
                      <a:pPr algn="ctr"/>
                      <a:r>
                        <a:rPr sz="850" b="0" i="0">
                          <a:solidFill>
                            <a:srgbClr val="262626"/>
                          </a:solidFill>
                          <a:latin typeface="Arial"/>
                        </a:rPr>
                        <a:t>2,109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51</a:t>
                      </a:r>
                    </a:p>
                  </a:txBody>
                  <a:tcPr>
                    <a:solidFill>
                      <a:srgbClr val="FFFFFF"/>
                    </a:solidFill>
                  </a:tcPr>
                </a:tc>
                <a:tc>
                  <a:txBody>
                    <a:bodyPr/>
                    <a:lstStyle/>
                    <a:p>
                      <a:pPr algn="l"/>
                      <a:r>
                        <a:rPr sz="850" b="0" i="0">
                          <a:solidFill>
                            <a:srgbClr val="262626"/>
                          </a:solidFill>
                          <a:latin typeface="Arial"/>
                        </a:rPr>
                        <a:t>Taylor Knibb</a:t>
                      </a:r>
                    </a:p>
                  </a:txBody>
                  <a:tcPr>
                    <a:solidFill>
                      <a:srgbClr val="FFFFFF"/>
                    </a:solidFill>
                  </a:tcPr>
                </a:tc>
                <a:tc>
                  <a:txBody>
                    <a:bodyPr/>
                    <a:lstStyle/>
                    <a:p>
                      <a:pPr algn="ctr"/>
                      <a:r>
                        <a:rPr sz="850" b="0" i="0">
                          <a:solidFill>
                            <a:srgbClr val="262626"/>
                          </a:solidFill>
                          <a:latin typeface="Arial"/>
                        </a:rPr>
                        <a:t>2,047</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60</a:t>
                      </a:r>
                    </a:p>
                  </a:txBody>
                  <a:tcPr>
                    <a:solidFill>
                      <a:srgbClr val="F2F2F2"/>
                    </a:solidFill>
                  </a:tcPr>
                </a:tc>
                <a:tc>
                  <a:txBody>
                    <a:bodyPr/>
                    <a:lstStyle/>
                    <a:p>
                      <a:pPr algn="l"/>
                      <a:r>
                        <a:rPr sz="850" b="0" i="0">
                          <a:solidFill>
                            <a:srgbClr val="262626"/>
                          </a:solidFill>
                          <a:latin typeface="Arial"/>
                        </a:rPr>
                        <a:t>Naomi Ruff</a:t>
                      </a:r>
                    </a:p>
                  </a:txBody>
                  <a:tcPr>
                    <a:solidFill>
                      <a:srgbClr val="F2F2F2"/>
                    </a:solidFill>
                  </a:tcPr>
                </a:tc>
                <a:tc>
                  <a:txBody>
                    <a:bodyPr/>
                    <a:lstStyle/>
                    <a:p>
                      <a:pPr algn="ctr"/>
                      <a:r>
                        <a:rPr sz="850" b="0" i="0">
                          <a:solidFill>
                            <a:srgbClr val="262626"/>
                          </a:solidFill>
                          <a:latin typeface="Arial"/>
                        </a:rPr>
                        <a:t>1,968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89</a:t>
                      </a:r>
                    </a:p>
                  </a:txBody>
                  <a:tcPr>
                    <a:solidFill>
                      <a:srgbClr val="FFFFFF"/>
                    </a:solidFill>
                  </a:tcPr>
                </a:tc>
                <a:tc>
                  <a:txBody>
                    <a:bodyPr/>
                    <a:lstStyle/>
                    <a:p>
                      <a:pPr algn="l"/>
                      <a:r>
                        <a:rPr sz="850" b="0" i="0">
                          <a:solidFill>
                            <a:srgbClr val="262626"/>
                          </a:solidFill>
                          <a:latin typeface="Arial"/>
                        </a:rPr>
                        <a:t>Kirsten Kasper</a:t>
                      </a:r>
                    </a:p>
                  </a:txBody>
                  <a:tcPr>
                    <a:solidFill>
                      <a:srgbClr val="FFFFFF"/>
                    </a:solidFill>
                  </a:tcPr>
                </a:tc>
                <a:tc>
                  <a:txBody>
                    <a:bodyPr/>
                    <a:lstStyle/>
                    <a:p>
                      <a:pPr algn="ctr"/>
                      <a:r>
                        <a:rPr sz="850" b="0" i="0">
                          <a:solidFill>
                            <a:srgbClr val="262626"/>
                          </a:solidFill>
                          <a:latin typeface="Arial"/>
                        </a:rPr>
                        <a:t>1,551</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93</a:t>
                      </a:r>
                    </a:p>
                  </a:txBody>
                  <a:tcPr>
                    <a:solidFill>
                      <a:srgbClr val="F2F2F2"/>
                    </a:solidFill>
                  </a:tcPr>
                </a:tc>
                <a:tc>
                  <a:txBody>
                    <a:bodyPr/>
                    <a:lstStyle/>
                    <a:p>
                      <a:pPr algn="l"/>
                      <a:r>
                        <a:rPr sz="850" b="0" i="0">
                          <a:solidFill>
                            <a:srgbClr val="262626"/>
                          </a:solidFill>
                          <a:latin typeface="Arial"/>
                        </a:rPr>
                        <a:t>Eleanor Beveridge</a:t>
                      </a:r>
                    </a:p>
                  </a:txBody>
                  <a:tcPr>
                    <a:solidFill>
                      <a:srgbClr val="F2F2F2"/>
                    </a:solidFill>
                  </a:tcPr>
                </a:tc>
                <a:tc>
                  <a:txBody>
                    <a:bodyPr/>
                    <a:lstStyle/>
                    <a:p>
                      <a:pPr algn="ctr"/>
                      <a:r>
                        <a:rPr sz="850" b="0" i="0">
                          <a:solidFill>
                            <a:srgbClr val="262626"/>
                          </a:solidFill>
                          <a:latin typeface="Arial"/>
                        </a:rPr>
                        <a:t>1,479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100</a:t>
                      </a:r>
                    </a:p>
                  </a:txBody>
                  <a:tcPr>
                    <a:solidFill>
                      <a:srgbClr val="FFFFFF"/>
                    </a:solidFill>
                  </a:tcPr>
                </a:tc>
                <a:tc>
                  <a:txBody>
                    <a:bodyPr/>
                    <a:lstStyle/>
                    <a:p>
                      <a:pPr algn="l"/>
                      <a:r>
                        <a:rPr sz="850" b="0" i="0">
                          <a:solidFill>
                            <a:srgbClr val="262626"/>
                          </a:solidFill>
                          <a:latin typeface="Arial"/>
                        </a:rPr>
                        <a:t>Joy Gill</a:t>
                      </a:r>
                    </a:p>
                  </a:txBody>
                  <a:tcPr>
                    <a:solidFill>
                      <a:srgbClr val="FFFFFF"/>
                    </a:solidFill>
                  </a:tcPr>
                </a:tc>
                <a:tc>
                  <a:txBody>
                    <a:bodyPr/>
                    <a:lstStyle/>
                    <a:p>
                      <a:pPr algn="ctr"/>
                      <a:r>
                        <a:rPr sz="850" b="0" i="0">
                          <a:solidFill>
                            <a:srgbClr val="262626"/>
                          </a:solidFill>
                          <a:latin typeface="Arial"/>
                        </a:rPr>
                        <a:t>1,421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113</a:t>
                      </a:r>
                    </a:p>
                  </a:txBody>
                  <a:tcPr>
                    <a:solidFill>
                      <a:srgbClr val="F2F2F2"/>
                    </a:solidFill>
                  </a:tcPr>
                </a:tc>
                <a:tc>
                  <a:txBody>
                    <a:bodyPr/>
                    <a:lstStyle/>
                    <a:p>
                      <a:pPr algn="l"/>
                      <a:r>
                        <a:rPr sz="850" b="0" i="0">
                          <a:solidFill>
                            <a:srgbClr val="262626"/>
                          </a:solidFill>
                          <a:latin typeface="Arial"/>
                        </a:rPr>
                        <a:t>Rachel Werking</a:t>
                      </a:r>
                    </a:p>
                  </a:txBody>
                  <a:tcPr>
                    <a:solidFill>
                      <a:srgbClr val="F2F2F2"/>
                    </a:solidFill>
                  </a:tcPr>
                </a:tc>
                <a:tc>
                  <a:txBody>
                    <a:bodyPr/>
                    <a:lstStyle/>
                    <a:p>
                      <a:pPr algn="ctr"/>
                      <a:r>
                        <a:rPr sz="850" b="0" i="0">
                          <a:solidFill>
                            <a:srgbClr val="262626"/>
                          </a:solidFill>
                          <a:latin typeface="Arial"/>
                        </a:rPr>
                        <a:t>1,328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131</a:t>
                      </a:r>
                    </a:p>
                  </a:txBody>
                  <a:tcPr>
                    <a:solidFill>
                      <a:srgbClr val="FFFFFF"/>
                    </a:solidFill>
                  </a:tcPr>
                </a:tc>
                <a:tc>
                  <a:txBody>
                    <a:bodyPr/>
                    <a:lstStyle/>
                    <a:p>
                      <a:pPr algn="l"/>
                      <a:r>
                        <a:rPr sz="850" b="0" i="0">
                          <a:solidFill>
                            <a:srgbClr val="262626"/>
                          </a:solidFill>
                          <a:latin typeface="Arial"/>
                        </a:rPr>
                        <a:t>Michelle Magnani</a:t>
                      </a:r>
                    </a:p>
                  </a:txBody>
                  <a:tcPr>
                    <a:solidFill>
                      <a:srgbClr val="FFFFFF"/>
                    </a:solidFill>
                  </a:tcPr>
                </a:tc>
                <a:tc>
                  <a:txBody>
                    <a:bodyPr/>
                    <a:lstStyle/>
                    <a:p>
                      <a:pPr algn="ctr"/>
                      <a:r>
                        <a:rPr sz="850" b="0" i="0">
                          <a:solidFill>
                            <a:srgbClr val="262626"/>
                          </a:solidFill>
                          <a:latin typeface="Arial"/>
                        </a:rPr>
                        <a:t>1,242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162</a:t>
                      </a:r>
                    </a:p>
                  </a:txBody>
                  <a:tcPr>
                    <a:solidFill>
                      <a:srgbClr val="F2F2F2"/>
                    </a:solidFill>
                  </a:tcPr>
                </a:tc>
                <a:tc>
                  <a:txBody>
                    <a:bodyPr/>
                    <a:lstStyle/>
                    <a:p>
                      <a:pPr algn="l"/>
                      <a:r>
                        <a:rPr sz="850" b="0" i="0">
                          <a:solidFill>
                            <a:srgbClr val="262626"/>
                          </a:solidFill>
                          <a:latin typeface="Arial"/>
                        </a:rPr>
                        <a:t>Katie McCune</a:t>
                      </a:r>
                    </a:p>
                  </a:txBody>
                  <a:tcPr>
                    <a:solidFill>
                      <a:srgbClr val="F2F2F2"/>
                    </a:solidFill>
                  </a:tcPr>
                </a:tc>
                <a:tc>
                  <a:txBody>
                    <a:bodyPr/>
                    <a:lstStyle/>
                    <a:p>
                      <a:pPr algn="ctr"/>
                      <a:r>
                        <a:rPr sz="850" b="0" i="0">
                          <a:solidFill>
                            <a:srgbClr val="262626"/>
                          </a:solidFill>
                          <a:latin typeface="Arial"/>
                        </a:rPr>
                        <a:t>1,042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174</a:t>
                      </a:r>
                    </a:p>
                  </a:txBody>
                  <a:tcPr>
                    <a:solidFill>
                      <a:srgbClr val="FFFFFF"/>
                    </a:solidFill>
                  </a:tcPr>
                </a:tc>
                <a:tc>
                  <a:txBody>
                    <a:bodyPr/>
                    <a:lstStyle/>
                    <a:p>
                      <a:pPr algn="l"/>
                      <a:r>
                        <a:rPr sz="850" b="0" i="0">
                          <a:solidFill>
                            <a:srgbClr val="262626"/>
                          </a:solidFill>
                          <a:latin typeface="Arial"/>
                        </a:rPr>
                        <a:t>Faith Duncan</a:t>
                      </a:r>
                    </a:p>
                  </a:txBody>
                  <a:tcPr>
                    <a:solidFill>
                      <a:srgbClr val="FFFFFF"/>
                    </a:solidFill>
                  </a:tcPr>
                </a:tc>
                <a:tc>
                  <a:txBody>
                    <a:bodyPr/>
                    <a:lstStyle/>
                    <a:p>
                      <a:pPr algn="ctr"/>
                      <a:r>
                        <a:rPr sz="850" b="0" i="0">
                          <a:solidFill>
                            <a:srgbClr val="262626"/>
                          </a:solidFill>
                          <a:latin typeface="Arial"/>
                        </a:rPr>
                        <a:t>940</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Olympic Qualification Pace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66476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88720"/>
            <a:ext cx="11430000" cy="329184"/>
          </a:xfrm>
          <a:prstGeom prst="rect">
            <a:avLst/>
          </a:prstGeom>
          <a:noFill/>
        </p:spPr>
        <p:txBody>
          <a:bodyPr wrap="square">
            <a:spAutoFit/>
          </a:bodyPr>
          <a:lstStyle/>
          <a:p>
            <a:pPr algn="ctr"/>
            <a:r>
              <a:rPr sz="1500" b="1" i="0">
                <a:solidFill>
                  <a:srgbClr val="FFFFFF"/>
                </a:solidFill>
                <a:latin typeface="Arial"/>
              </a:rPr>
              <a:t>Paris 2024 OQR cutoff (30th): 3,626.69 pts   ÷   12-event cap =   302 pts / event on pace</a:t>
            </a:r>
          </a:p>
        </p:txBody>
      </p:sp>
      <p:sp>
        <p:nvSpPr>
          <p:cNvPr id="10" name="TextBox 9"/>
          <p:cNvSpPr txBox="1"/>
          <p:nvPr/>
        </p:nvSpPr>
        <p:spPr>
          <a:xfrm>
            <a:off x="365760" y="1458468"/>
            <a:ext cx="11430000" cy="329184"/>
          </a:xfrm>
          <a:prstGeom prst="rect">
            <a:avLst/>
          </a:prstGeom>
          <a:noFill/>
        </p:spPr>
        <p:txBody>
          <a:bodyPr wrap="square">
            <a:spAutoFit/>
          </a:bodyPr>
          <a:lstStyle/>
          <a:p>
            <a:pPr algn="ctr"/>
            <a:r>
              <a:rPr sz="1100" b="0" i="1">
                <a:solidFill>
                  <a:srgbClr val="AABBDD"/>
                </a:solidFill>
                <a:latin typeface="Arial"/>
              </a:rPr>
              <a:t>An athlete who averages ~302 pts per event across their best 12 events is on pace to clear the LA 2028 qualifying threshold.</a:t>
            </a:r>
          </a:p>
        </p:txBody>
      </p:sp>
      <p:sp>
        <p:nvSpPr>
          <p:cNvPr id="11" name="Rectangle 10"/>
          <p:cNvSpPr/>
          <p:nvPr/>
        </p:nvSpPr>
        <p:spPr>
          <a:xfrm>
            <a:off x="274320" y="181234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39772"/>
            <a:ext cx="11430000" cy="237744"/>
          </a:xfrm>
          <a:prstGeom prst="rect">
            <a:avLst/>
          </a:prstGeom>
          <a:noFill/>
        </p:spPr>
        <p:txBody>
          <a:bodyPr wrap="square">
            <a:spAutoFit/>
          </a:bodyPr>
          <a:lstStyle/>
          <a:p>
            <a:pPr algn="ctr"/>
            <a:r>
              <a:rPr sz="1100" b="1" i="0">
                <a:solidFill>
                  <a:srgbClr val="FFFFFF"/>
                </a:solidFill>
                <a:latin typeface="Arial"/>
              </a:rPr>
              <a:t>FINISH POSITION AT EACH TIER THAT HITS 302-PT PACE</a:t>
            </a:r>
          </a:p>
        </p:txBody>
      </p:sp>
      <p:graphicFrame>
        <p:nvGraphicFramePr>
          <p:cNvPr id="13" name="Table 12"/>
          <p:cNvGraphicFramePr>
            <a:graphicFrameLocks noGrp="1"/>
          </p:cNvGraphicFramePr>
          <p:nvPr>
            <p:extLst>
              <p:ext uri="{D42A27DB-BD31-4B8C-83A1-F6EECF244321}">
                <p14:modId xmlns:p14="http://schemas.microsoft.com/office/powerpoint/2010/main" val="4280859249"/>
              </p:ext>
            </p:extLst>
          </p:nvPr>
        </p:nvGraphicFramePr>
        <p:xfrm>
          <a:off x="274320" y="2196388"/>
          <a:ext cx="11640309" cy="1138125"/>
        </p:xfrm>
        <a:graphic>
          <a:graphicData uri="http://schemas.openxmlformats.org/drawingml/2006/table">
            <a:tbl>
              <a:tblPr firstRow="1" bandRow="1">
                <a:tableStyleId>{5C22544A-7EE6-4342-B048-85BDC9FD1C3A}</a:tableStyleId>
              </a:tblPr>
              <a:tblGrid>
                <a:gridCol w="4399178">
                  <a:extLst>
                    <a:ext uri="{9D8B030D-6E8A-4147-A177-3AD203B41FA5}">
                      <a16:colId xmlns:a16="http://schemas.microsoft.com/office/drawing/2014/main" val="20000"/>
                    </a:ext>
                  </a:extLst>
                </a:gridCol>
                <a:gridCol w="1375257">
                  <a:extLst>
                    <a:ext uri="{9D8B030D-6E8A-4147-A177-3AD203B41FA5}">
                      <a16:colId xmlns:a16="http://schemas.microsoft.com/office/drawing/2014/main" val="20001"/>
                    </a:ext>
                  </a:extLst>
                </a:gridCol>
                <a:gridCol w="2200046">
                  <a:extLst>
                    <a:ext uri="{9D8B030D-6E8A-4147-A177-3AD203B41FA5}">
                      <a16:colId xmlns:a16="http://schemas.microsoft.com/office/drawing/2014/main" val="20002"/>
                    </a:ext>
                  </a:extLst>
                </a:gridCol>
                <a:gridCol w="2749600">
                  <a:extLst>
                    <a:ext uri="{9D8B030D-6E8A-4147-A177-3AD203B41FA5}">
                      <a16:colId xmlns:a16="http://schemas.microsoft.com/office/drawing/2014/main" val="20003"/>
                    </a:ext>
                  </a:extLst>
                </a:gridCol>
                <a:gridCol w="916228">
                  <a:extLst>
                    <a:ext uri="{9D8B030D-6E8A-4147-A177-3AD203B41FA5}">
                      <a16:colId xmlns:a16="http://schemas.microsoft.com/office/drawing/2014/main" val="20004"/>
                    </a:ext>
                  </a:extLst>
                </a:gridCol>
              </a:tblGrid>
              <a:tr h="379375">
                <a:tc>
                  <a:txBody>
                    <a:bodyPr/>
                    <a:lstStyle/>
                    <a:p>
                      <a:pPr algn="l"/>
                      <a:r>
                        <a:rPr sz="950" b="1" i="0">
                          <a:solidFill>
                            <a:srgbClr val="FFFFFF"/>
                          </a:solidFill>
                          <a:latin typeface="Arial"/>
                        </a:rPr>
                        <a:t>Tier</a:t>
                      </a:r>
                    </a:p>
                  </a:txBody>
                  <a:tcPr>
                    <a:solidFill>
                      <a:srgbClr val="002060"/>
                    </a:solidFill>
                  </a:tcPr>
                </a:tc>
                <a:tc>
                  <a:txBody>
                    <a:bodyPr/>
                    <a:lstStyle/>
                    <a:p>
                      <a:pPr algn="ctr"/>
                      <a:r>
                        <a:rPr sz="950" b="1" i="0">
                          <a:solidFill>
                            <a:srgbClr val="FFFFFF"/>
                          </a:solidFill>
                          <a:latin typeface="Arial"/>
                        </a:rPr>
                        <a:t>Win pts</a:t>
                      </a:r>
                    </a:p>
                  </a:txBody>
                  <a:tcPr>
                    <a:solidFill>
                      <a:srgbClr val="002060"/>
                    </a:solidFill>
                  </a:tcPr>
                </a:tc>
                <a:tc>
                  <a:txBody>
                    <a:bodyPr/>
                    <a:lstStyle/>
                    <a:p>
                      <a:pPr algn="ctr"/>
                      <a:r>
                        <a:rPr sz="950" b="1" i="0">
                          <a:solidFill>
                            <a:srgbClr val="FFFFFF"/>
                          </a:solidFill>
                          <a:latin typeface="Arial"/>
                        </a:rPr>
                        <a:t>Last on-pace pos</a:t>
                      </a:r>
                    </a:p>
                  </a:txBody>
                  <a:tcPr>
                    <a:solidFill>
                      <a:srgbClr val="002060"/>
                    </a:solidFill>
                  </a:tcPr>
                </a:tc>
                <a:tc>
                  <a:txBody>
                    <a:bodyPr/>
                    <a:lstStyle/>
                    <a:p>
                      <a:pPr algn="ctr"/>
                      <a:r>
                        <a:rPr sz="950" b="1" i="0">
                          <a:solidFill>
                            <a:srgbClr val="FFFFFF"/>
                          </a:solidFill>
                          <a:latin typeface="Arial"/>
                        </a:rPr>
                        <a:t>First off-pace pos (pts)</a:t>
                      </a:r>
                    </a:p>
                  </a:txBody>
                  <a:tcPr>
                    <a:solidFill>
                      <a:srgbClr val="002060"/>
                    </a:solidFill>
                  </a:tcPr>
                </a:tc>
                <a:tc>
                  <a:txBody>
                    <a:bodyPr/>
                    <a:lstStyle/>
                    <a:p>
                      <a:pPr algn="ctr"/>
                      <a:r>
                        <a:rPr sz="950" b="1" i="0">
                          <a:solidFill>
                            <a:srgbClr val="FFFFFF"/>
                          </a:solidFill>
                          <a:latin typeface="Arial"/>
                        </a:rPr>
                        <a:t>Verdict</a:t>
                      </a:r>
                    </a:p>
                  </a:txBody>
                  <a:tcPr>
                    <a:solidFill>
                      <a:srgbClr val="002060"/>
                    </a:solidFill>
                  </a:tcPr>
                </a:tc>
                <a:extLst>
                  <a:ext uri="{0D108BD9-81ED-4DB2-BD59-A6C34878D82A}">
                    <a16:rowId xmlns:a16="http://schemas.microsoft.com/office/drawing/2014/main" val="10000"/>
                  </a:ext>
                </a:extLst>
              </a:tr>
              <a:tr h="379375">
                <a:tc>
                  <a:txBody>
                    <a:bodyPr/>
                    <a:lstStyle/>
                    <a:p>
                      <a:pPr algn="l"/>
                      <a:r>
                        <a:rPr sz="950" b="0" i="0">
                          <a:solidFill>
                            <a:srgbClr val="262626"/>
                          </a:solidFill>
                          <a:latin typeface="Arial"/>
                        </a:rPr>
                        <a:t>World Championship Series</a:t>
                      </a:r>
                    </a:p>
                  </a:txBody>
                  <a:tcPr>
                    <a:solidFill>
                      <a:srgbClr val="FFFFFF"/>
                    </a:solidFill>
                  </a:tcPr>
                </a:tc>
                <a:tc>
                  <a:txBody>
                    <a:bodyPr/>
                    <a:lstStyle/>
                    <a:p>
                      <a:pPr algn="ctr"/>
                      <a:r>
                        <a:rPr sz="950" b="1" i="0">
                          <a:solidFill>
                            <a:srgbClr val="262626"/>
                          </a:solidFill>
                          <a:latin typeface="Arial"/>
                        </a:rPr>
                        <a:t>1000</a:t>
                      </a:r>
                    </a:p>
                  </a:txBody>
                  <a:tcPr>
                    <a:solidFill>
                      <a:srgbClr val="FFFFFF"/>
                    </a:solidFill>
                  </a:tcPr>
                </a:tc>
                <a:tc>
                  <a:txBody>
                    <a:bodyPr/>
                    <a:lstStyle/>
                    <a:p>
                      <a:pPr algn="ctr"/>
                      <a:r>
                        <a:rPr sz="950" b="1"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#17 (287 pts)</a:t>
                      </a:r>
                    </a:p>
                  </a:txBody>
                  <a:tcPr>
                    <a:solidFill>
                      <a:srgbClr val="FFFFFF"/>
                    </a:solidFill>
                  </a:tcPr>
                </a:tc>
                <a:tc>
                  <a:txBody>
                    <a:bodyPr/>
                    <a:lstStyle/>
                    <a:p>
                      <a:pPr algn="ctr"/>
                      <a:r>
                        <a:rPr sz="950" b="1" i="0">
                          <a:solidFill>
                            <a:srgbClr val="1B7F3A"/>
                          </a:solidFill>
                          <a:latin typeface="Arial"/>
                        </a:rPr>
                        <a:t>Top 16</a:t>
                      </a:r>
                    </a:p>
                  </a:txBody>
                  <a:tcPr>
                    <a:solidFill>
                      <a:srgbClr val="FFFFFF"/>
                    </a:solidFill>
                  </a:tcPr>
                </a:tc>
                <a:extLst>
                  <a:ext uri="{0D108BD9-81ED-4DB2-BD59-A6C34878D82A}">
                    <a16:rowId xmlns:a16="http://schemas.microsoft.com/office/drawing/2014/main" val="10001"/>
                  </a:ext>
                </a:extLst>
              </a:tr>
              <a:tr h="379375">
                <a:tc>
                  <a:txBody>
                    <a:bodyPr/>
                    <a:lstStyle/>
                    <a:p>
                      <a:pPr algn="l"/>
                      <a:r>
                        <a:rPr sz="950" b="0" i="0">
                          <a:solidFill>
                            <a:srgbClr val="262626"/>
                          </a:solidFill>
                          <a:latin typeface="Arial"/>
                        </a:rPr>
                        <a:t>World Cup</a:t>
                      </a:r>
                    </a:p>
                  </a:txBody>
                  <a:tcPr>
                    <a:solidFill>
                      <a:srgbClr val="F2F2F2"/>
                    </a:solidFill>
                  </a:tcPr>
                </a:tc>
                <a:tc>
                  <a:txBody>
                    <a:bodyPr/>
                    <a:lstStyle/>
                    <a:p>
                      <a:pPr algn="ctr"/>
                      <a:r>
                        <a:rPr sz="950" b="1" i="0">
                          <a:solidFill>
                            <a:srgbClr val="262626"/>
                          </a:solidFill>
                          <a:latin typeface="Arial"/>
                        </a:rPr>
                        <a:t>500</a:t>
                      </a:r>
                    </a:p>
                  </a:txBody>
                  <a:tcPr>
                    <a:solidFill>
                      <a:srgbClr val="F2F2F2"/>
                    </a:solidFill>
                  </a:tcPr>
                </a:tc>
                <a:tc>
                  <a:txBody>
                    <a:bodyPr/>
                    <a:lstStyle/>
                    <a:p>
                      <a:pPr algn="ctr"/>
                      <a:r>
                        <a:rPr sz="950" b="1"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#8 (290 pts)</a:t>
                      </a:r>
                    </a:p>
                  </a:txBody>
                  <a:tcPr>
                    <a:solidFill>
                      <a:srgbClr val="F2F2F2"/>
                    </a:solidFill>
                  </a:tcPr>
                </a:tc>
                <a:tc>
                  <a:txBody>
                    <a:bodyPr/>
                    <a:lstStyle/>
                    <a:p>
                      <a:pPr algn="ctr"/>
                      <a:r>
                        <a:rPr sz="950" b="1" i="0" dirty="0">
                          <a:solidFill>
                            <a:srgbClr val="1B7F3A"/>
                          </a:solidFill>
                          <a:latin typeface="Arial"/>
                        </a:rPr>
                        <a:t>Top 7</a:t>
                      </a:r>
                    </a:p>
                  </a:txBody>
                  <a:tcPr>
                    <a:solidFill>
                      <a:srgbClr val="F2F2F2"/>
                    </a:solidFill>
                  </a:tcPr>
                </a:tc>
                <a:extLst>
                  <a:ext uri="{0D108BD9-81ED-4DB2-BD59-A6C34878D82A}">
                    <a16:rowId xmlns:a16="http://schemas.microsoft.com/office/drawing/2014/main" val="10002"/>
                  </a:ext>
                </a:extLst>
              </a:tr>
            </a:tbl>
          </a:graphicData>
        </a:graphic>
      </p:graphicFrame>
      <p:sp>
        <p:nvSpPr>
          <p:cNvPr id="14" name="Rectangle 13"/>
          <p:cNvSpPr/>
          <p:nvPr/>
        </p:nvSpPr>
        <p:spPr>
          <a:xfrm>
            <a:off x="27432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3639312"/>
            <a:ext cx="5806440" cy="219456"/>
          </a:xfrm>
          <a:prstGeom prst="rect">
            <a:avLst/>
          </a:prstGeom>
          <a:noFill/>
        </p:spPr>
        <p:txBody>
          <a:bodyPr wrap="square">
            <a:spAutoFit/>
          </a:bodyPr>
          <a:lstStyle/>
          <a:p>
            <a:pPr algn="ctr"/>
            <a:r>
              <a:rPr sz="1100" b="1" i="0">
                <a:solidFill>
                  <a:srgbClr val="FFFFFF"/>
                </a:solidFill>
                <a:latin typeface="Arial"/>
              </a:rPr>
              <a:t>USA MEN</a:t>
            </a:r>
          </a:p>
        </p:txBody>
      </p:sp>
      <p:graphicFrame>
        <p:nvGraphicFramePr>
          <p:cNvPr id="16" name="Table 15"/>
          <p:cNvGraphicFramePr>
            <a:graphicFrameLocks noGrp="1"/>
          </p:cNvGraphicFramePr>
          <p:nvPr/>
        </p:nvGraphicFramePr>
        <p:xfrm>
          <a:off x="27432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12</a:t>
                      </a:r>
                    </a:p>
                  </a:txBody>
                  <a:tcPr>
                    <a:solidFill>
                      <a:srgbClr val="FFFFFF"/>
                    </a:solidFill>
                  </a:tcPr>
                </a:tc>
                <a:tc>
                  <a:txBody>
                    <a:bodyPr/>
                    <a:lstStyle/>
                    <a:p>
                      <a:pPr algn="l"/>
                      <a:r>
                        <a:rPr sz="750" b="0" i="0">
                          <a:solidFill>
                            <a:srgbClr val="262626"/>
                          </a:solidFill>
                          <a:latin typeface="Arial"/>
                        </a:rPr>
                        <a:t>Sullivan Middaugh</a:t>
                      </a:r>
                    </a:p>
                  </a:txBody>
                  <a:tcPr>
                    <a:solidFill>
                      <a:srgbClr val="FFFFFF"/>
                    </a:solidFill>
                  </a:tcPr>
                </a:tc>
                <a:tc>
                  <a:txBody>
                    <a:bodyPr/>
                    <a:lstStyle/>
                    <a:p>
                      <a:pPr algn="ctr"/>
                      <a:r>
                        <a:rPr sz="750" b="1" i="0">
                          <a:solidFill>
                            <a:srgbClr val="262626"/>
                          </a:solidFill>
                          <a:latin typeface="Arial"/>
                        </a:rPr>
                        <a:t>1,573</a:t>
                      </a:r>
                    </a:p>
                  </a:txBody>
                  <a:tcPr>
                    <a:solidFill>
                      <a:srgbClr val="FFFFFF"/>
                    </a:solidFill>
                  </a:tcPr>
                </a:tc>
                <a:tc>
                  <a:txBody>
                    <a:bodyPr/>
                    <a:lstStyle/>
                    <a:p>
                      <a:pPr algn="ctr"/>
                      <a:r>
                        <a:rPr sz="750" b="0" i="0">
                          <a:solidFill>
                            <a:srgbClr val="262626"/>
                          </a:solidFill>
                          <a:latin typeface="Arial"/>
                        </a:rPr>
                        <a:t>5</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3</a:t>
                      </a:r>
                    </a:p>
                  </a:txBody>
                  <a:tcPr>
                    <a:solidFill>
                      <a:srgbClr val="FFFFFF"/>
                    </a:solidFill>
                  </a:tcPr>
                </a:tc>
                <a:tc>
                  <a:txBody>
                    <a:bodyPr/>
                    <a:lstStyle/>
                    <a:p>
                      <a:pPr algn="ctr"/>
                      <a:r>
                        <a:rPr sz="750" b="0" i="0">
                          <a:solidFill>
                            <a:srgbClr val="262626"/>
                          </a:solidFill>
                          <a:latin typeface="Arial"/>
                        </a:rPr>
                        <a:t>314</a:t>
                      </a:r>
                    </a:p>
                  </a:txBody>
                  <a:tcPr>
                    <a:solidFill>
                      <a:srgbClr val="FFFFFF"/>
                    </a:solidFill>
                  </a:tcPr>
                </a:tc>
                <a:tc>
                  <a:txBody>
                    <a:bodyPr/>
                    <a:lstStyle/>
                    <a:p>
                      <a:pPr algn="ctr"/>
                      <a:r>
                        <a:rPr sz="750" b="1" i="0">
                          <a:solidFill>
                            <a:srgbClr val="1B7F3A"/>
                          </a:solidFill>
                          <a:latin typeface="Arial"/>
                        </a:rPr>
                        <a:t>3,776</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16</a:t>
                      </a:r>
                    </a:p>
                  </a:txBody>
                  <a:tcPr>
                    <a:solidFill>
                      <a:srgbClr val="F2F2F2"/>
                    </a:solidFill>
                  </a:tcPr>
                </a:tc>
                <a:tc>
                  <a:txBody>
                    <a:bodyPr/>
                    <a:lstStyle/>
                    <a:p>
                      <a:pPr algn="l"/>
                      <a:r>
                        <a:rPr sz="750" b="0" i="0">
                          <a:solidFill>
                            <a:srgbClr val="262626"/>
                          </a:solidFill>
                          <a:latin typeface="Arial"/>
                        </a:rPr>
                        <a:t>Reese Vannerson</a:t>
                      </a:r>
                    </a:p>
                  </a:txBody>
                  <a:tcPr>
                    <a:solidFill>
                      <a:srgbClr val="F2F2F2"/>
                    </a:solidFill>
                  </a:tcPr>
                </a:tc>
                <a:tc>
                  <a:txBody>
                    <a:bodyPr/>
                    <a:lstStyle/>
                    <a:p>
                      <a:pPr algn="ctr"/>
                      <a:r>
                        <a:rPr sz="750" b="1" i="0">
                          <a:solidFill>
                            <a:srgbClr val="262626"/>
                          </a:solidFill>
                          <a:latin typeface="Arial"/>
                        </a:rPr>
                        <a:t>1,479</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3</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369</a:t>
                      </a:r>
                    </a:p>
                  </a:txBody>
                  <a:tcPr>
                    <a:solidFill>
                      <a:srgbClr val="F2F2F2"/>
                    </a:solidFill>
                  </a:tcPr>
                </a:tc>
                <a:tc>
                  <a:txBody>
                    <a:bodyPr/>
                    <a:lstStyle/>
                    <a:p>
                      <a:pPr algn="ctr"/>
                      <a:r>
                        <a:rPr sz="750" b="1" i="0">
                          <a:solidFill>
                            <a:srgbClr val="1B7F3A"/>
                          </a:solidFill>
                          <a:latin typeface="Arial"/>
                        </a:rPr>
                        <a:t>4,439</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19</a:t>
                      </a:r>
                    </a:p>
                  </a:txBody>
                  <a:tcPr>
                    <a:solidFill>
                      <a:srgbClr val="FFFFFF"/>
                    </a:solidFill>
                  </a:tcPr>
                </a:tc>
                <a:tc>
                  <a:txBody>
                    <a:bodyPr/>
                    <a:lstStyle/>
                    <a:p>
                      <a:pPr algn="l"/>
                      <a:r>
                        <a:rPr sz="750" b="0" i="0">
                          <a:solidFill>
                            <a:srgbClr val="262626"/>
                          </a:solidFill>
                          <a:latin typeface="Arial"/>
                        </a:rPr>
                        <a:t>Seth Rider</a:t>
                      </a:r>
                    </a:p>
                  </a:txBody>
                  <a:tcPr>
                    <a:solidFill>
                      <a:srgbClr val="FFFFFF"/>
                    </a:solidFill>
                  </a:tcPr>
                </a:tc>
                <a:tc>
                  <a:txBody>
                    <a:bodyPr/>
                    <a:lstStyle/>
                    <a:p>
                      <a:pPr algn="ctr"/>
                      <a:r>
                        <a:rPr sz="750" b="1" i="0">
                          <a:solidFill>
                            <a:srgbClr val="262626"/>
                          </a:solidFill>
                          <a:latin typeface="Arial"/>
                        </a:rPr>
                        <a:t>1,341</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3</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335</a:t>
                      </a:r>
                    </a:p>
                  </a:txBody>
                  <a:tcPr>
                    <a:solidFill>
                      <a:srgbClr val="FFFFFF"/>
                    </a:solidFill>
                  </a:tcPr>
                </a:tc>
                <a:tc>
                  <a:txBody>
                    <a:bodyPr/>
                    <a:lstStyle/>
                    <a:p>
                      <a:pPr algn="ctr"/>
                      <a:r>
                        <a:rPr sz="750" b="1" i="0">
                          <a:solidFill>
                            <a:srgbClr val="1B7F3A"/>
                          </a:solidFill>
                          <a:latin typeface="Arial"/>
                        </a:rPr>
                        <a:t>4,023</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20</a:t>
                      </a:r>
                    </a:p>
                  </a:txBody>
                  <a:tcPr>
                    <a:solidFill>
                      <a:srgbClr val="F2F2F2"/>
                    </a:solidFill>
                  </a:tcPr>
                </a:tc>
                <a:tc>
                  <a:txBody>
                    <a:bodyPr/>
                    <a:lstStyle/>
                    <a:p>
                      <a:pPr algn="l"/>
                      <a:r>
                        <a:rPr sz="750" b="0" i="0">
                          <a:solidFill>
                            <a:srgbClr val="262626"/>
                          </a:solidFill>
                          <a:latin typeface="Arial"/>
                        </a:rPr>
                        <a:t>Braxton Legg</a:t>
                      </a:r>
                    </a:p>
                  </a:txBody>
                  <a:tcPr>
                    <a:solidFill>
                      <a:srgbClr val="F2F2F2"/>
                    </a:solidFill>
                  </a:tcPr>
                </a:tc>
                <a:tc>
                  <a:txBody>
                    <a:bodyPr/>
                    <a:lstStyle/>
                    <a:p>
                      <a:pPr algn="ctr"/>
                      <a:r>
                        <a:rPr sz="750" b="1" i="0">
                          <a:solidFill>
                            <a:srgbClr val="262626"/>
                          </a:solidFill>
                          <a:latin typeface="Arial"/>
                        </a:rPr>
                        <a:t>1,274</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318</a:t>
                      </a:r>
                    </a:p>
                  </a:txBody>
                  <a:tcPr>
                    <a:solidFill>
                      <a:srgbClr val="F2F2F2"/>
                    </a:solidFill>
                  </a:tcPr>
                </a:tc>
                <a:tc>
                  <a:txBody>
                    <a:bodyPr/>
                    <a:lstStyle/>
                    <a:p>
                      <a:pPr algn="ctr"/>
                      <a:r>
                        <a:rPr sz="750" b="1" i="0">
                          <a:solidFill>
                            <a:srgbClr val="1B7F3A"/>
                          </a:solidFill>
                          <a:latin typeface="Arial"/>
                        </a:rPr>
                        <a:t>3,823</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24</a:t>
                      </a:r>
                    </a:p>
                  </a:txBody>
                  <a:tcPr>
                    <a:solidFill>
                      <a:srgbClr val="FFFFFF"/>
                    </a:solidFill>
                  </a:tcPr>
                </a:tc>
                <a:tc>
                  <a:txBody>
                    <a:bodyPr/>
                    <a:lstStyle/>
                    <a:p>
                      <a:pPr algn="l"/>
                      <a:r>
                        <a:rPr sz="750" b="0" i="0">
                          <a:solidFill>
                            <a:srgbClr val="262626"/>
                          </a:solidFill>
                          <a:latin typeface="Arial"/>
                        </a:rPr>
                        <a:t>Keller Norland</a:t>
                      </a:r>
                    </a:p>
                  </a:txBody>
                  <a:tcPr>
                    <a:solidFill>
                      <a:srgbClr val="FFFFFF"/>
                    </a:solidFill>
                  </a:tcPr>
                </a:tc>
                <a:tc>
                  <a:txBody>
                    <a:bodyPr/>
                    <a:lstStyle/>
                    <a:p>
                      <a:pPr algn="ctr"/>
                      <a:r>
                        <a:rPr sz="750" b="1" i="0">
                          <a:solidFill>
                            <a:srgbClr val="262626"/>
                          </a:solidFill>
                          <a:latin typeface="Arial"/>
                        </a:rPr>
                        <a:t>1,087</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362</a:t>
                      </a:r>
                    </a:p>
                  </a:txBody>
                  <a:tcPr>
                    <a:solidFill>
                      <a:srgbClr val="FFFFFF"/>
                    </a:solidFill>
                  </a:tcPr>
                </a:tc>
                <a:tc>
                  <a:txBody>
                    <a:bodyPr/>
                    <a:lstStyle/>
                    <a:p>
                      <a:pPr algn="ctr"/>
                      <a:r>
                        <a:rPr sz="750" b="1" i="0">
                          <a:solidFill>
                            <a:srgbClr val="1B7F3A"/>
                          </a:solidFill>
                          <a:latin typeface="Arial"/>
                        </a:rPr>
                        <a:t>4,349</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36</a:t>
                      </a:r>
                    </a:p>
                  </a:txBody>
                  <a:tcPr>
                    <a:solidFill>
                      <a:srgbClr val="F2F2F2"/>
                    </a:solidFill>
                  </a:tcPr>
                </a:tc>
                <a:tc>
                  <a:txBody>
                    <a:bodyPr/>
                    <a:lstStyle/>
                    <a:p>
                      <a:pPr algn="l"/>
                      <a:r>
                        <a:rPr sz="750" b="0" i="0">
                          <a:solidFill>
                            <a:srgbClr val="262626"/>
                          </a:solidFill>
                          <a:latin typeface="Arial"/>
                        </a:rPr>
                        <a:t>Morgan Pearson</a:t>
                      </a:r>
                    </a:p>
                  </a:txBody>
                  <a:tcPr>
                    <a:solidFill>
                      <a:srgbClr val="F2F2F2"/>
                    </a:solidFill>
                  </a:tcPr>
                </a:tc>
                <a:tc>
                  <a:txBody>
                    <a:bodyPr/>
                    <a:lstStyle/>
                    <a:p>
                      <a:pPr algn="ctr"/>
                      <a:r>
                        <a:rPr sz="750" b="1" i="0">
                          <a:solidFill>
                            <a:srgbClr val="262626"/>
                          </a:solidFill>
                          <a:latin typeface="Arial"/>
                        </a:rPr>
                        <a:t>904</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452</a:t>
                      </a:r>
                    </a:p>
                  </a:txBody>
                  <a:tcPr>
                    <a:solidFill>
                      <a:srgbClr val="F2F2F2"/>
                    </a:solidFill>
                  </a:tcPr>
                </a:tc>
                <a:tc>
                  <a:txBody>
                    <a:bodyPr/>
                    <a:lstStyle/>
                    <a:p>
                      <a:pPr algn="ctr"/>
                      <a:r>
                        <a:rPr sz="750" b="1" i="0">
                          <a:solidFill>
                            <a:srgbClr val="1B7F3A"/>
                          </a:solidFill>
                          <a:latin typeface="Arial"/>
                        </a:rPr>
                        <a:t>5,425</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41</a:t>
                      </a:r>
                    </a:p>
                  </a:txBody>
                  <a:tcPr>
                    <a:solidFill>
                      <a:srgbClr val="FFFFFF"/>
                    </a:solidFill>
                  </a:tcPr>
                </a:tc>
                <a:tc>
                  <a:txBody>
                    <a:bodyPr/>
                    <a:lstStyle/>
                    <a:p>
                      <a:pPr algn="l"/>
                      <a:r>
                        <a:rPr sz="750" b="0" i="0">
                          <a:solidFill>
                            <a:srgbClr val="262626"/>
                          </a:solidFill>
                          <a:latin typeface="Arial"/>
                        </a:rPr>
                        <a:t>Chase McQueen</a:t>
                      </a:r>
                    </a:p>
                  </a:txBody>
                  <a:tcPr>
                    <a:solidFill>
                      <a:srgbClr val="FFFFFF"/>
                    </a:solidFill>
                  </a:tcPr>
                </a:tc>
                <a:tc>
                  <a:txBody>
                    <a:bodyPr/>
                    <a:lstStyle/>
                    <a:p>
                      <a:pPr algn="ctr"/>
                      <a:r>
                        <a:rPr sz="750" b="1" i="0">
                          <a:solidFill>
                            <a:srgbClr val="262626"/>
                          </a:solidFill>
                          <a:latin typeface="Arial"/>
                        </a:rPr>
                        <a:t>816</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3</a:t>
                      </a:r>
                    </a:p>
                  </a:txBody>
                  <a:tcPr>
                    <a:solidFill>
                      <a:srgbClr val="FFFFFF"/>
                    </a:solidFill>
                  </a:tcPr>
                </a:tc>
                <a:tc>
                  <a:txBody>
                    <a:bodyPr/>
                    <a:lstStyle/>
                    <a:p>
                      <a:pPr algn="ctr"/>
                      <a:r>
                        <a:rPr sz="750" b="0" i="0">
                          <a:solidFill>
                            <a:srgbClr val="262626"/>
                          </a:solidFill>
                          <a:latin typeface="Arial"/>
                        </a:rPr>
                        <a:t>204</a:t>
                      </a:r>
                    </a:p>
                  </a:txBody>
                  <a:tcPr>
                    <a:solidFill>
                      <a:srgbClr val="FFFFFF"/>
                    </a:solidFill>
                  </a:tcPr>
                </a:tc>
                <a:tc>
                  <a:txBody>
                    <a:bodyPr/>
                    <a:lstStyle/>
                    <a:p>
                      <a:pPr algn="ctr"/>
                      <a:r>
                        <a:rPr sz="750" b="1" i="0">
                          <a:solidFill>
                            <a:srgbClr val="262626"/>
                          </a:solidFill>
                          <a:latin typeface="Arial"/>
                        </a:rPr>
                        <a:t>2,450</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60</a:t>
                      </a:r>
                    </a:p>
                  </a:txBody>
                  <a:tcPr>
                    <a:solidFill>
                      <a:srgbClr val="F2F2F2"/>
                    </a:solidFill>
                  </a:tcPr>
                </a:tc>
                <a:tc>
                  <a:txBody>
                    <a:bodyPr/>
                    <a:lstStyle/>
                    <a:p>
                      <a:pPr algn="l"/>
                      <a:r>
                        <a:rPr sz="750" b="0" i="0">
                          <a:solidFill>
                            <a:srgbClr val="262626"/>
                          </a:solidFill>
                          <a:latin typeface="Arial"/>
                        </a:rPr>
                        <a:t>John Reed</a:t>
                      </a:r>
                    </a:p>
                  </a:txBody>
                  <a:tcPr>
                    <a:solidFill>
                      <a:srgbClr val="F2F2F2"/>
                    </a:solidFill>
                  </a:tcPr>
                </a:tc>
                <a:tc>
                  <a:txBody>
                    <a:bodyPr/>
                    <a:lstStyle/>
                    <a:p>
                      <a:pPr algn="ctr"/>
                      <a:r>
                        <a:rPr sz="750" b="1" i="0">
                          <a:solidFill>
                            <a:srgbClr val="262626"/>
                          </a:solidFill>
                          <a:latin typeface="Arial"/>
                        </a:rPr>
                        <a:t>599</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299</a:t>
                      </a:r>
                    </a:p>
                  </a:txBody>
                  <a:tcPr>
                    <a:solidFill>
                      <a:srgbClr val="F2F2F2"/>
                    </a:solidFill>
                  </a:tcPr>
                </a:tc>
                <a:tc>
                  <a:txBody>
                    <a:bodyPr/>
                    <a:lstStyle/>
                    <a:p>
                      <a:pPr algn="ctr"/>
                      <a:r>
                        <a:rPr sz="750" b="1" i="0">
                          <a:solidFill>
                            <a:srgbClr val="262626"/>
                          </a:solidFill>
                          <a:latin typeface="Arial"/>
                        </a:rPr>
                        <a:t>3,598</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66</a:t>
                      </a:r>
                    </a:p>
                  </a:txBody>
                  <a:tcPr>
                    <a:solidFill>
                      <a:srgbClr val="FFFFFF"/>
                    </a:solidFill>
                  </a:tcPr>
                </a:tc>
                <a:tc>
                  <a:txBody>
                    <a:bodyPr/>
                    <a:lstStyle/>
                    <a:p>
                      <a:pPr algn="l"/>
                      <a:r>
                        <a:rPr sz="750" b="0" i="0">
                          <a:solidFill>
                            <a:srgbClr val="262626"/>
                          </a:solidFill>
                          <a:latin typeface="Arial"/>
                        </a:rPr>
                        <a:t>Blake Bullard</a:t>
                      </a:r>
                    </a:p>
                  </a:txBody>
                  <a:tcPr>
                    <a:solidFill>
                      <a:srgbClr val="FFFFFF"/>
                    </a:solidFill>
                  </a:tcPr>
                </a:tc>
                <a:tc>
                  <a:txBody>
                    <a:bodyPr/>
                    <a:lstStyle/>
                    <a:p>
                      <a:pPr algn="ctr"/>
                      <a:r>
                        <a:rPr sz="750" b="1" i="0">
                          <a:solidFill>
                            <a:srgbClr val="262626"/>
                          </a:solidFill>
                          <a:latin typeface="Arial"/>
                        </a:rPr>
                        <a:t>513</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3</a:t>
                      </a:r>
                    </a:p>
                  </a:txBody>
                  <a:tcPr>
                    <a:solidFill>
                      <a:srgbClr val="FFFFFF"/>
                    </a:solidFill>
                  </a:tcPr>
                </a:tc>
                <a:tc>
                  <a:txBody>
                    <a:bodyPr/>
                    <a:lstStyle/>
                    <a:p>
                      <a:pPr algn="ctr"/>
                      <a:r>
                        <a:rPr sz="750" b="0" i="0">
                          <a:solidFill>
                            <a:srgbClr val="262626"/>
                          </a:solidFill>
                          <a:latin typeface="Arial"/>
                        </a:rPr>
                        <a:t>171</a:t>
                      </a:r>
                    </a:p>
                  </a:txBody>
                  <a:tcPr>
                    <a:solidFill>
                      <a:srgbClr val="FFFFFF"/>
                    </a:solidFill>
                  </a:tcPr>
                </a:tc>
                <a:tc>
                  <a:txBody>
                    <a:bodyPr/>
                    <a:lstStyle/>
                    <a:p>
                      <a:pPr algn="ctr"/>
                      <a:r>
                        <a:rPr sz="750" b="1" i="0">
                          <a:solidFill>
                            <a:srgbClr val="262626"/>
                          </a:solidFill>
                          <a:latin typeface="Arial"/>
                        </a:rPr>
                        <a:t>2,055</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68</a:t>
                      </a:r>
                    </a:p>
                  </a:txBody>
                  <a:tcPr>
                    <a:solidFill>
                      <a:srgbClr val="F2F2F2"/>
                    </a:solidFill>
                  </a:tcPr>
                </a:tc>
                <a:tc>
                  <a:txBody>
                    <a:bodyPr/>
                    <a:lstStyle/>
                    <a:p>
                      <a:pPr algn="l"/>
                      <a:r>
                        <a:rPr sz="750" b="0" i="0">
                          <a:solidFill>
                            <a:srgbClr val="262626"/>
                          </a:solidFill>
                          <a:latin typeface="Arial"/>
                        </a:rPr>
                        <a:t>Porter Middaugh</a:t>
                      </a:r>
                    </a:p>
                  </a:txBody>
                  <a:tcPr>
                    <a:solidFill>
                      <a:srgbClr val="F2F2F2"/>
                    </a:solidFill>
                  </a:tcPr>
                </a:tc>
                <a:tc>
                  <a:txBody>
                    <a:bodyPr/>
                    <a:lstStyle/>
                    <a:p>
                      <a:pPr algn="ctr"/>
                      <a:r>
                        <a:rPr sz="750" b="1" i="0">
                          <a:solidFill>
                            <a:srgbClr val="262626"/>
                          </a:solidFill>
                          <a:latin typeface="Arial"/>
                        </a:rPr>
                        <a:t>481</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160</a:t>
                      </a:r>
                    </a:p>
                  </a:txBody>
                  <a:tcPr>
                    <a:solidFill>
                      <a:srgbClr val="F2F2F2"/>
                    </a:solidFill>
                  </a:tcPr>
                </a:tc>
                <a:tc>
                  <a:txBody>
                    <a:bodyPr/>
                    <a:lstStyle/>
                    <a:p>
                      <a:pPr algn="ctr"/>
                      <a:r>
                        <a:rPr sz="750" b="1" i="0">
                          <a:solidFill>
                            <a:srgbClr val="262626"/>
                          </a:solidFill>
                          <a:latin typeface="Arial"/>
                        </a:rPr>
                        <a:t>1,926</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107</a:t>
                      </a:r>
                    </a:p>
                  </a:txBody>
                  <a:tcPr>
                    <a:solidFill>
                      <a:srgbClr val="FFFFFF"/>
                    </a:solidFill>
                  </a:tcPr>
                </a:tc>
                <a:tc>
                  <a:txBody>
                    <a:bodyPr/>
                    <a:lstStyle/>
                    <a:p>
                      <a:pPr algn="l"/>
                      <a:r>
                        <a:rPr sz="750" b="0" i="0">
                          <a:solidFill>
                            <a:srgbClr val="262626"/>
                          </a:solidFill>
                          <a:latin typeface="Arial"/>
                        </a:rPr>
                        <a:t>Zach Leachman</a:t>
                      </a:r>
                    </a:p>
                  </a:txBody>
                  <a:tcPr>
                    <a:solidFill>
                      <a:srgbClr val="FFFFFF"/>
                    </a:solidFill>
                  </a:tcPr>
                </a:tc>
                <a:tc>
                  <a:txBody>
                    <a:bodyPr/>
                    <a:lstStyle/>
                    <a:p>
                      <a:pPr algn="ctr"/>
                      <a:r>
                        <a:rPr sz="750" b="1" i="0">
                          <a:solidFill>
                            <a:srgbClr val="262626"/>
                          </a:solidFill>
                          <a:latin typeface="Arial"/>
                        </a:rPr>
                        <a:t>212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212</a:t>
                      </a:r>
                    </a:p>
                  </a:txBody>
                  <a:tcPr>
                    <a:solidFill>
                      <a:srgbClr val="FFFFFF"/>
                    </a:solidFill>
                  </a:tcPr>
                </a:tc>
                <a:tc>
                  <a:txBody>
                    <a:bodyPr/>
                    <a:lstStyle/>
                    <a:p>
                      <a:pPr algn="ctr"/>
                      <a:r>
                        <a:rPr sz="750" b="1" i="0">
                          <a:solidFill>
                            <a:srgbClr val="262626"/>
                          </a:solidFill>
                          <a:latin typeface="Arial"/>
                        </a:rPr>
                        <a:t>2,545</a:t>
                      </a:r>
                    </a:p>
                  </a:txBody>
                  <a:tcPr>
                    <a:solidFill>
                      <a:srgbClr val="FFFFFF"/>
                    </a:solidFill>
                  </a:tcPr>
                </a:tc>
                <a:extLst>
                  <a:ext uri="{0D108BD9-81ED-4DB2-BD59-A6C34878D82A}">
                    <a16:rowId xmlns:a16="http://schemas.microsoft.com/office/drawing/2014/main" val="10011"/>
                  </a:ext>
                </a:extLst>
              </a:tr>
            </a:tbl>
          </a:graphicData>
        </a:graphic>
      </p:graphicFrame>
      <p:sp>
        <p:nvSpPr>
          <p:cNvPr id="17" name="Rectangle 16"/>
          <p:cNvSpPr/>
          <p:nvPr/>
        </p:nvSpPr>
        <p:spPr>
          <a:xfrm>
            <a:off x="612648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3639312"/>
            <a:ext cx="5806440" cy="219456"/>
          </a:xfrm>
          <a:prstGeom prst="rect">
            <a:avLst/>
          </a:prstGeom>
          <a:noFill/>
        </p:spPr>
        <p:txBody>
          <a:bodyPr wrap="square">
            <a:spAutoFit/>
          </a:bodyPr>
          <a:lstStyle/>
          <a:p>
            <a:pPr algn="ctr"/>
            <a:r>
              <a:rPr sz="1100" b="1" i="0">
                <a:solidFill>
                  <a:srgbClr val="FFFFFF"/>
                </a:solidFill>
                <a:latin typeface="Arial"/>
              </a:rPr>
              <a:t>USA WOMEN</a:t>
            </a:r>
          </a:p>
        </p:txBody>
      </p:sp>
      <p:graphicFrame>
        <p:nvGraphicFramePr>
          <p:cNvPr id="19" name="Table 18"/>
          <p:cNvGraphicFramePr>
            <a:graphicFrameLocks noGrp="1"/>
          </p:cNvGraphicFramePr>
          <p:nvPr/>
        </p:nvGraphicFramePr>
        <p:xfrm>
          <a:off x="612648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9</a:t>
                      </a:r>
                    </a:p>
                  </a:txBody>
                  <a:tcPr>
                    <a:solidFill>
                      <a:srgbClr val="FFFFFF"/>
                    </a:solidFill>
                  </a:tcPr>
                </a:tc>
                <a:tc>
                  <a:txBody>
                    <a:bodyPr/>
                    <a:lstStyle/>
                    <a:p>
                      <a:pPr algn="l"/>
                      <a:r>
                        <a:rPr sz="750" b="0" i="0">
                          <a:solidFill>
                            <a:srgbClr val="262626"/>
                          </a:solidFill>
                          <a:latin typeface="Arial"/>
                        </a:rPr>
                        <a:t>Taylor Knibb</a:t>
                      </a:r>
                    </a:p>
                  </a:txBody>
                  <a:tcPr>
                    <a:solidFill>
                      <a:srgbClr val="FFFFFF"/>
                    </a:solidFill>
                  </a:tcPr>
                </a:tc>
                <a:tc>
                  <a:txBody>
                    <a:bodyPr/>
                    <a:lstStyle/>
                    <a:p>
                      <a:pPr algn="ctr"/>
                      <a:r>
                        <a:rPr sz="750" b="1" i="0">
                          <a:solidFill>
                            <a:srgbClr val="262626"/>
                          </a:solidFill>
                          <a:latin typeface="Arial"/>
                        </a:rPr>
                        <a:t>2,047</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4</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511</a:t>
                      </a:r>
                    </a:p>
                  </a:txBody>
                  <a:tcPr>
                    <a:solidFill>
                      <a:srgbClr val="FFFFFF"/>
                    </a:solidFill>
                  </a:tcPr>
                </a:tc>
                <a:tc>
                  <a:txBody>
                    <a:bodyPr/>
                    <a:lstStyle/>
                    <a:p>
                      <a:pPr algn="ctr"/>
                      <a:r>
                        <a:rPr sz="750" b="1" i="0">
                          <a:solidFill>
                            <a:srgbClr val="1B7F3A"/>
                          </a:solidFill>
                          <a:latin typeface="Arial"/>
                        </a:rPr>
                        <a:t>6,142</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13</a:t>
                      </a:r>
                    </a:p>
                  </a:txBody>
                  <a:tcPr>
                    <a:solidFill>
                      <a:srgbClr val="F2F2F2"/>
                    </a:solidFill>
                  </a:tcPr>
                </a:tc>
                <a:tc>
                  <a:txBody>
                    <a:bodyPr/>
                    <a:lstStyle/>
                    <a:p>
                      <a:pPr algn="l"/>
                      <a:r>
                        <a:rPr sz="750" b="0" i="0">
                          <a:solidFill>
                            <a:srgbClr val="262626"/>
                          </a:solidFill>
                          <a:latin typeface="Arial"/>
                        </a:rPr>
                        <a:t>Taylor Spivey</a:t>
                      </a:r>
                    </a:p>
                  </a:txBody>
                  <a:tcPr>
                    <a:solidFill>
                      <a:srgbClr val="F2F2F2"/>
                    </a:solidFill>
                  </a:tcPr>
                </a:tc>
                <a:tc>
                  <a:txBody>
                    <a:bodyPr/>
                    <a:lstStyle/>
                    <a:p>
                      <a:pPr algn="ctr"/>
                      <a:r>
                        <a:rPr sz="750" b="1" i="0">
                          <a:solidFill>
                            <a:srgbClr val="262626"/>
                          </a:solidFill>
                          <a:latin typeface="Arial"/>
                        </a:rPr>
                        <a:t>1,795</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3</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598</a:t>
                      </a:r>
                    </a:p>
                  </a:txBody>
                  <a:tcPr>
                    <a:solidFill>
                      <a:srgbClr val="F2F2F2"/>
                    </a:solidFill>
                  </a:tcPr>
                </a:tc>
                <a:tc>
                  <a:txBody>
                    <a:bodyPr/>
                    <a:lstStyle/>
                    <a:p>
                      <a:pPr algn="ctr"/>
                      <a:r>
                        <a:rPr sz="750" b="1" i="0">
                          <a:solidFill>
                            <a:srgbClr val="1B7F3A"/>
                          </a:solidFill>
                          <a:latin typeface="Arial"/>
                        </a:rPr>
                        <a:t>7,180</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15</a:t>
                      </a:r>
                    </a:p>
                  </a:txBody>
                  <a:tcPr>
                    <a:solidFill>
                      <a:srgbClr val="FFFFFF"/>
                    </a:solidFill>
                  </a:tcPr>
                </a:tc>
                <a:tc>
                  <a:txBody>
                    <a:bodyPr/>
                    <a:lstStyle/>
                    <a:p>
                      <a:pPr algn="l"/>
                      <a:r>
                        <a:rPr sz="750" b="0" i="0">
                          <a:solidFill>
                            <a:srgbClr val="262626"/>
                          </a:solidFill>
                          <a:latin typeface="Arial"/>
                        </a:rPr>
                        <a:t>Danielle Orie</a:t>
                      </a:r>
                    </a:p>
                  </a:txBody>
                  <a:tcPr>
                    <a:solidFill>
                      <a:srgbClr val="FFFFFF"/>
                    </a:solidFill>
                  </a:tcPr>
                </a:tc>
                <a:tc>
                  <a:txBody>
                    <a:bodyPr/>
                    <a:lstStyle/>
                    <a:p>
                      <a:pPr algn="ctr"/>
                      <a:r>
                        <a:rPr sz="750" b="1" i="0">
                          <a:solidFill>
                            <a:srgbClr val="262626"/>
                          </a:solidFill>
                          <a:latin typeface="Arial"/>
                        </a:rPr>
                        <a:t>1,646</a:t>
                      </a:r>
                    </a:p>
                  </a:txBody>
                  <a:tcPr>
                    <a:solidFill>
                      <a:srgbClr val="FFFFFF"/>
                    </a:solidFill>
                  </a:tcPr>
                </a:tc>
                <a:tc>
                  <a:txBody>
                    <a:bodyPr/>
                    <a:lstStyle/>
                    <a:p>
                      <a:pPr algn="ctr"/>
                      <a:r>
                        <a:rPr sz="750" b="0" i="0">
                          <a:solidFill>
                            <a:srgbClr val="262626"/>
                          </a:solidFill>
                          <a:latin typeface="Arial"/>
                        </a:rPr>
                        <a:t>5</a:t>
                      </a:r>
                    </a:p>
                  </a:txBody>
                  <a:tcPr>
                    <a:solidFill>
                      <a:srgbClr val="FFFFFF"/>
                    </a:solidFill>
                  </a:tcPr>
                </a:tc>
                <a:tc>
                  <a:txBody>
                    <a:bodyPr/>
                    <a:lstStyle/>
                    <a:p>
                      <a:pPr algn="ctr"/>
                      <a:r>
                        <a:rPr sz="750" b="1" i="0">
                          <a:solidFill>
                            <a:srgbClr val="1B7F3A"/>
                          </a:solidFill>
                          <a:latin typeface="Arial"/>
                        </a:rPr>
                        <a:t>3</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329</a:t>
                      </a:r>
                    </a:p>
                  </a:txBody>
                  <a:tcPr>
                    <a:solidFill>
                      <a:srgbClr val="FFFFFF"/>
                    </a:solidFill>
                  </a:tcPr>
                </a:tc>
                <a:tc>
                  <a:txBody>
                    <a:bodyPr/>
                    <a:lstStyle/>
                    <a:p>
                      <a:pPr algn="ctr"/>
                      <a:r>
                        <a:rPr sz="750" b="1" i="0">
                          <a:solidFill>
                            <a:srgbClr val="1B7F3A"/>
                          </a:solidFill>
                          <a:latin typeface="Arial"/>
                        </a:rPr>
                        <a:t>3,951</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16</a:t>
                      </a:r>
                    </a:p>
                  </a:txBody>
                  <a:tcPr>
                    <a:solidFill>
                      <a:srgbClr val="F2F2F2"/>
                    </a:solidFill>
                  </a:tcPr>
                </a:tc>
                <a:tc>
                  <a:txBody>
                    <a:bodyPr/>
                    <a:lstStyle/>
                    <a:p>
                      <a:pPr algn="l"/>
                      <a:r>
                        <a:rPr sz="750" b="0" i="0">
                          <a:solidFill>
                            <a:srgbClr val="262626"/>
                          </a:solidFill>
                          <a:latin typeface="Arial"/>
                        </a:rPr>
                        <a:t>Gina Sereno</a:t>
                      </a:r>
                    </a:p>
                  </a:txBody>
                  <a:tcPr>
                    <a:solidFill>
                      <a:srgbClr val="F2F2F2"/>
                    </a:solidFill>
                  </a:tcPr>
                </a:tc>
                <a:tc>
                  <a:txBody>
                    <a:bodyPr/>
                    <a:lstStyle/>
                    <a:p>
                      <a:pPr algn="ctr"/>
                      <a:r>
                        <a:rPr sz="750" b="1" i="0">
                          <a:solidFill>
                            <a:srgbClr val="262626"/>
                          </a:solidFill>
                          <a:latin typeface="Arial"/>
                        </a:rPr>
                        <a:t>1,450</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362</a:t>
                      </a:r>
                    </a:p>
                  </a:txBody>
                  <a:tcPr>
                    <a:solidFill>
                      <a:srgbClr val="F2F2F2"/>
                    </a:solidFill>
                  </a:tcPr>
                </a:tc>
                <a:tc>
                  <a:txBody>
                    <a:bodyPr/>
                    <a:lstStyle/>
                    <a:p>
                      <a:pPr algn="ctr"/>
                      <a:r>
                        <a:rPr sz="750" b="1" i="0">
                          <a:solidFill>
                            <a:srgbClr val="1B7F3A"/>
                          </a:solidFill>
                          <a:latin typeface="Arial"/>
                        </a:rPr>
                        <a:t>4,351</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28</a:t>
                      </a:r>
                    </a:p>
                  </a:txBody>
                  <a:tcPr>
                    <a:solidFill>
                      <a:srgbClr val="FFFFFF"/>
                    </a:solidFill>
                  </a:tcPr>
                </a:tc>
                <a:tc>
                  <a:txBody>
                    <a:bodyPr/>
                    <a:lstStyle/>
                    <a:p>
                      <a:pPr algn="l"/>
                      <a:r>
                        <a:rPr sz="750" b="0" i="0">
                          <a:solidFill>
                            <a:srgbClr val="262626"/>
                          </a:solidFill>
                          <a:latin typeface="Arial"/>
                        </a:rPr>
                        <a:t>Kelly Wetteland</a:t>
                      </a:r>
                    </a:p>
                  </a:txBody>
                  <a:tcPr>
                    <a:solidFill>
                      <a:srgbClr val="FFFFFF"/>
                    </a:solidFill>
                  </a:tcPr>
                </a:tc>
                <a:tc>
                  <a:txBody>
                    <a:bodyPr/>
                    <a:lstStyle/>
                    <a:p>
                      <a:pPr algn="ctr"/>
                      <a:r>
                        <a:rPr sz="750" b="1" i="0">
                          <a:solidFill>
                            <a:srgbClr val="262626"/>
                          </a:solidFill>
                          <a:latin typeface="Arial"/>
                        </a:rPr>
                        <a:t>925</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462</a:t>
                      </a:r>
                    </a:p>
                  </a:txBody>
                  <a:tcPr>
                    <a:solidFill>
                      <a:srgbClr val="FFFFFF"/>
                    </a:solidFill>
                  </a:tcPr>
                </a:tc>
                <a:tc>
                  <a:txBody>
                    <a:bodyPr/>
                    <a:lstStyle/>
                    <a:p>
                      <a:pPr algn="ctr"/>
                      <a:r>
                        <a:rPr sz="750" b="1" i="0">
                          <a:solidFill>
                            <a:srgbClr val="1B7F3A"/>
                          </a:solidFill>
                          <a:latin typeface="Arial"/>
                        </a:rPr>
                        <a:t>5,550</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32</a:t>
                      </a:r>
                    </a:p>
                  </a:txBody>
                  <a:tcPr>
                    <a:solidFill>
                      <a:srgbClr val="F2F2F2"/>
                    </a:solidFill>
                  </a:tcPr>
                </a:tc>
                <a:tc>
                  <a:txBody>
                    <a:bodyPr/>
                    <a:lstStyle/>
                    <a:p>
                      <a:pPr algn="l"/>
                      <a:r>
                        <a:rPr sz="750" b="0" i="0">
                          <a:solidFill>
                            <a:srgbClr val="262626"/>
                          </a:solidFill>
                          <a:latin typeface="Arial"/>
                        </a:rPr>
                        <a:t>Naomi Ruff</a:t>
                      </a:r>
                    </a:p>
                  </a:txBody>
                  <a:tcPr>
                    <a:solidFill>
                      <a:srgbClr val="F2F2F2"/>
                    </a:solidFill>
                  </a:tcPr>
                </a:tc>
                <a:tc>
                  <a:txBody>
                    <a:bodyPr/>
                    <a:lstStyle/>
                    <a:p>
                      <a:pPr algn="ctr"/>
                      <a:r>
                        <a:rPr sz="750" b="1" i="0">
                          <a:solidFill>
                            <a:srgbClr val="262626"/>
                          </a:solidFill>
                          <a:latin typeface="Arial"/>
                        </a:rPr>
                        <a:t>882</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294</a:t>
                      </a:r>
                    </a:p>
                  </a:txBody>
                  <a:tcPr>
                    <a:solidFill>
                      <a:srgbClr val="F2F2F2"/>
                    </a:solidFill>
                  </a:tcPr>
                </a:tc>
                <a:tc>
                  <a:txBody>
                    <a:bodyPr/>
                    <a:lstStyle/>
                    <a:p>
                      <a:pPr algn="ctr"/>
                      <a:r>
                        <a:rPr sz="750" b="1" i="0">
                          <a:solidFill>
                            <a:srgbClr val="262626"/>
                          </a:solidFill>
                          <a:latin typeface="Arial"/>
                        </a:rPr>
                        <a:t>3,530</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45</a:t>
                      </a:r>
                    </a:p>
                  </a:txBody>
                  <a:tcPr>
                    <a:solidFill>
                      <a:srgbClr val="FFFFFF"/>
                    </a:solidFill>
                  </a:tcPr>
                </a:tc>
                <a:tc>
                  <a:txBody>
                    <a:bodyPr/>
                    <a:lstStyle/>
                    <a:p>
                      <a:pPr algn="l"/>
                      <a:r>
                        <a:rPr sz="750" b="0" i="0">
                          <a:solidFill>
                            <a:srgbClr val="262626"/>
                          </a:solidFill>
                          <a:latin typeface="Arial"/>
                        </a:rPr>
                        <a:t>Erika Ackerlund</a:t>
                      </a:r>
                    </a:p>
                  </a:txBody>
                  <a:tcPr>
                    <a:solidFill>
                      <a:srgbClr val="FFFFFF"/>
                    </a:solidFill>
                  </a:tcPr>
                </a:tc>
                <a:tc>
                  <a:txBody>
                    <a:bodyPr/>
                    <a:lstStyle/>
                    <a:p>
                      <a:pPr algn="ctr"/>
                      <a:r>
                        <a:rPr sz="750" b="1" i="0">
                          <a:solidFill>
                            <a:srgbClr val="262626"/>
                          </a:solidFill>
                          <a:latin typeface="Arial"/>
                        </a:rPr>
                        <a:t>720</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240</a:t>
                      </a:r>
                    </a:p>
                  </a:txBody>
                  <a:tcPr>
                    <a:solidFill>
                      <a:srgbClr val="FFFFFF"/>
                    </a:solidFill>
                  </a:tcPr>
                </a:tc>
                <a:tc>
                  <a:txBody>
                    <a:bodyPr/>
                    <a:lstStyle/>
                    <a:p>
                      <a:pPr algn="ctr"/>
                      <a:r>
                        <a:rPr sz="750" b="1" i="0">
                          <a:solidFill>
                            <a:srgbClr val="262626"/>
                          </a:solidFill>
                          <a:latin typeface="Arial"/>
                        </a:rPr>
                        <a:t>2,882</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56</a:t>
                      </a:r>
                    </a:p>
                  </a:txBody>
                  <a:tcPr>
                    <a:solidFill>
                      <a:srgbClr val="F2F2F2"/>
                    </a:solidFill>
                  </a:tcPr>
                </a:tc>
                <a:tc>
                  <a:txBody>
                    <a:bodyPr/>
                    <a:lstStyle/>
                    <a:p>
                      <a:pPr algn="l"/>
                      <a:r>
                        <a:rPr sz="750" b="0" i="0">
                          <a:solidFill>
                            <a:srgbClr val="262626"/>
                          </a:solidFill>
                          <a:latin typeface="Arial"/>
                        </a:rPr>
                        <a:t>Eleanor Beveridge</a:t>
                      </a:r>
                    </a:p>
                  </a:txBody>
                  <a:tcPr>
                    <a:solidFill>
                      <a:srgbClr val="F2F2F2"/>
                    </a:solidFill>
                  </a:tcPr>
                </a:tc>
                <a:tc>
                  <a:txBody>
                    <a:bodyPr/>
                    <a:lstStyle/>
                    <a:p>
                      <a:pPr algn="ctr"/>
                      <a:r>
                        <a:rPr sz="750" b="1" i="0">
                          <a:solidFill>
                            <a:srgbClr val="262626"/>
                          </a:solidFill>
                          <a:latin typeface="Arial"/>
                        </a:rPr>
                        <a:t>567</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3</a:t>
                      </a:r>
                    </a:p>
                  </a:txBody>
                  <a:tcPr>
                    <a:solidFill>
                      <a:srgbClr val="F2F2F2"/>
                    </a:solidFill>
                  </a:tcPr>
                </a:tc>
                <a:tc>
                  <a:txBody>
                    <a:bodyPr/>
                    <a:lstStyle/>
                    <a:p>
                      <a:pPr algn="ctr"/>
                      <a:r>
                        <a:rPr sz="750" b="0" i="0">
                          <a:solidFill>
                            <a:srgbClr val="262626"/>
                          </a:solidFill>
                          <a:latin typeface="Arial"/>
                        </a:rPr>
                        <a:t>189</a:t>
                      </a:r>
                    </a:p>
                  </a:txBody>
                  <a:tcPr>
                    <a:solidFill>
                      <a:srgbClr val="F2F2F2"/>
                    </a:solidFill>
                  </a:tcPr>
                </a:tc>
                <a:tc>
                  <a:txBody>
                    <a:bodyPr/>
                    <a:lstStyle/>
                    <a:p>
                      <a:pPr algn="ctr"/>
                      <a:r>
                        <a:rPr sz="750" b="1" i="0">
                          <a:solidFill>
                            <a:srgbClr val="262626"/>
                          </a:solidFill>
                          <a:latin typeface="Arial"/>
                        </a:rPr>
                        <a:t>2,269</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58</a:t>
                      </a:r>
                    </a:p>
                  </a:txBody>
                  <a:tcPr>
                    <a:solidFill>
                      <a:srgbClr val="FFFFFF"/>
                    </a:solidFill>
                  </a:tcPr>
                </a:tc>
                <a:tc>
                  <a:txBody>
                    <a:bodyPr/>
                    <a:lstStyle/>
                    <a:p>
                      <a:pPr algn="l"/>
                      <a:r>
                        <a:rPr sz="750" b="0" i="0">
                          <a:solidFill>
                            <a:srgbClr val="262626"/>
                          </a:solidFill>
                          <a:latin typeface="Arial"/>
                        </a:rPr>
                        <a:t>Gwen Jorgensen</a:t>
                      </a:r>
                    </a:p>
                  </a:txBody>
                  <a:tcPr>
                    <a:solidFill>
                      <a:srgbClr val="FFFFFF"/>
                    </a:solidFill>
                  </a:tcPr>
                </a:tc>
                <a:tc>
                  <a:txBody>
                    <a:bodyPr/>
                    <a:lstStyle/>
                    <a:p>
                      <a:pPr algn="ctr"/>
                      <a:r>
                        <a:rPr sz="750" b="1" i="0">
                          <a:solidFill>
                            <a:srgbClr val="262626"/>
                          </a:solidFill>
                          <a:latin typeface="Arial"/>
                        </a:rPr>
                        <a:t>556</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278</a:t>
                      </a:r>
                    </a:p>
                  </a:txBody>
                  <a:tcPr>
                    <a:solidFill>
                      <a:srgbClr val="FFFFFF"/>
                    </a:solidFill>
                  </a:tcPr>
                </a:tc>
                <a:tc>
                  <a:txBody>
                    <a:bodyPr/>
                    <a:lstStyle/>
                    <a:p>
                      <a:pPr algn="ctr"/>
                      <a:r>
                        <a:rPr sz="750" b="1" i="0">
                          <a:solidFill>
                            <a:srgbClr val="262626"/>
                          </a:solidFill>
                          <a:latin typeface="Arial"/>
                        </a:rPr>
                        <a:t>3,337</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91</a:t>
                      </a:r>
                    </a:p>
                  </a:txBody>
                  <a:tcPr>
                    <a:solidFill>
                      <a:srgbClr val="F2F2F2"/>
                    </a:solidFill>
                  </a:tcPr>
                </a:tc>
                <a:tc>
                  <a:txBody>
                    <a:bodyPr/>
                    <a:lstStyle/>
                    <a:p>
                      <a:pPr algn="l"/>
                      <a:r>
                        <a:rPr sz="750" b="0" i="0">
                          <a:solidFill>
                            <a:srgbClr val="262626"/>
                          </a:solidFill>
                          <a:latin typeface="Arial"/>
                        </a:rPr>
                        <a:t>Rachel Werking</a:t>
                      </a:r>
                    </a:p>
                  </a:txBody>
                  <a:tcPr>
                    <a:solidFill>
                      <a:srgbClr val="F2F2F2"/>
                    </a:solidFill>
                  </a:tcPr>
                </a:tc>
                <a:tc>
                  <a:txBody>
                    <a:bodyPr/>
                    <a:lstStyle/>
                    <a:p>
                      <a:pPr algn="ctr"/>
                      <a:r>
                        <a:rPr sz="750" b="1" i="0">
                          <a:solidFill>
                            <a:srgbClr val="262626"/>
                          </a:solidFill>
                          <a:latin typeface="Arial"/>
                        </a:rPr>
                        <a:t>271</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135</a:t>
                      </a:r>
                    </a:p>
                  </a:txBody>
                  <a:tcPr>
                    <a:solidFill>
                      <a:srgbClr val="F2F2F2"/>
                    </a:solidFill>
                  </a:tcPr>
                </a:tc>
                <a:tc>
                  <a:txBody>
                    <a:bodyPr/>
                    <a:lstStyle/>
                    <a:p>
                      <a:pPr algn="ctr"/>
                      <a:r>
                        <a:rPr sz="750" b="1" i="0">
                          <a:solidFill>
                            <a:srgbClr val="262626"/>
                          </a:solidFill>
                          <a:latin typeface="Arial"/>
                        </a:rPr>
                        <a:t>1,629</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110</a:t>
                      </a:r>
                    </a:p>
                  </a:txBody>
                  <a:tcPr>
                    <a:solidFill>
                      <a:srgbClr val="FFFFFF"/>
                    </a:solidFill>
                  </a:tcPr>
                </a:tc>
                <a:tc>
                  <a:txBody>
                    <a:bodyPr/>
                    <a:lstStyle/>
                    <a:p>
                      <a:pPr algn="l"/>
                      <a:r>
                        <a:rPr sz="750" b="0" i="0">
                          <a:solidFill>
                            <a:srgbClr val="262626"/>
                          </a:solidFill>
                          <a:latin typeface="Arial"/>
                        </a:rPr>
                        <a:t>Joy Gill</a:t>
                      </a:r>
                    </a:p>
                  </a:txBody>
                  <a:tcPr>
                    <a:solidFill>
                      <a:srgbClr val="FFFFFF"/>
                    </a:solidFill>
                  </a:tcPr>
                </a:tc>
                <a:tc>
                  <a:txBody>
                    <a:bodyPr/>
                    <a:lstStyle/>
                    <a:p>
                      <a:pPr algn="ctr"/>
                      <a:r>
                        <a:rPr sz="750" b="1" i="0">
                          <a:solidFill>
                            <a:srgbClr val="262626"/>
                          </a:solidFill>
                          <a:latin typeface="Arial"/>
                        </a:rPr>
                        <a:t>200</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100</a:t>
                      </a:r>
                    </a:p>
                  </a:txBody>
                  <a:tcPr>
                    <a:solidFill>
                      <a:srgbClr val="FFFFFF"/>
                    </a:solidFill>
                  </a:tcPr>
                </a:tc>
                <a:tc>
                  <a:txBody>
                    <a:bodyPr/>
                    <a:lstStyle/>
                    <a:p>
                      <a:pPr algn="ctr"/>
                      <a:r>
                        <a:rPr sz="750" b="1" i="0">
                          <a:solidFill>
                            <a:srgbClr val="262626"/>
                          </a:solidFill>
                          <a:latin typeface="Arial"/>
                        </a:rPr>
                        <a:t>1,203</a:t>
                      </a:r>
                    </a:p>
                  </a:txBody>
                  <a:tcPr>
                    <a:solidFill>
                      <a:srgbClr val="FFFFFF"/>
                    </a:solidFill>
                  </a:tcPr>
                </a:tc>
                <a:extLst>
                  <a:ext uri="{0D108BD9-81ED-4DB2-BD59-A6C34878D82A}">
                    <a16:rowId xmlns:a16="http://schemas.microsoft.com/office/drawing/2014/main" val="10011"/>
                  </a:ext>
                </a:extLst>
              </a:tr>
            </a:tbl>
          </a:graphicData>
        </a:graphic>
      </p:graphicFrame>
      <p:sp>
        <p:nvSpPr>
          <p:cNvPr id="20" name="TextBox 19"/>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On = events scoring ≥ pace.  Off = events &lt; pace.  Pace = total breakdown pts ÷ events raced.  Proj @12 = current total + (avg pts × remaining events to cap); green if ≥ Paris cutoff.  Cutoff estimate: Paris 2024 = 3,627 pts / 12 events = 302 pts/event.  Tier positions use a geometric 0.925 points model.  Source: World Triathlon rankings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KARLOVY VARY</a:t>
            </a:r>
          </a:p>
        </p:txBody>
      </p:sp>
      <p:sp>
        <p:nvSpPr>
          <p:cNvPr id="10" name="TextBox 9"/>
          <p:cNvSpPr txBox="1"/>
          <p:nvPr/>
        </p:nvSpPr>
        <p:spPr>
          <a:xfrm>
            <a:off x="274320" y="1508760"/>
            <a:ext cx="6400800" cy="3785652"/>
          </a:xfrm>
          <a:prstGeom prst="rect">
            <a:avLst/>
          </a:prstGeom>
          <a:noFill/>
        </p:spPr>
        <p:txBody>
          <a:bodyPr wrap="square">
            <a:spAutoFit/>
          </a:bodyPr>
          <a:lstStyle/>
          <a:p>
            <a:pPr algn="l"/>
            <a:r>
              <a:rPr sz="1600" b="0" i="0" dirty="0">
                <a:solidFill>
                  <a:srgbClr val="262626"/>
                </a:solidFill>
                <a:latin typeface="Arial"/>
              </a:rPr>
              <a:t>The Elite Men race at Karlovy Vary has been held 10 times in this analysis window (2016–2025). The event </a:t>
            </a:r>
            <a:r>
              <a:rPr lang="en-US" sz="1600" b="0" i="0" dirty="0">
                <a:solidFill>
                  <a:srgbClr val="262626"/>
                </a:solidFill>
                <a:latin typeface="Arial"/>
              </a:rPr>
              <a:t>was previously </a:t>
            </a:r>
            <a:r>
              <a:rPr sz="1600" b="0" i="0" dirty="0">
                <a:solidFill>
                  <a:srgbClr val="262626"/>
                </a:solidFill>
                <a:latin typeface="Arial"/>
              </a:rPr>
              <a:t>part of the Continental Cup / World Cup calendar</a:t>
            </a:r>
            <a:r>
              <a:rPr lang="en-US" sz="1600" b="0" i="0" dirty="0">
                <a:solidFill>
                  <a:srgbClr val="262626"/>
                </a:solidFill>
                <a:latin typeface="Arial"/>
              </a:rPr>
              <a:t> until being added to the series in 2025. </a:t>
            </a:r>
          </a:p>
          <a:p>
            <a:pPr algn="l"/>
            <a:endParaRPr lang="en-US" sz="1600" dirty="0">
              <a:solidFill>
                <a:srgbClr val="262626"/>
              </a:solidFill>
              <a:latin typeface="Arial"/>
            </a:endParaRPr>
          </a:p>
          <a:p>
            <a:pPr algn="l"/>
            <a:r>
              <a:rPr lang="en-US" sz="1600" b="0" i="0" dirty="0">
                <a:solidFill>
                  <a:srgbClr val="262626"/>
                </a:solidFill>
                <a:latin typeface="Arial"/>
              </a:rPr>
              <a:t>Last year, Henry Graf was able to leverage his strong bike skills to break up the field and separate himself from the strong runners which ultimately resulted in him holding off Hidalgo for the win. </a:t>
            </a:r>
          </a:p>
          <a:p>
            <a:pPr algn="l"/>
            <a:endParaRPr lang="en-US" sz="1600" dirty="0">
              <a:solidFill>
                <a:srgbClr val="262626"/>
              </a:solidFill>
              <a:latin typeface="Arial"/>
            </a:endParaRPr>
          </a:p>
          <a:p>
            <a:pPr algn="l"/>
            <a:r>
              <a:rPr lang="en-US" sz="1600" b="0" i="0" dirty="0">
                <a:solidFill>
                  <a:srgbClr val="262626"/>
                </a:solidFill>
                <a:latin typeface="Arial"/>
              </a:rPr>
              <a:t>Athletes competing this year should again expect the strong swim/bikers to leverage a technical swim and hilly bike course to break the field up and make this one of the hardest races on the circuit. Don’t be surprised if a quarter of the field doesn’t make it to the finish. 15 athletes were either lapped out or </a:t>
            </a:r>
            <a:r>
              <a:rPr lang="en-US" sz="1600" b="0" i="0" dirty="0" err="1">
                <a:solidFill>
                  <a:srgbClr val="262626"/>
                </a:solidFill>
                <a:latin typeface="Arial"/>
              </a:rPr>
              <a:t>DNF’d</a:t>
            </a:r>
            <a:r>
              <a:rPr lang="en-US" sz="1600" b="0" i="0" dirty="0">
                <a:solidFill>
                  <a:srgbClr val="262626"/>
                </a:solidFill>
                <a:latin typeface="Arial"/>
              </a:rPr>
              <a:t> in last years race, confirming the difficulty of the course</a:t>
            </a:r>
            <a:r>
              <a:rPr lang="en-US" sz="1600" b="0" i="0">
                <a:solidFill>
                  <a:srgbClr val="262626"/>
                </a:solidFill>
                <a:latin typeface="Arial"/>
              </a:rPr>
              <a:t>. </a:t>
            </a:r>
            <a:endParaRPr sz="1600" b="0" i="0" dirty="0">
              <a:solidFill>
                <a:srgbClr val="262626"/>
              </a:solidFill>
              <a:latin typeface="Arial"/>
            </a:endParaRP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384995"/>
          </a:xfrm>
          <a:prstGeom prst="rect">
            <a:avLst/>
          </a:prstGeom>
          <a:noFill/>
        </p:spPr>
        <p:txBody>
          <a:bodyPr wrap="square">
            <a:spAutoFit/>
          </a:bodyPr>
          <a:lstStyle/>
          <a:p>
            <a:pPr algn="l"/>
            <a:r>
              <a:rPr lang="en-US" sz="1200" b="0" i="0" dirty="0">
                <a:solidFill>
                  <a:srgbClr val="262626"/>
                </a:solidFill>
                <a:latin typeface="Arial"/>
              </a:rPr>
              <a:t>Course was short was year with the average time for the standard distance at 15:58. However when the course was on the Worl</a:t>
            </a:r>
            <a:r>
              <a:rPr lang="en-US" sz="1200" dirty="0">
                <a:solidFill>
                  <a:srgbClr val="262626"/>
                </a:solidFill>
                <a:latin typeface="Arial"/>
              </a:rPr>
              <a:t>d Cup circuit, the technical nature navigating the islands and </a:t>
            </a:r>
            <a:r>
              <a:rPr lang="en-US" sz="1200" dirty="0" err="1">
                <a:solidFill>
                  <a:srgbClr val="262626"/>
                </a:solidFill>
                <a:latin typeface="Arial"/>
              </a:rPr>
              <a:t>Auzzie</a:t>
            </a:r>
            <a:r>
              <a:rPr lang="en-US" sz="1200" dirty="0">
                <a:solidFill>
                  <a:srgbClr val="262626"/>
                </a:solidFill>
                <a:latin typeface="Arial"/>
              </a:rPr>
              <a:t> exit often strung out the field and resulted in less than 10 athletes coming out near the leader. Expect for strong swimmers to get out and try to break the pack before lap 1 ends. </a:t>
            </a:r>
            <a:endParaRPr sz="1200" b="0" i="0" dirty="0">
              <a:solidFill>
                <a:srgbClr val="262626"/>
              </a:solidFill>
              <a:latin typeface="Arial"/>
            </a:endParaRP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200329"/>
          </a:xfrm>
          <a:prstGeom prst="rect">
            <a:avLst/>
          </a:prstGeom>
          <a:noFill/>
        </p:spPr>
        <p:txBody>
          <a:bodyPr wrap="square">
            <a:spAutoFit/>
          </a:bodyPr>
          <a:lstStyle/>
          <a:p>
            <a:pPr algn="l"/>
            <a:r>
              <a:rPr lang="en-US" sz="1200" b="0" i="0" dirty="0">
                <a:solidFill>
                  <a:srgbClr val="262626"/>
                </a:solidFill>
                <a:latin typeface="Arial"/>
              </a:rPr>
              <a:t>Since the course has been changed to its current format the pack has often split up because of the hilly and demanding course profile. In the past 3 editions of the race the lead pack was condensed even further to small groups of 3, 5, and 1 riders, respectively. Expect for strong cyclists to attack the group and split the field up. </a:t>
            </a:r>
            <a:endParaRPr sz="1200" b="0" i="0" dirty="0">
              <a:solidFill>
                <a:srgbClr val="262626"/>
              </a:solidFill>
              <a:latin typeface="Arial"/>
            </a:endParaRP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384995"/>
          </a:xfrm>
          <a:prstGeom prst="rect">
            <a:avLst/>
          </a:prstGeom>
          <a:noFill/>
        </p:spPr>
        <p:txBody>
          <a:bodyPr wrap="square">
            <a:spAutoFit/>
          </a:bodyPr>
          <a:lstStyle/>
          <a:p>
            <a:pPr algn="l"/>
            <a:r>
              <a:rPr lang="en-US" sz="1200" b="0" i="0" dirty="0">
                <a:solidFill>
                  <a:srgbClr val="262626"/>
                </a:solidFill>
                <a:latin typeface="Arial"/>
              </a:rPr>
              <a:t>With the race being a WTCS last year and a slight course change, the 10K times were significantly faster than in previous years. Despite the difficult bike leg, average run times from 2025 were very similar to Yokohama with the difference from the two races only 1 second apart. Thus, if you can manage the hills on the bike, the flat run course should still suit fast runners the opportunity to close on the field.</a:t>
            </a:r>
            <a:endParaRPr sz="1200" b="0" i="0" dirty="0">
              <a:solidFill>
                <a:srgbClr val="262626"/>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3867816215"/>
              </p:ext>
            </p:extLst>
          </p:nvPr>
        </p:nvGraphicFramePr>
        <p:xfrm>
          <a:off x="274320" y="1143000"/>
          <a:ext cx="11640307" cy="5240760"/>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669170">
                  <a:extLst>
                    <a:ext uri="{9D8B030D-6E8A-4147-A177-3AD203B41FA5}">
                      <a16:colId xmlns:a16="http://schemas.microsoft.com/office/drawing/2014/main" val="20002"/>
                    </a:ext>
                  </a:extLst>
                </a:gridCol>
                <a:gridCol w="799986">
                  <a:extLst>
                    <a:ext uri="{9D8B030D-6E8A-4147-A177-3AD203B41FA5}">
                      <a16:colId xmlns:a16="http://schemas.microsoft.com/office/drawing/2014/main" val="20003"/>
                    </a:ext>
                  </a:extLst>
                </a:gridCol>
                <a:gridCol w="1060564">
                  <a:extLst>
                    <a:ext uri="{9D8B030D-6E8A-4147-A177-3AD203B41FA5}">
                      <a16:colId xmlns:a16="http://schemas.microsoft.com/office/drawing/2014/main" val="20004"/>
                    </a:ext>
                  </a:extLst>
                </a:gridCol>
                <a:gridCol w="17109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680055">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dirty="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455945">
                <a:tc>
                  <a:txBody>
                    <a:bodyPr/>
                    <a:lstStyle/>
                    <a:p>
                      <a:pPr algn="ctr"/>
                      <a:r>
                        <a:rPr sz="1400" b="0" i="0">
                          <a:solidFill>
                            <a:srgbClr val="262626"/>
                          </a:solidFill>
                          <a:latin typeface="Arial"/>
                        </a:rPr>
                        <a:t>2016</a:t>
                      </a:r>
                    </a:p>
                  </a:txBody>
                  <a:tcPr>
                    <a:solidFill>
                      <a:srgbClr val="FFFFFF"/>
                    </a:solidFill>
                  </a:tcPr>
                </a:tc>
                <a:tc>
                  <a:txBody>
                    <a:bodyPr/>
                    <a:lstStyle/>
                    <a:p>
                      <a:pPr algn="ctr"/>
                      <a:r>
                        <a:rPr sz="1400" b="0" i="0">
                          <a:solidFill>
                            <a:srgbClr val="262626"/>
                          </a:solidFill>
                          <a:latin typeface="Arial"/>
                        </a:rPr>
                        <a:t>Aug 28</a:t>
                      </a:r>
                    </a:p>
                  </a:txBody>
                  <a:tcPr>
                    <a:solidFill>
                      <a:srgbClr val="FFFFFF"/>
                    </a:solidFill>
                  </a:tcPr>
                </a:tc>
                <a:tc>
                  <a:txBody>
                    <a:bodyPr/>
                    <a:lstStyle/>
                    <a:p>
                      <a:pPr algn="l"/>
                      <a:r>
                        <a:rPr sz="1200" b="0" i="0">
                          <a:solidFill>
                            <a:srgbClr val="262626"/>
                          </a:solidFill>
                          <a:latin typeface="Arial"/>
                        </a:rPr>
                        <a:t>Continental Cup</a:t>
                      </a:r>
                    </a:p>
                  </a:txBody>
                  <a:tcPr>
                    <a:solidFill>
                      <a:srgbClr val="FFFFFF"/>
                    </a:solidFill>
                  </a:tcPr>
                </a:tc>
                <a:tc>
                  <a:txBody>
                    <a:bodyPr/>
                    <a:lstStyle/>
                    <a:p>
                      <a:pPr algn="ctr"/>
                      <a:r>
                        <a:rPr sz="1400" b="0" i="0">
                          <a:solidFill>
                            <a:srgbClr val="262626"/>
                          </a:solidFill>
                          <a:latin typeface="Arial"/>
                        </a:rPr>
                        <a:t>49</a:t>
                      </a:r>
                    </a:p>
                  </a:txBody>
                  <a:tcPr>
                    <a:solidFill>
                      <a:srgbClr val="FFFFFF"/>
                    </a:solidFill>
                  </a:tcPr>
                </a:tc>
                <a:tc>
                  <a:txBody>
                    <a:bodyPr/>
                    <a:lstStyle/>
                    <a:p>
                      <a:pPr algn="ctr"/>
                      <a:r>
                        <a:rPr sz="1400" b="0" i="0">
                          <a:solidFill>
                            <a:srgbClr val="262626"/>
                          </a:solidFill>
                          <a:latin typeface="Arial"/>
                        </a:rPr>
                        <a:t>24</a:t>
                      </a:r>
                    </a:p>
                  </a:txBody>
                  <a:tcPr>
                    <a:solidFill>
                      <a:srgbClr val="FFFFFF"/>
                    </a:solidFill>
                  </a:tcPr>
                </a:tc>
                <a:tc>
                  <a:txBody>
                    <a:bodyPr/>
                    <a:lstStyle/>
                    <a:p>
                      <a:pPr algn="l"/>
                      <a:r>
                        <a:rPr sz="1400" b="0" i="0">
                          <a:solidFill>
                            <a:srgbClr val="262626"/>
                          </a:solidFill>
                          <a:latin typeface="Arial"/>
                        </a:rPr>
                        <a:t>Brownlee</a:t>
                      </a:r>
                    </a:p>
                  </a:txBody>
                  <a:tcPr>
                    <a:solidFill>
                      <a:srgbClr val="FFFFFF"/>
                    </a:solidFill>
                  </a:tcPr>
                </a:tc>
                <a:tc>
                  <a:txBody>
                    <a:bodyPr/>
                    <a:lstStyle/>
                    <a:p>
                      <a:pPr algn="ctr"/>
                      <a:r>
                        <a:rPr sz="1400" b="0" i="0">
                          <a:solidFill>
                            <a:srgbClr val="262626"/>
                          </a:solidFill>
                          <a:latin typeface="Arial"/>
                        </a:rPr>
                        <a:t>1:50:34</a:t>
                      </a:r>
                    </a:p>
                  </a:txBody>
                  <a:tcPr>
                    <a:solidFill>
                      <a:srgbClr val="FFFFFF"/>
                    </a:solidFill>
                  </a:tcPr>
                </a:tc>
                <a:tc>
                  <a:txBody>
                    <a:bodyPr/>
                    <a:lstStyle/>
                    <a:p>
                      <a:pPr algn="ctr"/>
                      <a:r>
                        <a:rPr sz="1400" b="0" i="0">
                          <a:solidFill>
                            <a:srgbClr val="262626"/>
                          </a:solidFill>
                          <a:latin typeface="Arial"/>
                        </a:rPr>
                        <a:t>25.8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5945">
                <a:tc>
                  <a:txBody>
                    <a:bodyPr/>
                    <a:lstStyle/>
                    <a:p>
                      <a:pPr algn="ctr"/>
                      <a:r>
                        <a:rPr sz="1400" b="0" i="0">
                          <a:solidFill>
                            <a:srgbClr val="262626"/>
                          </a:solidFill>
                          <a:latin typeface="Arial"/>
                        </a:rPr>
                        <a:t>2017</a:t>
                      </a:r>
                    </a:p>
                  </a:txBody>
                  <a:tcPr>
                    <a:solidFill>
                      <a:srgbClr val="F2F2F2"/>
                    </a:solidFill>
                  </a:tcPr>
                </a:tc>
                <a:tc>
                  <a:txBody>
                    <a:bodyPr/>
                    <a:lstStyle/>
                    <a:p>
                      <a:pPr algn="ctr"/>
                      <a:r>
                        <a:rPr sz="1400" b="0" i="0">
                          <a:solidFill>
                            <a:srgbClr val="262626"/>
                          </a:solidFill>
                          <a:latin typeface="Arial"/>
                        </a:rPr>
                        <a:t>Sep 03</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50</a:t>
                      </a:r>
                    </a:p>
                  </a:txBody>
                  <a:tcPr>
                    <a:solidFill>
                      <a:srgbClr val="F2F2F2"/>
                    </a:solidFill>
                  </a:tcPr>
                </a:tc>
                <a:tc>
                  <a:txBody>
                    <a:bodyPr/>
                    <a:lstStyle/>
                    <a:p>
                      <a:pPr algn="ctr"/>
                      <a:r>
                        <a:rPr sz="1400" b="0" i="0">
                          <a:solidFill>
                            <a:srgbClr val="262626"/>
                          </a:solidFill>
                          <a:latin typeface="Arial"/>
                        </a:rPr>
                        <a:t>12</a:t>
                      </a:r>
                    </a:p>
                  </a:txBody>
                  <a:tcPr>
                    <a:solidFill>
                      <a:srgbClr val="F2F2F2"/>
                    </a:solidFill>
                  </a:tcPr>
                </a:tc>
                <a:tc>
                  <a:txBody>
                    <a:bodyPr/>
                    <a:lstStyle/>
                    <a:p>
                      <a:pPr algn="l"/>
                      <a:r>
                        <a:rPr sz="1400" b="0" i="0">
                          <a:solidFill>
                            <a:srgbClr val="262626"/>
                          </a:solidFill>
                          <a:latin typeface="Arial"/>
                        </a:rPr>
                        <a:t>Iden</a:t>
                      </a:r>
                    </a:p>
                  </a:txBody>
                  <a:tcPr>
                    <a:solidFill>
                      <a:srgbClr val="F2F2F2"/>
                    </a:solidFill>
                  </a:tcPr>
                </a:tc>
                <a:tc>
                  <a:txBody>
                    <a:bodyPr/>
                    <a:lstStyle/>
                    <a:p>
                      <a:pPr algn="ctr"/>
                      <a:r>
                        <a:rPr sz="1400" b="0" i="0">
                          <a:solidFill>
                            <a:srgbClr val="262626"/>
                          </a:solidFill>
                          <a:latin typeface="Arial"/>
                        </a:rPr>
                        <a:t>1:49:06</a:t>
                      </a:r>
                    </a:p>
                  </a:txBody>
                  <a:tcPr>
                    <a:solidFill>
                      <a:srgbClr val="F2F2F2"/>
                    </a:solidFill>
                  </a:tcPr>
                </a:tc>
                <a:tc>
                  <a:txBody>
                    <a:bodyPr/>
                    <a:lstStyle/>
                    <a:p>
                      <a:pPr algn="ctr"/>
                      <a:r>
                        <a:rPr sz="1400" b="0" i="0">
                          <a:solidFill>
                            <a:srgbClr val="262626"/>
                          </a:solidFill>
                          <a:latin typeface="Arial"/>
                        </a:rPr>
                        <a:t>14.0</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5945">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Sep 01</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62</a:t>
                      </a:r>
                    </a:p>
                  </a:txBody>
                  <a:tcPr>
                    <a:solidFill>
                      <a:srgbClr val="FFFFFF"/>
                    </a:solidFill>
                  </a:tcPr>
                </a:tc>
                <a:tc>
                  <a:txBody>
                    <a:bodyPr/>
                    <a:lstStyle/>
                    <a:p>
                      <a:pPr algn="ctr"/>
                      <a:r>
                        <a:rPr sz="1400" b="0" i="0">
                          <a:solidFill>
                            <a:srgbClr val="262626"/>
                          </a:solidFill>
                          <a:latin typeface="Arial"/>
                        </a:rPr>
                        <a:t>12</a:t>
                      </a:r>
                    </a:p>
                  </a:txBody>
                  <a:tcPr>
                    <a:solidFill>
                      <a:srgbClr val="FFFFFF"/>
                    </a:solidFill>
                  </a:tcPr>
                </a:tc>
                <a:tc>
                  <a:txBody>
                    <a:bodyPr/>
                    <a:lstStyle/>
                    <a:p>
                      <a:pPr algn="l"/>
                      <a:r>
                        <a:rPr sz="1400" b="0" i="0">
                          <a:solidFill>
                            <a:srgbClr val="262626"/>
                          </a:solidFill>
                          <a:latin typeface="Arial"/>
                        </a:rPr>
                        <a:t>Polyanskiy</a:t>
                      </a:r>
                    </a:p>
                  </a:txBody>
                  <a:tcPr>
                    <a:solidFill>
                      <a:srgbClr val="FFFFFF"/>
                    </a:solidFill>
                  </a:tcPr>
                </a:tc>
                <a:tc>
                  <a:txBody>
                    <a:bodyPr/>
                    <a:lstStyle/>
                    <a:p>
                      <a:pPr algn="ctr"/>
                      <a:r>
                        <a:rPr sz="1400" b="0" i="0">
                          <a:solidFill>
                            <a:srgbClr val="262626"/>
                          </a:solidFill>
                          <a:latin typeface="Arial"/>
                        </a:rPr>
                        <a:t>1:52:22</a:t>
                      </a:r>
                    </a:p>
                  </a:txBody>
                  <a:tcPr>
                    <a:solidFill>
                      <a:srgbClr val="FFFFFF"/>
                    </a:solidFill>
                  </a:tcPr>
                </a:tc>
                <a:tc>
                  <a:txBody>
                    <a:bodyPr/>
                    <a:lstStyle/>
                    <a:p>
                      <a:pPr algn="ctr"/>
                      <a:r>
                        <a:rPr sz="1400" b="0" i="0">
                          <a:solidFill>
                            <a:srgbClr val="262626"/>
                          </a:solidFill>
                          <a:latin typeface="Arial"/>
                        </a:rPr>
                        <a:t>15.8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5945">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Aug 25</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66</a:t>
                      </a:r>
                    </a:p>
                  </a:txBody>
                  <a:tcPr>
                    <a:solidFill>
                      <a:srgbClr val="F2F2F2"/>
                    </a:solidFill>
                  </a:tcPr>
                </a:tc>
                <a:tc>
                  <a:txBody>
                    <a:bodyPr/>
                    <a:lstStyle/>
                    <a:p>
                      <a:pPr algn="ctr"/>
                      <a:r>
                        <a:rPr sz="1400" b="0" i="0">
                          <a:solidFill>
                            <a:srgbClr val="262626"/>
                          </a:solidFill>
                          <a:latin typeface="Arial"/>
                        </a:rPr>
                        <a:t>21</a:t>
                      </a:r>
                    </a:p>
                  </a:txBody>
                  <a:tcPr>
                    <a:solidFill>
                      <a:srgbClr val="F2F2F2"/>
                    </a:solidFill>
                  </a:tcPr>
                </a:tc>
                <a:tc>
                  <a:txBody>
                    <a:bodyPr/>
                    <a:lstStyle/>
                    <a:p>
                      <a:pPr algn="l"/>
                      <a:r>
                        <a:rPr sz="1400" b="0" i="0">
                          <a:solidFill>
                            <a:srgbClr val="262626"/>
                          </a:solidFill>
                          <a:latin typeface="Arial"/>
                        </a:rPr>
                        <a:t>Dickinson</a:t>
                      </a:r>
                    </a:p>
                  </a:txBody>
                  <a:tcPr>
                    <a:solidFill>
                      <a:srgbClr val="F2F2F2"/>
                    </a:solidFill>
                  </a:tcPr>
                </a:tc>
                <a:tc>
                  <a:txBody>
                    <a:bodyPr/>
                    <a:lstStyle/>
                    <a:p>
                      <a:pPr algn="ctr"/>
                      <a:r>
                        <a:rPr sz="1400" b="0" i="0">
                          <a:solidFill>
                            <a:srgbClr val="262626"/>
                          </a:solidFill>
                          <a:latin typeface="Arial"/>
                        </a:rPr>
                        <a:t>1:56:11</a:t>
                      </a:r>
                    </a:p>
                  </a:txBody>
                  <a:tcPr>
                    <a:solidFill>
                      <a:srgbClr val="F2F2F2"/>
                    </a:solidFill>
                  </a:tcPr>
                </a:tc>
                <a:tc>
                  <a:txBody>
                    <a:bodyPr/>
                    <a:lstStyle/>
                    <a:p>
                      <a:pPr algn="ctr"/>
                      <a:r>
                        <a:rPr sz="1400" b="0" i="0">
                          <a:solidFill>
                            <a:srgbClr val="262626"/>
                          </a:solidFill>
                          <a:latin typeface="Arial"/>
                        </a:rPr>
                        <a:t>24.5</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5945">
                <a:tc>
                  <a:txBody>
                    <a:bodyPr/>
                    <a:lstStyle/>
                    <a:p>
                      <a:pPr algn="ctr"/>
                      <a:r>
                        <a:rPr sz="1400" b="0" i="0">
                          <a:solidFill>
                            <a:srgbClr val="262626"/>
                          </a:solidFill>
                          <a:latin typeface="Arial"/>
                        </a:rPr>
                        <a:t>2020</a:t>
                      </a:r>
                    </a:p>
                  </a:txBody>
                  <a:tcPr>
                    <a:solidFill>
                      <a:srgbClr val="FFFFFF"/>
                    </a:solidFill>
                  </a:tcPr>
                </a:tc>
                <a:tc>
                  <a:txBody>
                    <a:bodyPr/>
                    <a:lstStyle/>
                    <a:p>
                      <a:pPr algn="ctr"/>
                      <a:r>
                        <a:rPr sz="1400" b="0" i="0">
                          <a:solidFill>
                            <a:srgbClr val="262626"/>
                          </a:solidFill>
                          <a:latin typeface="Arial"/>
                        </a:rPr>
                        <a:t>Sep 13</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66</a:t>
                      </a:r>
                    </a:p>
                  </a:txBody>
                  <a:tcPr>
                    <a:solidFill>
                      <a:srgbClr val="FFFFFF"/>
                    </a:solidFill>
                  </a:tcPr>
                </a:tc>
                <a:tc>
                  <a:txBody>
                    <a:bodyPr/>
                    <a:lstStyle/>
                    <a:p>
                      <a:pPr algn="ctr"/>
                      <a:r>
                        <a:rPr sz="1400" b="0" i="0">
                          <a:solidFill>
                            <a:srgbClr val="262626"/>
                          </a:solidFill>
                          <a:latin typeface="Arial"/>
                        </a:rPr>
                        <a:t>19</a:t>
                      </a:r>
                    </a:p>
                  </a:txBody>
                  <a:tcPr>
                    <a:solidFill>
                      <a:srgbClr val="FFFFFF"/>
                    </a:solidFill>
                  </a:tcPr>
                </a:tc>
                <a:tc>
                  <a:txBody>
                    <a:bodyPr/>
                    <a:lstStyle/>
                    <a:p>
                      <a:pPr algn="l"/>
                      <a:r>
                        <a:rPr sz="1400" b="0" i="0">
                          <a:solidFill>
                            <a:srgbClr val="262626"/>
                          </a:solidFill>
                          <a:latin typeface="Arial"/>
                        </a:rPr>
                        <a:t>Luis</a:t>
                      </a:r>
                    </a:p>
                  </a:txBody>
                  <a:tcPr>
                    <a:solidFill>
                      <a:srgbClr val="FFFFFF"/>
                    </a:solidFill>
                  </a:tcPr>
                </a:tc>
                <a:tc>
                  <a:txBody>
                    <a:bodyPr/>
                    <a:lstStyle/>
                    <a:p>
                      <a:pPr algn="ctr"/>
                      <a:r>
                        <a:rPr sz="1400" b="0" i="0">
                          <a:solidFill>
                            <a:srgbClr val="262626"/>
                          </a:solidFill>
                          <a:latin typeface="Arial"/>
                        </a:rPr>
                        <a:t>1:52:14</a:t>
                      </a:r>
                    </a:p>
                  </a:txBody>
                  <a:tcPr>
                    <a:solidFill>
                      <a:srgbClr val="FFFFFF"/>
                    </a:solidFill>
                  </a:tcPr>
                </a:tc>
                <a:tc>
                  <a:txBody>
                    <a:bodyPr/>
                    <a:lstStyle/>
                    <a:p>
                      <a:pPr algn="ctr"/>
                      <a:r>
                        <a:rPr sz="1400" b="0" i="0">
                          <a:solidFill>
                            <a:srgbClr val="262626"/>
                          </a:solidFill>
                          <a:latin typeface="Arial"/>
                        </a:rPr>
                        <a:t>21.8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55945">
                <a:tc>
                  <a:txBody>
                    <a:bodyPr/>
                    <a:lstStyle/>
                    <a:p>
                      <a:pPr algn="ctr"/>
                      <a:r>
                        <a:rPr sz="1400" b="0" i="0">
                          <a:solidFill>
                            <a:srgbClr val="262626"/>
                          </a:solidFill>
                          <a:latin typeface="Arial"/>
                        </a:rPr>
                        <a:t>2021</a:t>
                      </a:r>
                    </a:p>
                  </a:txBody>
                  <a:tcPr>
                    <a:solidFill>
                      <a:srgbClr val="F2F2F2"/>
                    </a:solidFill>
                  </a:tcPr>
                </a:tc>
                <a:tc>
                  <a:txBody>
                    <a:bodyPr/>
                    <a:lstStyle/>
                    <a:p>
                      <a:pPr algn="ctr"/>
                      <a:r>
                        <a:rPr sz="1400" b="0" i="0">
                          <a:solidFill>
                            <a:srgbClr val="262626"/>
                          </a:solidFill>
                          <a:latin typeface="Arial"/>
                        </a:rPr>
                        <a:t>Sep 11</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65</a:t>
                      </a:r>
                    </a:p>
                  </a:txBody>
                  <a:tcPr>
                    <a:solidFill>
                      <a:srgbClr val="F2F2F2"/>
                    </a:solidFill>
                  </a:tcPr>
                </a:tc>
                <a:tc>
                  <a:txBody>
                    <a:bodyPr/>
                    <a:lstStyle/>
                    <a:p>
                      <a:pPr algn="ctr"/>
                      <a:r>
                        <a:rPr sz="1400" b="0" i="0">
                          <a:solidFill>
                            <a:srgbClr val="262626"/>
                          </a:solidFill>
                          <a:latin typeface="Arial"/>
                        </a:rPr>
                        <a:t>12</a:t>
                      </a:r>
                    </a:p>
                  </a:txBody>
                  <a:tcPr>
                    <a:solidFill>
                      <a:srgbClr val="F2F2F2"/>
                    </a:solidFill>
                  </a:tcPr>
                </a:tc>
                <a:tc>
                  <a:txBody>
                    <a:bodyPr/>
                    <a:lstStyle/>
                    <a:p>
                      <a:pPr algn="l"/>
                      <a:r>
                        <a:rPr sz="1400" b="0" i="0">
                          <a:solidFill>
                            <a:srgbClr val="262626"/>
                          </a:solidFill>
                          <a:latin typeface="Arial"/>
                        </a:rPr>
                        <a:t>Priester</a:t>
                      </a:r>
                    </a:p>
                  </a:txBody>
                  <a:tcPr>
                    <a:solidFill>
                      <a:srgbClr val="F2F2F2"/>
                    </a:solidFill>
                  </a:tcPr>
                </a:tc>
                <a:tc>
                  <a:txBody>
                    <a:bodyPr/>
                    <a:lstStyle/>
                    <a:p>
                      <a:pPr algn="ctr"/>
                      <a:r>
                        <a:rPr sz="1400" b="0" i="0">
                          <a:solidFill>
                            <a:srgbClr val="262626"/>
                          </a:solidFill>
                          <a:latin typeface="Arial"/>
                        </a:rPr>
                        <a:t>1:53:31</a:t>
                      </a:r>
                    </a:p>
                  </a:txBody>
                  <a:tcPr>
                    <a:solidFill>
                      <a:srgbClr val="F2F2F2"/>
                    </a:solidFill>
                  </a:tcPr>
                </a:tc>
                <a:tc>
                  <a:txBody>
                    <a:bodyPr/>
                    <a:lstStyle/>
                    <a:p>
                      <a:pPr algn="ctr"/>
                      <a:r>
                        <a:rPr sz="1400" b="0" i="0">
                          <a:solidFill>
                            <a:srgbClr val="262626"/>
                          </a:solidFill>
                          <a:latin typeface="Arial"/>
                        </a:rPr>
                        <a:t>18.8</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55945">
                <a:tc>
                  <a:txBody>
                    <a:bodyPr/>
                    <a:lstStyle/>
                    <a:p>
                      <a:pPr algn="ctr"/>
                      <a:r>
                        <a:rPr sz="1400" b="0" i="0">
                          <a:solidFill>
                            <a:srgbClr val="262626"/>
                          </a:solidFill>
                          <a:latin typeface="Arial"/>
                        </a:rPr>
                        <a:t>2022</a:t>
                      </a:r>
                    </a:p>
                  </a:txBody>
                  <a:tcPr>
                    <a:solidFill>
                      <a:srgbClr val="FFFFFF"/>
                    </a:solidFill>
                  </a:tcPr>
                </a:tc>
                <a:tc>
                  <a:txBody>
                    <a:bodyPr/>
                    <a:lstStyle/>
                    <a:p>
                      <a:pPr algn="ctr"/>
                      <a:r>
                        <a:rPr sz="1400" b="0" i="0">
                          <a:solidFill>
                            <a:srgbClr val="262626"/>
                          </a:solidFill>
                          <a:latin typeface="Arial"/>
                        </a:rPr>
                        <a:t>Sep 11</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66</a:t>
                      </a:r>
                    </a:p>
                  </a:txBody>
                  <a:tcPr>
                    <a:solidFill>
                      <a:srgbClr val="FFFFFF"/>
                    </a:solidFill>
                  </a:tcPr>
                </a:tc>
                <a:tc>
                  <a:txBody>
                    <a:bodyPr/>
                    <a:lstStyle/>
                    <a:p>
                      <a:pPr algn="ctr"/>
                      <a:r>
                        <a:rPr sz="1400" b="0" i="0">
                          <a:solidFill>
                            <a:srgbClr val="262626"/>
                          </a:solidFill>
                          <a:latin typeface="Arial"/>
                        </a:rPr>
                        <a:t>15</a:t>
                      </a:r>
                    </a:p>
                  </a:txBody>
                  <a:tcPr>
                    <a:solidFill>
                      <a:srgbClr val="FFFFFF"/>
                    </a:solidFill>
                  </a:tcPr>
                </a:tc>
                <a:tc>
                  <a:txBody>
                    <a:bodyPr/>
                    <a:lstStyle/>
                    <a:p>
                      <a:pPr algn="l"/>
                      <a:r>
                        <a:rPr sz="1400" b="0" i="0">
                          <a:solidFill>
                            <a:srgbClr val="262626"/>
                          </a:solidFill>
                          <a:latin typeface="Arial"/>
                        </a:rPr>
                        <a:t>Lehmann</a:t>
                      </a:r>
                    </a:p>
                  </a:txBody>
                  <a:tcPr>
                    <a:solidFill>
                      <a:srgbClr val="FFFFFF"/>
                    </a:solidFill>
                  </a:tcPr>
                </a:tc>
                <a:tc>
                  <a:txBody>
                    <a:bodyPr/>
                    <a:lstStyle/>
                    <a:p>
                      <a:pPr algn="ctr"/>
                      <a:r>
                        <a:rPr sz="1400" b="0" i="0">
                          <a:solidFill>
                            <a:srgbClr val="262626"/>
                          </a:solidFill>
                          <a:latin typeface="Arial"/>
                        </a:rPr>
                        <a:t>1:51:10</a:t>
                      </a:r>
                    </a:p>
                  </a:txBody>
                  <a:tcPr>
                    <a:solidFill>
                      <a:srgbClr val="FFFFFF"/>
                    </a:solidFill>
                  </a:tcPr>
                </a:tc>
                <a:tc>
                  <a:txBody>
                    <a:bodyPr/>
                    <a:lstStyle/>
                    <a:p>
                      <a:pPr algn="ctr"/>
                      <a:r>
                        <a:rPr sz="1400" b="0" i="0">
                          <a:solidFill>
                            <a:srgbClr val="262626"/>
                          </a:solidFill>
                          <a:latin typeface="Arial"/>
                        </a:rPr>
                        <a:t>16.9</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40.8</a:t>
                      </a:r>
                    </a:p>
                  </a:txBody>
                  <a:tcPr>
                    <a:solidFill>
                      <a:srgbClr val="FFFFFF"/>
                    </a:solidFill>
                  </a:tcPr>
                </a:tc>
                <a:tc>
                  <a:txBody>
                    <a:bodyPr/>
                    <a:lstStyle/>
                    <a:p>
                      <a:pPr algn="ctr"/>
                      <a:r>
                        <a:rPr sz="1400" b="0" i="0">
                          <a:solidFill>
                            <a:srgbClr val="262626"/>
                          </a:solidFill>
                          <a:latin typeface="Arial"/>
                        </a:rPr>
                        <a:t>10.0</a:t>
                      </a:r>
                    </a:p>
                  </a:txBody>
                  <a:tcPr>
                    <a:solidFill>
                      <a:srgbClr val="FFFFFF"/>
                    </a:solidFill>
                  </a:tcPr>
                </a:tc>
                <a:extLst>
                  <a:ext uri="{0D108BD9-81ED-4DB2-BD59-A6C34878D82A}">
                    <a16:rowId xmlns:a16="http://schemas.microsoft.com/office/drawing/2014/main" val="10007"/>
                  </a:ext>
                </a:extLst>
              </a:tr>
              <a:tr h="455945">
                <a:tc>
                  <a:txBody>
                    <a:bodyPr/>
                    <a:lstStyle/>
                    <a:p>
                      <a:pPr algn="ctr"/>
                      <a:r>
                        <a:rPr sz="1400" b="0" i="0">
                          <a:solidFill>
                            <a:srgbClr val="262626"/>
                          </a:solidFill>
                          <a:latin typeface="Arial"/>
                        </a:rPr>
                        <a:t>2023</a:t>
                      </a:r>
                    </a:p>
                  </a:txBody>
                  <a:tcPr>
                    <a:solidFill>
                      <a:srgbClr val="F2F2F2"/>
                    </a:solidFill>
                  </a:tcPr>
                </a:tc>
                <a:tc>
                  <a:txBody>
                    <a:bodyPr/>
                    <a:lstStyle/>
                    <a:p>
                      <a:pPr algn="ctr"/>
                      <a:r>
                        <a:rPr sz="1400" b="0" i="0">
                          <a:solidFill>
                            <a:srgbClr val="262626"/>
                          </a:solidFill>
                          <a:latin typeface="Arial"/>
                        </a:rPr>
                        <a:t>Sep 10</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59</a:t>
                      </a:r>
                    </a:p>
                  </a:txBody>
                  <a:tcPr>
                    <a:solidFill>
                      <a:srgbClr val="F2F2F2"/>
                    </a:solidFill>
                  </a:tcPr>
                </a:tc>
                <a:tc>
                  <a:txBody>
                    <a:bodyPr/>
                    <a:lstStyle/>
                    <a:p>
                      <a:pPr algn="ctr"/>
                      <a:r>
                        <a:rPr sz="1400" b="0" i="0">
                          <a:solidFill>
                            <a:srgbClr val="262626"/>
                          </a:solidFill>
                          <a:latin typeface="Arial"/>
                        </a:rPr>
                        <a:t>20</a:t>
                      </a:r>
                    </a:p>
                  </a:txBody>
                  <a:tcPr>
                    <a:solidFill>
                      <a:srgbClr val="F2F2F2"/>
                    </a:solidFill>
                  </a:tcPr>
                </a:tc>
                <a:tc>
                  <a:txBody>
                    <a:bodyPr/>
                    <a:lstStyle/>
                    <a:p>
                      <a:pPr algn="l"/>
                      <a:r>
                        <a:rPr sz="1400" b="0" i="0">
                          <a:solidFill>
                            <a:srgbClr val="262626"/>
                          </a:solidFill>
                          <a:latin typeface="Arial"/>
                        </a:rPr>
                        <a:t>Pearson</a:t>
                      </a:r>
                    </a:p>
                  </a:txBody>
                  <a:tcPr>
                    <a:solidFill>
                      <a:srgbClr val="F2F2F2"/>
                    </a:solidFill>
                  </a:tcPr>
                </a:tc>
                <a:tc>
                  <a:txBody>
                    <a:bodyPr/>
                    <a:lstStyle/>
                    <a:p>
                      <a:pPr algn="ctr"/>
                      <a:r>
                        <a:rPr sz="1400" b="0" i="0">
                          <a:solidFill>
                            <a:srgbClr val="262626"/>
                          </a:solidFill>
                          <a:latin typeface="Arial"/>
                        </a:rPr>
                        <a:t>1:51:55</a:t>
                      </a:r>
                    </a:p>
                  </a:txBody>
                  <a:tcPr>
                    <a:solidFill>
                      <a:srgbClr val="F2F2F2"/>
                    </a:solidFill>
                  </a:tcPr>
                </a:tc>
                <a:tc>
                  <a:txBody>
                    <a:bodyPr/>
                    <a:lstStyle/>
                    <a:p>
                      <a:pPr algn="ctr"/>
                      <a:r>
                        <a:rPr sz="1400" b="0" i="0">
                          <a:solidFill>
                            <a:srgbClr val="262626"/>
                          </a:solidFill>
                          <a:latin typeface="Arial"/>
                        </a:rPr>
                        <a:t>27</a:t>
                      </a:r>
                    </a:p>
                  </a:txBody>
                  <a:tcPr>
                    <a:solidFill>
                      <a:srgbClr val="F2F2F2"/>
                    </a:solidFill>
                  </a:tcPr>
                </a:tc>
                <a:tc>
                  <a:txBody>
                    <a:bodyPr/>
                    <a:lstStyle/>
                    <a:p>
                      <a:pPr algn="ctr"/>
                      <a:r>
                        <a:rPr sz="1400" b="0" i="0">
                          <a:solidFill>
                            <a:srgbClr val="262626"/>
                          </a:solidFill>
                          <a:latin typeface="Arial"/>
                        </a:rPr>
                        <a:t>19.8</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40.8</a:t>
                      </a:r>
                    </a:p>
                  </a:txBody>
                  <a:tcPr>
                    <a:solidFill>
                      <a:srgbClr val="F2F2F2"/>
                    </a:solidFill>
                  </a:tcPr>
                </a:tc>
                <a:tc>
                  <a:txBody>
                    <a:bodyPr/>
                    <a:lstStyle/>
                    <a:p>
                      <a:pPr algn="ctr"/>
                      <a:r>
                        <a:rPr sz="1400" b="0" i="0">
                          <a:solidFill>
                            <a:srgbClr val="262626"/>
                          </a:solidFill>
                          <a:latin typeface="Arial"/>
                        </a:rPr>
                        <a:t>10.0</a:t>
                      </a:r>
                    </a:p>
                  </a:txBody>
                  <a:tcPr>
                    <a:solidFill>
                      <a:srgbClr val="F2F2F2"/>
                    </a:solidFill>
                  </a:tcPr>
                </a:tc>
                <a:extLst>
                  <a:ext uri="{0D108BD9-81ED-4DB2-BD59-A6C34878D82A}">
                    <a16:rowId xmlns:a16="http://schemas.microsoft.com/office/drawing/2014/main" val="10008"/>
                  </a:ext>
                </a:extLst>
              </a:tr>
              <a:tr h="455945">
                <a:tc>
                  <a:txBody>
                    <a:bodyPr/>
                    <a:lstStyle/>
                    <a:p>
                      <a:pPr algn="ctr"/>
                      <a:r>
                        <a:rPr sz="1400" b="0" i="0">
                          <a:solidFill>
                            <a:srgbClr val="262626"/>
                          </a:solidFill>
                          <a:latin typeface="Arial"/>
                        </a:rPr>
                        <a:t>2024</a:t>
                      </a:r>
                    </a:p>
                  </a:txBody>
                  <a:tcPr>
                    <a:solidFill>
                      <a:srgbClr val="FFFFFF"/>
                    </a:solidFill>
                  </a:tcPr>
                </a:tc>
                <a:tc>
                  <a:txBody>
                    <a:bodyPr/>
                    <a:lstStyle/>
                    <a:p>
                      <a:pPr algn="ctr"/>
                      <a:r>
                        <a:rPr sz="1400" b="0" i="0">
                          <a:solidFill>
                            <a:srgbClr val="262626"/>
                          </a:solidFill>
                          <a:latin typeface="Arial"/>
                        </a:rPr>
                        <a:t>Sep 08</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52</a:t>
                      </a:r>
                    </a:p>
                  </a:txBody>
                  <a:tcPr>
                    <a:solidFill>
                      <a:srgbClr val="FFFFFF"/>
                    </a:solidFill>
                  </a:tcPr>
                </a:tc>
                <a:tc>
                  <a:txBody>
                    <a:bodyPr/>
                    <a:lstStyle/>
                    <a:p>
                      <a:pPr algn="ctr"/>
                      <a:r>
                        <a:rPr sz="1400" b="0" i="0">
                          <a:solidFill>
                            <a:srgbClr val="262626"/>
                          </a:solidFill>
                          <a:latin typeface="Arial"/>
                        </a:rPr>
                        <a:t>8</a:t>
                      </a:r>
                    </a:p>
                  </a:txBody>
                  <a:tcPr>
                    <a:solidFill>
                      <a:srgbClr val="FFFFFF"/>
                    </a:solidFill>
                  </a:tcPr>
                </a:tc>
                <a:tc>
                  <a:txBody>
                    <a:bodyPr/>
                    <a:lstStyle/>
                    <a:p>
                      <a:pPr algn="l"/>
                      <a:r>
                        <a:rPr sz="1400" b="0" i="0">
                          <a:solidFill>
                            <a:srgbClr val="262626"/>
                          </a:solidFill>
                          <a:latin typeface="Arial"/>
                        </a:rPr>
                        <a:t>Reed</a:t>
                      </a:r>
                    </a:p>
                  </a:txBody>
                  <a:tcPr>
                    <a:solidFill>
                      <a:srgbClr val="FFFFFF"/>
                    </a:solidFill>
                  </a:tcPr>
                </a:tc>
                <a:tc>
                  <a:txBody>
                    <a:bodyPr/>
                    <a:lstStyle/>
                    <a:p>
                      <a:pPr algn="ctr"/>
                      <a:r>
                        <a:rPr sz="1400" b="0" i="0">
                          <a:solidFill>
                            <a:srgbClr val="262626"/>
                          </a:solidFill>
                          <a:latin typeface="Arial"/>
                        </a:rPr>
                        <a:t>1:54:24</a:t>
                      </a:r>
                    </a:p>
                  </a:txBody>
                  <a:tcPr>
                    <a:solidFill>
                      <a:srgbClr val="FFFFFF"/>
                    </a:solidFill>
                  </a:tcPr>
                </a:tc>
                <a:tc>
                  <a:txBody>
                    <a:bodyPr/>
                    <a:lstStyle/>
                    <a:p>
                      <a:pPr algn="ctr"/>
                      <a:r>
                        <a:rPr sz="1400" b="0" i="0">
                          <a:solidFill>
                            <a:srgbClr val="262626"/>
                          </a:solidFill>
                          <a:latin typeface="Arial"/>
                        </a:rPr>
                        <a:t>27.5</a:t>
                      </a:r>
                    </a:p>
                  </a:txBody>
                  <a:tcPr>
                    <a:solidFill>
                      <a:srgbClr val="FFFFFF"/>
                    </a:solidFill>
                  </a:tcPr>
                </a:tc>
                <a:tc>
                  <a:txBody>
                    <a:bodyPr/>
                    <a:lstStyle/>
                    <a:p>
                      <a:pPr algn="ctr"/>
                      <a:r>
                        <a:rPr sz="1400" b="0" i="0">
                          <a:solidFill>
                            <a:srgbClr val="262626"/>
                          </a:solidFill>
                          <a:latin typeface="Arial"/>
                        </a:rPr>
                        <a:t>24.9</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40.8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9"/>
                  </a:ext>
                </a:extLst>
              </a:tr>
              <a:tr h="455954">
                <a:tc>
                  <a:txBody>
                    <a:bodyPr/>
                    <a:lstStyle/>
                    <a:p>
                      <a:pPr algn="ctr"/>
                      <a:r>
                        <a:rPr sz="1400" b="0" i="0">
                          <a:solidFill>
                            <a:srgbClr val="262626"/>
                          </a:solidFill>
                          <a:latin typeface="Arial"/>
                        </a:rPr>
                        <a:t>2025</a:t>
                      </a:r>
                    </a:p>
                  </a:txBody>
                  <a:tcPr>
                    <a:solidFill>
                      <a:srgbClr val="F2F2F2"/>
                    </a:solidFill>
                  </a:tcPr>
                </a:tc>
                <a:tc>
                  <a:txBody>
                    <a:bodyPr/>
                    <a:lstStyle/>
                    <a:p>
                      <a:pPr algn="ctr"/>
                      <a:r>
                        <a:rPr sz="1400" b="0" i="0">
                          <a:solidFill>
                            <a:srgbClr val="262626"/>
                          </a:solidFill>
                          <a:latin typeface="Arial"/>
                        </a:rPr>
                        <a:t>Sep 14</a:t>
                      </a:r>
                    </a:p>
                  </a:txBody>
                  <a:tcPr>
                    <a:solidFill>
                      <a:srgbClr val="F2F2F2"/>
                    </a:solidFill>
                  </a:tcPr>
                </a:tc>
                <a:tc>
                  <a:txBody>
                    <a:bodyPr/>
                    <a:lstStyle/>
                    <a:p>
                      <a:pPr algn="l"/>
                      <a:r>
                        <a:rPr sz="1200" b="0" i="0" dirty="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51</a:t>
                      </a:r>
                    </a:p>
                  </a:txBody>
                  <a:tcPr>
                    <a:solidFill>
                      <a:srgbClr val="F2F2F2"/>
                    </a:solidFill>
                  </a:tcPr>
                </a:tc>
                <a:tc>
                  <a:txBody>
                    <a:bodyPr/>
                    <a:lstStyle/>
                    <a:p>
                      <a:pPr algn="ctr"/>
                      <a:r>
                        <a:rPr sz="1400" b="0" i="0">
                          <a:solidFill>
                            <a:srgbClr val="262626"/>
                          </a:solidFill>
                          <a:latin typeface="Arial"/>
                        </a:rPr>
                        <a:t>15</a:t>
                      </a:r>
                    </a:p>
                  </a:txBody>
                  <a:tcPr>
                    <a:solidFill>
                      <a:srgbClr val="F2F2F2"/>
                    </a:solidFill>
                  </a:tcPr>
                </a:tc>
                <a:tc>
                  <a:txBody>
                    <a:bodyPr/>
                    <a:lstStyle/>
                    <a:p>
                      <a:pPr algn="l"/>
                      <a:r>
                        <a:rPr sz="1400" b="0" i="0">
                          <a:solidFill>
                            <a:srgbClr val="262626"/>
                          </a:solidFill>
                          <a:latin typeface="Arial"/>
                        </a:rPr>
                        <a:t>Graf</a:t>
                      </a:r>
                    </a:p>
                  </a:txBody>
                  <a:tcPr>
                    <a:solidFill>
                      <a:srgbClr val="F2F2F2"/>
                    </a:solidFill>
                  </a:tcPr>
                </a:tc>
                <a:tc>
                  <a:txBody>
                    <a:bodyPr/>
                    <a:lstStyle/>
                    <a:p>
                      <a:pPr algn="ctr"/>
                      <a:r>
                        <a:rPr sz="1400" b="0" i="0">
                          <a:solidFill>
                            <a:srgbClr val="262626"/>
                          </a:solidFill>
                          <a:latin typeface="Arial"/>
                        </a:rPr>
                        <a:t>1:49:22</a:t>
                      </a:r>
                    </a:p>
                  </a:txBody>
                  <a:tcPr>
                    <a:solidFill>
                      <a:srgbClr val="F2F2F2"/>
                    </a:solidFill>
                  </a:tcPr>
                </a:tc>
                <a:tc>
                  <a:txBody>
                    <a:bodyPr/>
                    <a:lstStyle/>
                    <a:p>
                      <a:pPr algn="ctr"/>
                      <a:r>
                        <a:rPr sz="1400" b="0" i="0">
                          <a:solidFill>
                            <a:srgbClr val="262626"/>
                          </a:solidFill>
                          <a:latin typeface="Arial"/>
                        </a:rPr>
                        <a:t>19.3</a:t>
                      </a:r>
                    </a:p>
                  </a:txBody>
                  <a:tcPr>
                    <a:solidFill>
                      <a:srgbClr val="F2F2F2"/>
                    </a:solidFill>
                  </a:tcPr>
                </a:tc>
                <a:tc>
                  <a:txBody>
                    <a:bodyPr/>
                    <a:lstStyle/>
                    <a:p>
                      <a:pPr algn="ctr"/>
                      <a:r>
                        <a:rPr sz="1400" b="0" i="0">
                          <a:solidFill>
                            <a:srgbClr val="262626"/>
                          </a:solidFill>
                          <a:latin typeface="Arial"/>
                        </a:rPr>
                        <a:t>18.0</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40.8</a:t>
                      </a:r>
                    </a:p>
                  </a:txBody>
                  <a:tcPr>
                    <a:solidFill>
                      <a:srgbClr val="F2F2F2"/>
                    </a:solidFill>
                  </a:tcPr>
                </a:tc>
                <a:tc>
                  <a:txBody>
                    <a:bodyPr/>
                    <a:lstStyle/>
                    <a:p>
                      <a:pPr algn="ctr"/>
                      <a:r>
                        <a:rPr sz="1400" b="0" i="0" dirty="0">
                          <a:solidFill>
                            <a:srgbClr val="262626"/>
                          </a:solidFill>
                          <a:latin typeface="Arial"/>
                        </a:rPr>
                        <a:t>10.0</a:t>
                      </a:r>
                    </a:p>
                  </a:txBody>
                  <a:tcPr>
                    <a:solidFill>
                      <a:srgbClr val="F2F2F2"/>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1425892" y="1274369"/>
            <a:ext cx="9337168" cy="3007256"/>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4107306870"/>
              </p:ext>
            </p:extLst>
          </p:nvPr>
        </p:nvGraphicFramePr>
        <p:xfrm>
          <a:off x="274320" y="4209796"/>
          <a:ext cx="11640311" cy="24460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20929">
                <a:tc>
                  <a:txBody>
                    <a:bodyPr/>
                    <a:lstStyle/>
                    <a:p>
                      <a:pPr algn="ctr"/>
                      <a:r>
                        <a:rPr sz="950" b="1" i="0">
                          <a:solidFill>
                            <a:srgbClr val="FFFFFF"/>
                          </a:solidFill>
                          <a:latin typeface="Arial"/>
                        </a:rPr>
                        <a:t>Year</a:t>
                      </a:r>
                    </a:p>
                  </a:txBody>
                  <a:tcPr>
                    <a:solidFill>
                      <a:srgbClr val="002060"/>
                    </a:solidFill>
                  </a:tcPr>
                </a:tc>
                <a:tc>
                  <a:txBody>
                    <a:bodyPr/>
                    <a:lstStyle/>
                    <a:p>
                      <a:pPr algn="ctr"/>
                      <a:r>
                        <a:rPr sz="950" b="1" i="0">
                          <a:solidFill>
                            <a:srgbClr val="FFFFFF"/>
                          </a:solidFill>
                          <a:latin typeface="Arial"/>
                        </a:rPr>
                        <a:t>Lead Size @ T1</a:t>
                      </a:r>
                    </a:p>
                  </a:txBody>
                  <a:tcPr>
                    <a:solidFill>
                      <a:srgbClr val="002060"/>
                    </a:solidFill>
                  </a:tcPr>
                </a:tc>
                <a:tc>
                  <a:txBody>
                    <a:bodyPr/>
                    <a:lstStyle/>
                    <a:p>
                      <a:pPr algn="ctr"/>
                      <a:r>
                        <a:rPr sz="950" b="1" i="0">
                          <a:solidFill>
                            <a:srgbClr val="FFFFFF"/>
                          </a:solidFill>
                          <a:latin typeface="Arial"/>
                        </a:rPr>
                        <a:t>Lead Size @ T2</a:t>
                      </a:r>
                    </a:p>
                  </a:txBody>
                  <a:tcPr>
                    <a:solidFill>
                      <a:srgbClr val="002060"/>
                    </a:solidFill>
                  </a:tcPr>
                </a:tc>
                <a:tc>
                  <a:txBody>
                    <a:bodyPr/>
                    <a:lstStyle/>
                    <a:p>
                      <a:pPr algn="ctr"/>
                      <a:r>
                        <a:rPr sz="950" b="1" i="0">
                          <a:solidFill>
                            <a:srgbClr val="FFFFFF"/>
                          </a:solidFill>
                          <a:latin typeface="Arial"/>
                        </a:rPr>
                        <a:t>Change</a:t>
                      </a:r>
                    </a:p>
                  </a:txBody>
                  <a:tcPr>
                    <a:solidFill>
                      <a:srgbClr val="002060"/>
                    </a:solidFill>
                  </a:tcPr>
                </a:tc>
                <a:tc>
                  <a:txBody>
                    <a:bodyPr/>
                    <a:lstStyle/>
                    <a:p>
                      <a:pPr algn="ctr"/>
                      <a:r>
                        <a:rPr sz="950" b="1" i="0">
                          <a:solidFill>
                            <a:srgbClr val="FFFFFF"/>
                          </a:solidFill>
                          <a:latin typeface="Arial"/>
                        </a:rPr>
                        <a:t>Chase Group @ T2</a:t>
                      </a:r>
                    </a:p>
                  </a:txBody>
                  <a:tcPr>
                    <a:solidFill>
                      <a:srgbClr val="002060"/>
                    </a:solidFill>
                  </a:tcPr>
                </a:tc>
                <a:tc>
                  <a:txBody>
                    <a:bodyPr/>
                    <a:lstStyle/>
                    <a:p>
                      <a:pPr algn="ctr"/>
                      <a:r>
                        <a:rPr sz="950" b="1" i="0" dirty="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206675">
                <a:tc>
                  <a:txBody>
                    <a:bodyPr/>
                    <a:lstStyle/>
                    <a:p>
                      <a:pPr algn="ctr"/>
                      <a:r>
                        <a:rPr sz="850" b="0" i="0" dirty="0">
                          <a:solidFill>
                            <a:srgbClr val="262626"/>
                          </a:solidFill>
                          <a:latin typeface="Arial"/>
                        </a:rPr>
                        <a:t>2016</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tc>
                  <a:txBody>
                    <a:bodyPr/>
                    <a:lstStyle/>
                    <a:p>
                      <a:pPr algn="ctr"/>
                      <a:r>
                        <a:rPr sz="850" b="0" i="0">
                          <a:solidFill>
                            <a:srgbClr val="262626"/>
                          </a:solidFill>
                          <a:latin typeface="Arial"/>
                        </a:rPr>
                        <a:t>39s</a:t>
                      </a:r>
                    </a:p>
                  </a:txBody>
                  <a:tcPr>
                    <a:solidFill>
                      <a:srgbClr val="FFFFFF"/>
                    </a:solidFill>
                  </a:tcPr>
                </a:tc>
                <a:extLst>
                  <a:ext uri="{0D108BD9-81ED-4DB2-BD59-A6C34878D82A}">
                    <a16:rowId xmlns:a16="http://schemas.microsoft.com/office/drawing/2014/main" val="10001"/>
                  </a:ext>
                </a:extLst>
              </a:tr>
              <a:tr h="206675">
                <a:tc>
                  <a:txBody>
                    <a:bodyPr/>
                    <a:lstStyle/>
                    <a:p>
                      <a:pPr algn="ctr"/>
                      <a:r>
                        <a:rPr sz="850" b="0" i="0">
                          <a:solidFill>
                            <a:srgbClr val="262626"/>
                          </a:solidFill>
                          <a:latin typeface="Arial"/>
                        </a:rPr>
                        <a:t>2017</a:t>
                      </a:r>
                    </a:p>
                  </a:txBody>
                  <a:tcPr>
                    <a:solidFill>
                      <a:srgbClr val="F2F2F2"/>
                    </a:solidFill>
                  </a:tcPr>
                </a:tc>
                <a:tc>
                  <a:txBody>
                    <a:bodyPr/>
                    <a:lstStyle/>
                    <a:p>
                      <a:pPr algn="ctr"/>
                      <a:r>
                        <a:rPr sz="850" b="0" i="0" dirty="0">
                          <a:solidFill>
                            <a:srgbClr val="262626"/>
                          </a:solidFill>
                          <a:latin typeface="Arial"/>
                        </a:rPr>
                        <a:t>5</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28s</a:t>
                      </a:r>
                    </a:p>
                  </a:txBody>
                  <a:tcPr>
                    <a:solidFill>
                      <a:srgbClr val="F2F2F2"/>
                    </a:solidFill>
                  </a:tcPr>
                </a:tc>
                <a:extLst>
                  <a:ext uri="{0D108BD9-81ED-4DB2-BD59-A6C34878D82A}">
                    <a16:rowId xmlns:a16="http://schemas.microsoft.com/office/drawing/2014/main" val="10002"/>
                  </a:ext>
                </a:extLst>
              </a:tr>
              <a:tr h="206675">
                <a:tc>
                  <a:txBody>
                    <a:bodyPr/>
                    <a:lstStyle/>
                    <a:p>
                      <a:pPr algn="ctr"/>
                      <a:r>
                        <a:rPr sz="850" b="0" i="0">
                          <a:solidFill>
                            <a:srgbClr val="262626"/>
                          </a:solidFill>
                          <a:latin typeface="Arial"/>
                        </a:rPr>
                        <a:t>2018</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tc>
                  <a:txBody>
                    <a:bodyPr/>
                    <a:lstStyle/>
                    <a:p>
                      <a:pPr algn="ctr"/>
                      <a:r>
                        <a:rPr sz="850" b="0" i="0" dirty="0">
                          <a:solidFill>
                            <a:srgbClr val="262626"/>
                          </a:solidFill>
                          <a:latin typeface="Arial"/>
                        </a:rPr>
                        <a:t>14</a:t>
                      </a:r>
                    </a:p>
                  </a:txBody>
                  <a:tcPr>
                    <a:solidFill>
                      <a:srgbClr val="FFFFFF"/>
                    </a:solidFill>
                  </a:tcPr>
                </a:tc>
                <a:tc>
                  <a:txBody>
                    <a:bodyPr/>
                    <a:lstStyle/>
                    <a:p>
                      <a:pPr algn="ctr"/>
                      <a:r>
                        <a:rPr sz="850" b="0" i="0">
                          <a:solidFill>
                            <a:srgbClr val="262626"/>
                          </a:solidFill>
                          <a:latin typeface="Arial"/>
                        </a:rPr>
                        <a:t>+13</a:t>
                      </a:r>
                    </a:p>
                  </a:txBody>
                  <a:tcPr>
                    <a:solidFill>
                      <a:srgbClr val="FFFFFF"/>
                    </a:solidFill>
                  </a:tcPr>
                </a:tc>
                <a:tc>
                  <a:txBody>
                    <a:bodyPr/>
                    <a:lstStyle/>
                    <a:p>
                      <a:pPr algn="ctr"/>
                      <a:r>
                        <a:rPr sz="850" b="0" i="0">
                          <a:solidFill>
                            <a:srgbClr val="262626"/>
                          </a:solidFill>
                          <a:latin typeface="Arial"/>
                        </a:rPr>
                        <a:t>12</a:t>
                      </a:r>
                    </a:p>
                  </a:txBody>
                  <a:tcPr>
                    <a:solidFill>
                      <a:srgbClr val="FFFFFF"/>
                    </a:solidFill>
                  </a:tcPr>
                </a:tc>
                <a:tc>
                  <a:txBody>
                    <a:bodyPr/>
                    <a:lstStyle/>
                    <a:p>
                      <a:pPr algn="ctr"/>
                      <a:r>
                        <a:rPr sz="850" b="0" i="0">
                          <a:solidFill>
                            <a:srgbClr val="262626"/>
                          </a:solidFill>
                          <a:latin typeface="Arial"/>
                        </a:rPr>
                        <a:t>36s</a:t>
                      </a:r>
                    </a:p>
                  </a:txBody>
                  <a:tcPr>
                    <a:solidFill>
                      <a:srgbClr val="FFFFFF"/>
                    </a:solidFill>
                  </a:tcPr>
                </a:tc>
                <a:extLst>
                  <a:ext uri="{0D108BD9-81ED-4DB2-BD59-A6C34878D82A}">
                    <a16:rowId xmlns:a16="http://schemas.microsoft.com/office/drawing/2014/main" val="10003"/>
                  </a:ext>
                </a:extLst>
              </a:tr>
              <a:tr h="206675">
                <a:tc>
                  <a:txBody>
                    <a:bodyPr/>
                    <a:lstStyle/>
                    <a:p>
                      <a:pPr algn="ctr"/>
                      <a:r>
                        <a:rPr sz="850" b="0" i="0">
                          <a:solidFill>
                            <a:srgbClr val="262626"/>
                          </a:solidFill>
                          <a:latin typeface="Arial"/>
                        </a:rPr>
                        <a:t>2019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dirty="0">
                          <a:solidFill>
                            <a:srgbClr val="262626"/>
                          </a:solidFill>
                          <a:latin typeface="Arial"/>
                        </a:rPr>
                        <a:t>32</a:t>
                      </a:r>
                    </a:p>
                  </a:txBody>
                  <a:tcPr>
                    <a:solidFill>
                      <a:srgbClr val="F2F2F2"/>
                    </a:solidFill>
                  </a:tcPr>
                </a:tc>
                <a:tc>
                  <a:txBody>
                    <a:bodyPr/>
                    <a:lstStyle/>
                    <a:p>
                      <a:pPr algn="ctr"/>
                      <a:r>
                        <a:rPr sz="850" b="0" i="0">
                          <a:solidFill>
                            <a:srgbClr val="262626"/>
                          </a:solidFill>
                          <a:latin typeface="Arial"/>
                        </a:rPr>
                        <a:t>+26</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tc>
                  <a:txBody>
                    <a:bodyPr/>
                    <a:lstStyle/>
                    <a:p>
                      <a:pPr algn="ctr"/>
                      <a:r>
                        <a:rPr sz="850" b="0" i="0">
                          <a:solidFill>
                            <a:srgbClr val="262626"/>
                          </a:solidFill>
                          <a:latin typeface="Arial"/>
                        </a:rPr>
                        <a:t>129s</a:t>
                      </a:r>
                    </a:p>
                  </a:txBody>
                  <a:tcPr>
                    <a:solidFill>
                      <a:srgbClr val="F2F2F2"/>
                    </a:solidFill>
                  </a:tcPr>
                </a:tc>
                <a:extLst>
                  <a:ext uri="{0D108BD9-81ED-4DB2-BD59-A6C34878D82A}">
                    <a16:rowId xmlns:a16="http://schemas.microsoft.com/office/drawing/2014/main" val="10004"/>
                  </a:ext>
                </a:extLst>
              </a:tr>
              <a:tr h="206675">
                <a:tc>
                  <a:txBody>
                    <a:bodyPr/>
                    <a:lstStyle/>
                    <a:p>
                      <a:pPr algn="ctr"/>
                      <a:r>
                        <a:rPr sz="850" b="0" i="0">
                          <a:solidFill>
                            <a:srgbClr val="262626"/>
                          </a:solidFill>
                          <a:latin typeface="Arial"/>
                        </a:rPr>
                        <a:t>2020</a:t>
                      </a:r>
                    </a:p>
                  </a:txBody>
                  <a:tcPr>
                    <a:solidFill>
                      <a:srgbClr val="FFFFFF"/>
                    </a:solidFill>
                  </a:tcPr>
                </a:tc>
                <a:tc>
                  <a:txBody>
                    <a:bodyPr/>
                    <a:lstStyle/>
                    <a:p>
                      <a:pPr algn="ctr"/>
                      <a:r>
                        <a:rPr sz="850" b="0" i="0">
                          <a:solidFill>
                            <a:srgbClr val="262626"/>
                          </a:solidFill>
                          <a:latin typeface="Arial"/>
                        </a:rPr>
                        <a:t>9</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tc>
                  <a:txBody>
                    <a:bodyPr/>
                    <a:lstStyle/>
                    <a:p>
                      <a:pPr algn="ctr"/>
                      <a:r>
                        <a:rPr sz="850" b="0" i="0">
                          <a:solidFill>
                            <a:srgbClr val="262626"/>
                          </a:solidFill>
                          <a:latin typeface="Arial"/>
                        </a:rPr>
                        <a:t>24s</a:t>
                      </a:r>
                    </a:p>
                  </a:txBody>
                  <a:tcPr>
                    <a:solidFill>
                      <a:srgbClr val="FFFFFF"/>
                    </a:solidFill>
                  </a:tcPr>
                </a:tc>
                <a:extLst>
                  <a:ext uri="{0D108BD9-81ED-4DB2-BD59-A6C34878D82A}">
                    <a16:rowId xmlns:a16="http://schemas.microsoft.com/office/drawing/2014/main" val="10005"/>
                  </a:ext>
                </a:extLst>
              </a:tr>
              <a:tr h="206675">
                <a:tc>
                  <a:txBody>
                    <a:bodyPr/>
                    <a:lstStyle/>
                    <a:p>
                      <a:pPr algn="ctr"/>
                      <a:r>
                        <a:rPr sz="850" b="0" i="0">
                          <a:solidFill>
                            <a:srgbClr val="262626"/>
                          </a:solidFill>
                          <a:latin typeface="Arial"/>
                        </a:rPr>
                        <a:t>2021</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dirty="0">
                          <a:solidFill>
                            <a:srgbClr val="262626"/>
                          </a:solidFill>
                          <a:latin typeface="Arial"/>
                        </a:rPr>
                        <a:t>24</a:t>
                      </a:r>
                    </a:p>
                  </a:txBody>
                  <a:tcPr>
                    <a:solidFill>
                      <a:srgbClr val="F2F2F2"/>
                    </a:solidFill>
                  </a:tcPr>
                </a:tc>
                <a:tc>
                  <a:txBody>
                    <a:bodyPr/>
                    <a:lstStyle/>
                    <a:p>
                      <a:pPr algn="ctr"/>
                      <a:r>
                        <a:rPr sz="850" b="0" i="0">
                          <a:solidFill>
                            <a:srgbClr val="262626"/>
                          </a:solidFill>
                          <a:latin typeface="Arial"/>
                        </a:rPr>
                        <a:t>30s</a:t>
                      </a:r>
                    </a:p>
                  </a:txBody>
                  <a:tcPr>
                    <a:solidFill>
                      <a:srgbClr val="F2F2F2"/>
                    </a:solidFill>
                  </a:tcPr>
                </a:tc>
                <a:extLst>
                  <a:ext uri="{0D108BD9-81ED-4DB2-BD59-A6C34878D82A}">
                    <a16:rowId xmlns:a16="http://schemas.microsoft.com/office/drawing/2014/main" val="10006"/>
                  </a:ext>
                </a:extLst>
              </a:tr>
              <a:tr h="206675">
                <a:tc>
                  <a:txBody>
                    <a:bodyPr/>
                    <a:lstStyle/>
                    <a:p>
                      <a:pPr algn="ctr"/>
                      <a:r>
                        <a:rPr sz="850" b="0" i="0">
                          <a:solidFill>
                            <a:srgbClr val="262626"/>
                          </a:solidFill>
                          <a:latin typeface="Arial"/>
                        </a:rPr>
                        <a:t>2022</a:t>
                      </a:r>
                    </a:p>
                  </a:txBody>
                  <a:tcPr>
                    <a:solidFill>
                      <a:srgbClr val="FFFFFF"/>
                    </a:solidFill>
                  </a:tcPr>
                </a:tc>
                <a:tc>
                  <a:txBody>
                    <a:bodyPr/>
                    <a:lstStyle/>
                    <a:p>
                      <a:pPr algn="ctr"/>
                      <a:r>
                        <a:rPr sz="850" b="0" i="0">
                          <a:solidFill>
                            <a:srgbClr val="262626"/>
                          </a:solidFill>
                          <a:latin typeface="Arial"/>
                        </a:rPr>
                        <a:t>12</a:t>
                      </a:r>
                    </a:p>
                  </a:txBody>
                  <a:tcPr>
                    <a:solidFill>
                      <a:srgbClr val="FFFFFF"/>
                    </a:solidFill>
                  </a:tcPr>
                </a:tc>
                <a:tc>
                  <a:txBody>
                    <a:bodyPr/>
                    <a:lstStyle/>
                    <a:p>
                      <a:pPr algn="ctr"/>
                      <a:r>
                        <a:rPr sz="850" b="0" i="0">
                          <a:solidFill>
                            <a:srgbClr val="262626"/>
                          </a:solidFill>
                          <a:latin typeface="Arial"/>
                        </a:rPr>
                        <a:t>21</a:t>
                      </a:r>
                    </a:p>
                  </a:txBody>
                  <a:tcPr>
                    <a:solidFill>
                      <a:srgbClr val="FFFFFF"/>
                    </a:solidFill>
                  </a:tcPr>
                </a:tc>
                <a:tc>
                  <a:txBody>
                    <a:bodyPr/>
                    <a:lstStyle/>
                    <a:p>
                      <a:pPr algn="ctr"/>
                      <a:r>
                        <a:rPr sz="850" b="0" i="0">
                          <a:solidFill>
                            <a:srgbClr val="262626"/>
                          </a:solidFill>
                          <a:latin typeface="Arial"/>
                        </a:rPr>
                        <a:t>+9</a:t>
                      </a:r>
                    </a:p>
                  </a:txBody>
                  <a:tcPr>
                    <a:solidFill>
                      <a:srgbClr val="FFFFFF"/>
                    </a:solidFill>
                  </a:tcPr>
                </a:tc>
                <a:tc>
                  <a:txBody>
                    <a:bodyPr/>
                    <a:lstStyle/>
                    <a:p>
                      <a:pPr algn="ctr"/>
                      <a:r>
                        <a:rPr sz="850" b="0" i="0" dirty="0">
                          <a:solidFill>
                            <a:srgbClr val="262626"/>
                          </a:solidFill>
                          <a:latin typeface="Arial"/>
                        </a:rPr>
                        <a:t>21</a:t>
                      </a:r>
                    </a:p>
                  </a:txBody>
                  <a:tcPr>
                    <a:solidFill>
                      <a:srgbClr val="FFFFFF"/>
                    </a:solidFill>
                  </a:tcPr>
                </a:tc>
                <a:tc>
                  <a:txBody>
                    <a:bodyPr/>
                    <a:lstStyle/>
                    <a:p>
                      <a:pPr algn="ctr"/>
                      <a:r>
                        <a:rPr sz="850" b="0" i="0">
                          <a:solidFill>
                            <a:srgbClr val="262626"/>
                          </a:solidFill>
                          <a:latin typeface="Arial"/>
                        </a:rPr>
                        <a:t>38s</a:t>
                      </a:r>
                    </a:p>
                  </a:txBody>
                  <a:tcPr>
                    <a:solidFill>
                      <a:srgbClr val="FFFFFF"/>
                    </a:solidFill>
                  </a:tcPr>
                </a:tc>
                <a:extLst>
                  <a:ext uri="{0D108BD9-81ED-4DB2-BD59-A6C34878D82A}">
                    <a16:rowId xmlns:a16="http://schemas.microsoft.com/office/drawing/2014/main" val="10007"/>
                  </a:ext>
                </a:extLst>
              </a:tr>
              <a:tr h="206675">
                <a:tc>
                  <a:txBody>
                    <a:bodyPr/>
                    <a:lstStyle/>
                    <a:p>
                      <a:pPr algn="ctr"/>
                      <a:r>
                        <a:rPr sz="850" b="0" i="0">
                          <a:solidFill>
                            <a:srgbClr val="262626"/>
                          </a:solidFill>
                          <a:latin typeface="Arial"/>
                        </a:rPr>
                        <a:t>2023</a:t>
                      </a:r>
                    </a:p>
                  </a:txBody>
                  <a:tcPr>
                    <a:solidFill>
                      <a:srgbClr val="F2F2F2"/>
                    </a:solidFill>
                  </a:tcPr>
                </a:tc>
                <a:tc>
                  <a:txBody>
                    <a:bodyPr/>
                    <a:lstStyle/>
                    <a:p>
                      <a:pPr algn="ctr"/>
                      <a:r>
                        <a:rPr sz="850" b="0" i="0">
                          <a:solidFill>
                            <a:srgbClr val="262626"/>
                          </a:solidFill>
                          <a:latin typeface="Arial"/>
                        </a:rPr>
                        <a:t>7</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9</a:t>
                      </a:r>
                    </a:p>
                  </a:txBody>
                  <a:tcPr>
                    <a:solidFill>
                      <a:srgbClr val="F2F2F2"/>
                    </a:solidFill>
                  </a:tcPr>
                </a:tc>
                <a:tc>
                  <a:txBody>
                    <a:bodyPr/>
                    <a:lstStyle/>
                    <a:p>
                      <a:pPr algn="ctr"/>
                      <a:r>
                        <a:rPr sz="850" b="0" i="0" dirty="0">
                          <a:solidFill>
                            <a:srgbClr val="262626"/>
                          </a:solidFill>
                          <a:latin typeface="Arial"/>
                        </a:rPr>
                        <a:t>29s</a:t>
                      </a:r>
                    </a:p>
                  </a:txBody>
                  <a:tcPr>
                    <a:solidFill>
                      <a:srgbClr val="F2F2F2"/>
                    </a:solidFill>
                  </a:tcPr>
                </a:tc>
                <a:extLst>
                  <a:ext uri="{0D108BD9-81ED-4DB2-BD59-A6C34878D82A}">
                    <a16:rowId xmlns:a16="http://schemas.microsoft.com/office/drawing/2014/main" val="10008"/>
                  </a:ext>
                </a:extLst>
              </a:tr>
              <a:tr h="206675">
                <a:tc>
                  <a:txBody>
                    <a:bodyPr/>
                    <a:lstStyle/>
                    <a:p>
                      <a:pPr algn="ctr"/>
                      <a:r>
                        <a:rPr sz="850" b="0" i="0">
                          <a:solidFill>
                            <a:srgbClr val="262626"/>
                          </a:solidFill>
                          <a:latin typeface="Arial"/>
                        </a:rPr>
                        <a:t>2024</a:t>
                      </a:r>
                    </a:p>
                  </a:txBody>
                  <a:tcPr>
                    <a:solidFill>
                      <a:srgbClr val="FFFFFF"/>
                    </a:solidFill>
                  </a:tcPr>
                </a:tc>
                <a:tc>
                  <a:txBody>
                    <a:bodyPr/>
                    <a:lstStyle/>
                    <a:p>
                      <a:pPr algn="ctr"/>
                      <a:r>
                        <a:rPr sz="850" b="0" i="0">
                          <a:solidFill>
                            <a:srgbClr val="262626"/>
                          </a:solidFill>
                          <a:latin typeface="Arial"/>
                        </a:rPr>
                        <a:t>11</a:t>
                      </a:r>
                    </a:p>
                  </a:txBody>
                  <a:tcPr>
                    <a:solidFill>
                      <a:srgbClr val="FFFFFF"/>
                    </a:solidFill>
                  </a:tcPr>
                </a:tc>
                <a:tc>
                  <a:txBody>
                    <a:bodyPr/>
                    <a:lstStyle/>
                    <a:p>
                      <a:pPr algn="ctr"/>
                      <a:r>
                        <a:rPr sz="850" b="0" i="0" dirty="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18</a:t>
                      </a:r>
                    </a:p>
                  </a:txBody>
                  <a:tcPr>
                    <a:solidFill>
                      <a:srgbClr val="FFFFFF"/>
                    </a:solidFill>
                  </a:tcPr>
                </a:tc>
                <a:tc>
                  <a:txBody>
                    <a:bodyPr/>
                    <a:lstStyle/>
                    <a:p>
                      <a:pPr algn="ctr"/>
                      <a:r>
                        <a:rPr sz="850" b="0" i="0" dirty="0">
                          <a:solidFill>
                            <a:srgbClr val="262626"/>
                          </a:solidFill>
                          <a:latin typeface="Arial"/>
                        </a:rPr>
                        <a:t>1s</a:t>
                      </a:r>
                    </a:p>
                  </a:txBody>
                  <a:tcPr>
                    <a:solidFill>
                      <a:srgbClr val="FFFFFF"/>
                    </a:solidFill>
                  </a:tcPr>
                </a:tc>
                <a:extLst>
                  <a:ext uri="{0D108BD9-81ED-4DB2-BD59-A6C34878D82A}">
                    <a16:rowId xmlns:a16="http://schemas.microsoft.com/office/drawing/2014/main" val="10009"/>
                  </a:ext>
                </a:extLst>
              </a:tr>
              <a:tr h="206675">
                <a:tc>
                  <a:txBody>
                    <a:bodyPr/>
                    <a:lstStyle/>
                    <a:p>
                      <a:pPr algn="ctr"/>
                      <a:r>
                        <a:rPr sz="850" b="0" i="0">
                          <a:solidFill>
                            <a:srgbClr val="262626"/>
                          </a:solidFill>
                          <a:latin typeface="Arial"/>
                        </a:rPr>
                        <a:t>2025</a:t>
                      </a:r>
                    </a:p>
                  </a:txBody>
                  <a:tcPr>
                    <a:solidFill>
                      <a:srgbClr val="F2F2F2"/>
                    </a:solidFill>
                  </a:tcPr>
                </a:tc>
                <a:tc>
                  <a:txBody>
                    <a:bodyPr/>
                    <a:lstStyle/>
                    <a:p>
                      <a:pPr algn="ctr"/>
                      <a:r>
                        <a:rPr sz="850" b="0" i="0">
                          <a:solidFill>
                            <a:srgbClr val="262626"/>
                          </a:solidFill>
                          <a:latin typeface="Arial"/>
                        </a:rPr>
                        <a:t>10</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tc>
                  <a:txBody>
                    <a:bodyPr/>
                    <a:lstStyle/>
                    <a:p>
                      <a:pPr algn="ctr"/>
                      <a:r>
                        <a:rPr sz="850" b="0" i="0">
                          <a:solidFill>
                            <a:srgbClr val="262626"/>
                          </a:solidFill>
                          <a:latin typeface="Arial"/>
                        </a:rPr>
                        <a:t>-7</a:t>
                      </a:r>
                    </a:p>
                  </a:txBody>
                  <a:tcPr>
                    <a:solidFill>
                      <a:srgbClr val="F2F2F2"/>
                    </a:solidFill>
                  </a:tcPr>
                </a:tc>
                <a:tc>
                  <a:txBody>
                    <a:bodyPr/>
                    <a:lstStyle/>
                    <a:p>
                      <a:pPr algn="ctr"/>
                      <a:r>
                        <a:rPr sz="850" b="0" i="0">
                          <a:solidFill>
                            <a:srgbClr val="262626"/>
                          </a:solidFill>
                          <a:latin typeface="Arial"/>
                        </a:rPr>
                        <a:t>25</a:t>
                      </a:r>
                    </a:p>
                  </a:txBody>
                  <a:tcPr>
                    <a:solidFill>
                      <a:srgbClr val="F2F2F2"/>
                    </a:solidFill>
                  </a:tcPr>
                </a:tc>
                <a:tc>
                  <a:txBody>
                    <a:bodyPr/>
                    <a:lstStyle/>
                    <a:p>
                      <a:pPr algn="ctr"/>
                      <a:r>
                        <a:rPr sz="850" b="0" i="0" dirty="0">
                          <a:solidFill>
                            <a:srgbClr val="262626"/>
                          </a:solidFill>
                          <a:latin typeface="Arial"/>
                        </a:rPr>
                        <a:t>39s</a:t>
                      </a:r>
                    </a:p>
                  </a:txBody>
                  <a:tcPr>
                    <a:solidFill>
                      <a:srgbClr val="F2F2F2"/>
                    </a:solidFill>
                  </a:tcPr>
                </a:tc>
                <a:extLst>
                  <a:ext uri="{0D108BD9-81ED-4DB2-BD59-A6C34878D82A}">
                    <a16:rowId xmlns:a16="http://schemas.microsoft.com/office/drawing/2014/main" val="10010"/>
                  </a:ext>
                </a:extLst>
              </a:tr>
            </a:tbl>
          </a:graphicData>
        </a:graphic>
      </p:graphicFrame>
      <p:sp>
        <p:nvSpPr>
          <p:cNvPr id="11" name="TextBox 10"/>
          <p:cNvSpPr txBox="1"/>
          <p:nvPr/>
        </p:nvSpPr>
        <p:spPr>
          <a:xfrm>
            <a:off x="274320" y="6692392"/>
            <a:ext cx="11640312" cy="201168"/>
          </a:xfrm>
          <a:prstGeom prst="rect">
            <a:avLst/>
          </a:prstGeom>
          <a:noFill/>
        </p:spPr>
        <p:txBody>
          <a:bodyPr wrap="square">
            <a:spAutoFit/>
          </a:bodyPr>
          <a:lstStyle/>
          <a:p>
            <a:pPr algn="l"/>
            <a:r>
              <a:rPr sz="800" b="0" i="1" dirty="0">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1031156" y="989437"/>
            <a:ext cx="10126640" cy="2625131"/>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206054402"/>
              </p:ext>
            </p:extLst>
          </p:nvPr>
        </p:nvGraphicFramePr>
        <p:xfrm>
          <a:off x="274320" y="3543300"/>
          <a:ext cx="11640312" cy="324612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186121">
                <a:tc>
                  <a:txBody>
                    <a:bodyPr/>
                    <a:lstStyle/>
                    <a:p>
                      <a:pPr algn="ctr"/>
                      <a:r>
                        <a:rPr sz="700" b="1" i="0">
                          <a:solidFill>
                            <a:srgbClr val="FFFFFF"/>
                          </a:solidFill>
                          <a:latin typeface="Arial"/>
                        </a:rPr>
                        <a:t>Year</a:t>
                      </a:r>
                    </a:p>
                  </a:txBody>
                  <a:tcPr>
                    <a:solidFill>
                      <a:srgbClr val="002060"/>
                    </a:solidFill>
                  </a:tcPr>
                </a:tc>
                <a:tc>
                  <a:txBody>
                    <a:bodyPr/>
                    <a:lstStyle/>
                    <a:p>
                      <a:pPr algn="ctr"/>
                      <a:r>
                        <a:rPr sz="700" b="1" i="0">
                          <a:solidFill>
                            <a:srgbClr val="FFFFFF"/>
                          </a:solidFill>
                          <a:latin typeface="Arial"/>
                        </a:rPr>
                        <a:t>1st</a:t>
                      </a:r>
                    </a:p>
                  </a:txBody>
                  <a:tcPr>
                    <a:solidFill>
                      <a:srgbClr val="002060"/>
                    </a:solidFill>
                  </a:tcPr>
                </a:tc>
                <a:tc>
                  <a:txBody>
                    <a:bodyPr/>
                    <a:lstStyle/>
                    <a:p>
                      <a:pPr algn="ctr"/>
                      <a:r>
                        <a:rPr sz="700" b="1" i="0">
                          <a:solidFill>
                            <a:srgbClr val="FFFFFF"/>
                          </a:solidFill>
                          <a:latin typeface="Arial"/>
                        </a:rPr>
                        <a:t>2nd</a:t>
                      </a:r>
                    </a:p>
                  </a:txBody>
                  <a:tcPr>
                    <a:solidFill>
                      <a:srgbClr val="002060"/>
                    </a:solidFill>
                  </a:tcPr>
                </a:tc>
                <a:tc>
                  <a:txBody>
                    <a:bodyPr/>
                    <a:lstStyle/>
                    <a:p>
                      <a:pPr algn="ctr"/>
                      <a:r>
                        <a:rPr sz="700" b="1" i="0">
                          <a:solidFill>
                            <a:srgbClr val="FFFFFF"/>
                          </a:solidFill>
                          <a:latin typeface="Arial"/>
                        </a:rPr>
                        <a:t>3rd</a:t>
                      </a:r>
                    </a:p>
                  </a:txBody>
                  <a:tcPr>
                    <a:solidFill>
                      <a:srgbClr val="002060"/>
                    </a:solidFill>
                  </a:tcPr>
                </a:tc>
                <a:tc>
                  <a:txBody>
                    <a:bodyPr/>
                    <a:lstStyle/>
                    <a:p>
                      <a:pPr algn="ctr"/>
                      <a:r>
                        <a:rPr sz="700" b="1" i="0">
                          <a:solidFill>
                            <a:srgbClr val="FFFFFF"/>
                          </a:solidFill>
                          <a:latin typeface="Arial"/>
                        </a:rPr>
                        <a:t>5th</a:t>
                      </a:r>
                    </a:p>
                  </a:txBody>
                  <a:tcPr>
                    <a:solidFill>
                      <a:srgbClr val="002060"/>
                    </a:solidFill>
                  </a:tcPr>
                </a:tc>
                <a:tc>
                  <a:txBody>
                    <a:bodyPr/>
                    <a:lstStyle/>
                    <a:p>
                      <a:pPr algn="ctr"/>
                      <a:r>
                        <a:rPr sz="700" b="1" i="0">
                          <a:solidFill>
                            <a:srgbClr val="FFFFFF"/>
                          </a:solidFill>
                          <a:latin typeface="Arial"/>
                        </a:rPr>
                        <a:t>10th</a:t>
                      </a:r>
                    </a:p>
                  </a:txBody>
                  <a:tcPr>
                    <a:solidFill>
                      <a:srgbClr val="002060"/>
                    </a:solidFill>
                  </a:tcPr>
                </a:tc>
                <a:tc>
                  <a:txBody>
                    <a:bodyPr/>
                    <a:lstStyle/>
                    <a:p>
                      <a:pPr algn="ctr"/>
                      <a:r>
                        <a:rPr sz="7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286340">
                <a:tc>
                  <a:txBody>
                    <a:bodyPr/>
                    <a:lstStyle/>
                    <a:p>
                      <a:pPr algn="ctr"/>
                      <a:r>
                        <a:rPr sz="700" b="1" i="0">
                          <a:solidFill>
                            <a:srgbClr val="262626"/>
                          </a:solidFill>
                          <a:latin typeface="Arial"/>
                        </a:rPr>
                        <a:t>2016</a:t>
                      </a:r>
                    </a:p>
                  </a:txBody>
                  <a:tcPr>
                    <a:solidFill>
                      <a:srgbClr val="FFFFFF"/>
                    </a:solidFill>
                  </a:tcPr>
                </a:tc>
                <a:tc>
                  <a:txBody>
                    <a:bodyPr/>
                    <a:lstStyle/>
                    <a:p>
                      <a:pPr algn="ctr"/>
                      <a:r>
                        <a:rPr sz="700" b="0" i="0">
                          <a:solidFill>
                            <a:srgbClr val="262626"/>
                          </a:solidFill>
                          <a:latin typeface="Arial"/>
                        </a:rPr>
                        <a:t>1:50:34</a:t>
                      </a:r>
                    </a:p>
                  </a:txBody>
                  <a:tcPr>
                    <a:solidFill>
                      <a:srgbClr val="FFFFFF"/>
                    </a:solidFill>
                  </a:tcPr>
                </a:tc>
                <a:tc>
                  <a:txBody>
                    <a:bodyPr/>
                    <a:lstStyle/>
                    <a:p>
                      <a:pPr algn="ctr"/>
                      <a:r>
                        <a:rPr sz="700" b="0" i="0">
                          <a:solidFill>
                            <a:srgbClr val="262626"/>
                          </a:solidFill>
                          <a:latin typeface="Arial"/>
                        </a:rPr>
                        <a:t>1:54:54
+260s</a:t>
                      </a:r>
                    </a:p>
                  </a:txBody>
                  <a:tcPr>
                    <a:solidFill>
                      <a:srgbClr val="FFFFFF"/>
                    </a:solidFill>
                  </a:tcPr>
                </a:tc>
                <a:tc>
                  <a:txBody>
                    <a:bodyPr/>
                    <a:lstStyle/>
                    <a:p>
                      <a:pPr algn="ctr"/>
                      <a:r>
                        <a:rPr sz="700" b="0" i="0">
                          <a:solidFill>
                            <a:srgbClr val="262626"/>
                          </a:solidFill>
                          <a:latin typeface="Arial"/>
                        </a:rPr>
                        <a:t>1:55:12
+278s</a:t>
                      </a:r>
                    </a:p>
                  </a:txBody>
                  <a:tcPr>
                    <a:solidFill>
                      <a:srgbClr val="FFFFFF"/>
                    </a:solidFill>
                  </a:tcPr>
                </a:tc>
                <a:tc>
                  <a:txBody>
                    <a:bodyPr/>
                    <a:lstStyle/>
                    <a:p>
                      <a:pPr algn="ctr"/>
                      <a:r>
                        <a:rPr sz="700" b="0" i="0">
                          <a:solidFill>
                            <a:srgbClr val="262626"/>
                          </a:solidFill>
                          <a:latin typeface="Arial"/>
                        </a:rPr>
                        <a:t>1:56:15
+341s</a:t>
                      </a:r>
                    </a:p>
                  </a:txBody>
                  <a:tcPr>
                    <a:solidFill>
                      <a:srgbClr val="FFFFFF"/>
                    </a:solidFill>
                  </a:tcPr>
                </a:tc>
                <a:tc>
                  <a:txBody>
                    <a:bodyPr/>
                    <a:lstStyle/>
                    <a:p>
                      <a:pPr algn="ctr"/>
                      <a:r>
                        <a:rPr sz="700" b="0" i="0">
                          <a:solidFill>
                            <a:srgbClr val="262626"/>
                          </a:solidFill>
                          <a:latin typeface="Arial"/>
                        </a:rPr>
                        <a:t>1:58:20
+466s</a:t>
                      </a:r>
                    </a:p>
                  </a:txBody>
                  <a:tcPr>
                    <a:solidFill>
                      <a:srgbClr val="FFFFFF"/>
                    </a:solidFill>
                  </a:tcPr>
                </a:tc>
                <a:tc>
                  <a:txBody>
                    <a:bodyPr/>
                    <a:lstStyle/>
                    <a:p>
                      <a:pPr algn="ctr"/>
                      <a:r>
                        <a:rPr sz="700" b="0" i="0">
                          <a:solidFill>
                            <a:srgbClr val="262626"/>
                          </a:solidFill>
                          <a:latin typeface="Arial"/>
                        </a:rPr>
                        <a:t>2:00:59
+625s</a:t>
                      </a:r>
                    </a:p>
                  </a:txBody>
                  <a:tcPr>
                    <a:solidFill>
                      <a:srgbClr val="FFFFFF"/>
                    </a:solidFill>
                  </a:tcPr>
                </a:tc>
                <a:extLst>
                  <a:ext uri="{0D108BD9-81ED-4DB2-BD59-A6C34878D82A}">
                    <a16:rowId xmlns:a16="http://schemas.microsoft.com/office/drawing/2014/main" val="10001"/>
                  </a:ext>
                </a:extLst>
              </a:tr>
              <a:tr h="286340">
                <a:tc>
                  <a:txBody>
                    <a:bodyPr/>
                    <a:lstStyle/>
                    <a:p>
                      <a:pPr algn="ctr"/>
                      <a:r>
                        <a:rPr sz="700" b="1" i="0">
                          <a:solidFill>
                            <a:srgbClr val="262626"/>
                          </a:solidFill>
                          <a:latin typeface="Arial"/>
                        </a:rPr>
                        <a:t>2017</a:t>
                      </a:r>
                    </a:p>
                  </a:txBody>
                  <a:tcPr>
                    <a:solidFill>
                      <a:srgbClr val="F2F2F2"/>
                    </a:solidFill>
                  </a:tcPr>
                </a:tc>
                <a:tc>
                  <a:txBody>
                    <a:bodyPr/>
                    <a:lstStyle/>
                    <a:p>
                      <a:pPr algn="ctr"/>
                      <a:r>
                        <a:rPr sz="700" b="0" i="0">
                          <a:solidFill>
                            <a:srgbClr val="262626"/>
                          </a:solidFill>
                          <a:latin typeface="Arial"/>
                        </a:rPr>
                        <a:t>1:49:06</a:t>
                      </a:r>
                    </a:p>
                  </a:txBody>
                  <a:tcPr>
                    <a:solidFill>
                      <a:srgbClr val="F2F2F2"/>
                    </a:solidFill>
                  </a:tcPr>
                </a:tc>
                <a:tc>
                  <a:txBody>
                    <a:bodyPr/>
                    <a:lstStyle/>
                    <a:p>
                      <a:pPr algn="ctr"/>
                      <a:r>
                        <a:rPr sz="700" b="0" i="0">
                          <a:solidFill>
                            <a:srgbClr val="262626"/>
                          </a:solidFill>
                          <a:latin typeface="Arial"/>
                        </a:rPr>
                        <a:t>1:49:39
+33s</a:t>
                      </a:r>
                    </a:p>
                  </a:txBody>
                  <a:tcPr>
                    <a:solidFill>
                      <a:srgbClr val="F2F2F2"/>
                    </a:solidFill>
                  </a:tcPr>
                </a:tc>
                <a:tc>
                  <a:txBody>
                    <a:bodyPr/>
                    <a:lstStyle/>
                    <a:p>
                      <a:pPr algn="ctr"/>
                      <a:r>
                        <a:rPr sz="700" b="0" i="0" dirty="0">
                          <a:solidFill>
                            <a:srgbClr val="262626"/>
                          </a:solidFill>
                          <a:latin typeface="Arial"/>
                        </a:rPr>
                        <a:t>1:50:22
+76s</a:t>
                      </a:r>
                    </a:p>
                  </a:txBody>
                  <a:tcPr>
                    <a:solidFill>
                      <a:srgbClr val="F2F2F2"/>
                    </a:solidFill>
                  </a:tcPr>
                </a:tc>
                <a:tc>
                  <a:txBody>
                    <a:bodyPr/>
                    <a:lstStyle/>
                    <a:p>
                      <a:pPr algn="ctr"/>
                      <a:r>
                        <a:rPr sz="700" b="0" i="0">
                          <a:solidFill>
                            <a:srgbClr val="262626"/>
                          </a:solidFill>
                          <a:latin typeface="Arial"/>
                        </a:rPr>
                        <a:t>1:50:30
+84s</a:t>
                      </a:r>
                    </a:p>
                  </a:txBody>
                  <a:tcPr>
                    <a:solidFill>
                      <a:srgbClr val="F2F2F2"/>
                    </a:solidFill>
                  </a:tcPr>
                </a:tc>
                <a:tc>
                  <a:txBody>
                    <a:bodyPr/>
                    <a:lstStyle/>
                    <a:p>
                      <a:pPr algn="ctr"/>
                      <a:r>
                        <a:rPr sz="700" b="0" i="0">
                          <a:solidFill>
                            <a:srgbClr val="262626"/>
                          </a:solidFill>
                          <a:latin typeface="Arial"/>
                        </a:rPr>
                        <a:t>1:51:07
+121s</a:t>
                      </a:r>
                    </a:p>
                  </a:txBody>
                  <a:tcPr>
                    <a:solidFill>
                      <a:srgbClr val="F2F2F2"/>
                    </a:solidFill>
                  </a:tcPr>
                </a:tc>
                <a:tc>
                  <a:txBody>
                    <a:bodyPr/>
                    <a:lstStyle/>
                    <a:p>
                      <a:pPr algn="ctr"/>
                      <a:r>
                        <a:rPr sz="700" b="0" i="0">
                          <a:solidFill>
                            <a:srgbClr val="262626"/>
                          </a:solidFill>
                          <a:latin typeface="Arial"/>
                        </a:rPr>
                        <a:t>1:52:02
+176s</a:t>
                      </a:r>
                    </a:p>
                  </a:txBody>
                  <a:tcPr>
                    <a:solidFill>
                      <a:srgbClr val="F2F2F2"/>
                    </a:solidFill>
                  </a:tcPr>
                </a:tc>
                <a:extLst>
                  <a:ext uri="{0D108BD9-81ED-4DB2-BD59-A6C34878D82A}">
                    <a16:rowId xmlns:a16="http://schemas.microsoft.com/office/drawing/2014/main" val="10002"/>
                  </a:ext>
                </a:extLst>
              </a:tr>
              <a:tr h="286340">
                <a:tc>
                  <a:txBody>
                    <a:bodyPr/>
                    <a:lstStyle/>
                    <a:p>
                      <a:pPr algn="ctr"/>
                      <a:r>
                        <a:rPr sz="700" b="1" i="0">
                          <a:solidFill>
                            <a:srgbClr val="262626"/>
                          </a:solidFill>
                          <a:latin typeface="Arial"/>
                        </a:rPr>
                        <a:t>2018</a:t>
                      </a:r>
                    </a:p>
                  </a:txBody>
                  <a:tcPr>
                    <a:solidFill>
                      <a:srgbClr val="FFFFFF"/>
                    </a:solidFill>
                  </a:tcPr>
                </a:tc>
                <a:tc>
                  <a:txBody>
                    <a:bodyPr/>
                    <a:lstStyle/>
                    <a:p>
                      <a:pPr algn="ctr"/>
                      <a:r>
                        <a:rPr sz="700" b="0" i="0">
                          <a:solidFill>
                            <a:srgbClr val="262626"/>
                          </a:solidFill>
                          <a:latin typeface="Arial"/>
                        </a:rPr>
                        <a:t>1:52:22</a:t>
                      </a:r>
                    </a:p>
                  </a:txBody>
                  <a:tcPr>
                    <a:solidFill>
                      <a:srgbClr val="FFFFFF"/>
                    </a:solidFill>
                  </a:tcPr>
                </a:tc>
                <a:tc>
                  <a:txBody>
                    <a:bodyPr/>
                    <a:lstStyle/>
                    <a:p>
                      <a:pPr algn="ctr"/>
                      <a:r>
                        <a:rPr sz="700" b="0" i="0" dirty="0">
                          <a:solidFill>
                            <a:srgbClr val="262626"/>
                          </a:solidFill>
                          <a:latin typeface="Arial"/>
                        </a:rPr>
                        <a:t>1:52:36
+14s</a:t>
                      </a:r>
                    </a:p>
                  </a:txBody>
                  <a:tcPr>
                    <a:solidFill>
                      <a:srgbClr val="FFFFFF"/>
                    </a:solidFill>
                  </a:tcPr>
                </a:tc>
                <a:tc>
                  <a:txBody>
                    <a:bodyPr/>
                    <a:lstStyle/>
                    <a:p>
                      <a:pPr algn="ctr"/>
                      <a:r>
                        <a:rPr sz="700" b="0" i="0">
                          <a:solidFill>
                            <a:srgbClr val="262626"/>
                          </a:solidFill>
                          <a:latin typeface="Arial"/>
                        </a:rPr>
                        <a:t>1:52:44
+22s</a:t>
                      </a:r>
                    </a:p>
                  </a:txBody>
                  <a:tcPr>
                    <a:solidFill>
                      <a:srgbClr val="FFFFFF"/>
                    </a:solidFill>
                  </a:tcPr>
                </a:tc>
                <a:tc>
                  <a:txBody>
                    <a:bodyPr/>
                    <a:lstStyle/>
                    <a:p>
                      <a:pPr algn="ctr"/>
                      <a:r>
                        <a:rPr sz="700" b="0" i="0">
                          <a:solidFill>
                            <a:srgbClr val="262626"/>
                          </a:solidFill>
                          <a:latin typeface="Arial"/>
                        </a:rPr>
                        <a:t>1:53:01
+39s</a:t>
                      </a:r>
                    </a:p>
                  </a:txBody>
                  <a:tcPr>
                    <a:solidFill>
                      <a:srgbClr val="FFFFFF"/>
                    </a:solidFill>
                  </a:tcPr>
                </a:tc>
                <a:tc>
                  <a:txBody>
                    <a:bodyPr/>
                    <a:lstStyle/>
                    <a:p>
                      <a:pPr algn="ctr"/>
                      <a:r>
                        <a:rPr sz="700" b="0" i="0">
                          <a:solidFill>
                            <a:srgbClr val="262626"/>
                          </a:solidFill>
                          <a:latin typeface="Arial"/>
                        </a:rPr>
                        <a:t>1:53:29
+67s</a:t>
                      </a:r>
                    </a:p>
                  </a:txBody>
                  <a:tcPr>
                    <a:solidFill>
                      <a:srgbClr val="FFFFFF"/>
                    </a:solidFill>
                  </a:tcPr>
                </a:tc>
                <a:tc>
                  <a:txBody>
                    <a:bodyPr/>
                    <a:lstStyle/>
                    <a:p>
                      <a:pPr algn="ctr"/>
                      <a:r>
                        <a:rPr sz="700" b="0" i="0">
                          <a:solidFill>
                            <a:srgbClr val="262626"/>
                          </a:solidFill>
                          <a:latin typeface="Arial"/>
                        </a:rPr>
                        <a:t>1:55:03
+161s</a:t>
                      </a:r>
                    </a:p>
                  </a:txBody>
                  <a:tcPr>
                    <a:solidFill>
                      <a:srgbClr val="FFFFFF"/>
                    </a:solidFill>
                  </a:tcPr>
                </a:tc>
                <a:extLst>
                  <a:ext uri="{0D108BD9-81ED-4DB2-BD59-A6C34878D82A}">
                    <a16:rowId xmlns:a16="http://schemas.microsoft.com/office/drawing/2014/main" val="10003"/>
                  </a:ext>
                </a:extLst>
              </a:tr>
              <a:tr h="286340">
                <a:tc>
                  <a:txBody>
                    <a:bodyPr/>
                    <a:lstStyle/>
                    <a:p>
                      <a:pPr algn="ctr"/>
                      <a:r>
                        <a:rPr sz="700" b="1" i="0">
                          <a:solidFill>
                            <a:srgbClr val="262626"/>
                          </a:solidFill>
                          <a:latin typeface="Arial"/>
                        </a:rPr>
                        <a:t>2019</a:t>
                      </a:r>
                    </a:p>
                  </a:txBody>
                  <a:tcPr>
                    <a:solidFill>
                      <a:srgbClr val="F2F2F2"/>
                    </a:solidFill>
                  </a:tcPr>
                </a:tc>
                <a:tc>
                  <a:txBody>
                    <a:bodyPr/>
                    <a:lstStyle/>
                    <a:p>
                      <a:pPr algn="ctr"/>
                      <a:r>
                        <a:rPr sz="700" b="0" i="0">
                          <a:solidFill>
                            <a:srgbClr val="262626"/>
                          </a:solidFill>
                          <a:latin typeface="Arial"/>
                        </a:rPr>
                        <a:t>1:56:11</a:t>
                      </a:r>
                    </a:p>
                  </a:txBody>
                  <a:tcPr>
                    <a:solidFill>
                      <a:srgbClr val="F2F2F2"/>
                    </a:solidFill>
                  </a:tcPr>
                </a:tc>
                <a:tc>
                  <a:txBody>
                    <a:bodyPr/>
                    <a:lstStyle/>
                    <a:p>
                      <a:pPr algn="ctr"/>
                      <a:r>
                        <a:rPr sz="700" b="0" i="0">
                          <a:solidFill>
                            <a:srgbClr val="262626"/>
                          </a:solidFill>
                          <a:latin typeface="Arial"/>
                        </a:rPr>
                        <a:t>1:56:22
+11s</a:t>
                      </a:r>
                    </a:p>
                  </a:txBody>
                  <a:tcPr>
                    <a:solidFill>
                      <a:srgbClr val="F2F2F2"/>
                    </a:solidFill>
                  </a:tcPr>
                </a:tc>
                <a:tc>
                  <a:txBody>
                    <a:bodyPr/>
                    <a:lstStyle/>
                    <a:p>
                      <a:pPr algn="ctr"/>
                      <a:r>
                        <a:rPr sz="700" b="0" i="0">
                          <a:solidFill>
                            <a:srgbClr val="262626"/>
                          </a:solidFill>
                          <a:latin typeface="Arial"/>
                        </a:rPr>
                        <a:t>1:56:40
+29s</a:t>
                      </a:r>
                    </a:p>
                  </a:txBody>
                  <a:tcPr>
                    <a:solidFill>
                      <a:srgbClr val="F2F2F2"/>
                    </a:solidFill>
                  </a:tcPr>
                </a:tc>
                <a:tc>
                  <a:txBody>
                    <a:bodyPr/>
                    <a:lstStyle/>
                    <a:p>
                      <a:pPr algn="ctr"/>
                      <a:r>
                        <a:rPr sz="700" b="0" i="0">
                          <a:solidFill>
                            <a:srgbClr val="262626"/>
                          </a:solidFill>
                          <a:latin typeface="Arial"/>
                        </a:rPr>
                        <a:t>1:56:57
+46s</a:t>
                      </a:r>
                    </a:p>
                  </a:txBody>
                  <a:tcPr>
                    <a:solidFill>
                      <a:srgbClr val="F2F2F2"/>
                    </a:solidFill>
                  </a:tcPr>
                </a:tc>
                <a:tc>
                  <a:txBody>
                    <a:bodyPr/>
                    <a:lstStyle/>
                    <a:p>
                      <a:pPr algn="ctr"/>
                      <a:r>
                        <a:rPr sz="700" b="0" i="0">
                          <a:solidFill>
                            <a:srgbClr val="262626"/>
                          </a:solidFill>
                          <a:latin typeface="Arial"/>
                        </a:rPr>
                        <a:t>1:57:32
+81s</a:t>
                      </a:r>
                    </a:p>
                  </a:txBody>
                  <a:tcPr>
                    <a:solidFill>
                      <a:srgbClr val="F2F2F2"/>
                    </a:solidFill>
                  </a:tcPr>
                </a:tc>
                <a:tc>
                  <a:txBody>
                    <a:bodyPr/>
                    <a:lstStyle/>
                    <a:p>
                      <a:pPr algn="ctr"/>
                      <a:r>
                        <a:rPr sz="700" b="0" i="0">
                          <a:solidFill>
                            <a:srgbClr val="262626"/>
                          </a:solidFill>
                          <a:latin typeface="Arial"/>
                        </a:rPr>
                        <a:t>1:59:08
+177s</a:t>
                      </a:r>
                    </a:p>
                  </a:txBody>
                  <a:tcPr>
                    <a:solidFill>
                      <a:srgbClr val="F2F2F2"/>
                    </a:solidFill>
                  </a:tcPr>
                </a:tc>
                <a:extLst>
                  <a:ext uri="{0D108BD9-81ED-4DB2-BD59-A6C34878D82A}">
                    <a16:rowId xmlns:a16="http://schemas.microsoft.com/office/drawing/2014/main" val="10004"/>
                  </a:ext>
                </a:extLst>
              </a:tr>
              <a:tr h="286340">
                <a:tc>
                  <a:txBody>
                    <a:bodyPr/>
                    <a:lstStyle/>
                    <a:p>
                      <a:pPr algn="ctr"/>
                      <a:r>
                        <a:rPr sz="700" b="1" i="0">
                          <a:solidFill>
                            <a:srgbClr val="262626"/>
                          </a:solidFill>
                          <a:latin typeface="Arial"/>
                        </a:rPr>
                        <a:t>2020</a:t>
                      </a:r>
                    </a:p>
                  </a:txBody>
                  <a:tcPr>
                    <a:solidFill>
                      <a:srgbClr val="FFFFFF"/>
                    </a:solidFill>
                  </a:tcPr>
                </a:tc>
                <a:tc>
                  <a:txBody>
                    <a:bodyPr/>
                    <a:lstStyle/>
                    <a:p>
                      <a:pPr algn="ctr"/>
                      <a:r>
                        <a:rPr sz="700" b="0" i="0">
                          <a:solidFill>
                            <a:srgbClr val="262626"/>
                          </a:solidFill>
                          <a:latin typeface="Arial"/>
                        </a:rPr>
                        <a:t>1:52:14</a:t>
                      </a:r>
                    </a:p>
                  </a:txBody>
                  <a:tcPr>
                    <a:solidFill>
                      <a:srgbClr val="FFFFFF"/>
                    </a:solidFill>
                  </a:tcPr>
                </a:tc>
                <a:tc>
                  <a:txBody>
                    <a:bodyPr/>
                    <a:lstStyle/>
                    <a:p>
                      <a:pPr algn="ctr"/>
                      <a:r>
                        <a:rPr sz="700" b="0" i="0">
                          <a:solidFill>
                            <a:srgbClr val="262626"/>
                          </a:solidFill>
                          <a:latin typeface="Arial"/>
                        </a:rPr>
                        <a:t>1:52:20
+6s</a:t>
                      </a:r>
                    </a:p>
                  </a:txBody>
                  <a:tcPr>
                    <a:solidFill>
                      <a:srgbClr val="FFFFFF"/>
                    </a:solidFill>
                  </a:tcPr>
                </a:tc>
                <a:tc>
                  <a:txBody>
                    <a:bodyPr/>
                    <a:lstStyle/>
                    <a:p>
                      <a:pPr algn="ctr"/>
                      <a:r>
                        <a:rPr sz="700" b="0" i="0">
                          <a:solidFill>
                            <a:srgbClr val="262626"/>
                          </a:solidFill>
                          <a:latin typeface="Arial"/>
                        </a:rPr>
                        <a:t>1:52:34
+20s</a:t>
                      </a:r>
                    </a:p>
                  </a:txBody>
                  <a:tcPr>
                    <a:solidFill>
                      <a:srgbClr val="FFFFFF"/>
                    </a:solidFill>
                  </a:tcPr>
                </a:tc>
                <a:tc>
                  <a:txBody>
                    <a:bodyPr/>
                    <a:lstStyle/>
                    <a:p>
                      <a:pPr algn="ctr"/>
                      <a:r>
                        <a:rPr sz="700" b="0" i="0">
                          <a:solidFill>
                            <a:srgbClr val="262626"/>
                          </a:solidFill>
                          <a:latin typeface="Arial"/>
                        </a:rPr>
                        <a:t>1:53:06
+52s</a:t>
                      </a:r>
                    </a:p>
                  </a:txBody>
                  <a:tcPr>
                    <a:solidFill>
                      <a:srgbClr val="FFFFFF"/>
                    </a:solidFill>
                  </a:tcPr>
                </a:tc>
                <a:tc>
                  <a:txBody>
                    <a:bodyPr/>
                    <a:lstStyle/>
                    <a:p>
                      <a:pPr algn="ctr"/>
                      <a:r>
                        <a:rPr sz="700" b="0" i="0">
                          <a:solidFill>
                            <a:srgbClr val="262626"/>
                          </a:solidFill>
                          <a:latin typeface="Arial"/>
                        </a:rPr>
                        <a:t>1:54:03
+109s</a:t>
                      </a:r>
                    </a:p>
                  </a:txBody>
                  <a:tcPr>
                    <a:solidFill>
                      <a:srgbClr val="FFFFFF"/>
                    </a:solidFill>
                  </a:tcPr>
                </a:tc>
                <a:tc>
                  <a:txBody>
                    <a:bodyPr/>
                    <a:lstStyle/>
                    <a:p>
                      <a:pPr algn="ctr"/>
                      <a:r>
                        <a:rPr sz="700" b="0" i="0">
                          <a:solidFill>
                            <a:srgbClr val="262626"/>
                          </a:solidFill>
                          <a:latin typeface="Arial"/>
                        </a:rPr>
                        <a:t>1:55:24
+190s</a:t>
                      </a:r>
                    </a:p>
                  </a:txBody>
                  <a:tcPr>
                    <a:solidFill>
                      <a:srgbClr val="FFFFFF"/>
                    </a:solidFill>
                  </a:tcPr>
                </a:tc>
                <a:extLst>
                  <a:ext uri="{0D108BD9-81ED-4DB2-BD59-A6C34878D82A}">
                    <a16:rowId xmlns:a16="http://schemas.microsoft.com/office/drawing/2014/main" val="10005"/>
                  </a:ext>
                </a:extLst>
              </a:tr>
              <a:tr h="286340">
                <a:tc>
                  <a:txBody>
                    <a:bodyPr/>
                    <a:lstStyle/>
                    <a:p>
                      <a:pPr algn="ctr"/>
                      <a:r>
                        <a:rPr sz="700" b="1" i="0">
                          <a:solidFill>
                            <a:srgbClr val="262626"/>
                          </a:solidFill>
                          <a:latin typeface="Arial"/>
                        </a:rPr>
                        <a:t>2021</a:t>
                      </a:r>
                    </a:p>
                  </a:txBody>
                  <a:tcPr>
                    <a:solidFill>
                      <a:srgbClr val="F2F2F2"/>
                    </a:solidFill>
                  </a:tcPr>
                </a:tc>
                <a:tc>
                  <a:txBody>
                    <a:bodyPr/>
                    <a:lstStyle/>
                    <a:p>
                      <a:pPr algn="ctr"/>
                      <a:r>
                        <a:rPr sz="700" b="0" i="0">
                          <a:solidFill>
                            <a:srgbClr val="262626"/>
                          </a:solidFill>
                          <a:latin typeface="Arial"/>
                        </a:rPr>
                        <a:t>1:53:31</a:t>
                      </a:r>
                    </a:p>
                  </a:txBody>
                  <a:tcPr>
                    <a:solidFill>
                      <a:srgbClr val="F2F2F2"/>
                    </a:solidFill>
                  </a:tcPr>
                </a:tc>
                <a:tc>
                  <a:txBody>
                    <a:bodyPr/>
                    <a:lstStyle/>
                    <a:p>
                      <a:pPr algn="ctr"/>
                      <a:r>
                        <a:rPr sz="700" b="0" i="0">
                          <a:solidFill>
                            <a:srgbClr val="262626"/>
                          </a:solidFill>
                          <a:latin typeface="Arial"/>
                        </a:rPr>
                        <a:t>1:54:04
+33s</a:t>
                      </a:r>
                    </a:p>
                  </a:txBody>
                  <a:tcPr>
                    <a:solidFill>
                      <a:srgbClr val="F2F2F2"/>
                    </a:solidFill>
                  </a:tcPr>
                </a:tc>
                <a:tc>
                  <a:txBody>
                    <a:bodyPr/>
                    <a:lstStyle/>
                    <a:p>
                      <a:pPr algn="ctr"/>
                      <a:r>
                        <a:rPr sz="700" b="0" i="0">
                          <a:solidFill>
                            <a:srgbClr val="262626"/>
                          </a:solidFill>
                          <a:latin typeface="Arial"/>
                        </a:rPr>
                        <a:t>1:54:11
+40s</a:t>
                      </a:r>
                    </a:p>
                  </a:txBody>
                  <a:tcPr>
                    <a:solidFill>
                      <a:srgbClr val="F2F2F2"/>
                    </a:solidFill>
                  </a:tcPr>
                </a:tc>
                <a:tc>
                  <a:txBody>
                    <a:bodyPr/>
                    <a:lstStyle/>
                    <a:p>
                      <a:pPr algn="ctr"/>
                      <a:r>
                        <a:rPr sz="700" b="0" i="0">
                          <a:solidFill>
                            <a:srgbClr val="262626"/>
                          </a:solidFill>
                          <a:latin typeface="Arial"/>
                        </a:rPr>
                        <a:t>1:54:25
+54s</a:t>
                      </a:r>
                    </a:p>
                  </a:txBody>
                  <a:tcPr>
                    <a:solidFill>
                      <a:srgbClr val="F2F2F2"/>
                    </a:solidFill>
                  </a:tcPr>
                </a:tc>
                <a:tc>
                  <a:txBody>
                    <a:bodyPr/>
                    <a:lstStyle/>
                    <a:p>
                      <a:pPr algn="ctr"/>
                      <a:r>
                        <a:rPr sz="700" b="0" i="0">
                          <a:solidFill>
                            <a:srgbClr val="262626"/>
                          </a:solidFill>
                          <a:latin typeface="Arial"/>
                        </a:rPr>
                        <a:t>1:54:42
+71s</a:t>
                      </a:r>
                    </a:p>
                  </a:txBody>
                  <a:tcPr>
                    <a:solidFill>
                      <a:srgbClr val="F2F2F2"/>
                    </a:solidFill>
                  </a:tcPr>
                </a:tc>
                <a:tc>
                  <a:txBody>
                    <a:bodyPr/>
                    <a:lstStyle/>
                    <a:p>
                      <a:pPr algn="ctr"/>
                      <a:r>
                        <a:rPr sz="700" b="0" i="0">
                          <a:solidFill>
                            <a:srgbClr val="262626"/>
                          </a:solidFill>
                          <a:latin typeface="Arial"/>
                        </a:rPr>
                        <a:t>1:55:55
+144s</a:t>
                      </a:r>
                    </a:p>
                  </a:txBody>
                  <a:tcPr>
                    <a:solidFill>
                      <a:srgbClr val="F2F2F2"/>
                    </a:solidFill>
                  </a:tcPr>
                </a:tc>
                <a:extLst>
                  <a:ext uri="{0D108BD9-81ED-4DB2-BD59-A6C34878D82A}">
                    <a16:rowId xmlns:a16="http://schemas.microsoft.com/office/drawing/2014/main" val="10006"/>
                  </a:ext>
                </a:extLst>
              </a:tr>
              <a:tr h="286340">
                <a:tc>
                  <a:txBody>
                    <a:bodyPr/>
                    <a:lstStyle/>
                    <a:p>
                      <a:pPr algn="ctr"/>
                      <a:r>
                        <a:rPr sz="700" b="1" i="0">
                          <a:solidFill>
                            <a:srgbClr val="262626"/>
                          </a:solidFill>
                          <a:latin typeface="Arial"/>
                        </a:rPr>
                        <a:t>2022</a:t>
                      </a:r>
                    </a:p>
                  </a:txBody>
                  <a:tcPr>
                    <a:solidFill>
                      <a:srgbClr val="FFFFFF"/>
                    </a:solidFill>
                  </a:tcPr>
                </a:tc>
                <a:tc>
                  <a:txBody>
                    <a:bodyPr/>
                    <a:lstStyle/>
                    <a:p>
                      <a:pPr algn="ctr"/>
                      <a:r>
                        <a:rPr sz="700" b="0" i="0">
                          <a:solidFill>
                            <a:srgbClr val="262626"/>
                          </a:solidFill>
                          <a:latin typeface="Arial"/>
                        </a:rPr>
                        <a:t>1:51:10</a:t>
                      </a:r>
                    </a:p>
                  </a:txBody>
                  <a:tcPr>
                    <a:solidFill>
                      <a:srgbClr val="FFFFFF"/>
                    </a:solidFill>
                  </a:tcPr>
                </a:tc>
                <a:tc>
                  <a:txBody>
                    <a:bodyPr/>
                    <a:lstStyle/>
                    <a:p>
                      <a:pPr algn="ctr"/>
                      <a:r>
                        <a:rPr sz="700" b="0" i="0">
                          <a:solidFill>
                            <a:srgbClr val="262626"/>
                          </a:solidFill>
                          <a:latin typeface="Arial"/>
                        </a:rPr>
                        <a:t>1:51:20
+10s</a:t>
                      </a:r>
                    </a:p>
                  </a:txBody>
                  <a:tcPr>
                    <a:solidFill>
                      <a:srgbClr val="FFFFFF"/>
                    </a:solidFill>
                  </a:tcPr>
                </a:tc>
                <a:tc>
                  <a:txBody>
                    <a:bodyPr/>
                    <a:lstStyle/>
                    <a:p>
                      <a:pPr algn="ctr"/>
                      <a:r>
                        <a:rPr sz="700" b="0" i="0">
                          <a:solidFill>
                            <a:srgbClr val="262626"/>
                          </a:solidFill>
                          <a:latin typeface="Arial"/>
                        </a:rPr>
                        <a:t>1:51:42
+32s</a:t>
                      </a:r>
                    </a:p>
                  </a:txBody>
                  <a:tcPr>
                    <a:solidFill>
                      <a:srgbClr val="FFFFFF"/>
                    </a:solidFill>
                  </a:tcPr>
                </a:tc>
                <a:tc>
                  <a:txBody>
                    <a:bodyPr/>
                    <a:lstStyle/>
                    <a:p>
                      <a:pPr algn="ctr"/>
                      <a:r>
                        <a:rPr sz="700" b="0" i="0">
                          <a:solidFill>
                            <a:srgbClr val="262626"/>
                          </a:solidFill>
                          <a:latin typeface="Arial"/>
                        </a:rPr>
                        <a:t>1:52:07
+57s</a:t>
                      </a:r>
                    </a:p>
                  </a:txBody>
                  <a:tcPr>
                    <a:solidFill>
                      <a:srgbClr val="FFFFFF"/>
                    </a:solidFill>
                  </a:tcPr>
                </a:tc>
                <a:tc>
                  <a:txBody>
                    <a:bodyPr/>
                    <a:lstStyle/>
                    <a:p>
                      <a:pPr algn="ctr"/>
                      <a:r>
                        <a:rPr sz="700" b="0" i="0">
                          <a:solidFill>
                            <a:srgbClr val="262626"/>
                          </a:solidFill>
                          <a:latin typeface="Arial"/>
                        </a:rPr>
                        <a:t>1:52:35
+85s</a:t>
                      </a:r>
                    </a:p>
                  </a:txBody>
                  <a:tcPr>
                    <a:solidFill>
                      <a:srgbClr val="FFFFFF"/>
                    </a:solidFill>
                  </a:tcPr>
                </a:tc>
                <a:tc>
                  <a:txBody>
                    <a:bodyPr/>
                    <a:lstStyle/>
                    <a:p>
                      <a:pPr algn="ctr"/>
                      <a:r>
                        <a:rPr sz="700" b="0" i="0">
                          <a:solidFill>
                            <a:srgbClr val="262626"/>
                          </a:solidFill>
                          <a:latin typeface="Arial"/>
                        </a:rPr>
                        <a:t>1:53:44
+154s</a:t>
                      </a:r>
                    </a:p>
                  </a:txBody>
                  <a:tcPr>
                    <a:solidFill>
                      <a:srgbClr val="FFFFFF"/>
                    </a:solidFill>
                  </a:tcPr>
                </a:tc>
                <a:extLst>
                  <a:ext uri="{0D108BD9-81ED-4DB2-BD59-A6C34878D82A}">
                    <a16:rowId xmlns:a16="http://schemas.microsoft.com/office/drawing/2014/main" val="10007"/>
                  </a:ext>
                </a:extLst>
              </a:tr>
              <a:tr h="286340">
                <a:tc>
                  <a:txBody>
                    <a:bodyPr/>
                    <a:lstStyle/>
                    <a:p>
                      <a:pPr algn="ctr"/>
                      <a:r>
                        <a:rPr sz="700" b="1" i="0">
                          <a:solidFill>
                            <a:srgbClr val="262626"/>
                          </a:solidFill>
                          <a:latin typeface="Arial"/>
                        </a:rPr>
                        <a:t>2023</a:t>
                      </a:r>
                    </a:p>
                  </a:txBody>
                  <a:tcPr>
                    <a:solidFill>
                      <a:srgbClr val="F2F2F2"/>
                    </a:solidFill>
                  </a:tcPr>
                </a:tc>
                <a:tc>
                  <a:txBody>
                    <a:bodyPr/>
                    <a:lstStyle/>
                    <a:p>
                      <a:pPr algn="ctr"/>
                      <a:r>
                        <a:rPr sz="700" b="0" i="0">
                          <a:solidFill>
                            <a:srgbClr val="262626"/>
                          </a:solidFill>
                          <a:latin typeface="Arial"/>
                        </a:rPr>
                        <a:t>1:51:55</a:t>
                      </a:r>
                    </a:p>
                  </a:txBody>
                  <a:tcPr>
                    <a:solidFill>
                      <a:srgbClr val="F2F2F2"/>
                    </a:solidFill>
                  </a:tcPr>
                </a:tc>
                <a:tc>
                  <a:txBody>
                    <a:bodyPr/>
                    <a:lstStyle/>
                    <a:p>
                      <a:pPr algn="ctr"/>
                      <a:r>
                        <a:rPr sz="700" b="0" i="0">
                          <a:solidFill>
                            <a:srgbClr val="262626"/>
                          </a:solidFill>
                          <a:latin typeface="Arial"/>
                        </a:rPr>
                        <a:t>1:53:07
+72s</a:t>
                      </a:r>
                    </a:p>
                  </a:txBody>
                  <a:tcPr>
                    <a:solidFill>
                      <a:srgbClr val="F2F2F2"/>
                    </a:solidFill>
                  </a:tcPr>
                </a:tc>
                <a:tc>
                  <a:txBody>
                    <a:bodyPr/>
                    <a:lstStyle/>
                    <a:p>
                      <a:pPr algn="ctr"/>
                      <a:r>
                        <a:rPr sz="700" b="0" i="0">
                          <a:solidFill>
                            <a:srgbClr val="262626"/>
                          </a:solidFill>
                          <a:latin typeface="Arial"/>
                        </a:rPr>
                        <a:t>1:53:10
+75s</a:t>
                      </a:r>
                    </a:p>
                  </a:txBody>
                  <a:tcPr>
                    <a:solidFill>
                      <a:srgbClr val="F2F2F2"/>
                    </a:solidFill>
                  </a:tcPr>
                </a:tc>
                <a:tc>
                  <a:txBody>
                    <a:bodyPr/>
                    <a:lstStyle/>
                    <a:p>
                      <a:pPr algn="ctr"/>
                      <a:r>
                        <a:rPr sz="700" b="0" i="0">
                          <a:solidFill>
                            <a:srgbClr val="262626"/>
                          </a:solidFill>
                          <a:latin typeface="Arial"/>
                        </a:rPr>
                        <a:t>1:53:47
+112s</a:t>
                      </a:r>
                    </a:p>
                  </a:txBody>
                  <a:tcPr>
                    <a:solidFill>
                      <a:srgbClr val="F2F2F2"/>
                    </a:solidFill>
                  </a:tcPr>
                </a:tc>
                <a:tc>
                  <a:txBody>
                    <a:bodyPr/>
                    <a:lstStyle/>
                    <a:p>
                      <a:pPr algn="ctr"/>
                      <a:r>
                        <a:rPr sz="700" b="0" i="0">
                          <a:solidFill>
                            <a:srgbClr val="262626"/>
                          </a:solidFill>
                          <a:latin typeface="Arial"/>
                        </a:rPr>
                        <a:t>1:54:39
+164s</a:t>
                      </a:r>
                    </a:p>
                  </a:txBody>
                  <a:tcPr>
                    <a:solidFill>
                      <a:srgbClr val="F2F2F2"/>
                    </a:solidFill>
                  </a:tcPr>
                </a:tc>
                <a:tc>
                  <a:txBody>
                    <a:bodyPr/>
                    <a:lstStyle/>
                    <a:p>
                      <a:pPr algn="ctr"/>
                      <a:r>
                        <a:rPr sz="700" b="0" i="0">
                          <a:solidFill>
                            <a:srgbClr val="262626"/>
                          </a:solidFill>
                          <a:latin typeface="Arial"/>
                        </a:rPr>
                        <a:t>1:56:19
+264s</a:t>
                      </a:r>
                    </a:p>
                  </a:txBody>
                  <a:tcPr>
                    <a:solidFill>
                      <a:srgbClr val="F2F2F2"/>
                    </a:solidFill>
                  </a:tcPr>
                </a:tc>
                <a:extLst>
                  <a:ext uri="{0D108BD9-81ED-4DB2-BD59-A6C34878D82A}">
                    <a16:rowId xmlns:a16="http://schemas.microsoft.com/office/drawing/2014/main" val="10008"/>
                  </a:ext>
                </a:extLst>
              </a:tr>
              <a:tr h="286340">
                <a:tc>
                  <a:txBody>
                    <a:bodyPr/>
                    <a:lstStyle/>
                    <a:p>
                      <a:pPr algn="ctr"/>
                      <a:r>
                        <a:rPr sz="700" b="1" i="0">
                          <a:solidFill>
                            <a:srgbClr val="262626"/>
                          </a:solidFill>
                          <a:latin typeface="Arial"/>
                        </a:rPr>
                        <a:t>2024</a:t>
                      </a:r>
                    </a:p>
                  </a:txBody>
                  <a:tcPr>
                    <a:solidFill>
                      <a:srgbClr val="FFFFFF"/>
                    </a:solidFill>
                  </a:tcPr>
                </a:tc>
                <a:tc>
                  <a:txBody>
                    <a:bodyPr/>
                    <a:lstStyle/>
                    <a:p>
                      <a:pPr algn="ctr"/>
                      <a:r>
                        <a:rPr sz="700" b="0" i="0">
                          <a:solidFill>
                            <a:srgbClr val="262626"/>
                          </a:solidFill>
                          <a:latin typeface="Arial"/>
                        </a:rPr>
                        <a:t>1:54:24</a:t>
                      </a:r>
                    </a:p>
                  </a:txBody>
                  <a:tcPr>
                    <a:solidFill>
                      <a:srgbClr val="FFFFFF"/>
                    </a:solidFill>
                  </a:tcPr>
                </a:tc>
                <a:tc>
                  <a:txBody>
                    <a:bodyPr/>
                    <a:lstStyle/>
                    <a:p>
                      <a:pPr algn="ctr"/>
                      <a:r>
                        <a:rPr sz="700" b="0" i="0">
                          <a:solidFill>
                            <a:srgbClr val="262626"/>
                          </a:solidFill>
                          <a:latin typeface="Arial"/>
                        </a:rPr>
                        <a:t>1:54:33
+9s</a:t>
                      </a:r>
                    </a:p>
                  </a:txBody>
                  <a:tcPr>
                    <a:solidFill>
                      <a:srgbClr val="FFFFFF"/>
                    </a:solidFill>
                  </a:tcPr>
                </a:tc>
                <a:tc>
                  <a:txBody>
                    <a:bodyPr/>
                    <a:lstStyle/>
                    <a:p>
                      <a:pPr algn="ctr"/>
                      <a:r>
                        <a:rPr sz="700" b="0" i="0">
                          <a:solidFill>
                            <a:srgbClr val="262626"/>
                          </a:solidFill>
                          <a:latin typeface="Arial"/>
                        </a:rPr>
                        <a:t>1:54:49
+25s</a:t>
                      </a:r>
                    </a:p>
                  </a:txBody>
                  <a:tcPr>
                    <a:solidFill>
                      <a:srgbClr val="FFFFFF"/>
                    </a:solidFill>
                  </a:tcPr>
                </a:tc>
                <a:tc>
                  <a:txBody>
                    <a:bodyPr/>
                    <a:lstStyle/>
                    <a:p>
                      <a:pPr algn="ctr"/>
                      <a:r>
                        <a:rPr sz="700" b="0" i="0">
                          <a:solidFill>
                            <a:srgbClr val="262626"/>
                          </a:solidFill>
                          <a:latin typeface="Arial"/>
                        </a:rPr>
                        <a:t>1:55:03
+39s</a:t>
                      </a:r>
                    </a:p>
                  </a:txBody>
                  <a:tcPr>
                    <a:solidFill>
                      <a:srgbClr val="FFFFFF"/>
                    </a:solidFill>
                  </a:tcPr>
                </a:tc>
                <a:tc>
                  <a:txBody>
                    <a:bodyPr/>
                    <a:lstStyle/>
                    <a:p>
                      <a:pPr algn="ctr"/>
                      <a:r>
                        <a:rPr sz="700" b="0" i="0">
                          <a:solidFill>
                            <a:srgbClr val="262626"/>
                          </a:solidFill>
                          <a:latin typeface="Arial"/>
                        </a:rPr>
                        <a:t>1:55:41
+77s</a:t>
                      </a:r>
                    </a:p>
                  </a:txBody>
                  <a:tcPr>
                    <a:solidFill>
                      <a:srgbClr val="FFFFFF"/>
                    </a:solidFill>
                  </a:tcPr>
                </a:tc>
                <a:tc>
                  <a:txBody>
                    <a:bodyPr/>
                    <a:lstStyle/>
                    <a:p>
                      <a:pPr algn="ctr"/>
                      <a:r>
                        <a:rPr sz="700" b="0" i="0">
                          <a:solidFill>
                            <a:srgbClr val="262626"/>
                          </a:solidFill>
                          <a:latin typeface="Arial"/>
                        </a:rPr>
                        <a:t>1:57:19
+175s</a:t>
                      </a:r>
                    </a:p>
                  </a:txBody>
                  <a:tcPr>
                    <a:solidFill>
                      <a:srgbClr val="FFFFFF"/>
                    </a:solidFill>
                  </a:tcPr>
                </a:tc>
                <a:extLst>
                  <a:ext uri="{0D108BD9-81ED-4DB2-BD59-A6C34878D82A}">
                    <a16:rowId xmlns:a16="http://schemas.microsoft.com/office/drawing/2014/main" val="10009"/>
                  </a:ext>
                </a:extLst>
              </a:tr>
              <a:tr h="286340">
                <a:tc>
                  <a:txBody>
                    <a:bodyPr/>
                    <a:lstStyle/>
                    <a:p>
                      <a:pPr algn="ctr"/>
                      <a:r>
                        <a:rPr sz="700" b="1" i="0">
                          <a:solidFill>
                            <a:srgbClr val="262626"/>
                          </a:solidFill>
                          <a:latin typeface="Arial"/>
                        </a:rPr>
                        <a:t>2025</a:t>
                      </a:r>
                    </a:p>
                  </a:txBody>
                  <a:tcPr>
                    <a:solidFill>
                      <a:srgbClr val="F2F2F2"/>
                    </a:solidFill>
                  </a:tcPr>
                </a:tc>
                <a:tc>
                  <a:txBody>
                    <a:bodyPr/>
                    <a:lstStyle/>
                    <a:p>
                      <a:pPr algn="ctr"/>
                      <a:r>
                        <a:rPr sz="700" b="0" i="0">
                          <a:solidFill>
                            <a:srgbClr val="262626"/>
                          </a:solidFill>
                          <a:latin typeface="Arial"/>
                        </a:rPr>
                        <a:t>1:49:22</a:t>
                      </a:r>
                    </a:p>
                  </a:txBody>
                  <a:tcPr>
                    <a:solidFill>
                      <a:srgbClr val="F2F2F2"/>
                    </a:solidFill>
                  </a:tcPr>
                </a:tc>
                <a:tc>
                  <a:txBody>
                    <a:bodyPr/>
                    <a:lstStyle/>
                    <a:p>
                      <a:pPr algn="ctr"/>
                      <a:r>
                        <a:rPr sz="700" b="0" i="0">
                          <a:solidFill>
                            <a:srgbClr val="262626"/>
                          </a:solidFill>
                          <a:latin typeface="Arial"/>
                        </a:rPr>
                        <a:t>1:49:29
+7s</a:t>
                      </a:r>
                    </a:p>
                  </a:txBody>
                  <a:tcPr>
                    <a:solidFill>
                      <a:srgbClr val="F2F2F2"/>
                    </a:solidFill>
                  </a:tcPr>
                </a:tc>
                <a:tc>
                  <a:txBody>
                    <a:bodyPr/>
                    <a:lstStyle/>
                    <a:p>
                      <a:pPr algn="ctr"/>
                      <a:r>
                        <a:rPr sz="700" b="0" i="0">
                          <a:solidFill>
                            <a:srgbClr val="262626"/>
                          </a:solidFill>
                          <a:latin typeface="Arial"/>
                        </a:rPr>
                        <a:t>1:49:46
+24s</a:t>
                      </a:r>
                    </a:p>
                  </a:txBody>
                  <a:tcPr>
                    <a:solidFill>
                      <a:srgbClr val="F2F2F2"/>
                    </a:solidFill>
                  </a:tcPr>
                </a:tc>
                <a:tc>
                  <a:txBody>
                    <a:bodyPr/>
                    <a:lstStyle/>
                    <a:p>
                      <a:pPr algn="ctr"/>
                      <a:r>
                        <a:rPr sz="700" b="0" i="0">
                          <a:solidFill>
                            <a:srgbClr val="262626"/>
                          </a:solidFill>
                          <a:latin typeface="Arial"/>
                        </a:rPr>
                        <a:t>1:49:52
+30s</a:t>
                      </a:r>
                    </a:p>
                  </a:txBody>
                  <a:tcPr>
                    <a:solidFill>
                      <a:srgbClr val="F2F2F2"/>
                    </a:solidFill>
                  </a:tcPr>
                </a:tc>
                <a:tc>
                  <a:txBody>
                    <a:bodyPr/>
                    <a:lstStyle/>
                    <a:p>
                      <a:pPr algn="ctr"/>
                      <a:r>
                        <a:rPr sz="700" b="0" i="0">
                          <a:solidFill>
                            <a:srgbClr val="262626"/>
                          </a:solidFill>
                          <a:latin typeface="Arial"/>
                        </a:rPr>
                        <a:t>1:50:41
+79s</a:t>
                      </a:r>
                    </a:p>
                  </a:txBody>
                  <a:tcPr>
                    <a:solidFill>
                      <a:srgbClr val="F2F2F2"/>
                    </a:solidFill>
                  </a:tcPr>
                </a:tc>
                <a:tc>
                  <a:txBody>
                    <a:bodyPr/>
                    <a:lstStyle/>
                    <a:p>
                      <a:pPr algn="ctr"/>
                      <a:r>
                        <a:rPr sz="700" b="0" i="0" dirty="0">
                          <a:solidFill>
                            <a:srgbClr val="262626"/>
                          </a:solidFill>
                          <a:latin typeface="Arial"/>
                        </a:rPr>
                        <a:t>1:51:31
+129s</a:t>
                      </a:r>
                    </a:p>
                  </a:txBody>
                  <a:tcPr>
                    <a:solidFill>
                      <a:srgbClr val="F2F2F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4613564"/>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15636">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15636">
                <a:tc>
                  <a:txBody>
                    <a:bodyPr/>
                    <a:lstStyle/>
                    <a:p>
                      <a:pPr algn="ctr"/>
                      <a:r>
                        <a:rPr sz="1000" b="0" i="0">
                          <a:solidFill>
                            <a:srgbClr val="262626"/>
                          </a:solidFill>
                          <a:latin typeface="Arial"/>
                        </a:rPr>
                        <a:t>2016</a:t>
                      </a:r>
                    </a:p>
                  </a:txBody>
                  <a:tcPr>
                    <a:solidFill>
                      <a:srgbClr val="FFFFFF"/>
                    </a:solidFill>
                  </a:tcPr>
                </a:tc>
                <a:tc>
                  <a:txBody>
                    <a:bodyPr/>
                    <a:lstStyle/>
                    <a:p>
                      <a:pPr algn="ctr"/>
                      <a:r>
                        <a:rPr sz="1000" b="0" i="0">
                          <a:solidFill>
                            <a:srgbClr val="262626"/>
                          </a:solidFill>
                          <a:latin typeface="Arial"/>
                        </a:rPr>
                        <a:t>Aug 28</a:t>
                      </a:r>
                    </a:p>
                  </a:txBody>
                  <a:tcPr>
                    <a:solidFill>
                      <a:srgbClr val="FFFFFF"/>
                    </a:solidFill>
                  </a:tcPr>
                </a:tc>
                <a:tc>
                  <a:txBody>
                    <a:bodyPr/>
                    <a:lstStyle/>
                    <a:p>
                      <a:pPr algn="ctr"/>
                      <a:r>
                        <a:rPr sz="1000" b="0" i="0">
                          <a:solidFill>
                            <a:srgbClr val="262626"/>
                          </a:solidFill>
                          <a:latin typeface="Arial"/>
                        </a:rPr>
                        <a:t>25.8</a:t>
                      </a:r>
                    </a:p>
                  </a:txBody>
                  <a:tcPr>
                    <a:solidFill>
                      <a:srgbClr val="FFFFFF"/>
                    </a:solidFill>
                  </a:tcPr>
                </a:tc>
                <a:tc>
                  <a:txBody>
                    <a:bodyPr/>
                    <a:lstStyle/>
                    <a:p>
                      <a:pPr algn="ctr"/>
                      <a:r>
                        <a:rPr sz="1000" b="0" i="0">
                          <a:solidFill>
                            <a:srgbClr val="262626"/>
                          </a:solidFill>
                          <a:latin typeface="Arial"/>
                        </a:rPr>
                        <a:t>52%</a:t>
                      </a:r>
                    </a:p>
                  </a:txBody>
                  <a:tcPr>
                    <a:solidFill>
                      <a:srgbClr val="FFFFFF"/>
                    </a:solidFill>
                  </a:tcPr>
                </a:tc>
                <a:tc>
                  <a:txBody>
                    <a:bodyPr/>
                    <a:lstStyle/>
                    <a:p>
                      <a:pPr algn="ctr"/>
                      <a:r>
                        <a:rPr sz="1000" b="0" i="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15636">
                <a:tc>
                  <a:txBody>
                    <a:bodyPr/>
                    <a:lstStyle/>
                    <a:p>
                      <a:pPr algn="ctr"/>
                      <a:r>
                        <a:rPr sz="1000" b="0" i="0">
                          <a:solidFill>
                            <a:srgbClr val="262626"/>
                          </a:solidFill>
                          <a:latin typeface="Arial"/>
                        </a:rPr>
                        <a:t>2017</a:t>
                      </a:r>
                    </a:p>
                  </a:txBody>
                  <a:tcPr>
                    <a:solidFill>
                      <a:srgbClr val="F2F2F2"/>
                    </a:solidFill>
                  </a:tcPr>
                </a:tc>
                <a:tc>
                  <a:txBody>
                    <a:bodyPr/>
                    <a:lstStyle/>
                    <a:p>
                      <a:pPr algn="ctr"/>
                      <a:r>
                        <a:rPr sz="1000" b="0" i="0">
                          <a:solidFill>
                            <a:srgbClr val="262626"/>
                          </a:solidFill>
                          <a:latin typeface="Arial"/>
                        </a:rPr>
                        <a:t>Sep 03</a:t>
                      </a:r>
                    </a:p>
                  </a:txBody>
                  <a:tcPr>
                    <a:solidFill>
                      <a:srgbClr val="F2F2F2"/>
                    </a:solidFill>
                  </a:tcPr>
                </a:tc>
                <a:tc>
                  <a:txBody>
                    <a:bodyPr/>
                    <a:lstStyle/>
                    <a:p>
                      <a:pPr algn="ctr"/>
                      <a:r>
                        <a:rPr sz="1000" b="0" i="0">
                          <a:solidFill>
                            <a:srgbClr val="262626"/>
                          </a:solidFill>
                          <a:latin typeface="Arial"/>
                        </a:rPr>
                        <a:t>14.0</a:t>
                      </a:r>
                    </a:p>
                  </a:txBody>
                  <a:tcPr>
                    <a:solidFill>
                      <a:srgbClr val="F2F2F2"/>
                    </a:solidFill>
                  </a:tcPr>
                </a:tc>
                <a:tc>
                  <a:txBody>
                    <a:bodyPr/>
                    <a:lstStyle/>
                    <a:p>
                      <a:pPr algn="ctr"/>
                      <a:r>
                        <a:rPr sz="1000" b="0" i="0">
                          <a:solidFill>
                            <a:srgbClr val="262626"/>
                          </a:solidFill>
                          <a:latin typeface="Arial"/>
                        </a:rPr>
                        <a:t>59%</a:t>
                      </a:r>
                    </a:p>
                  </a:txBody>
                  <a:tcPr>
                    <a:solidFill>
                      <a:srgbClr val="F2F2F2"/>
                    </a:solidFill>
                  </a:tcPr>
                </a:tc>
                <a:tc>
                  <a:txBody>
                    <a:bodyPr/>
                    <a:lstStyle/>
                    <a:p>
                      <a:pPr algn="ctr"/>
                      <a:r>
                        <a:rPr sz="1000" b="0" i="0">
                          <a:solidFill>
                            <a:srgbClr val="262626"/>
                          </a:solidFill>
                          <a:latin typeface="Arial"/>
                        </a:rPr>
                        <a:t>8</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15636">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Sep 01</a:t>
                      </a:r>
                    </a:p>
                  </a:txBody>
                  <a:tcPr>
                    <a:solidFill>
                      <a:srgbClr val="FFFFFF"/>
                    </a:solidFill>
                  </a:tcPr>
                </a:tc>
                <a:tc>
                  <a:txBody>
                    <a:bodyPr/>
                    <a:lstStyle/>
                    <a:p>
                      <a:pPr algn="ctr"/>
                      <a:r>
                        <a:rPr sz="1000" b="0" i="0">
                          <a:solidFill>
                            <a:srgbClr val="262626"/>
                          </a:solidFill>
                          <a:latin typeface="Arial"/>
                        </a:rPr>
                        <a:t>15.8</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15</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15636">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Aug 25</a:t>
                      </a:r>
                    </a:p>
                  </a:txBody>
                  <a:tcPr>
                    <a:solidFill>
                      <a:srgbClr val="F2F2F2"/>
                    </a:solidFill>
                  </a:tcPr>
                </a:tc>
                <a:tc>
                  <a:txBody>
                    <a:bodyPr/>
                    <a:lstStyle/>
                    <a:p>
                      <a:pPr algn="ctr"/>
                      <a:r>
                        <a:rPr sz="1000" b="0" i="0">
                          <a:solidFill>
                            <a:srgbClr val="262626"/>
                          </a:solidFill>
                          <a:latin typeface="Arial"/>
                        </a:rPr>
                        <a:t>24.5</a:t>
                      </a:r>
                    </a:p>
                  </a:txBody>
                  <a:tcPr>
                    <a:solidFill>
                      <a:srgbClr val="F2F2F2"/>
                    </a:solidFill>
                  </a:tcPr>
                </a:tc>
                <a:tc>
                  <a:txBody>
                    <a:bodyPr/>
                    <a:lstStyle/>
                    <a:p>
                      <a:pPr algn="ctr"/>
                      <a:r>
                        <a:rPr sz="1000" b="0" i="0">
                          <a:solidFill>
                            <a:srgbClr val="262626"/>
                          </a:solidFill>
                          <a:latin typeface="Arial"/>
                        </a:rPr>
                        <a:t>59%</a:t>
                      </a:r>
                    </a:p>
                  </a:txBody>
                  <a:tcPr>
                    <a:solidFill>
                      <a:srgbClr val="F2F2F2"/>
                    </a:solidFill>
                  </a:tcPr>
                </a:tc>
                <a:tc>
                  <a:txBody>
                    <a:bodyPr/>
                    <a:lstStyle/>
                    <a:p>
                      <a:pPr algn="ctr"/>
                      <a:r>
                        <a:rPr sz="1000" b="0" i="0">
                          <a:solidFill>
                            <a:srgbClr val="262626"/>
                          </a:solidFill>
                          <a:latin typeface="Arial"/>
                        </a:rPr>
                        <a:t>13</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15636">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Sep 13</a:t>
                      </a:r>
                    </a:p>
                  </a:txBody>
                  <a:tcPr>
                    <a:solidFill>
                      <a:srgbClr val="FFFFFF"/>
                    </a:solidFill>
                  </a:tcPr>
                </a:tc>
                <a:tc>
                  <a:txBody>
                    <a:bodyPr/>
                    <a:lstStyle/>
                    <a:p>
                      <a:pPr algn="ctr"/>
                      <a:r>
                        <a:rPr sz="1000" b="0" i="0">
                          <a:solidFill>
                            <a:srgbClr val="262626"/>
                          </a:solidFill>
                          <a:latin typeface="Arial"/>
                        </a:rPr>
                        <a:t>21.8</a:t>
                      </a:r>
                    </a:p>
                  </a:txBody>
                  <a:tcPr>
                    <a:solidFill>
                      <a:srgbClr val="FFFFFF"/>
                    </a:solidFill>
                  </a:tcPr>
                </a:tc>
                <a:tc>
                  <a:txBody>
                    <a:bodyPr/>
                    <a:lstStyle/>
                    <a:p>
                      <a:pPr algn="ctr"/>
                      <a:r>
                        <a:rPr sz="1000" b="0" i="0">
                          <a:solidFill>
                            <a:srgbClr val="262626"/>
                          </a:solidFill>
                          <a:latin typeface="Arial"/>
                        </a:rPr>
                        <a:t>50%</a:t>
                      </a:r>
                    </a:p>
                  </a:txBody>
                  <a:tcPr>
                    <a:solidFill>
                      <a:srgbClr val="FFFFFF"/>
                    </a:solidFill>
                  </a:tcPr>
                </a:tc>
                <a:tc>
                  <a:txBody>
                    <a:bodyPr/>
                    <a:lstStyle/>
                    <a:p>
                      <a:pPr algn="ctr"/>
                      <a:r>
                        <a:rPr sz="1000" b="0" i="0">
                          <a:solidFill>
                            <a:srgbClr val="262626"/>
                          </a:solidFill>
                          <a:latin typeface="Arial"/>
                        </a:rPr>
                        <a:t>7</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15636">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Sep 11</a:t>
                      </a:r>
                    </a:p>
                  </a:txBody>
                  <a:tcPr>
                    <a:solidFill>
                      <a:srgbClr val="F2F2F2"/>
                    </a:solidFill>
                  </a:tcPr>
                </a:tc>
                <a:tc>
                  <a:txBody>
                    <a:bodyPr/>
                    <a:lstStyle/>
                    <a:p>
                      <a:pPr algn="ctr"/>
                      <a:r>
                        <a:rPr sz="1000" b="0" i="0">
                          <a:solidFill>
                            <a:srgbClr val="262626"/>
                          </a:solidFill>
                          <a:latin typeface="Arial"/>
                        </a:rPr>
                        <a:t>18.8</a:t>
                      </a:r>
                    </a:p>
                  </a:txBody>
                  <a:tcPr>
                    <a:solidFill>
                      <a:srgbClr val="F2F2F2"/>
                    </a:solidFill>
                  </a:tcPr>
                </a:tc>
                <a:tc>
                  <a:txBody>
                    <a:bodyPr/>
                    <a:lstStyle/>
                    <a:p>
                      <a:pPr algn="ctr"/>
                      <a:r>
                        <a:rPr sz="1000" b="0" i="0">
                          <a:solidFill>
                            <a:srgbClr val="262626"/>
                          </a:solidFill>
                          <a:latin typeface="Arial"/>
                        </a:rPr>
                        <a:t>81%</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0.1</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15636">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Sep 11</a:t>
                      </a:r>
                    </a:p>
                  </a:txBody>
                  <a:tcPr>
                    <a:solidFill>
                      <a:srgbClr val="FFFFFF"/>
                    </a:solidFill>
                  </a:tcPr>
                </a:tc>
                <a:tc>
                  <a:txBody>
                    <a:bodyPr/>
                    <a:lstStyle/>
                    <a:p>
                      <a:pPr algn="ctr"/>
                      <a:r>
                        <a:rPr sz="1000" b="0" i="0">
                          <a:solidFill>
                            <a:srgbClr val="262626"/>
                          </a:solidFill>
                          <a:latin typeface="Arial"/>
                        </a:rPr>
                        <a:t>16.9</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12</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allowed</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r h="415636">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Sep 10</a:t>
                      </a:r>
                    </a:p>
                  </a:txBody>
                  <a:tcPr>
                    <a:solidFill>
                      <a:srgbClr val="F2F2F2"/>
                    </a:solidFill>
                  </a:tcPr>
                </a:tc>
                <a:tc>
                  <a:txBody>
                    <a:bodyPr/>
                    <a:lstStyle/>
                    <a:p>
                      <a:pPr algn="ctr"/>
                      <a:r>
                        <a:rPr sz="1000" b="0" i="0">
                          <a:solidFill>
                            <a:srgbClr val="262626"/>
                          </a:solidFill>
                          <a:latin typeface="Arial"/>
                        </a:rPr>
                        <a:t>27</a:t>
                      </a:r>
                    </a:p>
                  </a:txBody>
                  <a:tcPr>
                    <a:solidFill>
                      <a:srgbClr val="F2F2F2"/>
                    </a:solidFill>
                  </a:tcPr>
                </a:tc>
                <a:tc>
                  <a:txBody>
                    <a:bodyPr/>
                    <a:lstStyle/>
                    <a:p>
                      <a:pPr algn="ctr"/>
                      <a:r>
                        <a:rPr sz="1000" b="0" i="0">
                          <a:solidFill>
                            <a:srgbClr val="262626"/>
                          </a:solidFill>
                          <a:latin typeface="Arial"/>
                        </a:rPr>
                        <a:t>48%</a:t>
                      </a:r>
                    </a:p>
                  </a:txBody>
                  <a:tcPr>
                    <a:solidFill>
                      <a:srgbClr val="F2F2F2"/>
                    </a:solidFill>
                  </a:tcPr>
                </a:tc>
                <a:tc>
                  <a:txBody>
                    <a:bodyPr/>
                    <a:lstStyle/>
                    <a:p>
                      <a:pPr algn="ctr"/>
                      <a:r>
                        <a:rPr sz="1000" b="0" i="0">
                          <a:solidFill>
                            <a:srgbClr val="262626"/>
                          </a:solidFill>
                          <a:latin typeface="Arial"/>
                        </a:rPr>
                        <a:t>4</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19.8</a:t>
                      </a:r>
                    </a:p>
                  </a:txBody>
                  <a:tcPr>
                    <a:solidFill>
                      <a:srgbClr val="F2F2F2"/>
                    </a:solidFill>
                  </a:tcPr>
                </a:tc>
                <a:tc>
                  <a:txBody>
                    <a:bodyPr/>
                    <a:lstStyle/>
                    <a:p>
                      <a:pPr algn="ctr"/>
                      <a:r>
                        <a:rPr sz="1000" b="0" i="0">
                          <a:solidFill>
                            <a:srgbClr val="262626"/>
                          </a:solidFill>
                          <a:latin typeface="Arial"/>
                        </a:rPr>
                        <a:t>allowed</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8"/>
                  </a:ext>
                </a:extLst>
              </a:tr>
              <a:tr h="415636">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Sep 08</a:t>
                      </a:r>
                    </a:p>
                  </a:txBody>
                  <a:tcPr>
                    <a:solidFill>
                      <a:srgbClr val="FFFFFF"/>
                    </a:solidFill>
                  </a:tcPr>
                </a:tc>
                <a:tc>
                  <a:txBody>
                    <a:bodyPr/>
                    <a:lstStyle/>
                    <a:p>
                      <a:pPr algn="ctr"/>
                      <a:r>
                        <a:rPr sz="1000" b="0" i="0">
                          <a:solidFill>
                            <a:srgbClr val="262626"/>
                          </a:solidFill>
                          <a:latin typeface="Arial"/>
                        </a:rPr>
                        <a:t>27.5</a:t>
                      </a:r>
                    </a:p>
                  </a:txBody>
                  <a:tcPr>
                    <a:solidFill>
                      <a:srgbClr val="FFFFFF"/>
                    </a:solidFill>
                  </a:tcPr>
                </a:tc>
                <a:tc>
                  <a:txBody>
                    <a:bodyPr/>
                    <a:lstStyle/>
                    <a:p>
                      <a:pPr algn="ctr"/>
                      <a:r>
                        <a:rPr sz="1000" b="0" i="0">
                          <a:solidFill>
                            <a:srgbClr val="262626"/>
                          </a:solidFill>
                          <a:latin typeface="Arial"/>
                        </a:rPr>
                        <a:t>46%</a:t>
                      </a:r>
                    </a:p>
                  </a:txBody>
                  <a:tcPr>
                    <a:solidFill>
                      <a:srgbClr val="FFFFFF"/>
                    </a:solidFill>
                  </a:tcPr>
                </a:tc>
                <a:tc>
                  <a:txBody>
                    <a:bodyPr/>
                    <a:lstStyle/>
                    <a:p>
                      <a:pPr algn="ctr"/>
                      <a:r>
                        <a:rPr sz="1000" b="0" i="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24.9</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9"/>
                  </a:ext>
                </a:extLst>
              </a:tr>
              <a:tr h="415640">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Sep 14</a:t>
                      </a:r>
                    </a:p>
                  </a:txBody>
                  <a:tcPr>
                    <a:solidFill>
                      <a:srgbClr val="F2F2F2"/>
                    </a:solidFill>
                  </a:tcPr>
                </a:tc>
                <a:tc>
                  <a:txBody>
                    <a:bodyPr/>
                    <a:lstStyle/>
                    <a:p>
                      <a:pPr algn="ctr"/>
                      <a:r>
                        <a:rPr sz="1000" b="0" i="0">
                          <a:solidFill>
                            <a:srgbClr val="262626"/>
                          </a:solidFill>
                          <a:latin typeface="Arial"/>
                        </a:rPr>
                        <a:t>19.3</a:t>
                      </a:r>
                    </a:p>
                  </a:txBody>
                  <a:tcPr>
                    <a:solidFill>
                      <a:srgbClr val="F2F2F2"/>
                    </a:solidFill>
                  </a:tcPr>
                </a:tc>
                <a:tc>
                  <a:txBody>
                    <a:bodyPr/>
                    <a:lstStyle/>
                    <a:p>
                      <a:pPr algn="ctr"/>
                      <a:r>
                        <a:rPr sz="1000" b="0" i="0">
                          <a:solidFill>
                            <a:srgbClr val="262626"/>
                          </a:solidFill>
                          <a:latin typeface="Arial"/>
                        </a:rPr>
                        <a:t>81%</a:t>
                      </a:r>
                    </a:p>
                  </a:txBody>
                  <a:tcPr>
                    <a:solidFill>
                      <a:srgbClr val="F2F2F2"/>
                    </a:solidFill>
                  </a:tcPr>
                </a:tc>
                <a:tc>
                  <a:txBody>
                    <a:bodyPr/>
                    <a:lstStyle/>
                    <a:p>
                      <a:pPr algn="ctr"/>
                      <a:r>
                        <a:rPr sz="1000" b="0" i="0">
                          <a:solidFill>
                            <a:srgbClr val="262626"/>
                          </a:solidFill>
                          <a:latin typeface="Arial"/>
                        </a:rPr>
                        <a:t>13</a:t>
                      </a:r>
                    </a:p>
                  </a:txBody>
                  <a:tcPr>
                    <a:solidFill>
                      <a:srgbClr val="F2F2F2"/>
                    </a:solidFill>
                  </a:tcPr>
                </a:tc>
                <a:tc>
                  <a:txBody>
                    <a:bodyPr/>
                    <a:lstStyle/>
                    <a:p>
                      <a:pPr algn="ctr"/>
                      <a:r>
                        <a:rPr sz="1000" b="0" i="0">
                          <a:solidFill>
                            <a:srgbClr val="262626"/>
                          </a:solidFill>
                          <a:latin typeface="Arial"/>
                        </a:rPr>
                        <a:t>0.6</a:t>
                      </a:r>
                    </a:p>
                  </a:txBody>
                  <a:tcPr>
                    <a:solidFill>
                      <a:srgbClr val="F2F2F2"/>
                    </a:solidFill>
                  </a:tcPr>
                </a:tc>
                <a:tc>
                  <a:txBody>
                    <a:bodyPr/>
                    <a:lstStyle/>
                    <a:p>
                      <a:pPr algn="ctr"/>
                      <a:r>
                        <a:rPr sz="1000" b="0" i="0">
                          <a:solidFill>
                            <a:srgbClr val="262626"/>
                          </a:solidFill>
                          <a:latin typeface="Arial"/>
                        </a:rPr>
                        <a:t>18.0</a:t>
                      </a:r>
                    </a:p>
                  </a:txBody>
                  <a:tcPr>
                    <a:solidFill>
                      <a:srgbClr val="F2F2F2"/>
                    </a:solidFill>
                  </a:tcPr>
                </a:tc>
                <a:tc>
                  <a:txBody>
                    <a:bodyPr/>
                    <a:lstStyle/>
                    <a:p>
                      <a:pPr algn="ctr"/>
                      <a:r>
                        <a:rPr sz="1000" b="0" i="0">
                          <a:solidFill>
                            <a:srgbClr val="262626"/>
                          </a:solidFill>
                          <a:latin typeface="Arial"/>
                        </a:rPr>
                        <a:t>allowed</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10:00–17:00 local) where WT API data is absent. Values marked * are Open-Meteo estimates. Water temp and wetsuit ruling are from the World Triathlon API per program.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KARLOVY VARY</a:t>
            </a:r>
          </a:p>
        </p:txBody>
      </p:sp>
      <p:sp>
        <p:nvSpPr>
          <p:cNvPr id="10" name="TextBox 9"/>
          <p:cNvSpPr txBox="1"/>
          <p:nvPr/>
        </p:nvSpPr>
        <p:spPr>
          <a:xfrm>
            <a:off x="274320" y="1508760"/>
            <a:ext cx="6400800" cy="3046988"/>
          </a:xfrm>
          <a:prstGeom prst="rect">
            <a:avLst/>
          </a:prstGeom>
          <a:noFill/>
        </p:spPr>
        <p:txBody>
          <a:bodyPr wrap="square">
            <a:spAutoFit/>
          </a:bodyPr>
          <a:lstStyle/>
          <a:p>
            <a:pPr algn="l"/>
            <a:r>
              <a:rPr sz="1600" b="0" i="0" dirty="0">
                <a:solidFill>
                  <a:srgbClr val="262626"/>
                </a:solidFill>
                <a:latin typeface="Arial"/>
              </a:rPr>
              <a:t>The Elite Women race at Karlovy Vary has been held 10 times in this analysis window (2016–2025). </a:t>
            </a:r>
            <a:r>
              <a:rPr lang="en-US" sz="1600" b="0" i="0" dirty="0">
                <a:solidFill>
                  <a:srgbClr val="262626"/>
                </a:solidFill>
                <a:latin typeface="Arial"/>
              </a:rPr>
              <a:t>Beth Potter won the first WTCS edition here last year, coming from behind off the bike to close on the breakaway and take the win with the fastest run split of 32:42. </a:t>
            </a:r>
            <a:r>
              <a:rPr sz="1600" b="0" i="0" dirty="0">
                <a:solidFill>
                  <a:srgbClr val="262626"/>
                </a:solidFill>
                <a:latin typeface="Arial"/>
              </a:rPr>
              <a:t>
</a:t>
            </a:r>
            <a:r>
              <a:rPr lang="en-US" sz="1600" b="0" i="0" dirty="0">
                <a:solidFill>
                  <a:srgbClr val="262626"/>
                </a:solidFill>
                <a:latin typeface="Arial"/>
              </a:rPr>
              <a:t>Athletes competing here should expect for the strong swim/bikers to again put the pace on early </a:t>
            </a:r>
            <a:r>
              <a:rPr lang="en-US" sz="1600" dirty="0">
                <a:solidFill>
                  <a:srgbClr val="262626"/>
                </a:solidFill>
                <a:latin typeface="Arial"/>
              </a:rPr>
              <a:t>with the hopes of dropping fast runners like Potter. However, those in the breakaway, should keep in mind the matches they are burning on the repeated climbs and how that will affect their run legs. While significant time can be made on the bike here, the flat run course offers the talented runners an opportunity to chase down athletes who may have over biked. </a:t>
            </a:r>
            <a:endParaRPr sz="1600" b="0" i="0" dirty="0">
              <a:solidFill>
                <a:srgbClr val="262626"/>
              </a:solidFill>
              <a:latin typeface="Arial"/>
            </a:endParaRP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015663"/>
          </a:xfrm>
          <a:prstGeom prst="rect">
            <a:avLst/>
          </a:prstGeom>
          <a:noFill/>
        </p:spPr>
        <p:txBody>
          <a:bodyPr wrap="square">
            <a:spAutoFit/>
          </a:bodyPr>
          <a:lstStyle/>
          <a:p>
            <a:r>
              <a:rPr lang="en-US" sz="1200" dirty="0">
                <a:solidFill>
                  <a:srgbClr val="262626"/>
                </a:solidFill>
                <a:latin typeface="Arial"/>
              </a:rPr>
              <a:t>Course was short was year with the average time for the standard distance at 17:40. Again, the technical requirements of navigating around an island and bridge along with the </a:t>
            </a:r>
            <a:r>
              <a:rPr lang="en-US" sz="1200" dirty="0" err="1">
                <a:solidFill>
                  <a:srgbClr val="262626"/>
                </a:solidFill>
                <a:latin typeface="Arial"/>
              </a:rPr>
              <a:t>Auzzie</a:t>
            </a:r>
            <a:r>
              <a:rPr lang="en-US" sz="1200" dirty="0">
                <a:solidFill>
                  <a:srgbClr val="262626"/>
                </a:solidFill>
                <a:latin typeface="Arial"/>
              </a:rPr>
              <a:t> exit has often strung out the field and resulted in only 5-10 coming out of the water close to the lead. </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6" name="TextBox 15"/>
          <p:cNvSpPr txBox="1"/>
          <p:nvPr/>
        </p:nvSpPr>
        <p:spPr>
          <a:xfrm>
            <a:off x="7452360" y="3227832"/>
            <a:ext cx="4434840" cy="1384995"/>
          </a:xfrm>
          <a:prstGeom prst="rect">
            <a:avLst/>
          </a:prstGeom>
          <a:noFill/>
        </p:spPr>
        <p:txBody>
          <a:bodyPr wrap="square">
            <a:spAutoFit/>
          </a:bodyPr>
          <a:lstStyle/>
          <a:p>
            <a:pPr algn="l"/>
            <a:r>
              <a:rPr lang="en-US" sz="1200" dirty="0">
                <a:solidFill>
                  <a:srgbClr val="262626"/>
                </a:solidFill>
                <a:latin typeface="Arial"/>
              </a:rPr>
              <a:t>Like the men’s races, strong swim bikers in the women’s race have also historically used the hilly course to further separate the field. However, where the men’s chase group has held the gap relatively close, it has ballooned more so on the women’s side. Don’t be surprised if a group of less than 5 women are able to put multiple minutes into just the first chase group at T2. </a:t>
            </a:r>
            <a:endParaRPr sz="1200" b="0" i="0" dirty="0">
              <a:solidFill>
                <a:srgbClr val="262626"/>
              </a:solidFill>
              <a:latin typeface="Arial"/>
            </a:endParaRPr>
          </a:p>
        </p:txBody>
      </p:sp>
      <p:sp>
        <p:nvSpPr>
          <p:cNvPr id="18" name="TextBox 17"/>
          <p:cNvSpPr txBox="1"/>
          <p:nvPr/>
        </p:nvSpPr>
        <p:spPr>
          <a:xfrm>
            <a:off x="7452360" y="4932172"/>
            <a:ext cx="4434840" cy="1200329"/>
          </a:xfrm>
          <a:prstGeom prst="rect">
            <a:avLst/>
          </a:prstGeom>
          <a:noFill/>
        </p:spPr>
        <p:txBody>
          <a:bodyPr wrap="square">
            <a:spAutoFit/>
          </a:bodyPr>
          <a:lstStyle/>
          <a:p>
            <a:pPr algn="l"/>
            <a:r>
              <a:rPr lang="en-US" sz="1200" b="0" i="0" dirty="0">
                <a:solidFill>
                  <a:srgbClr val="262626"/>
                </a:solidFill>
                <a:latin typeface="Arial"/>
              </a:rPr>
              <a:t>The fast and flat run course has suited the top women here. Beth Potter, the ‘25 winner, ran a 32:42 last year, which was nearly a minute faster than the winner at Yokohama who ran a 33:38. Thus while th</a:t>
            </a:r>
            <a:r>
              <a:rPr lang="en-US" sz="1200" dirty="0">
                <a:solidFill>
                  <a:srgbClr val="262626"/>
                </a:solidFill>
                <a:latin typeface="Arial"/>
              </a:rPr>
              <a:t>e race is difficult, the flat urban roads do offer the top runners a great opportunity to pass those who override the bike. </a:t>
            </a:r>
            <a:endParaRPr sz="1200" b="0" i="0" dirty="0">
              <a:solidFill>
                <a:srgbClr val="262626"/>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2472644697"/>
              </p:ext>
            </p:extLst>
          </p:nvPr>
        </p:nvGraphicFramePr>
        <p:xfrm>
          <a:off x="274320" y="1143000"/>
          <a:ext cx="11640307" cy="5298369"/>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789820">
                  <a:extLst>
                    <a:ext uri="{9D8B030D-6E8A-4147-A177-3AD203B41FA5}">
                      <a16:colId xmlns:a16="http://schemas.microsoft.com/office/drawing/2014/main" val="20002"/>
                    </a:ext>
                  </a:extLst>
                </a:gridCol>
                <a:gridCol w="679336">
                  <a:extLst>
                    <a:ext uri="{9D8B030D-6E8A-4147-A177-3AD203B41FA5}">
                      <a16:colId xmlns:a16="http://schemas.microsoft.com/office/drawing/2014/main" val="20003"/>
                    </a:ext>
                  </a:extLst>
                </a:gridCol>
                <a:gridCol w="971664">
                  <a:extLst>
                    <a:ext uri="{9D8B030D-6E8A-4147-A177-3AD203B41FA5}">
                      <a16:colId xmlns:a16="http://schemas.microsoft.com/office/drawing/2014/main" val="20004"/>
                    </a:ext>
                  </a:extLst>
                </a:gridCol>
                <a:gridCol w="17998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05027">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478020">
                <a:tc>
                  <a:txBody>
                    <a:bodyPr/>
                    <a:lstStyle/>
                    <a:p>
                      <a:pPr algn="ctr"/>
                      <a:r>
                        <a:rPr sz="1400" b="0" i="0">
                          <a:solidFill>
                            <a:srgbClr val="262626"/>
                          </a:solidFill>
                          <a:latin typeface="Arial"/>
                        </a:rPr>
                        <a:t>2016</a:t>
                      </a:r>
                    </a:p>
                  </a:txBody>
                  <a:tcPr>
                    <a:solidFill>
                      <a:srgbClr val="FFFFFF"/>
                    </a:solidFill>
                  </a:tcPr>
                </a:tc>
                <a:tc>
                  <a:txBody>
                    <a:bodyPr/>
                    <a:lstStyle/>
                    <a:p>
                      <a:pPr algn="ctr"/>
                      <a:r>
                        <a:rPr sz="1400" b="0" i="0">
                          <a:solidFill>
                            <a:srgbClr val="262626"/>
                          </a:solidFill>
                          <a:latin typeface="Arial"/>
                        </a:rPr>
                        <a:t>Aug 28</a:t>
                      </a:r>
                    </a:p>
                  </a:txBody>
                  <a:tcPr>
                    <a:solidFill>
                      <a:srgbClr val="FFFFFF"/>
                    </a:solidFill>
                  </a:tcPr>
                </a:tc>
                <a:tc>
                  <a:txBody>
                    <a:bodyPr/>
                    <a:lstStyle/>
                    <a:p>
                      <a:pPr algn="l"/>
                      <a:r>
                        <a:rPr sz="1200" b="0" i="0">
                          <a:solidFill>
                            <a:srgbClr val="262626"/>
                          </a:solidFill>
                          <a:latin typeface="Arial"/>
                        </a:rPr>
                        <a:t>Continental Cup</a:t>
                      </a:r>
                    </a:p>
                  </a:txBody>
                  <a:tcPr>
                    <a:solidFill>
                      <a:srgbClr val="FFFFFF"/>
                    </a:solidFill>
                  </a:tcPr>
                </a:tc>
                <a:tc>
                  <a:txBody>
                    <a:bodyPr/>
                    <a:lstStyle/>
                    <a:p>
                      <a:pPr algn="ctr"/>
                      <a:r>
                        <a:rPr sz="1400" b="0" i="0">
                          <a:solidFill>
                            <a:srgbClr val="262626"/>
                          </a:solidFill>
                          <a:latin typeface="Arial"/>
                        </a:rPr>
                        <a:t>28</a:t>
                      </a:r>
                    </a:p>
                  </a:txBody>
                  <a:tcPr>
                    <a:solidFill>
                      <a:srgbClr val="FFFFFF"/>
                    </a:solidFill>
                  </a:tcPr>
                </a:tc>
                <a:tc>
                  <a:txBody>
                    <a:bodyPr/>
                    <a:lstStyle/>
                    <a:p>
                      <a:pPr algn="ctr"/>
                      <a:r>
                        <a:rPr sz="1400" b="0" i="0">
                          <a:solidFill>
                            <a:srgbClr val="262626"/>
                          </a:solidFill>
                          <a:latin typeface="Arial"/>
                        </a:rPr>
                        <a:t>6</a:t>
                      </a:r>
                    </a:p>
                  </a:txBody>
                  <a:tcPr>
                    <a:solidFill>
                      <a:srgbClr val="FFFFFF"/>
                    </a:solidFill>
                  </a:tcPr>
                </a:tc>
                <a:tc>
                  <a:txBody>
                    <a:bodyPr/>
                    <a:lstStyle/>
                    <a:p>
                      <a:pPr algn="l"/>
                      <a:r>
                        <a:rPr sz="1400" b="0" i="0">
                          <a:solidFill>
                            <a:srgbClr val="262626"/>
                          </a:solidFill>
                          <a:latin typeface="Arial"/>
                        </a:rPr>
                        <a:t>Yelistratova</a:t>
                      </a:r>
                    </a:p>
                  </a:txBody>
                  <a:tcPr>
                    <a:solidFill>
                      <a:srgbClr val="FFFFFF"/>
                    </a:solidFill>
                  </a:tcPr>
                </a:tc>
                <a:tc>
                  <a:txBody>
                    <a:bodyPr/>
                    <a:lstStyle/>
                    <a:p>
                      <a:pPr algn="ctr"/>
                      <a:r>
                        <a:rPr sz="1400" b="0" i="0">
                          <a:solidFill>
                            <a:srgbClr val="262626"/>
                          </a:solidFill>
                          <a:latin typeface="Arial"/>
                        </a:rPr>
                        <a:t>2:07:22</a:t>
                      </a:r>
                    </a:p>
                  </a:txBody>
                  <a:tcPr>
                    <a:solidFill>
                      <a:srgbClr val="FFFFFF"/>
                    </a:solidFill>
                  </a:tcPr>
                </a:tc>
                <a:tc>
                  <a:txBody>
                    <a:bodyPr/>
                    <a:lstStyle/>
                    <a:p>
                      <a:pPr algn="ctr"/>
                      <a:r>
                        <a:rPr sz="1400" b="0" i="0">
                          <a:solidFill>
                            <a:srgbClr val="262626"/>
                          </a:solidFill>
                          <a:latin typeface="Arial"/>
                        </a:rPr>
                        <a:t>25.8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78020">
                <a:tc>
                  <a:txBody>
                    <a:bodyPr/>
                    <a:lstStyle/>
                    <a:p>
                      <a:pPr algn="ctr"/>
                      <a:r>
                        <a:rPr sz="1400" b="0" i="0">
                          <a:solidFill>
                            <a:srgbClr val="262626"/>
                          </a:solidFill>
                          <a:latin typeface="Arial"/>
                        </a:rPr>
                        <a:t>2017</a:t>
                      </a:r>
                    </a:p>
                  </a:txBody>
                  <a:tcPr>
                    <a:solidFill>
                      <a:srgbClr val="F2F2F2"/>
                    </a:solidFill>
                  </a:tcPr>
                </a:tc>
                <a:tc>
                  <a:txBody>
                    <a:bodyPr/>
                    <a:lstStyle/>
                    <a:p>
                      <a:pPr algn="ctr"/>
                      <a:r>
                        <a:rPr sz="1400" b="0" i="0">
                          <a:solidFill>
                            <a:srgbClr val="262626"/>
                          </a:solidFill>
                          <a:latin typeface="Arial"/>
                        </a:rPr>
                        <a:t>Sep 03</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26</a:t>
                      </a:r>
                    </a:p>
                  </a:txBody>
                  <a:tcPr>
                    <a:solidFill>
                      <a:srgbClr val="F2F2F2"/>
                    </a:solidFill>
                  </a:tcPr>
                </a:tc>
                <a:tc>
                  <a:txBody>
                    <a:bodyPr/>
                    <a:lstStyle/>
                    <a:p>
                      <a:pPr algn="ctr"/>
                      <a:r>
                        <a:rPr sz="1400" b="0" i="0">
                          <a:solidFill>
                            <a:srgbClr val="262626"/>
                          </a:solidFill>
                          <a:latin typeface="Arial"/>
                        </a:rPr>
                        <a:t>3</a:t>
                      </a:r>
                    </a:p>
                  </a:txBody>
                  <a:tcPr>
                    <a:solidFill>
                      <a:srgbClr val="F2F2F2"/>
                    </a:solidFill>
                  </a:tcPr>
                </a:tc>
                <a:tc>
                  <a:txBody>
                    <a:bodyPr/>
                    <a:lstStyle/>
                    <a:p>
                      <a:pPr algn="l"/>
                      <a:r>
                        <a:rPr sz="1400" b="0" i="0">
                          <a:solidFill>
                            <a:srgbClr val="262626"/>
                          </a:solidFill>
                          <a:latin typeface="Arial"/>
                        </a:rPr>
                        <a:t>Backhouse</a:t>
                      </a:r>
                    </a:p>
                  </a:txBody>
                  <a:tcPr>
                    <a:solidFill>
                      <a:srgbClr val="F2F2F2"/>
                    </a:solidFill>
                  </a:tcPr>
                </a:tc>
                <a:tc>
                  <a:txBody>
                    <a:bodyPr/>
                    <a:lstStyle/>
                    <a:p>
                      <a:pPr algn="ctr"/>
                      <a:r>
                        <a:rPr sz="1400" b="0" i="0">
                          <a:solidFill>
                            <a:srgbClr val="262626"/>
                          </a:solidFill>
                          <a:latin typeface="Arial"/>
                        </a:rPr>
                        <a:t>2:03:29</a:t>
                      </a:r>
                    </a:p>
                  </a:txBody>
                  <a:tcPr>
                    <a:solidFill>
                      <a:srgbClr val="F2F2F2"/>
                    </a:solidFill>
                  </a:tcPr>
                </a:tc>
                <a:tc>
                  <a:txBody>
                    <a:bodyPr/>
                    <a:lstStyle/>
                    <a:p>
                      <a:pPr algn="ctr"/>
                      <a:r>
                        <a:rPr sz="1400" b="0" i="0">
                          <a:solidFill>
                            <a:srgbClr val="262626"/>
                          </a:solidFill>
                          <a:latin typeface="Arial"/>
                        </a:rPr>
                        <a:t>14.0</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78020">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Sep 01</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46</a:t>
                      </a:r>
                    </a:p>
                  </a:txBody>
                  <a:tcPr>
                    <a:solidFill>
                      <a:srgbClr val="FFFFFF"/>
                    </a:solidFill>
                  </a:tcPr>
                </a:tc>
                <a:tc>
                  <a:txBody>
                    <a:bodyPr/>
                    <a:lstStyle/>
                    <a:p>
                      <a:pPr algn="ctr"/>
                      <a:r>
                        <a:rPr sz="1400" b="0" i="0">
                          <a:solidFill>
                            <a:srgbClr val="262626"/>
                          </a:solidFill>
                          <a:latin typeface="Arial"/>
                        </a:rPr>
                        <a:t>16</a:t>
                      </a:r>
                    </a:p>
                  </a:txBody>
                  <a:tcPr>
                    <a:solidFill>
                      <a:srgbClr val="FFFFFF"/>
                    </a:solidFill>
                  </a:tcPr>
                </a:tc>
                <a:tc>
                  <a:txBody>
                    <a:bodyPr/>
                    <a:lstStyle/>
                    <a:p>
                      <a:pPr algn="l"/>
                      <a:r>
                        <a:rPr sz="1400" b="0" i="0">
                          <a:solidFill>
                            <a:srgbClr val="262626"/>
                          </a:solidFill>
                          <a:latin typeface="Arial"/>
                        </a:rPr>
                        <a:t>Frintova</a:t>
                      </a:r>
                    </a:p>
                  </a:txBody>
                  <a:tcPr>
                    <a:solidFill>
                      <a:srgbClr val="FFFFFF"/>
                    </a:solidFill>
                  </a:tcPr>
                </a:tc>
                <a:tc>
                  <a:txBody>
                    <a:bodyPr/>
                    <a:lstStyle/>
                    <a:p>
                      <a:pPr algn="ctr"/>
                      <a:r>
                        <a:rPr sz="1400" b="0" i="0">
                          <a:solidFill>
                            <a:srgbClr val="262626"/>
                          </a:solidFill>
                          <a:latin typeface="Arial"/>
                        </a:rPr>
                        <a:t>2:08:22</a:t>
                      </a:r>
                    </a:p>
                  </a:txBody>
                  <a:tcPr>
                    <a:solidFill>
                      <a:srgbClr val="FFFFFF"/>
                    </a:solidFill>
                  </a:tcPr>
                </a:tc>
                <a:tc>
                  <a:txBody>
                    <a:bodyPr/>
                    <a:lstStyle/>
                    <a:p>
                      <a:pPr algn="ctr"/>
                      <a:r>
                        <a:rPr sz="1400" b="0" i="0">
                          <a:solidFill>
                            <a:srgbClr val="262626"/>
                          </a:solidFill>
                          <a:latin typeface="Arial"/>
                        </a:rPr>
                        <a:t>15.8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78020">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Aug 25</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55</a:t>
                      </a:r>
                    </a:p>
                  </a:txBody>
                  <a:tcPr>
                    <a:solidFill>
                      <a:srgbClr val="F2F2F2"/>
                    </a:solidFill>
                  </a:tcPr>
                </a:tc>
                <a:tc>
                  <a:txBody>
                    <a:bodyPr/>
                    <a:lstStyle/>
                    <a:p>
                      <a:pPr algn="ctr"/>
                      <a:r>
                        <a:rPr sz="1400" b="0" i="0">
                          <a:solidFill>
                            <a:srgbClr val="262626"/>
                          </a:solidFill>
                          <a:latin typeface="Arial"/>
                        </a:rPr>
                        <a:t>13</a:t>
                      </a:r>
                    </a:p>
                  </a:txBody>
                  <a:tcPr>
                    <a:solidFill>
                      <a:srgbClr val="F2F2F2"/>
                    </a:solidFill>
                  </a:tcPr>
                </a:tc>
                <a:tc>
                  <a:txBody>
                    <a:bodyPr/>
                    <a:lstStyle/>
                    <a:p>
                      <a:pPr algn="l"/>
                      <a:r>
                        <a:rPr sz="1400" b="0" i="0">
                          <a:solidFill>
                            <a:srgbClr val="262626"/>
                          </a:solidFill>
                          <a:latin typeface="Arial"/>
                        </a:rPr>
                        <a:t>Frintova</a:t>
                      </a:r>
                    </a:p>
                  </a:txBody>
                  <a:tcPr>
                    <a:solidFill>
                      <a:srgbClr val="F2F2F2"/>
                    </a:solidFill>
                  </a:tcPr>
                </a:tc>
                <a:tc>
                  <a:txBody>
                    <a:bodyPr/>
                    <a:lstStyle/>
                    <a:p>
                      <a:pPr algn="ctr"/>
                      <a:r>
                        <a:rPr sz="1400" b="0" i="0">
                          <a:solidFill>
                            <a:srgbClr val="262626"/>
                          </a:solidFill>
                          <a:latin typeface="Arial"/>
                        </a:rPr>
                        <a:t>2:09:08</a:t>
                      </a:r>
                    </a:p>
                  </a:txBody>
                  <a:tcPr>
                    <a:solidFill>
                      <a:srgbClr val="F2F2F2"/>
                    </a:solidFill>
                  </a:tcPr>
                </a:tc>
                <a:tc>
                  <a:txBody>
                    <a:bodyPr/>
                    <a:lstStyle/>
                    <a:p>
                      <a:pPr algn="ctr"/>
                      <a:r>
                        <a:rPr sz="1400" b="0" i="0">
                          <a:solidFill>
                            <a:srgbClr val="262626"/>
                          </a:solidFill>
                          <a:latin typeface="Arial"/>
                        </a:rPr>
                        <a:t>24.5</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78020">
                <a:tc>
                  <a:txBody>
                    <a:bodyPr/>
                    <a:lstStyle/>
                    <a:p>
                      <a:pPr algn="ctr"/>
                      <a:r>
                        <a:rPr sz="1400" b="0" i="0">
                          <a:solidFill>
                            <a:srgbClr val="262626"/>
                          </a:solidFill>
                          <a:latin typeface="Arial"/>
                        </a:rPr>
                        <a:t>2020</a:t>
                      </a:r>
                    </a:p>
                  </a:txBody>
                  <a:tcPr>
                    <a:solidFill>
                      <a:srgbClr val="FFFFFF"/>
                    </a:solidFill>
                  </a:tcPr>
                </a:tc>
                <a:tc>
                  <a:txBody>
                    <a:bodyPr/>
                    <a:lstStyle/>
                    <a:p>
                      <a:pPr algn="ctr"/>
                      <a:r>
                        <a:rPr sz="1400" b="0" i="0">
                          <a:solidFill>
                            <a:srgbClr val="262626"/>
                          </a:solidFill>
                          <a:latin typeface="Arial"/>
                        </a:rPr>
                        <a:t>Sep 13</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54</a:t>
                      </a:r>
                    </a:p>
                  </a:txBody>
                  <a:tcPr>
                    <a:solidFill>
                      <a:srgbClr val="FFFFFF"/>
                    </a:solidFill>
                  </a:tcPr>
                </a:tc>
                <a:tc>
                  <a:txBody>
                    <a:bodyPr/>
                    <a:lstStyle/>
                    <a:p>
                      <a:pPr algn="ctr"/>
                      <a:r>
                        <a:rPr sz="1400" b="0" i="0">
                          <a:solidFill>
                            <a:srgbClr val="262626"/>
                          </a:solidFill>
                          <a:latin typeface="Arial"/>
                        </a:rPr>
                        <a:t>19</a:t>
                      </a:r>
                    </a:p>
                  </a:txBody>
                  <a:tcPr>
                    <a:solidFill>
                      <a:srgbClr val="FFFFFF"/>
                    </a:solidFill>
                  </a:tcPr>
                </a:tc>
                <a:tc>
                  <a:txBody>
                    <a:bodyPr/>
                    <a:lstStyle/>
                    <a:p>
                      <a:pPr algn="l"/>
                      <a:r>
                        <a:rPr sz="1400" b="0" i="0">
                          <a:solidFill>
                            <a:srgbClr val="262626"/>
                          </a:solidFill>
                          <a:latin typeface="Arial"/>
                        </a:rPr>
                        <a:t>Duffy</a:t>
                      </a:r>
                    </a:p>
                  </a:txBody>
                  <a:tcPr>
                    <a:solidFill>
                      <a:srgbClr val="FFFFFF"/>
                    </a:solidFill>
                  </a:tcPr>
                </a:tc>
                <a:tc>
                  <a:txBody>
                    <a:bodyPr/>
                    <a:lstStyle/>
                    <a:p>
                      <a:pPr algn="ctr"/>
                      <a:r>
                        <a:rPr sz="1400" b="0" i="0">
                          <a:solidFill>
                            <a:srgbClr val="262626"/>
                          </a:solidFill>
                          <a:latin typeface="Arial"/>
                        </a:rPr>
                        <a:t>2:05:17</a:t>
                      </a:r>
                    </a:p>
                  </a:txBody>
                  <a:tcPr>
                    <a:solidFill>
                      <a:srgbClr val="FFFFFF"/>
                    </a:solidFill>
                  </a:tcPr>
                </a:tc>
                <a:tc>
                  <a:txBody>
                    <a:bodyPr/>
                    <a:lstStyle/>
                    <a:p>
                      <a:pPr algn="ctr"/>
                      <a:r>
                        <a:rPr sz="1400" b="0" i="0">
                          <a:solidFill>
                            <a:srgbClr val="262626"/>
                          </a:solidFill>
                          <a:latin typeface="Arial"/>
                        </a:rPr>
                        <a:t>21.8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78020">
                <a:tc>
                  <a:txBody>
                    <a:bodyPr/>
                    <a:lstStyle/>
                    <a:p>
                      <a:pPr algn="ctr"/>
                      <a:r>
                        <a:rPr sz="1400" b="0" i="0">
                          <a:solidFill>
                            <a:srgbClr val="262626"/>
                          </a:solidFill>
                          <a:latin typeface="Arial"/>
                        </a:rPr>
                        <a:t>2021</a:t>
                      </a:r>
                    </a:p>
                  </a:txBody>
                  <a:tcPr>
                    <a:solidFill>
                      <a:srgbClr val="F2F2F2"/>
                    </a:solidFill>
                  </a:tcPr>
                </a:tc>
                <a:tc>
                  <a:txBody>
                    <a:bodyPr/>
                    <a:lstStyle/>
                    <a:p>
                      <a:pPr algn="ctr"/>
                      <a:r>
                        <a:rPr sz="1400" b="0" i="0">
                          <a:solidFill>
                            <a:srgbClr val="262626"/>
                          </a:solidFill>
                          <a:latin typeface="Arial"/>
                        </a:rPr>
                        <a:t>Sep 11</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50</a:t>
                      </a:r>
                    </a:p>
                  </a:txBody>
                  <a:tcPr>
                    <a:solidFill>
                      <a:srgbClr val="F2F2F2"/>
                    </a:solidFill>
                  </a:tcPr>
                </a:tc>
                <a:tc>
                  <a:txBody>
                    <a:bodyPr/>
                    <a:lstStyle/>
                    <a:p>
                      <a:pPr algn="ctr"/>
                      <a:r>
                        <a:rPr sz="1400" b="0" i="0">
                          <a:solidFill>
                            <a:srgbClr val="262626"/>
                          </a:solidFill>
                          <a:latin typeface="Arial"/>
                        </a:rPr>
                        <a:t>17</a:t>
                      </a:r>
                    </a:p>
                  </a:txBody>
                  <a:tcPr>
                    <a:solidFill>
                      <a:srgbClr val="F2F2F2"/>
                    </a:solidFill>
                  </a:tcPr>
                </a:tc>
                <a:tc>
                  <a:txBody>
                    <a:bodyPr/>
                    <a:lstStyle/>
                    <a:p>
                      <a:pPr algn="l"/>
                      <a:r>
                        <a:rPr sz="1400" b="0" i="0">
                          <a:solidFill>
                            <a:srgbClr val="262626"/>
                          </a:solidFill>
                          <a:latin typeface="Arial"/>
                        </a:rPr>
                        <a:t>Derron</a:t>
                      </a:r>
                    </a:p>
                  </a:txBody>
                  <a:tcPr>
                    <a:solidFill>
                      <a:srgbClr val="F2F2F2"/>
                    </a:solidFill>
                  </a:tcPr>
                </a:tc>
                <a:tc>
                  <a:txBody>
                    <a:bodyPr/>
                    <a:lstStyle/>
                    <a:p>
                      <a:pPr algn="ctr"/>
                      <a:r>
                        <a:rPr sz="1400" b="0" i="0">
                          <a:solidFill>
                            <a:srgbClr val="262626"/>
                          </a:solidFill>
                          <a:latin typeface="Arial"/>
                        </a:rPr>
                        <a:t>2:06:56</a:t>
                      </a:r>
                    </a:p>
                  </a:txBody>
                  <a:tcPr>
                    <a:solidFill>
                      <a:srgbClr val="F2F2F2"/>
                    </a:solidFill>
                  </a:tcPr>
                </a:tc>
                <a:tc>
                  <a:txBody>
                    <a:bodyPr/>
                    <a:lstStyle/>
                    <a:p>
                      <a:pPr algn="ctr"/>
                      <a:r>
                        <a:rPr sz="1400" b="0" i="0">
                          <a:solidFill>
                            <a:srgbClr val="262626"/>
                          </a:solidFill>
                          <a:latin typeface="Arial"/>
                        </a:rPr>
                        <a:t>18.8</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78020">
                <a:tc>
                  <a:txBody>
                    <a:bodyPr/>
                    <a:lstStyle/>
                    <a:p>
                      <a:pPr algn="ctr"/>
                      <a:r>
                        <a:rPr sz="1400" b="0" i="0">
                          <a:solidFill>
                            <a:srgbClr val="262626"/>
                          </a:solidFill>
                          <a:latin typeface="Arial"/>
                        </a:rPr>
                        <a:t>2022</a:t>
                      </a:r>
                    </a:p>
                  </a:txBody>
                  <a:tcPr>
                    <a:solidFill>
                      <a:srgbClr val="FFFFFF"/>
                    </a:solidFill>
                  </a:tcPr>
                </a:tc>
                <a:tc>
                  <a:txBody>
                    <a:bodyPr/>
                    <a:lstStyle/>
                    <a:p>
                      <a:pPr algn="ctr"/>
                      <a:r>
                        <a:rPr sz="1400" b="0" i="0">
                          <a:solidFill>
                            <a:srgbClr val="262626"/>
                          </a:solidFill>
                          <a:latin typeface="Arial"/>
                        </a:rPr>
                        <a:t>Sep 11</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53</a:t>
                      </a:r>
                    </a:p>
                  </a:txBody>
                  <a:tcPr>
                    <a:solidFill>
                      <a:srgbClr val="FFFFFF"/>
                    </a:solidFill>
                  </a:tcPr>
                </a:tc>
                <a:tc>
                  <a:txBody>
                    <a:bodyPr/>
                    <a:lstStyle/>
                    <a:p>
                      <a:pPr algn="ctr"/>
                      <a:r>
                        <a:rPr sz="1400" b="0" i="0">
                          <a:solidFill>
                            <a:srgbClr val="262626"/>
                          </a:solidFill>
                          <a:latin typeface="Arial"/>
                        </a:rPr>
                        <a:t>12</a:t>
                      </a:r>
                    </a:p>
                  </a:txBody>
                  <a:tcPr>
                    <a:solidFill>
                      <a:srgbClr val="FFFFFF"/>
                    </a:solidFill>
                  </a:tcPr>
                </a:tc>
                <a:tc>
                  <a:txBody>
                    <a:bodyPr/>
                    <a:lstStyle/>
                    <a:p>
                      <a:pPr algn="l"/>
                      <a:r>
                        <a:rPr sz="1400" b="0" i="0">
                          <a:solidFill>
                            <a:srgbClr val="262626"/>
                          </a:solidFill>
                          <a:latin typeface="Arial"/>
                        </a:rPr>
                        <a:t>Periault</a:t>
                      </a:r>
                    </a:p>
                  </a:txBody>
                  <a:tcPr>
                    <a:solidFill>
                      <a:srgbClr val="FFFFFF"/>
                    </a:solidFill>
                  </a:tcPr>
                </a:tc>
                <a:tc>
                  <a:txBody>
                    <a:bodyPr/>
                    <a:lstStyle/>
                    <a:p>
                      <a:pPr algn="ctr"/>
                      <a:r>
                        <a:rPr sz="1400" b="0" i="0">
                          <a:solidFill>
                            <a:srgbClr val="262626"/>
                          </a:solidFill>
                          <a:latin typeface="Arial"/>
                        </a:rPr>
                        <a:t>2:05:04</a:t>
                      </a:r>
                    </a:p>
                  </a:txBody>
                  <a:tcPr>
                    <a:solidFill>
                      <a:srgbClr val="FFFFFF"/>
                    </a:solidFill>
                  </a:tcPr>
                </a:tc>
                <a:tc>
                  <a:txBody>
                    <a:bodyPr/>
                    <a:lstStyle/>
                    <a:p>
                      <a:pPr algn="ctr"/>
                      <a:r>
                        <a:rPr sz="1400" b="0" i="0">
                          <a:solidFill>
                            <a:srgbClr val="262626"/>
                          </a:solidFill>
                          <a:latin typeface="Arial"/>
                        </a:rPr>
                        <a:t>16</a:t>
                      </a:r>
                    </a:p>
                  </a:txBody>
                  <a:tcPr>
                    <a:solidFill>
                      <a:srgbClr val="FFFFFF"/>
                    </a:solidFill>
                  </a:tcPr>
                </a:tc>
                <a:tc>
                  <a:txBody>
                    <a:bodyPr/>
                    <a:lstStyle/>
                    <a:p>
                      <a:pPr algn="ctr"/>
                      <a:r>
                        <a:rPr sz="1400" b="0" i="0">
                          <a:solidFill>
                            <a:srgbClr val="262626"/>
                          </a:solidFill>
                          <a:latin typeface="Arial"/>
                        </a:rPr>
                        <a:t>19.1</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40.8</a:t>
                      </a:r>
                    </a:p>
                  </a:txBody>
                  <a:tcPr>
                    <a:solidFill>
                      <a:srgbClr val="FFFFFF"/>
                    </a:solidFill>
                  </a:tcPr>
                </a:tc>
                <a:tc>
                  <a:txBody>
                    <a:bodyPr/>
                    <a:lstStyle/>
                    <a:p>
                      <a:pPr algn="ctr"/>
                      <a:r>
                        <a:rPr sz="1400" b="0" i="0">
                          <a:solidFill>
                            <a:srgbClr val="262626"/>
                          </a:solidFill>
                          <a:latin typeface="Arial"/>
                        </a:rPr>
                        <a:t>10.0</a:t>
                      </a:r>
                    </a:p>
                  </a:txBody>
                  <a:tcPr>
                    <a:solidFill>
                      <a:srgbClr val="FFFFFF"/>
                    </a:solidFill>
                  </a:tcPr>
                </a:tc>
                <a:extLst>
                  <a:ext uri="{0D108BD9-81ED-4DB2-BD59-A6C34878D82A}">
                    <a16:rowId xmlns:a16="http://schemas.microsoft.com/office/drawing/2014/main" val="10007"/>
                  </a:ext>
                </a:extLst>
              </a:tr>
              <a:tr h="478020">
                <a:tc>
                  <a:txBody>
                    <a:bodyPr/>
                    <a:lstStyle/>
                    <a:p>
                      <a:pPr algn="ctr"/>
                      <a:r>
                        <a:rPr sz="1400" b="0" i="0">
                          <a:solidFill>
                            <a:srgbClr val="262626"/>
                          </a:solidFill>
                          <a:latin typeface="Arial"/>
                        </a:rPr>
                        <a:t>2023</a:t>
                      </a:r>
                    </a:p>
                  </a:txBody>
                  <a:tcPr>
                    <a:solidFill>
                      <a:srgbClr val="F2F2F2"/>
                    </a:solidFill>
                  </a:tcPr>
                </a:tc>
                <a:tc>
                  <a:txBody>
                    <a:bodyPr/>
                    <a:lstStyle/>
                    <a:p>
                      <a:pPr algn="ctr"/>
                      <a:r>
                        <a:rPr sz="1400" b="0" i="0">
                          <a:solidFill>
                            <a:srgbClr val="262626"/>
                          </a:solidFill>
                          <a:latin typeface="Arial"/>
                        </a:rPr>
                        <a:t>Sep 10</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43</a:t>
                      </a:r>
                    </a:p>
                  </a:txBody>
                  <a:tcPr>
                    <a:solidFill>
                      <a:srgbClr val="F2F2F2"/>
                    </a:solidFill>
                  </a:tcPr>
                </a:tc>
                <a:tc>
                  <a:txBody>
                    <a:bodyPr/>
                    <a:lstStyle/>
                    <a:p>
                      <a:pPr algn="ctr"/>
                      <a:r>
                        <a:rPr sz="1400" b="0" i="0" dirty="0">
                          <a:solidFill>
                            <a:srgbClr val="262626"/>
                          </a:solidFill>
                          <a:latin typeface="Arial"/>
                        </a:rPr>
                        <a:t>8</a:t>
                      </a:r>
                    </a:p>
                  </a:txBody>
                  <a:tcPr>
                    <a:solidFill>
                      <a:srgbClr val="F2F2F2"/>
                    </a:solidFill>
                  </a:tcPr>
                </a:tc>
                <a:tc>
                  <a:txBody>
                    <a:bodyPr/>
                    <a:lstStyle/>
                    <a:p>
                      <a:pPr algn="l"/>
                      <a:r>
                        <a:rPr sz="1400" b="0" i="0">
                          <a:solidFill>
                            <a:srgbClr val="262626"/>
                          </a:solidFill>
                          <a:latin typeface="Arial"/>
                        </a:rPr>
                        <a:t>Jorgensen</a:t>
                      </a:r>
                    </a:p>
                  </a:txBody>
                  <a:tcPr>
                    <a:solidFill>
                      <a:srgbClr val="F2F2F2"/>
                    </a:solidFill>
                  </a:tcPr>
                </a:tc>
                <a:tc>
                  <a:txBody>
                    <a:bodyPr/>
                    <a:lstStyle/>
                    <a:p>
                      <a:pPr algn="ctr"/>
                      <a:r>
                        <a:rPr sz="1400" b="0" i="0">
                          <a:solidFill>
                            <a:srgbClr val="262626"/>
                          </a:solidFill>
                          <a:latin typeface="Arial"/>
                        </a:rPr>
                        <a:t>2:03:51</a:t>
                      </a:r>
                    </a:p>
                  </a:txBody>
                  <a:tcPr>
                    <a:solidFill>
                      <a:srgbClr val="F2F2F2"/>
                    </a:solidFill>
                  </a:tcPr>
                </a:tc>
                <a:tc>
                  <a:txBody>
                    <a:bodyPr/>
                    <a:lstStyle/>
                    <a:p>
                      <a:pPr algn="ctr"/>
                      <a:r>
                        <a:rPr sz="1400" b="0" i="0">
                          <a:solidFill>
                            <a:srgbClr val="262626"/>
                          </a:solidFill>
                          <a:latin typeface="Arial"/>
                        </a:rPr>
                        <a:t>23.6</a:t>
                      </a:r>
                    </a:p>
                  </a:txBody>
                  <a:tcPr>
                    <a:solidFill>
                      <a:srgbClr val="F2F2F2"/>
                    </a:solidFill>
                  </a:tcPr>
                </a:tc>
                <a:tc>
                  <a:txBody>
                    <a:bodyPr/>
                    <a:lstStyle/>
                    <a:p>
                      <a:pPr algn="ctr"/>
                      <a:r>
                        <a:rPr sz="1400" b="0" i="0">
                          <a:solidFill>
                            <a:srgbClr val="262626"/>
                          </a:solidFill>
                          <a:latin typeface="Arial"/>
                        </a:rPr>
                        <a:t>19</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40.8</a:t>
                      </a:r>
                    </a:p>
                  </a:txBody>
                  <a:tcPr>
                    <a:solidFill>
                      <a:srgbClr val="F2F2F2"/>
                    </a:solidFill>
                  </a:tcPr>
                </a:tc>
                <a:tc>
                  <a:txBody>
                    <a:bodyPr/>
                    <a:lstStyle/>
                    <a:p>
                      <a:pPr algn="ctr"/>
                      <a:r>
                        <a:rPr sz="1400" b="0" i="0">
                          <a:solidFill>
                            <a:srgbClr val="262626"/>
                          </a:solidFill>
                          <a:latin typeface="Arial"/>
                        </a:rPr>
                        <a:t>10.0</a:t>
                      </a:r>
                    </a:p>
                  </a:txBody>
                  <a:tcPr>
                    <a:solidFill>
                      <a:srgbClr val="F2F2F2"/>
                    </a:solidFill>
                  </a:tcPr>
                </a:tc>
                <a:extLst>
                  <a:ext uri="{0D108BD9-81ED-4DB2-BD59-A6C34878D82A}">
                    <a16:rowId xmlns:a16="http://schemas.microsoft.com/office/drawing/2014/main" val="10008"/>
                  </a:ext>
                </a:extLst>
              </a:tr>
              <a:tr h="478020">
                <a:tc>
                  <a:txBody>
                    <a:bodyPr/>
                    <a:lstStyle/>
                    <a:p>
                      <a:pPr algn="ctr"/>
                      <a:r>
                        <a:rPr sz="1400" b="0" i="0">
                          <a:solidFill>
                            <a:srgbClr val="262626"/>
                          </a:solidFill>
                          <a:latin typeface="Arial"/>
                        </a:rPr>
                        <a:t>2024</a:t>
                      </a:r>
                    </a:p>
                  </a:txBody>
                  <a:tcPr>
                    <a:solidFill>
                      <a:srgbClr val="FFFFFF"/>
                    </a:solidFill>
                  </a:tcPr>
                </a:tc>
                <a:tc>
                  <a:txBody>
                    <a:bodyPr/>
                    <a:lstStyle/>
                    <a:p>
                      <a:pPr algn="ctr"/>
                      <a:r>
                        <a:rPr sz="1400" b="0" i="0">
                          <a:solidFill>
                            <a:srgbClr val="262626"/>
                          </a:solidFill>
                          <a:latin typeface="Arial"/>
                        </a:rPr>
                        <a:t>Sep 08</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27</a:t>
                      </a:r>
                    </a:p>
                  </a:txBody>
                  <a:tcPr>
                    <a:solidFill>
                      <a:srgbClr val="FFFFFF"/>
                    </a:solidFill>
                  </a:tcPr>
                </a:tc>
                <a:tc>
                  <a:txBody>
                    <a:bodyPr/>
                    <a:lstStyle/>
                    <a:p>
                      <a:pPr algn="ctr"/>
                      <a:r>
                        <a:rPr sz="1400" b="0" i="0">
                          <a:solidFill>
                            <a:srgbClr val="262626"/>
                          </a:solidFill>
                          <a:latin typeface="Arial"/>
                        </a:rPr>
                        <a:t>2</a:t>
                      </a:r>
                    </a:p>
                  </a:txBody>
                  <a:tcPr>
                    <a:solidFill>
                      <a:srgbClr val="FFFFFF"/>
                    </a:solidFill>
                  </a:tcPr>
                </a:tc>
                <a:tc>
                  <a:txBody>
                    <a:bodyPr/>
                    <a:lstStyle/>
                    <a:p>
                      <a:pPr algn="l"/>
                      <a:r>
                        <a:rPr sz="1400" b="0" i="0">
                          <a:solidFill>
                            <a:srgbClr val="262626"/>
                          </a:solidFill>
                          <a:latin typeface="Arial"/>
                        </a:rPr>
                        <a:t>Kingma</a:t>
                      </a:r>
                    </a:p>
                  </a:txBody>
                  <a:tcPr>
                    <a:solidFill>
                      <a:srgbClr val="FFFFFF"/>
                    </a:solidFill>
                  </a:tcPr>
                </a:tc>
                <a:tc>
                  <a:txBody>
                    <a:bodyPr/>
                    <a:lstStyle/>
                    <a:p>
                      <a:pPr algn="ctr"/>
                      <a:r>
                        <a:rPr sz="1400" b="0" i="0">
                          <a:solidFill>
                            <a:srgbClr val="262626"/>
                          </a:solidFill>
                          <a:latin typeface="Arial"/>
                        </a:rPr>
                        <a:t>2:05:23</a:t>
                      </a:r>
                    </a:p>
                  </a:txBody>
                  <a:tcPr>
                    <a:solidFill>
                      <a:srgbClr val="FFFFFF"/>
                    </a:solidFill>
                  </a:tcPr>
                </a:tc>
                <a:tc>
                  <a:txBody>
                    <a:bodyPr/>
                    <a:lstStyle/>
                    <a:p>
                      <a:pPr algn="ctr"/>
                      <a:r>
                        <a:rPr sz="1400" b="0" i="0">
                          <a:solidFill>
                            <a:srgbClr val="262626"/>
                          </a:solidFill>
                          <a:latin typeface="Arial"/>
                        </a:rPr>
                        <a:t>19.8</a:t>
                      </a:r>
                    </a:p>
                  </a:txBody>
                  <a:tcPr>
                    <a:solidFill>
                      <a:srgbClr val="FFFFFF"/>
                    </a:solidFill>
                  </a:tcPr>
                </a:tc>
                <a:tc>
                  <a:txBody>
                    <a:bodyPr/>
                    <a:lstStyle/>
                    <a:p>
                      <a:pPr algn="ctr"/>
                      <a:r>
                        <a:rPr sz="1400" b="0" i="0">
                          <a:solidFill>
                            <a:srgbClr val="262626"/>
                          </a:solidFill>
                          <a:latin typeface="Arial"/>
                        </a:rPr>
                        <a:t>23.2</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40.8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9"/>
                  </a:ext>
                </a:extLst>
              </a:tr>
              <a:tr h="478029">
                <a:tc>
                  <a:txBody>
                    <a:bodyPr/>
                    <a:lstStyle/>
                    <a:p>
                      <a:pPr algn="ctr"/>
                      <a:r>
                        <a:rPr sz="1400" b="0" i="0">
                          <a:solidFill>
                            <a:srgbClr val="262626"/>
                          </a:solidFill>
                          <a:latin typeface="Arial"/>
                        </a:rPr>
                        <a:t>2025</a:t>
                      </a:r>
                    </a:p>
                  </a:txBody>
                  <a:tcPr>
                    <a:solidFill>
                      <a:srgbClr val="F2F2F2"/>
                    </a:solidFill>
                  </a:tcPr>
                </a:tc>
                <a:tc>
                  <a:txBody>
                    <a:bodyPr/>
                    <a:lstStyle/>
                    <a:p>
                      <a:pPr algn="ctr"/>
                      <a:r>
                        <a:rPr sz="1400" b="0" i="0">
                          <a:solidFill>
                            <a:srgbClr val="262626"/>
                          </a:solidFill>
                          <a:latin typeface="Arial"/>
                        </a:rPr>
                        <a:t>Sep 14</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39</a:t>
                      </a:r>
                    </a:p>
                  </a:txBody>
                  <a:tcPr>
                    <a:solidFill>
                      <a:srgbClr val="F2F2F2"/>
                    </a:solidFill>
                  </a:tcPr>
                </a:tc>
                <a:tc>
                  <a:txBody>
                    <a:bodyPr/>
                    <a:lstStyle/>
                    <a:p>
                      <a:pPr algn="ctr"/>
                      <a:r>
                        <a:rPr sz="1400" b="0" i="0">
                          <a:solidFill>
                            <a:srgbClr val="262626"/>
                          </a:solidFill>
                          <a:latin typeface="Arial"/>
                        </a:rPr>
                        <a:t>10</a:t>
                      </a:r>
                    </a:p>
                  </a:txBody>
                  <a:tcPr>
                    <a:solidFill>
                      <a:srgbClr val="F2F2F2"/>
                    </a:solidFill>
                  </a:tcPr>
                </a:tc>
                <a:tc>
                  <a:txBody>
                    <a:bodyPr/>
                    <a:lstStyle/>
                    <a:p>
                      <a:pPr algn="l"/>
                      <a:r>
                        <a:rPr sz="1400" b="0" i="0">
                          <a:solidFill>
                            <a:srgbClr val="262626"/>
                          </a:solidFill>
                          <a:latin typeface="Arial"/>
                        </a:rPr>
                        <a:t>Potter</a:t>
                      </a:r>
                    </a:p>
                  </a:txBody>
                  <a:tcPr>
                    <a:solidFill>
                      <a:srgbClr val="F2F2F2"/>
                    </a:solidFill>
                  </a:tcPr>
                </a:tc>
                <a:tc>
                  <a:txBody>
                    <a:bodyPr/>
                    <a:lstStyle/>
                    <a:p>
                      <a:pPr algn="ctr"/>
                      <a:r>
                        <a:rPr sz="1400" b="0" i="0">
                          <a:solidFill>
                            <a:srgbClr val="262626"/>
                          </a:solidFill>
                          <a:latin typeface="Arial"/>
                        </a:rPr>
                        <a:t>2:02:12</a:t>
                      </a:r>
                    </a:p>
                  </a:txBody>
                  <a:tcPr>
                    <a:solidFill>
                      <a:srgbClr val="F2F2F2"/>
                    </a:solidFill>
                  </a:tcPr>
                </a:tc>
                <a:tc>
                  <a:txBody>
                    <a:bodyPr/>
                    <a:lstStyle/>
                    <a:p>
                      <a:pPr algn="ctr"/>
                      <a:r>
                        <a:rPr sz="1400" b="0" i="0">
                          <a:solidFill>
                            <a:srgbClr val="262626"/>
                          </a:solidFill>
                          <a:latin typeface="Arial"/>
                        </a:rPr>
                        <a:t>14.6</a:t>
                      </a:r>
                    </a:p>
                  </a:txBody>
                  <a:tcPr>
                    <a:solidFill>
                      <a:srgbClr val="F2F2F2"/>
                    </a:solidFill>
                  </a:tcPr>
                </a:tc>
                <a:tc>
                  <a:txBody>
                    <a:bodyPr/>
                    <a:lstStyle/>
                    <a:p>
                      <a:pPr algn="ctr"/>
                      <a:r>
                        <a:rPr sz="1400" b="0" i="0">
                          <a:solidFill>
                            <a:srgbClr val="262626"/>
                          </a:solidFill>
                          <a:latin typeface="Arial"/>
                        </a:rPr>
                        <a:t>18.1</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40.8</a:t>
                      </a:r>
                    </a:p>
                  </a:txBody>
                  <a:tcPr>
                    <a:solidFill>
                      <a:srgbClr val="F2F2F2"/>
                    </a:solidFill>
                  </a:tcPr>
                </a:tc>
                <a:tc>
                  <a:txBody>
                    <a:bodyPr/>
                    <a:lstStyle/>
                    <a:p>
                      <a:pPr algn="ctr"/>
                      <a:r>
                        <a:rPr sz="1400" b="0" i="0" dirty="0">
                          <a:solidFill>
                            <a:srgbClr val="262626"/>
                          </a:solidFill>
                          <a:latin typeface="Arial"/>
                        </a:rPr>
                        <a:t>10.0</a:t>
                      </a:r>
                    </a:p>
                  </a:txBody>
                  <a:tcPr>
                    <a:solidFill>
                      <a:srgbClr val="F2F2F2"/>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1563195" y="1312241"/>
            <a:ext cx="9062563" cy="2918813"/>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3625993084"/>
              </p:ext>
            </p:extLst>
          </p:nvPr>
        </p:nvGraphicFramePr>
        <p:xfrm>
          <a:off x="274321" y="4223512"/>
          <a:ext cx="11640311" cy="234696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128847">
                <a:tc>
                  <a:txBody>
                    <a:bodyPr/>
                    <a:lstStyle/>
                    <a:p>
                      <a:pPr algn="ctr"/>
                      <a:r>
                        <a:rPr sz="800" b="1" i="0">
                          <a:solidFill>
                            <a:srgbClr val="FFFFFF"/>
                          </a:solidFill>
                          <a:latin typeface="Arial"/>
                        </a:rPr>
                        <a:t>Year</a:t>
                      </a:r>
                    </a:p>
                  </a:txBody>
                  <a:tcPr>
                    <a:solidFill>
                      <a:srgbClr val="002060"/>
                    </a:solidFill>
                  </a:tcPr>
                </a:tc>
                <a:tc>
                  <a:txBody>
                    <a:bodyPr/>
                    <a:lstStyle/>
                    <a:p>
                      <a:pPr algn="ctr"/>
                      <a:r>
                        <a:rPr sz="800" b="1" i="0">
                          <a:solidFill>
                            <a:srgbClr val="FFFFFF"/>
                          </a:solidFill>
                          <a:latin typeface="Arial"/>
                        </a:rPr>
                        <a:t>Lead Size @ T1</a:t>
                      </a:r>
                    </a:p>
                  </a:txBody>
                  <a:tcPr>
                    <a:solidFill>
                      <a:srgbClr val="002060"/>
                    </a:solidFill>
                  </a:tcPr>
                </a:tc>
                <a:tc>
                  <a:txBody>
                    <a:bodyPr/>
                    <a:lstStyle/>
                    <a:p>
                      <a:pPr algn="ctr"/>
                      <a:r>
                        <a:rPr sz="800" b="1" i="0">
                          <a:solidFill>
                            <a:srgbClr val="FFFFFF"/>
                          </a:solidFill>
                          <a:latin typeface="Arial"/>
                        </a:rPr>
                        <a:t>Lead Size @ T2</a:t>
                      </a:r>
                    </a:p>
                  </a:txBody>
                  <a:tcPr>
                    <a:solidFill>
                      <a:srgbClr val="002060"/>
                    </a:solidFill>
                  </a:tcPr>
                </a:tc>
                <a:tc>
                  <a:txBody>
                    <a:bodyPr/>
                    <a:lstStyle/>
                    <a:p>
                      <a:pPr algn="ctr"/>
                      <a:r>
                        <a:rPr sz="800" b="1" i="0" dirty="0">
                          <a:solidFill>
                            <a:srgbClr val="FFFFFF"/>
                          </a:solidFill>
                          <a:latin typeface="Arial"/>
                        </a:rPr>
                        <a:t>Change</a:t>
                      </a:r>
                    </a:p>
                  </a:txBody>
                  <a:tcPr>
                    <a:solidFill>
                      <a:srgbClr val="002060"/>
                    </a:solidFill>
                  </a:tcPr>
                </a:tc>
                <a:tc>
                  <a:txBody>
                    <a:bodyPr/>
                    <a:lstStyle/>
                    <a:p>
                      <a:pPr algn="ctr"/>
                      <a:r>
                        <a:rPr sz="800" b="1" i="0">
                          <a:solidFill>
                            <a:srgbClr val="FFFFFF"/>
                          </a:solidFill>
                          <a:latin typeface="Arial"/>
                        </a:rPr>
                        <a:t>Chase Group @ T2</a:t>
                      </a:r>
                    </a:p>
                  </a:txBody>
                  <a:tcPr>
                    <a:solidFill>
                      <a:srgbClr val="002060"/>
                    </a:solidFill>
                  </a:tcPr>
                </a:tc>
                <a:tc>
                  <a:txBody>
                    <a:bodyPr/>
                    <a:lstStyle/>
                    <a:p>
                      <a:pPr algn="ctr"/>
                      <a:r>
                        <a:rPr sz="8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128847">
                <a:tc>
                  <a:txBody>
                    <a:bodyPr/>
                    <a:lstStyle/>
                    <a:p>
                      <a:pPr algn="ctr"/>
                      <a:r>
                        <a:rPr sz="800" b="0" i="0">
                          <a:solidFill>
                            <a:srgbClr val="262626"/>
                          </a:solidFill>
                          <a:latin typeface="Arial"/>
                        </a:rPr>
                        <a:t>2016</a:t>
                      </a:r>
                    </a:p>
                  </a:txBody>
                  <a:tcPr>
                    <a:solidFill>
                      <a:srgbClr val="FFFFFF"/>
                    </a:solidFill>
                  </a:tcPr>
                </a:tc>
                <a:tc>
                  <a:txBody>
                    <a:bodyPr/>
                    <a:lstStyle/>
                    <a:p>
                      <a:pPr algn="ctr"/>
                      <a:r>
                        <a:rPr sz="800" b="0" i="0">
                          <a:solidFill>
                            <a:srgbClr val="262626"/>
                          </a:solidFill>
                          <a:latin typeface="Arial"/>
                        </a:rPr>
                        <a:t>1</a:t>
                      </a:r>
                    </a:p>
                  </a:txBody>
                  <a:tcPr>
                    <a:solidFill>
                      <a:srgbClr val="FFFFFF"/>
                    </a:solidFill>
                  </a:tcPr>
                </a:tc>
                <a:tc>
                  <a:txBody>
                    <a:bodyPr/>
                    <a:lstStyle/>
                    <a:p>
                      <a:pPr algn="ctr"/>
                      <a:r>
                        <a:rPr sz="800" b="0" i="0">
                          <a:solidFill>
                            <a:srgbClr val="262626"/>
                          </a:solidFill>
                          <a:latin typeface="Arial"/>
                        </a:rPr>
                        <a:t>2</a:t>
                      </a:r>
                    </a:p>
                  </a:txBody>
                  <a:tcPr>
                    <a:solidFill>
                      <a:srgbClr val="FFFFFF"/>
                    </a:solidFill>
                  </a:tcPr>
                </a:tc>
                <a:tc>
                  <a:txBody>
                    <a:bodyPr/>
                    <a:lstStyle/>
                    <a:p>
                      <a:pPr algn="ctr"/>
                      <a:r>
                        <a:rPr sz="800" b="0" i="0">
                          <a:solidFill>
                            <a:srgbClr val="262626"/>
                          </a:solidFill>
                          <a:latin typeface="Arial"/>
                        </a:rPr>
                        <a:t>+1</a:t>
                      </a:r>
                    </a:p>
                  </a:txBody>
                  <a:tcPr>
                    <a:solidFill>
                      <a:srgbClr val="FFFFFF"/>
                    </a:solidFill>
                  </a:tcPr>
                </a:tc>
                <a:tc>
                  <a:txBody>
                    <a:bodyPr/>
                    <a:lstStyle/>
                    <a:p>
                      <a:pPr algn="ctr"/>
                      <a:r>
                        <a:rPr sz="800" b="0" i="0">
                          <a:solidFill>
                            <a:srgbClr val="262626"/>
                          </a:solidFill>
                          <a:latin typeface="Arial"/>
                        </a:rPr>
                        <a:t>14</a:t>
                      </a:r>
                    </a:p>
                  </a:txBody>
                  <a:tcPr>
                    <a:solidFill>
                      <a:srgbClr val="FFFFFF"/>
                    </a:solidFill>
                  </a:tcPr>
                </a:tc>
                <a:tc>
                  <a:txBody>
                    <a:bodyPr/>
                    <a:lstStyle/>
                    <a:p>
                      <a:pPr algn="ctr"/>
                      <a:r>
                        <a:rPr sz="800" b="0" i="0">
                          <a:solidFill>
                            <a:srgbClr val="262626"/>
                          </a:solidFill>
                          <a:latin typeface="Arial"/>
                        </a:rPr>
                        <a:t>2s</a:t>
                      </a:r>
                    </a:p>
                  </a:txBody>
                  <a:tcPr>
                    <a:solidFill>
                      <a:srgbClr val="FFFFFF"/>
                    </a:solidFill>
                  </a:tcPr>
                </a:tc>
                <a:extLst>
                  <a:ext uri="{0D108BD9-81ED-4DB2-BD59-A6C34878D82A}">
                    <a16:rowId xmlns:a16="http://schemas.microsoft.com/office/drawing/2014/main" val="10001"/>
                  </a:ext>
                </a:extLst>
              </a:tr>
              <a:tr h="128847">
                <a:tc>
                  <a:txBody>
                    <a:bodyPr/>
                    <a:lstStyle/>
                    <a:p>
                      <a:pPr algn="ctr"/>
                      <a:r>
                        <a:rPr sz="800" b="0" i="0">
                          <a:solidFill>
                            <a:srgbClr val="262626"/>
                          </a:solidFill>
                          <a:latin typeface="Arial"/>
                        </a:rPr>
                        <a:t>2017</a:t>
                      </a:r>
                    </a:p>
                  </a:txBody>
                  <a:tcPr>
                    <a:solidFill>
                      <a:srgbClr val="F2F2F2"/>
                    </a:solidFill>
                  </a:tcPr>
                </a:tc>
                <a:tc>
                  <a:txBody>
                    <a:bodyPr/>
                    <a:lstStyle/>
                    <a:p>
                      <a:pPr algn="ctr"/>
                      <a:r>
                        <a:rPr sz="800" b="0" i="0">
                          <a:solidFill>
                            <a:srgbClr val="262626"/>
                          </a:solidFill>
                          <a:latin typeface="Arial"/>
                        </a:rPr>
                        <a:t>2</a:t>
                      </a:r>
                    </a:p>
                  </a:txBody>
                  <a:tcPr>
                    <a:solidFill>
                      <a:srgbClr val="F2F2F2"/>
                    </a:solidFill>
                  </a:tcPr>
                </a:tc>
                <a:tc>
                  <a:txBody>
                    <a:bodyPr/>
                    <a:lstStyle/>
                    <a:p>
                      <a:pPr algn="ctr"/>
                      <a:r>
                        <a:rPr sz="800" b="0" i="0">
                          <a:solidFill>
                            <a:srgbClr val="262626"/>
                          </a:solidFill>
                          <a:latin typeface="Arial"/>
                        </a:rPr>
                        <a:t>1</a:t>
                      </a:r>
                    </a:p>
                  </a:txBody>
                  <a:tcPr>
                    <a:solidFill>
                      <a:srgbClr val="F2F2F2"/>
                    </a:solidFill>
                  </a:tcPr>
                </a:tc>
                <a:tc>
                  <a:txBody>
                    <a:bodyPr/>
                    <a:lstStyle/>
                    <a:p>
                      <a:pPr algn="ctr"/>
                      <a:r>
                        <a:rPr sz="800" b="0" i="0" dirty="0">
                          <a:solidFill>
                            <a:srgbClr val="262626"/>
                          </a:solidFill>
                          <a:latin typeface="Arial"/>
                        </a:rPr>
                        <a:t>-1</a:t>
                      </a:r>
                    </a:p>
                  </a:txBody>
                  <a:tcPr>
                    <a:solidFill>
                      <a:srgbClr val="F2F2F2"/>
                    </a:solidFill>
                  </a:tcPr>
                </a:tc>
                <a:tc>
                  <a:txBody>
                    <a:bodyPr/>
                    <a:lstStyle/>
                    <a:p>
                      <a:pPr algn="ctr"/>
                      <a:r>
                        <a:rPr sz="800" b="0" i="0">
                          <a:solidFill>
                            <a:srgbClr val="262626"/>
                          </a:solidFill>
                          <a:latin typeface="Arial"/>
                        </a:rPr>
                        <a:t>12</a:t>
                      </a:r>
                    </a:p>
                  </a:txBody>
                  <a:tcPr>
                    <a:solidFill>
                      <a:srgbClr val="F2F2F2"/>
                    </a:solidFill>
                  </a:tcPr>
                </a:tc>
                <a:tc>
                  <a:txBody>
                    <a:bodyPr/>
                    <a:lstStyle/>
                    <a:p>
                      <a:pPr algn="ctr"/>
                      <a:r>
                        <a:rPr sz="800" b="0" i="0">
                          <a:solidFill>
                            <a:srgbClr val="262626"/>
                          </a:solidFill>
                          <a:latin typeface="Arial"/>
                        </a:rPr>
                        <a:t>137s</a:t>
                      </a:r>
                    </a:p>
                  </a:txBody>
                  <a:tcPr>
                    <a:solidFill>
                      <a:srgbClr val="F2F2F2"/>
                    </a:solidFill>
                  </a:tcPr>
                </a:tc>
                <a:extLst>
                  <a:ext uri="{0D108BD9-81ED-4DB2-BD59-A6C34878D82A}">
                    <a16:rowId xmlns:a16="http://schemas.microsoft.com/office/drawing/2014/main" val="10002"/>
                  </a:ext>
                </a:extLst>
              </a:tr>
              <a:tr h="128847">
                <a:tc>
                  <a:txBody>
                    <a:bodyPr/>
                    <a:lstStyle/>
                    <a:p>
                      <a:pPr algn="ctr"/>
                      <a:r>
                        <a:rPr sz="800" b="0" i="0">
                          <a:solidFill>
                            <a:srgbClr val="262626"/>
                          </a:solidFill>
                          <a:latin typeface="Arial"/>
                        </a:rPr>
                        <a:t>2018</a:t>
                      </a:r>
                    </a:p>
                  </a:txBody>
                  <a:tcPr>
                    <a:solidFill>
                      <a:srgbClr val="FFFFFF"/>
                    </a:solidFill>
                  </a:tcPr>
                </a:tc>
                <a:tc>
                  <a:txBody>
                    <a:bodyPr/>
                    <a:lstStyle/>
                    <a:p>
                      <a:pPr algn="ctr"/>
                      <a:r>
                        <a:rPr sz="800" b="0" i="0">
                          <a:solidFill>
                            <a:srgbClr val="262626"/>
                          </a:solidFill>
                          <a:latin typeface="Arial"/>
                        </a:rPr>
                        <a:t>2</a:t>
                      </a:r>
                    </a:p>
                  </a:txBody>
                  <a:tcPr>
                    <a:solidFill>
                      <a:srgbClr val="FFFFFF"/>
                    </a:solidFill>
                  </a:tcPr>
                </a:tc>
                <a:tc>
                  <a:txBody>
                    <a:bodyPr/>
                    <a:lstStyle/>
                    <a:p>
                      <a:pPr algn="ctr"/>
                      <a:r>
                        <a:rPr sz="800" b="0" i="0">
                          <a:solidFill>
                            <a:srgbClr val="262626"/>
                          </a:solidFill>
                          <a:latin typeface="Arial"/>
                        </a:rPr>
                        <a:t>11</a:t>
                      </a:r>
                    </a:p>
                  </a:txBody>
                  <a:tcPr>
                    <a:solidFill>
                      <a:srgbClr val="FFFFFF"/>
                    </a:solidFill>
                  </a:tcPr>
                </a:tc>
                <a:tc>
                  <a:txBody>
                    <a:bodyPr/>
                    <a:lstStyle/>
                    <a:p>
                      <a:pPr algn="ctr"/>
                      <a:r>
                        <a:rPr sz="800" b="0" i="0">
                          <a:solidFill>
                            <a:srgbClr val="262626"/>
                          </a:solidFill>
                          <a:latin typeface="Arial"/>
                        </a:rPr>
                        <a:t>+9</a:t>
                      </a:r>
                    </a:p>
                  </a:txBody>
                  <a:tcPr>
                    <a:solidFill>
                      <a:srgbClr val="FFFFFF"/>
                    </a:solidFill>
                  </a:tcPr>
                </a:tc>
                <a:tc>
                  <a:txBody>
                    <a:bodyPr/>
                    <a:lstStyle/>
                    <a:p>
                      <a:pPr algn="ctr"/>
                      <a:r>
                        <a:rPr sz="800" b="0" i="0">
                          <a:solidFill>
                            <a:srgbClr val="262626"/>
                          </a:solidFill>
                          <a:latin typeface="Arial"/>
                        </a:rPr>
                        <a:t>1</a:t>
                      </a:r>
                    </a:p>
                  </a:txBody>
                  <a:tcPr>
                    <a:solidFill>
                      <a:srgbClr val="FFFFFF"/>
                    </a:solidFill>
                  </a:tcPr>
                </a:tc>
                <a:tc>
                  <a:txBody>
                    <a:bodyPr/>
                    <a:lstStyle/>
                    <a:p>
                      <a:pPr algn="ctr"/>
                      <a:r>
                        <a:rPr sz="800" b="0" i="0">
                          <a:solidFill>
                            <a:srgbClr val="262626"/>
                          </a:solidFill>
                          <a:latin typeface="Arial"/>
                        </a:rPr>
                        <a:t>127s</a:t>
                      </a:r>
                    </a:p>
                  </a:txBody>
                  <a:tcPr>
                    <a:solidFill>
                      <a:srgbClr val="FFFFFF"/>
                    </a:solidFill>
                  </a:tcPr>
                </a:tc>
                <a:extLst>
                  <a:ext uri="{0D108BD9-81ED-4DB2-BD59-A6C34878D82A}">
                    <a16:rowId xmlns:a16="http://schemas.microsoft.com/office/drawing/2014/main" val="10003"/>
                  </a:ext>
                </a:extLst>
              </a:tr>
              <a:tr h="128847">
                <a:tc>
                  <a:txBody>
                    <a:bodyPr/>
                    <a:lstStyle/>
                    <a:p>
                      <a:pPr algn="ctr"/>
                      <a:r>
                        <a:rPr sz="800" b="0" i="0">
                          <a:solidFill>
                            <a:srgbClr val="262626"/>
                          </a:solidFill>
                          <a:latin typeface="Arial"/>
                        </a:rPr>
                        <a:t>2019</a:t>
                      </a:r>
                    </a:p>
                  </a:txBody>
                  <a:tcPr>
                    <a:solidFill>
                      <a:srgbClr val="F2F2F2"/>
                    </a:solidFill>
                  </a:tcPr>
                </a:tc>
                <a:tc>
                  <a:txBody>
                    <a:bodyPr/>
                    <a:lstStyle/>
                    <a:p>
                      <a:pPr algn="ctr"/>
                      <a:r>
                        <a:rPr sz="800" b="0" i="0">
                          <a:solidFill>
                            <a:srgbClr val="262626"/>
                          </a:solidFill>
                          <a:latin typeface="Arial"/>
                        </a:rPr>
                        <a:t>10</a:t>
                      </a:r>
                    </a:p>
                  </a:txBody>
                  <a:tcPr>
                    <a:solidFill>
                      <a:srgbClr val="F2F2F2"/>
                    </a:solidFill>
                  </a:tcPr>
                </a:tc>
                <a:tc>
                  <a:txBody>
                    <a:bodyPr/>
                    <a:lstStyle/>
                    <a:p>
                      <a:pPr algn="ctr"/>
                      <a:r>
                        <a:rPr sz="800" b="0" i="0">
                          <a:solidFill>
                            <a:srgbClr val="262626"/>
                          </a:solidFill>
                          <a:latin typeface="Arial"/>
                        </a:rPr>
                        <a:t>15</a:t>
                      </a:r>
                    </a:p>
                  </a:txBody>
                  <a:tcPr>
                    <a:solidFill>
                      <a:srgbClr val="F2F2F2"/>
                    </a:solidFill>
                  </a:tcPr>
                </a:tc>
                <a:tc>
                  <a:txBody>
                    <a:bodyPr/>
                    <a:lstStyle/>
                    <a:p>
                      <a:pPr algn="ctr"/>
                      <a:r>
                        <a:rPr sz="800" b="0" i="0">
                          <a:solidFill>
                            <a:srgbClr val="262626"/>
                          </a:solidFill>
                          <a:latin typeface="Arial"/>
                        </a:rPr>
                        <a:t>+5</a:t>
                      </a:r>
                    </a:p>
                  </a:txBody>
                  <a:tcPr>
                    <a:solidFill>
                      <a:srgbClr val="F2F2F2"/>
                    </a:solidFill>
                  </a:tcPr>
                </a:tc>
                <a:tc>
                  <a:txBody>
                    <a:bodyPr/>
                    <a:lstStyle/>
                    <a:p>
                      <a:pPr algn="ctr"/>
                      <a:r>
                        <a:rPr sz="800" b="0" i="0">
                          <a:solidFill>
                            <a:srgbClr val="262626"/>
                          </a:solidFill>
                          <a:latin typeface="Arial"/>
                        </a:rPr>
                        <a:t>16</a:t>
                      </a:r>
                    </a:p>
                  </a:txBody>
                  <a:tcPr>
                    <a:solidFill>
                      <a:srgbClr val="F2F2F2"/>
                    </a:solidFill>
                  </a:tcPr>
                </a:tc>
                <a:tc>
                  <a:txBody>
                    <a:bodyPr/>
                    <a:lstStyle/>
                    <a:p>
                      <a:pPr algn="ctr"/>
                      <a:r>
                        <a:rPr sz="800" b="0" i="0">
                          <a:solidFill>
                            <a:srgbClr val="262626"/>
                          </a:solidFill>
                          <a:latin typeface="Arial"/>
                        </a:rPr>
                        <a:t>115s</a:t>
                      </a:r>
                    </a:p>
                  </a:txBody>
                  <a:tcPr>
                    <a:solidFill>
                      <a:srgbClr val="F2F2F2"/>
                    </a:solidFill>
                  </a:tcPr>
                </a:tc>
                <a:extLst>
                  <a:ext uri="{0D108BD9-81ED-4DB2-BD59-A6C34878D82A}">
                    <a16:rowId xmlns:a16="http://schemas.microsoft.com/office/drawing/2014/main" val="10004"/>
                  </a:ext>
                </a:extLst>
              </a:tr>
              <a:tr h="128847">
                <a:tc>
                  <a:txBody>
                    <a:bodyPr/>
                    <a:lstStyle/>
                    <a:p>
                      <a:pPr algn="ctr"/>
                      <a:r>
                        <a:rPr sz="800" b="0" i="0">
                          <a:solidFill>
                            <a:srgbClr val="262626"/>
                          </a:solidFill>
                          <a:latin typeface="Arial"/>
                        </a:rPr>
                        <a:t>2020</a:t>
                      </a:r>
                    </a:p>
                  </a:txBody>
                  <a:tcPr>
                    <a:solidFill>
                      <a:srgbClr val="FFFFFF"/>
                    </a:solidFill>
                  </a:tcPr>
                </a:tc>
                <a:tc>
                  <a:txBody>
                    <a:bodyPr/>
                    <a:lstStyle/>
                    <a:p>
                      <a:pPr algn="ctr"/>
                      <a:r>
                        <a:rPr sz="800" b="0" i="0">
                          <a:solidFill>
                            <a:srgbClr val="262626"/>
                          </a:solidFill>
                          <a:latin typeface="Arial"/>
                        </a:rPr>
                        <a:t>4</a:t>
                      </a:r>
                    </a:p>
                  </a:txBody>
                  <a:tcPr>
                    <a:solidFill>
                      <a:srgbClr val="FFFFFF"/>
                    </a:solidFill>
                  </a:tcPr>
                </a:tc>
                <a:tc>
                  <a:txBody>
                    <a:bodyPr/>
                    <a:lstStyle/>
                    <a:p>
                      <a:pPr algn="ctr"/>
                      <a:r>
                        <a:rPr sz="800" b="0" i="0">
                          <a:solidFill>
                            <a:srgbClr val="262626"/>
                          </a:solidFill>
                          <a:latin typeface="Arial"/>
                        </a:rPr>
                        <a:t>1</a:t>
                      </a:r>
                    </a:p>
                  </a:txBody>
                  <a:tcPr>
                    <a:solidFill>
                      <a:srgbClr val="FFFFFF"/>
                    </a:solidFill>
                  </a:tcPr>
                </a:tc>
                <a:tc>
                  <a:txBody>
                    <a:bodyPr/>
                    <a:lstStyle/>
                    <a:p>
                      <a:pPr algn="ctr"/>
                      <a:r>
                        <a:rPr sz="800" b="0" i="0">
                          <a:solidFill>
                            <a:srgbClr val="262626"/>
                          </a:solidFill>
                          <a:latin typeface="Arial"/>
                        </a:rPr>
                        <a:t>-3</a:t>
                      </a:r>
                    </a:p>
                  </a:txBody>
                  <a:tcPr>
                    <a:solidFill>
                      <a:srgbClr val="FFFFFF"/>
                    </a:solidFill>
                  </a:tcPr>
                </a:tc>
                <a:tc>
                  <a:txBody>
                    <a:bodyPr/>
                    <a:lstStyle/>
                    <a:p>
                      <a:pPr algn="ctr"/>
                      <a:r>
                        <a:rPr sz="800" b="0" i="0">
                          <a:solidFill>
                            <a:srgbClr val="262626"/>
                          </a:solidFill>
                          <a:latin typeface="Arial"/>
                        </a:rPr>
                        <a:t>6</a:t>
                      </a:r>
                    </a:p>
                  </a:txBody>
                  <a:tcPr>
                    <a:solidFill>
                      <a:srgbClr val="FFFFFF"/>
                    </a:solidFill>
                  </a:tcPr>
                </a:tc>
                <a:tc>
                  <a:txBody>
                    <a:bodyPr/>
                    <a:lstStyle/>
                    <a:p>
                      <a:pPr algn="ctr"/>
                      <a:r>
                        <a:rPr sz="800" b="0" i="0">
                          <a:solidFill>
                            <a:srgbClr val="262626"/>
                          </a:solidFill>
                          <a:latin typeface="Arial"/>
                        </a:rPr>
                        <a:t>23s</a:t>
                      </a:r>
                    </a:p>
                  </a:txBody>
                  <a:tcPr>
                    <a:solidFill>
                      <a:srgbClr val="FFFFFF"/>
                    </a:solidFill>
                  </a:tcPr>
                </a:tc>
                <a:extLst>
                  <a:ext uri="{0D108BD9-81ED-4DB2-BD59-A6C34878D82A}">
                    <a16:rowId xmlns:a16="http://schemas.microsoft.com/office/drawing/2014/main" val="10005"/>
                  </a:ext>
                </a:extLst>
              </a:tr>
              <a:tr h="128847">
                <a:tc>
                  <a:txBody>
                    <a:bodyPr/>
                    <a:lstStyle/>
                    <a:p>
                      <a:pPr algn="ctr"/>
                      <a:r>
                        <a:rPr sz="800" b="0" i="0">
                          <a:solidFill>
                            <a:srgbClr val="262626"/>
                          </a:solidFill>
                          <a:latin typeface="Arial"/>
                        </a:rPr>
                        <a:t>2021</a:t>
                      </a:r>
                    </a:p>
                  </a:txBody>
                  <a:tcPr>
                    <a:solidFill>
                      <a:srgbClr val="F2F2F2"/>
                    </a:solidFill>
                  </a:tcPr>
                </a:tc>
                <a:tc>
                  <a:txBody>
                    <a:bodyPr/>
                    <a:lstStyle/>
                    <a:p>
                      <a:pPr algn="ctr"/>
                      <a:r>
                        <a:rPr sz="800" b="0" i="0">
                          <a:solidFill>
                            <a:srgbClr val="262626"/>
                          </a:solidFill>
                          <a:latin typeface="Arial"/>
                        </a:rPr>
                        <a:t>9</a:t>
                      </a:r>
                    </a:p>
                  </a:txBody>
                  <a:tcPr>
                    <a:solidFill>
                      <a:srgbClr val="F2F2F2"/>
                    </a:solidFill>
                  </a:tcPr>
                </a:tc>
                <a:tc>
                  <a:txBody>
                    <a:bodyPr/>
                    <a:lstStyle/>
                    <a:p>
                      <a:pPr algn="ctr"/>
                      <a:r>
                        <a:rPr sz="800" b="0" i="0">
                          <a:solidFill>
                            <a:srgbClr val="262626"/>
                          </a:solidFill>
                          <a:latin typeface="Arial"/>
                        </a:rPr>
                        <a:t>19</a:t>
                      </a:r>
                    </a:p>
                  </a:txBody>
                  <a:tcPr>
                    <a:solidFill>
                      <a:srgbClr val="F2F2F2"/>
                    </a:solidFill>
                  </a:tcPr>
                </a:tc>
                <a:tc>
                  <a:txBody>
                    <a:bodyPr/>
                    <a:lstStyle/>
                    <a:p>
                      <a:pPr algn="ctr"/>
                      <a:r>
                        <a:rPr sz="800" b="0" i="0">
                          <a:solidFill>
                            <a:srgbClr val="262626"/>
                          </a:solidFill>
                          <a:latin typeface="Arial"/>
                        </a:rPr>
                        <a:t>+10</a:t>
                      </a:r>
                    </a:p>
                  </a:txBody>
                  <a:tcPr>
                    <a:solidFill>
                      <a:srgbClr val="F2F2F2"/>
                    </a:solidFill>
                  </a:tcPr>
                </a:tc>
                <a:tc>
                  <a:txBody>
                    <a:bodyPr/>
                    <a:lstStyle/>
                    <a:p>
                      <a:pPr algn="ctr"/>
                      <a:r>
                        <a:rPr sz="800" b="0" i="0">
                          <a:solidFill>
                            <a:srgbClr val="262626"/>
                          </a:solidFill>
                          <a:latin typeface="Arial"/>
                        </a:rPr>
                        <a:t>3</a:t>
                      </a:r>
                    </a:p>
                  </a:txBody>
                  <a:tcPr>
                    <a:solidFill>
                      <a:srgbClr val="F2F2F2"/>
                    </a:solidFill>
                  </a:tcPr>
                </a:tc>
                <a:tc>
                  <a:txBody>
                    <a:bodyPr/>
                    <a:lstStyle/>
                    <a:p>
                      <a:pPr algn="ctr"/>
                      <a:r>
                        <a:rPr sz="800" b="0" i="0">
                          <a:solidFill>
                            <a:srgbClr val="262626"/>
                          </a:solidFill>
                          <a:latin typeface="Arial"/>
                        </a:rPr>
                        <a:t>72s</a:t>
                      </a:r>
                    </a:p>
                  </a:txBody>
                  <a:tcPr>
                    <a:solidFill>
                      <a:srgbClr val="F2F2F2"/>
                    </a:solidFill>
                  </a:tcPr>
                </a:tc>
                <a:extLst>
                  <a:ext uri="{0D108BD9-81ED-4DB2-BD59-A6C34878D82A}">
                    <a16:rowId xmlns:a16="http://schemas.microsoft.com/office/drawing/2014/main" val="10006"/>
                  </a:ext>
                </a:extLst>
              </a:tr>
              <a:tr h="128847">
                <a:tc>
                  <a:txBody>
                    <a:bodyPr/>
                    <a:lstStyle/>
                    <a:p>
                      <a:pPr algn="ctr"/>
                      <a:r>
                        <a:rPr sz="800" b="0" i="0">
                          <a:solidFill>
                            <a:srgbClr val="262626"/>
                          </a:solidFill>
                          <a:latin typeface="Arial"/>
                        </a:rPr>
                        <a:t>2022</a:t>
                      </a:r>
                    </a:p>
                  </a:txBody>
                  <a:tcPr>
                    <a:solidFill>
                      <a:srgbClr val="FFFFFF"/>
                    </a:solidFill>
                  </a:tcPr>
                </a:tc>
                <a:tc>
                  <a:txBody>
                    <a:bodyPr/>
                    <a:lstStyle/>
                    <a:p>
                      <a:pPr algn="ctr"/>
                      <a:r>
                        <a:rPr sz="800" b="0" i="0">
                          <a:solidFill>
                            <a:srgbClr val="262626"/>
                          </a:solidFill>
                          <a:latin typeface="Arial"/>
                        </a:rPr>
                        <a:t>5</a:t>
                      </a:r>
                    </a:p>
                  </a:txBody>
                  <a:tcPr>
                    <a:solidFill>
                      <a:srgbClr val="FFFFFF"/>
                    </a:solidFill>
                  </a:tcPr>
                </a:tc>
                <a:tc>
                  <a:txBody>
                    <a:bodyPr/>
                    <a:lstStyle/>
                    <a:p>
                      <a:pPr algn="ctr"/>
                      <a:r>
                        <a:rPr sz="800" b="0" i="0">
                          <a:solidFill>
                            <a:srgbClr val="262626"/>
                          </a:solidFill>
                          <a:latin typeface="Arial"/>
                        </a:rPr>
                        <a:t>5</a:t>
                      </a:r>
                    </a:p>
                  </a:txBody>
                  <a:tcPr>
                    <a:solidFill>
                      <a:srgbClr val="FFFFFF"/>
                    </a:solidFill>
                  </a:tcPr>
                </a:tc>
                <a:tc>
                  <a:txBody>
                    <a:bodyPr/>
                    <a:lstStyle/>
                    <a:p>
                      <a:pPr algn="ctr"/>
                      <a:r>
                        <a:rPr sz="800" b="0" i="0">
                          <a:solidFill>
                            <a:srgbClr val="262626"/>
                          </a:solidFill>
                          <a:latin typeface="Arial"/>
                        </a:rPr>
                        <a:t>0</a:t>
                      </a:r>
                    </a:p>
                  </a:txBody>
                  <a:tcPr>
                    <a:solidFill>
                      <a:srgbClr val="FFFFFF"/>
                    </a:solidFill>
                  </a:tcPr>
                </a:tc>
                <a:tc>
                  <a:txBody>
                    <a:bodyPr/>
                    <a:lstStyle/>
                    <a:p>
                      <a:pPr algn="ctr"/>
                      <a:r>
                        <a:rPr sz="800" b="0" i="0">
                          <a:solidFill>
                            <a:srgbClr val="262626"/>
                          </a:solidFill>
                          <a:latin typeface="Arial"/>
                        </a:rPr>
                        <a:t>18</a:t>
                      </a:r>
                    </a:p>
                  </a:txBody>
                  <a:tcPr>
                    <a:solidFill>
                      <a:srgbClr val="FFFFFF"/>
                    </a:solidFill>
                  </a:tcPr>
                </a:tc>
                <a:tc>
                  <a:txBody>
                    <a:bodyPr/>
                    <a:lstStyle/>
                    <a:p>
                      <a:pPr algn="ctr"/>
                      <a:r>
                        <a:rPr sz="800" b="0" i="0">
                          <a:solidFill>
                            <a:srgbClr val="262626"/>
                          </a:solidFill>
                          <a:latin typeface="Arial"/>
                        </a:rPr>
                        <a:t>57s</a:t>
                      </a:r>
                    </a:p>
                  </a:txBody>
                  <a:tcPr>
                    <a:solidFill>
                      <a:srgbClr val="FFFFFF"/>
                    </a:solidFill>
                  </a:tcPr>
                </a:tc>
                <a:extLst>
                  <a:ext uri="{0D108BD9-81ED-4DB2-BD59-A6C34878D82A}">
                    <a16:rowId xmlns:a16="http://schemas.microsoft.com/office/drawing/2014/main" val="10007"/>
                  </a:ext>
                </a:extLst>
              </a:tr>
              <a:tr h="128847">
                <a:tc>
                  <a:txBody>
                    <a:bodyPr/>
                    <a:lstStyle/>
                    <a:p>
                      <a:pPr algn="ctr"/>
                      <a:r>
                        <a:rPr sz="800" b="0" i="0">
                          <a:solidFill>
                            <a:srgbClr val="262626"/>
                          </a:solidFill>
                          <a:latin typeface="Arial"/>
                        </a:rPr>
                        <a:t>2023</a:t>
                      </a:r>
                    </a:p>
                  </a:txBody>
                  <a:tcPr>
                    <a:solidFill>
                      <a:srgbClr val="F2F2F2"/>
                    </a:solidFill>
                  </a:tcPr>
                </a:tc>
                <a:tc>
                  <a:txBody>
                    <a:bodyPr/>
                    <a:lstStyle/>
                    <a:p>
                      <a:pPr algn="ctr"/>
                      <a:r>
                        <a:rPr sz="800" b="0" i="0">
                          <a:solidFill>
                            <a:srgbClr val="262626"/>
                          </a:solidFill>
                          <a:latin typeface="Arial"/>
                        </a:rPr>
                        <a:t>3</a:t>
                      </a:r>
                    </a:p>
                  </a:txBody>
                  <a:tcPr>
                    <a:solidFill>
                      <a:srgbClr val="F2F2F2"/>
                    </a:solidFill>
                  </a:tcPr>
                </a:tc>
                <a:tc>
                  <a:txBody>
                    <a:bodyPr/>
                    <a:lstStyle/>
                    <a:p>
                      <a:pPr algn="ctr"/>
                      <a:r>
                        <a:rPr sz="800" b="0" i="0">
                          <a:solidFill>
                            <a:srgbClr val="262626"/>
                          </a:solidFill>
                          <a:latin typeface="Arial"/>
                        </a:rPr>
                        <a:t>12</a:t>
                      </a:r>
                    </a:p>
                  </a:txBody>
                  <a:tcPr>
                    <a:solidFill>
                      <a:srgbClr val="F2F2F2"/>
                    </a:solidFill>
                  </a:tcPr>
                </a:tc>
                <a:tc>
                  <a:txBody>
                    <a:bodyPr/>
                    <a:lstStyle/>
                    <a:p>
                      <a:pPr algn="ctr"/>
                      <a:r>
                        <a:rPr sz="800" b="0" i="0">
                          <a:solidFill>
                            <a:srgbClr val="262626"/>
                          </a:solidFill>
                          <a:latin typeface="Arial"/>
                        </a:rPr>
                        <a:t>+9</a:t>
                      </a:r>
                    </a:p>
                  </a:txBody>
                  <a:tcPr>
                    <a:solidFill>
                      <a:srgbClr val="F2F2F2"/>
                    </a:solidFill>
                  </a:tcPr>
                </a:tc>
                <a:tc>
                  <a:txBody>
                    <a:bodyPr/>
                    <a:lstStyle/>
                    <a:p>
                      <a:pPr algn="ctr"/>
                      <a:r>
                        <a:rPr sz="800" b="0" i="0">
                          <a:solidFill>
                            <a:srgbClr val="262626"/>
                          </a:solidFill>
                          <a:latin typeface="Arial"/>
                        </a:rPr>
                        <a:t>14</a:t>
                      </a:r>
                    </a:p>
                  </a:txBody>
                  <a:tcPr>
                    <a:solidFill>
                      <a:srgbClr val="F2F2F2"/>
                    </a:solidFill>
                  </a:tcPr>
                </a:tc>
                <a:tc>
                  <a:txBody>
                    <a:bodyPr/>
                    <a:lstStyle/>
                    <a:p>
                      <a:pPr algn="ctr"/>
                      <a:r>
                        <a:rPr sz="800" b="0" i="0">
                          <a:solidFill>
                            <a:srgbClr val="262626"/>
                          </a:solidFill>
                          <a:latin typeface="Arial"/>
                        </a:rPr>
                        <a:t>102s</a:t>
                      </a:r>
                    </a:p>
                  </a:txBody>
                  <a:tcPr>
                    <a:solidFill>
                      <a:srgbClr val="F2F2F2"/>
                    </a:solidFill>
                  </a:tcPr>
                </a:tc>
                <a:extLst>
                  <a:ext uri="{0D108BD9-81ED-4DB2-BD59-A6C34878D82A}">
                    <a16:rowId xmlns:a16="http://schemas.microsoft.com/office/drawing/2014/main" val="10008"/>
                  </a:ext>
                </a:extLst>
              </a:tr>
              <a:tr h="128847">
                <a:tc>
                  <a:txBody>
                    <a:bodyPr/>
                    <a:lstStyle/>
                    <a:p>
                      <a:pPr algn="ctr"/>
                      <a:r>
                        <a:rPr sz="800" b="0" i="0">
                          <a:solidFill>
                            <a:srgbClr val="262626"/>
                          </a:solidFill>
                          <a:latin typeface="Arial"/>
                        </a:rPr>
                        <a:t>2024</a:t>
                      </a:r>
                    </a:p>
                  </a:txBody>
                  <a:tcPr>
                    <a:solidFill>
                      <a:srgbClr val="FFFFFF"/>
                    </a:solidFill>
                  </a:tcPr>
                </a:tc>
                <a:tc>
                  <a:txBody>
                    <a:bodyPr/>
                    <a:lstStyle/>
                    <a:p>
                      <a:pPr algn="ctr"/>
                      <a:r>
                        <a:rPr sz="800" b="0" i="0">
                          <a:solidFill>
                            <a:srgbClr val="262626"/>
                          </a:solidFill>
                          <a:latin typeface="Arial"/>
                        </a:rPr>
                        <a:t>5</a:t>
                      </a:r>
                    </a:p>
                  </a:txBody>
                  <a:tcPr>
                    <a:solidFill>
                      <a:srgbClr val="FFFFFF"/>
                    </a:solidFill>
                  </a:tcPr>
                </a:tc>
                <a:tc>
                  <a:txBody>
                    <a:bodyPr/>
                    <a:lstStyle/>
                    <a:p>
                      <a:pPr algn="ctr"/>
                      <a:r>
                        <a:rPr sz="800" b="0" i="0">
                          <a:solidFill>
                            <a:srgbClr val="262626"/>
                          </a:solidFill>
                          <a:latin typeface="Arial"/>
                        </a:rPr>
                        <a:t>2</a:t>
                      </a:r>
                    </a:p>
                  </a:txBody>
                  <a:tcPr>
                    <a:solidFill>
                      <a:srgbClr val="FFFFFF"/>
                    </a:solidFill>
                  </a:tcPr>
                </a:tc>
                <a:tc>
                  <a:txBody>
                    <a:bodyPr/>
                    <a:lstStyle/>
                    <a:p>
                      <a:pPr algn="ctr"/>
                      <a:r>
                        <a:rPr sz="800" b="0" i="0">
                          <a:solidFill>
                            <a:srgbClr val="262626"/>
                          </a:solidFill>
                          <a:latin typeface="Arial"/>
                        </a:rPr>
                        <a:t>-3</a:t>
                      </a:r>
                    </a:p>
                  </a:txBody>
                  <a:tcPr>
                    <a:solidFill>
                      <a:srgbClr val="FFFFFF"/>
                    </a:solidFill>
                  </a:tcPr>
                </a:tc>
                <a:tc>
                  <a:txBody>
                    <a:bodyPr/>
                    <a:lstStyle/>
                    <a:p>
                      <a:pPr algn="ctr"/>
                      <a:r>
                        <a:rPr sz="800" b="0" i="0">
                          <a:solidFill>
                            <a:srgbClr val="262626"/>
                          </a:solidFill>
                          <a:latin typeface="Arial"/>
                        </a:rPr>
                        <a:t>11</a:t>
                      </a:r>
                    </a:p>
                  </a:txBody>
                  <a:tcPr>
                    <a:solidFill>
                      <a:srgbClr val="FFFFFF"/>
                    </a:solidFill>
                  </a:tcPr>
                </a:tc>
                <a:tc>
                  <a:txBody>
                    <a:bodyPr/>
                    <a:lstStyle/>
                    <a:p>
                      <a:pPr algn="ctr"/>
                      <a:r>
                        <a:rPr sz="800" b="0" i="0">
                          <a:solidFill>
                            <a:srgbClr val="262626"/>
                          </a:solidFill>
                          <a:latin typeface="Arial"/>
                        </a:rPr>
                        <a:t>186s</a:t>
                      </a:r>
                    </a:p>
                  </a:txBody>
                  <a:tcPr>
                    <a:solidFill>
                      <a:srgbClr val="FFFFFF"/>
                    </a:solidFill>
                  </a:tcPr>
                </a:tc>
                <a:extLst>
                  <a:ext uri="{0D108BD9-81ED-4DB2-BD59-A6C34878D82A}">
                    <a16:rowId xmlns:a16="http://schemas.microsoft.com/office/drawing/2014/main" val="10009"/>
                  </a:ext>
                </a:extLst>
              </a:tr>
              <a:tr h="128850">
                <a:tc>
                  <a:txBody>
                    <a:bodyPr/>
                    <a:lstStyle/>
                    <a:p>
                      <a:pPr algn="ctr"/>
                      <a:r>
                        <a:rPr sz="800" b="0" i="0">
                          <a:solidFill>
                            <a:srgbClr val="262626"/>
                          </a:solidFill>
                          <a:latin typeface="Arial"/>
                        </a:rPr>
                        <a:t>2025</a:t>
                      </a:r>
                    </a:p>
                  </a:txBody>
                  <a:tcPr>
                    <a:solidFill>
                      <a:srgbClr val="F2F2F2"/>
                    </a:solidFill>
                  </a:tcPr>
                </a:tc>
                <a:tc>
                  <a:txBody>
                    <a:bodyPr/>
                    <a:lstStyle/>
                    <a:p>
                      <a:pPr algn="ctr"/>
                      <a:r>
                        <a:rPr sz="800" b="0" i="0">
                          <a:solidFill>
                            <a:srgbClr val="262626"/>
                          </a:solidFill>
                          <a:latin typeface="Arial"/>
                        </a:rPr>
                        <a:t>6</a:t>
                      </a:r>
                    </a:p>
                  </a:txBody>
                  <a:tcPr>
                    <a:solidFill>
                      <a:srgbClr val="F2F2F2"/>
                    </a:solidFill>
                  </a:tcPr>
                </a:tc>
                <a:tc>
                  <a:txBody>
                    <a:bodyPr/>
                    <a:lstStyle/>
                    <a:p>
                      <a:pPr algn="ctr"/>
                      <a:r>
                        <a:rPr sz="800" b="0" i="0">
                          <a:solidFill>
                            <a:srgbClr val="262626"/>
                          </a:solidFill>
                          <a:latin typeface="Arial"/>
                        </a:rPr>
                        <a:t>2</a:t>
                      </a:r>
                    </a:p>
                  </a:txBody>
                  <a:tcPr>
                    <a:solidFill>
                      <a:srgbClr val="F2F2F2"/>
                    </a:solidFill>
                  </a:tcPr>
                </a:tc>
                <a:tc>
                  <a:txBody>
                    <a:bodyPr/>
                    <a:lstStyle/>
                    <a:p>
                      <a:pPr algn="ctr"/>
                      <a:r>
                        <a:rPr sz="800" b="0" i="0">
                          <a:solidFill>
                            <a:srgbClr val="262626"/>
                          </a:solidFill>
                          <a:latin typeface="Arial"/>
                        </a:rPr>
                        <a:t>-4</a:t>
                      </a:r>
                    </a:p>
                  </a:txBody>
                  <a:tcPr>
                    <a:solidFill>
                      <a:srgbClr val="F2F2F2"/>
                    </a:solidFill>
                  </a:tcPr>
                </a:tc>
                <a:tc>
                  <a:txBody>
                    <a:bodyPr/>
                    <a:lstStyle/>
                    <a:p>
                      <a:pPr algn="ctr"/>
                      <a:r>
                        <a:rPr sz="800" b="0" i="0">
                          <a:solidFill>
                            <a:srgbClr val="262626"/>
                          </a:solidFill>
                          <a:latin typeface="Arial"/>
                        </a:rPr>
                        <a:t>10</a:t>
                      </a:r>
                    </a:p>
                  </a:txBody>
                  <a:tcPr>
                    <a:solidFill>
                      <a:srgbClr val="F2F2F2"/>
                    </a:solidFill>
                  </a:tcPr>
                </a:tc>
                <a:tc>
                  <a:txBody>
                    <a:bodyPr/>
                    <a:lstStyle/>
                    <a:p>
                      <a:pPr algn="ctr"/>
                      <a:r>
                        <a:rPr sz="800" b="0" i="0" dirty="0">
                          <a:solidFill>
                            <a:srgbClr val="262626"/>
                          </a:solidFill>
                          <a:latin typeface="Arial"/>
                        </a:rPr>
                        <a:t>61s</a:t>
                      </a:r>
                    </a:p>
                  </a:txBody>
                  <a:tcPr>
                    <a:solidFill>
                      <a:srgbClr val="F2F2F2"/>
                    </a:solidFill>
                  </a:tcPr>
                </a:tc>
                <a:extLst>
                  <a:ext uri="{0D108BD9-81ED-4DB2-BD59-A6C34878D82A}">
                    <a16:rowId xmlns:a16="http://schemas.microsoft.com/office/drawing/2014/main" val="10010"/>
                  </a:ext>
                </a:extLst>
              </a:tr>
            </a:tbl>
          </a:graphicData>
        </a:graphic>
      </p:graphicFrame>
      <p:sp>
        <p:nvSpPr>
          <p:cNvPr id="11" name="TextBox 10"/>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1180068" y="1028039"/>
            <a:ext cx="9828817" cy="2547927"/>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42730304"/>
              </p:ext>
            </p:extLst>
          </p:nvPr>
        </p:nvGraphicFramePr>
        <p:xfrm>
          <a:off x="274320" y="3432302"/>
          <a:ext cx="11640312" cy="3272443"/>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224443">
                <a:tc>
                  <a:txBody>
                    <a:bodyPr/>
                    <a:lstStyle/>
                    <a:p>
                      <a:pPr algn="ctr"/>
                      <a:r>
                        <a:rPr lang="en-US" sz="700" b="1" i="0" dirty="0">
                          <a:solidFill>
                            <a:srgbClr val="FFFFFF"/>
                          </a:solidFill>
                          <a:latin typeface="Arial"/>
                        </a:rPr>
                        <a:t>Year</a:t>
                      </a:r>
                      <a:endParaRPr sz="700" b="1" i="0" dirty="0">
                        <a:solidFill>
                          <a:srgbClr val="FFFFFF"/>
                        </a:solidFill>
                        <a:latin typeface="Arial"/>
                      </a:endParaRPr>
                    </a:p>
                  </a:txBody>
                  <a:tcPr>
                    <a:solidFill>
                      <a:srgbClr val="002060"/>
                    </a:solidFill>
                  </a:tcPr>
                </a:tc>
                <a:tc>
                  <a:txBody>
                    <a:bodyPr/>
                    <a:lstStyle/>
                    <a:p>
                      <a:pPr algn="ctr"/>
                      <a:r>
                        <a:rPr sz="700" b="1" i="0">
                          <a:solidFill>
                            <a:srgbClr val="FFFFFF"/>
                          </a:solidFill>
                          <a:latin typeface="Arial"/>
                        </a:rPr>
                        <a:t>1st</a:t>
                      </a:r>
                    </a:p>
                  </a:txBody>
                  <a:tcPr>
                    <a:solidFill>
                      <a:srgbClr val="002060"/>
                    </a:solidFill>
                  </a:tcPr>
                </a:tc>
                <a:tc>
                  <a:txBody>
                    <a:bodyPr/>
                    <a:lstStyle/>
                    <a:p>
                      <a:pPr algn="ctr"/>
                      <a:r>
                        <a:rPr sz="700" b="1" i="0">
                          <a:solidFill>
                            <a:srgbClr val="FFFFFF"/>
                          </a:solidFill>
                          <a:latin typeface="Arial"/>
                        </a:rPr>
                        <a:t>2nd</a:t>
                      </a:r>
                    </a:p>
                  </a:txBody>
                  <a:tcPr>
                    <a:solidFill>
                      <a:srgbClr val="002060"/>
                    </a:solidFill>
                  </a:tcPr>
                </a:tc>
                <a:tc>
                  <a:txBody>
                    <a:bodyPr/>
                    <a:lstStyle/>
                    <a:p>
                      <a:pPr algn="ctr"/>
                      <a:r>
                        <a:rPr sz="700" b="1" i="0">
                          <a:solidFill>
                            <a:srgbClr val="FFFFFF"/>
                          </a:solidFill>
                          <a:latin typeface="Arial"/>
                        </a:rPr>
                        <a:t>3rd</a:t>
                      </a:r>
                    </a:p>
                  </a:txBody>
                  <a:tcPr>
                    <a:solidFill>
                      <a:srgbClr val="002060"/>
                    </a:solidFill>
                  </a:tcPr>
                </a:tc>
                <a:tc>
                  <a:txBody>
                    <a:bodyPr/>
                    <a:lstStyle/>
                    <a:p>
                      <a:pPr algn="ctr"/>
                      <a:r>
                        <a:rPr sz="700" b="1" i="0">
                          <a:solidFill>
                            <a:srgbClr val="FFFFFF"/>
                          </a:solidFill>
                          <a:latin typeface="Arial"/>
                        </a:rPr>
                        <a:t>5th</a:t>
                      </a:r>
                    </a:p>
                  </a:txBody>
                  <a:tcPr>
                    <a:solidFill>
                      <a:srgbClr val="002060"/>
                    </a:solidFill>
                  </a:tcPr>
                </a:tc>
                <a:tc>
                  <a:txBody>
                    <a:bodyPr/>
                    <a:lstStyle/>
                    <a:p>
                      <a:pPr algn="ctr"/>
                      <a:r>
                        <a:rPr sz="700" b="1" i="0">
                          <a:solidFill>
                            <a:srgbClr val="FFFFFF"/>
                          </a:solidFill>
                          <a:latin typeface="Arial"/>
                        </a:rPr>
                        <a:t>10th</a:t>
                      </a:r>
                    </a:p>
                  </a:txBody>
                  <a:tcPr>
                    <a:solidFill>
                      <a:srgbClr val="002060"/>
                    </a:solidFill>
                  </a:tcPr>
                </a:tc>
                <a:tc>
                  <a:txBody>
                    <a:bodyPr/>
                    <a:lstStyle/>
                    <a:p>
                      <a:pPr algn="ctr"/>
                      <a:r>
                        <a:rPr sz="7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224443">
                <a:tc>
                  <a:txBody>
                    <a:bodyPr/>
                    <a:lstStyle/>
                    <a:p>
                      <a:pPr algn="ctr"/>
                      <a:r>
                        <a:rPr sz="700" b="1" i="0">
                          <a:solidFill>
                            <a:srgbClr val="262626"/>
                          </a:solidFill>
                          <a:latin typeface="Arial"/>
                        </a:rPr>
                        <a:t>2016</a:t>
                      </a:r>
                    </a:p>
                  </a:txBody>
                  <a:tcPr>
                    <a:solidFill>
                      <a:srgbClr val="FFFFFF"/>
                    </a:solidFill>
                  </a:tcPr>
                </a:tc>
                <a:tc>
                  <a:txBody>
                    <a:bodyPr/>
                    <a:lstStyle/>
                    <a:p>
                      <a:pPr algn="ctr"/>
                      <a:r>
                        <a:rPr sz="700" b="0" i="0">
                          <a:solidFill>
                            <a:srgbClr val="262626"/>
                          </a:solidFill>
                          <a:latin typeface="Arial"/>
                        </a:rPr>
                        <a:t>2:07:22</a:t>
                      </a:r>
                    </a:p>
                  </a:txBody>
                  <a:tcPr>
                    <a:solidFill>
                      <a:srgbClr val="FFFFFF"/>
                    </a:solidFill>
                  </a:tcPr>
                </a:tc>
                <a:tc>
                  <a:txBody>
                    <a:bodyPr/>
                    <a:lstStyle/>
                    <a:p>
                      <a:pPr algn="ctr"/>
                      <a:r>
                        <a:rPr sz="700" b="0" i="0">
                          <a:solidFill>
                            <a:srgbClr val="262626"/>
                          </a:solidFill>
                          <a:latin typeface="Arial"/>
                        </a:rPr>
                        <a:t>2:07:23
+1s</a:t>
                      </a:r>
                    </a:p>
                  </a:txBody>
                  <a:tcPr>
                    <a:solidFill>
                      <a:srgbClr val="FFFFFF"/>
                    </a:solidFill>
                  </a:tcPr>
                </a:tc>
                <a:tc>
                  <a:txBody>
                    <a:bodyPr/>
                    <a:lstStyle/>
                    <a:p>
                      <a:pPr algn="ctr"/>
                      <a:r>
                        <a:rPr sz="700" b="0" i="0" dirty="0">
                          <a:solidFill>
                            <a:srgbClr val="262626"/>
                          </a:solidFill>
                          <a:latin typeface="Arial"/>
                        </a:rPr>
                        <a:t>2:07:27
+5s</a:t>
                      </a:r>
                    </a:p>
                  </a:txBody>
                  <a:tcPr>
                    <a:solidFill>
                      <a:srgbClr val="FFFFFF"/>
                    </a:solidFill>
                  </a:tcPr>
                </a:tc>
                <a:tc>
                  <a:txBody>
                    <a:bodyPr/>
                    <a:lstStyle/>
                    <a:p>
                      <a:pPr algn="ctr"/>
                      <a:r>
                        <a:rPr sz="700" b="0" i="0">
                          <a:solidFill>
                            <a:srgbClr val="262626"/>
                          </a:solidFill>
                          <a:latin typeface="Arial"/>
                        </a:rPr>
                        <a:t>2:08:50
+88s</a:t>
                      </a:r>
                    </a:p>
                  </a:txBody>
                  <a:tcPr>
                    <a:solidFill>
                      <a:srgbClr val="FFFFFF"/>
                    </a:solidFill>
                  </a:tcPr>
                </a:tc>
                <a:tc>
                  <a:txBody>
                    <a:bodyPr/>
                    <a:lstStyle/>
                    <a:p>
                      <a:pPr algn="ctr"/>
                      <a:r>
                        <a:rPr sz="700" b="0" i="0">
                          <a:solidFill>
                            <a:srgbClr val="262626"/>
                          </a:solidFill>
                          <a:latin typeface="Arial"/>
                        </a:rPr>
                        <a:t>2:10:10
+168s</a:t>
                      </a:r>
                    </a:p>
                  </a:txBody>
                  <a:tcPr>
                    <a:solidFill>
                      <a:srgbClr val="FFFFFF"/>
                    </a:solidFill>
                  </a:tcPr>
                </a:tc>
                <a:tc>
                  <a:txBody>
                    <a:bodyPr/>
                    <a:lstStyle/>
                    <a:p>
                      <a:pPr algn="ctr"/>
                      <a:r>
                        <a:rPr sz="700" b="0" i="0">
                          <a:solidFill>
                            <a:srgbClr val="262626"/>
                          </a:solidFill>
                          <a:latin typeface="Arial"/>
                        </a:rPr>
                        <a:t>2:22:46
+924s</a:t>
                      </a:r>
                    </a:p>
                  </a:txBody>
                  <a:tcPr>
                    <a:solidFill>
                      <a:srgbClr val="FFFFFF"/>
                    </a:solidFill>
                  </a:tcPr>
                </a:tc>
                <a:extLst>
                  <a:ext uri="{0D108BD9-81ED-4DB2-BD59-A6C34878D82A}">
                    <a16:rowId xmlns:a16="http://schemas.microsoft.com/office/drawing/2014/main" val="10001"/>
                  </a:ext>
                </a:extLst>
              </a:tr>
              <a:tr h="224443">
                <a:tc>
                  <a:txBody>
                    <a:bodyPr/>
                    <a:lstStyle/>
                    <a:p>
                      <a:pPr algn="ctr"/>
                      <a:r>
                        <a:rPr sz="700" b="1" i="0">
                          <a:solidFill>
                            <a:srgbClr val="262626"/>
                          </a:solidFill>
                          <a:latin typeface="Arial"/>
                        </a:rPr>
                        <a:t>2017</a:t>
                      </a:r>
                    </a:p>
                  </a:txBody>
                  <a:tcPr>
                    <a:solidFill>
                      <a:srgbClr val="F2F2F2"/>
                    </a:solidFill>
                  </a:tcPr>
                </a:tc>
                <a:tc>
                  <a:txBody>
                    <a:bodyPr/>
                    <a:lstStyle/>
                    <a:p>
                      <a:pPr algn="ctr"/>
                      <a:r>
                        <a:rPr sz="700" b="0" i="0">
                          <a:solidFill>
                            <a:srgbClr val="262626"/>
                          </a:solidFill>
                          <a:latin typeface="Arial"/>
                        </a:rPr>
                        <a:t>2:03:29</a:t>
                      </a:r>
                    </a:p>
                  </a:txBody>
                  <a:tcPr>
                    <a:solidFill>
                      <a:srgbClr val="F2F2F2"/>
                    </a:solidFill>
                  </a:tcPr>
                </a:tc>
                <a:tc>
                  <a:txBody>
                    <a:bodyPr/>
                    <a:lstStyle/>
                    <a:p>
                      <a:pPr algn="ctr"/>
                      <a:r>
                        <a:rPr sz="700" b="0" i="0">
                          <a:solidFill>
                            <a:srgbClr val="262626"/>
                          </a:solidFill>
                          <a:latin typeface="Arial"/>
                        </a:rPr>
                        <a:t>2:04:31
+62s</a:t>
                      </a:r>
                    </a:p>
                  </a:txBody>
                  <a:tcPr>
                    <a:solidFill>
                      <a:srgbClr val="F2F2F2"/>
                    </a:solidFill>
                  </a:tcPr>
                </a:tc>
                <a:tc>
                  <a:txBody>
                    <a:bodyPr/>
                    <a:lstStyle/>
                    <a:p>
                      <a:pPr algn="ctr"/>
                      <a:r>
                        <a:rPr sz="700" b="0" i="0">
                          <a:solidFill>
                            <a:srgbClr val="262626"/>
                          </a:solidFill>
                          <a:latin typeface="Arial"/>
                        </a:rPr>
                        <a:t>2:04:56
+87s</a:t>
                      </a:r>
                    </a:p>
                  </a:txBody>
                  <a:tcPr>
                    <a:solidFill>
                      <a:srgbClr val="F2F2F2"/>
                    </a:solidFill>
                  </a:tcPr>
                </a:tc>
                <a:tc>
                  <a:txBody>
                    <a:bodyPr/>
                    <a:lstStyle/>
                    <a:p>
                      <a:pPr algn="ctr"/>
                      <a:r>
                        <a:rPr sz="700" b="0" i="0">
                          <a:solidFill>
                            <a:srgbClr val="262626"/>
                          </a:solidFill>
                          <a:latin typeface="Arial"/>
                        </a:rPr>
                        <a:t>2:05:27
+118s</a:t>
                      </a:r>
                    </a:p>
                  </a:txBody>
                  <a:tcPr>
                    <a:solidFill>
                      <a:srgbClr val="F2F2F2"/>
                    </a:solidFill>
                  </a:tcPr>
                </a:tc>
                <a:tc>
                  <a:txBody>
                    <a:bodyPr/>
                    <a:lstStyle/>
                    <a:p>
                      <a:pPr algn="ctr"/>
                      <a:r>
                        <a:rPr sz="700" b="0" i="0">
                          <a:solidFill>
                            <a:srgbClr val="262626"/>
                          </a:solidFill>
                          <a:latin typeface="Arial"/>
                        </a:rPr>
                        <a:t>2:06:11
+162s</a:t>
                      </a:r>
                    </a:p>
                  </a:txBody>
                  <a:tcPr>
                    <a:solidFill>
                      <a:srgbClr val="F2F2F2"/>
                    </a:solidFill>
                  </a:tcPr>
                </a:tc>
                <a:tc>
                  <a:txBody>
                    <a:bodyPr/>
                    <a:lstStyle/>
                    <a:p>
                      <a:pPr algn="ctr"/>
                      <a:r>
                        <a:rPr sz="700" b="0" i="0">
                          <a:solidFill>
                            <a:srgbClr val="262626"/>
                          </a:solidFill>
                          <a:latin typeface="Arial"/>
                        </a:rPr>
                        <a:t>2:11:55
+506s</a:t>
                      </a:r>
                    </a:p>
                  </a:txBody>
                  <a:tcPr>
                    <a:solidFill>
                      <a:srgbClr val="F2F2F2"/>
                    </a:solidFill>
                  </a:tcPr>
                </a:tc>
                <a:extLst>
                  <a:ext uri="{0D108BD9-81ED-4DB2-BD59-A6C34878D82A}">
                    <a16:rowId xmlns:a16="http://schemas.microsoft.com/office/drawing/2014/main" val="10002"/>
                  </a:ext>
                </a:extLst>
              </a:tr>
              <a:tr h="224443">
                <a:tc>
                  <a:txBody>
                    <a:bodyPr/>
                    <a:lstStyle/>
                    <a:p>
                      <a:pPr algn="ctr"/>
                      <a:r>
                        <a:rPr sz="700" b="1" i="0">
                          <a:solidFill>
                            <a:srgbClr val="262626"/>
                          </a:solidFill>
                          <a:latin typeface="Arial"/>
                        </a:rPr>
                        <a:t>2018</a:t>
                      </a:r>
                    </a:p>
                  </a:txBody>
                  <a:tcPr>
                    <a:solidFill>
                      <a:srgbClr val="FFFFFF"/>
                    </a:solidFill>
                  </a:tcPr>
                </a:tc>
                <a:tc>
                  <a:txBody>
                    <a:bodyPr/>
                    <a:lstStyle/>
                    <a:p>
                      <a:pPr algn="ctr"/>
                      <a:r>
                        <a:rPr sz="700" b="0" i="0">
                          <a:solidFill>
                            <a:srgbClr val="262626"/>
                          </a:solidFill>
                          <a:latin typeface="Arial"/>
                        </a:rPr>
                        <a:t>2:08:22</a:t>
                      </a:r>
                    </a:p>
                  </a:txBody>
                  <a:tcPr>
                    <a:solidFill>
                      <a:srgbClr val="FFFFFF"/>
                    </a:solidFill>
                  </a:tcPr>
                </a:tc>
                <a:tc>
                  <a:txBody>
                    <a:bodyPr/>
                    <a:lstStyle/>
                    <a:p>
                      <a:pPr algn="ctr"/>
                      <a:r>
                        <a:rPr sz="700" b="0" i="0">
                          <a:solidFill>
                            <a:srgbClr val="262626"/>
                          </a:solidFill>
                          <a:latin typeface="Arial"/>
                        </a:rPr>
                        <a:t>2:08:23
+1s</a:t>
                      </a:r>
                    </a:p>
                  </a:txBody>
                  <a:tcPr>
                    <a:solidFill>
                      <a:srgbClr val="FFFFFF"/>
                    </a:solidFill>
                  </a:tcPr>
                </a:tc>
                <a:tc>
                  <a:txBody>
                    <a:bodyPr/>
                    <a:lstStyle/>
                    <a:p>
                      <a:pPr algn="ctr"/>
                      <a:r>
                        <a:rPr sz="700" b="0" i="0">
                          <a:solidFill>
                            <a:srgbClr val="262626"/>
                          </a:solidFill>
                          <a:latin typeface="Arial"/>
                        </a:rPr>
                        <a:t>2:08:27
+5s</a:t>
                      </a:r>
                    </a:p>
                  </a:txBody>
                  <a:tcPr>
                    <a:solidFill>
                      <a:srgbClr val="FFFFFF"/>
                    </a:solidFill>
                  </a:tcPr>
                </a:tc>
                <a:tc>
                  <a:txBody>
                    <a:bodyPr/>
                    <a:lstStyle/>
                    <a:p>
                      <a:pPr algn="ctr"/>
                      <a:r>
                        <a:rPr sz="700" b="0" i="0">
                          <a:solidFill>
                            <a:srgbClr val="262626"/>
                          </a:solidFill>
                          <a:latin typeface="Arial"/>
                        </a:rPr>
                        <a:t>2:08:58
+36s</a:t>
                      </a:r>
                    </a:p>
                  </a:txBody>
                  <a:tcPr>
                    <a:solidFill>
                      <a:srgbClr val="FFFFFF"/>
                    </a:solidFill>
                  </a:tcPr>
                </a:tc>
                <a:tc>
                  <a:txBody>
                    <a:bodyPr/>
                    <a:lstStyle/>
                    <a:p>
                      <a:pPr algn="ctr"/>
                      <a:r>
                        <a:rPr sz="700" b="0" i="0">
                          <a:solidFill>
                            <a:srgbClr val="262626"/>
                          </a:solidFill>
                          <a:latin typeface="Arial"/>
                        </a:rPr>
                        <a:t>2:10:46
+144s</a:t>
                      </a:r>
                    </a:p>
                  </a:txBody>
                  <a:tcPr>
                    <a:solidFill>
                      <a:srgbClr val="FFFFFF"/>
                    </a:solidFill>
                  </a:tcPr>
                </a:tc>
                <a:tc>
                  <a:txBody>
                    <a:bodyPr/>
                    <a:lstStyle/>
                    <a:p>
                      <a:pPr algn="ctr"/>
                      <a:r>
                        <a:rPr sz="700" b="0" i="0">
                          <a:solidFill>
                            <a:srgbClr val="262626"/>
                          </a:solidFill>
                          <a:latin typeface="Arial"/>
                        </a:rPr>
                        <a:t>2:14:23
+361s</a:t>
                      </a:r>
                    </a:p>
                  </a:txBody>
                  <a:tcPr>
                    <a:solidFill>
                      <a:srgbClr val="FFFFFF"/>
                    </a:solidFill>
                  </a:tcPr>
                </a:tc>
                <a:extLst>
                  <a:ext uri="{0D108BD9-81ED-4DB2-BD59-A6C34878D82A}">
                    <a16:rowId xmlns:a16="http://schemas.microsoft.com/office/drawing/2014/main" val="10003"/>
                  </a:ext>
                </a:extLst>
              </a:tr>
              <a:tr h="224443">
                <a:tc>
                  <a:txBody>
                    <a:bodyPr/>
                    <a:lstStyle/>
                    <a:p>
                      <a:pPr algn="ctr"/>
                      <a:r>
                        <a:rPr sz="700" b="1" i="0">
                          <a:solidFill>
                            <a:srgbClr val="262626"/>
                          </a:solidFill>
                          <a:latin typeface="Arial"/>
                        </a:rPr>
                        <a:t>2019</a:t>
                      </a:r>
                    </a:p>
                  </a:txBody>
                  <a:tcPr>
                    <a:solidFill>
                      <a:srgbClr val="F2F2F2"/>
                    </a:solidFill>
                  </a:tcPr>
                </a:tc>
                <a:tc>
                  <a:txBody>
                    <a:bodyPr/>
                    <a:lstStyle/>
                    <a:p>
                      <a:pPr algn="ctr"/>
                      <a:r>
                        <a:rPr sz="700" b="0" i="0">
                          <a:solidFill>
                            <a:srgbClr val="262626"/>
                          </a:solidFill>
                          <a:latin typeface="Arial"/>
                        </a:rPr>
                        <a:t>2:09:08</a:t>
                      </a:r>
                    </a:p>
                  </a:txBody>
                  <a:tcPr>
                    <a:solidFill>
                      <a:srgbClr val="F2F2F2"/>
                    </a:solidFill>
                  </a:tcPr>
                </a:tc>
                <a:tc>
                  <a:txBody>
                    <a:bodyPr/>
                    <a:lstStyle/>
                    <a:p>
                      <a:pPr algn="ctr"/>
                      <a:r>
                        <a:rPr sz="700" b="0" i="0">
                          <a:solidFill>
                            <a:srgbClr val="262626"/>
                          </a:solidFill>
                          <a:latin typeface="Arial"/>
                        </a:rPr>
                        <a:t>2:09:12
+4s</a:t>
                      </a:r>
                    </a:p>
                  </a:txBody>
                  <a:tcPr>
                    <a:solidFill>
                      <a:srgbClr val="F2F2F2"/>
                    </a:solidFill>
                  </a:tcPr>
                </a:tc>
                <a:tc>
                  <a:txBody>
                    <a:bodyPr/>
                    <a:lstStyle/>
                    <a:p>
                      <a:pPr algn="ctr"/>
                      <a:r>
                        <a:rPr sz="700" b="0" i="0">
                          <a:solidFill>
                            <a:srgbClr val="262626"/>
                          </a:solidFill>
                          <a:latin typeface="Arial"/>
                        </a:rPr>
                        <a:t>2:10:41
+93s</a:t>
                      </a:r>
                    </a:p>
                  </a:txBody>
                  <a:tcPr>
                    <a:solidFill>
                      <a:srgbClr val="F2F2F2"/>
                    </a:solidFill>
                  </a:tcPr>
                </a:tc>
                <a:tc>
                  <a:txBody>
                    <a:bodyPr/>
                    <a:lstStyle/>
                    <a:p>
                      <a:pPr algn="ctr"/>
                      <a:r>
                        <a:rPr sz="700" b="0" i="0">
                          <a:solidFill>
                            <a:srgbClr val="262626"/>
                          </a:solidFill>
                          <a:latin typeface="Arial"/>
                        </a:rPr>
                        <a:t>2:11:31
+143s</a:t>
                      </a:r>
                    </a:p>
                  </a:txBody>
                  <a:tcPr>
                    <a:solidFill>
                      <a:srgbClr val="F2F2F2"/>
                    </a:solidFill>
                  </a:tcPr>
                </a:tc>
                <a:tc>
                  <a:txBody>
                    <a:bodyPr/>
                    <a:lstStyle/>
                    <a:p>
                      <a:pPr algn="ctr"/>
                      <a:r>
                        <a:rPr sz="700" b="0" i="0">
                          <a:solidFill>
                            <a:srgbClr val="262626"/>
                          </a:solidFill>
                          <a:latin typeface="Arial"/>
                        </a:rPr>
                        <a:t>2:12:28
+200s</a:t>
                      </a:r>
                    </a:p>
                  </a:txBody>
                  <a:tcPr>
                    <a:solidFill>
                      <a:srgbClr val="F2F2F2"/>
                    </a:solidFill>
                  </a:tcPr>
                </a:tc>
                <a:tc>
                  <a:txBody>
                    <a:bodyPr/>
                    <a:lstStyle/>
                    <a:p>
                      <a:pPr algn="ctr"/>
                      <a:r>
                        <a:rPr sz="700" b="0" i="0">
                          <a:solidFill>
                            <a:srgbClr val="262626"/>
                          </a:solidFill>
                          <a:latin typeface="Arial"/>
                        </a:rPr>
                        <a:t>2:14:37
+329s</a:t>
                      </a:r>
                    </a:p>
                  </a:txBody>
                  <a:tcPr>
                    <a:solidFill>
                      <a:srgbClr val="F2F2F2"/>
                    </a:solidFill>
                  </a:tcPr>
                </a:tc>
                <a:extLst>
                  <a:ext uri="{0D108BD9-81ED-4DB2-BD59-A6C34878D82A}">
                    <a16:rowId xmlns:a16="http://schemas.microsoft.com/office/drawing/2014/main" val="10004"/>
                  </a:ext>
                </a:extLst>
              </a:tr>
              <a:tr h="224443">
                <a:tc>
                  <a:txBody>
                    <a:bodyPr/>
                    <a:lstStyle/>
                    <a:p>
                      <a:pPr algn="ctr"/>
                      <a:r>
                        <a:rPr sz="700" b="1" i="0">
                          <a:solidFill>
                            <a:srgbClr val="262626"/>
                          </a:solidFill>
                          <a:latin typeface="Arial"/>
                        </a:rPr>
                        <a:t>2020</a:t>
                      </a:r>
                    </a:p>
                  </a:txBody>
                  <a:tcPr>
                    <a:solidFill>
                      <a:srgbClr val="FFFFFF"/>
                    </a:solidFill>
                  </a:tcPr>
                </a:tc>
                <a:tc>
                  <a:txBody>
                    <a:bodyPr/>
                    <a:lstStyle/>
                    <a:p>
                      <a:pPr algn="ctr"/>
                      <a:r>
                        <a:rPr sz="700" b="0" i="0">
                          <a:solidFill>
                            <a:srgbClr val="262626"/>
                          </a:solidFill>
                          <a:latin typeface="Arial"/>
                        </a:rPr>
                        <a:t>2:05:17</a:t>
                      </a:r>
                    </a:p>
                  </a:txBody>
                  <a:tcPr>
                    <a:solidFill>
                      <a:srgbClr val="FFFFFF"/>
                    </a:solidFill>
                  </a:tcPr>
                </a:tc>
                <a:tc>
                  <a:txBody>
                    <a:bodyPr/>
                    <a:lstStyle/>
                    <a:p>
                      <a:pPr algn="ctr"/>
                      <a:r>
                        <a:rPr sz="700" b="0" i="0">
                          <a:solidFill>
                            <a:srgbClr val="262626"/>
                          </a:solidFill>
                          <a:latin typeface="Arial"/>
                        </a:rPr>
                        <a:t>2:06:54
+97s</a:t>
                      </a:r>
                    </a:p>
                  </a:txBody>
                  <a:tcPr>
                    <a:solidFill>
                      <a:srgbClr val="FFFFFF"/>
                    </a:solidFill>
                  </a:tcPr>
                </a:tc>
                <a:tc>
                  <a:txBody>
                    <a:bodyPr/>
                    <a:lstStyle/>
                    <a:p>
                      <a:pPr algn="ctr"/>
                      <a:r>
                        <a:rPr sz="700" b="0" i="0">
                          <a:solidFill>
                            <a:srgbClr val="262626"/>
                          </a:solidFill>
                          <a:latin typeface="Arial"/>
                        </a:rPr>
                        <a:t>2:07:07
+110s</a:t>
                      </a:r>
                    </a:p>
                  </a:txBody>
                  <a:tcPr>
                    <a:solidFill>
                      <a:srgbClr val="FFFFFF"/>
                    </a:solidFill>
                  </a:tcPr>
                </a:tc>
                <a:tc>
                  <a:txBody>
                    <a:bodyPr/>
                    <a:lstStyle/>
                    <a:p>
                      <a:pPr algn="ctr"/>
                      <a:r>
                        <a:rPr sz="700" b="0" i="0">
                          <a:solidFill>
                            <a:srgbClr val="262626"/>
                          </a:solidFill>
                          <a:latin typeface="Arial"/>
                        </a:rPr>
                        <a:t>2:07:55
+158s</a:t>
                      </a:r>
                    </a:p>
                  </a:txBody>
                  <a:tcPr>
                    <a:solidFill>
                      <a:srgbClr val="FFFFFF"/>
                    </a:solidFill>
                  </a:tcPr>
                </a:tc>
                <a:tc>
                  <a:txBody>
                    <a:bodyPr/>
                    <a:lstStyle/>
                    <a:p>
                      <a:pPr algn="ctr"/>
                      <a:r>
                        <a:rPr sz="700" b="0" i="0">
                          <a:solidFill>
                            <a:srgbClr val="262626"/>
                          </a:solidFill>
                          <a:latin typeface="Arial"/>
                        </a:rPr>
                        <a:t>2:09:02
+225s</a:t>
                      </a:r>
                    </a:p>
                  </a:txBody>
                  <a:tcPr>
                    <a:solidFill>
                      <a:srgbClr val="FFFFFF"/>
                    </a:solidFill>
                  </a:tcPr>
                </a:tc>
                <a:tc>
                  <a:txBody>
                    <a:bodyPr/>
                    <a:lstStyle/>
                    <a:p>
                      <a:pPr algn="ctr"/>
                      <a:r>
                        <a:rPr sz="700" b="0" i="0">
                          <a:solidFill>
                            <a:srgbClr val="262626"/>
                          </a:solidFill>
                          <a:latin typeface="Arial"/>
                        </a:rPr>
                        <a:t>2:11:37
+380s</a:t>
                      </a:r>
                    </a:p>
                  </a:txBody>
                  <a:tcPr>
                    <a:solidFill>
                      <a:srgbClr val="FFFFFF"/>
                    </a:solidFill>
                  </a:tcPr>
                </a:tc>
                <a:extLst>
                  <a:ext uri="{0D108BD9-81ED-4DB2-BD59-A6C34878D82A}">
                    <a16:rowId xmlns:a16="http://schemas.microsoft.com/office/drawing/2014/main" val="10005"/>
                  </a:ext>
                </a:extLst>
              </a:tr>
              <a:tr h="224443">
                <a:tc>
                  <a:txBody>
                    <a:bodyPr/>
                    <a:lstStyle/>
                    <a:p>
                      <a:pPr algn="ctr"/>
                      <a:r>
                        <a:rPr sz="700" b="1" i="0">
                          <a:solidFill>
                            <a:srgbClr val="262626"/>
                          </a:solidFill>
                          <a:latin typeface="Arial"/>
                        </a:rPr>
                        <a:t>2021</a:t>
                      </a:r>
                    </a:p>
                  </a:txBody>
                  <a:tcPr>
                    <a:solidFill>
                      <a:srgbClr val="F2F2F2"/>
                    </a:solidFill>
                  </a:tcPr>
                </a:tc>
                <a:tc>
                  <a:txBody>
                    <a:bodyPr/>
                    <a:lstStyle/>
                    <a:p>
                      <a:pPr algn="ctr"/>
                      <a:r>
                        <a:rPr sz="700" b="0" i="0">
                          <a:solidFill>
                            <a:srgbClr val="262626"/>
                          </a:solidFill>
                          <a:latin typeface="Arial"/>
                        </a:rPr>
                        <a:t>2:06:56</a:t>
                      </a:r>
                    </a:p>
                  </a:txBody>
                  <a:tcPr>
                    <a:solidFill>
                      <a:srgbClr val="F2F2F2"/>
                    </a:solidFill>
                  </a:tcPr>
                </a:tc>
                <a:tc>
                  <a:txBody>
                    <a:bodyPr/>
                    <a:lstStyle/>
                    <a:p>
                      <a:pPr algn="ctr"/>
                      <a:r>
                        <a:rPr sz="700" b="0" i="0">
                          <a:solidFill>
                            <a:srgbClr val="262626"/>
                          </a:solidFill>
                          <a:latin typeface="Arial"/>
                        </a:rPr>
                        <a:t>2:07:20
+24s</a:t>
                      </a:r>
                    </a:p>
                  </a:txBody>
                  <a:tcPr>
                    <a:solidFill>
                      <a:srgbClr val="F2F2F2"/>
                    </a:solidFill>
                  </a:tcPr>
                </a:tc>
                <a:tc>
                  <a:txBody>
                    <a:bodyPr/>
                    <a:lstStyle/>
                    <a:p>
                      <a:pPr algn="ctr"/>
                      <a:r>
                        <a:rPr sz="700" b="0" i="0">
                          <a:solidFill>
                            <a:srgbClr val="262626"/>
                          </a:solidFill>
                          <a:latin typeface="Arial"/>
                        </a:rPr>
                        <a:t>2:07:31
+35s</a:t>
                      </a:r>
                    </a:p>
                  </a:txBody>
                  <a:tcPr>
                    <a:solidFill>
                      <a:srgbClr val="F2F2F2"/>
                    </a:solidFill>
                  </a:tcPr>
                </a:tc>
                <a:tc>
                  <a:txBody>
                    <a:bodyPr/>
                    <a:lstStyle/>
                    <a:p>
                      <a:pPr algn="ctr"/>
                      <a:r>
                        <a:rPr sz="700" b="0" i="0">
                          <a:solidFill>
                            <a:srgbClr val="262626"/>
                          </a:solidFill>
                          <a:latin typeface="Arial"/>
                        </a:rPr>
                        <a:t>2:08:33
+97s</a:t>
                      </a:r>
                    </a:p>
                  </a:txBody>
                  <a:tcPr>
                    <a:solidFill>
                      <a:srgbClr val="F2F2F2"/>
                    </a:solidFill>
                  </a:tcPr>
                </a:tc>
                <a:tc>
                  <a:txBody>
                    <a:bodyPr/>
                    <a:lstStyle/>
                    <a:p>
                      <a:pPr algn="ctr"/>
                      <a:r>
                        <a:rPr sz="700" b="0" i="0">
                          <a:solidFill>
                            <a:srgbClr val="262626"/>
                          </a:solidFill>
                          <a:latin typeface="Arial"/>
                        </a:rPr>
                        <a:t>2:09:33
+157s</a:t>
                      </a:r>
                    </a:p>
                  </a:txBody>
                  <a:tcPr>
                    <a:solidFill>
                      <a:srgbClr val="F2F2F2"/>
                    </a:solidFill>
                  </a:tcPr>
                </a:tc>
                <a:tc>
                  <a:txBody>
                    <a:bodyPr/>
                    <a:lstStyle/>
                    <a:p>
                      <a:pPr algn="ctr"/>
                      <a:r>
                        <a:rPr sz="700" b="0" i="0">
                          <a:solidFill>
                            <a:srgbClr val="262626"/>
                          </a:solidFill>
                          <a:latin typeface="Arial"/>
                        </a:rPr>
                        <a:t>2:14:02
+426s</a:t>
                      </a:r>
                    </a:p>
                  </a:txBody>
                  <a:tcPr>
                    <a:solidFill>
                      <a:srgbClr val="F2F2F2"/>
                    </a:solidFill>
                  </a:tcPr>
                </a:tc>
                <a:extLst>
                  <a:ext uri="{0D108BD9-81ED-4DB2-BD59-A6C34878D82A}">
                    <a16:rowId xmlns:a16="http://schemas.microsoft.com/office/drawing/2014/main" val="10006"/>
                  </a:ext>
                </a:extLst>
              </a:tr>
              <a:tr h="224443">
                <a:tc>
                  <a:txBody>
                    <a:bodyPr/>
                    <a:lstStyle/>
                    <a:p>
                      <a:pPr algn="ctr"/>
                      <a:r>
                        <a:rPr sz="700" b="1" i="0">
                          <a:solidFill>
                            <a:srgbClr val="262626"/>
                          </a:solidFill>
                          <a:latin typeface="Arial"/>
                        </a:rPr>
                        <a:t>2022</a:t>
                      </a:r>
                    </a:p>
                  </a:txBody>
                  <a:tcPr>
                    <a:solidFill>
                      <a:srgbClr val="FFFFFF"/>
                    </a:solidFill>
                  </a:tcPr>
                </a:tc>
                <a:tc>
                  <a:txBody>
                    <a:bodyPr/>
                    <a:lstStyle/>
                    <a:p>
                      <a:pPr algn="ctr"/>
                      <a:r>
                        <a:rPr sz="700" b="0" i="0">
                          <a:solidFill>
                            <a:srgbClr val="262626"/>
                          </a:solidFill>
                          <a:latin typeface="Arial"/>
                        </a:rPr>
                        <a:t>2:05:04</a:t>
                      </a:r>
                    </a:p>
                  </a:txBody>
                  <a:tcPr>
                    <a:solidFill>
                      <a:srgbClr val="FFFFFF"/>
                    </a:solidFill>
                  </a:tcPr>
                </a:tc>
                <a:tc>
                  <a:txBody>
                    <a:bodyPr/>
                    <a:lstStyle/>
                    <a:p>
                      <a:pPr algn="ctr"/>
                      <a:r>
                        <a:rPr sz="700" b="0" i="0">
                          <a:solidFill>
                            <a:srgbClr val="262626"/>
                          </a:solidFill>
                          <a:latin typeface="Arial"/>
                        </a:rPr>
                        <a:t>2:05:46
+42s</a:t>
                      </a:r>
                    </a:p>
                  </a:txBody>
                  <a:tcPr>
                    <a:solidFill>
                      <a:srgbClr val="FFFFFF"/>
                    </a:solidFill>
                  </a:tcPr>
                </a:tc>
                <a:tc>
                  <a:txBody>
                    <a:bodyPr/>
                    <a:lstStyle/>
                    <a:p>
                      <a:pPr algn="ctr"/>
                      <a:r>
                        <a:rPr sz="700" b="0" i="0">
                          <a:solidFill>
                            <a:srgbClr val="262626"/>
                          </a:solidFill>
                          <a:latin typeface="Arial"/>
                        </a:rPr>
                        <a:t>2:06:29
+85s</a:t>
                      </a:r>
                    </a:p>
                  </a:txBody>
                  <a:tcPr>
                    <a:solidFill>
                      <a:srgbClr val="FFFFFF"/>
                    </a:solidFill>
                  </a:tcPr>
                </a:tc>
                <a:tc>
                  <a:txBody>
                    <a:bodyPr/>
                    <a:lstStyle/>
                    <a:p>
                      <a:pPr algn="ctr"/>
                      <a:r>
                        <a:rPr sz="700" b="0" i="0">
                          <a:solidFill>
                            <a:srgbClr val="262626"/>
                          </a:solidFill>
                          <a:latin typeface="Arial"/>
                        </a:rPr>
                        <a:t>2:06:53
+109s</a:t>
                      </a:r>
                    </a:p>
                  </a:txBody>
                  <a:tcPr>
                    <a:solidFill>
                      <a:srgbClr val="FFFFFF"/>
                    </a:solidFill>
                  </a:tcPr>
                </a:tc>
                <a:tc>
                  <a:txBody>
                    <a:bodyPr/>
                    <a:lstStyle/>
                    <a:p>
                      <a:pPr algn="ctr"/>
                      <a:r>
                        <a:rPr sz="700" b="0" i="0">
                          <a:solidFill>
                            <a:srgbClr val="262626"/>
                          </a:solidFill>
                          <a:latin typeface="Arial"/>
                        </a:rPr>
                        <a:t>2:07:30
+146s</a:t>
                      </a:r>
                    </a:p>
                  </a:txBody>
                  <a:tcPr>
                    <a:solidFill>
                      <a:srgbClr val="FFFFFF"/>
                    </a:solidFill>
                  </a:tcPr>
                </a:tc>
                <a:tc>
                  <a:txBody>
                    <a:bodyPr/>
                    <a:lstStyle/>
                    <a:p>
                      <a:pPr algn="ctr"/>
                      <a:r>
                        <a:rPr sz="700" b="0" i="0">
                          <a:solidFill>
                            <a:srgbClr val="262626"/>
                          </a:solidFill>
                          <a:latin typeface="Arial"/>
                        </a:rPr>
                        <a:t>2:09:32
+268s</a:t>
                      </a:r>
                    </a:p>
                  </a:txBody>
                  <a:tcPr>
                    <a:solidFill>
                      <a:srgbClr val="FFFFFF"/>
                    </a:solidFill>
                  </a:tcPr>
                </a:tc>
                <a:extLst>
                  <a:ext uri="{0D108BD9-81ED-4DB2-BD59-A6C34878D82A}">
                    <a16:rowId xmlns:a16="http://schemas.microsoft.com/office/drawing/2014/main" val="10007"/>
                  </a:ext>
                </a:extLst>
              </a:tr>
              <a:tr h="224443">
                <a:tc>
                  <a:txBody>
                    <a:bodyPr/>
                    <a:lstStyle/>
                    <a:p>
                      <a:pPr algn="ctr"/>
                      <a:r>
                        <a:rPr sz="700" b="1" i="0">
                          <a:solidFill>
                            <a:srgbClr val="262626"/>
                          </a:solidFill>
                          <a:latin typeface="Arial"/>
                        </a:rPr>
                        <a:t>2023</a:t>
                      </a:r>
                    </a:p>
                  </a:txBody>
                  <a:tcPr>
                    <a:solidFill>
                      <a:srgbClr val="F2F2F2"/>
                    </a:solidFill>
                  </a:tcPr>
                </a:tc>
                <a:tc>
                  <a:txBody>
                    <a:bodyPr/>
                    <a:lstStyle/>
                    <a:p>
                      <a:pPr algn="ctr"/>
                      <a:r>
                        <a:rPr sz="700" b="0" i="0">
                          <a:solidFill>
                            <a:srgbClr val="262626"/>
                          </a:solidFill>
                          <a:latin typeface="Arial"/>
                        </a:rPr>
                        <a:t>2:03:51</a:t>
                      </a:r>
                    </a:p>
                  </a:txBody>
                  <a:tcPr>
                    <a:solidFill>
                      <a:srgbClr val="F2F2F2"/>
                    </a:solidFill>
                  </a:tcPr>
                </a:tc>
                <a:tc>
                  <a:txBody>
                    <a:bodyPr/>
                    <a:lstStyle/>
                    <a:p>
                      <a:pPr algn="ctr"/>
                      <a:r>
                        <a:rPr sz="700" b="0" i="0">
                          <a:solidFill>
                            <a:srgbClr val="262626"/>
                          </a:solidFill>
                          <a:latin typeface="Arial"/>
                        </a:rPr>
                        <a:t>2:03:55
+4s</a:t>
                      </a:r>
                    </a:p>
                  </a:txBody>
                  <a:tcPr>
                    <a:solidFill>
                      <a:srgbClr val="F2F2F2"/>
                    </a:solidFill>
                  </a:tcPr>
                </a:tc>
                <a:tc>
                  <a:txBody>
                    <a:bodyPr/>
                    <a:lstStyle/>
                    <a:p>
                      <a:pPr algn="ctr"/>
                      <a:r>
                        <a:rPr sz="700" b="0" i="0">
                          <a:solidFill>
                            <a:srgbClr val="262626"/>
                          </a:solidFill>
                          <a:latin typeface="Arial"/>
                        </a:rPr>
                        <a:t>2:04:12
+21s</a:t>
                      </a:r>
                    </a:p>
                  </a:txBody>
                  <a:tcPr>
                    <a:solidFill>
                      <a:srgbClr val="F2F2F2"/>
                    </a:solidFill>
                  </a:tcPr>
                </a:tc>
                <a:tc>
                  <a:txBody>
                    <a:bodyPr/>
                    <a:lstStyle/>
                    <a:p>
                      <a:pPr algn="ctr"/>
                      <a:r>
                        <a:rPr sz="700" b="0" i="0">
                          <a:solidFill>
                            <a:srgbClr val="262626"/>
                          </a:solidFill>
                          <a:latin typeface="Arial"/>
                        </a:rPr>
                        <a:t>2:04:58
+67s</a:t>
                      </a:r>
                    </a:p>
                  </a:txBody>
                  <a:tcPr>
                    <a:solidFill>
                      <a:srgbClr val="F2F2F2"/>
                    </a:solidFill>
                  </a:tcPr>
                </a:tc>
                <a:tc>
                  <a:txBody>
                    <a:bodyPr/>
                    <a:lstStyle/>
                    <a:p>
                      <a:pPr algn="ctr"/>
                      <a:r>
                        <a:rPr sz="700" b="0" i="0">
                          <a:solidFill>
                            <a:srgbClr val="262626"/>
                          </a:solidFill>
                          <a:latin typeface="Arial"/>
                        </a:rPr>
                        <a:t>2:07:04
+193s</a:t>
                      </a:r>
                    </a:p>
                  </a:txBody>
                  <a:tcPr>
                    <a:solidFill>
                      <a:srgbClr val="F2F2F2"/>
                    </a:solidFill>
                  </a:tcPr>
                </a:tc>
                <a:tc>
                  <a:txBody>
                    <a:bodyPr/>
                    <a:lstStyle/>
                    <a:p>
                      <a:pPr algn="ctr"/>
                      <a:r>
                        <a:rPr sz="700" b="0" i="0">
                          <a:solidFill>
                            <a:srgbClr val="262626"/>
                          </a:solidFill>
                          <a:latin typeface="Arial"/>
                        </a:rPr>
                        <a:t>2:08:25
+274s</a:t>
                      </a:r>
                    </a:p>
                  </a:txBody>
                  <a:tcPr>
                    <a:solidFill>
                      <a:srgbClr val="F2F2F2"/>
                    </a:solidFill>
                  </a:tcPr>
                </a:tc>
                <a:extLst>
                  <a:ext uri="{0D108BD9-81ED-4DB2-BD59-A6C34878D82A}">
                    <a16:rowId xmlns:a16="http://schemas.microsoft.com/office/drawing/2014/main" val="10008"/>
                  </a:ext>
                </a:extLst>
              </a:tr>
              <a:tr h="224443">
                <a:tc>
                  <a:txBody>
                    <a:bodyPr/>
                    <a:lstStyle/>
                    <a:p>
                      <a:pPr algn="ctr"/>
                      <a:r>
                        <a:rPr sz="700" b="1" i="0">
                          <a:solidFill>
                            <a:srgbClr val="262626"/>
                          </a:solidFill>
                          <a:latin typeface="Arial"/>
                        </a:rPr>
                        <a:t>2024</a:t>
                      </a:r>
                    </a:p>
                  </a:txBody>
                  <a:tcPr>
                    <a:solidFill>
                      <a:srgbClr val="FFFFFF"/>
                    </a:solidFill>
                  </a:tcPr>
                </a:tc>
                <a:tc>
                  <a:txBody>
                    <a:bodyPr/>
                    <a:lstStyle/>
                    <a:p>
                      <a:pPr algn="ctr"/>
                      <a:r>
                        <a:rPr sz="700" b="0" i="0">
                          <a:solidFill>
                            <a:srgbClr val="262626"/>
                          </a:solidFill>
                          <a:latin typeface="Arial"/>
                        </a:rPr>
                        <a:t>2:05:23</a:t>
                      </a:r>
                    </a:p>
                  </a:txBody>
                  <a:tcPr>
                    <a:solidFill>
                      <a:srgbClr val="FFFFFF"/>
                    </a:solidFill>
                  </a:tcPr>
                </a:tc>
                <a:tc>
                  <a:txBody>
                    <a:bodyPr/>
                    <a:lstStyle/>
                    <a:p>
                      <a:pPr algn="ctr"/>
                      <a:r>
                        <a:rPr sz="700" b="0" i="0">
                          <a:solidFill>
                            <a:srgbClr val="262626"/>
                          </a:solidFill>
                          <a:latin typeface="Arial"/>
                        </a:rPr>
                        <a:t>2:07:43
+140s</a:t>
                      </a:r>
                    </a:p>
                  </a:txBody>
                  <a:tcPr>
                    <a:solidFill>
                      <a:srgbClr val="FFFFFF"/>
                    </a:solidFill>
                  </a:tcPr>
                </a:tc>
                <a:tc>
                  <a:txBody>
                    <a:bodyPr/>
                    <a:lstStyle/>
                    <a:p>
                      <a:pPr algn="ctr"/>
                      <a:r>
                        <a:rPr sz="700" b="0" i="0">
                          <a:solidFill>
                            <a:srgbClr val="262626"/>
                          </a:solidFill>
                          <a:latin typeface="Arial"/>
                        </a:rPr>
                        <a:t>2:07:51
+148s</a:t>
                      </a:r>
                    </a:p>
                  </a:txBody>
                  <a:tcPr>
                    <a:solidFill>
                      <a:srgbClr val="FFFFFF"/>
                    </a:solidFill>
                  </a:tcPr>
                </a:tc>
                <a:tc>
                  <a:txBody>
                    <a:bodyPr/>
                    <a:lstStyle/>
                    <a:p>
                      <a:pPr algn="ctr"/>
                      <a:r>
                        <a:rPr sz="700" b="0" i="0">
                          <a:solidFill>
                            <a:srgbClr val="262626"/>
                          </a:solidFill>
                          <a:latin typeface="Arial"/>
                        </a:rPr>
                        <a:t>2:08:40
+197s</a:t>
                      </a:r>
                    </a:p>
                  </a:txBody>
                  <a:tcPr>
                    <a:solidFill>
                      <a:srgbClr val="FFFFFF"/>
                    </a:solidFill>
                  </a:tcPr>
                </a:tc>
                <a:tc>
                  <a:txBody>
                    <a:bodyPr/>
                    <a:lstStyle/>
                    <a:p>
                      <a:pPr algn="ctr"/>
                      <a:r>
                        <a:rPr sz="700" b="0" i="0">
                          <a:solidFill>
                            <a:srgbClr val="262626"/>
                          </a:solidFill>
                          <a:latin typeface="Arial"/>
                        </a:rPr>
                        <a:t>2:11:14
+351s</a:t>
                      </a:r>
                    </a:p>
                  </a:txBody>
                  <a:tcPr>
                    <a:solidFill>
                      <a:srgbClr val="FFFFFF"/>
                    </a:solidFill>
                  </a:tcPr>
                </a:tc>
                <a:tc>
                  <a:txBody>
                    <a:bodyPr/>
                    <a:lstStyle/>
                    <a:p>
                      <a:pPr algn="ctr"/>
                      <a:r>
                        <a:rPr sz="700" b="0" i="0">
                          <a:solidFill>
                            <a:srgbClr val="262626"/>
                          </a:solidFill>
                          <a:latin typeface="Arial"/>
                        </a:rPr>
                        <a:t>2:15:36
+613s</a:t>
                      </a:r>
                    </a:p>
                  </a:txBody>
                  <a:tcPr>
                    <a:solidFill>
                      <a:srgbClr val="FFFFFF"/>
                    </a:solidFill>
                  </a:tcPr>
                </a:tc>
                <a:extLst>
                  <a:ext uri="{0D108BD9-81ED-4DB2-BD59-A6C34878D82A}">
                    <a16:rowId xmlns:a16="http://schemas.microsoft.com/office/drawing/2014/main" val="10009"/>
                  </a:ext>
                </a:extLst>
              </a:tr>
              <a:tr h="224450">
                <a:tc>
                  <a:txBody>
                    <a:bodyPr/>
                    <a:lstStyle/>
                    <a:p>
                      <a:pPr algn="ctr"/>
                      <a:r>
                        <a:rPr sz="700" b="1" i="0">
                          <a:solidFill>
                            <a:srgbClr val="262626"/>
                          </a:solidFill>
                          <a:latin typeface="Arial"/>
                        </a:rPr>
                        <a:t>2025</a:t>
                      </a:r>
                    </a:p>
                  </a:txBody>
                  <a:tcPr>
                    <a:solidFill>
                      <a:srgbClr val="F2F2F2"/>
                    </a:solidFill>
                  </a:tcPr>
                </a:tc>
                <a:tc>
                  <a:txBody>
                    <a:bodyPr/>
                    <a:lstStyle/>
                    <a:p>
                      <a:pPr algn="ctr"/>
                      <a:r>
                        <a:rPr sz="700" b="0" i="0">
                          <a:solidFill>
                            <a:srgbClr val="262626"/>
                          </a:solidFill>
                          <a:latin typeface="Arial"/>
                        </a:rPr>
                        <a:t>2:02:12</a:t>
                      </a:r>
                    </a:p>
                  </a:txBody>
                  <a:tcPr>
                    <a:solidFill>
                      <a:srgbClr val="F2F2F2"/>
                    </a:solidFill>
                  </a:tcPr>
                </a:tc>
                <a:tc>
                  <a:txBody>
                    <a:bodyPr/>
                    <a:lstStyle/>
                    <a:p>
                      <a:pPr algn="ctr"/>
                      <a:r>
                        <a:rPr sz="700" b="0" i="0">
                          <a:solidFill>
                            <a:srgbClr val="262626"/>
                          </a:solidFill>
                          <a:latin typeface="Arial"/>
                        </a:rPr>
                        <a:t>2:02:25
+13s</a:t>
                      </a:r>
                    </a:p>
                  </a:txBody>
                  <a:tcPr>
                    <a:solidFill>
                      <a:srgbClr val="F2F2F2"/>
                    </a:solidFill>
                  </a:tcPr>
                </a:tc>
                <a:tc>
                  <a:txBody>
                    <a:bodyPr/>
                    <a:lstStyle/>
                    <a:p>
                      <a:pPr algn="ctr"/>
                      <a:r>
                        <a:rPr sz="700" b="0" i="0">
                          <a:solidFill>
                            <a:srgbClr val="262626"/>
                          </a:solidFill>
                          <a:latin typeface="Arial"/>
                        </a:rPr>
                        <a:t>2:03:07
+55s</a:t>
                      </a:r>
                    </a:p>
                  </a:txBody>
                  <a:tcPr>
                    <a:solidFill>
                      <a:srgbClr val="F2F2F2"/>
                    </a:solidFill>
                  </a:tcPr>
                </a:tc>
                <a:tc>
                  <a:txBody>
                    <a:bodyPr/>
                    <a:lstStyle/>
                    <a:p>
                      <a:pPr algn="ctr"/>
                      <a:r>
                        <a:rPr sz="700" b="0" i="0">
                          <a:solidFill>
                            <a:srgbClr val="262626"/>
                          </a:solidFill>
                          <a:latin typeface="Arial"/>
                        </a:rPr>
                        <a:t>2:04:15
+123s</a:t>
                      </a:r>
                    </a:p>
                  </a:txBody>
                  <a:tcPr>
                    <a:solidFill>
                      <a:srgbClr val="F2F2F2"/>
                    </a:solidFill>
                  </a:tcPr>
                </a:tc>
                <a:tc>
                  <a:txBody>
                    <a:bodyPr/>
                    <a:lstStyle/>
                    <a:p>
                      <a:pPr algn="ctr"/>
                      <a:r>
                        <a:rPr sz="700" b="0" i="0">
                          <a:solidFill>
                            <a:srgbClr val="262626"/>
                          </a:solidFill>
                          <a:latin typeface="Arial"/>
                        </a:rPr>
                        <a:t>2:05:46
+214s</a:t>
                      </a:r>
                    </a:p>
                  </a:txBody>
                  <a:tcPr>
                    <a:solidFill>
                      <a:srgbClr val="F2F2F2"/>
                    </a:solidFill>
                  </a:tcPr>
                </a:tc>
                <a:tc>
                  <a:txBody>
                    <a:bodyPr/>
                    <a:lstStyle/>
                    <a:p>
                      <a:pPr algn="ctr"/>
                      <a:r>
                        <a:rPr sz="700" b="0" i="0" dirty="0">
                          <a:solidFill>
                            <a:srgbClr val="262626"/>
                          </a:solidFill>
                          <a:latin typeface="Arial"/>
                        </a:rPr>
                        <a:t>2:08:16
+364s</a:t>
                      </a:r>
                    </a:p>
                  </a:txBody>
                  <a:tcPr>
                    <a:solidFill>
                      <a:srgbClr val="F2F2F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Karlovy Vary</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4613564"/>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15636">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15636">
                <a:tc>
                  <a:txBody>
                    <a:bodyPr/>
                    <a:lstStyle/>
                    <a:p>
                      <a:pPr algn="ctr"/>
                      <a:r>
                        <a:rPr sz="1000" b="0" i="0">
                          <a:solidFill>
                            <a:srgbClr val="262626"/>
                          </a:solidFill>
                          <a:latin typeface="Arial"/>
                        </a:rPr>
                        <a:t>2016</a:t>
                      </a:r>
                    </a:p>
                  </a:txBody>
                  <a:tcPr>
                    <a:solidFill>
                      <a:srgbClr val="FFFFFF"/>
                    </a:solidFill>
                  </a:tcPr>
                </a:tc>
                <a:tc>
                  <a:txBody>
                    <a:bodyPr/>
                    <a:lstStyle/>
                    <a:p>
                      <a:pPr algn="ctr"/>
                      <a:r>
                        <a:rPr sz="1000" b="0" i="0">
                          <a:solidFill>
                            <a:srgbClr val="262626"/>
                          </a:solidFill>
                          <a:latin typeface="Arial"/>
                        </a:rPr>
                        <a:t>Aug 28</a:t>
                      </a:r>
                    </a:p>
                  </a:txBody>
                  <a:tcPr>
                    <a:solidFill>
                      <a:srgbClr val="FFFFFF"/>
                    </a:solidFill>
                  </a:tcPr>
                </a:tc>
                <a:tc>
                  <a:txBody>
                    <a:bodyPr/>
                    <a:lstStyle/>
                    <a:p>
                      <a:pPr algn="ctr"/>
                      <a:r>
                        <a:rPr sz="1000" b="0" i="0">
                          <a:solidFill>
                            <a:srgbClr val="262626"/>
                          </a:solidFill>
                          <a:latin typeface="Arial"/>
                        </a:rPr>
                        <a:t>25.8</a:t>
                      </a:r>
                    </a:p>
                  </a:txBody>
                  <a:tcPr>
                    <a:solidFill>
                      <a:srgbClr val="FFFFFF"/>
                    </a:solidFill>
                  </a:tcPr>
                </a:tc>
                <a:tc>
                  <a:txBody>
                    <a:bodyPr/>
                    <a:lstStyle/>
                    <a:p>
                      <a:pPr algn="ctr"/>
                      <a:r>
                        <a:rPr sz="1000" b="0" i="0">
                          <a:solidFill>
                            <a:srgbClr val="262626"/>
                          </a:solidFill>
                          <a:latin typeface="Arial"/>
                        </a:rPr>
                        <a:t>52%</a:t>
                      </a:r>
                    </a:p>
                  </a:txBody>
                  <a:tcPr>
                    <a:solidFill>
                      <a:srgbClr val="FFFFFF"/>
                    </a:solidFill>
                  </a:tcPr>
                </a:tc>
                <a:tc>
                  <a:txBody>
                    <a:bodyPr/>
                    <a:lstStyle/>
                    <a:p>
                      <a:pPr algn="ctr"/>
                      <a:r>
                        <a:rPr sz="1000" b="0" i="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15636">
                <a:tc>
                  <a:txBody>
                    <a:bodyPr/>
                    <a:lstStyle/>
                    <a:p>
                      <a:pPr algn="ctr"/>
                      <a:r>
                        <a:rPr sz="1000" b="0" i="0">
                          <a:solidFill>
                            <a:srgbClr val="262626"/>
                          </a:solidFill>
                          <a:latin typeface="Arial"/>
                        </a:rPr>
                        <a:t>2017</a:t>
                      </a:r>
                    </a:p>
                  </a:txBody>
                  <a:tcPr>
                    <a:solidFill>
                      <a:srgbClr val="F2F2F2"/>
                    </a:solidFill>
                  </a:tcPr>
                </a:tc>
                <a:tc>
                  <a:txBody>
                    <a:bodyPr/>
                    <a:lstStyle/>
                    <a:p>
                      <a:pPr algn="ctr"/>
                      <a:r>
                        <a:rPr sz="1000" b="0" i="0">
                          <a:solidFill>
                            <a:srgbClr val="262626"/>
                          </a:solidFill>
                          <a:latin typeface="Arial"/>
                        </a:rPr>
                        <a:t>Sep 03</a:t>
                      </a:r>
                    </a:p>
                  </a:txBody>
                  <a:tcPr>
                    <a:solidFill>
                      <a:srgbClr val="F2F2F2"/>
                    </a:solidFill>
                  </a:tcPr>
                </a:tc>
                <a:tc>
                  <a:txBody>
                    <a:bodyPr/>
                    <a:lstStyle/>
                    <a:p>
                      <a:pPr algn="ctr"/>
                      <a:r>
                        <a:rPr sz="1000" b="0" i="0">
                          <a:solidFill>
                            <a:srgbClr val="262626"/>
                          </a:solidFill>
                          <a:latin typeface="Arial"/>
                        </a:rPr>
                        <a:t>14.0</a:t>
                      </a:r>
                    </a:p>
                  </a:txBody>
                  <a:tcPr>
                    <a:solidFill>
                      <a:srgbClr val="F2F2F2"/>
                    </a:solidFill>
                  </a:tcPr>
                </a:tc>
                <a:tc>
                  <a:txBody>
                    <a:bodyPr/>
                    <a:lstStyle/>
                    <a:p>
                      <a:pPr algn="ctr"/>
                      <a:r>
                        <a:rPr sz="1000" b="0" i="0">
                          <a:solidFill>
                            <a:srgbClr val="262626"/>
                          </a:solidFill>
                          <a:latin typeface="Arial"/>
                        </a:rPr>
                        <a:t>59%</a:t>
                      </a:r>
                    </a:p>
                  </a:txBody>
                  <a:tcPr>
                    <a:solidFill>
                      <a:srgbClr val="F2F2F2"/>
                    </a:solidFill>
                  </a:tcPr>
                </a:tc>
                <a:tc>
                  <a:txBody>
                    <a:bodyPr/>
                    <a:lstStyle/>
                    <a:p>
                      <a:pPr algn="ctr"/>
                      <a:r>
                        <a:rPr sz="1000" b="0" i="0">
                          <a:solidFill>
                            <a:srgbClr val="262626"/>
                          </a:solidFill>
                          <a:latin typeface="Arial"/>
                        </a:rPr>
                        <a:t>8</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15636">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Sep 01</a:t>
                      </a:r>
                    </a:p>
                  </a:txBody>
                  <a:tcPr>
                    <a:solidFill>
                      <a:srgbClr val="FFFFFF"/>
                    </a:solidFill>
                  </a:tcPr>
                </a:tc>
                <a:tc>
                  <a:txBody>
                    <a:bodyPr/>
                    <a:lstStyle/>
                    <a:p>
                      <a:pPr algn="ctr"/>
                      <a:r>
                        <a:rPr sz="1000" b="0" i="0">
                          <a:solidFill>
                            <a:srgbClr val="262626"/>
                          </a:solidFill>
                          <a:latin typeface="Arial"/>
                        </a:rPr>
                        <a:t>15.8</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15</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15636">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Aug 25</a:t>
                      </a:r>
                    </a:p>
                  </a:txBody>
                  <a:tcPr>
                    <a:solidFill>
                      <a:srgbClr val="F2F2F2"/>
                    </a:solidFill>
                  </a:tcPr>
                </a:tc>
                <a:tc>
                  <a:txBody>
                    <a:bodyPr/>
                    <a:lstStyle/>
                    <a:p>
                      <a:pPr algn="ctr"/>
                      <a:r>
                        <a:rPr sz="1000" b="0" i="0">
                          <a:solidFill>
                            <a:srgbClr val="262626"/>
                          </a:solidFill>
                          <a:latin typeface="Arial"/>
                        </a:rPr>
                        <a:t>24.5</a:t>
                      </a:r>
                    </a:p>
                  </a:txBody>
                  <a:tcPr>
                    <a:solidFill>
                      <a:srgbClr val="F2F2F2"/>
                    </a:solidFill>
                  </a:tcPr>
                </a:tc>
                <a:tc>
                  <a:txBody>
                    <a:bodyPr/>
                    <a:lstStyle/>
                    <a:p>
                      <a:pPr algn="ctr"/>
                      <a:r>
                        <a:rPr sz="1000" b="0" i="0">
                          <a:solidFill>
                            <a:srgbClr val="262626"/>
                          </a:solidFill>
                          <a:latin typeface="Arial"/>
                        </a:rPr>
                        <a:t>59%</a:t>
                      </a:r>
                    </a:p>
                  </a:txBody>
                  <a:tcPr>
                    <a:solidFill>
                      <a:srgbClr val="F2F2F2"/>
                    </a:solidFill>
                  </a:tcPr>
                </a:tc>
                <a:tc>
                  <a:txBody>
                    <a:bodyPr/>
                    <a:lstStyle/>
                    <a:p>
                      <a:pPr algn="ctr"/>
                      <a:r>
                        <a:rPr sz="1000" b="0" i="0">
                          <a:solidFill>
                            <a:srgbClr val="262626"/>
                          </a:solidFill>
                          <a:latin typeface="Arial"/>
                        </a:rPr>
                        <a:t>13</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15636">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Sep 13</a:t>
                      </a:r>
                    </a:p>
                  </a:txBody>
                  <a:tcPr>
                    <a:solidFill>
                      <a:srgbClr val="FFFFFF"/>
                    </a:solidFill>
                  </a:tcPr>
                </a:tc>
                <a:tc>
                  <a:txBody>
                    <a:bodyPr/>
                    <a:lstStyle/>
                    <a:p>
                      <a:pPr algn="ctr"/>
                      <a:r>
                        <a:rPr sz="1000" b="0" i="0">
                          <a:solidFill>
                            <a:srgbClr val="262626"/>
                          </a:solidFill>
                          <a:latin typeface="Arial"/>
                        </a:rPr>
                        <a:t>21.8</a:t>
                      </a:r>
                    </a:p>
                  </a:txBody>
                  <a:tcPr>
                    <a:solidFill>
                      <a:srgbClr val="FFFFFF"/>
                    </a:solidFill>
                  </a:tcPr>
                </a:tc>
                <a:tc>
                  <a:txBody>
                    <a:bodyPr/>
                    <a:lstStyle/>
                    <a:p>
                      <a:pPr algn="ctr"/>
                      <a:r>
                        <a:rPr sz="1000" b="0" i="0">
                          <a:solidFill>
                            <a:srgbClr val="262626"/>
                          </a:solidFill>
                          <a:latin typeface="Arial"/>
                        </a:rPr>
                        <a:t>50%</a:t>
                      </a:r>
                    </a:p>
                  </a:txBody>
                  <a:tcPr>
                    <a:solidFill>
                      <a:srgbClr val="FFFFFF"/>
                    </a:solidFill>
                  </a:tcPr>
                </a:tc>
                <a:tc>
                  <a:txBody>
                    <a:bodyPr/>
                    <a:lstStyle/>
                    <a:p>
                      <a:pPr algn="ctr"/>
                      <a:r>
                        <a:rPr sz="1000" b="0" i="0">
                          <a:solidFill>
                            <a:srgbClr val="262626"/>
                          </a:solidFill>
                          <a:latin typeface="Arial"/>
                        </a:rPr>
                        <a:t>7</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15636">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Sep 11</a:t>
                      </a:r>
                    </a:p>
                  </a:txBody>
                  <a:tcPr>
                    <a:solidFill>
                      <a:srgbClr val="F2F2F2"/>
                    </a:solidFill>
                  </a:tcPr>
                </a:tc>
                <a:tc>
                  <a:txBody>
                    <a:bodyPr/>
                    <a:lstStyle/>
                    <a:p>
                      <a:pPr algn="ctr"/>
                      <a:r>
                        <a:rPr sz="1000" b="0" i="0">
                          <a:solidFill>
                            <a:srgbClr val="262626"/>
                          </a:solidFill>
                          <a:latin typeface="Arial"/>
                        </a:rPr>
                        <a:t>18.8</a:t>
                      </a:r>
                    </a:p>
                  </a:txBody>
                  <a:tcPr>
                    <a:solidFill>
                      <a:srgbClr val="F2F2F2"/>
                    </a:solidFill>
                  </a:tcPr>
                </a:tc>
                <a:tc>
                  <a:txBody>
                    <a:bodyPr/>
                    <a:lstStyle/>
                    <a:p>
                      <a:pPr algn="ctr"/>
                      <a:r>
                        <a:rPr sz="1000" b="0" i="0">
                          <a:solidFill>
                            <a:srgbClr val="262626"/>
                          </a:solidFill>
                          <a:latin typeface="Arial"/>
                        </a:rPr>
                        <a:t>81%</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0.1</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15636">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Sep 11</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12</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19.1</a:t>
                      </a:r>
                    </a:p>
                  </a:txBody>
                  <a:tcPr>
                    <a:solidFill>
                      <a:srgbClr val="FFFFFF"/>
                    </a:solidFill>
                  </a:tcPr>
                </a:tc>
                <a:tc>
                  <a:txBody>
                    <a:bodyPr/>
                    <a:lstStyle/>
                    <a:p>
                      <a:pPr algn="ctr"/>
                      <a:r>
                        <a:rPr sz="1000" b="0" i="0">
                          <a:solidFill>
                            <a:srgbClr val="262626"/>
                          </a:solidFill>
                          <a:latin typeface="Arial"/>
                        </a:rPr>
                        <a:t>allowed</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r h="415636">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Sep 10</a:t>
                      </a:r>
                    </a:p>
                  </a:txBody>
                  <a:tcPr>
                    <a:solidFill>
                      <a:srgbClr val="F2F2F2"/>
                    </a:solidFill>
                  </a:tcPr>
                </a:tc>
                <a:tc>
                  <a:txBody>
                    <a:bodyPr/>
                    <a:lstStyle/>
                    <a:p>
                      <a:pPr algn="ctr"/>
                      <a:r>
                        <a:rPr sz="1000" b="0" i="0">
                          <a:solidFill>
                            <a:srgbClr val="262626"/>
                          </a:solidFill>
                          <a:latin typeface="Arial"/>
                        </a:rPr>
                        <a:t>23.6</a:t>
                      </a:r>
                    </a:p>
                  </a:txBody>
                  <a:tcPr>
                    <a:solidFill>
                      <a:srgbClr val="F2F2F2"/>
                    </a:solidFill>
                  </a:tcPr>
                </a:tc>
                <a:tc>
                  <a:txBody>
                    <a:bodyPr/>
                    <a:lstStyle/>
                    <a:p>
                      <a:pPr algn="ctr"/>
                      <a:r>
                        <a:rPr sz="1000" b="0" i="0">
                          <a:solidFill>
                            <a:srgbClr val="262626"/>
                          </a:solidFill>
                          <a:latin typeface="Arial"/>
                        </a:rPr>
                        <a:t>48%</a:t>
                      </a:r>
                    </a:p>
                  </a:txBody>
                  <a:tcPr>
                    <a:solidFill>
                      <a:srgbClr val="F2F2F2"/>
                    </a:solidFill>
                  </a:tcPr>
                </a:tc>
                <a:tc>
                  <a:txBody>
                    <a:bodyPr/>
                    <a:lstStyle/>
                    <a:p>
                      <a:pPr algn="ctr"/>
                      <a:r>
                        <a:rPr sz="1000" b="0" i="0">
                          <a:solidFill>
                            <a:srgbClr val="262626"/>
                          </a:solidFill>
                          <a:latin typeface="Arial"/>
                        </a:rPr>
                        <a:t>4</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19</a:t>
                      </a:r>
                    </a:p>
                  </a:txBody>
                  <a:tcPr>
                    <a:solidFill>
                      <a:srgbClr val="F2F2F2"/>
                    </a:solidFill>
                  </a:tcPr>
                </a:tc>
                <a:tc>
                  <a:txBody>
                    <a:bodyPr/>
                    <a:lstStyle/>
                    <a:p>
                      <a:pPr algn="ctr"/>
                      <a:r>
                        <a:rPr sz="1000" b="0" i="0">
                          <a:solidFill>
                            <a:srgbClr val="262626"/>
                          </a:solidFill>
                          <a:latin typeface="Arial"/>
                        </a:rPr>
                        <a:t>allowed</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8"/>
                  </a:ext>
                </a:extLst>
              </a:tr>
              <a:tr h="415636">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Sep 08</a:t>
                      </a:r>
                    </a:p>
                  </a:txBody>
                  <a:tcPr>
                    <a:solidFill>
                      <a:srgbClr val="FFFFFF"/>
                    </a:solidFill>
                  </a:tcPr>
                </a:tc>
                <a:tc>
                  <a:txBody>
                    <a:bodyPr/>
                    <a:lstStyle/>
                    <a:p>
                      <a:pPr algn="ctr"/>
                      <a:r>
                        <a:rPr sz="1000" b="0" i="0">
                          <a:solidFill>
                            <a:srgbClr val="262626"/>
                          </a:solidFill>
                          <a:latin typeface="Arial"/>
                        </a:rPr>
                        <a:t>19.8</a:t>
                      </a:r>
                    </a:p>
                  </a:txBody>
                  <a:tcPr>
                    <a:solidFill>
                      <a:srgbClr val="FFFFFF"/>
                    </a:solidFill>
                  </a:tcPr>
                </a:tc>
                <a:tc>
                  <a:txBody>
                    <a:bodyPr/>
                    <a:lstStyle/>
                    <a:p>
                      <a:pPr algn="ctr"/>
                      <a:r>
                        <a:rPr sz="1000" b="0" i="0">
                          <a:solidFill>
                            <a:srgbClr val="262626"/>
                          </a:solidFill>
                          <a:latin typeface="Arial"/>
                        </a:rPr>
                        <a:t>46%</a:t>
                      </a:r>
                    </a:p>
                  </a:txBody>
                  <a:tcPr>
                    <a:solidFill>
                      <a:srgbClr val="FFFFFF"/>
                    </a:solidFill>
                  </a:tcPr>
                </a:tc>
                <a:tc>
                  <a:txBody>
                    <a:bodyPr/>
                    <a:lstStyle/>
                    <a:p>
                      <a:pPr algn="ctr"/>
                      <a:r>
                        <a:rPr sz="1000" b="0" i="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23.2</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9"/>
                  </a:ext>
                </a:extLst>
              </a:tr>
              <a:tr h="415640">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Sep 14</a:t>
                      </a:r>
                    </a:p>
                  </a:txBody>
                  <a:tcPr>
                    <a:solidFill>
                      <a:srgbClr val="F2F2F2"/>
                    </a:solidFill>
                  </a:tcPr>
                </a:tc>
                <a:tc>
                  <a:txBody>
                    <a:bodyPr/>
                    <a:lstStyle/>
                    <a:p>
                      <a:pPr algn="ctr"/>
                      <a:r>
                        <a:rPr sz="1000" b="0" i="0">
                          <a:solidFill>
                            <a:srgbClr val="262626"/>
                          </a:solidFill>
                          <a:latin typeface="Arial"/>
                        </a:rPr>
                        <a:t>14.6</a:t>
                      </a:r>
                    </a:p>
                  </a:txBody>
                  <a:tcPr>
                    <a:solidFill>
                      <a:srgbClr val="F2F2F2"/>
                    </a:solidFill>
                  </a:tcPr>
                </a:tc>
                <a:tc>
                  <a:txBody>
                    <a:bodyPr/>
                    <a:lstStyle/>
                    <a:p>
                      <a:pPr algn="ctr"/>
                      <a:r>
                        <a:rPr sz="1000" b="0" i="0">
                          <a:solidFill>
                            <a:srgbClr val="262626"/>
                          </a:solidFill>
                          <a:latin typeface="Arial"/>
                        </a:rPr>
                        <a:t>81%</a:t>
                      </a:r>
                    </a:p>
                  </a:txBody>
                  <a:tcPr>
                    <a:solidFill>
                      <a:srgbClr val="F2F2F2"/>
                    </a:solidFill>
                  </a:tcPr>
                </a:tc>
                <a:tc>
                  <a:txBody>
                    <a:bodyPr/>
                    <a:lstStyle/>
                    <a:p>
                      <a:pPr algn="ctr"/>
                      <a:r>
                        <a:rPr sz="1000" b="0" i="0">
                          <a:solidFill>
                            <a:srgbClr val="262626"/>
                          </a:solidFill>
                          <a:latin typeface="Arial"/>
                        </a:rPr>
                        <a:t>13</a:t>
                      </a:r>
                    </a:p>
                  </a:txBody>
                  <a:tcPr>
                    <a:solidFill>
                      <a:srgbClr val="F2F2F2"/>
                    </a:solidFill>
                  </a:tcPr>
                </a:tc>
                <a:tc>
                  <a:txBody>
                    <a:bodyPr/>
                    <a:lstStyle/>
                    <a:p>
                      <a:pPr algn="ctr"/>
                      <a:r>
                        <a:rPr sz="1000" b="0" i="0">
                          <a:solidFill>
                            <a:srgbClr val="262626"/>
                          </a:solidFill>
                          <a:latin typeface="Arial"/>
                        </a:rPr>
                        <a:t>0.6</a:t>
                      </a:r>
                    </a:p>
                  </a:txBody>
                  <a:tcPr>
                    <a:solidFill>
                      <a:srgbClr val="F2F2F2"/>
                    </a:solidFill>
                  </a:tcPr>
                </a:tc>
                <a:tc>
                  <a:txBody>
                    <a:bodyPr/>
                    <a:lstStyle/>
                    <a:p>
                      <a:pPr algn="ctr"/>
                      <a:r>
                        <a:rPr sz="1000" b="0" i="0">
                          <a:solidFill>
                            <a:srgbClr val="262626"/>
                          </a:solidFill>
                          <a:latin typeface="Arial"/>
                        </a:rPr>
                        <a:t>18.1</a:t>
                      </a:r>
                    </a:p>
                  </a:txBody>
                  <a:tcPr>
                    <a:solidFill>
                      <a:srgbClr val="F2F2F2"/>
                    </a:solidFill>
                  </a:tcPr>
                </a:tc>
                <a:tc>
                  <a:txBody>
                    <a:bodyPr/>
                    <a:lstStyle/>
                    <a:p>
                      <a:pPr algn="ctr"/>
                      <a:r>
                        <a:rPr sz="1000" b="0" i="0">
                          <a:solidFill>
                            <a:srgbClr val="262626"/>
                          </a:solidFill>
                          <a:latin typeface="Arial"/>
                        </a:rPr>
                        <a:t>allowed</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10:00–17:00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102</TotalTime>
  <Words>5530</Words>
  <Application>Microsoft Office PowerPoint</Application>
  <PresentationFormat>Custom</PresentationFormat>
  <Paragraphs>1802</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John High</dc:creator>
  <cp:keywords/>
  <dc:description>generated using python-pptx</dc:description>
  <cp:lastModifiedBy>John High</cp:lastModifiedBy>
  <cp:revision>6</cp:revision>
  <dcterms:created xsi:type="dcterms:W3CDTF">2013-01-27T09:14:16Z</dcterms:created>
  <dcterms:modified xsi:type="dcterms:W3CDTF">2026-08-28T01:54:40Z</dcterms:modified>
  <cp:category/>
</cp:coreProperties>
</file>