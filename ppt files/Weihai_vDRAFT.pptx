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WEIHAI RACE PREVIEW</a:t>
            </a:r>
          </a:p>
        </p:txBody>
      </p:sp>
      <p:sp>
        <p:nvSpPr>
          <p:cNvPr id="7" name="TextBox 6"/>
          <p:cNvSpPr txBox="1"/>
          <p:nvPr/>
        </p:nvSpPr>
        <p:spPr>
          <a:xfrm>
            <a:off x="457200" y="3931920"/>
            <a:ext cx="10789920" cy="548640"/>
          </a:xfrm>
          <a:prstGeom prst="rect">
            <a:avLst/>
          </a:prstGeom>
          <a:noFill/>
        </p:spPr>
        <p:txBody>
          <a:bodyPr wrap="square">
            <a:spAutoFit/>
          </a:bodyPr>
          <a:lstStyle/>
          <a:p>
            <a:pPr algn="ctr"/>
            <a:r>
              <a:rPr sz="1800" b="0" i="0">
                <a:solidFill>
                  <a:srgbClr val="AABBDD"/>
                </a:solidFill>
                <a:latin typeface="Arial"/>
              </a:rPr>
              <a:t>Elite Analysis  ·  August 27 – 30,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Week Schedule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300" b="1" i="0">
                <a:solidFill>
                  <a:srgbClr val="002060"/>
                </a:solidFill>
                <a:latin typeface="Arial"/>
              </a:rPr>
              <a:t>August 27 – 30, 2026   •   Wave to Wonderland, Huancui District, Weihai, Shandong (CST, UTC+8)</a:t>
            </a:r>
          </a:p>
        </p:txBody>
      </p:sp>
      <p:sp>
        <p:nvSpPr>
          <p:cNvPr id="10" name="Rectangle 9"/>
          <p:cNvSpPr/>
          <p:nvPr/>
        </p:nvSpPr>
        <p:spPr>
          <a:xfrm>
            <a:off x="274320"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28216"/>
            <a:ext cx="2555748" cy="201168"/>
          </a:xfrm>
          <a:prstGeom prst="rect">
            <a:avLst/>
          </a:prstGeom>
          <a:noFill/>
        </p:spPr>
        <p:txBody>
          <a:bodyPr wrap="square">
            <a:spAutoFit/>
          </a:bodyPr>
          <a:lstStyle/>
          <a:p>
            <a:pPr algn="ctr"/>
            <a:r>
              <a:rPr sz="1200" b="1" i="0">
                <a:solidFill>
                  <a:srgbClr val="FFFFFF"/>
                </a:solidFill>
                <a:latin typeface="Arial"/>
              </a:rPr>
              <a:t>Thu • Aug 27</a:t>
            </a:r>
          </a:p>
        </p:txBody>
      </p:sp>
      <p:sp>
        <p:nvSpPr>
          <p:cNvPr id="12" name="TextBox 11"/>
          <p:cNvSpPr txBox="1"/>
          <p:nvPr/>
        </p:nvSpPr>
        <p:spPr>
          <a:xfrm>
            <a:off x="365760" y="1929384"/>
            <a:ext cx="2555748" cy="201168"/>
          </a:xfrm>
          <a:prstGeom prst="rect">
            <a:avLst/>
          </a:prstGeom>
          <a:noFill/>
        </p:spPr>
        <p:txBody>
          <a:bodyPr wrap="square">
            <a:spAutoFit/>
          </a:bodyPr>
          <a:lstStyle/>
          <a:p>
            <a:pPr algn="ctr"/>
            <a:r>
              <a:rPr sz="950" b="0" i="1">
                <a:solidFill>
                  <a:srgbClr val="AABBDD"/>
                </a:solidFill>
                <a:latin typeface="Arial"/>
              </a:rPr>
              <a:t>Arrival &amp; Pool Training</a:t>
            </a:r>
          </a:p>
        </p:txBody>
      </p:sp>
      <p:graphicFrame>
        <p:nvGraphicFramePr>
          <p:cNvPr id="13" name="Table 12"/>
          <p:cNvGraphicFramePr>
            <a:graphicFrameLocks noGrp="1"/>
          </p:cNvGraphicFramePr>
          <p:nvPr/>
        </p:nvGraphicFramePr>
        <p:xfrm>
          <a:off x="274320" y="2240280"/>
          <a:ext cx="2738627" cy="2011680"/>
        </p:xfrm>
        <a:graphic>
          <a:graphicData uri="http://schemas.openxmlformats.org/drawingml/2006/table">
            <a:tbl>
              <a:tblPr firstRow="1" bandRow="1">
                <a:tableStyleId>{5C22544A-7EE6-4342-B048-85BDC9FD1C3A}</a:tableStyleId>
              </a:tblPr>
              <a:tblGrid>
                <a:gridCol w="985906"/>
                <a:gridCol w="1752721"/>
              </a:tblGrid>
              <a:tr h="502920">
                <a:tc>
                  <a:txBody>
                    <a:bodyPr wrap="none"/>
                    <a:lstStyle/>
                    <a:p>
                      <a:pPr algn="ctr"/>
                      <a:r>
                        <a:rPr sz="1000" b="0" i="0">
                          <a:solidFill>
                            <a:srgbClr val="262626"/>
                          </a:solidFill>
                          <a:latin typeface="Arial"/>
                        </a:rPr>
                        <a:t>09:00 – 18:00</a:t>
                      </a:r>
                    </a:p>
                  </a:txBody>
                  <a:tcPr>
                    <a:solidFill>
                      <a:srgbClr val="F2F2F2"/>
                    </a:solidFill>
                  </a:tcPr>
                </a:tc>
                <a:tc>
                  <a:txBody>
                    <a:bodyPr wrap="none"/>
                    <a:lstStyle/>
                    <a:p>
                      <a:pPr algn="l"/>
                      <a:r>
                        <a:rPr sz="1000" b="0" i="0">
                          <a:solidFill>
                            <a:srgbClr val="262626"/>
                          </a:solidFill>
                          <a:latin typeface="Arial"/>
                        </a:rPr>
                        <a:t>Information desk + bike mechanic — Weihaiwei Hotel</a:t>
                      </a:r>
                    </a:p>
                  </a:txBody>
                  <a:tcPr>
                    <a:solidFill>
                      <a:srgbClr val="F2F2F2"/>
                    </a:solidFill>
                  </a:tcPr>
                </a:tc>
              </a:tr>
              <a:tr h="502920">
                <a:tc>
                  <a:txBody>
                    <a:bodyPr wrap="none"/>
                    <a:lstStyle/>
                    <a:p>
                      <a:pPr algn="ctr"/>
                      <a:r>
                        <a:rPr sz="1000" b="0" i="0">
                          <a:solidFill>
                            <a:srgbClr val="262626"/>
                          </a:solidFill>
                          <a:latin typeface="Arial"/>
                        </a:rPr>
                        <a:t>08:00 – 10:00</a:t>
                      </a:r>
                    </a:p>
                  </a:txBody>
                  <a:tcPr>
                    <a:solidFill>
                      <a:srgbClr val="FFFFFF"/>
                    </a:solidFill>
                  </a:tcPr>
                </a:tc>
                <a:tc>
                  <a:txBody>
                    <a:bodyPr wrap="none"/>
                    <a:lstStyle/>
                    <a:p>
                      <a:pPr algn="l"/>
                      <a:r>
                        <a:rPr sz="1000" b="0" i="0">
                          <a:solidFill>
                            <a:srgbClr val="262626"/>
                          </a:solidFill>
                          <a:latin typeface="Arial"/>
                        </a:rPr>
                        <a:t>Pool training — Weihai Swimming Pool (25 m, 4 lanes)</a:t>
                      </a:r>
                    </a:p>
                  </a:txBody>
                  <a:tcPr>
                    <a:solidFill>
                      <a:srgbClr val="FFFFFF"/>
                    </a:solidFill>
                  </a:tcPr>
                </a:tc>
              </a:tr>
              <a:tr h="502920">
                <a:tc>
                  <a:txBody>
                    <a:bodyPr wrap="none"/>
                    <a:lstStyle/>
                    <a:p>
                      <a:pPr algn="ctr"/>
                      <a:r>
                        <a:rPr sz="1000" b="0" i="0">
                          <a:solidFill>
                            <a:srgbClr val="262626"/>
                          </a:solidFill>
                          <a:latin typeface="Arial"/>
                        </a:rPr>
                        <a:t>14:00 – 16:00</a:t>
                      </a:r>
                    </a:p>
                  </a:txBody>
                  <a:tcPr>
                    <a:solidFill>
                      <a:srgbClr val="F2F2F2"/>
                    </a:solidFill>
                  </a:tcPr>
                </a:tc>
                <a:tc>
                  <a:txBody>
                    <a:bodyPr wrap="none"/>
                    <a:lstStyle/>
                    <a:p>
                      <a:pPr algn="l"/>
                      <a:r>
                        <a:rPr sz="1000" b="0" i="0">
                          <a:solidFill>
                            <a:srgbClr val="262626"/>
                          </a:solidFill>
                          <a:latin typeface="Arial"/>
                        </a:rPr>
                        <a:t>Pool training — afternoon session</a:t>
                      </a:r>
                    </a:p>
                  </a:txBody>
                  <a:tcPr>
                    <a:solidFill>
                      <a:srgbClr val="F2F2F2"/>
                    </a:solidFill>
                  </a:tcPr>
                </a:tc>
              </a:tr>
              <a:tr h="502920">
                <a:tc>
                  <a:txBody>
                    <a:bodyPr wrap="none"/>
                    <a:lstStyle/>
                    <a:p>
                      <a:pPr algn="ctr"/>
                      <a:r>
                        <a:rPr sz="1000" b="0" i="0">
                          <a:solidFill>
                            <a:srgbClr val="262626"/>
                          </a:solidFill>
                          <a:latin typeface="Arial"/>
                        </a:rPr>
                        <a:t>07:30 / 13:30</a:t>
                      </a:r>
                    </a:p>
                  </a:txBody>
                  <a:tcPr>
                    <a:solidFill>
                      <a:srgbClr val="FFFFFF"/>
                    </a:solidFill>
                  </a:tcPr>
                </a:tc>
                <a:tc>
                  <a:txBody>
                    <a:bodyPr wrap="none"/>
                    <a:lstStyle/>
                    <a:p>
                      <a:pPr algn="l"/>
                      <a:r>
                        <a:rPr sz="1000" b="0" i="0">
                          <a:solidFill>
                            <a:srgbClr val="262626"/>
                          </a:solidFill>
                          <a:latin typeface="Arial"/>
                        </a:rPr>
                        <a:t>Free LOC shuttle hotel → pool (also 08:30 / 14:30)</a:t>
                      </a:r>
                    </a:p>
                  </a:txBody>
                  <a:tcPr>
                    <a:solidFill>
                      <a:srgbClr val="FFFFFF"/>
                    </a:solidFill>
                  </a:tcPr>
                </a:tc>
              </a:tr>
            </a:tbl>
          </a:graphicData>
        </a:graphic>
      </p:graphicFrame>
      <p:sp>
        <p:nvSpPr>
          <p:cNvPr id="14" name="Rectangle 13"/>
          <p:cNvSpPr/>
          <p:nvPr/>
        </p:nvSpPr>
        <p:spPr>
          <a:xfrm>
            <a:off x="3241548"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2988" y="1728216"/>
            <a:ext cx="2555748" cy="201168"/>
          </a:xfrm>
          <a:prstGeom prst="rect">
            <a:avLst/>
          </a:prstGeom>
          <a:noFill/>
        </p:spPr>
        <p:txBody>
          <a:bodyPr wrap="square">
            <a:spAutoFit/>
          </a:bodyPr>
          <a:lstStyle/>
          <a:p>
            <a:pPr algn="ctr"/>
            <a:r>
              <a:rPr sz="1200" b="1" i="0">
                <a:solidFill>
                  <a:srgbClr val="FFFFFF"/>
                </a:solidFill>
                <a:latin typeface="Arial"/>
              </a:rPr>
              <a:t>Fri • Aug 28</a:t>
            </a:r>
          </a:p>
        </p:txBody>
      </p:sp>
      <p:sp>
        <p:nvSpPr>
          <p:cNvPr id="16" name="TextBox 15"/>
          <p:cNvSpPr txBox="1"/>
          <p:nvPr/>
        </p:nvSpPr>
        <p:spPr>
          <a:xfrm>
            <a:off x="3332988" y="1929384"/>
            <a:ext cx="2555748" cy="201168"/>
          </a:xfrm>
          <a:prstGeom prst="rect">
            <a:avLst/>
          </a:prstGeom>
          <a:noFill/>
        </p:spPr>
        <p:txBody>
          <a:bodyPr wrap="square">
            <a:spAutoFit/>
          </a:bodyPr>
          <a:lstStyle/>
          <a:p>
            <a:pPr algn="ctr"/>
            <a:r>
              <a:rPr sz="950" b="0" i="1">
                <a:solidFill>
                  <a:srgbClr val="AABBDD"/>
                </a:solidFill>
                <a:latin typeface="Arial"/>
              </a:rPr>
              <a:t>Familiarization &amp; Briefing</a:t>
            </a:r>
          </a:p>
        </p:txBody>
      </p:sp>
      <p:graphicFrame>
        <p:nvGraphicFramePr>
          <p:cNvPr id="17" name="Table 16"/>
          <p:cNvGraphicFramePr>
            <a:graphicFrameLocks noGrp="1"/>
          </p:cNvGraphicFramePr>
          <p:nvPr/>
        </p:nvGraphicFramePr>
        <p:xfrm>
          <a:off x="3241548" y="2240280"/>
          <a:ext cx="2738627" cy="3520440"/>
        </p:xfrm>
        <a:graphic>
          <a:graphicData uri="http://schemas.openxmlformats.org/drawingml/2006/table">
            <a:tbl>
              <a:tblPr firstRow="1" bandRow="1">
                <a:tableStyleId>{5C22544A-7EE6-4342-B048-85BDC9FD1C3A}</a:tableStyleId>
              </a:tblPr>
              <a:tblGrid>
                <a:gridCol w="985906"/>
                <a:gridCol w="1752721"/>
              </a:tblGrid>
              <a:tr h="502920">
                <a:tc>
                  <a:txBody>
                    <a:bodyPr wrap="none"/>
                    <a:lstStyle/>
                    <a:p>
                      <a:pPr algn="ctr"/>
                      <a:r>
                        <a:rPr sz="1000" b="0" i="0">
                          <a:solidFill>
                            <a:srgbClr val="262626"/>
                          </a:solidFill>
                          <a:latin typeface="Arial"/>
                        </a:rPr>
                        <a:t>09:30 – 10:00</a:t>
                      </a:r>
                    </a:p>
                  </a:txBody>
                  <a:tcPr>
                    <a:solidFill>
                      <a:srgbClr val="F2F2F2"/>
                    </a:solidFill>
                  </a:tcPr>
                </a:tc>
                <a:tc>
                  <a:txBody>
                    <a:bodyPr wrap="none"/>
                    <a:lstStyle/>
                    <a:p>
                      <a:pPr algn="l"/>
                      <a:r>
                        <a:rPr sz="1000" b="0" i="0">
                          <a:solidFill>
                            <a:srgbClr val="262626"/>
                          </a:solidFill>
                          <a:latin typeface="Arial"/>
                        </a:rPr>
                        <a:t>Elite bike course familiarization — 3 laps, officials lead, NO overtaking</a:t>
                      </a:r>
                    </a:p>
                  </a:txBody>
                  <a:tcPr>
                    <a:solidFill>
                      <a:srgbClr val="F2F2F2"/>
                    </a:solidFill>
                  </a:tcPr>
                </a:tc>
              </a:tr>
              <a:tr h="502920">
                <a:tc>
                  <a:txBody>
                    <a:bodyPr wrap="none"/>
                    <a:lstStyle/>
                    <a:p>
                      <a:pPr algn="ctr"/>
                      <a:r>
                        <a:rPr sz="1000" b="0" i="0">
                          <a:solidFill>
                            <a:srgbClr val="262626"/>
                          </a:solidFill>
                          <a:latin typeface="Arial"/>
                        </a:rPr>
                        <a:t>10:00 – 11:00</a:t>
                      </a:r>
                    </a:p>
                  </a:txBody>
                  <a:tcPr>
                    <a:solidFill>
                      <a:srgbClr val="FFFFFF"/>
                    </a:solidFill>
                  </a:tcPr>
                </a:tc>
                <a:tc>
                  <a:txBody>
                    <a:bodyPr wrap="none"/>
                    <a:lstStyle/>
                    <a:p>
                      <a:pPr algn="l"/>
                      <a:r>
                        <a:rPr sz="1000" b="0" i="0">
                          <a:solidFill>
                            <a:srgbClr val="262626"/>
                          </a:solidFill>
                          <a:latin typeface="Arial"/>
                        </a:rPr>
                        <a:t>Elite swim course familiarization — all buoys set, boats + lifeguards</a:t>
                      </a:r>
                    </a:p>
                  </a:txBody>
                  <a:tcPr>
                    <a:solidFill>
                      <a:srgbClr val="FFFFFF"/>
                    </a:solidFill>
                  </a:tcPr>
                </a:tc>
              </a:tr>
              <a:tr h="502920">
                <a:tc>
                  <a:txBody>
                    <a:bodyPr wrap="none"/>
                    <a:lstStyle/>
                    <a:p>
                      <a:pPr algn="ctr"/>
                      <a:r>
                        <a:rPr sz="1000" b="0" i="0">
                          <a:solidFill>
                            <a:srgbClr val="262626"/>
                          </a:solidFill>
                          <a:latin typeface="Arial"/>
                        </a:rPr>
                        <a:t>10:15 – 10:45</a:t>
                      </a:r>
                    </a:p>
                  </a:txBody>
                  <a:tcPr>
                    <a:solidFill>
                      <a:srgbClr val="F2F2F2"/>
                    </a:solidFill>
                  </a:tcPr>
                </a:tc>
                <a:tc>
                  <a:txBody>
                    <a:bodyPr wrap="none"/>
                    <a:lstStyle/>
                    <a:p>
                      <a:pPr algn="l"/>
                      <a:r>
                        <a:rPr sz="1000" b="0" i="0">
                          <a:solidFill>
                            <a:srgbClr val="262626"/>
                          </a:solidFill>
                          <a:latin typeface="Arial"/>
                        </a:rPr>
                        <a:t>Coaches' feedback on FOP to Technical Delegate</a:t>
                      </a:r>
                    </a:p>
                  </a:txBody>
                  <a:tcPr>
                    <a:solidFill>
                      <a:srgbClr val="F2F2F2"/>
                    </a:solidFill>
                  </a:tcPr>
                </a:tc>
              </a:tr>
              <a:tr h="502920">
                <a:tc>
                  <a:txBody>
                    <a:bodyPr wrap="none"/>
                    <a:lstStyle/>
                    <a:p>
                      <a:pPr algn="ctr"/>
                      <a:r>
                        <a:rPr sz="1000" b="0" i="0">
                          <a:solidFill>
                            <a:srgbClr val="262626"/>
                          </a:solidFill>
                          <a:latin typeface="Arial"/>
                        </a:rPr>
                        <a:t>14:30 – 15:00</a:t>
                      </a:r>
                    </a:p>
                  </a:txBody>
                  <a:tcPr>
                    <a:solidFill>
                      <a:srgbClr val="FFFFFF"/>
                    </a:solidFill>
                  </a:tcPr>
                </a:tc>
                <a:tc>
                  <a:txBody>
                    <a:bodyPr wrap="none"/>
                    <a:lstStyle/>
                    <a:p>
                      <a:pPr algn="l"/>
                      <a:r>
                        <a:rPr sz="1000" b="0" i="0">
                          <a:solidFill>
                            <a:srgbClr val="262626"/>
                          </a:solidFill>
                          <a:latin typeface="Arial"/>
                        </a:rPr>
                        <a:t>Pre-race press conference — Brigh Radiance Hotel 12/F</a:t>
                      </a:r>
                    </a:p>
                  </a:txBody>
                  <a:tcPr>
                    <a:solidFill>
                      <a:srgbClr val="FFFFFF"/>
                    </a:solidFill>
                  </a:tcPr>
                </a:tc>
              </a:tr>
              <a:tr h="502920">
                <a:tc>
                  <a:txBody>
                    <a:bodyPr wrap="none"/>
                    <a:lstStyle/>
                    <a:p>
                      <a:pPr algn="ctr"/>
                      <a:r>
                        <a:rPr sz="1000" b="1" i="0">
                          <a:solidFill>
                            <a:srgbClr val="C00000"/>
                          </a:solidFill>
                          <a:latin typeface="Arial"/>
                        </a:rPr>
                        <a:t>16:00 – 16:30</a:t>
                      </a:r>
                    </a:p>
                  </a:txBody>
                  <a:tcPr>
                    <a:solidFill>
                      <a:srgbClr val="FDECEC"/>
                    </a:solidFill>
                  </a:tcPr>
                </a:tc>
                <a:tc>
                  <a:txBody>
                    <a:bodyPr wrap="none"/>
                    <a:lstStyle/>
                    <a:p>
                      <a:pPr algn="l"/>
                      <a:r>
                        <a:rPr sz="1000" b="1" i="0">
                          <a:solidFill>
                            <a:srgbClr val="C00000"/>
                          </a:solidFill>
                          <a:latin typeface="Arial"/>
                        </a:rPr>
                        <a:t>★ Elite Athletes' Briefing — Brigh Radiance Hotel 14/F</a:t>
                      </a:r>
                    </a:p>
                  </a:txBody>
                  <a:tcPr>
                    <a:solidFill>
                      <a:srgbClr val="FDECEC"/>
                    </a:solidFill>
                  </a:tcPr>
                </a:tc>
              </a:tr>
              <a:tr h="502920">
                <a:tc>
                  <a:txBody>
                    <a:bodyPr wrap="none"/>
                    <a:lstStyle/>
                    <a:p>
                      <a:pPr algn="ctr"/>
                      <a:r>
                        <a:rPr sz="1000" b="0" i="0">
                          <a:solidFill>
                            <a:srgbClr val="262626"/>
                          </a:solidFill>
                          <a:latin typeface="Arial"/>
                        </a:rPr>
                        <a:t>16:30 – 17:00</a:t>
                      </a:r>
                    </a:p>
                  </a:txBody>
                  <a:tcPr>
                    <a:solidFill>
                      <a:srgbClr val="FFFFFF"/>
                    </a:solidFill>
                  </a:tcPr>
                </a:tc>
                <a:tc>
                  <a:txBody>
                    <a:bodyPr wrap="none"/>
                    <a:lstStyle/>
                    <a:p>
                      <a:pPr algn="l"/>
                      <a:r>
                        <a:rPr sz="1000" b="0" i="0">
                          <a:solidFill>
                            <a:srgbClr val="262626"/>
                          </a:solidFill>
                          <a:latin typeface="Arial"/>
                        </a:rPr>
                        <a:t>Team medical meeting + race package distribution</a:t>
                      </a:r>
                    </a:p>
                  </a:txBody>
                  <a:tcPr>
                    <a:solidFill>
                      <a:srgbClr val="FFFFFF"/>
                    </a:solidFill>
                  </a:tcPr>
                </a:tc>
              </a:tr>
              <a:tr h="502920">
                <a:tc>
                  <a:txBody>
                    <a:bodyPr wrap="none"/>
                    <a:lstStyle/>
                    <a:p>
                      <a:pPr algn="ctr"/>
                      <a:r>
                        <a:rPr sz="1000" b="0" i="0">
                          <a:solidFill>
                            <a:srgbClr val="262626"/>
                          </a:solidFill>
                          <a:latin typeface="Arial"/>
                        </a:rPr>
                        <a:t>18:00 – 20:00</a:t>
                      </a:r>
                    </a:p>
                  </a:txBody>
                  <a:tcPr>
                    <a:solidFill>
                      <a:srgbClr val="F2F2F2"/>
                    </a:solidFill>
                  </a:tcPr>
                </a:tc>
                <a:tc>
                  <a:txBody>
                    <a:bodyPr wrap="none"/>
                    <a:lstStyle/>
                    <a:p>
                      <a:pPr algn="l"/>
                      <a:r>
                        <a:rPr sz="1000" b="0" i="0">
                          <a:solidFill>
                            <a:srgbClr val="262626"/>
                          </a:solidFill>
                          <a:latin typeface="Arial"/>
                        </a:rPr>
                        <a:t>Pasta Party — Weihaiwei Hotel 2/F (veg + halal available)</a:t>
                      </a:r>
                    </a:p>
                  </a:txBody>
                  <a:tcPr>
                    <a:solidFill>
                      <a:srgbClr val="F2F2F2"/>
                    </a:solidFill>
                  </a:tcPr>
                </a:tc>
              </a:tr>
            </a:tbl>
          </a:graphicData>
        </a:graphic>
      </p:graphicFrame>
      <p:sp>
        <p:nvSpPr>
          <p:cNvPr id="18" name="Rectangle 17"/>
          <p:cNvSpPr/>
          <p:nvPr/>
        </p:nvSpPr>
        <p:spPr>
          <a:xfrm>
            <a:off x="6208776"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0216" y="1728216"/>
            <a:ext cx="2555748" cy="201168"/>
          </a:xfrm>
          <a:prstGeom prst="rect">
            <a:avLst/>
          </a:prstGeom>
          <a:noFill/>
        </p:spPr>
        <p:txBody>
          <a:bodyPr wrap="square">
            <a:spAutoFit/>
          </a:bodyPr>
          <a:lstStyle/>
          <a:p>
            <a:pPr algn="ctr"/>
            <a:r>
              <a:rPr sz="1200" b="1" i="0">
                <a:solidFill>
                  <a:srgbClr val="FFFFFF"/>
                </a:solidFill>
                <a:latin typeface="Arial"/>
              </a:rPr>
              <a:t>Sat • Aug 29</a:t>
            </a:r>
          </a:p>
        </p:txBody>
      </p:sp>
      <p:sp>
        <p:nvSpPr>
          <p:cNvPr id="20" name="TextBox 19"/>
          <p:cNvSpPr txBox="1"/>
          <p:nvPr/>
        </p:nvSpPr>
        <p:spPr>
          <a:xfrm>
            <a:off x="6300216" y="1929384"/>
            <a:ext cx="2555748" cy="201168"/>
          </a:xfrm>
          <a:prstGeom prst="rect">
            <a:avLst/>
          </a:prstGeom>
          <a:noFill/>
        </p:spPr>
        <p:txBody>
          <a:bodyPr wrap="square">
            <a:spAutoFit/>
          </a:bodyPr>
          <a:lstStyle/>
          <a:p>
            <a:pPr algn="ctr"/>
            <a:r>
              <a:rPr sz="950" b="0" i="1">
                <a:solidFill>
                  <a:srgbClr val="AABBDD"/>
                </a:solidFill>
                <a:latin typeface="Arial"/>
              </a:rPr>
              <a:t>ELITE MEN — 09:00</a:t>
            </a:r>
          </a:p>
        </p:txBody>
      </p:sp>
      <p:graphicFrame>
        <p:nvGraphicFramePr>
          <p:cNvPr id="21" name="Table 20"/>
          <p:cNvGraphicFramePr>
            <a:graphicFrameLocks noGrp="1"/>
          </p:cNvGraphicFramePr>
          <p:nvPr/>
        </p:nvGraphicFramePr>
        <p:xfrm>
          <a:off x="6208776" y="2240280"/>
          <a:ext cx="2738627" cy="3520440"/>
        </p:xfrm>
        <a:graphic>
          <a:graphicData uri="http://schemas.openxmlformats.org/drawingml/2006/table">
            <a:tbl>
              <a:tblPr firstRow="1" bandRow="1">
                <a:tableStyleId>{5C22544A-7EE6-4342-B048-85BDC9FD1C3A}</a:tableStyleId>
              </a:tblPr>
              <a:tblGrid>
                <a:gridCol w="985906"/>
                <a:gridCol w="1752721"/>
              </a:tblGrid>
              <a:tr h="502920">
                <a:tc>
                  <a:txBody>
                    <a:bodyPr wrap="none"/>
                    <a:lstStyle/>
                    <a:p>
                      <a:pPr algn="ctr"/>
                      <a:r>
                        <a:rPr sz="1000" b="0" i="0">
                          <a:solidFill>
                            <a:srgbClr val="262626"/>
                          </a:solidFill>
                          <a:latin typeface="Arial"/>
                        </a:rPr>
                        <a:t>07:30 – 08:30</a:t>
                      </a:r>
                    </a:p>
                  </a:txBody>
                  <a:tcPr>
                    <a:solidFill>
                      <a:srgbClr val="F2F2F2"/>
                    </a:solidFill>
                  </a:tcPr>
                </a:tc>
                <a:tc>
                  <a:txBody>
                    <a:bodyPr wrap="none"/>
                    <a:lstStyle/>
                    <a:p>
                      <a:pPr algn="l"/>
                      <a:r>
                        <a:rPr sz="1000" b="0" i="0">
                          <a:solidFill>
                            <a:srgbClr val="262626"/>
                          </a:solidFill>
                          <a:latin typeface="Arial"/>
                        </a:rPr>
                        <a:t>Elite Men athletes' lounge check-in</a:t>
                      </a:r>
                    </a:p>
                  </a:txBody>
                  <a:tcPr>
                    <a:solidFill>
                      <a:srgbClr val="F2F2F2"/>
                    </a:solidFill>
                  </a:tcPr>
                </a:tc>
              </a:tr>
              <a:tr h="502920">
                <a:tc>
                  <a:txBody>
                    <a:bodyPr wrap="none"/>
                    <a:lstStyle/>
                    <a:p>
                      <a:pPr algn="ctr"/>
                      <a:r>
                        <a:rPr sz="1000" b="0" i="0">
                          <a:solidFill>
                            <a:srgbClr val="262626"/>
                          </a:solidFill>
                          <a:latin typeface="Arial"/>
                        </a:rPr>
                        <a:t>07:45 – 08:45</a:t>
                      </a:r>
                    </a:p>
                  </a:txBody>
                  <a:tcPr>
                    <a:solidFill>
                      <a:srgbClr val="FFFFFF"/>
                    </a:solidFill>
                  </a:tcPr>
                </a:tc>
                <a:tc>
                  <a:txBody>
                    <a:bodyPr wrap="none"/>
                    <a:lstStyle/>
                    <a:p>
                      <a:pPr algn="l"/>
                      <a:r>
                        <a:rPr sz="1000" b="0" i="0">
                          <a:solidFill>
                            <a:srgbClr val="262626"/>
                          </a:solidFill>
                          <a:latin typeface="Arial"/>
                        </a:rPr>
                        <a:t>Elite Men transition zone check-in</a:t>
                      </a:r>
                    </a:p>
                  </a:txBody>
                  <a:tcPr>
                    <a:solidFill>
                      <a:srgbClr val="FFFFFF"/>
                    </a:solidFill>
                  </a:tcPr>
                </a:tc>
              </a:tr>
              <a:tr h="502920">
                <a:tc>
                  <a:txBody>
                    <a:bodyPr wrap="none"/>
                    <a:lstStyle/>
                    <a:p>
                      <a:pPr algn="ctr"/>
                      <a:r>
                        <a:rPr sz="1000" b="0" i="0">
                          <a:solidFill>
                            <a:srgbClr val="262626"/>
                          </a:solidFill>
                          <a:latin typeface="Arial"/>
                        </a:rPr>
                        <a:t>08:15 – 08:45</a:t>
                      </a:r>
                    </a:p>
                  </a:txBody>
                  <a:tcPr>
                    <a:solidFill>
                      <a:srgbClr val="F2F2F2"/>
                    </a:solidFill>
                  </a:tcPr>
                </a:tc>
                <a:tc>
                  <a:txBody>
                    <a:bodyPr wrap="none"/>
                    <a:lstStyle/>
                    <a:p>
                      <a:pPr algn="l"/>
                      <a:r>
                        <a:rPr sz="1000" b="0" i="0">
                          <a:solidFill>
                            <a:srgbClr val="262626"/>
                          </a:solidFill>
                          <a:latin typeface="Arial"/>
                        </a:rPr>
                        <a:t>Elite Men swim warm-up</a:t>
                      </a:r>
                    </a:p>
                  </a:txBody>
                  <a:tcPr>
                    <a:solidFill>
                      <a:srgbClr val="F2F2F2"/>
                    </a:solidFill>
                  </a:tcPr>
                </a:tc>
              </a:tr>
              <a:tr h="502920">
                <a:tc>
                  <a:txBody>
                    <a:bodyPr wrap="none"/>
                    <a:lstStyle/>
                    <a:p>
                      <a:pPr algn="ctr"/>
                      <a:r>
                        <a:rPr sz="1000" b="0" i="0">
                          <a:solidFill>
                            <a:srgbClr val="262626"/>
                          </a:solidFill>
                          <a:latin typeface="Arial"/>
                        </a:rPr>
                        <a:t>08:30 – 08:45</a:t>
                      </a:r>
                    </a:p>
                  </a:txBody>
                  <a:tcPr>
                    <a:solidFill>
                      <a:srgbClr val="FFFFFF"/>
                    </a:solidFill>
                  </a:tcPr>
                </a:tc>
                <a:tc>
                  <a:txBody>
                    <a:bodyPr wrap="none"/>
                    <a:lstStyle/>
                    <a:p>
                      <a:pPr algn="l"/>
                      <a:r>
                        <a:rPr sz="1000" b="0" i="0">
                          <a:solidFill>
                            <a:srgbClr val="262626"/>
                          </a:solidFill>
                          <a:latin typeface="Arial"/>
                        </a:rPr>
                        <a:t>Opening ceremony — main venue</a:t>
                      </a:r>
                    </a:p>
                  </a:txBody>
                  <a:tcPr>
                    <a:solidFill>
                      <a:srgbClr val="FFFFFF"/>
                    </a:solidFill>
                  </a:tcPr>
                </a:tc>
              </a:tr>
              <a:tr h="502920">
                <a:tc>
                  <a:txBody>
                    <a:bodyPr wrap="none"/>
                    <a:lstStyle/>
                    <a:p>
                      <a:pPr algn="ctr"/>
                      <a:r>
                        <a:rPr sz="1000" b="0" i="0">
                          <a:solidFill>
                            <a:srgbClr val="262626"/>
                          </a:solidFill>
                          <a:latin typeface="Arial"/>
                        </a:rPr>
                        <a:t>08:45 / 08:50</a:t>
                      </a:r>
                    </a:p>
                  </a:txBody>
                  <a:tcPr>
                    <a:solidFill>
                      <a:srgbClr val="F2F2F2"/>
                    </a:solidFill>
                  </a:tcPr>
                </a:tc>
                <a:tc>
                  <a:txBody>
                    <a:bodyPr wrap="none"/>
                    <a:lstStyle/>
                    <a:p>
                      <a:pPr algn="l"/>
                      <a:r>
                        <a:rPr sz="1000" b="0" i="0">
                          <a:solidFill>
                            <a:srgbClr val="262626"/>
                          </a:solidFill>
                          <a:latin typeface="Arial"/>
                        </a:rPr>
                        <a:t>Elite Men line-up (lounge) / introduction (swim exit)</a:t>
                      </a:r>
                    </a:p>
                  </a:txBody>
                  <a:tcPr>
                    <a:solidFill>
                      <a:srgbClr val="F2F2F2"/>
                    </a:solidFill>
                  </a:tcPr>
                </a:tc>
              </a:tr>
              <a:tr h="502920">
                <a:tc>
                  <a:txBody>
                    <a:bodyPr wrap="none"/>
                    <a:lstStyle/>
                    <a:p>
                      <a:pPr algn="ctr"/>
                      <a:r>
                        <a:rPr sz="1000" b="1" i="0">
                          <a:solidFill>
                            <a:srgbClr val="C00000"/>
                          </a:solidFill>
                          <a:latin typeface="Arial"/>
                        </a:rPr>
                        <a:t>09:00</a:t>
                      </a:r>
                    </a:p>
                  </a:txBody>
                  <a:tcPr>
                    <a:solidFill>
                      <a:srgbClr val="FDECEC"/>
                    </a:solidFill>
                  </a:tcPr>
                </a:tc>
                <a:tc>
                  <a:txBody>
                    <a:bodyPr wrap="none"/>
                    <a:lstStyle/>
                    <a:p>
                      <a:pPr algn="l"/>
                      <a:r>
                        <a:rPr sz="1000" b="1" i="0">
                          <a:solidFill>
                            <a:srgbClr val="C00000"/>
                          </a:solidFill>
                          <a:latin typeface="Arial"/>
                        </a:rPr>
                        <a:t>★ ELITE MEN START — 1.5 / 40 / 10</a:t>
                      </a:r>
                    </a:p>
                  </a:txBody>
                  <a:tcPr>
                    <a:solidFill>
                      <a:srgbClr val="FDECEC"/>
                    </a:solidFill>
                  </a:tcPr>
                </a:tc>
              </a:tr>
              <a:tr h="502920">
                <a:tc>
                  <a:txBody>
                    <a:bodyPr wrap="none"/>
                    <a:lstStyle/>
                    <a:p>
                      <a:pPr algn="ctr"/>
                      <a:r>
                        <a:rPr sz="1000" b="0" i="0">
                          <a:solidFill>
                            <a:srgbClr val="262626"/>
                          </a:solidFill>
                          <a:latin typeface="Arial"/>
                        </a:rPr>
                        <a:t>10:55</a:t>
                      </a:r>
                    </a:p>
                  </a:txBody>
                  <a:tcPr>
                    <a:solidFill>
                      <a:srgbClr val="F2F2F2"/>
                    </a:solidFill>
                  </a:tcPr>
                </a:tc>
                <a:tc>
                  <a:txBody>
                    <a:bodyPr wrap="none"/>
                    <a:lstStyle/>
                    <a:p>
                      <a:pPr algn="l"/>
                      <a:r>
                        <a:rPr sz="1000" b="0" i="0">
                          <a:solidFill>
                            <a:srgbClr val="262626"/>
                          </a:solidFill>
                          <a:latin typeface="Arial"/>
                        </a:rPr>
                        <a:t>Elite Men awards ceremony</a:t>
                      </a:r>
                    </a:p>
                  </a:txBody>
                  <a:tcPr>
                    <a:solidFill>
                      <a:srgbClr val="F2F2F2"/>
                    </a:solidFill>
                  </a:tcPr>
                </a:tc>
              </a:tr>
            </a:tbl>
          </a:graphicData>
        </a:graphic>
      </p:graphicFrame>
      <p:sp>
        <p:nvSpPr>
          <p:cNvPr id="22" name="Rectangle 21"/>
          <p:cNvSpPr/>
          <p:nvPr/>
        </p:nvSpPr>
        <p:spPr>
          <a:xfrm>
            <a:off x="9176004"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67444" y="1728216"/>
            <a:ext cx="2555748" cy="201168"/>
          </a:xfrm>
          <a:prstGeom prst="rect">
            <a:avLst/>
          </a:prstGeom>
          <a:noFill/>
        </p:spPr>
        <p:txBody>
          <a:bodyPr wrap="square">
            <a:spAutoFit/>
          </a:bodyPr>
          <a:lstStyle/>
          <a:p>
            <a:pPr algn="ctr"/>
            <a:r>
              <a:rPr sz="1200" b="1" i="0">
                <a:solidFill>
                  <a:srgbClr val="FFFFFF"/>
                </a:solidFill>
                <a:latin typeface="Arial"/>
              </a:rPr>
              <a:t>Sat • Aug 29</a:t>
            </a:r>
          </a:p>
        </p:txBody>
      </p:sp>
      <p:sp>
        <p:nvSpPr>
          <p:cNvPr id="24" name="TextBox 23"/>
          <p:cNvSpPr txBox="1"/>
          <p:nvPr/>
        </p:nvSpPr>
        <p:spPr>
          <a:xfrm>
            <a:off x="9267444" y="1929384"/>
            <a:ext cx="2555748" cy="201168"/>
          </a:xfrm>
          <a:prstGeom prst="rect">
            <a:avLst/>
          </a:prstGeom>
          <a:noFill/>
        </p:spPr>
        <p:txBody>
          <a:bodyPr wrap="square">
            <a:spAutoFit/>
          </a:bodyPr>
          <a:lstStyle/>
          <a:p>
            <a:pPr algn="ctr"/>
            <a:r>
              <a:rPr sz="950" b="0" i="1">
                <a:solidFill>
                  <a:srgbClr val="AABBDD"/>
                </a:solidFill>
                <a:latin typeface="Arial"/>
              </a:rPr>
              <a:t>ELITE WOMEN — 12:00</a:t>
            </a:r>
          </a:p>
        </p:txBody>
      </p:sp>
      <p:graphicFrame>
        <p:nvGraphicFramePr>
          <p:cNvPr id="25" name="Table 24"/>
          <p:cNvGraphicFramePr>
            <a:graphicFrameLocks noGrp="1"/>
          </p:cNvGraphicFramePr>
          <p:nvPr/>
        </p:nvGraphicFramePr>
        <p:xfrm>
          <a:off x="9176004" y="2240280"/>
          <a:ext cx="2738627" cy="3520440"/>
        </p:xfrm>
        <a:graphic>
          <a:graphicData uri="http://schemas.openxmlformats.org/drawingml/2006/table">
            <a:tbl>
              <a:tblPr firstRow="1" bandRow="1">
                <a:tableStyleId>{5C22544A-7EE6-4342-B048-85BDC9FD1C3A}</a:tableStyleId>
              </a:tblPr>
              <a:tblGrid>
                <a:gridCol w="985906"/>
                <a:gridCol w="1752721"/>
              </a:tblGrid>
              <a:tr h="502920">
                <a:tc>
                  <a:txBody>
                    <a:bodyPr wrap="none"/>
                    <a:lstStyle/>
                    <a:p>
                      <a:pPr algn="ctr"/>
                      <a:r>
                        <a:rPr sz="1000" b="0" i="0">
                          <a:solidFill>
                            <a:srgbClr val="262626"/>
                          </a:solidFill>
                          <a:latin typeface="Arial"/>
                        </a:rPr>
                        <a:t>10:30 – 11:30</a:t>
                      </a:r>
                    </a:p>
                  </a:txBody>
                  <a:tcPr>
                    <a:solidFill>
                      <a:srgbClr val="F2F2F2"/>
                    </a:solidFill>
                  </a:tcPr>
                </a:tc>
                <a:tc>
                  <a:txBody>
                    <a:bodyPr wrap="none"/>
                    <a:lstStyle/>
                    <a:p>
                      <a:pPr algn="l"/>
                      <a:r>
                        <a:rPr sz="1000" b="0" i="0">
                          <a:solidFill>
                            <a:srgbClr val="262626"/>
                          </a:solidFill>
                          <a:latin typeface="Arial"/>
                        </a:rPr>
                        <a:t>Elite Women athletes' lounge check-in</a:t>
                      </a:r>
                    </a:p>
                  </a:txBody>
                  <a:tcPr>
                    <a:solidFill>
                      <a:srgbClr val="F2F2F2"/>
                    </a:solidFill>
                  </a:tcPr>
                </a:tc>
              </a:tr>
              <a:tr h="502920">
                <a:tc>
                  <a:txBody>
                    <a:bodyPr wrap="none"/>
                    <a:lstStyle/>
                    <a:p>
                      <a:pPr algn="ctr"/>
                      <a:r>
                        <a:rPr sz="1000" b="0" i="0">
                          <a:solidFill>
                            <a:srgbClr val="262626"/>
                          </a:solidFill>
                          <a:latin typeface="Arial"/>
                        </a:rPr>
                        <a:t>11:00 – 11:45</a:t>
                      </a:r>
                    </a:p>
                  </a:txBody>
                  <a:tcPr>
                    <a:solidFill>
                      <a:srgbClr val="FFFFFF"/>
                    </a:solidFill>
                  </a:tcPr>
                </a:tc>
                <a:tc>
                  <a:txBody>
                    <a:bodyPr wrap="none"/>
                    <a:lstStyle/>
                    <a:p>
                      <a:pPr algn="l"/>
                      <a:r>
                        <a:rPr sz="1000" b="0" i="0">
                          <a:solidFill>
                            <a:srgbClr val="262626"/>
                          </a:solidFill>
                          <a:latin typeface="Arial"/>
                        </a:rPr>
                        <a:t>Elite Women transition zone check-in</a:t>
                      </a:r>
                    </a:p>
                  </a:txBody>
                  <a:tcPr>
                    <a:solidFill>
                      <a:srgbClr val="FFFFFF"/>
                    </a:solidFill>
                  </a:tcPr>
                </a:tc>
              </a:tr>
              <a:tr h="502920">
                <a:tc>
                  <a:txBody>
                    <a:bodyPr wrap="none"/>
                    <a:lstStyle/>
                    <a:p>
                      <a:pPr algn="ctr"/>
                      <a:r>
                        <a:rPr sz="1000" b="0" i="0">
                          <a:solidFill>
                            <a:srgbClr val="262626"/>
                          </a:solidFill>
                          <a:latin typeface="Arial"/>
                        </a:rPr>
                        <a:t>11:15 – 11:45</a:t>
                      </a:r>
                    </a:p>
                  </a:txBody>
                  <a:tcPr>
                    <a:solidFill>
                      <a:srgbClr val="F2F2F2"/>
                    </a:solidFill>
                  </a:tcPr>
                </a:tc>
                <a:tc>
                  <a:txBody>
                    <a:bodyPr wrap="none"/>
                    <a:lstStyle/>
                    <a:p>
                      <a:pPr algn="l"/>
                      <a:r>
                        <a:rPr sz="1000" b="0" i="0">
                          <a:solidFill>
                            <a:srgbClr val="262626"/>
                          </a:solidFill>
                          <a:latin typeface="Arial"/>
                        </a:rPr>
                        <a:t>Elite Women swim warm-up</a:t>
                      </a:r>
                    </a:p>
                  </a:txBody>
                  <a:tcPr>
                    <a:solidFill>
                      <a:srgbClr val="F2F2F2"/>
                    </a:solidFill>
                  </a:tcPr>
                </a:tc>
              </a:tr>
              <a:tr h="502920">
                <a:tc>
                  <a:txBody>
                    <a:bodyPr wrap="none"/>
                    <a:lstStyle/>
                    <a:p>
                      <a:pPr algn="ctr"/>
                      <a:r>
                        <a:rPr sz="1000" b="0" i="0">
                          <a:solidFill>
                            <a:srgbClr val="262626"/>
                          </a:solidFill>
                          <a:latin typeface="Arial"/>
                        </a:rPr>
                        <a:t>11:15 – 11:45</a:t>
                      </a:r>
                    </a:p>
                  </a:txBody>
                  <a:tcPr>
                    <a:solidFill>
                      <a:srgbClr val="FFFFFF"/>
                    </a:solidFill>
                  </a:tcPr>
                </a:tc>
                <a:tc>
                  <a:txBody>
                    <a:bodyPr wrap="none"/>
                    <a:lstStyle/>
                    <a:p>
                      <a:pPr algn="l"/>
                      <a:r>
                        <a:rPr sz="1000" b="0" i="0">
                          <a:solidFill>
                            <a:srgbClr val="262626"/>
                          </a:solidFill>
                          <a:latin typeface="Arial"/>
                        </a:rPr>
                        <a:t>Elite coaches run course measurement</a:t>
                      </a:r>
                    </a:p>
                  </a:txBody>
                  <a:tcPr>
                    <a:solidFill>
                      <a:srgbClr val="FFFFFF"/>
                    </a:solidFill>
                  </a:tcPr>
                </a:tc>
              </a:tr>
              <a:tr h="502920">
                <a:tc>
                  <a:txBody>
                    <a:bodyPr wrap="none"/>
                    <a:lstStyle/>
                    <a:p>
                      <a:pPr algn="ctr"/>
                      <a:r>
                        <a:rPr sz="1000" b="0" i="0">
                          <a:solidFill>
                            <a:srgbClr val="262626"/>
                          </a:solidFill>
                          <a:latin typeface="Arial"/>
                        </a:rPr>
                        <a:t>11:45 / 11:50</a:t>
                      </a:r>
                    </a:p>
                  </a:txBody>
                  <a:tcPr>
                    <a:solidFill>
                      <a:srgbClr val="F2F2F2"/>
                    </a:solidFill>
                  </a:tcPr>
                </a:tc>
                <a:tc>
                  <a:txBody>
                    <a:bodyPr wrap="none"/>
                    <a:lstStyle/>
                    <a:p>
                      <a:pPr algn="l"/>
                      <a:r>
                        <a:rPr sz="1000" b="0" i="0">
                          <a:solidFill>
                            <a:srgbClr val="262626"/>
                          </a:solidFill>
                          <a:latin typeface="Arial"/>
                        </a:rPr>
                        <a:t>Elite Women line-up / introduction</a:t>
                      </a:r>
                    </a:p>
                  </a:txBody>
                  <a:tcPr>
                    <a:solidFill>
                      <a:srgbClr val="F2F2F2"/>
                    </a:solidFill>
                  </a:tcPr>
                </a:tc>
              </a:tr>
              <a:tr h="502920">
                <a:tc>
                  <a:txBody>
                    <a:bodyPr wrap="none"/>
                    <a:lstStyle/>
                    <a:p>
                      <a:pPr algn="ctr"/>
                      <a:r>
                        <a:rPr sz="1000" b="1" i="0">
                          <a:solidFill>
                            <a:srgbClr val="C00000"/>
                          </a:solidFill>
                          <a:latin typeface="Arial"/>
                        </a:rPr>
                        <a:t>12:00</a:t>
                      </a:r>
                    </a:p>
                  </a:txBody>
                  <a:tcPr>
                    <a:solidFill>
                      <a:srgbClr val="FDECEC"/>
                    </a:solidFill>
                  </a:tcPr>
                </a:tc>
                <a:tc>
                  <a:txBody>
                    <a:bodyPr wrap="none"/>
                    <a:lstStyle/>
                    <a:p>
                      <a:pPr algn="l"/>
                      <a:r>
                        <a:rPr sz="1000" b="1" i="0">
                          <a:solidFill>
                            <a:srgbClr val="C00000"/>
                          </a:solidFill>
                          <a:latin typeface="Arial"/>
                        </a:rPr>
                        <a:t>★ ELITE WOMEN START — hottest part of the day</a:t>
                      </a:r>
                    </a:p>
                  </a:txBody>
                  <a:tcPr>
                    <a:solidFill>
                      <a:srgbClr val="FDECEC"/>
                    </a:solidFill>
                  </a:tcPr>
                </a:tc>
              </a:tr>
              <a:tr h="502920">
                <a:tc>
                  <a:txBody>
                    <a:bodyPr wrap="none"/>
                    <a:lstStyle/>
                    <a:p>
                      <a:pPr algn="ctr"/>
                      <a:r>
                        <a:rPr sz="1000" b="0" i="0">
                          <a:solidFill>
                            <a:srgbClr val="262626"/>
                          </a:solidFill>
                          <a:latin typeface="Arial"/>
                        </a:rPr>
                        <a:t>14:10</a:t>
                      </a:r>
                    </a:p>
                  </a:txBody>
                  <a:tcPr>
                    <a:solidFill>
                      <a:srgbClr val="F2F2F2"/>
                    </a:solidFill>
                  </a:tcPr>
                </a:tc>
                <a:tc>
                  <a:txBody>
                    <a:bodyPr wrap="none"/>
                    <a:lstStyle/>
                    <a:p>
                      <a:pPr algn="l"/>
                      <a:r>
                        <a:rPr sz="1000" b="0" i="0">
                          <a:solidFill>
                            <a:srgbClr val="262626"/>
                          </a:solidFill>
                          <a:latin typeface="Arial"/>
                        </a:rPr>
                        <a:t>Elite Women awards ceremony</a:t>
                      </a:r>
                    </a:p>
                  </a:txBody>
                  <a:tcPr>
                    <a:solidFill>
                      <a:srgbClr val="F2F2F2"/>
                    </a:solidFill>
                  </a:tcPr>
                </a:tc>
              </a:tr>
            </a:tbl>
          </a:graphicData>
        </a:graphic>
      </p:graphicFrame>
      <p:sp>
        <p:nvSpPr>
          <p:cNvPr id="26" name="TextBox 25"/>
          <p:cNvSpPr txBox="1"/>
          <p:nvPr/>
        </p:nvSpPr>
        <p:spPr>
          <a:xfrm>
            <a:off x="274320" y="6355080"/>
            <a:ext cx="11640312" cy="274320"/>
          </a:xfrm>
          <a:prstGeom prst="rect">
            <a:avLst/>
          </a:prstGeom>
          <a:noFill/>
        </p:spPr>
        <p:txBody>
          <a:bodyPr wrap="square">
            <a:spAutoFit/>
          </a:bodyPr>
          <a:lstStyle/>
          <a:p>
            <a:pPr algn="ctr"/>
            <a:r>
              <a:rPr sz="900" b="0" i="1">
                <a:solidFill>
                  <a:srgbClr val="BFBFBF"/>
                </a:solidFill>
                <a:latin typeface="Arial"/>
              </a:rPr>
              <a:t>Times Wave to Wonderland, Huancui District, Weihai, Shandong (CST, UTC+8). Schedule confirmed from World Triathlon race-info page / athlete guide; subject to organiser updates.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060"/>
                </a:solidFill>
                <a:latin typeface="Arial"/>
              </a:rPr>
              <a:t>WEIHAI</a:t>
            </a:r>
          </a:p>
        </p:txBody>
      </p:sp>
      <p:sp>
        <p:nvSpPr>
          <p:cNvPr id="9" name="TextBox 8"/>
          <p:cNvSpPr txBox="1"/>
          <p:nvPr/>
        </p:nvSpPr>
        <p:spPr>
          <a:xfrm>
            <a:off x="274320" y="1627632"/>
            <a:ext cx="6035040" cy="1234440"/>
          </a:xfrm>
          <a:prstGeom prst="rect">
            <a:avLst/>
          </a:prstGeom>
          <a:noFill/>
        </p:spPr>
        <p:txBody>
          <a:bodyPr wrap="square">
            <a:spAutoFit/>
          </a:bodyPr>
          <a:lstStyle/>
          <a:p>
            <a:pPr algn="l"/>
            <a:r>
              <a:rPr sz="1100" b="0" i="0">
                <a:solidFill>
                  <a:srgbClr val="262626"/>
                </a:solidFill>
                <a:latin typeface="Arial"/>
              </a:rPr>
              <a:t>WTCS Weihai returns to the Wave to Wonderland venue on China's Shandong peninsula for the 2026 Championship Series. Weihai is one of the most established venues on the calendar, hosting elite racing since 2011 and stepping up from World Cup to WTCS in 2024. The format is standard distance: a 2-lap 1.5 km sea swim, a lap-heavy 8 × 5 km bike, and a flat 4 × 2.5 km seafront run. Two things separate this edition from recent history. First, the date moves to 29 August, roughly four weeks earlier than the 2024 and 2025 editions, which points at 2023-style heat rather than the milder late-September conditions of the last two years. Second, and more important tactically, the men start at 09:00 and the women at 12:00, into peak midday sun. WT's recorded race-day temperature has come in about 4 °C higher for the women in every measured edition, and since ambient air only warms ~1 °C across those three hours here, that gap is essentially solar load on an unshaded seafront course.</a:t>
            </a:r>
          </a:p>
        </p:txBody>
      </p:sp>
      <p:sp>
        <p:nvSpPr>
          <p:cNvPr id="10" name="Rectangle 9"/>
          <p:cNvSpPr/>
          <p:nvPr/>
        </p:nvSpPr>
        <p:spPr>
          <a:xfrm>
            <a:off x="274320" y="2971800"/>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990088"/>
            <a:ext cx="5669280" cy="274320"/>
          </a:xfrm>
          <a:prstGeom prst="rect">
            <a:avLst/>
          </a:prstGeom>
          <a:noFill/>
        </p:spPr>
        <p:txBody>
          <a:bodyPr wrap="square">
            <a:spAutoFit/>
          </a:bodyPr>
          <a:lstStyle/>
          <a:p>
            <a:pPr algn="l"/>
            <a:r>
              <a:rPr sz="1200" b="1" i="0">
                <a:solidFill>
                  <a:srgbClr val="FFFFFF"/>
                </a:solidFill>
                <a:latin typeface="Arial"/>
              </a:rPr>
              <a:t>COURSE FEATURES</a:t>
            </a:r>
          </a:p>
        </p:txBody>
      </p:sp>
      <p:sp>
        <p:nvSpPr>
          <p:cNvPr id="12" name="TextBox 11"/>
          <p:cNvSpPr txBox="1"/>
          <p:nvPr/>
        </p:nvSpPr>
        <p:spPr>
          <a:xfrm>
            <a:off x="365760" y="3383280"/>
            <a:ext cx="5852160" cy="640080"/>
          </a:xfrm>
          <a:prstGeom prst="rect">
            <a:avLst/>
          </a:prstGeom>
          <a:noFill/>
        </p:spPr>
        <p:txBody>
          <a:bodyPr wrap="square">
            <a:spAutoFit/>
          </a:bodyPr>
          <a:lstStyle/>
          <a:p>
            <a:pPr algn="l"/>
            <a:r>
              <a:rPr sz="1100" b="0" i="0">
                <a:solidFill>
                  <a:srgbClr val="262626"/>
                </a:solidFill>
                <a:latin typeface="Arial"/>
              </a:rPr>
              <a:t>•  STANDARD distance (1.5 km / 40 km / 10 km) at WTCS tier — 1000 points to the winner.</a:t>
            </a:r>
          </a:p>
        </p:txBody>
      </p:sp>
      <p:sp>
        <p:nvSpPr>
          <p:cNvPr id="13" name="TextBox 12"/>
          <p:cNvSpPr txBox="1"/>
          <p:nvPr/>
        </p:nvSpPr>
        <p:spPr>
          <a:xfrm>
            <a:off x="365760" y="4041648"/>
            <a:ext cx="5852160" cy="640080"/>
          </a:xfrm>
          <a:prstGeom prst="rect">
            <a:avLst/>
          </a:prstGeom>
          <a:noFill/>
        </p:spPr>
        <p:txBody>
          <a:bodyPr wrap="square">
            <a:spAutoFit/>
          </a:bodyPr>
          <a:lstStyle/>
          <a:p>
            <a:pPr algn="l"/>
            <a:r>
              <a:rPr sz="1100" b="0" i="0">
                <a:solidFill>
                  <a:srgbClr val="262626"/>
                </a:solidFill>
                <a:latin typeface="Arial"/>
              </a:rPr>
              <a:t>•  Non-wetsuit is effectively certain: water has measured 24-26 °C and been ruled wetsuit-forbidden in all four recorded editions.</a:t>
            </a:r>
          </a:p>
        </p:txBody>
      </p:sp>
      <p:sp>
        <p:nvSpPr>
          <p:cNvPr id="14" name="TextBox 13"/>
          <p:cNvSpPr txBox="1"/>
          <p:nvPr/>
        </p:nvSpPr>
        <p:spPr>
          <a:xfrm>
            <a:off x="365760" y="4700016"/>
            <a:ext cx="5852160" cy="640080"/>
          </a:xfrm>
          <a:prstGeom prst="rect">
            <a:avLst/>
          </a:prstGeom>
          <a:noFill/>
        </p:spPr>
        <p:txBody>
          <a:bodyPr wrap="square">
            <a:spAutoFit/>
          </a:bodyPr>
          <a:lstStyle/>
          <a:p>
            <a:pPr algn="l"/>
            <a:r>
              <a:rPr sz="1100" b="0" i="0">
                <a:solidFill>
                  <a:srgbClr val="262626"/>
                </a:solidFill>
                <a:latin typeface="Arial"/>
              </a:rPr>
              <a:t>•  8 × 5 km bike with a turnaround every lap — the most lap-dense, surge-heavy bike course on the preview set.</a:t>
            </a:r>
          </a:p>
        </p:txBody>
      </p:sp>
      <p:sp>
        <p:nvSpPr>
          <p:cNvPr id="15" name="TextBox 14"/>
          <p:cNvSpPr txBox="1"/>
          <p:nvPr/>
        </p:nvSpPr>
        <p:spPr>
          <a:xfrm>
            <a:off x="365760" y="5358384"/>
            <a:ext cx="5852160" cy="640080"/>
          </a:xfrm>
          <a:prstGeom prst="rect">
            <a:avLst/>
          </a:prstGeom>
          <a:noFill/>
        </p:spPr>
        <p:txBody>
          <a:bodyPr wrap="square">
            <a:spAutoFit/>
          </a:bodyPr>
          <a:lstStyle/>
          <a:p>
            <a:pPr algn="l"/>
            <a:r>
              <a:rPr sz="1100" b="0" i="0">
                <a:solidFill>
                  <a:srgbClr val="262626"/>
                </a:solidFill>
                <a:latin typeface="Arial"/>
              </a:rPr>
              <a:t>•  Heat is asymmetric: men 09:00, women 12:00 into peak sun. Recorded race temps run ~4 °C higher for the women.</a:t>
            </a:r>
          </a:p>
        </p:txBody>
      </p:sp>
      <p:sp>
        <p:nvSpPr>
          <p:cNvPr id="16" name="Rectangle 15"/>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8" name="TextBox 17"/>
          <p:cNvSpPr txBox="1"/>
          <p:nvPr/>
        </p:nvSpPr>
        <p:spPr>
          <a:xfrm>
            <a:off x="6675120" y="1508760"/>
            <a:ext cx="1828800" cy="320040"/>
          </a:xfrm>
          <a:prstGeom prst="rect">
            <a:avLst/>
          </a:prstGeom>
          <a:noFill/>
        </p:spPr>
        <p:txBody>
          <a:bodyPr wrap="square">
            <a:spAutoFit/>
          </a:bodyPr>
          <a:lstStyle/>
          <a:p>
            <a:pPr algn="l"/>
            <a:r>
              <a:rPr sz="1200" b="1" i="0">
                <a:solidFill>
                  <a:srgbClr val="002060"/>
                </a:solidFill>
                <a:latin typeface="Arial"/>
              </a:rPr>
              <a:t>Swim:</a:t>
            </a:r>
          </a:p>
        </p:txBody>
      </p:sp>
      <p:sp>
        <p:nvSpPr>
          <p:cNvPr id="19" name="TextBox 18"/>
          <p:cNvSpPr txBox="1"/>
          <p:nvPr/>
        </p:nvSpPr>
        <p:spPr>
          <a:xfrm>
            <a:off x="8229600" y="1508760"/>
            <a:ext cx="3657600" cy="320040"/>
          </a:xfrm>
          <a:prstGeom prst="rect">
            <a:avLst/>
          </a:prstGeom>
          <a:noFill/>
        </p:spPr>
        <p:txBody>
          <a:bodyPr wrap="square">
            <a:spAutoFit/>
          </a:bodyPr>
          <a:lstStyle/>
          <a:p>
            <a:pPr algn="l"/>
            <a:r>
              <a:rPr sz="1200" b="0" i="0">
                <a:solidFill>
                  <a:srgbClr val="262626"/>
                </a:solidFill>
                <a:latin typeface="Arial"/>
              </a:rPr>
              <a:t>1.5 km – 2 laps × 750 m</a:t>
            </a:r>
          </a:p>
        </p:txBody>
      </p:sp>
      <p:sp>
        <p:nvSpPr>
          <p:cNvPr id="20" name="TextBox 19"/>
          <p:cNvSpPr txBox="1"/>
          <p:nvPr/>
        </p:nvSpPr>
        <p:spPr>
          <a:xfrm>
            <a:off x="6675120" y="184708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1" name="TextBox 20"/>
          <p:cNvSpPr txBox="1"/>
          <p:nvPr/>
        </p:nvSpPr>
        <p:spPr>
          <a:xfrm>
            <a:off x="8229600" y="1847088"/>
            <a:ext cx="3657600" cy="320040"/>
          </a:xfrm>
          <a:prstGeom prst="rect">
            <a:avLst/>
          </a:prstGeom>
          <a:noFill/>
        </p:spPr>
        <p:txBody>
          <a:bodyPr wrap="square">
            <a:spAutoFit/>
          </a:bodyPr>
          <a:lstStyle/>
          <a:p>
            <a:pPr algn="l"/>
            <a:r>
              <a:rPr sz="1200" b="0" i="0">
                <a:solidFill>
                  <a:srgbClr val="262626"/>
                </a:solidFill>
                <a:latin typeface="Arial"/>
              </a:rPr>
              <a:t>40 km – 8 laps × 5 km</a:t>
            </a:r>
          </a:p>
        </p:txBody>
      </p:sp>
      <p:sp>
        <p:nvSpPr>
          <p:cNvPr id="22" name="TextBox 21"/>
          <p:cNvSpPr txBox="1"/>
          <p:nvPr/>
        </p:nvSpPr>
        <p:spPr>
          <a:xfrm>
            <a:off x="6675120" y="2185415"/>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3" name="TextBox 22"/>
          <p:cNvSpPr txBox="1"/>
          <p:nvPr/>
        </p:nvSpPr>
        <p:spPr>
          <a:xfrm>
            <a:off x="8229600" y="2185415"/>
            <a:ext cx="3657600" cy="320040"/>
          </a:xfrm>
          <a:prstGeom prst="rect">
            <a:avLst/>
          </a:prstGeom>
          <a:noFill/>
        </p:spPr>
        <p:txBody>
          <a:bodyPr wrap="square">
            <a:spAutoFit/>
          </a:bodyPr>
          <a:lstStyle/>
          <a:p>
            <a:pPr algn="l"/>
            <a:r>
              <a:rPr sz="1200" b="0" i="0">
                <a:solidFill>
                  <a:srgbClr val="262626"/>
                </a:solidFill>
                <a:latin typeface="Arial"/>
              </a:rPr>
              <a:t>10 km – 4 laps × 2.5 km</a:t>
            </a:r>
          </a:p>
        </p:txBody>
      </p:sp>
      <p:sp>
        <p:nvSpPr>
          <p:cNvPr id="24" name="TextBox 23"/>
          <p:cNvSpPr txBox="1"/>
          <p:nvPr/>
        </p:nvSpPr>
        <p:spPr>
          <a:xfrm>
            <a:off x="6675120" y="2523744"/>
            <a:ext cx="1828800" cy="320040"/>
          </a:xfrm>
          <a:prstGeom prst="rect">
            <a:avLst/>
          </a:prstGeom>
          <a:noFill/>
        </p:spPr>
        <p:txBody>
          <a:bodyPr wrap="square">
            <a:spAutoFit/>
          </a:bodyPr>
          <a:lstStyle/>
          <a:p>
            <a:pPr algn="l"/>
            <a:r>
              <a:rPr sz="1200" b="1" i="0">
                <a:solidFill>
                  <a:srgbClr val="002060"/>
                </a:solidFill>
                <a:latin typeface="Arial"/>
              </a:rPr>
              <a:t>Format:</a:t>
            </a:r>
          </a:p>
        </p:txBody>
      </p:sp>
      <p:sp>
        <p:nvSpPr>
          <p:cNvPr id="25" name="TextBox 24"/>
          <p:cNvSpPr txBox="1"/>
          <p:nvPr/>
        </p:nvSpPr>
        <p:spPr>
          <a:xfrm>
            <a:off x="8229600" y="2523744"/>
            <a:ext cx="3657600" cy="320040"/>
          </a:xfrm>
          <a:prstGeom prst="rect">
            <a:avLst/>
          </a:prstGeom>
          <a:noFill/>
        </p:spPr>
        <p:txBody>
          <a:bodyPr wrap="square">
            <a:spAutoFit/>
          </a:bodyPr>
          <a:lstStyle/>
          <a:p>
            <a:pPr algn="l"/>
            <a:r>
              <a:rPr sz="1200" b="0" i="0">
                <a:solidFill>
                  <a:srgbClr val="262626"/>
                </a:solidFill>
                <a:latin typeface="Arial"/>
              </a:rPr>
              <a:t>Standard Distance (WTCS)</a:t>
            </a:r>
          </a:p>
        </p:txBody>
      </p:sp>
      <p:sp>
        <p:nvSpPr>
          <p:cNvPr id="26" name="TextBox 25"/>
          <p:cNvSpPr txBox="1"/>
          <p:nvPr/>
        </p:nvSpPr>
        <p:spPr>
          <a:xfrm>
            <a:off x="6675120" y="2862072"/>
            <a:ext cx="1828800" cy="320040"/>
          </a:xfrm>
          <a:prstGeom prst="rect">
            <a:avLst/>
          </a:prstGeom>
          <a:noFill/>
        </p:spPr>
        <p:txBody>
          <a:bodyPr wrap="square">
            <a:spAutoFit/>
          </a:bodyPr>
          <a:lstStyle/>
          <a:p>
            <a:pPr algn="l"/>
            <a:r>
              <a:rPr sz="1200" b="1" i="0">
                <a:solidFill>
                  <a:srgbClr val="002060"/>
                </a:solidFill>
                <a:latin typeface="Arial"/>
              </a:rPr>
              <a:t>Bike Laps:</a:t>
            </a:r>
          </a:p>
        </p:txBody>
      </p:sp>
      <p:sp>
        <p:nvSpPr>
          <p:cNvPr id="27" name="TextBox 26"/>
          <p:cNvSpPr txBox="1"/>
          <p:nvPr/>
        </p:nvSpPr>
        <p:spPr>
          <a:xfrm>
            <a:off x="8229600" y="2862072"/>
            <a:ext cx="3657600" cy="320040"/>
          </a:xfrm>
          <a:prstGeom prst="rect">
            <a:avLst/>
          </a:prstGeom>
          <a:noFill/>
        </p:spPr>
        <p:txBody>
          <a:bodyPr wrap="square">
            <a:spAutoFit/>
          </a:bodyPr>
          <a:lstStyle/>
          <a:p>
            <a:pPr algn="l"/>
            <a:r>
              <a:rPr sz="1200" b="0" i="0">
                <a:solidFill>
                  <a:srgbClr val="262626"/>
                </a:solidFill>
                <a:latin typeface="Arial"/>
              </a:rPr>
              <a:t>8</a:t>
            </a:r>
          </a:p>
        </p:txBody>
      </p:sp>
      <p:sp>
        <p:nvSpPr>
          <p:cNvPr id="28" name="TextBox 27"/>
          <p:cNvSpPr txBox="1"/>
          <p:nvPr/>
        </p:nvSpPr>
        <p:spPr>
          <a:xfrm>
            <a:off x="6675120" y="3200400"/>
            <a:ext cx="1828800" cy="320040"/>
          </a:xfrm>
          <a:prstGeom prst="rect">
            <a:avLst/>
          </a:prstGeom>
          <a:noFill/>
        </p:spPr>
        <p:txBody>
          <a:bodyPr wrap="square">
            <a:spAutoFit/>
          </a:bodyPr>
          <a:lstStyle/>
          <a:p>
            <a:pPr algn="l"/>
            <a:r>
              <a:rPr sz="1200" b="1" i="0">
                <a:solidFill>
                  <a:srgbClr val="002060"/>
                </a:solidFill>
                <a:latin typeface="Arial"/>
              </a:rPr>
              <a:t>Run Laps:</a:t>
            </a:r>
          </a:p>
        </p:txBody>
      </p:sp>
      <p:sp>
        <p:nvSpPr>
          <p:cNvPr id="29" name="TextBox 28"/>
          <p:cNvSpPr txBox="1"/>
          <p:nvPr/>
        </p:nvSpPr>
        <p:spPr>
          <a:xfrm>
            <a:off x="8229600" y="3200400"/>
            <a:ext cx="3657600" cy="320040"/>
          </a:xfrm>
          <a:prstGeom prst="rect">
            <a:avLst/>
          </a:prstGeom>
          <a:noFill/>
        </p:spPr>
        <p:txBody>
          <a:bodyPr wrap="square">
            <a:spAutoFit/>
          </a:bodyPr>
          <a:lstStyle/>
          <a:p>
            <a:pPr algn="l"/>
            <a:r>
              <a:rPr sz="1200" b="0" i="0">
                <a:solidFill>
                  <a:srgbClr val="262626"/>
                </a:solidFill>
                <a:latin typeface="Arial"/>
              </a:rPr>
              <a:t>4</a:t>
            </a:r>
          </a:p>
        </p:txBody>
      </p:sp>
      <p:sp>
        <p:nvSpPr>
          <p:cNvPr id="30" name="Rectangle 29"/>
          <p:cNvSpPr/>
          <p:nvPr/>
        </p:nvSpPr>
        <p:spPr>
          <a:xfrm>
            <a:off x="6583680" y="365760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9400" y="3675887"/>
            <a:ext cx="4937760" cy="274320"/>
          </a:xfrm>
          <a:prstGeom prst="rect">
            <a:avLst/>
          </a:prstGeom>
          <a:noFill/>
        </p:spPr>
        <p:txBody>
          <a:bodyPr wrap="square">
            <a:spAutoFit/>
          </a:bodyPr>
          <a:lstStyle/>
          <a:p>
            <a:pPr algn="l"/>
            <a:r>
              <a:rPr sz="1200" b="1" i="0">
                <a:solidFill>
                  <a:srgbClr val="FFFFFF"/>
                </a:solidFill>
                <a:latin typeface="Arial"/>
              </a:rPr>
              <a:t>QUICK LINKS</a:t>
            </a:r>
          </a:p>
        </p:txBody>
      </p:sp>
      <p:sp>
        <p:nvSpPr>
          <p:cNvPr id="32" name="TextBox 31"/>
          <p:cNvSpPr txBox="1"/>
          <p:nvPr/>
        </p:nvSpPr>
        <p:spPr>
          <a:xfrm>
            <a:off x="6675120" y="4069080"/>
            <a:ext cx="5120640" cy="274320"/>
          </a:xfrm>
          <a:prstGeom prst="rect">
            <a:avLst/>
          </a:prstGeom>
          <a:noFill/>
        </p:spPr>
        <p:txBody>
          <a:bodyPr wrap="square">
            <a:spAutoFit/>
          </a:bodyPr>
          <a:lstStyle/>
          <a:p>
            <a:pPr algn="l"/>
            <a:r>
              <a:rPr sz="1100" b="1" i="0">
                <a:solidFill>
                  <a:srgbClr val="002060"/>
                </a:solidFill>
                <a:latin typeface="Arial"/>
              </a:rPr>
              <a:t>Current Race Info:</a:t>
            </a:r>
          </a:p>
        </p:txBody>
      </p:sp>
      <p:sp>
        <p:nvSpPr>
          <p:cNvPr id="33" name="TextBox 32"/>
          <p:cNvSpPr txBox="1"/>
          <p:nvPr/>
        </p:nvSpPr>
        <p:spPr>
          <a:xfrm>
            <a:off x="6675120" y="4370832"/>
            <a:ext cx="5120640" cy="384048"/>
          </a:xfrm>
          <a:prstGeom prst="rect">
            <a:avLst/>
          </a:prstGeom>
          <a:noFill/>
        </p:spPr>
        <p:txBody>
          <a:bodyPr wrap="square">
            <a:spAutoFit/>
          </a:bodyPr>
          <a:lstStyle/>
          <a:p>
            <a:pPr algn="l"/>
            <a:r>
              <a:rPr sz="1000" b="0" i="1">
                <a:solidFill>
                  <a:srgbClr val="262626"/>
                </a:solidFill>
                <a:latin typeface="Arial"/>
              </a:rPr>
              <a:t>Race Info | 2026 WTCS Weihai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Course Profile &amp; Map</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148840"/>
            <a:ext cx="5303520" cy="914400"/>
          </a:xfrm>
          <a:prstGeom prst="rect">
            <a:avLst/>
          </a:prstGeom>
          <a:noFill/>
        </p:spPr>
        <p:txBody>
          <a:bodyPr wrap="square">
            <a:spAutoFit/>
          </a:bodyPr>
          <a:lstStyle/>
          <a:p>
            <a:pPr algn="ctr"/>
            <a:r>
              <a:rPr sz="1000" b="0" i="1">
                <a:solidFill>
                  <a:srgbClr val="BFBFBF"/>
                </a:solidFill>
                <a:latin typeface="Arial"/>
              </a:rPr>
              <a:t>[PLACEHOLDER: Insert upcoming course map or race photo here]
Right-click → Replace Image, or paste screenshot
of the World Triathlon course map PDF.</a:t>
            </a:r>
          </a:p>
        </p:txBody>
      </p:sp>
      <p:sp>
        <p:nvSpPr>
          <p:cNvPr id="10" name="TextBox 9"/>
          <p:cNvSpPr txBox="1"/>
          <p:nvPr/>
        </p:nvSpPr>
        <p:spPr>
          <a:xfrm>
            <a:off x="274320" y="4507992"/>
            <a:ext cx="5669280" cy="274320"/>
          </a:xfrm>
          <a:prstGeom prst="rect">
            <a:avLst/>
          </a:prstGeom>
          <a:noFill/>
        </p:spPr>
        <p:txBody>
          <a:bodyPr wrap="square">
            <a:spAutoFit/>
          </a:bodyPr>
          <a:lstStyle/>
          <a:p>
            <a:pPr algn="ctr"/>
            <a:r>
              <a:rPr sz="1200" b="1" i="0">
                <a:solidFill>
                  <a:srgbClr val="002060"/>
                </a:solidFill>
                <a:latin typeface="Arial"/>
              </a:rPr>
              <a:t>2026 Course</a:t>
            </a:r>
          </a:p>
        </p:txBody>
      </p:sp>
      <p:sp>
        <p:nvSpPr>
          <p:cNvPr id="11" name="TextBox 10"/>
          <p:cNvSpPr txBox="1"/>
          <p:nvPr/>
        </p:nvSpPr>
        <p:spPr>
          <a:xfrm>
            <a:off x="274320" y="4773168"/>
            <a:ext cx="5669280" cy="246888"/>
          </a:xfrm>
          <a:prstGeom prst="rect">
            <a:avLst/>
          </a:prstGeom>
          <a:noFill/>
        </p:spPr>
        <p:txBody>
          <a:bodyPr wrap="square">
            <a:spAutoFit/>
          </a:bodyPr>
          <a:lstStyle/>
          <a:p>
            <a:pPr algn="ctr"/>
            <a:r>
              <a:rPr sz="900" b="0" i="1">
                <a:solidFill>
                  <a:srgbClr val="BFBFBF"/>
                </a:solidFill>
                <a:latin typeface="Arial"/>
              </a:rPr>
              <a:t>Source: https://www.triathlon.org/events/event/2026_world_triathlon_championship_series_weihai</a:t>
            </a:r>
          </a:p>
        </p:txBody>
      </p:sp>
      <p:sp>
        <p:nvSpPr>
          <p:cNvPr id="12" name="Rectangle 11"/>
          <p:cNvSpPr/>
          <p:nvPr/>
        </p:nvSpPr>
        <p:spPr>
          <a:xfrm>
            <a:off x="626364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148840"/>
            <a:ext cx="5303520" cy="914400"/>
          </a:xfrm>
          <a:prstGeom prst="rect">
            <a:avLst/>
          </a:prstGeom>
          <a:noFill/>
        </p:spPr>
        <p:txBody>
          <a:bodyPr wrap="square">
            <a:spAutoFit/>
          </a:bodyPr>
          <a:lstStyle/>
          <a:p>
            <a:pPr algn="ctr"/>
            <a:r>
              <a:rPr sz="1000" b="0" i="1">
                <a:solidFill>
                  <a:srgbClr val="BFBFBF"/>
                </a:solidFill>
                <a:latin typeface="Arial"/>
              </a:rPr>
              <a:t>[PLACEHOLDER: Insert previous year course map or race photo here]
Right-click → Replace Image, or paste screenshot
of the World Triathlon course map PDF.</a:t>
            </a:r>
          </a:p>
        </p:txBody>
      </p:sp>
      <p:sp>
        <p:nvSpPr>
          <p:cNvPr id="14" name="TextBox 13"/>
          <p:cNvSpPr txBox="1"/>
          <p:nvPr/>
        </p:nvSpPr>
        <p:spPr>
          <a:xfrm>
            <a:off x="6263640" y="4507992"/>
            <a:ext cx="5669280" cy="274320"/>
          </a:xfrm>
          <a:prstGeom prst="rect">
            <a:avLst/>
          </a:prstGeom>
          <a:noFill/>
        </p:spPr>
        <p:txBody>
          <a:bodyPr wrap="square">
            <a:spAutoFit/>
          </a:bodyPr>
          <a:lstStyle/>
          <a:p>
            <a:pPr algn="ctr"/>
            <a:r>
              <a:rPr sz="1200" b="1" i="0">
                <a:solidFill>
                  <a:srgbClr val="002060"/>
                </a:solidFill>
                <a:latin typeface="Arial"/>
              </a:rPr>
              <a:t>2025 Course</a:t>
            </a:r>
          </a:p>
        </p:txBody>
      </p:sp>
      <p:sp>
        <p:nvSpPr>
          <p:cNvPr id="15" name="TextBox 14"/>
          <p:cNvSpPr txBox="1"/>
          <p:nvPr/>
        </p:nvSpPr>
        <p:spPr>
          <a:xfrm>
            <a:off x="6263640" y="4773168"/>
            <a:ext cx="5669280" cy="246888"/>
          </a:xfrm>
          <a:prstGeom prst="rect">
            <a:avLst/>
          </a:prstGeom>
          <a:noFill/>
        </p:spPr>
        <p:txBody>
          <a:bodyPr wrap="square">
            <a:spAutoFit/>
          </a:bodyPr>
          <a:lstStyle/>
          <a:p>
            <a:pPr algn="ctr"/>
            <a:r>
              <a:rPr sz="900" b="0" i="1">
                <a:solidFill>
                  <a:srgbClr val="BFBFBF"/>
                </a:solidFill>
                <a:latin typeface="Arial"/>
              </a:rPr>
              <a:t>Source: https://www.triathlon.org/events/event/2026_world_triathlon_championship_series_weihai</a:t>
            </a:r>
          </a:p>
        </p:txBody>
      </p:sp>
      <p:graphicFrame>
        <p:nvGraphicFramePr>
          <p:cNvPr id="16" name="Table 15"/>
          <p:cNvGraphicFramePr>
            <a:graphicFrameLocks noGrp="1"/>
          </p:cNvGraphicFramePr>
          <p:nvPr/>
        </p:nvGraphicFramePr>
        <p:xfrm>
          <a:off x="274320" y="4956048"/>
          <a:ext cx="11640312" cy="1645920"/>
        </p:xfrm>
        <a:graphic>
          <a:graphicData uri="http://schemas.openxmlformats.org/drawingml/2006/table">
            <a:tbl>
              <a:tblPr firstRow="1" bandRow="1">
                <a:tableStyleId>{5C22544A-7EE6-4342-B048-85BDC9FD1C3A}</a:tableStyleId>
              </a:tblPr>
              <a:tblGrid>
                <a:gridCol w="1463040"/>
                <a:gridCol w="1554480"/>
                <a:gridCol w="914400"/>
                <a:gridCol w="7708392"/>
              </a:tblGrid>
              <a:tr h="411480">
                <a:tc>
                  <a:txBody>
                    <a:bodyPr wrap="none"/>
                    <a:lstStyle/>
                    <a:p>
                      <a:pPr algn="ctr"/>
                      <a:r>
                        <a:rPr sz="1100" b="1" i="0">
                          <a:solidFill>
                            <a:srgbClr val="FFFFFF"/>
                          </a:solidFill>
                          <a:latin typeface="Arial"/>
                        </a:rPr>
                        <a:t>Discipline</a:t>
                      </a:r>
                    </a:p>
                  </a:txBody>
                  <a:tcPr>
                    <a:solidFill>
                      <a:srgbClr val="002060"/>
                    </a:solidFill>
                  </a:tcPr>
                </a:tc>
                <a:tc>
                  <a:txBody>
                    <a:bodyPr wrap="none"/>
                    <a:lstStyle/>
                    <a:p>
                      <a:pPr algn="ctr"/>
                      <a:r>
                        <a:rPr sz="1100" b="1" i="0">
                          <a:solidFill>
                            <a:srgbClr val="FFFFFF"/>
                          </a:solidFill>
                          <a:latin typeface="Arial"/>
                        </a:rPr>
                        <a:t>Distance</a:t>
                      </a:r>
                    </a:p>
                  </a:txBody>
                  <a:tcPr>
                    <a:solidFill>
                      <a:srgbClr val="002060"/>
                    </a:solidFill>
                  </a:tcPr>
                </a:tc>
                <a:tc>
                  <a:txBody>
                    <a:bodyPr wrap="none"/>
                    <a:lstStyle/>
                    <a:p>
                      <a:pPr algn="ctr"/>
                      <a:r>
                        <a:rPr sz="1100" b="1" i="0">
                          <a:solidFill>
                            <a:srgbClr val="FFFFFF"/>
                          </a:solidFill>
                          <a:latin typeface="Arial"/>
                        </a:rPr>
                        <a:t>Laps</a:t>
                      </a:r>
                    </a:p>
                  </a:txBody>
                  <a:tcPr>
                    <a:solidFill>
                      <a:srgbClr val="002060"/>
                    </a:solidFill>
                  </a:tcPr>
                </a:tc>
                <a:tc>
                  <a:txBody>
                    <a:bodyPr wrap="none"/>
                    <a:lstStyle/>
                    <a:p>
                      <a:pPr algn="l"/>
                      <a:r>
                        <a:rPr sz="1100" b="1" i="0">
                          <a:solidFill>
                            <a:srgbClr val="FFFFFF"/>
                          </a:solidFill>
                          <a:latin typeface="Arial"/>
                        </a:rPr>
                        <a:t>Terrain / Notes</a:t>
                      </a:r>
                    </a:p>
                  </a:txBody>
                  <a:tcPr>
                    <a:solidFill>
                      <a:srgbClr val="002060"/>
                    </a:solidFill>
                  </a:tcPr>
                </a:tc>
              </a:tr>
              <a:tr h="411480">
                <a:tc>
                  <a:txBody>
                    <a:bodyPr wrap="none"/>
                    <a:lstStyle/>
                    <a:p>
                      <a:pPr algn="ctr"/>
                      <a:r>
                        <a:rPr sz="1000" b="0" i="0">
                          <a:solidFill>
                            <a:srgbClr val="262626"/>
                          </a:solidFill>
                          <a:latin typeface="Arial"/>
                        </a:rPr>
                        <a:t>Swim</a:t>
                      </a:r>
                    </a:p>
                  </a:txBody>
                  <a:tcPr>
                    <a:solidFill>
                      <a:srgbClr val="FFFFFF"/>
                    </a:solidFill>
                  </a:tcPr>
                </a:tc>
                <a:tc>
                  <a:txBody>
                    <a:bodyPr wrap="none"/>
                    <a:lstStyle/>
                    <a:p>
                      <a:pPr algn="ctr"/>
                      <a:r>
                        <a:rPr sz="1000" b="0" i="0">
                          <a:solidFill>
                            <a:srgbClr val="262626"/>
                          </a:solidFill>
                          <a:latin typeface="Arial"/>
                        </a:rPr>
                        <a:t>1.5 km</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l"/>
                      <a:r>
                        <a:rPr sz="1000" b="0" i="0">
                          <a:solidFill>
                            <a:srgbClr val="262626"/>
                          </a:solidFill>
                          <a:latin typeface="Arial"/>
                        </a:rPr>
                        <a:t>[PLACEHOLDER: e.g. Open-water, Bay of Weihai]</a:t>
                      </a:r>
                    </a:p>
                  </a:txBody>
                  <a:tcPr>
                    <a:solidFill>
                      <a:srgbClr val="FFFFFF"/>
                    </a:solidFill>
                  </a:tcPr>
                </a:tc>
              </a:tr>
              <a:tr h="411480">
                <a:tc>
                  <a:txBody>
                    <a:bodyPr wrap="none"/>
                    <a:lstStyle/>
                    <a:p>
                      <a:pPr algn="ctr"/>
                      <a:r>
                        <a:rPr sz="1000" b="0" i="0">
                          <a:solidFill>
                            <a:srgbClr val="262626"/>
                          </a:solidFill>
                          <a:latin typeface="Arial"/>
                        </a:rPr>
                        <a:t>Bike</a:t>
                      </a:r>
                    </a:p>
                  </a:txBody>
                  <a:tcPr>
                    <a:solidFill>
                      <a:srgbClr val="F2F2F2"/>
                    </a:solidFill>
                  </a:tcPr>
                </a:tc>
                <a:tc>
                  <a:txBody>
                    <a:bodyPr wrap="none"/>
                    <a:lstStyle/>
                    <a:p>
                      <a:pPr algn="ctr"/>
                      <a:r>
                        <a:rPr sz="1000" b="0" i="0">
                          <a:solidFill>
                            <a:srgbClr val="262626"/>
                          </a:solidFill>
                          <a:latin typeface="Arial"/>
                        </a:rPr>
                        <a:t>38.6 km</a:t>
                      </a:r>
                    </a:p>
                  </a:txBody>
                  <a:tcPr>
                    <a:solidFill>
                      <a:srgbClr val="F2F2F2"/>
                    </a:solidFill>
                  </a:tcPr>
                </a:tc>
                <a:tc>
                  <a:txBody>
                    <a:bodyPr wrap="none"/>
                    <a:lstStyle/>
                    <a:p>
                      <a:pPr algn="ctr"/>
                      <a:r>
                        <a:rPr sz="1000" b="0" i="0">
                          <a:solidFill>
                            <a:srgbClr val="262626"/>
                          </a:solidFill>
                          <a:latin typeface="Arial"/>
                        </a:rPr>
                        <a:t>8</a:t>
                      </a:r>
                    </a:p>
                  </a:txBody>
                  <a:tcPr>
                    <a:solidFill>
                      <a:srgbClr val="F2F2F2"/>
                    </a:solidFill>
                  </a:tcPr>
                </a:tc>
                <a:tc>
                  <a:txBody>
                    <a:bodyPr wrap="none"/>
                    <a:lstStyle/>
                    <a:p>
                      <a:pPr algn="l"/>
                      <a:r>
                        <a:rPr sz="1000" b="0" i="0">
                          <a:solidFill>
                            <a:srgbClr val="262626"/>
                          </a:solidFill>
                          <a:latin typeface="Arial"/>
                        </a:rPr>
                        <a:t>[PLACEHOLDER: e.g. Flat coastal road circuit, closed course]</a:t>
                      </a:r>
                    </a:p>
                  </a:txBody>
                  <a:tcPr>
                    <a:solidFill>
                      <a:srgbClr val="F2F2F2"/>
                    </a:solidFill>
                  </a:tcPr>
                </a:tc>
              </a:tr>
              <a:tr h="411480">
                <a:tc>
                  <a:txBody>
                    <a:bodyPr wrap="none"/>
                    <a:lstStyle/>
                    <a:p>
                      <a:pPr algn="ctr"/>
                      <a:r>
                        <a:rPr sz="1000" b="0" i="0">
                          <a:solidFill>
                            <a:srgbClr val="262626"/>
                          </a:solidFill>
                          <a:latin typeface="Arial"/>
                        </a:rPr>
                        <a:t>Run</a:t>
                      </a:r>
                    </a:p>
                  </a:txBody>
                  <a:tcPr>
                    <a:solidFill>
                      <a:srgbClr val="FFFFFF"/>
                    </a:solidFill>
                  </a:tcPr>
                </a:tc>
                <a:tc>
                  <a:txBody>
                    <a:bodyPr wrap="none"/>
                    <a:lstStyle/>
                    <a:p>
                      <a:pPr algn="ctr"/>
                      <a:r>
                        <a:rPr sz="1000" b="0" i="0">
                          <a:solidFill>
                            <a:srgbClr val="262626"/>
                          </a:solidFill>
                          <a:latin typeface="Arial"/>
                        </a:rPr>
                        <a:t>10.0 km</a:t>
                      </a:r>
                    </a:p>
                  </a:txBody>
                  <a:tcPr>
                    <a:solidFill>
                      <a:srgbClr val="FFFFFF"/>
                    </a:solidFill>
                  </a:tcPr>
                </a:tc>
                <a:tc>
                  <a:txBody>
                    <a:bodyPr wrap="none"/>
                    <a:lstStyle/>
                    <a:p>
                      <a:pPr algn="ctr"/>
                      <a:r>
                        <a:rPr sz="1000" b="0" i="0">
                          <a:solidFill>
                            <a:srgbClr val="262626"/>
                          </a:solidFill>
                          <a:latin typeface="Arial"/>
                        </a:rPr>
                        <a:t>4</a:t>
                      </a:r>
                    </a:p>
                  </a:txBody>
                  <a:tcPr>
                    <a:solidFill>
                      <a:srgbClr val="FFFFFF"/>
                    </a:solidFill>
                  </a:tcPr>
                </a:tc>
                <a:tc>
                  <a:txBody>
                    <a:bodyPr wrap="none"/>
                    <a:lstStyle/>
                    <a:p>
                      <a:pPr algn="l"/>
                      <a:r>
                        <a:rPr sz="1000" b="0" i="0">
                          <a:solidFill>
                            <a:srgbClr val="262626"/>
                          </a:solidFill>
                          <a:latin typeface="Arial"/>
                        </a:rPr>
                        <a:t>[PLACEHOLDER: e.g. Flat multi-lap, cobblestone city-centre finish]</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eihai_swim_course.png"/>
          <p:cNvPicPr>
            <a:picLocks noChangeAspect="1"/>
          </p:cNvPicPr>
          <p:nvPr/>
        </p:nvPicPr>
        <p:blipFill>
          <a:blip r:embed="rId3"/>
          <a:stretch>
            <a:fillRect/>
          </a:stretch>
        </p:blipFill>
        <p:spPr>
          <a:xfrm>
            <a:off x="274320" y="1143000"/>
            <a:ext cx="5120640" cy="3840480"/>
          </a:xfrm>
          <a:prstGeom prst="rect">
            <a:avLst/>
          </a:prstGeom>
        </p:spPr>
      </p:pic>
      <p:sp>
        <p:nvSpPr>
          <p:cNvPr id="9" name="TextBox 8"/>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WTCS Weihai Athletes' Guide (updated 22 July 2026)</a:t>
            </a: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1.5 km   •   2 × 750 m</a:t>
            </a:r>
          </a:p>
        </p:txBody>
      </p:sp>
      <p:sp>
        <p:nvSpPr>
          <p:cNvPr id="12" name="TextBox 11"/>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Open sea bay — salt water, seafront start</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5" name="TextBox 14"/>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1.5 km</a:t>
            </a: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Layout</a:t>
            </a:r>
          </a:p>
        </p:txBody>
      </p:sp>
      <p:sp>
        <p:nvSpPr>
          <p:cNvPr id="18" name="TextBox 17"/>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Yellow Sea</a:t>
            </a: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Start</a:t>
            </a:r>
          </a:p>
        </p:txBody>
      </p:sp>
      <p:sp>
        <p:nvSpPr>
          <p:cNvPr id="21" name="TextBox 20"/>
          <p:cNvSpPr txBox="1"/>
          <p:nvPr/>
        </p:nvSpPr>
        <p:spPr>
          <a:xfrm>
            <a:off x="9875520" y="2340864"/>
            <a:ext cx="1920240" cy="347472"/>
          </a:xfrm>
          <a:prstGeom prst="rect">
            <a:avLst/>
          </a:prstGeom>
          <a:noFill/>
        </p:spPr>
        <p:txBody>
          <a:bodyPr wrap="square">
            <a:spAutoFit/>
          </a:bodyPr>
          <a:lstStyle/>
          <a:p>
            <a:pPr algn="ctr"/>
            <a:r>
              <a:rPr sz="1400" b="1" i="0">
                <a:solidFill>
                  <a:srgbClr val="262626"/>
                </a:solidFill>
                <a:latin typeface="Arial"/>
              </a:rPr>
              <a:t>Waterfront start off the south shore of Wave to Wonderland</a:t>
            </a: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Water Temp</a:t>
            </a:r>
          </a:p>
        </p:txBody>
      </p:sp>
      <p:sp>
        <p:nvSpPr>
          <p:cNvPr id="24" name="TextBox 23"/>
          <p:cNvSpPr txBox="1"/>
          <p:nvPr/>
        </p:nvSpPr>
        <p:spPr>
          <a:xfrm>
            <a:off x="5669280" y="3054096"/>
            <a:ext cx="1920240" cy="347472"/>
          </a:xfrm>
          <a:prstGeom prst="rect">
            <a:avLst/>
          </a:prstGeom>
          <a:noFill/>
        </p:spPr>
        <p:txBody>
          <a:bodyPr wrap="square">
            <a:spAutoFit/>
          </a:bodyPr>
          <a:lstStyle/>
          <a:p>
            <a:pPr algn="ctr"/>
            <a:r>
              <a:rPr sz="1400" b="1" i="0">
                <a:solidFill>
                  <a:srgbClr val="262626"/>
                </a:solidFill>
                <a:latin typeface="Arial"/>
              </a:rPr>
              <a:t>27.8 °C (live)</a:t>
            </a: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Wetsuit</a:t>
            </a:r>
          </a:p>
        </p:txBody>
      </p:sp>
      <p:sp>
        <p:nvSpPr>
          <p:cNvPr id="27" name="TextBox 26"/>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Forbidden (&gt; 22 °C)</a:t>
            </a: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Lap Count</a:t>
            </a:r>
          </a:p>
        </p:txBody>
      </p:sp>
      <p:sp>
        <p:nvSpPr>
          <p:cNvPr id="30" name="TextBox 29"/>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2</a:t>
            </a:r>
          </a:p>
        </p:txBody>
      </p:sp>
      <p:sp>
        <p:nvSpPr>
          <p:cNvPr id="31" name="Rectangle 30"/>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3" name="TextBox 32"/>
          <p:cNvSpPr txBox="1"/>
          <p:nvPr/>
        </p:nvSpPr>
        <p:spPr>
          <a:xfrm>
            <a:off x="5669280" y="3977640"/>
            <a:ext cx="6126480" cy="310896"/>
          </a:xfrm>
          <a:prstGeom prst="rect">
            <a:avLst/>
          </a:prstGeom>
          <a:noFill/>
        </p:spPr>
        <p:txBody>
          <a:bodyPr wrap="square">
            <a:spAutoFit/>
          </a:bodyPr>
          <a:lstStyle/>
          <a:p>
            <a:pPr algn="l"/>
            <a:r>
              <a:rPr sz="1050" b="0" i="0">
                <a:solidFill>
                  <a:srgbClr val="262626"/>
                </a:solidFill>
                <a:latin typeface="Arial"/>
              </a:rPr>
              <a:t>•  Standard-distance swim: 2 × 750 m counter-clockwise laps in the Yellow Sea off Wave to Wonderland</a:t>
            </a:r>
          </a:p>
        </p:txBody>
      </p:sp>
      <p:sp>
        <p:nvSpPr>
          <p:cNvPr id="34" name="TextBox 33"/>
          <p:cNvSpPr txBox="1"/>
          <p:nvPr/>
        </p:nvSpPr>
        <p:spPr>
          <a:xfrm>
            <a:off x="5669280" y="4270248"/>
            <a:ext cx="6126480" cy="310896"/>
          </a:xfrm>
          <a:prstGeom prst="rect">
            <a:avLst/>
          </a:prstGeom>
          <a:noFill/>
        </p:spPr>
        <p:txBody>
          <a:bodyPr wrap="square">
            <a:spAutoFit/>
          </a:bodyPr>
          <a:lstStyle/>
          <a:p>
            <a:pPr algn="l"/>
            <a:r>
              <a:rPr sz="1050" b="0" i="0">
                <a:solidFill>
                  <a:srgbClr val="262626"/>
                </a:solidFill>
                <a:latin typeface="Arial"/>
              </a:rPr>
              <a:t>•  Salt water and open bay — sighting, swell and chop matter far more here than at the sheltered lagoon venues elsewhere on the calendar</a:t>
            </a:r>
          </a:p>
        </p:txBody>
      </p:sp>
      <p:sp>
        <p:nvSpPr>
          <p:cNvPr id="35" name="TextBox 34"/>
          <p:cNvSpPr txBox="1"/>
          <p:nvPr/>
        </p:nvSpPr>
        <p:spPr>
          <a:xfrm>
            <a:off x="5669280" y="4562856"/>
            <a:ext cx="6126480" cy="310896"/>
          </a:xfrm>
          <a:prstGeom prst="rect">
            <a:avLst/>
          </a:prstGeom>
          <a:noFill/>
        </p:spPr>
        <p:txBody>
          <a:bodyPr wrap="square">
            <a:spAutoFit/>
          </a:bodyPr>
          <a:lstStyle/>
          <a:p>
            <a:pPr algn="l"/>
            <a:r>
              <a:rPr sz="1050" b="0" i="0">
                <a:solidFill>
                  <a:srgbClr val="262626"/>
                </a:solidFill>
                <a:latin typeface="Arial"/>
              </a:rPr>
              <a:t>•  Water has run 24–26 °C in every measured edition, so this is a reliably warm, reliably non-wetsuit swim — overheating in the swim is a bigger risk than cold</a:t>
            </a:r>
          </a:p>
        </p:txBody>
      </p:sp>
      <p:sp>
        <p:nvSpPr>
          <p:cNvPr id="36" name="TextBox 35"/>
          <p:cNvSpPr txBox="1"/>
          <p:nvPr/>
        </p:nvSpPr>
        <p:spPr>
          <a:xfrm>
            <a:off x="5669280" y="4855464"/>
            <a:ext cx="6126480" cy="310896"/>
          </a:xfrm>
          <a:prstGeom prst="rect">
            <a:avLst/>
          </a:prstGeom>
          <a:noFill/>
        </p:spPr>
        <p:txBody>
          <a:bodyPr wrap="square">
            <a:spAutoFit/>
          </a:bodyPr>
          <a:lstStyle/>
          <a:p>
            <a:pPr algn="l"/>
            <a:r>
              <a:rPr sz="1050" b="0" i="0">
                <a:solidFill>
                  <a:srgbClr val="262626"/>
                </a:solidFill>
                <a:latin typeface="Arial"/>
              </a:rPr>
              <a:t>•  Water quality sampled 27 May 2026 at three points: pH 8.12–8.48, E. coli and enterococcus both undetected in all three samples</a:t>
            </a:r>
          </a:p>
        </p:txBody>
      </p:sp>
      <p:sp>
        <p:nvSpPr>
          <p:cNvPr id="37" name="TextBox 36"/>
          <p:cNvSpPr txBox="1"/>
          <p:nvPr/>
        </p:nvSpPr>
        <p:spPr>
          <a:xfrm>
            <a:off x="5669280" y="5148072"/>
            <a:ext cx="6126480" cy="310896"/>
          </a:xfrm>
          <a:prstGeom prst="rect">
            <a:avLst/>
          </a:prstGeom>
          <a:noFill/>
        </p:spPr>
        <p:txBody>
          <a:bodyPr wrap="square">
            <a:spAutoFit/>
          </a:bodyPr>
          <a:lstStyle/>
          <a:p>
            <a:pPr algn="l"/>
            <a:r>
              <a:rPr sz="1050" b="0" i="0">
                <a:solidFill>
                  <a:srgbClr val="262626"/>
                </a:solidFill>
                <a:latin typeface="Arial"/>
              </a:rPr>
              <a:t>•  Two laps means a turn/exit sequence mid-swim — position off the first lap decides which bike pack you land in</a:t>
            </a:r>
          </a:p>
        </p:txBody>
      </p:sp>
      <p:sp>
        <p:nvSpPr>
          <p:cNvPr id="38" name="TextBox 37"/>
          <p:cNvSpPr txBox="1"/>
          <p:nvPr/>
        </p:nvSpPr>
        <p:spPr>
          <a:xfrm>
            <a:off x="5669280" y="5440680"/>
            <a:ext cx="6126480" cy="310896"/>
          </a:xfrm>
          <a:prstGeom prst="rect">
            <a:avLst/>
          </a:prstGeom>
          <a:noFill/>
        </p:spPr>
        <p:txBody>
          <a:bodyPr wrap="square">
            <a:spAutoFit/>
          </a:bodyPr>
          <a:lstStyle/>
          <a:p>
            <a:pPr algn="l"/>
            <a:r>
              <a:rPr sz="1050" b="0" i="0">
                <a:solidFill>
                  <a:srgbClr val="262626"/>
                </a:solidFill>
                <a:latin typeface="Arial"/>
              </a:rPr>
              <a:t>•  Swim familiarization is Friday 28 Aug 10:00–11:00 only; swimming the race course at any other time is prohibited</a:t>
            </a:r>
          </a:p>
        </p:txBody>
      </p:sp>
      <p:sp>
        <p:nvSpPr>
          <p:cNvPr id="39" name="Rectangle 38"/>
          <p:cNvSpPr/>
          <p:nvPr/>
        </p:nvSpPr>
        <p:spPr>
          <a:xfrm>
            <a:off x="274320" y="6035040"/>
            <a:ext cx="11640312" cy="29260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080760"/>
            <a:ext cx="11430000" cy="228600"/>
          </a:xfrm>
          <a:prstGeom prst="rect">
            <a:avLst/>
          </a:prstGeom>
          <a:noFill/>
        </p:spPr>
        <p:txBody>
          <a:bodyPr wrap="square">
            <a:spAutoFit/>
          </a:bodyPr>
          <a:lstStyle/>
          <a:p>
            <a:pPr algn="l"/>
            <a:r>
              <a:rPr sz="950" b="0" i="1">
                <a:solidFill>
                  <a:srgbClr val="262626"/>
                </a:solidFill>
                <a:latin typeface="Arial"/>
              </a:rPr>
              <a:t>Not in race brief: Buoy count and exact turn configuration (not published in the guide)  •  Tide and current data for race morning (open-bay venue; not published)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eihai_swim_course.png"/>
          <p:cNvPicPr>
            <a:picLocks noChangeAspect="1"/>
          </p:cNvPicPr>
          <p:nvPr/>
        </p:nvPicPr>
        <p:blipFill>
          <a:blip r:embed="rId3"/>
          <a:stretch>
            <a:fillRect/>
          </a:stretch>
        </p:blipFill>
        <p:spPr>
          <a:xfrm>
            <a:off x="274320" y="1143000"/>
            <a:ext cx="5120640" cy="3291840"/>
          </a:xfrm>
          <a:prstGeom prst="rect">
            <a:avLst/>
          </a:prstGeom>
        </p:spPr>
      </p:pic>
      <p:sp>
        <p:nvSpPr>
          <p:cNvPr id="9" name="TextBox 8"/>
          <p:cNvSpPr txBox="1"/>
          <p:nvPr/>
        </p:nvSpPr>
        <p:spPr>
          <a:xfrm>
            <a:off x="274320" y="4480560"/>
            <a:ext cx="5120640" cy="228600"/>
          </a:xfrm>
          <a:prstGeom prst="rect">
            <a:avLst/>
          </a:prstGeom>
          <a:noFill/>
        </p:spPr>
        <p:txBody>
          <a:bodyPr wrap="square">
            <a:spAutoFit/>
          </a:bodyPr>
          <a:lstStyle/>
          <a:p>
            <a:pPr algn="ctr"/>
            <a:r>
              <a:rPr sz="900" b="0" i="1">
                <a:solidFill>
                  <a:srgbClr val="BFBFBF"/>
                </a:solidFill>
                <a:latin typeface="Arial"/>
              </a:rPr>
              <a:t>Source: 2026 WTCS Weihai Athletes' Guide (updated 22 July 2026) + WT race info</a:t>
            </a: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40 km   •   8 × 5 km loops</a:t>
            </a:r>
          </a:p>
        </p:txBody>
      </p:sp>
      <p:sp>
        <p:nvSpPr>
          <p:cNvPr id="12" name="TextBox 11"/>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Closed city roads — Haibin North Rd, Yuhua Rd turnaround, Dongshan Rd</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Elevation / Lap</a:t>
            </a:r>
          </a:p>
        </p:txBody>
      </p:sp>
      <p:sp>
        <p:nvSpPr>
          <p:cNvPr id="15" name="TextBox 14"/>
          <p:cNvSpPr txBox="1"/>
          <p:nvPr/>
        </p:nvSpPr>
        <p:spPr>
          <a:xfrm>
            <a:off x="5669280" y="2340864"/>
            <a:ext cx="1920240" cy="347472"/>
          </a:xfrm>
          <a:prstGeom prst="rect">
            <a:avLst/>
          </a:prstGeom>
          <a:noFill/>
        </p:spPr>
        <p:txBody>
          <a:bodyPr wrap="square">
            <a:spAutoFit/>
          </a:bodyPr>
          <a:lstStyle/>
          <a:p>
            <a:pPr algn="ctr"/>
            <a:r>
              <a:rPr sz="1500" b="1" i="0">
                <a:solidFill>
                  <a:srgbClr val="262626"/>
                </a:solidFill>
                <a:latin typeface="Arial"/>
              </a:rPr>
              <a:t>Flat (no data)</a:t>
            </a: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18" name="TextBox 17"/>
          <p:cNvSpPr txBox="1"/>
          <p:nvPr/>
        </p:nvSpPr>
        <p:spPr>
          <a:xfrm>
            <a:off x="7772400" y="2340864"/>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1" name="TextBox 20"/>
          <p:cNvSpPr txBox="1"/>
          <p:nvPr/>
        </p:nvSpPr>
        <p:spPr>
          <a:xfrm>
            <a:off x="9875520" y="2340864"/>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Max Climb Grade</a:t>
            </a:r>
          </a:p>
        </p:txBody>
      </p:sp>
      <p:sp>
        <p:nvSpPr>
          <p:cNvPr id="24" name="TextBox 23"/>
          <p:cNvSpPr txBox="1"/>
          <p:nvPr/>
        </p:nvSpPr>
        <p:spPr>
          <a:xfrm>
            <a:off x="5669280" y="3054096"/>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Wind</a:t>
            </a:r>
          </a:p>
        </p:txBody>
      </p:sp>
      <p:sp>
        <p:nvSpPr>
          <p:cNvPr id="27" name="TextBox 26"/>
          <p:cNvSpPr txBox="1"/>
          <p:nvPr/>
        </p:nvSpPr>
        <p:spPr>
          <a:xfrm>
            <a:off x="7772400" y="3054096"/>
            <a:ext cx="1920240" cy="347472"/>
          </a:xfrm>
          <a:prstGeom prst="rect">
            <a:avLst/>
          </a:prstGeom>
          <a:noFill/>
        </p:spPr>
        <p:txBody>
          <a:bodyPr wrap="square">
            <a:spAutoFit/>
          </a:bodyPr>
          <a:lstStyle/>
          <a:p>
            <a:pPr algn="ctr"/>
            <a:r>
              <a:rPr sz="1500" b="1" i="0">
                <a:solidFill>
                  <a:srgbClr val="262626"/>
                </a:solidFill>
                <a:latin typeface="Arial"/>
              </a:rPr>
              <a:t>Coastal — guide gives August max average 5 m/s (~18 km/h), prevailing SE</a:t>
            </a: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Loops</a:t>
            </a:r>
          </a:p>
        </p:txBody>
      </p:sp>
      <p:sp>
        <p:nvSpPr>
          <p:cNvPr id="30" name="TextBox 29"/>
          <p:cNvSpPr txBox="1"/>
          <p:nvPr/>
        </p:nvSpPr>
        <p:spPr>
          <a:xfrm>
            <a:off x="9875520" y="3054096"/>
            <a:ext cx="1920240" cy="347472"/>
          </a:xfrm>
          <a:prstGeom prst="rect">
            <a:avLst/>
          </a:prstGeom>
          <a:noFill/>
        </p:spPr>
        <p:txBody>
          <a:bodyPr wrap="square">
            <a:spAutoFit/>
          </a:bodyPr>
          <a:lstStyle/>
          <a:p>
            <a:pPr algn="ctr"/>
            <a:r>
              <a:rPr sz="1500" b="1" i="0">
                <a:solidFill>
                  <a:srgbClr val="262626"/>
                </a:solidFill>
                <a:latin typeface="Arial"/>
              </a:rPr>
              <a:t>8 × 5 km</a:t>
            </a:r>
          </a:p>
        </p:txBody>
      </p:sp>
      <p:sp>
        <p:nvSpPr>
          <p:cNvPr id="31" name="Rectangle 30"/>
          <p:cNvSpPr/>
          <p:nvPr/>
        </p:nvSpPr>
        <p:spPr>
          <a:xfrm>
            <a:off x="5577840" y="370332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0" y="3730752"/>
            <a:ext cx="6126480" cy="237744"/>
          </a:xfrm>
          <a:prstGeom prst="rect">
            <a:avLst/>
          </a:prstGeom>
          <a:noFill/>
        </p:spPr>
        <p:txBody>
          <a:bodyPr wrap="square">
            <a:spAutoFit/>
          </a:bodyPr>
          <a:lstStyle/>
          <a:p>
            <a:pPr algn="l"/>
            <a:r>
              <a:rPr sz="1200" b="1" i="0">
                <a:solidFill>
                  <a:srgbClr val="FFFFFF"/>
                </a:solidFill>
                <a:latin typeface="Arial"/>
              </a:rPr>
              <a:t>Tactical Implications</a:t>
            </a:r>
          </a:p>
        </p:txBody>
      </p:sp>
      <p:sp>
        <p:nvSpPr>
          <p:cNvPr id="33" name="TextBox 32"/>
          <p:cNvSpPr txBox="1"/>
          <p:nvPr/>
        </p:nvSpPr>
        <p:spPr>
          <a:xfrm>
            <a:off x="5669280" y="4069080"/>
            <a:ext cx="6126480" cy="310896"/>
          </a:xfrm>
          <a:prstGeom prst="rect">
            <a:avLst/>
          </a:prstGeom>
          <a:noFill/>
        </p:spPr>
        <p:txBody>
          <a:bodyPr wrap="square">
            <a:spAutoFit/>
          </a:bodyPr>
          <a:lstStyle/>
          <a:p>
            <a:pPr algn="l"/>
            <a:r>
              <a:rPr sz="1050" b="0" i="0">
                <a:solidFill>
                  <a:srgbClr val="262626"/>
                </a:solidFill>
                <a:latin typeface="Arial"/>
              </a:rPr>
              <a:t>•  8 × 5 km laps = 40 km, the highest lap count of any 2026 preview venue — a turnaround every lap means 16+ hard decelerations and re-accelerations</a:t>
            </a:r>
          </a:p>
        </p:txBody>
      </p:sp>
      <p:sp>
        <p:nvSpPr>
          <p:cNvPr id="34" name="TextBox 33"/>
          <p:cNvSpPr txBox="1"/>
          <p:nvPr/>
        </p:nvSpPr>
        <p:spPr>
          <a:xfrm>
            <a:off x="5669280" y="4361688"/>
            <a:ext cx="6126480" cy="310896"/>
          </a:xfrm>
          <a:prstGeom prst="rect">
            <a:avLst/>
          </a:prstGeom>
          <a:noFill/>
        </p:spPr>
        <p:txBody>
          <a:bodyPr wrap="square">
            <a:spAutoFit/>
          </a:bodyPr>
          <a:lstStyle/>
          <a:p>
            <a:pPr algn="l"/>
            <a:r>
              <a:rPr sz="1050" b="0" i="0">
                <a:solidFill>
                  <a:srgbClr val="262626"/>
                </a:solidFill>
                <a:latin typeface="Arial"/>
              </a:rPr>
              <a:t>•  Route: transition at the Wave to Wonderland running track, north on Haibin North Rd to the Yuhua Rd turnaround, left onto Dongshan Rd, back down Haibin North Rd</a:t>
            </a:r>
          </a:p>
        </p:txBody>
      </p:sp>
      <p:sp>
        <p:nvSpPr>
          <p:cNvPr id="35" name="TextBox 34"/>
          <p:cNvSpPr txBox="1"/>
          <p:nvPr/>
        </p:nvSpPr>
        <p:spPr>
          <a:xfrm>
            <a:off x="5669280" y="4654296"/>
            <a:ext cx="6126480" cy="310896"/>
          </a:xfrm>
          <a:prstGeom prst="rect">
            <a:avLst/>
          </a:prstGeom>
          <a:noFill/>
        </p:spPr>
        <p:txBody>
          <a:bodyPr wrap="square">
            <a:spAutoFit/>
          </a:bodyPr>
          <a:lstStyle/>
          <a:p>
            <a:pPr algn="l"/>
            <a:r>
              <a:rPr sz="1050" b="0" i="0">
                <a:solidFill>
                  <a:srgbClr val="262626"/>
                </a:solidFill>
                <a:latin typeface="Arial"/>
              </a:rPr>
              <a:t>•  Lap-heavy, turnaround-heavy design punishes riders who sit at the back of the pack — repeated surges out of each turn are where the accordion effect bites</a:t>
            </a:r>
          </a:p>
        </p:txBody>
      </p:sp>
      <p:sp>
        <p:nvSpPr>
          <p:cNvPr id="36" name="TextBox 35"/>
          <p:cNvSpPr txBox="1"/>
          <p:nvPr/>
        </p:nvSpPr>
        <p:spPr>
          <a:xfrm>
            <a:off x="5669280" y="4946904"/>
            <a:ext cx="6126480" cy="310896"/>
          </a:xfrm>
          <a:prstGeom prst="rect">
            <a:avLst/>
          </a:prstGeom>
          <a:noFill/>
        </p:spPr>
        <p:txBody>
          <a:bodyPr wrap="square">
            <a:spAutoFit/>
          </a:bodyPr>
          <a:lstStyle/>
          <a:p>
            <a:pPr algn="l"/>
            <a:r>
              <a:rPr sz="1050" b="0" i="0">
                <a:solidFill>
                  <a:srgbClr val="262626"/>
                </a:solidFill>
                <a:latin typeface="Arial"/>
              </a:rPr>
              <a:t>•  Two wheel stations: team wheels at the transition exit, neutral wheels at the bike turnaround. Neutral stock covers rim, 140 mm and 160 mm disc, 11- and 12-speed</a:t>
            </a:r>
          </a:p>
        </p:txBody>
      </p:sp>
      <p:sp>
        <p:nvSpPr>
          <p:cNvPr id="37" name="TextBox 36"/>
          <p:cNvSpPr txBox="1"/>
          <p:nvPr/>
        </p:nvSpPr>
        <p:spPr>
          <a:xfrm>
            <a:off x="5669280" y="5239512"/>
            <a:ext cx="6126480" cy="310896"/>
          </a:xfrm>
          <a:prstGeom prst="rect">
            <a:avLst/>
          </a:prstGeom>
          <a:noFill/>
        </p:spPr>
        <p:txBody>
          <a:bodyPr wrap="square">
            <a:spAutoFit/>
          </a:bodyPr>
          <a:lstStyle/>
          <a:p>
            <a:pPr algn="l"/>
            <a:r>
              <a:rPr sz="1050" b="0" i="0">
                <a:solidFill>
                  <a:srgbClr val="262626"/>
                </a:solidFill>
                <a:latin typeface="Arial"/>
              </a:rPr>
              <a:t>•  Spare wheels must be registered at Registration on race day and labelled with athlete name, race number and country</a:t>
            </a:r>
          </a:p>
        </p:txBody>
      </p:sp>
      <p:sp>
        <p:nvSpPr>
          <p:cNvPr id="38" name="TextBox 37"/>
          <p:cNvSpPr txBox="1"/>
          <p:nvPr/>
        </p:nvSpPr>
        <p:spPr>
          <a:xfrm>
            <a:off x="5669280" y="5532120"/>
            <a:ext cx="6126480" cy="310896"/>
          </a:xfrm>
          <a:prstGeom prst="rect">
            <a:avLst/>
          </a:prstGeom>
          <a:noFill/>
        </p:spPr>
        <p:txBody>
          <a:bodyPr wrap="square">
            <a:spAutoFit/>
          </a:bodyPr>
          <a:lstStyle/>
          <a:p>
            <a:pPr algn="l"/>
            <a:r>
              <a:rPr sz="1050" b="0" i="0">
                <a:solidFill>
                  <a:srgbClr val="262626"/>
                </a:solidFill>
                <a:latin typeface="Arial"/>
              </a:rPr>
              <a:t>•  Coastal seafront exposure on Haibin North Rd — the guide's prevailing SE wind will be a cross/head component on one leg of every lap</a:t>
            </a:r>
          </a:p>
        </p:txBody>
      </p:sp>
      <p:sp>
        <p:nvSpPr>
          <p:cNvPr id="39" name="Rectangle 38"/>
          <p:cNvSpPr/>
          <p:nvPr/>
        </p:nvSpPr>
        <p:spPr>
          <a:xfrm>
            <a:off x="274320" y="5120640"/>
            <a:ext cx="11640312" cy="141732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320" y="5577840"/>
            <a:ext cx="11640312" cy="548640"/>
          </a:xfrm>
          <a:prstGeom prst="rect">
            <a:avLst/>
          </a:prstGeom>
          <a:noFill/>
        </p:spPr>
        <p:txBody>
          <a:bodyPr wrap="square">
            <a:spAutoFit/>
          </a:bodyPr>
          <a:lstStyle/>
          <a:p>
            <a:pPr algn="ctr"/>
            <a:r>
              <a:rPr sz="1100" b="0" i="1">
                <a:solidFill>
                  <a:srgbClr val="BFBFBF"/>
                </a:solidFill>
                <a:latin typeface="Arial"/>
              </a:rPr>
              <a:t>Flat course — published profile shows no significant climbs.
No elevation chart synthesized; if a race GPS FIT becomes available, real contours will replace this block.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eihai_swim_course.png"/>
          <p:cNvPicPr>
            <a:picLocks noChangeAspect="1"/>
          </p:cNvPicPr>
          <p:nvPr/>
        </p:nvPicPr>
        <p:blipFill>
          <a:blip r:embed="rId3"/>
          <a:stretch>
            <a:fillRect/>
          </a:stretch>
        </p:blipFill>
        <p:spPr>
          <a:xfrm>
            <a:off x="274320" y="1143000"/>
            <a:ext cx="5120640" cy="3840480"/>
          </a:xfrm>
          <a:prstGeom prst="rect">
            <a:avLst/>
          </a:prstGeom>
        </p:spPr>
      </p:pic>
      <p:sp>
        <p:nvSpPr>
          <p:cNvPr id="9" name="TextBox 8"/>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WTCS Weihai Athletes' Guide (updated 22 July 2026)</a:t>
            </a: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10.0 km   •   4 × 2.5 km</a:t>
            </a:r>
          </a:p>
        </p:txBody>
      </p:sp>
      <p:sp>
        <p:nvSpPr>
          <p:cNvPr id="12" name="TextBox 11"/>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Closed seafront road — Haibin North Rd out-and-back</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5" name="TextBox 14"/>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10.0 km</a:t>
            </a: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Lap Structure</a:t>
            </a:r>
          </a:p>
        </p:txBody>
      </p:sp>
      <p:sp>
        <p:nvSpPr>
          <p:cNvPr id="18" name="TextBox 17"/>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4 × 2.5 km</a:t>
            </a: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21" name="TextBox 20"/>
          <p:cNvSpPr txBox="1"/>
          <p:nvPr/>
        </p:nvSpPr>
        <p:spPr>
          <a:xfrm>
            <a:off x="9875520" y="2340864"/>
            <a:ext cx="1920240" cy="347472"/>
          </a:xfrm>
          <a:prstGeom prst="rect">
            <a:avLst/>
          </a:prstGeom>
          <a:noFill/>
        </p:spPr>
        <p:txBody>
          <a:bodyPr wrap="square">
            <a:spAutoFit/>
          </a:bodyPr>
          <a:lstStyle/>
          <a:p>
            <a:pPr algn="ctr"/>
            <a:r>
              <a:rPr sz="1400" b="1" i="0">
                <a:solidFill>
                  <a:srgbClr val="262626"/>
                </a:solidFill>
                <a:latin typeface="Arial"/>
              </a:rPr>
              <a:t>Not published</a:t>
            </a: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4" name="TextBox 23"/>
          <p:cNvSpPr txBox="1"/>
          <p:nvPr/>
        </p:nvSpPr>
        <p:spPr>
          <a:xfrm>
            <a:off x="5669280" y="3054096"/>
            <a:ext cx="1920240" cy="347472"/>
          </a:xfrm>
          <a:prstGeom prst="rect">
            <a:avLst/>
          </a:prstGeom>
          <a:noFill/>
        </p:spPr>
        <p:txBody>
          <a:bodyPr wrap="square">
            <a:spAutoFit/>
          </a:bodyPr>
          <a:lstStyle/>
          <a:p>
            <a:pPr algn="ctr"/>
            <a:r>
              <a:rPr sz="1400" b="1" i="0">
                <a:solidFill>
                  <a:srgbClr val="262626"/>
                </a:solidFill>
                <a:latin typeface="Arial"/>
              </a:rPr>
              <a:t>—</a:t>
            </a: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Max ▲ / ▼</a:t>
            </a:r>
          </a:p>
        </p:txBody>
      </p:sp>
      <p:sp>
        <p:nvSpPr>
          <p:cNvPr id="27" name="TextBox 26"/>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Not published</a:t>
            </a: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Heat Risk</a:t>
            </a:r>
          </a:p>
        </p:txBody>
      </p:sp>
      <p:sp>
        <p:nvSpPr>
          <p:cNvPr id="30" name="TextBox 29"/>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MODERATE (men 09:00) / HIGHER for women (12:00 sun load)</a:t>
            </a:r>
          </a:p>
        </p:txBody>
      </p:sp>
      <p:sp>
        <p:nvSpPr>
          <p:cNvPr id="31" name="Rectangle 30"/>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3" name="TextBox 32"/>
          <p:cNvSpPr txBox="1"/>
          <p:nvPr/>
        </p:nvSpPr>
        <p:spPr>
          <a:xfrm>
            <a:off x="5669280" y="3977640"/>
            <a:ext cx="6126480" cy="310896"/>
          </a:xfrm>
          <a:prstGeom prst="rect">
            <a:avLst/>
          </a:prstGeom>
          <a:noFill/>
        </p:spPr>
        <p:txBody>
          <a:bodyPr wrap="square">
            <a:spAutoFit/>
          </a:bodyPr>
          <a:lstStyle/>
          <a:p>
            <a:pPr algn="l"/>
            <a:r>
              <a:rPr sz="1050" b="0" i="0">
                <a:solidFill>
                  <a:srgbClr val="262626"/>
                </a:solidFill>
                <a:latin typeface="Arial"/>
              </a:rPr>
              <a:t>•  4 × 2.5 km laps = 10 km: north up Haibin North Rd to a turnaround, u-turn, return to transition, then into the finish chute at the main venue</a:t>
            </a:r>
          </a:p>
        </p:txBody>
      </p:sp>
      <p:sp>
        <p:nvSpPr>
          <p:cNvPr id="34" name="TextBox 33"/>
          <p:cNvSpPr txBox="1"/>
          <p:nvPr/>
        </p:nvSpPr>
        <p:spPr>
          <a:xfrm>
            <a:off x="5669280" y="4270248"/>
            <a:ext cx="6126480" cy="310896"/>
          </a:xfrm>
          <a:prstGeom prst="rect">
            <a:avLst/>
          </a:prstGeom>
          <a:noFill/>
        </p:spPr>
        <p:txBody>
          <a:bodyPr wrap="square">
            <a:spAutoFit/>
          </a:bodyPr>
          <a:lstStyle/>
          <a:p>
            <a:pPr algn="l"/>
            <a:r>
              <a:rPr sz="1050" b="0" i="0">
                <a:solidFill>
                  <a:srgbClr val="262626"/>
                </a:solidFill>
                <a:latin typeface="Arial"/>
              </a:rPr>
              <a:t>•  Pure out-and-back on a seafront road — no technical features, so this is an honest 10 km where run legs are fully exposed</a:t>
            </a:r>
          </a:p>
        </p:txBody>
      </p:sp>
      <p:sp>
        <p:nvSpPr>
          <p:cNvPr id="35" name="TextBox 34"/>
          <p:cNvSpPr txBox="1"/>
          <p:nvPr/>
        </p:nvSpPr>
        <p:spPr>
          <a:xfrm>
            <a:off x="5669280" y="4562856"/>
            <a:ext cx="6126480" cy="310896"/>
          </a:xfrm>
          <a:prstGeom prst="rect">
            <a:avLst/>
          </a:prstGeom>
          <a:noFill/>
        </p:spPr>
        <p:txBody>
          <a:bodyPr wrap="square">
            <a:spAutoFit/>
          </a:bodyPr>
          <a:lstStyle/>
          <a:p>
            <a:pPr algn="l"/>
            <a:r>
              <a:rPr sz="1050" b="0" i="0">
                <a:solidFill>
                  <a:srgbClr val="262626"/>
                </a:solidFill>
                <a:latin typeface="Arial"/>
              </a:rPr>
              <a:t>•  Three aid stations with sealed bottled water AND iced sponges — the sponges matter, this is the hottest run on the current preview set</a:t>
            </a:r>
          </a:p>
        </p:txBody>
      </p:sp>
      <p:sp>
        <p:nvSpPr>
          <p:cNvPr id="36" name="TextBox 35"/>
          <p:cNvSpPr txBox="1"/>
          <p:nvPr/>
        </p:nvSpPr>
        <p:spPr>
          <a:xfrm>
            <a:off x="5669280" y="4855464"/>
            <a:ext cx="6126480" cy="310896"/>
          </a:xfrm>
          <a:prstGeom prst="rect">
            <a:avLst/>
          </a:prstGeom>
          <a:noFill/>
        </p:spPr>
        <p:txBody>
          <a:bodyPr wrap="square">
            <a:spAutoFit/>
          </a:bodyPr>
          <a:lstStyle/>
          <a:p>
            <a:pPr algn="l"/>
            <a:r>
              <a:rPr sz="1050" b="0" i="0">
                <a:solidFill>
                  <a:srgbClr val="262626"/>
                </a:solidFill>
                <a:latin typeface="Arial"/>
              </a:rPr>
              <a:t>•  Run penalty box sits near the dismount line and is passed every lap; bike drafting tickets are expensive over 4 laps</a:t>
            </a:r>
          </a:p>
        </p:txBody>
      </p:sp>
      <p:sp>
        <p:nvSpPr>
          <p:cNvPr id="37" name="TextBox 36"/>
          <p:cNvSpPr txBox="1"/>
          <p:nvPr/>
        </p:nvSpPr>
        <p:spPr>
          <a:xfrm>
            <a:off x="5669280" y="5148072"/>
            <a:ext cx="6126480" cy="310896"/>
          </a:xfrm>
          <a:prstGeom prst="rect">
            <a:avLst/>
          </a:prstGeom>
          <a:noFill/>
        </p:spPr>
        <p:txBody>
          <a:bodyPr wrap="square">
            <a:spAutoFit/>
          </a:bodyPr>
          <a:lstStyle/>
          <a:p>
            <a:pPr algn="l"/>
            <a:r>
              <a:rPr sz="1050" b="0" i="0">
                <a:solidFill>
                  <a:srgbClr val="262626"/>
                </a:solidFill>
                <a:latin typeface="Arial"/>
              </a:rPr>
              <a:t>•  HEAT IS NOT SYMMETRIC: WT's recorded race-day air temp has been 3.9–4.7 °C higher for the women in each of the last three editions (2023, 2024, 2025)</a:t>
            </a:r>
          </a:p>
        </p:txBody>
      </p:sp>
      <p:sp>
        <p:nvSpPr>
          <p:cNvPr id="38" name="TextBox 37"/>
          <p:cNvSpPr txBox="1"/>
          <p:nvPr/>
        </p:nvSpPr>
        <p:spPr>
          <a:xfrm>
            <a:off x="5669280" y="5440680"/>
            <a:ext cx="6126480" cy="310896"/>
          </a:xfrm>
          <a:prstGeom prst="rect">
            <a:avLst/>
          </a:prstGeom>
          <a:noFill/>
        </p:spPr>
        <p:txBody>
          <a:bodyPr wrap="square">
            <a:spAutoFit/>
          </a:bodyPr>
          <a:lstStyle/>
          <a:p>
            <a:pPr algn="l"/>
            <a:r>
              <a:rPr sz="1050" b="0" i="0">
                <a:solidFill>
                  <a:srgbClr val="262626"/>
                </a:solidFill>
                <a:latin typeface="Arial"/>
              </a:rPr>
              <a:t>•  Ambient climatology only warms ~1 °C from 09:00 to 12:00 here (coastal sea breeze), so most of that recorded gap is midday SUN and on-course radiant load, not air temperature. Shade is nil on this seafront out-and-back</a:t>
            </a:r>
          </a:p>
        </p:txBody>
      </p:sp>
      <p:sp>
        <p:nvSpPr>
          <p:cNvPr id="39" name="TextBox 38"/>
          <p:cNvSpPr txBox="1"/>
          <p:nvPr/>
        </p:nvSpPr>
        <p:spPr>
          <a:xfrm>
            <a:off x="5669280" y="5733288"/>
            <a:ext cx="6126480" cy="310896"/>
          </a:xfrm>
          <a:prstGeom prst="rect">
            <a:avLst/>
          </a:prstGeom>
          <a:noFill/>
        </p:spPr>
        <p:txBody>
          <a:bodyPr wrap="square">
            <a:spAutoFit/>
          </a:bodyPr>
          <a:lstStyle/>
          <a:p>
            <a:pPr algn="l"/>
            <a:r>
              <a:rPr sz="1050" b="0" i="0">
                <a:solidFill>
                  <a:srgbClr val="262626"/>
                </a:solidFill>
                <a:latin typeface="Arial"/>
              </a:rPr>
              <a:t>•  2026 moves to 29 August, ~4 weeks earlier than the 2024/2025 editions. The closest analogue is 2023 (26 Aug), the hottest on record here: 27.2 °C men / 31.9 °C women</a:t>
            </a:r>
          </a:p>
        </p:txBody>
      </p:sp>
      <p:sp>
        <p:nvSpPr>
          <p:cNvPr id="40" name="Rectangle 39"/>
          <p:cNvSpPr/>
          <p:nvPr/>
        </p:nvSpPr>
        <p:spPr>
          <a:xfrm>
            <a:off x="274320" y="6035040"/>
            <a:ext cx="11640312" cy="29260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080760"/>
            <a:ext cx="11430000" cy="228600"/>
          </a:xfrm>
          <a:prstGeom prst="rect">
            <a:avLst/>
          </a:prstGeom>
          <a:noFill/>
        </p:spPr>
        <p:txBody>
          <a:bodyPr wrap="square">
            <a:spAutoFit/>
          </a:bodyPr>
          <a:lstStyle/>
          <a:p>
            <a:pPr algn="l"/>
            <a:r>
              <a:rPr sz="950" b="0" i="1">
                <a:solidFill>
                  <a:srgbClr val="262626"/>
                </a:solidFill>
                <a:latin typeface="Arial"/>
              </a:rPr>
              <a:t>Not in race brief: Elevation profile (not published; seafront road, assumed flat to gently rolling)  •  Exact aid-station distances (guide confirms three stations but not their placement)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Race-Day Weather Outlook</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2026-08-29   •   Forward forecast — Open-Meteo (≤16 days)</a:t>
            </a:r>
          </a:p>
        </p:txBody>
      </p:sp>
      <p:pic>
        <p:nvPicPr>
          <p:cNvPr id="10" name="Picture 9" descr="image.png"/>
          <p:cNvPicPr>
            <a:picLocks noChangeAspect="1"/>
          </p:cNvPicPr>
          <p:nvPr/>
        </p:nvPicPr>
        <p:blipFill>
          <a:blip r:embed="rId3"/>
          <a:stretch>
            <a:fillRect/>
          </a:stretch>
        </p:blipFill>
        <p:spPr>
          <a:xfrm>
            <a:off x="274320" y="1600200"/>
            <a:ext cx="7040880" cy="3108960"/>
          </a:xfrm>
          <a:prstGeom prst="rect">
            <a:avLst/>
          </a:prstGeom>
        </p:spPr>
      </p:pic>
      <p:sp>
        <p:nvSpPr>
          <p:cNvPr id="11" name="Rectangle 10"/>
          <p:cNvSpPr/>
          <p:nvPr/>
        </p:nvSpPr>
        <p:spPr>
          <a:xfrm>
            <a:off x="7498079" y="1645920"/>
            <a:ext cx="44165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19" y="1682496"/>
            <a:ext cx="4233672" cy="246888"/>
          </a:xfrm>
          <a:prstGeom prst="rect">
            <a:avLst/>
          </a:prstGeom>
          <a:noFill/>
        </p:spPr>
        <p:txBody>
          <a:bodyPr wrap="square">
            <a:spAutoFit/>
          </a:bodyPr>
          <a:lstStyle/>
          <a:p>
            <a:pPr algn="ctr"/>
            <a:r>
              <a:rPr sz="1100" b="1" i="0">
                <a:solidFill>
                  <a:srgbClr val="FFFFFF"/>
                </a:solidFill>
                <a:latin typeface="Arial"/>
              </a:rPr>
              <a:t>Elite Men — 09:00</a:t>
            </a:r>
          </a:p>
        </p:txBody>
      </p:sp>
      <p:sp>
        <p:nvSpPr>
          <p:cNvPr id="13" name="Rectangle 12"/>
          <p:cNvSpPr/>
          <p:nvPr/>
        </p:nvSpPr>
        <p:spPr>
          <a:xfrm>
            <a:off x="7516367"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34655" y="2039112"/>
            <a:ext cx="1399032" cy="182880"/>
          </a:xfrm>
          <a:prstGeom prst="rect">
            <a:avLst/>
          </a:prstGeom>
          <a:noFill/>
        </p:spPr>
        <p:txBody>
          <a:bodyPr wrap="square">
            <a:spAutoFit/>
          </a:bodyPr>
          <a:lstStyle/>
          <a:p>
            <a:pPr algn="ctr"/>
            <a:r>
              <a:rPr sz="800" b="1" i="0">
                <a:solidFill>
                  <a:srgbClr val="002060"/>
                </a:solidFill>
                <a:latin typeface="Arial"/>
              </a:rPr>
              <a:t>Temperature</a:t>
            </a:r>
          </a:p>
        </p:txBody>
      </p:sp>
      <p:sp>
        <p:nvSpPr>
          <p:cNvPr id="15" name="TextBox 14"/>
          <p:cNvSpPr txBox="1"/>
          <p:nvPr/>
        </p:nvSpPr>
        <p:spPr>
          <a:xfrm>
            <a:off x="7534655" y="2212848"/>
            <a:ext cx="1399032" cy="310896"/>
          </a:xfrm>
          <a:prstGeom prst="rect">
            <a:avLst/>
          </a:prstGeom>
          <a:noFill/>
        </p:spPr>
        <p:txBody>
          <a:bodyPr wrap="square">
            <a:spAutoFit/>
          </a:bodyPr>
          <a:lstStyle/>
          <a:p>
            <a:pPr algn="ctr"/>
            <a:r>
              <a:rPr sz="1200" b="1" i="0">
                <a:solidFill>
                  <a:srgbClr val="262626"/>
                </a:solidFill>
                <a:latin typeface="Arial"/>
              </a:rPr>
              <a:t>22.7 °C</a:t>
            </a:r>
          </a:p>
        </p:txBody>
      </p:sp>
      <p:sp>
        <p:nvSpPr>
          <p:cNvPr id="16" name="Rectangle 15"/>
          <p:cNvSpPr/>
          <p:nvPr/>
        </p:nvSpPr>
        <p:spPr>
          <a:xfrm>
            <a:off x="8988551"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39" y="2039112"/>
            <a:ext cx="1399032" cy="182880"/>
          </a:xfrm>
          <a:prstGeom prst="rect">
            <a:avLst/>
          </a:prstGeom>
          <a:noFill/>
        </p:spPr>
        <p:txBody>
          <a:bodyPr wrap="square">
            <a:spAutoFit/>
          </a:bodyPr>
          <a:lstStyle/>
          <a:p>
            <a:pPr algn="ctr"/>
            <a:r>
              <a:rPr sz="800" b="1" i="0">
                <a:solidFill>
                  <a:srgbClr val="002060"/>
                </a:solidFill>
                <a:latin typeface="Arial"/>
              </a:rPr>
              <a:t>Apparent / Heat</a:t>
            </a:r>
          </a:p>
        </p:txBody>
      </p:sp>
      <p:sp>
        <p:nvSpPr>
          <p:cNvPr id="18" name="TextBox 17"/>
          <p:cNvSpPr txBox="1"/>
          <p:nvPr/>
        </p:nvSpPr>
        <p:spPr>
          <a:xfrm>
            <a:off x="9006839" y="2212848"/>
            <a:ext cx="1399032" cy="310896"/>
          </a:xfrm>
          <a:prstGeom prst="rect">
            <a:avLst/>
          </a:prstGeom>
          <a:noFill/>
        </p:spPr>
        <p:txBody>
          <a:bodyPr wrap="square">
            <a:spAutoFit/>
          </a:bodyPr>
          <a:lstStyle/>
          <a:p>
            <a:pPr algn="ctr"/>
            <a:r>
              <a:rPr sz="1200" b="1" i="0">
                <a:solidFill>
                  <a:srgbClr val="262626"/>
                </a:solidFill>
                <a:latin typeface="Arial"/>
              </a:rPr>
              <a:t>25.9 °C</a:t>
            </a:r>
          </a:p>
        </p:txBody>
      </p:sp>
      <p:sp>
        <p:nvSpPr>
          <p:cNvPr id="19" name="Rectangle 18"/>
          <p:cNvSpPr/>
          <p:nvPr/>
        </p:nvSpPr>
        <p:spPr>
          <a:xfrm>
            <a:off x="10460735"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79023" y="2039112"/>
            <a:ext cx="1399032" cy="182880"/>
          </a:xfrm>
          <a:prstGeom prst="rect">
            <a:avLst/>
          </a:prstGeom>
          <a:noFill/>
        </p:spPr>
        <p:txBody>
          <a:bodyPr wrap="square">
            <a:spAutoFit/>
          </a:bodyPr>
          <a:lstStyle/>
          <a:p>
            <a:pPr algn="ctr"/>
            <a:r>
              <a:rPr sz="800" b="1" i="0">
                <a:solidFill>
                  <a:srgbClr val="002060"/>
                </a:solidFill>
                <a:latin typeface="Arial"/>
              </a:rPr>
              <a:t>Humidity</a:t>
            </a:r>
          </a:p>
        </p:txBody>
      </p:sp>
      <p:sp>
        <p:nvSpPr>
          <p:cNvPr id="21" name="TextBox 20"/>
          <p:cNvSpPr txBox="1"/>
          <p:nvPr/>
        </p:nvSpPr>
        <p:spPr>
          <a:xfrm>
            <a:off x="10479023" y="2212848"/>
            <a:ext cx="1399032" cy="310896"/>
          </a:xfrm>
          <a:prstGeom prst="rect">
            <a:avLst/>
          </a:prstGeom>
          <a:noFill/>
        </p:spPr>
        <p:txBody>
          <a:bodyPr wrap="square">
            <a:spAutoFit/>
          </a:bodyPr>
          <a:lstStyle/>
          <a:p>
            <a:pPr algn="ctr"/>
            <a:r>
              <a:rPr sz="1200" b="1" i="0">
                <a:solidFill>
                  <a:srgbClr val="262626"/>
                </a:solidFill>
                <a:latin typeface="Arial"/>
              </a:rPr>
              <a:t>92%</a:t>
            </a:r>
          </a:p>
        </p:txBody>
      </p:sp>
      <p:sp>
        <p:nvSpPr>
          <p:cNvPr id="22" name="Rectangle 21"/>
          <p:cNvSpPr/>
          <p:nvPr/>
        </p:nvSpPr>
        <p:spPr>
          <a:xfrm>
            <a:off x="7516367"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5" y="2606040"/>
            <a:ext cx="1399032" cy="182880"/>
          </a:xfrm>
          <a:prstGeom prst="rect">
            <a:avLst/>
          </a:prstGeom>
          <a:noFill/>
        </p:spPr>
        <p:txBody>
          <a:bodyPr wrap="square">
            <a:spAutoFit/>
          </a:bodyPr>
          <a:lstStyle/>
          <a:p>
            <a:pPr algn="ctr"/>
            <a:r>
              <a:rPr sz="800" b="1" i="0">
                <a:solidFill>
                  <a:srgbClr val="002060"/>
                </a:solidFill>
                <a:latin typeface="Arial"/>
              </a:rPr>
              <a:t>Wind</a:t>
            </a:r>
          </a:p>
        </p:txBody>
      </p:sp>
      <p:sp>
        <p:nvSpPr>
          <p:cNvPr id="24" name="TextBox 23"/>
          <p:cNvSpPr txBox="1"/>
          <p:nvPr/>
        </p:nvSpPr>
        <p:spPr>
          <a:xfrm>
            <a:off x="7534655" y="2779776"/>
            <a:ext cx="1399032" cy="310896"/>
          </a:xfrm>
          <a:prstGeom prst="rect">
            <a:avLst/>
          </a:prstGeom>
          <a:noFill/>
        </p:spPr>
        <p:txBody>
          <a:bodyPr wrap="square">
            <a:spAutoFit/>
          </a:bodyPr>
          <a:lstStyle/>
          <a:p>
            <a:pPr algn="ctr"/>
            <a:r>
              <a:rPr sz="1200" b="1" i="0">
                <a:solidFill>
                  <a:srgbClr val="262626"/>
                </a:solidFill>
                <a:latin typeface="Arial"/>
              </a:rPr>
              <a:t>9.3 km/h</a:t>
            </a:r>
          </a:p>
        </p:txBody>
      </p:sp>
      <p:sp>
        <p:nvSpPr>
          <p:cNvPr id="25" name="Rectangle 24"/>
          <p:cNvSpPr/>
          <p:nvPr/>
        </p:nvSpPr>
        <p:spPr>
          <a:xfrm>
            <a:off x="8988551"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06839" y="2606040"/>
            <a:ext cx="1399032" cy="182880"/>
          </a:xfrm>
          <a:prstGeom prst="rect">
            <a:avLst/>
          </a:prstGeom>
          <a:noFill/>
        </p:spPr>
        <p:txBody>
          <a:bodyPr wrap="square">
            <a:spAutoFit/>
          </a:bodyPr>
          <a:lstStyle/>
          <a:p>
            <a:pPr algn="ctr"/>
            <a:r>
              <a:rPr sz="800" b="1" i="0">
                <a:solidFill>
                  <a:srgbClr val="002060"/>
                </a:solidFill>
                <a:latin typeface="Arial"/>
              </a:rPr>
              <a:t>UV peak</a:t>
            </a:r>
          </a:p>
        </p:txBody>
      </p:sp>
      <p:sp>
        <p:nvSpPr>
          <p:cNvPr id="27" name="TextBox 26"/>
          <p:cNvSpPr txBox="1"/>
          <p:nvPr/>
        </p:nvSpPr>
        <p:spPr>
          <a:xfrm>
            <a:off x="9006839" y="2779776"/>
            <a:ext cx="1399032" cy="310896"/>
          </a:xfrm>
          <a:prstGeom prst="rect">
            <a:avLst/>
          </a:prstGeom>
          <a:noFill/>
        </p:spPr>
        <p:txBody>
          <a:bodyPr wrap="square">
            <a:spAutoFit/>
          </a:bodyPr>
          <a:lstStyle/>
          <a:p>
            <a:pPr algn="ctr"/>
            <a:r>
              <a:rPr sz="1200" b="1" i="0">
                <a:solidFill>
                  <a:srgbClr val="262626"/>
                </a:solidFill>
                <a:latin typeface="Arial"/>
              </a:rPr>
              <a:t>5.5</a:t>
            </a:r>
          </a:p>
        </p:txBody>
      </p:sp>
      <p:sp>
        <p:nvSpPr>
          <p:cNvPr id="28" name="Rectangle 27"/>
          <p:cNvSpPr/>
          <p:nvPr/>
        </p:nvSpPr>
        <p:spPr>
          <a:xfrm>
            <a:off x="10460735"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79023" y="2606040"/>
            <a:ext cx="1399032" cy="182880"/>
          </a:xfrm>
          <a:prstGeom prst="rect">
            <a:avLst/>
          </a:prstGeom>
          <a:noFill/>
        </p:spPr>
        <p:txBody>
          <a:bodyPr wrap="square">
            <a:spAutoFit/>
          </a:bodyPr>
          <a:lstStyle/>
          <a:p>
            <a:pPr algn="ctr"/>
            <a:r>
              <a:rPr sz="800" b="1" i="0">
                <a:solidFill>
                  <a:srgbClr val="002060"/>
                </a:solidFill>
                <a:latin typeface="Arial"/>
              </a:rPr>
              <a:t>Heat Stress</a:t>
            </a:r>
          </a:p>
        </p:txBody>
      </p:sp>
      <p:sp>
        <p:nvSpPr>
          <p:cNvPr id="30" name="TextBox 29"/>
          <p:cNvSpPr txBox="1"/>
          <p:nvPr/>
        </p:nvSpPr>
        <p:spPr>
          <a:xfrm>
            <a:off x="10479023" y="2779776"/>
            <a:ext cx="1399032" cy="310896"/>
          </a:xfrm>
          <a:prstGeom prst="rect">
            <a:avLst/>
          </a:prstGeom>
          <a:noFill/>
        </p:spPr>
        <p:txBody>
          <a:bodyPr wrap="square">
            <a:spAutoFit/>
          </a:bodyPr>
          <a:lstStyle/>
          <a:p>
            <a:pPr algn="ctr"/>
            <a:r>
              <a:rPr sz="1200" b="1" i="0">
                <a:solidFill>
                  <a:srgbClr val="E6A817"/>
                </a:solidFill>
                <a:latin typeface="Arial"/>
              </a:rPr>
              <a:t>MODERATE</a:t>
            </a:r>
          </a:p>
        </p:txBody>
      </p:sp>
      <p:sp>
        <p:nvSpPr>
          <p:cNvPr id="31" name="Rectangle 30"/>
          <p:cNvSpPr/>
          <p:nvPr/>
        </p:nvSpPr>
        <p:spPr>
          <a:xfrm>
            <a:off x="7498079" y="3246120"/>
            <a:ext cx="44165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19" y="3282696"/>
            <a:ext cx="4233672" cy="246888"/>
          </a:xfrm>
          <a:prstGeom prst="rect">
            <a:avLst/>
          </a:prstGeom>
          <a:noFill/>
        </p:spPr>
        <p:txBody>
          <a:bodyPr wrap="square">
            <a:spAutoFit/>
          </a:bodyPr>
          <a:lstStyle/>
          <a:p>
            <a:pPr algn="ctr"/>
            <a:r>
              <a:rPr sz="1100" b="1" i="0">
                <a:solidFill>
                  <a:srgbClr val="FFFFFF"/>
                </a:solidFill>
                <a:latin typeface="Arial"/>
              </a:rPr>
              <a:t>Elite Women — 12:00</a:t>
            </a:r>
          </a:p>
        </p:txBody>
      </p:sp>
      <p:sp>
        <p:nvSpPr>
          <p:cNvPr id="33" name="Rectangle 32"/>
          <p:cNvSpPr/>
          <p:nvPr/>
        </p:nvSpPr>
        <p:spPr>
          <a:xfrm>
            <a:off x="7516367"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34655" y="3639312"/>
            <a:ext cx="1399032" cy="182880"/>
          </a:xfrm>
          <a:prstGeom prst="rect">
            <a:avLst/>
          </a:prstGeom>
          <a:noFill/>
        </p:spPr>
        <p:txBody>
          <a:bodyPr wrap="square">
            <a:spAutoFit/>
          </a:bodyPr>
          <a:lstStyle/>
          <a:p>
            <a:pPr algn="ctr"/>
            <a:r>
              <a:rPr sz="800" b="1" i="0">
                <a:solidFill>
                  <a:srgbClr val="002060"/>
                </a:solidFill>
                <a:latin typeface="Arial"/>
              </a:rPr>
              <a:t>Temperature</a:t>
            </a:r>
          </a:p>
        </p:txBody>
      </p:sp>
      <p:sp>
        <p:nvSpPr>
          <p:cNvPr id="35" name="TextBox 34"/>
          <p:cNvSpPr txBox="1"/>
          <p:nvPr/>
        </p:nvSpPr>
        <p:spPr>
          <a:xfrm>
            <a:off x="7534655" y="3813048"/>
            <a:ext cx="1399032" cy="310896"/>
          </a:xfrm>
          <a:prstGeom prst="rect">
            <a:avLst/>
          </a:prstGeom>
          <a:noFill/>
        </p:spPr>
        <p:txBody>
          <a:bodyPr wrap="square">
            <a:spAutoFit/>
          </a:bodyPr>
          <a:lstStyle/>
          <a:p>
            <a:pPr algn="ctr"/>
            <a:r>
              <a:rPr sz="1200" b="1" i="0">
                <a:solidFill>
                  <a:srgbClr val="262626"/>
                </a:solidFill>
                <a:latin typeface="Arial"/>
              </a:rPr>
              <a:t>24.9 °C</a:t>
            </a:r>
          </a:p>
        </p:txBody>
      </p:sp>
      <p:sp>
        <p:nvSpPr>
          <p:cNvPr id="36" name="Rectangle 35"/>
          <p:cNvSpPr/>
          <p:nvPr/>
        </p:nvSpPr>
        <p:spPr>
          <a:xfrm>
            <a:off x="8988551"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06839" y="3639312"/>
            <a:ext cx="1399032" cy="182880"/>
          </a:xfrm>
          <a:prstGeom prst="rect">
            <a:avLst/>
          </a:prstGeom>
          <a:noFill/>
        </p:spPr>
        <p:txBody>
          <a:bodyPr wrap="square">
            <a:spAutoFit/>
          </a:bodyPr>
          <a:lstStyle/>
          <a:p>
            <a:pPr algn="ctr"/>
            <a:r>
              <a:rPr sz="800" b="1" i="0">
                <a:solidFill>
                  <a:srgbClr val="002060"/>
                </a:solidFill>
                <a:latin typeface="Arial"/>
              </a:rPr>
              <a:t>Apparent / Heat</a:t>
            </a:r>
          </a:p>
        </p:txBody>
      </p:sp>
      <p:sp>
        <p:nvSpPr>
          <p:cNvPr id="38" name="TextBox 37"/>
          <p:cNvSpPr txBox="1"/>
          <p:nvPr/>
        </p:nvSpPr>
        <p:spPr>
          <a:xfrm>
            <a:off x="9006839" y="3813048"/>
            <a:ext cx="1399032" cy="310896"/>
          </a:xfrm>
          <a:prstGeom prst="rect">
            <a:avLst/>
          </a:prstGeom>
          <a:noFill/>
        </p:spPr>
        <p:txBody>
          <a:bodyPr wrap="square">
            <a:spAutoFit/>
          </a:bodyPr>
          <a:lstStyle/>
          <a:p>
            <a:pPr algn="ctr"/>
            <a:r>
              <a:rPr sz="1200" b="1" i="0">
                <a:solidFill>
                  <a:srgbClr val="262626"/>
                </a:solidFill>
                <a:latin typeface="Arial"/>
              </a:rPr>
              <a:t>27.9 °C</a:t>
            </a:r>
          </a:p>
        </p:txBody>
      </p:sp>
      <p:sp>
        <p:nvSpPr>
          <p:cNvPr id="39" name="Rectangle 38"/>
          <p:cNvSpPr/>
          <p:nvPr/>
        </p:nvSpPr>
        <p:spPr>
          <a:xfrm>
            <a:off x="10460735"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79023" y="3639312"/>
            <a:ext cx="1399032" cy="182880"/>
          </a:xfrm>
          <a:prstGeom prst="rect">
            <a:avLst/>
          </a:prstGeom>
          <a:noFill/>
        </p:spPr>
        <p:txBody>
          <a:bodyPr wrap="square">
            <a:spAutoFit/>
          </a:bodyPr>
          <a:lstStyle/>
          <a:p>
            <a:pPr algn="ctr"/>
            <a:r>
              <a:rPr sz="800" b="1" i="0">
                <a:solidFill>
                  <a:srgbClr val="002060"/>
                </a:solidFill>
                <a:latin typeface="Arial"/>
              </a:rPr>
              <a:t>Humidity</a:t>
            </a:r>
          </a:p>
        </p:txBody>
      </p:sp>
      <p:sp>
        <p:nvSpPr>
          <p:cNvPr id="41" name="TextBox 40"/>
          <p:cNvSpPr txBox="1"/>
          <p:nvPr/>
        </p:nvSpPr>
        <p:spPr>
          <a:xfrm>
            <a:off x="10479023" y="3813048"/>
            <a:ext cx="1399032" cy="310896"/>
          </a:xfrm>
          <a:prstGeom prst="rect">
            <a:avLst/>
          </a:prstGeom>
          <a:noFill/>
        </p:spPr>
        <p:txBody>
          <a:bodyPr wrap="square">
            <a:spAutoFit/>
          </a:bodyPr>
          <a:lstStyle/>
          <a:p>
            <a:pPr algn="ctr"/>
            <a:r>
              <a:rPr sz="1200" b="1" i="0">
                <a:solidFill>
                  <a:srgbClr val="262626"/>
                </a:solidFill>
                <a:latin typeface="Arial"/>
              </a:rPr>
              <a:t>76%</a:t>
            </a:r>
          </a:p>
        </p:txBody>
      </p:sp>
      <p:sp>
        <p:nvSpPr>
          <p:cNvPr id="42" name="Rectangle 41"/>
          <p:cNvSpPr/>
          <p:nvPr/>
        </p:nvSpPr>
        <p:spPr>
          <a:xfrm>
            <a:off x="7516367"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34655" y="4206240"/>
            <a:ext cx="1399032" cy="182880"/>
          </a:xfrm>
          <a:prstGeom prst="rect">
            <a:avLst/>
          </a:prstGeom>
          <a:noFill/>
        </p:spPr>
        <p:txBody>
          <a:bodyPr wrap="square">
            <a:spAutoFit/>
          </a:bodyPr>
          <a:lstStyle/>
          <a:p>
            <a:pPr algn="ctr"/>
            <a:r>
              <a:rPr sz="800" b="1" i="0">
                <a:solidFill>
                  <a:srgbClr val="002060"/>
                </a:solidFill>
                <a:latin typeface="Arial"/>
              </a:rPr>
              <a:t>Wind</a:t>
            </a:r>
          </a:p>
        </p:txBody>
      </p:sp>
      <p:sp>
        <p:nvSpPr>
          <p:cNvPr id="44" name="TextBox 43"/>
          <p:cNvSpPr txBox="1"/>
          <p:nvPr/>
        </p:nvSpPr>
        <p:spPr>
          <a:xfrm>
            <a:off x="7534655" y="4379976"/>
            <a:ext cx="1399032" cy="310896"/>
          </a:xfrm>
          <a:prstGeom prst="rect">
            <a:avLst/>
          </a:prstGeom>
          <a:noFill/>
        </p:spPr>
        <p:txBody>
          <a:bodyPr wrap="square">
            <a:spAutoFit/>
          </a:bodyPr>
          <a:lstStyle/>
          <a:p>
            <a:pPr algn="ctr"/>
            <a:r>
              <a:rPr sz="1200" b="1" i="0">
                <a:solidFill>
                  <a:srgbClr val="262626"/>
                </a:solidFill>
                <a:latin typeface="Arial"/>
              </a:rPr>
              <a:t>8.3 km/h</a:t>
            </a:r>
          </a:p>
        </p:txBody>
      </p:sp>
      <p:sp>
        <p:nvSpPr>
          <p:cNvPr id="45" name="Rectangle 44"/>
          <p:cNvSpPr/>
          <p:nvPr/>
        </p:nvSpPr>
        <p:spPr>
          <a:xfrm>
            <a:off x="8988551"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06839" y="4206240"/>
            <a:ext cx="1399032" cy="182880"/>
          </a:xfrm>
          <a:prstGeom prst="rect">
            <a:avLst/>
          </a:prstGeom>
          <a:noFill/>
        </p:spPr>
        <p:txBody>
          <a:bodyPr wrap="square">
            <a:spAutoFit/>
          </a:bodyPr>
          <a:lstStyle/>
          <a:p>
            <a:pPr algn="ctr"/>
            <a:r>
              <a:rPr sz="800" b="1" i="0">
                <a:solidFill>
                  <a:srgbClr val="002060"/>
                </a:solidFill>
                <a:latin typeface="Arial"/>
              </a:rPr>
              <a:t>UV peak</a:t>
            </a:r>
          </a:p>
        </p:txBody>
      </p:sp>
      <p:sp>
        <p:nvSpPr>
          <p:cNvPr id="47" name="TextBox 46"/>
          <p:cNvSpPr txBox="1"/>
          <p:nvPr/>
        </p:nvSpPr>
        <p:spPr>
          <a:xfrm>
            <a:off x="9006839" y="4379976"/>
            <a:ext cx="1399032" cy="310896"/>
          </a:xfrm>
          <a:prstGeom prst="rect">
            <a:avLst/>
          </a:prstGeom>
          <a:noFill/>
        </p:spPr>
        <p:txBody>
          <a:bodyPr wrap="square">
            <a:spAutoFit/>
          </a:bodyPr>
          <a:lstStyle/>
          <a:p>
            <a:pPr algn="ctr"/>
            <a:r>
              <a:rPr sz="1200" b="1" i="0">
                <a:solidFill>
                  <a:srgbClr val="262626"/>
                </a:solidFill>
                <a:latin typeface="Arial"/>
              </a:rPr>
              <a:t>4.0</a:t>
            </a:r>
          </a:p>
        </p:txBody>
      </p:sp>
      <p:sp>
        <p:nvSpPr>
          <p:cNvPr id="48" name="Rectangle 47"/>
          <p:cNvSpPr/>
          <p:nvPr/>
        </p:nvSpPr>
        <p:spPr>
          <a:xfrm>
            <a:off x="10460735"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79023" y="4206240"/>
            <a:ext cx="1399032" cy="182880"/>
          </a:xfrm>
          <a:prstGeom prst="rect">
            <a:avLst/>
          </a:prstGeom>
          <a:noFill/>
        </p:spPr>
        <p:txBody>
          <a:bodyPr wrap="square">
            <a:spAutoFit/>
          </a:bodyPr>
          <a:lstStyle/>
          <a:p>
            <a:pPr algn="ctr"/>
            <a:r>
              <a:rPr sz="800" b="1" i="0">
                <a:solidFill>
                  <a:srgbClr val="002060"/>
                </a:solidFill>
                <a:latin typeface="Arial"/>
              </a:rPr>
              <a:t>Heat Stress</a:t>
            </a:r>
          </a:p>
        </p:txBody>
      </p:sp>
      <p:sp>
        <p:nvSpPr>
          <p:cNvPr id="50" name="TextBox 49"/>
          <p:cNvSpPr txBox="1"/>
          <p:nvPr/>
        </p:nvSpPr>
        <p:spPr>
          <a:xfrm>
            <a:off x="10479023" y="4379976"/>
            <a:ext cx="1399032" cy="310896"/>
          </a:xfrm>
          <a:prstGeom prst="rect">
            <a:avLst/>
          </a:prstGeom>
          <a:noFill/>
        </p:spPr>
        <p:txBody>
          <a:bodyPr wrap="square">
            <a:spAutoFit/>
          </a:bodyPr>
          <a:lstStyle/>
          <a:p>
            <a:pPr algn="ctr"/>
            <a:r>
              <a:rPr sz="1200" b="1" i="0">
                <a:solidFill>
                  <a:srgbClr val="E6A817"/>
                </a:solidFill>
                <a:latin typeface="Arial"/>
              </a:rPr>
              <a:t>MODERATE</a:t>
            </a:r>
          </a:p>
        </p:txBody>
      </p:sp>
      <p:sp>
        <p:nvSpPr>
          <p:cNvPr id="51" name="Rectangle 50"/>
          <p:cNvSpPr/>
          <p:nvPr/>
        </p:nvSpPr>
        <p:spPr>
          <a:xfrm>
            <a:off x="274320" y="4846320"/>
            <a:ext cx="11640312"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5760" y="4873752"/>
            <a:ext cx="11430000" cy="237744"/>
          </a:xfrm>
          <a:prstGeom prst="rect">
            <a:avLst/>
          </a:prstGeom>
          <a:noFill/>
        </p:spPr>
        <p:txBody>
          <a:bodyPr wrap="square">
            <a:spAutoFit/>
          </a:bodyPr>
          <a:lstStyle/>
          <a:p>
            <a:pPr algn="l"/>
            <a:r>
              <a:rPr sz="1200" b="1" i="0">
                <a:solidFill>
                  <a:srgbClr val="FFFFFF"/>
                </a:solidFill>
                <a:latin typeface="Arial"/>
              </a:rPr>
              <a:t>Hydration &amp; Cooling Cues</a:t>
            </a:r>
          </a:p>
        </p:txBody>
      </p:sp>
      <p:sp>
        <p:nvSpPr>
          <p:cNvPr id="53" name="TextBox 52"/>
          <p:cNvSpPr txBox="1"/>
          <p:nvPr/>
        </p:nvSpPr>
        <p:spPr>
          <a:xfrm>
            <a:off x="365760" y="5212080"/>
            <a:ext cx="11430000" cy="310896"/>
          </a:xfrm>
          <a:prstGeom prst="rect">
            <a:avLst/>
          </a:prstGeom>
          <a:noFill/>
        </p:spPr>
        <p:txBody>
          <a:bodyPr wrap="square">
            <a:spAutoFit/>
          </a:bodyPr>
          <a:lstStyle/>
          <a:p>
            <a:pPr algn="l"/>
            <a:r>
              <a:rPr sz="1050" b="0" i="0">
                <a:solidFill>
                  <a:srgbClr val="262626"/>
                </a:solidFill>
                <a:latin typeface="Arial"/>
              </a:rPr>
              <a:t>•  Standard heat protocol — pre-cool 10 min, sponges/ice at every aid station, target 600–800 ml/h on bike</a:t>
            </a:r>
          </a:p>
        </p:txBody>
      </p:sp>
      <p:sp>
        <p:nvSpPr>
          <p:cNvPr id="54" name="TextBox 53"/>
          <p:cNvSpPr txBox="1"/>
          <p:nvPr/>
        </p:nvSpPr>
        <p:spPr>
          <a:xfrm>
            <a:off x="365760" y="5504688"/>
            <a:ext cx="11430000" cy="310896"/>
          </a:xfrm>
          <a:prstGeom prst="rect">
            <a:avLst/>
          </a:prstGeom>
          <a:noFill/>
        </p:spPr>
        <p:txBody>
          <a:bodyPr wrap="square">
            <a:spAutoFit/>
          </a:bodyPr>
          <a:lstStyle/>
          <a:p>
            <a:pPr algn="l"/>
            <a:r>
              <a:rPr sz="1050" b="0" i="0">
                <a:solidFill>
                  <a:srgbClr val="262626"/>
                </a:solidFill>
                <a:latin typeface="Arial"/>
              </a:rPr>
              <a:t>•  Men's race runs 2.2 °C hotter than women's — heat-acclim work + heavier cooling kit for the 12:00 start</a:t>
            </a:r>
          </a:p>
        </p:txBody>
      </p:sp>
      <p:sp>
        <p:nvSpPr>
          <p:cNvPr id="55" name="TextBox 54"/>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Data source: Open-Meteo. Forecast refreshes every run. Historical Race Conditions slide shows what actually happened in prior years.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Travel &amp; Arrival Load</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Denver, CO → Weihai race week</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960120"/>
          </a:xfrm>
          <a:prstGeom prst="rect">
            <a:avLst/>
          </a:prstGeom>
          <a:solidFill>
            <a:srgbClr val="E9EFF9"/>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Core travel read</a:t>
            </a:r>
          </a:p>
        </p:txBody>
      </p:sp>
      <p:sp>
        <p:nvSpPr>
          <p:cNvPr id="10" name="TextBox 9"/>
          <p:cNvSpPr txBox="1"/>
          <p:nvPr/>
        </p:nvSpPr>
        <p:spPr>
          <a:xfrm>
            <a:off x="457200" y="1444752"/>
            <a:ext cx="11247120" cy="566928"/>
          </a:xfrm>
          <a:prstGeom prst="rect">
            <a:avLst/>
          </a:prstGeom>
          <a:noFill/>
        </p:spPr>
        <p:txBody>
          <a:bodyPr wrap="square">
            <a:spAutoFit/>
          </a:bodyPr>
          <a:lstStyle/>
          <a:p>
            <a:pPr algn="ctr"/>
            <a:r>
              <a:rPr sz="1050" b="0" i="0">
                <a:solidFill>
                  <a:srgbClr val="262626"/>
                </a:solidFill>
                <a:latin typeface="Arial"/>
              </a:rPr>
              <a:t>The longest trip on the 2026 calendar. Denver → Weihai (WEH) needs two or three legs, typically DEN to a US west-coast gateway, then a trans-Pacific into Beijing/Shanghai/Seoul, then a domestic hop or the high-speed rail into Weihai. Budget 24–30 h door to door and plan 4–5 days on the ground: CST is UTC+8, 14 hours ahead of Denver (MDT), which is close to maximum circadian disruption. A CHINESE VISA IS REQUIRED for most nationalities — request the invitation letter early via Ms. Ye Sinan (yesinan@ctsa.org.cn). LOC transfers are free from the airport, rail stations and port between 25–30 Aug, but ONLY if arrival details are submitted by 15 August; miss that deadline and there is no pickup.</a:t>
            </a:r>
          </a:p>
        </p:txBody>
      </p:sp>
      <p:sp>
        <p:nvSpPr>
          <p:cNvPr id="11" name="Rectangle 10"/>
          <p:cNvSpPr/>
          <p:nvPr/>
        </p:nvSpPr>
        <p:spPr>
          <a:xfrm>
            <a:off x="274320"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2286000"/>
            <a:ext cx="2072030" cy="201168"/>
          </a:xfrm>
          <a:prstGeom prst="rect">
            <a:avLst/>
          </a:prstGeom>
          <a:noFill/>
        </p:spPr>
        <p:txBody>
          <a:bodyPr wrap="square">
            <a:spAutoFit/>
          </a:bodyPr>
          <a:lstStyle/>
          <a:p>
            <a:pPr algn="ctr"/>
            <a:r>
              <a:rPr sz="1000" b="1" i="0">
                <a:solidFill>
                  <a:srgbClr val="002060"/>
                </a:solidFill>
                <a:latin typeface="Arial"/>
              </a:rPr>
              <a:t>Primary route</a:t>
            </a:r>
          </a:p>
        </p:txBody>
      </p:sp>
      <p:sp>
        <p:nvSpPr>
          <p:cNvPr id="13" name="TextBox 12"/>
          <p:cNvSpPr txBox="1"/>
          <p:nvPr/>
        </p:nvSpPr>
        <p:spPr>
          <a:xfrm>
            <a:off x="347472" y="2496312"/>
            <a:ext cx="2072030" cy="292608"/>
          </a:xfrm>
          <a:prstGeom prst="rect">
            <a:avLst/>
          </a:prstGeom>
          <a:noFill/>
        </p:spPr>
        <p:txBody>
          <a:bodyPr wrap="square">
            <a:spAutoFit/>
          </a:bodyPr>
          <a:lstStyle/>
          <a:p>
            <a:pPr algn="ctr"/>
            <a:r>
              <a:rPr sz="1400" b="1" i="0">
                <a:solidFill>
                  <a:srgbClr val="262626"/>
                </a:solidFill>
                <a:latin typeface="Arial"/>
              </a:rPr>
              <a:t>DEN → WEH</a:t>
            </a:r>
          </a:p>
        </p:txBody>
      </p:sp>
      <p:sp>
        <p:nvSpPr>
          <p:cNvPr id="14" name="TextBox 13"/>
          <p:cNvSpPr txBox="1"/>
          <p:nvPr/>
        </p:nvSpPr>
        <p:spPr>
          <a:xfrm>
            <a:off x="347472" y="2807208"/>
            <a:ext cx="2072030" cy="256032"/>
          </a:xfrm>
          <a:prstGeom prst="rect">
            <a:avLst/>
          </a:prstGeom>
          <a:noFill/>
        </p:spPr>
        <p:txBody>
          <a:bodyPr wrap="square">
            <a:spAutoFit/>
          </a:bodyPr>
          <a:lstStyle/>
          <a:p>
            <a:pPr algn="ctr"/>
            <a:r>
              <a:rPr sz="900" b="0" i="1">
                <a:solidFill>
                  <a:srgbClr val="BFBFBF"/>
                </a:solidFill>
                <a:latin typeface="Arial"/>
              </a:rPr>
              <a:t>2–3 legs via PEK/PVG/ICN</a:t>
            </a:r>
          </a:p>
        </p:txBody>
      </p:sp>
      <p:sp>
        <p:nvSpPr>
          <p:cNvPr id="15" name="Rectangle 14"/>
          <p:cNvSpPr/>
          <p:nvPr/>
        </p:nvSpPr>
        <p:spPr>
          <a:xfrm>
            <a:off x="2629814"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02966" y="2286000"/>
            <a:ext cx="2072030" cy="201168"/>
          </a:xfrm>
          <a:prstGeom prst="rect">
            <a:avLst/>
          </a:prstGeom>
          <a:noFill/>
        </p:spPr>
        <p:txBody>
          <a:bodyPr wrap="square">
            <a:spAutoFit/>
          </a:bodyPr>
          <a:lstStyle/>
          <a:p>
            <a:pPr algn="ctr"/>
            <a:r>
              <a:rPr sz="1000" b="1" i="0">
                <a:solidFill>
                  <a:srgbClr val="002060"/>
                </a:solidFill>
                <a:latin typeface="Arial"/>
              </a:rPr>
              <a:t>Time zones</a:t>
            </a:r>
          </a:p>
        </p:txBody>
      </p:sp>
      <p:sp>
        <p:nvSpPr>
          <p:cNvPr id="17" name="TextBox 16"/>
          <p:cNvSpPr txBox="1"/>
          <p:nvPr/>
        </p:nvSpPr>
        <p:spPr>
          <a:xfrm>
            <a:off x="2702966" y="2496312"/>
            <a:ext cx="2072030" cy="292608"/>
          </a:xfrm>
          <a:prstGeom prst="rect">
            <a:avLst/>
          </a:prstGeom>
          <a:noFill/>
        </p:spPr>
        <p:txBody>
          <a:bodyPr wrap="square">
            <a:spAutoFit/>
          </a:bodyPr>
          <a:lstStyle/>
          <a:p>
            <a:pPr algn="ctr"/>
            <a:r>
              <a:rPr sz="1400" b="1" i="0">
                <a:solidFill>
                  <a:srgbClr val="262626"/>
                </a:solidFill>
                <a:latin typeface="Arial"/>
              </a:rPr>
              <a:t>+14h</a:t>
            </a:r>
          </a:p>
        </p:txBody>
      </p:sp>
      <p:sp>
        <p:nvSpPr>
          <p:cNvPr id="18" name="TextBox 17"/>
          <p:cNvSpPr txBox="1"/>
          <p:nvPr/>
        </p:nvSpPr>
        <p:spPr>
          <a:xfrm>
            <a:off x="2702966" y="2807208"/>
            <a:ext cx="2072030" cy="256032"/>
          </a:xfrm>
          <a:prstGeom prst="rect">
            <a:avLst/>
          </a:prstGeom>
          <a:noFill/>
        </p:spPr>
        <p:txBody>
          <a:bodyPr wrap="square">
            <a:spAutoFit/>
          </a:bodyPr>
          <a:lstStyle/>
          <a:p>
            <a:pPr algn="ctr"/>
            <a:r>
              <a:rPr sz="900" b="0" i="1">
                <a:solidFill>
                  <a:srgbClr val="BFBFBF"/>
                </a:solidFill>
                <a:latin typeface="Arial"/>
              </a:rPr>
              <a:t>CST UTC+8 vs Denver MDT</a:t>
            </a:r>
          </a:p>
        </p:txBody>
      </p:sp>
      <p:sp>
        <p:nvSpPr>
          <p:cNvPr id="19" name="Rectangle 18"/>
          <p:cNvSpPr/>
          <p:nvPr/>
        </p:nvSpPr>
        <p:spPr>
          <a:xfrm>
            <a:off x="4985308"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58460" y="2286000"/>
            <a:ext cx="2072030" cy="201168"/>
          </a:xfrm>
          <a:prstGeom prst="rect">
            <a:avLst/>
          </a:prstGeom>
          <a:noFill/>
        </p:spPr>
        <p:txBody>
          <a:bodyPr wrap="square">
            <a:spAutoFit/>
          </a:bodyPr>
          <a:lstStyle/>
          <a:p>
            <a:pPr algn="ctr"/>
            <a:r>
              <a:rPr sz="1000" b="1" i="0">
                <a:solidFill>
                  <a:srgbClr val="002060"/>
                </a:solidFill>
                <a:latin typeface="Arial"/>
              </a:rPr>
              <a:t>Airport Transfer</a:t>
            </a:r>
          </a:p>
        </p:txBody>
      </p:sp>
      <p:sp>
        <p:nvSpPr>
          <p:cNvPr id="21" name="TextBox 20"/>
          <p:cNvSpPr txBox="1"/>
          <p:nvPr/>
        </p:nvSpPr>
        <p:spPr>
          <a:xfrm>
            <a:off x="5058460" y="2496312"/>
            <a:ext cx="2072030" cy="292608"/>
          </a:xfrm>
          <a:prstGeom prst="rect">
            <a:avLst/>
          </a:prstGeom>
          <a:noFill/>
        </p:spPr>
        <p:txBody>
          <a:bodyPr wrap="square">
            <a:spAutoFit/>
          </a:bodyPr>
          <a:lstStyle/>
          <a:p>
            <a:pPr algn="ctr"/>
            <a:r>
              <a:rPr sz="1400" b="1" i="0">
                <a:solidFill>
                  <a:srgbClr val="262626"/>
                </a:solidFill>
                <a:latin typeface="Arial"/>
              </a:rPr>
              <a:t>WEH → Hotel</a:t>
            </a:r>
          </a:p>
        </p:txBody>
      </p:sp>
      <p:sp>
        <p:nvSpPr>
          <p:cNvPr id="22" name="TextBox 21"/>
          <p:cNvSpPr txBox="1"/>
          <p:nvPr/>
        </p:nvSpPr>
        <p:spPr>
          <a:xfrm>
            <a:off x="5058460" y="2807208"/>
            <a:ext cx="2072030" cy="256032"/>
          </a:xfrm>
          <a:prstGeom prst="rect">
            <a:avLst/>
          </a:prstGeom>
          <a:noFill/>
        </p:spPr>
        <p:txBody>
          <a:bodyPr wrap="square">
            <a:spAutoFit/>
          </a:bodyPr>
          <a:lstStyle/>
          <a:p>
            <a:pPr algn="ctr"/>
            <a:r>
              <a:rPr sz="900" b="0" i="1">
                <a:solidFill>
                  <a:srgbClr val="BFBFBF"/>
                </a:solidFill>
                <a:latin typeface="Arial"/>
              </a:rPr>
              <a:t>46.2 km / ~50 min</a:t>
            </a:r>
          </a:p>
        </p:txBody>
      </p:sp>
      <p:sp>
        <p:nvSpPr>
          <p:cNvPr id="23" name="Rectangle 22"/>
          <p:cNvSpPr/>
          <p:nvPr/>
        </p:nvSpPr>
        <p:spPr>
          <a:xfrm>
            <a:off x="7340803"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3955" y="2286000"/>
            <a:ext cx="2072030" cy="201168"/>
          </a:xfrm>
          <a:prstGeom prst="rect">
            <a:avLst/>
          </a:prstGeom>
          <a:noFill/>
        </p:spPr>
        <p:txBody>
          <a:bodyPr wrap="square">
            <a:spAutoFit/>
          </a:bodyPr>
          <a:lstStyle/>
          <a:p>
            <a:pPr algn="ctr"/>
            <a:r>
              <a:rPr sz="1000" b="1" i="0">
                <a:solidFill>
                  <a:srgbClr val="002060"/>
                </a:solidFill>
                <a:latin typeface="Arial"/>
              </a:rPr>
              <a:t>Rail alternative</a:t>
            </a:r>
          </a:p>
        </p:txBody>
      </p:sp>
      <p:sp>
        <p:nvSpPr>
          <p:cNvPr id="25" name="TextBox 24"/>
          <p:cNvSpPr txBox="1"/>
          <p:nvPr/>
        </p:nvSpPr>
        <p:spPr>
          <a:xfrm>
            <a:off x="7413955" y="2496312"/>
            <a:ext cx="2072030" cy="292608"/>
          </a:xfrm>
          <a:prstGeom prst="rect">
            <a:avLst/>
          </a:prstGeom>
          <a:noFill/>
        </p:spPr>
        <p:txBody>
          <a:bodyPr wrap="square">
            <a:spAutoFit/>
          </a:bodyPr>
          <a:lstStyle/>
          <a:p>
            <a:pPr algn="ctr"/>
            <a:r>
              <a:rPr sz="1400" b="1" i="0">
                <a:solidFill>
                  <a:srgbClr val="262626"/>
                </a:solidFill>
                <a:latin typeface="Arial"/>
              </a:rPr>
              <a:t>Weihai North HSR</a:t>
            </a:r>
          </a:p>
        </p:txBody>
      </p:sp>
      <p:sp>
        <p:nvSpPr>
          <p:cNvPr id="26" name="TextBox 25"/>
          <p:cNvSpPr txBox="1"/>
          <p:nvPr/>
        </p:nvSpPr>
        <p:spPr>
          <a:xfrm>
            <a:off x="7413955" y="2807208"/>
            <a:ext cx="2072030" cy="256032"/>
          </a:xfrm>
          <a:prstGeom prst="rect">
            <a:avLst/>
          </a:prstGeom>
          <a:noFill/>
        </p:spPr>
        <p:txBody>
          <a:bodyPr wrap="square">
            <a:spAutoFit/>
          </a:bodyPr>
          <a:lstStyle/>
          <a:p>
            <a:pPr algn="ctr"/>
            <a:r>
              <a:rPr sz="900" b="0" i="1">
                <a:solidFill>
                  <a:srgbClr val="BFBFBF"/>
                </a:solidFill>
                <a:latin typeface="Arial"/>
              </a:rPr>
              <a:t>8.4 km / ~18 min to hotel</a:t>
            </a:r>
          </a:p>
        </p:txBody>
      </p:sp>
      <p:sp>
        <p:nvSpPr>
          <p:cNvPr id="27" name="Rectangle 26"/>
          <p:cNvSpPr/>
          <p:nvPr/>
        </p:nvSpPr>
        <p:spPr>
          <a:xfrm>
            <a:off x="9696297"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69449" y="2286000"/>
            <a:ext cx="2072030" cy="201168"/>
          </a:xfrm>
          <a:prstGeom prst="rect">
            <a:avLst/>
          </a:prstGeom>
          <a:noFill/>
        </p:spPr>
        <p:txBody>
          <a:bodyPr wrap="square">
            <a:spAutoFit/>
          </a:bodyPr>
          <a:lstStyle/>
          <a:p>
            <a:pPr algn="ctr"/>
            <a:r>
              <a:rPr sz="1000" b="1" i="0">
                <a:solidFill>
                  <a:srgbClr val="002060"/>
                </a:solidFill>
                <a:latin typeface="Arial"/>
              </a:rPr>
              <a:t>Hotel → Venue</a:t>
            </a:r>
          </a:p>
        </p:txBody>
      </p:sp>
      <p:sp>
        <p:nvSpPr>
          <p:cNvPr id="29" name="TextBox 28"/>
          <p:cNvSpPr txBox="1"/>
          <p:nvPr/>
        </p:nvSpPr>
        <p:spPr>
          <a:xfrm>
            <a:off x="9769449" y="2496312"/>
            <a:ext cx="2072030" cy="292608"/>
          </a:xfrm>
          <a:prstGeom prst="rect">
            <a:avLst/>
          </a:prstGeom>
          <a:noFill/>
        </p:spPr>
        <p:txBody>
          <a:bodyPr wrap="square">
            <a:spAutoFit/>
          </a:bodyPr>
          <a:lstStyle/>
          <a:p>
            <a:pPr algn="ctr"/>
            <a:r>
              <a:rPr sz="1400" b="1" i="0">
                <a:solidFill>
                  <a:srgbClr val="262626"/>
                </a:solidFill>
                <a:latin typeface="Arial"/>
              </a:rPr>
              <a:t>0.8 km</a:t>
            </a:r>
          </a:p>
        </p:txBody>
      </p:sp>
      <p:sp>
        <p:nvSpPr>
          <p:cNvPr id="30" name="TextBox 29"/>
          <p:cNvSpPr txBox="1"/>
          <p:nvPr/>
        </p:nvSpPr>
        <p:spPr>
          <a:xfrm>
            <a:off x="9769449" y="2807208"/>
            <a:ext cx="2072030" cy="256032"/>
          </a:xfrm>
          <a:prstGeom prst="rect">
            <a:avLst/>
          </a:prstGeom>
          <a:noFill/>
        </p:spPr>
        <p:txBody>
          <a:bodyPr wrap="square">
            <a:spAutoFit/>
          </a:bodyPr>
          <a:lstStyle/>
          <a:p>
            <a:pPr algn="ctr"/>
            <a:r>
              <a:rPr sz="900" b="0" i="1">
                <a:solidFill>
                  <a:srgbClr val="BFBFBF"/>
                </a:solidFill>
                <a:latin typeface="Arial"/>
              </a:rPr>
              <a:t>Walking distance</a:t>
            </a:r>
          </a:p>
        </p:txBody>
      </p:sp>
      <p:sp>
        <p:nvSpPr>
          <p:cNvPr id="31" name="Rectangle 30"/>
          <p:cNvSpPr/>
          <p:nvPr/>
        </p:nvSpPr>
        <p:spPr>
          <a:xfrm>
            <a:off x="2743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401568"/>
            <a:ext cx="5394960" cy="292608"/>
          </a:xfrm>
          <a:prstGeom prst="rect">
            <a:avLst/>
          </a:prstGeom>
          <a:noFill/>
        </p:spPr>
        <p:txBody>
          <a:bodyPr wrap="square">
            <a:spAutoFit/>
          </a:bodyPr>
          <a:lstStyle/>
          <a:p>
            <a:pPr algn="ctr"/>
            <a:r>
              <a:rPr sz="1300" b="1" i="0">
                <a:solidFill>
                  <a:srgbClr val="002060"/>
                </a:solidFill>
                <a:latin typeface="Arial"/>
              </a:rPr>
              <a:t>Host Hotel / Accommodation</a:t>
            </a:r>
          </a:p>
        </p:txBody>
      </p:sp>
      <p:sp>
        <p:nvSpPr>
          <p:cNvPr id="33" name="TextBox 32"/>
          <p:cNvSpPr txBox="1"/>
          <p:nvPr/>
        </p:nvSpPr>
        <p:spPr>
          <a:xfrm>
            <a:off x="438912" y="3749040"/>
            <a:ext cx="5340096" cy="329184"/>
          </a:xfrm>
          <a:prstGeom prst="rect">
            <a:avLst/>
          </a:prstGeom>
          <a:noFill/>
        </p:spPr>
        <p:txBody>
          <a:bodyPr wrap="square">
            <a:spAutoFit/>
          </a:bodyPr>
          <a:lstStyle/>
          <a:p>
            <a:pPr algn="l"/>
            <a:r>
              <a:rPr sz="1000" b="0" i="0">
                <a:solidFill>
                  <a:srgbClr val="262626"/>
                </a:solidFill>
                <a:latin typeface="Arial"/>
              </a:rPr>
              <a:t>•  Official hotel: Weihaiwei Hotel, No. 82 Haigang Road, Huancui District — 0.8 km from the main venue, an easy walk. 498 CNY/night single or twin, breakfast included.</a:t>
            </a:r>
          </a:p>
        </p:txBody>
      </p:sp>
      <p:sp>
        <p:nvSpPr>
          <p:cNvPr id="34" name="TextBox 33"/>
          <p:cNvSpPr txBox="1"/>
          <p:nvPr/>
        </p:nvSpPr>
        <p:spPr>
          <a:xfrm>
            <a:off x="438912" y="4059936"/>
            <a:ext cx="5340096" cy="329184"/>
          </a:xfrm>
          <a:prstGeom prst="rect">
            <a:avLst/>
          </a:prstGeom>
          <a:noFill/>
        </p:spPr>
        <p:txBody>
          <a:bodyPr wrap="square">
            <a:spAutoFit/>
          </a:bodyPr>
          <a:lstStyle/>
          <a:p>
            <a:pPr algn="l"/>
            <a:r>
              <a:rPr sz="1000" b="0" i="0">
                <a:solidFill>
                  <a:srgbClr val="262626"/>
                </a:solidFill>
                <a:latin typeface="Arial"/>
              </a:rPr>
              <a:t>•  Briefing and press conference are at the Brigh Radiance Hotel, ~500 m from the official hotel (briefing Fri 28 Aug 16:00–16:30).</a:t>
            </a:r>
          </a:p>
        </p:txBody>
      </p:sp>
      <p:sp>
        <p:nvSpPr>
          <p:cNvPr id="35" name="TextBox 34"/>
          <p:cNvSpPr txBox="1"/>
          <p:nvPr/>
        </p:nvSpPr>
        <p:spPr>
          <a:xfrm>
            <a:off x="438912" y="4370832"/>
            <a:ext cx="5340096" cy="329184"/>
          </a:xfrm>
          <a:prstGeom prst="rect">
            <a:avLst/>
          </a:prstGeom>
          <a:noFill/>
        </p:spPr>
        <p:txBody>
          <a:bodyPr wrap="square">
            <a:spAutoFit/>
          </a:bodyPr>
          <a:lstStyle/>
          <a:p>
            <a:pPr algn="l"/>
            <a:r>
              <a:rPr sz="1000" b="0" i="0">
                <a:solidFill>
                  <a:srgbClr val="262626"/>
                </a:solidFill>
                <a:latin typeface="Arial"/>
              </a:rPr>
              <a:t>•  Amenities: free Wi-Fi, fitness centre, free laundry on the 2nd floor, two bottles of water and fruit per room daily, free room-service delivery.</a:t>
            </a:r>
          </a:p>
        </p:txBody>
      </p:sp>
      <p:sp>
        <p:nvSpPr>
          <p:cNvPr id="36" name="TextBox 35"/>
          <p:cNvSpPr txBox="1"/>
          <p:nvPr/>
        </p:nvSpPr>
        <p:spPr>
          <a:xfrm>
            <a:off x="438912" y="4681728"/>
            <a:ext cx="5340096" cy="329184"/>
          </a:xfrm>
          <a:prstGeom prst="rect">
            <a:avLst/>
          </a:prstGeom>
          <a:noFill/>
        </p:spPr>
        <p:txBody>
          <a:bodyPr wrap="square">
            <a:spAutoFit/>
          </a:bodyPr>
          <a:lstStyle/>
          <a:p>
            <a:pPr algn="l"/>
            <a:r>
              <a:rPr sz="1000" b="0" i="0">
                <a:solidFill>
                  <a:srgbClr val="262626"/>
                </a:solidFill>
                <a:latin typeface="Arial"/>
              </a:rPr>
              <a:t>•  Athlete/coach set meals 198–498 CNY per person in Liugong Island Hall (2/F). Pasta Party Fri 28 Aug 18:00–20:00, vegetarian and halal available.</a:t>
            </a:r>
          </a:p>
        </p:txBody>
      </p:sp>
      <p:sp>
        <p:nvSpPr>
          <p:cNvPr id="37" name="TextBox 36"/>
          <p:cNvSpPr txBox="1"/>
          <p:nvPr/>
        </p:nvSpPr>
        <p:spPr>
          <a:xfrm>
            <a:off x="438912" y="4992624"/>
            <a:ext cx="5340096" cy="329184"/>
          </a:xfrm>
          <a:prstGeom prst="rect">
            <a:avLst/>
          </a:prstGeom>
          <a:noFill/>
        </p:spPr>
        <p:txBody>
          <a:bodyPr wrap="square">
            <a:spAutoFit/>
          </a:bodyPr>
          <a:lstStyle/>
          <a:p>
            <a:pPr algn="l"/>
            <a:r>
              <a:rPr sz="1000" b="0" i="0">
                <a:solidFill>
                  <a:srgbClr val="262626"/>
                </a:solidFill>
                <a:latin typeface="Arial"/>
              </a:rPr>
              <a:t>•  Weihai Municipal Hospital is ~1,600 m from the venue. Venue medical is free; hospital treatment is athlete-paid, so carry insurance.</a:t>
            </a:r>
          </a:p>
        </p:txBody>
      </p:sp>
      <p:sp>
        <p:nvSpPr>
          <p:cNvPr id="38" name="Rectangle 37"/>
          <p:cNvSpPr/>
          <p:nvPr/>
        </p:nvSpPr>
        <p:spPr>
          <a:xfrm>
            <a:off x="62179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3401568"/>
            <a:ext cx="5394960" cy="292608"/>
          </a:xfrm>
          <a:prstGeom prst="rect">
            <a:avLst/>
          </a:prstGeom>
          <a:noFill/>
        </p:spPr>
        <p:txBody>
          <a:bodyPr wrap="square">
            <a:spAutoFit/>
          </a:bodyPr>
          <a:lstStyle/>
          <a:p>
            <a:pPr algn="ctr"/>
            <a:r>
              <a:rPr sz="1300" b="1" i="0">
                <a:solidFill>
                  <a:srgbClr val="002060"/>
                </a:solidFill>
                <a:latin typeface="Arial"/>
              </a:rPr>
              <a:t>China-Specific Practical Notes</a:t>
            </a:r>
          </a:p>
        </p:txBody>
      </p:sp>
      <p:sp>
        <p:nvSpPr>
          <p:cNvPr id="40" name="TextBox 39"/>
          <p:cNvSpPr txBox="1"/>
          <p:nvPr/>
        </p:nvSpPr>
        <p:spPr>
          <a:xfrm>
            <a:off x="6382512" y="3749040"/>
            <a:ext cx="5340096" cy="329184"/>
          </a:xfrm>
          <a:prstGeom prst="rect">
            <a:avLst/>
          </a:prstGeom>
          <a:noFill/>
        </p:spPr>
        <p:txBody>
          <a:bodyPr wrap="square">
            <a:spAutoFit/>
          </a:bodyPr>
          <a:lstStyle/>
          <a:p>
            <a:pPr algn="l"/>
            <a:r>
              <a:rPr sz="1000" b="0" i="0">
                <a:solidFill>
                  <a:srgbClr val="262626"/>
                </a:solidFill>
                <a:latin typeface="Arial"/>
              </a:rPr>
              <a:t>•  POWER BANKS: mainland domestic flights require the 3C/CCC logo — non-certified banks are routinely confiscated, including at transit security on a domestic connection. Under 100 Wh, carry-on only, never checked.</a:t>
            </a:r>
          </a:p>
        </p:txBody>
      </p:sp>
      <p:sp>
        <p:nvSpPr>
          <p:cNvPr id="41" name="TextBox 40"/>
          <p:cNvSpPr txBox="1"/>
          <p:nvPr/>
        </p:nvSpPr>
        <p:spPr>
          <a:xfrm>
            <a:off x="6382512" y="4059936"/>
            <a:ext cx="5340096" cy="329184"/>
          </a:xfrm>
          <a:prstGeom prst="rect">
            <a:avLst/>
          </a:prstGeom>
          <a:noFill/>
        </p:spPr>
        <p:txBody>
          <a:bodyPr wrap="square">
            <a:spAutoFit/>
          </a:bodyPr>
          <a:lstStyle/>
          <a:p>
            <a:pPr algn="l"/>
            <a:r>
              <a:rPr sz="1000" b="0" i="0">
                <a:solidFill>
                  <a:srgbClr val="262626"/>
                </a:solidFill>
                <a:latin typeface="Arial"/>
              </a:rPr>
              <a:t>•  Payment is QR-dominant (WeChat Pay / Alipay); link an international card before travelling and carry ¥500–1,000 cash for edge cases.</a:t>
            </a:r>
          </a:p>
        </p:txBody>
      </p:sp>
      <p:sp>
        <p:nvSpPr>
          <p:cNvPr id="42" name="TextBox 41"/>
          <p:cNvSpPr txBox="1"/>
          <p:nvPr/>
        </p:nvSpPr>
        <p:spPr>
          <a:xfrm>
            <a:off x="6382512" y="4370832"/>
            <a:ext cx="5340096" cy="329184"/>
          </a:xfrm>
          <a:prstGeom prst="rect">
            <a:avLst/>
          </a:prstGeom>
          <a:noFill/>
        </p:spPr>
        <p:txBody>
          <a:bodyPr wrap="square">
            <a:spAutoFit/>
          </a:bodyPr>
          <a:lstStyle/>
          <a:p>
            <a:pPr algn="l"/>
            <a:r>
              <a:rPr sz="1000" b="0" i="0">
                <a:solidFill>
                  <a:srgbClr val="262626"/>
                </a:solidFill>
                <a:latin typeface="Arial"/>
              </a:rPr>
              <a:t>•  Electricity 220 V / 50 Hz. Plug types A (US flat), I (AU) and some C (EU) — most hotels have universal sockets, but bring an adapter.</a:t>
            </a:r>
          </a:p>
        </p:txBody>
      </p:sp>
      <p:sp>
        <p:nvSpPr>
          <p:cNvPr id="43" name="TextBox 42"/>
          <p:cNvSpPr txBox="1"/>
          <p:nvPr/>
        </p:nvSpPr>
        <p:spPr>
          <a:xfrm>
            <a:off x="6382512" y="4681728"/>
            <a:ext cx="5340096" cy="329184"/>
          </a:xfrm>
          <a:prstGeom prst="rect">
            <a:avLst/>
          </a:prstGeom>
          <a:noFill/>
        </p:spPr>
        <p:txBody>
          <a:bodyPr wrap="square">
            <a:spAutoFit/>
          </a:bodyPr>
          <a:lstStyle/>
          <a:p>
            <a:pPr algn="l"/>
            <a:r>
              <a:rPr sz="1000" b="0" i="0">
                <a:solidFill>
                  <a:srgbClr val="262626"/>
                </a:solidFill>
                <a:latin typeface="Arial"/>
              </a:rPr>
              <a:t>•  Pool training available 27–28 Aug at Weihai Swimming Pool (25 m, 4 lanes reserved, free) with a free LOC shuttle from the hotel at 07:30/08:30/13:30/14:30.</a:t>
            </a:r>
          </a:p>
        </p:txBody>
      </p:sp>
      <p:sp>
        <p:nvSpPr>
          <p:cNvPr id="44" name="TextBox 43"/>
          <p:cNvSpPr txBox="1"/>
          <p:nvPr/>
        </p:nvSpPr>
        <p:spPr>
          <a:xfrm>
            <a:off x="6382512" y="4992624"/>
            <a:ext cx="5340096" cy="329184"/>
          </a:xfrm>
          <a:prstGeom prst="rect">
            <a:avLst/>
          </a:prstGeom>
          <a:noFill/>
        </p:spPr>
        <p:txBody>
          <a:bodyPr wrap="square">
            <a:spAutoFit/>
          </a:bodyPr>
          <a:lstStyle/>
          <a:p>
            <a:pPr algn="l"/>
            <a:r>
              <a:rPr sz="1000" b="0" i="0">
                <a:solidFill>
                  <a:srgbClr val="262626"/>
                </a:solidFill>
                <a:latin typeface="Arial"/>
              </a:rPr>
              <a:t>•  Bike and run training is on open public roads at the athlete's own risk; only the race venue gets traffic control, and only on familiarization and race 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Environmental Risk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274320" y="1170432"/>
          <a:ext cx="4709158" cy="2468880"/>
        </p:xfrm>
        <a:graphic>
          <a:graphicData uri="http://schemas.openxmlformats.org/drawingml/2006/table">
            <a:tbl>
              <a:tblPr firstRow="1" bandRow="1">
                <a:tableStyleId>{5C22544A-7EE6-4342-B048-85BDC9FD1C3A}</a:tableStyleId>
              </a:tblPr>
              <a:tblGrid>
                <a:gridCol w="612190"/>
                <a:gridCol w="800557"/>
                <a:gridCol w="894740"/>
                <a:gridCol w="800557"/>
                <a:gridCol w="800557"/>
                <a:gridCol w="800557"/>
              </a:tblGrid>
              <a:tr h="352697">
                <a:tc>
                  <a:txBody>
                    <a:bodyPr wrap="none"/>
                    <a:lstStyle/>
                    <a:p>
                      <a:pPr algn="ctr"/>
                      <a:r>
                        <a:rPr sz="1000" b="1" i="0">
                          <a:solidFill>
                            <a:srgbClr val="FFFFFF"/>
                          </a:solidFill>
                          <a:latin typeface="Arial"/>
                        </a:rPr>
                        <a:t>Year</a:t>
                      </a:r>
                    </a:p>
                  </a:txBody>
                  <a:tcPr>
                    <a:solidFill>
                      <a:srgbClr val="002060"/>
                    </a:solidFill>
                  </a:tcPr>
                </a:tc>
                <a:tc>
                  <a:txBody>
                    <a:bodyPr wrap="none"/>
                    <a:lstStyle/>
                    <a:p>
                      <a:pPr algn="ctr"/>
                      <a:r>
                        <a:rPr sz="1000" b="1" i="0">
                          <a:solidFill>
                            <a:srgbClr val="FFFFFF"/>
                          </a:solidFill>
                          <a:latin typeface="Arial"/>
                        </a:rPr>
                        <a:t>Date</a:t>
                      </a:r>
                    </a:p>
                  </a:txBody>
                  <a:tcPr>
                    <a:solidFill>
                      <a:srgbClr val="002060"/>
                    </a:solidFill>
                  </a:tcPr>
                </a:tc>
                <a:tc>
                  <a:txBody>
                    <a:bodyPr wrap="none"/>
                    <a:lstStyle/>
                    <a:p>
                      <a:pPr algn="ctr"/>
                      <a:r>
                        <a:rPr sz="1000" b="1" i="0">
                          <a:solidFill>
                            <a:srgbClr val="FFFFFF"/>
                          </a:solidFill>
                          <a:latin typeface="Arial"/>
                        </a:rPr>
                        <a:t>Air Temp</a:t>
                      </a:r>
                    </a:p>
                  </a:txBody>
                  <a:tcPr>
                    <a:solidFill>
                      <a:srgbClr val="002060"/>
                    </a:solidFill>
                  </a:tcPr>
                </a:tc>
                <a:tc>
                  <a:txBody>
                    <a:bodyPr wrap="none"/>
                    <a:lstStyle/>
                    <a:p>
                      <a:pPr algn="ctr"/>
                      <a:r>
                        <a:rPr sz="1000" b="1" i="0">
                          <a:solidFill>
                            <a:srgbClr val="FFFFFF"/>
                          </a:solidFill>
                          <a:latin typeface="Arial"/>
                        </a:rPr>
                        <a:t>Humidity</a:t>
                      </a:r>
                    </a:p>
                  </a:txBody>
                  <a:tcPr>
                    <a:solidFill>
                      <a:srgbClr val="002060"/>
                    </a:solidFill>
                  </a:tcPr>
                </a:tc>
                <a:tc>
                  <a:txBody>
                    <a:bodyPr wrap="none"/>
                    <a:lstStyle/>
                    <a:p>
                      <a:pPr algn="ctr"/>
                      <a:r>
                        <a:rPr sz="1000" b="1" i="0">
                          <a:solidFill>
                            <a:srgbClr val="FFFFFF"/>
                          </a:solidFill>
                          <a:latin typeface="Arial"/>
                        </a:rPr>
                        <a:t>Wind km/h</a:t>
                      </a:r>
                    </a:p>
                  </a:txBody>
                  <a:tcPr>
                    <a:solidFill>
                      <a:srgbClr val="002060"/>
                    </a:solidFill>
                  </a:tcPr>
                </a:tc>
                <a:tc>
                  <a:txBody>
                    <a:bodyPr wrap="none"/>
                    <a:lstStyle/>
                    <a:p>
                      <a:pPr algn="ctr"/>
                      <a:r>
                        <a:rPr sz="1000" b="1" i="0">
                          <a:solidFill>
                            <a:srgbClr val="FFFFFF"/>
                          </a:solidFill>
                          <a:latin typeface="Arial"/>
                        </a:rPr>
                        <a:t>Precip mm</a:t>
                      </a:r>
                    </a:p>
                  </a:txBody>
                  <a:tcPr>
                    <a:solidFill>
                      <a:srgbClr val="002060"/>
                    </a:solidFill>
                  </a:tcPr>
                </a:tc>
              </a:tr>
              <a:tr h="352697">
                <a:tc>
                  <a:txBody>
                    <a:bodyPr wrap="none"/>
                    <a:lstStyle/>
                    <a:p>
                      <a:pPr algn="ctr"/>
                      <a:r>
                        <a:rPr sz="1000" b="0" i="0">
                          <a:solidFill>
                            <a:srgbClr val="262626"/>
                          </a:solidFill>
                          <a:latin typeface="Arial"/>
                        </a:rPr>
                        <a:t>2018</a:t>
                      </a:r>
                    </a:p>
                  </a:txBody>
                  <a:tcPr>
                    <a:solidFill>
                      <a:srgbClr val="FFFFFF"/>
                    </a:solidFill>
                  </a:tcPr>
                </a:tc>
                <a:tc>
                  <a:txBody>
                    <a:bodyPr wrap="none"/>
                    <a:lstStyle/>
                    <a:p>
                      <a:pPr algn="ctr"/>
                      <a:r>
                        <a:rPr sz="1000" b="0" i="0">
                          <a:solidFill>
                            <a:srgbClr val="262626"/>
                          </a:solidFill>
                          <a:latin typeface="Arial"/>
                        </a:rPr>
                        <a:t>Sep 22</a:t>
                      </a:r>
                    </a:p>
                  </a:txBody>
                  <a:tcPr>
                    <a:solidFill>
                      <a:srgbClr val="FFFFFF"/>
                    </a:solidFill>
                  </a:tcPr>
                </a:tc>
                <a:tc>
                  <a:txBody>
                    <a:bodyPr wrap="none"/>
                    <a:lstStyle/>
                    <a:p>
                      <a:pPr algn="ctr"/>
                      <a:r>
                        <a:rPr sz="1000" b="0" i="0">
                          <a:solidFill>
                            <a:srgbClr val="262626"/>
                          </a:solidFill>
                          <a:latin typeface="Arial"/>
                        </a:rPr>
                        <a:t>23.5°*</a:t>
                      </a:r>
                    </a:p>
                  </a:txBody>
                  <a:tcPr>
                    <a:solidFill>
                      <a:srgbClr val="FFFFFF"/>
                    </a:solidFill>
                  </a:tcPr>
                </a:tc>
                <a:tc>
                  <a:txBody>
                    <a:bodyPr wrap="none"/>
                    <a:lstStyle/>
                    <a:p>
                      <a:pPr algn="ctr"/>
                      <a:r>
                        <a:rPr sz="1000" b="0" i="0">
                          <a:solidFill>
                            <a:srgbClr val="262626"/>
                          </a:solidFill>
                          <a:latin typeface="Arial"/>
                        </a:rPr>
                        <a:t>39%</a:t>
                      </a:r>
                    </a:p>
                  </a:txBody>
                  <a:tcPr>
                    <a:solidFill>
                      <a:srgbClr val="FFFFFF"/>
                    </a:solidFill>
                  </a:tcPr>
                </a:tc>
                <a:tc>
                  <a:txBody>
                    <a:bodyPr wrap="none"/>
                    <a:lstStyle/>
                    <a:p>
                      <a:pPr algn="ctr"/>
                      <a:r>
                        <a:rPr sz="1000" b="0" i="0">
                          <a:solidFill>
                            <a:srgbClr val="262626"/>
                          </a:solidFill>
                          <a:latin typeface="Arial"/>
                        </a:rPr>
                        <a:t>9</a:t>
                      </a:r>
                    </a:p>
                  </a:txBody>
                  <a:tcPr>
                    <a:solidFill>
                      <a:srgbClr val="FFFFFF"/>
                    </a:solidFill>
                  </a:tcPr>
                </a:tc>
                <a:tc>
                  <a:txBody>
                    <a:bodyPr wrap="none"/>
                    <a:lstStyle/>
                    <a:p>
                      <a:pPr algn="ctr"/>
                      <a:r>
                        <a:rPr sz="1000" b="0" i="0">
                          <a:solidFill>
                            <a:srgbClr val="262626"/>
                          </a:solidFill>
                          <a:latin typeface="Arial"/>
                        </a:rPr>
                        <a:t>0.0</a:t>
                      </a:r>
                    </a:p>
                  </a:txBody>
                  <a:tcPr>
                    <a:solidFill>
                      <a:srgbClr val="FFFFFF"/>
                    </a:solidFill>
                  </a:tcPr>
                </a:tc>
              </a:tr>
              <a:tr h="352697">
                <a:tc>
                  <a:txBody>
                    <a:bodyPr wrap="none"/>
                    <a:lstStyle/>
                    <a:p>
                      <a:pPr algn="ctr"/>
                      <a:r>
                        <a:rPr sz="1000" b="0" i="0">
                          <a:solidFill>
                            <a:srgbClr val="262626"/>
                          </a:solidFill>
                          <a:latin typeface="Arial"/>
                        </a:rPr>
                        <a:t>2019</a:t>
                      </a:r>
                    </a:p>
                  </a:txBody>
                  <a:tcPr>
                    <a:solidFill>
                      <a:srgbClr val="F2F2F2"/>
                    </a:solidFill>
                  </a:tcPr>
                </a:tc>
                <a:tc>
                  <a:txBody>
                    <a:bodyPr wrap="none"/>
                    <a:lstStyle/>
                    <a:p>
                      <a:pPr algn="ctr"/>
                      <a:r>
                        <a:rPr sz="1000" b="0" i="0">
                          <a:solidFill>
                            <a:srgbClr val="262626"/>
                          </a:solidFill>
                          <a:latin typeface="Arial"/>
                        </a:rPr>
                        <a:t>Sep 21</a:t>
                      </a:r>
                    </a:p>
                  </a:txBody>
                  <a:tcPr>
                    <a:solidFill>
                      <a:srgbClr val="F2F2F2"/>
                    </a:solidFill>
                  </a:tcPr>
                </a:tc>
                <a:tc>
                  <a:txBody>
                    <a:bodyPr wrap="none"/>
                    <a:lstStyle/>
                    <a:p>
                      <a:pPr algn="ctr"/>
                      <a:r>
                        <a:rPr sz="1000" b="0" i="0">
                          <a:solidFill>
                            <a:srgbClr val="262626"/>
                          </a:solidFill>
                          <a:latin typeface="Arial"/>
                        </a:rPr>
                        <a:t>23.3°*</a:t>
                      </a:r>
                    </a:p>
                  </a:txBody>
                  <a:tcPr>
                    <a:solidFill>
                      <a:srgbClr val="F2F2F2"/>
                    </a:solidFill>
                  </a:tcPr>
                </a:tc>
                <a:tc>
                  <a:txBody>
                    <a:bodyPr wrap="none"/>
                    <a:lstStyle/>
                    <a:p>
                      <a:pPr algn="ctr"/>
                      <a:r>
                        <a:rPr sz="1000" b="0" i="0">
                          <a:solidFill>
                            <a:srgbClr val="262626"/>
                          </a:solidFill>
                          <a:latin typeface="Arial"/>
                        </a:rPr>
                        <a:t>66%</a:t>
                      </a:r>
                    </a:p>
                  </a:txBody>
                  <a:tcPr>
                    <a:solidFill>
                      <a:srgbClr val="F2F2F2"/>
                    </a:solidFill>
                  </a:tcPr>
                </a:tc>
                <a:tc>
                  <a:txBody>
                    <a:bodyPr wrap="none"/>
                    <a:lstStyle/>
                    <a:p>
                      <a:pPr algn="ctr"/>
                      <a:r>
                        <a:rPr sz="1000" b="0" i="0">
                          <a:solidFill>
                            <a:srgbClr val="262626"/>
                          </a:solidFill>
                          <a:latin typeface="Arial"/>
                        </a:rPr>
                        <a:t>20</a:t>
                      </a:r>
                    </a:p>
                  </a:txBody>
                  <a:tcPr>
                    <a:solidFill>
                      <a:srgbClr val="F2F2F2"/>
                    </a:solidFill>
                  </a:tcPr>
                </a:tc>
                <a:tc>
                  <a:txBody>
                    <a:bodyPr wrap="none"/>
                    <a:lstStyle/>
                    <a:p>
                      <a:pPr algn="ctr"/>
                      <a:r>
                        <a:rPr sz="1000" b="0" i="0">
                          <a:solidFill>
                            <a:srgbClr val="262626"/>
                          </a:solidFill>
                          <a:latin typeface="Arial"/>
                        </a:rPr>
                        <a:t>0.0</a:t>
                      </a:r>
                    </a:p>
                  </a:txBody>
                  <a:tcPr>
                    <a:solidFill>
                      <a:srgbClr val="F2F2F2"/>
                    </a:solidFill>
                  </a:tcPr>
                </a:tc>
              </a:tr>
              <a:tr h="352697">
                <a:tc>
                  <a:txBody>
                    <a:bodyPr wrap="none"/>
                    <a:lstStyle/>
                    <a:p>
                      <a:pPr algn="ctr"/>
                      <a:r>
                        <a:rPr sz="1000" b="0" i="0">
                          <a:solidFill>
                            <a:srgbClr val="262626"/>
                          </a:solidFill>
                          <a:latin typeface="Arial"/>
                        </a:rPr>
                        <a:t>2023</a:t>
                      </a:r>
                    </a:p>
                  </a:txBody>
                  <a:tcPr>
                    <a:solidFill>
                      <a:srgbClr val="FFFFFF"/>
                    </a:solidFill>
                  </a:tcPr>
                </a:tc>
                <a:tc>
                  <a:txBody>
                    <a:bodyPr wrap="none"/>
                    <a:lstStyle/>
                    <a:p>
                      <a:pPr algn="ctr"/>
                      <a:r>
                        <a:rPr sz="1000" b="0" i="0">
                          <a:solidFill>
                            <a:srgbClr val="262626"/>
                          </a:solidFill>
                          <a:latin typeface="Arial"/>
                        </a:rPr>
                        <a:t>Aug 26</a:t>
                      </a:r>
                    </a:p>
                  </a:txBody>
                  <a:tcPr>
                    <a:solidFill>
                      <a:srgbClr val="FFFFFF"/>
                    </a:solidFill>
                  </a:tcPr>
                </a:tc>
                <a:tc>
                  <a:txBody>
                    <a:bodyPr wrap="none"/>
                    <a:lstStyle/>
                    <a:p>
                      <a:pPr algn="ctr"/>
                      <a:r>
                        <a:rPr sz="1000" b="0" i="0">
                          <a:solidFill>
                            <a:srgbClr val="262626"/>
                          </a:solidFill>
                          <a:latin typeface="Arial"/>
                        </a:rPr>
                        <a:t>27.2</a:t>
                      </a:r>
                    </a:p>
                  </a:txBody>
                  <a:tcPr>
                    <a:solidFill>
                      <a:srgbClr val="FFFFFF"/>
                    </a:solidFill>
                  </a:tcPr>
                </a:tc>
                <a:tc>
                  <a:txBody>
                    <a:bodyPr wrap="none"/>
                    <a:lstStyle/>
                    <a:p>
                      <a:pPr algn="ctr"/>
                      <a:r>
                        <a:rPr sz="1000" b="0" i="0">
                          <a:solidFill>
                            <a:srgbClr val="262626"/>
                          </a:solidFill>
                          <a:latin typeface="Arial"/>
                        </a:rPr>
                        <a:t>60%</a:t>
                      </a:r>
                    </a:p>
                  </a:txBody>
                  <a:tcPr>
                    <a:solidFill>
                      <a:srgbClr val="FFFFFF"/>
                    </a:solidFill>
                  </a:tcPr>
                </a:tc>
                <a:tc>
                  <a:txBody>
                    <a:bodyPr wrap="none"/>
                    <a:lstStyle/>
                    <a:p>
                      <a:pPr algn="ctr"/>
                      <a:r>
                        <a:rPr sz="1000" b="0" i="0">
                          <a:solidFill>
                            <a:srgbClr val="262626"/>
                          </a:solidFill>
                          <a:latin typeface="Arial"/>
                        </a:rPr>
                        <a:t>16</a:t>
                      </a:r>
                    </a:p>
                  </a:txBody>
                  <a:tcPr>
                    <a:solidFill>
                      <a:srgbClr val="FFFFFF"/>
                    </a:solidFill>
                  </a:tcPr>
                </a:tc>
                <a:tc>
                  <a:txBody>
                    <a:bodyPr wrap="none"/>
                    <a:lstStyle/>
                    <a:p>
                      <a:pPr algn="ctr"/>
                      <a:r>
                        <a:rPr sz="1000" b="0" i="0">
                          <a:solidFill>
                            <a:srgbClr val="262626"/>
                          </a:solidFill>
                          <a:latin typeface="Arial"/>
                        </a:rPr>
                        <a:t>0.0</a:t>
                      </a:r>
                    </a:p>
                  </a:txBody>
                  <a:tcPr>
                    <a:solidFill>
                      <a:srgbClr val="FFFFFF"/>
                    </a:solidFill>
                  </a:tcPr>
                </a:tc>
              </a:tr>
              <a:tr h="352697">
                <a:tc>
                  <a:txBody>
                    <a:bodyPr wrap="none"/>
                    <a:lstStyle/>
                    <a:p>
                      <a:pPr algn="ctr"/>
                      <a:r>
                        <a:rPr sz="1000" b="0" i="0">
                          <a:solidFill>
                            <a:srgbClr val="262626"/>
                          </a:solidFill>
                          <a:latin typeface="Arial"/>
                        </a:rPr>
                        <a:t>2024</a:t>
                      </a:r>
                    </a:p>
                  </a:txBody>
                  <a:tcPr>
                    <a:solidFill>
                      <a:srgbClr val="F2F2F2"/>
                    </a:solidFill>
                  </a:tcPr>
                </a:tc>
                <a:tc>
                  <a:txBody>
                    <a:bodyPr wrap="none"/>
                    <a:lstStyle/>
                    <a:p>
                      <a:pPr algn="ctr"/>
                      <a:r>
                        <a:rPr sz="1000" b="0" i="0">
                          <a:solidFill>
                            <a:srgbClr val="262626"/>
                          </a:solidFill>
                          <a:latin typeface="Arial"/>
                        </a:rPr>
                        <a:t>Sep 27</a:t>
                      </a:r>
                    </a:p>
                  </a:txBody>
                  <a:tcPr>
                    <a:solidFill>
                      <a:srgbClr val="F2F2F2"/>
                    </a:solidFill>
                  </a:tcPr>
                </a:tc>
                <a:tc>
                  <a:txBody>
                    <a:bodyPr wrap="none"/>
                    <a:lstStyle/>
                    <a:p>
                      <a:pPr algn="ctr"/>
                      <a:r>
                        <a:rPr sz="1000" b="0" i="0">
                          <a:solidFill>
                            <a:srgbClr val="262626"/>
                          </a:solidFill>
                          <a:latin typeface="Arial"/>
                        </a:rPr>
                        <a:t>24.1</a:t>
                      </a:r>
                    </a:p>
                  </a:txBody>
                  <a:tcPr>
                    <a:solidFill>
                      <a:srgbClr val="F2F2F2"/>
                    </a:solidFill>
                  </a:tcPr>
                </a:tc>
                <a:tc>
                  <a:txBody>
                    <a:bodyPr wrap="none"/>
                    <a:lstStyle/>
                    <a:p>
                      <a:pPr algn="ctr"/>
                      <a:r>
                        <a:rPr sz="1000" b="0" i="0">
                          <a:solidFill>
                            <a:srgbClr val="262626"/>
                          </a:solidFill>
                          <a:latin typeface="Arial"/>
                        </a:rPr>
                        <a:t>62%</a:t>
                      </a:r>
                    </a:p>
                  </a:txBody>
                  <a:tcPr>
                    <a:solidFill>
                      <a:srgbClr val="F2F2F2"/>
                    </a:solidFill>
                  </a:tcPr>
                </a:tc>
                <a:tc>
                  <a:txBody>
                    <a:bodyPr wrap="none"/>
                    <a:lstStyle/>
                    <a:p>
                      <a:pPr algn="ctr"/>
                      <a:r>
                        <a:rPr sz="1000" b="0" i="0">
                          <a:solidFill>
                            <a:srgbClr val="262626"/>
                          </a:solidFill>
                          <a:latin typeface="Arial"/>
                        </a:rPr>
                        <a:t>14</a:t>
                      </a:r>
                    </a:p>
                  </a:txBody>
                  <a:tcPr>
                    <a:solidFill>
                      <a:srgbClr val="F2F2F2"/>
                    </a:solidFill>
                  </a:tcPr>
                </a:tc>
                <a:tc>
                  <a:txBody>
                    <a:bodyPr wrap="none"/>
                    <a:lstStyle/>
                    <a:p>
                      <a:pPr algn="ctr"/>
                      <a:r>
                        <a:rPr sz="1000" b="0" i="0">
                          <a:solidFill>
                            <a:srgbClr val="262626"/>
                          </a:solidFill>
                          <a:latin typeface="Arial"/>
                        </a:rPr>
                        <a:t>0.0</a:t>
                      </a:r>
                    </a:p>
                  </a:txBody>
                  <a:tcPr>
                    <a:solidFill>
                      <a:srgbClr val="F2F2F2"/>
                    </a:solidFill>
                  </a:tcPr>
                </a:tc>
              </a:tr>
              <a:tr h="352697">
                <a:tc>
                  <a:txBody>
                    <a:bodyPr wrap="none"/>
                    <a:lstStyle/>
                    <a:p>
                      <a:pPr algn="ctr"/>
                      <a:r>
                        <a:rPr sz="1000" b="0" i="0">
                          <a:solidFill>
                            <a:srgbClr val="262626"/>
                          </a:solidFill>
                          <a:latin typeface="Arial"/>
                        </a:rPr>
                        <a:t>2025</a:t>
                      </a:r>
                    </a:p>
                  </a:txBody>
                  <a:tcPr>
                    <a:solidFill>
                      <a:srgbClr val="FFFFFF"/>
                    </a:solidFill>
                  </a:tcPr>
                </a:tc>
                <a:tc>
                  <a:txBody>
                    <a:bodyPr wrap="none"/>
                    <a:lstStyle/>
                    <a:p>
                      <a:pPr algn="ctr"/>
                      <a:r>
                        <a:rPr sz="1000" b="0" i="0">
                          <a:solidFill>
                            <a:srgbClr val="262626"/>
                          </a:solidFill>
                          <a:latin typeface="Arial"/>
                        </a:rPr>
                        <a:t>Sep 26</a:t>
                      </a:r>
                    </a:p>
                  </a:txBody>
                  <a:tcPr>
                    <a:solidFill>
                      <a:srgbClr val="FFFFFF"/>
                    </a:solidFill>
                  </a:tcPr>
                </a:tc>
                <a:tc>
                  <a:txBody>
                    <a:bodyPr wrap="none"/>
                    <a:lstStyle/>
                    <a:p>
                      <a:pPr algn="ctr"/>
                      <a:r>
                        <a:rPr sz="1000" b="0" i="0">
                          <a:solidFill>
                            <a:srgbClr val="262626"/>
                          </a:solidFill>
                          <a:latin typeface="Arial"/>
                        </a:rPr>
                        <a:t>24.9</a:t>
                      </a:r>
                    </a:p>
                  </a:txBody>
                  <a:tcPr>
                    <a:solidFill>
                      <a:srgbClr val="FFFFFF"/>
                    </a:solidFill>
                  </a:tcPr>
                </a:tc>
                <a:tc>
                  <a:txBody>
                    <a:bodyPr wrap="none"/>
                    <a:lstStyle/>
                    <a:p>
                      <a:pPr algn="ctr"/>
                      <a:r>
                        <a:rPr sz="1000" b="0" i="0">
                          <a:solidFill>
                            <a:srgbClr val="262626"/>
                          </a:solidFill>
                          <a:latin typeface="Arial"/>
                        </a:rPr>
                        <a:t>78%</a:t>
                      </a:r>
                    </a:p>
                  </a:txBody>
                  <a:tcPr>
                    <a:solidFill>
                      <a:srgbClr val="FFFFFF"/>
                    </a:solidFill>
                  </a:tcPr>
                </a:tc>
                <a:tc>
                  <a:txBody>
                    <a:bodyPr wrap="none"/>
                    <a:lstStyle/>
                    <a:p>
                      <a:pPr algn="ctr"/>
                      <a:r>
                        <a:rPr sz="1000" b="0" i="0">
                          <a:solidFill>
                            <a:srgbClr val="262626"/>
                          </a:solidFill>
                          <a:latin typeface="Arial"/>
                        </a:rPr>
                        <a:t>8</a:t>
                      </a:r>
                    </a:p>
                  </a:txBody>
                  <a:tcPr>
                    <a:solidFill>
                      <a:srgbClr val="FFFFFF"/>
                    </a:solidFill>
                  </a:tcPr>
                </a:tc>
                <a:tc>
                  <a:txBody>
                    <a:bodyPr wrap="none"/>
                    <a:lstStyle/>
                    <a:p>
                      <a:pPr algn="ctr"/>
                      <a:r>
                        <a:rPr sz="1000" b="0" i="0">
                          <a:solidFill>
                            <a:srgbClr val="262626"/>
                          </a:solidFill>
                          <a:latin typeface="Arial"/>
                        </a:rPr>
                        <a:t>0.0</a:t>
                      </a:r>
                    </a:p>
                  </a:txBody>
                  <a:tcPr>
                    <a:solidFill>
                      <a:srgbClr val="FFFFFF"/>
                    </a:solidFill>
                  </a:tcPr>
                </a:tc>
              </a:tr>
              <a:tr h="352698">
                <a:tc>
                  <a:txBody>
                    <a:bodyPr wrap="none"/>
                    <a:lstStyle/>
                    <a:p>
                      <a:pPr algn="ctr"/>
                      <a:r>
                        <a:rPr sz="1000" b="0" i="0">
                          <a:solidFill>
                            <a:srgbClr val="262626"/>
                          </a:solidFill>
                          <a:latin typeface="Arial"/>
                        </a:rPr>
                        <a:t>2026</a:t>
                      </a:r>
                    </a:p>
                  </a:txBody>
                  <a:tcPr>
                    <a:solidFill>
                      <a:srgbClr val="F2F2F2"/>
                    </a:solidFill>
                  </a:tcPr>
                </a:tc>
                <a:tc>
                  <a:txBody>
                    <a:bodyPr wrap="none"/>
                    <a:lstStyle/>
                    <a:p>
                      <a:pPr algn="ctr"/>
                      <a:r>
                        <a:rPr sz="1000" b="0" i="0">
                          <a:solidFill>
                            <a:srgbClr val="262626"/>
                          </a:solidFill>
                          <a:latin typeface="Arial"/>
                        </a:rPr>
                        <a:t>Aug 29</a:t>
                      </a:r>
                    </a:p>
                  </a:txBody>
                  <a:tcPr>
                    <a:solidFill>
                      <a:srgbClr val="F2F2F2"/>
                    </a:solidFill>
                  </a:tcPr>
                </a:tc>
                <a:tc>
                  <a:txBody>
                    <a:bodyPr wrap="none"/>
                    <a:lstStyle/>
                    <a:p>
                      <a:pPr algn="ctr"/>
                      <a:r>
                        <a:rPr sz="1000" b="0" i="0">
                          <a:solidFill>
                            <a:srgbClr val="262626"/>
                          </a:solidFill>
                          <a:latin typeface="Arial"/>
                        </a:rPr>
                        <a:t>24.1</a:t>
                      </a:r>
                    </a:p>
                  </a:txBody>
                  <a:tcPr>
                    <a:solidFill>
                      <a:srgbClr val="F2F2F2"/>
                    </a:solidFill>
                  </a:tcPr>
                </a:tc>
                <a:tc>
                  <a:txBody>
                    <a:bodyPr wrap="none"/>
                    <a:lstStyle/>
                    <a:p>
                      <a:pPr algn="ctr"/>
                      <a:r>
                        <a:rPr sz="1000" b="0" i="0">
                          <a:solidFill>
                            <a:srgbClr val="262626"/>
                          </a:solidFill>
                          <a:latin typeface="Arial"/>
                        </a:rPr>
                        <a:t>84%</a:t>
                      </a:r>
                    </a:p>
                  </a:txBody>
                  <a:tcPr>
                    <a:solidFill>
                      <a:srgbClr val="F2F2F2"/>
                    </a:solidFill>
                  </a:tcPr>
                </a:tc>
                <a:tc>
                  <a:txBody>
                    <a:bodyPr wrap="none"/>
                    <a:lstStyle/>
                    <a:p>
                      <a:pPr algn="ctr"/>
                      <a:r>
                        <a:rPr sz="1000" b="0" i="0">
                          <a:solidFill>
                            <a:srgbClr val="262626"/>
                          </a:solidFill>
                          <a:latin typeface="Arial"/>
                        </a:rPr>
                        <a:t>9</a:t>
                      </a:r>
                    </a:p>
                  </a:txBody>
                  <a:tcPr>
                    <a:solidFill>
                      <a:srgbClr val="F2F2F2"/>
                    </a:solidFill>
                  </a:tcPr>
                </a:tc>
                <a:tc>
                  <a:txBody>
                    <a:bodyPr wrap="none"/>
                    <a:lstStyle/>
                    <a:p>
                      <a:pPr algn="ctr"/>
                      <a:r>
                        <a:rPr sz="1000" b="0" i="0">
                          <a:solidFill>
                            <a:srgbClr val="262626"/>
                          </a:solidFill>
                          <a:latin typeface="Arial"/>
                        </a:rPr>
                        <a:t>1.3</a:t>
                      </a:r>
                    </a:p>
                  </a:txBody>
                  <a:tcPr>
                    <a:solidFill>
                      <a:srgbClr val="F2F2F2"/>
                    </a:solidFill>
                  </a:tcPr>
                </a:tc>
              </a:tr>
            </a:tbl>
          </a:graphicData>
        </a:graphic>
      </p:graphicFrame>
      <p:sp>
        <p:nvSpPr>
          <p:cNvPr id="9" name="Rectangle 8"/>
          <p:cNvSpPr/>
          <p:nvPr/>
        </p:nvSpPr>
        <p:spPr>
          <a:xfrm>
            <a:off x="274320" y="1078992"/>
            <a:ext cx="4709160" cy="914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088136"/>
            <a:ext cx="4572000" cy="91440"/>
          </a:xfrm>
          <a:prstGeom prst="rect">
            <a:avLst/>
          </a:prstGeom>
          <a:noFill/>
        </p:spPr>
        <p:txBody>
          <a:bodyPr wrap="square">
            <a:spAutoFit/>
          </a:bodyPr>
          <a:lstStyle/>
          <a:p>
            <a:pPr algn="l"/>
            <a:r>
              <a:rPr sz="950" b="1" i="0">
                <a:solidFill>
                  <a:srgbClr val="002060"/>
                </a:solidFill>
                <a:latin typeface="Arial"/>
              </a:rPr>
              <a:t>RACE-DAY WEATHER (09:00–14:00 local)</a:t>
            </a:r>
          </a:p>
        </p:txBody>
      </p:sp>
      <p:graphicFrame>
        <p:nvGraphicFramePr>
          <p:cNvPr id="11" name="Table 10"/>
          <p:cNvGraphicFramePr>
            <a:graphicFrameLocks noGrp="1"/>
          </p:cNvGraphicFramePr>
          <p:nvPr/>
        </p:nvGraphicFramePr>
        <p:xfrm>
          <a:off x="5166360" y="1170432"/>
          <a:ext cx="4069078" cy="2468880"/>
        </p:xfrm>
        <a:graphic>
          <a:graphicData uri="http://schemas.openxmlformats.org/drawingml/2006/table">
            <a:tbl>
              <a:tblPr firstRow="1" bandRow="1">
                <a:tableStyleId>{5C22544A-7EE6-4342-B048-85BDC9FD1C3A}</a:tableStyleId>
              </a:tblPr>
              <a:tblGrid>
                <a:gridCol w="629738"/>
                <a:gridCol w="823504"/>
                <a:gridCol w="726621"/>
                <a:gridCol w="823504"/>
                <a:gridCol w="1065711"/>
              </a:tblGrid>
              <a:tr h="352697">
                <a:tc>
                  <a:txBody>
                    <a:bodyPr wrap="none"/>
                    <a:lstStyle/>
                    <a:p>
                      <a:pPr algn="ctr"/>
                      <a:r>
                        <a:rPr sz="1000" b="1" i="0">
                          <a:solidFill>
                            <a:srgbClr val="FFFFFF"/>
                          </a:solidFill>
                          <a:latin typeface="Arial"/>
                        </a:rPr>
                        <a:t>Year</a:t>
                      </a:r>
                    </a:p>
                  </a:txBody>
                  <a:tcPr>
                    <a:solidFill>
                      <a:srgbClr val="002060"/>
                    </a:solidFill>
                  </a:tcPr>
                </a:tc>
                <a:tc>
                  <a:txBody>
                    <a:bodyPr wrap="none"/>
                    <a:lstStyle/>
                    <a:p>
                      <a:pPr algn="ctr"/>
                      <a:r>
                        <a:rPr sz="1000" b="1" i="0">
                          <a:solidFill>
                            <a:srgbClr val="FFFFFF"/>
                          </a:solidFill>
                          <a:latin typeface="Arial"/>
                        </a:rPr>
                        <a:t>PM2.5</a:t>
                      </a:r>
                    </a:p>
                  </a:txBody>
                  <a:tcPr>
                    <a:solidFill>
                      <a:srgbClr val="002060"/>
                    </a:solidFill>
                  </a:tcPr>
                </a:tc>
                <a:tc>
                  <a:txBody>
                    <a:bodyPr wrap="none"/>
                    <a:lstStyle/>
                    <a:p>
                      <a:pPr algn="ctr"/>
                      <a:r>
                        <a:rPr sz="1000" b="1" i="0">
                          <a:solidFill>
                            <a:srgbClr val="FFFFFF"/>
                          </a:solidFill>
                          <a:latin typeface="Arial"/>
                        </a:rPr>
                        <a:t>EU AQI</a:t>
                      </a:r>
                    </a:p>
                  </a:txBody>
                  <a:tcPr>
                    <a:solidFill>
                      <a:srgbClr val="002060"/>
                    </a:solidFill>
                  </a:tcPr>
                </a:tc>
                <a:tc>
                  <a:txBody>
                    <a:bodyPr wrap="none"/>
                    <a:lstStyle/>
                    <a:p>
                      <a:pPr algn="ctr"/>
                      <a:r>
                        <a:rPr sz="1000" b="1" i="0">
                          <a:solidFill>
                            <a:srgbClr val="FFFFFF"/>
                          </a:solidFill>
                          <a:latin typeface="Arial"/>
                        </a:rPr>
                        <a:t>UV Index</a:t>
                      </a:r>
                    </a:p>
                  </a:txBody>
                  <a:tcPr>
                    <a:solidFill>
                      <a:srgbClr val="002060"/>
                    </a:solidFill>
                  </a:tcPr>
                </a:tc>
                <a:tc>
                  <a:txBody>
                    <a:bodyPr wrap="none"/>
                    <a:lstStyle/>
                    <a:p>
                      <a:pPr algn="ctr"/>
                      <a:r>
                        <a:rPr sz="1000" b="1" i="0">
                          <a:solidFill>
                            <a:srgbClr val="FFFFFF"/>
                          </a:solidFill>
                          <a:latin typeface="Arial"/>
                        </a:rPr>
                        <a:t>Risk</a:t>
                      </a:r>
                    </a:p>
                  </a:txBody>
                  <a:tcPr>
                    <a:solidFill>
                      <a:srgbClr val="002060"/>
                    </a:solidFill>
                  </a:tcPr>
                </a:tc>
              </a:tr>
              <a:tr h="352697">
                <a:tc>
                  <a:txBody>
                    <a:bodyPr wrap="none"/>
                    <a:lstStyle/>
                    <a:p>
                      <a:pPr algn="ctr"/>
                      <a:r>
                        <a:rPr sz="1000" b="0" i="0">
                          <a:solidFill>
                            <a:srgbClr val="262626"/>
                          </a:solidFill>
                          <a:latin typeface="Arial"/>
                        </a:rPr>
                        <a:t>2018</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r>
              <a:tr h="352697">
                <a:tc>
                  <a:txBody>
                    <a:bodyPr wrap="none"/>
                    <a:lstStyle/>
                    <a:p>
                      <a:pPr algn="ctr"/>
                      <a:r>
                        <a:rPr sz="1000" b="0" i="0">
                          <a:solidFill>
                            <a:srgbClr val="262626"/>
                          </a:solidFill>
                          <a:latin typeface="Arial"/>
                        </a:rPr>
                        <a:t>2019</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r>
              <a:tr h="352697">
                <a:tc>
                  <a:txBody>
                    <a:bodyPr wrap="none"/>
                    <a:lstStyle/>
                    <a:p>
                      <a:pPr algn="ctr"/>
                      <a:r>
                        <a:rPr sz="1000" b="0" i="0">
                          <a:solidFill>
                            <a:srgbClr val="262626"/>
                          </a:solidFill>
                          <a:latin typeface="Arial"/>
                        </a:rPr>
                        <a:t>2023</a:t>
                      </a:r>
                    </a:p>
                  </a:txBody>
                  <a:tcPr>
                    <a:solidFill>
                      <a:srgbClr val="FFFFFF"/>
                    </a:solidFill>
                  </a:tcPr>
                </a:tc>
                <a:tc>
                  <a:txBody>
                    <a:bodyPr wrap="none"/>
                    <a:lstStyle/>
                    <a:p>
                      <a:pPr algn="ctr"/>
                      <a:r>
                        <a:rPr sz="1000" b="0" i="0">
                          <a:solidFill>
                            <a:srgbClr val="262626"/>
                          </a:solidFill>
                          <a:latin typeface="Arial"/>
                        </a:rPr>
                        <a:t>22.0</a:t>
                      </a:r>
                    </a:p>
                  </a:txBody>
                  <a:tcPr>
                    <a:solidFill>
                      <a:srgbClr val="FFFFFF"/>
                    </a:solidFill>
                  </a:tcPr>
                </a:tc>
                <a:tc>
                  <a:txBody>
                    <a:bodyPr wrap="none"/>
                    <a:lstStyle/>
                    <a:p>
                      <a:pPr algn="ctr"/>
                      <a:r>
                        <a:rPr sz="1000" b="0" i="0">
                          <a:solidFill>
                            <a:srgbClr val="262626"/>
                          </a:solidFill>
                          <a:latin typeface="Arial"/>
                        </a:rPr>
                        <a:t>50</a:t>
                      </a:r>
                    </a:p>
                  </a:txBody>
                  <a:tcPr>
                    <a:solidFill>
                      <a:srgbClr val="FFFFFF"/>
                    </a:solidFill>
                  </a:tcPr>
                </a:tc>
                <a:tc>
                  <a:txBody>
                    <a:bodyPr wrap="none"/>
                    <a:lstStyle/>
                    <a:p>
                      <a:pPr algn="ctr"/>
                      <a:r>
                        <a:rPr sz="1000" b="0" i="0">
                          <a:solidFill>
                            <a:srgbClr val="262626"/>
                          </a:solidFill>
                          <a:latin typeface="Arial"/>
                        </a:rPr>
                        <a:t>5.2</a:t>
                      </a:r>
                    </a:p>
                  </a:txBody>
                  <a:tcPr>
                    <a:solidFill>
                      <a:srgbClr val="FFFFFF"/>
                    </a:solidFill>
                  </a:tcPr>
                </a:tc>
                <a:tc>
                  <a:txBody>
                    <a:bodyPr wrap="none"/>
                    <a:lstStyle/>
                    <a:p>
                      <a:pPr algn="ctr"/>
                      <a:r>
                        <a:rPr sz="1000" b="0" i="0">
                          <a:solidFill>
                            <a:srgbClr val="262626"/>
                          </a:solidFill>
                          <a:latin typeface="Arial"/>
                        </a:rPr>
                        <a:t>Moderate</a:t>
                      </a:r>
                    </a:p>
                  </a:txBody>
                  <a:tcPr>
                    <a:solidFill>
                      <a:srgbClr val="FFFFFF"/>
                    </a:solidFill>
                  </a:tcPr>
                </a:tc>
              </a:tr>
              <a:tr h="352697">
                <a:tc>
                  <a:txBody>
                    <a:bodyPr wrap="none"/>
                    <a:lstStyle/>
                    <a:p>
                      <a:pPr algn="ctr"/>
                      <a:r>
                        <a:rPr sz="1000" b="0" i="0">
                          <a:solidFill>
                            <a:srgbClr val="262626"/>
                          </a:solidFill>
                          <a:latin typeface="Arial"/>
                        </a:rPr>
                        <a:t>2024</a:t>
                      </a:r>
                    </a:p>
                  </a:txBody>
                  <a:tcPr>
                    <a:solidFill>
                      <a:srgbClr val="F2F2F2"/>
                    </a:solidFill>
                  </a:tcPr>
                </a:tc>
                <a:tc>
                  <a:txBody>
                    <a:bodyPr wrap="none"/>
                    <a:lstStyle/>
                    <a:p>
                      <a:pPr algn="ctr"/>
                      <a:r>
                        <a:rPr sz="1000" b="0" i="0">
                          <a:solidFill>
                            <a:srgbClr val="262626"/>
                          </a:solidFill>
                          <a:latin typeface="Arial"/>
                        </a:rPr>
                        <a:t>8.9</a:t>
                      </a:r>
                    </a:p>
                  </a:txBody>
                  <a:tcPr>
                    <a:solidFill>
                      <a:srgbClr val="F2F2F2"/>
                    </a:solidFill>
                  </a:tcPr>
                </a:tc>
                <a:tc>
                  <a:txBody>
                    <a:bodyPr wrap="none"/>
                    <a:lstStyle/>
                    <a:p>
                      <a:pPr algn="ctr"/>
                      <a:r>
                        <a:rPr sz="1000" b="0" i="0">
                          <a:solidFill>
                            <a:srgbClr val="262626"/>
                          </a:solidFill>
                          <a:latin typeface="Arial"/>
                        </a:rPr>
                        <a:t>47</a:t>
                      </a:r>
                    </a:p>
                  </a:txBody>
                  <a:tcPr>
                    <a:solidFill>
                      <a:srgbClr val="F2F2F2"/>
                    </a:solidFill>
                  </a:tcPr>
                </a:tc>
                <a:tc>
                  <a:txBody>
                    <a:bodyPr wrap="none"/>
                    <a:lstStyle/>
                    <a:p>
                      <a:pPr algn="ctr"/>
                      <a:r>
                        <a:rPr sz="1000" b="0" i="0">
                          <a:solidFill>
                            <a:srgbClr val="262626"/>
                          </a:solidFill>
                          <a:latin typeface="Arial"/>
                        </a:rPr>
                        <a:t>4.3</a:t>
                      </a:r>
                    </a:p>
                  </a:txBody>
                  <a:tcPr>
                    <a:solidFill>
                      <a:srgbClr val="F2F2F2"/>
                    </a:solidFill>
                  </a:tcPr>
                </a:tc>
                <a:tc>
                  <a:txBody>
                    <a:bodyPr wrap="none"/>
                    <a:lstStyle/>
                    <a:p>
                      <a:pPr algn="ctr"/>
                      <a:r>
                        <a:rPr sz="1000" b="0" i="0">
                          <a:solidFill>
                            <a:srgbClr val="262626"/>
                          </a:solidFill>
                          <a:latin typeface="Arial"/>
                        </a:rPr>
                        <a:t>Moderate</a:t>
                      </a:r>
                    </a:p>
                  </a:txBody>
                  <a:tcPr>
                    <a:solidFill>
                      <a:srgbClr val="F2F2F2"/>
                    </a:solidFill>
                  </a:tcPr>
                </a:tc>
              </a:tr>
              <a:tr h="352697">
                <a:tc>
                  <a:txBody>
                    <a:bodyPr wrap="none"/>
                    <a:lstStyle/>
                    <a:p>
                      <a:pPr algn="ctr"/>
                      <a:r>
                        <a:rPr sz="1000" b="0" i="0">
                          <a:solidFill>
                            <a:srgbClr val="262626"/>
                          </a:solidFill>
                          <a:latin typeface="Arial"/>
                        </a:rPr>
                        <a:t>2025</a:t>
                      </a:r>
                    </a:p>
                  </a:txBody>
                  <a:tcPr>
                    <a:solidFill>
                      <a:srgbClr val="FFFFFF"/>
                    </a:solidFill>
                  </a:tcPr>
                </a:tc>
                <a:tc>
                  <a:txBody>
                    <a:bodyPr wrap="none"/>
                    <a:lstStyle/>
                    <a:p>
                      <a:pPr algn="ctr"/>
                      <a:r>
                        <a:rPr sz="1000" b="0" i="0">
                          <a:solidFill>
                            <a:srgbClr val="262626"/>
                          </a:solidFill>
                          <a:latin typeface="Arial"/>
                        </a:rPr>
                        <a:t>45.5</a:t>
                      </a:r>
                    </a:p>
                  </a:txBody>
                  <a:tcPr>
                    <a:solidFill>
                      <a:srgbClr val="FFFFFF"/>
                    </a:solidFill>
                  </a:tcPr>
                </a:tc>
                <a:tc>
                  <a:txBody>
                    <a:bodyPr wrap="none"/>
                    <a:lstStyle/>
                    <a:p>
                      <a:pPr algn="ctr"/>
                      <a:r>
                        <a:rPr sz="1000" b="0" i="0">
                          <a:solidFill>
                            <a:srgbClr val="262626"/>
                          </a:solidFill>
                          <a:latin typeface="Arial"/>
                        </a:rPr>
                        <a:t>87</a:t>
                      </a:r>
                    </a:p>
                  </a:txBody>
                  <a:tcPr>
                    <a:solidFill>
                      <a:srgbClr val="FFFFFF"/>
                    </a:solidFill>
                  </a:tcPr>
                </a:tc>
                <a:tc>
                  <a:txBody>
                    <a:bodyPr wrap="none"/>
                    <a:lstStyle/>
                    <a:p>
                      <a:pPr algn="ctr"/>
                      <a:r>
                        <a:rPr sz="1000" b="0" i="0">
                          <a:solidFill>
                            <a:srgbClr val="262626"/>
                          </a:solidFill>
                          <a:latin typeface="Arial"/>
                        </a:rPr>
                        <a:t>4.5</a:t>
                      </a:r>
                    </a:p>
                  </a:txBody>
                  <a:tcPr>
                    <a:solidFill>
                      <a:srgbClr val="FFFFFF"/>
                    </a:solidFill>
                  </a:tcPr>
                </a:tc>
                <a:tc>
                  <a:txBody>
                    <a:bodyPr wrap="none"/>
                    <a:lstStyle/>
                    <a:p>
                      <a:pPr algn="ctr"/>
                      <a:r>
                        <a:rPr sz="1000" b="0" i="0">
                          <a:solidFill>
                            <a:srgbClr val="262626"/>
                          </a:solidFill>
                          <a:latin typeface="Arial"/>
                        </a:rPr>
                        <a:t>Very Poor</a:t>
                      </a:r>
                    </a:p>
                  </a:txBody>
                  <a:tcPr>
                    <a:solidFill>
                      <a:srgbClr val="FFFFFF"/>
                    </a:solidFill>
                  </a:tcPr>
                </a:tc>
              </a:tr>
              <a:tr h="352698">
                <a:tc>
                  <a:txBody>
                    <a:bodyPr wrap="none"/>
                    <a:lstStyle/>
                    <a:p>
                      <a:pPr algn="ctr"/>
                      <a:r>
                        <a:rPr sz="1000" b="0" i="0">
                          <a:solidFill>
                            <a:srgbClr val="262626"/>
                          </a:solidFill>
                          <a:latin typeface="Arial"/>
                        </a:rPr>
                        <a:t>2026</a:t>
                      </a:r>
                    </a:p>
                  </a:txBody>
                  <a:tcPr>
                    <a:solidFill>
                      <a:srgbClr val="F2F2F2"/>
                    </a:solidFill>
                  </a:tcPr>
                </a:tc>
                <a:tc>
                  <a:txBody>
                    <a:bodyPr wrap="none"/>
                    <a:lstStyle/>
                    <a:p>
                      <a:pPr algn="ctr"/>
                      <a:r>
                        <a:rPr sz="1000" b="0" i="0">
                          <a:solidFill>
                            <a:srgbClr val="262626"/>
                          </a:solidFill>
                          <a:latin typeface="Arial"/>
                        </a:rPr>
                        <a:t>14.5</a:t>
                      </a:r>
                    </a:p>
                  </a:txBody>
                  <a:tcPr>
                    <a:solidFill>
                      <a:srgbClr val="F2F2F2"/>
                    </a:solidFill>
                  </a:tcPr>
                </a:tc>
                <a:tc>
                  <a:txBody>
                    <a:bodyPr wrap="none"/>
                    <a:lstStyle/>
                    <a:p>
                      <a:pPr algn="ctr"/>
                      <a:r>
                        <a:rPr sz="1000" b="0" i="0">
                          <a:solidFill>
                            <a:srgbClr val="262626"/>
                          </a:solidFill>
                          <a:latin typeface="Arial"/>
                        </a:rPr>
                        <a:t>46</a:t>
                      </a:r>
                    </a:p>
                  </a:txBody>
                  <a:tcPr>
                    <a:solidFill>
                      <a:srgbClr val="F2F2F2"/>
                    </a:solidFill>
                  </a:tcPr>
                </a:tc>
                <a:tc>
                  <a:txBody>
                    <a:bodyPr wrap="none"/>
                    <a:lstStyle/>
                    <a:p>
                      <a:pPr algn="ctr"/>
                      <a:r>
                        <a:rPr sz="1000" b="0" i="0">
                          <a:solidFill>
                            <a:srgbClr val="262626"/>
                          </a:solidFill>
                          <a:latin typeface="Arial"/>
                        </a:rPr>
                        <a:t>2.1</a:t>
                      </a:r>
                    </a:p>
                  </a:txBody>
                  <a:tcPr>
                    <a:solidFill>
                      <a:srgbClr val="F2F2F2"/>
                    </a:solidFill>
                  </a:tcPr>
                </a:tc>
                <a:tc>
                  <a:txBody>
                    <a:bodyPr wrap="none"/>
                    <a:lstStyle/>
                    <a:p>
                      <a:pPr algn="ctr"/>
                      <a:r>
                        <a:rPr sz="1000" b="0" i="0">
                          <a:solidFill>
                            <a:srgbClr val="262626"/>
                          </a:solidFill>
                          <a:latin typeface="Arial"/>
                        </a:rPr>
                        <a:t>Moderate</a:t>
                      </a:r>
                    </a:p>
                  </a:txBody>
                  <a:tcPr>
                    <a:solidFill>
                      <a:srgbClr val="F2F2F2"/>
                    </a:solidFill>
                  </a:tcPr>
                </a:tc>
              </a:tr>
            </a:tbl>
          </a:graphicData>
        </a:graphic>
      </p:graphicFrame>
      <p:sp>
        <p:nvSpPr>
          <p:cNvPr id="12" name="TextBox 11"/>
          <p:cNvSpPr txBox="1"/>
          <p:nvPr/>
        </p:nvSpPr>
        <p:spPr>
          <a:xfrm>
            <a:off x="5212080" y="1088136"/>
            <a:ext cx="3931920" cy="91440"/>
          </a:xfrm>
          <a:prstGeom prst="rect">
            <a:avLst/>
          </a:prstGeom>
          <a:noFill/>
        </p:spPr>
        <p:txBody>
          <a:bodyPr wrap="square">
            <a:spAutoFit/>
          </a:bodyPr>
          <a:lstStyle/>
          <a:p>
            <a:pPr algn="l"/>
            <a:r>
              <a:rPr sz="950" b="1" i="0">
                <a:solidFill>
                  <a:srgbClr val="002060"/>
                </a:solidFill>
                <a:latin typeface="Arial"/>
              </a:rPr>
              <a:t>AIR QUALITY (Open-Meteo archive)</a:t>
            </a:r>
          </a:p>
        </p:txBody>
      </p:sp>
      <p:sp>
        <p:nvSpPr>
          <p:cNvPr id="13" name="Rectangle 12"/>
          <p:cNvSpPr/>
          <p:nvPr/>
        </p:nvSpPr>
        <p:spPr>
          <a:xfrm>
            <a:off x="274320" y="3867912"/>
            <a:ext cx="11640312"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3886200"/>
            <a:ext cx="11155680" cy="274320"/>
          </a:xfrm>
          <a:prstGeom prst="rect">
            <a:avLst/>
          </a:prstGeom>
          <a:noFill/>
        </p:spPr>
        <p:txBody>
          <a:bodyPr wrap="square">
            <a:spAutoFit/>
          </a:bodyPr>
          <a:lstStyle/>
          <a:p>
            <a:pPr algn="l"/>
            <a:r>
              <a:rPr sz="1200" b="1" i="0">
                <a:solidFill>
                  <a:srgbClr val="FFFFFF"/>
                </a:solidFill>
                <a:latin typeface="Arial"/>
              </a:rPr>
              <a:t>HEALTH &amp; WATER QUALITY RISK FACTORS</a:t>
            </a:r>
          </a:p>
        </p:txBody>
      </p:sp>
      <p:sp>
        <p:nvSpPr>
          <p:cNvPr id="15" name="TextBox 14"/>
          <p:cNvSpPr txBox="1"/>
          <p:nvPr/>
        </p:nvSpPr>
        <p:spPr>
          <a:xfrm>
            <a:off x="365760" y="4251960"/>
            <a:ext cx="11430000" cy="605790"/>
          </a:xfrm>
          <a:prstGeom prst="rect">
            <a:avLst/>
          </a:prstGeom>
          <a:noFill/>
        </p:spPr>
        <p:txBody>
          <a:bodyPr wrap="square">
            <a:spAutoFit/>
          </a:bodyPr>
          <a:lstStyle/>
          <a:p>
            <a:pPr algn="l"/>
            <a:r>
              <a:rPr sz="1000" b="0" i="0">
                <a:solidFill>
                  <a:srgbClr val="262626"/>
                </a:solidFill>
                <a:latin typeface="Arial"/>
              </a:rPr>
              <a:t>• Water Quality: [PLACEHOLDER: Historical water quality data for Weihai — e.g. bacterial counts, EU Bathing Water Directive status, known algae / pollution events. Check local environmental agency reports for May race window.]</a:t>
            </a:r>
          </a:p>
        </p:txBody>
      </p:sp>
      <p:sp>
        <p:nvSpPr>
          <p:cNvPr id="16" name="TextBox 15"/>
          <p:cNvSpPr txBox="1"/>
          <p:nvPr/>
        </p:nvSpPr>
        <p:spPr>
          <a:xfrm>
            <a:off x="365760" y="4857750"/>
            <a:ext cx="11430000" cy="605790"/>
          </a:xfrm>
          <a:prstGeom prst="rect">
            <a:avLst/>
          </a:prstGeom>
          <a:noFill/>
        </p:spPr>
        <p:txBody>
          <a:bodyPr wrap="square">
            <a:spAutoFit/>
          </a:bodyPr>
          <a:lstStyle/>
          <a:p>
            <a:pPr algn="l"/>
            <a:r>
              <a:rPr sz="1000" b="0" i="0">
                <a:solidFill>
                  <a:srgbClr val="262626"/>
                </a:solidFill>
                <a:latin typeface="Arial"/>
              </a:rPr>
              <a:t>• Athlete Health Incidents: [PLACEHOLDER: Any known GI illness, respiratory, or heat-related incidents at this or comparable venues. E.g. Sunderland 2023 — reported GI illness post-swim for multiple athletes.]</a:t>
            </a:r>
          </a:p>
        </p:txBody>
      </p:sp>
      <p:sp>
        <p:nvSpPr>
          <p:cNvPr id="17" name="TextBox 16"/>
          <p:cNvSpPr txBox="1"/>
          <p:nvPr/>
        </p:nvSpPr>
        <p:spPr>
          <a:xfrm>
            <a:off x="365760" y="5463540"/>
            <a:ext cx="11430000" cy="605790"/>
          </a:xfrm>
          <a:prstGeom prst="rect">
            <a:avLst/>
          </a:prstGeom>
          <a:noFill/>
        </p:spPr>
        <p:txBody>
          <a:bodyPr wrap="square">
            <a:spAutoFit/>
          </a:bodyPr>
          <a:lstStyle/>
          <a:p>
            <a:pPr algn="l"/>
            <a:r>
              <a:rPr sz="1000" b="0" i="0">
                <a:solidFill>
                  <a:srgbClr val="262626"/>
                </a:solidFill>
                <a:latin typeface="Arial"/>
              </a:rPr>
              <a:t>• Water Temperature: [PLACEHOLDER: Historical open-water temperature for Weihai in May (not available from Open-Meteo; check Copernicus Marine / NOAA or WT historical results).]</a:t>
            </a:r>
          </a:p>
        </p:txBody>
      </p:sp>
      <p:sp>
        <p:nvSpPr>
          <p:cNvPr id="18" name="TextBox 17"/>
          <p:cNvSpPr txBox="1"/>
          <p:nvPr/>
        </p:nvSpPr>
        <p:spPr>
          <a:xfrm>
            <a:off x="365760" y="6069330"/>
            <a:ext cx="11430000" cy="605790"/>
          </a:xfrm>
          <a:prstGeom prst="rect">
            <a:avLst/>
          </a:prstGeom>
          <a:noFill/>
        </p:spPr>
        <p:txBody>
          <a:bodyPr wrap="square">
            <a:spAutoFit/>
          </a:bodyPr>
          <a:lstStyle/>
          <a:p>
            <a:pPr algn="l"/>
            <a:r>
              <a:rPr sz="1000" b="0" i="0">
                <a:solidFill>
                  <a:srgbClr val="262626"/>
                </a:solidFill>
                <a:latin typeface="Arial"/>
              </a:rPr>
              <a:t>• Heat / Humidity Risk: Auto-derived from above table — flag if humidity &gt;70% or air temp &gt;25°C at race time.</a:t>
            </a:r>
          </a:p>
        </p:txBody>
      </p:sp>
      <p:sp>
        <p:nvSpPr>
          <p:cNvPr id="19" name="TextBox 18"/>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Weather and AQ data: Open-Meteo historical archive (archive-api.open-meteo.com). EU AQI: Good ≤20, Fair ≤40, Moderate ≤60, Poor ≤80, Very Poor &gt;80.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Who to Watch — Weihai Race Week</a:t>
            </a:r>
          </a:p>
        </p:txBody>
      </p:sp>
      <p:sp>
        <p:nvSpPr>
          <p:cNvPr id="4" name="Rectangle 3"/>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6" name="Rectangle 5"/>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34440"/>
            <a:ext cx="5486400" cy="292608"/>
          </a:xfrm>
          <a:prstGeom prst="rect">
            <a:avLst/>
          </a:prstGeom>
          <a:noFill/>
        </p:spPr>
        <p:txBody>
          <a:bodyPr wrap="square">
            <a:spAutoFit/>
          </a:bodyPr>
          <a:lstStyle/>
          <a:p>
            <a:pPr algn="ctr"/>
            <a:r>
              <a:rPr sz="1400" b="1" i="0">
                <a:solidFill>
                  <a:srgbClr val="FFFFFF"/>
                </a:solidFill>
                <a:latin typeface="Arial"/>
              </a:rPr>
              <a:t>ELITE MEN</a:t>
            </a:r>
          </a:p>
        </p:txBody>
      </p:sp>
      <p:sp>
        <p:nvSpPr>
          <p:cNvPr id="9" name="Rectangle 8"/>
          <p:cNvSpPr/>
          <p:nvPr/>
        </p:nvSpPr>
        <p:spPr>
          <a:xfrm>
            <a:off x="2743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664208"/>
            <a:ext cx="5486400" cy="237744"/>
          </a:xfrm>
          <a:prstGeom prst="rect">
            <a:avLst/>
          </a:prstGeom>
          <a:noFill/>
        </p:spPr>
        <p:txBody>
          <a:bodyPr wrap="square">
            <a:spAutoFit/>
          </a:bodyPr>
          <a:lstStyle/>
          <a:p>
            <a:pPr algn="l"/>
            <a:r>
              <a:rPr sz="1100" b="1" i="0">
                <a:solidFill>
                  <a:srgbClr val="FFFFFF"/>
                </a:solidFill>
                <a:latin typeface="Arial"/>
              </a:rPr>
              <a:t>Top 10 by World Ranking</a:t>
            </a:r>
          </a:p>
        </p:txBody>
      </p:sp>
      <p:graphicFrame>
        <p:nvGraphicFramePr>
          <p:cNvPr id="11" name="Table 10"/>
          <p:cNvGraphicFramePr>
            <a:graphicFrameLocks noGrp="1"/>
          </p:cNvGraphicFramePr>
          <p:nvPr/>
        </p:nvGraphicFramePr>
        <p:xfrm>
          <a:off x="274320" y="1965960"/>
          <a:ext cx="5486400" cy="2907792"/>
        </p:xfrm>
        <a:graphic>
          <a:graphicData uri="http://schemas.openxmlformats.org/drawingml/2006/table">
            <a:tbl>
              <a:tblPr firstRow="1" bandRow="1">
                <a:tableStyleId>{5C22544A-7EE6-4342-B048-85BDC9FD1C3A}</a:tableStyleId>
              </a:tblPr>
              <a:tblGrid>
                <a:gridCol w="731520"/>
                <a:gridCol w="3291840"/>
                <a:gridCol w="1463040"/>
              </a:tblGrid>
              <a:tr h="264344">
                <a:tc>
                  <a:txBody>
                    <a:bodyPr wrap="none"/>
                    <a:lstStyle/>
                    <a:p>
                      <a:pPr algn="ctr"/>
                      <a:r>
                        <a:rPr sz="1000" b="1" i="0">
                          <a:solidFill>
                            <a:srgbClr val="FFFFFF"/>
                          </a:solidFill>
                          <a:latin typeface="Arial"/>
                        </a:rPr>
                        <a:t>Rank</a:t>
                      </a:r>
                    </a:p>
                  </a:txBody>
                  <a:tcPr>
                    <a:solidFill>
                      <a:srgbClr val="002060"/>
                    </a:solidFill>
                  </a:tcPr>
                </a:tc>
                <a:tc>
                  <a:txBody>
                    <a:bodyPr wrap="none"/>
                    <a:lstStyle/>
                    <a:p>
                      <a:pPr algn="ctr"/>
                      <a:r>
                        <a:rPr sz="1000" b="1" i="0">
                          <a:solidFill>
                            <a:srgbClr val="FFFFFF"/>
                          </a:solidFill>
                          <a:latin typeface="Arial"/>
                        </a:rPr>
                        <a:t>Athlete</a:t>
                      </a:r>
                    </a:p>
                  </a:txBody>
                  <a:tcPr>
                    <a:solidFill>
                      <a:srgbClr val="002060"/>
                    </a:solidFill>
                  </a:tcPr>
                </a:tc>
                <a:tc>
                  <a:txBody>
                    <a:bodyPr wrap="none"/>
                    <a:lstStyle/>
                    <a:p>
                      <a:pPr algn="ctr"/>
                      <a:r>
                        <a:rPr sz="1000" b="1" i="0">
                          <a:solidFill>
                            <a:srgbClr val="FFFFFF"/>
                          </a:solidFill>
                          <a:latin typeface="Arial"/>
                        </a:rPr>
                        <a:t>Points</a:t>
                      </a:r>
                    </a:p>
                  </a:txBody>
                  <a:tcPr>
                    <a:solidFill>
                      <a:srgbClr val="002060"/>
                    </a:solidFill>
                  </a:tcPr>
                </a:tc>
              </a:tr>
              <a:tr h="264344">
                <a:tc>
                  <a:txBody>
                    <a:bodyPr wrap="none"/>
                    <a:lstStyle/>
                    <a:p>
                      <a:pPr algn="ctr"/>
                      <a:r>
                        <a:rPr sz="1000" b="1" i="0">
                          <a:solidFill>
                            <a:srgbClr val="262626"/>
                          </a:solidFill>
                          <a:latin typeface="Arial"/>
                        </a:rPr>
                        <a:t>1</a:t>
                      </a:r>
                    </a:p>
                  </a:txBody>
                  <a:tcPr>
                    <a:solidFill>
                      <a:srgbClr val="FFFFFF"/>
                    </a:solidFill>
                  </a:tcPr>
                </a:tc>
                <a:tc>
                  <a:txBody>
                    <a:bodyPr wrap="none"/>
                    <a:lstStyle/>
                    <a:p>
                      <a:pPr algn="l"/>
                      <a:r>
                        <a:rPr sz="1000" b="0" i="0">
                          <a:solidFill>
                            <a:srgbClr val="262626"/>
                          </a:solidFill>
                          <a:latin typeface="Arial"/>
                        </a:rPr>
                        <a:t>Matthew Hauser</a:t>
                      </a:r>
                    </a:p>
                  </a:txBody>
                  <a:tcPr>
                    <a:solidFill>
                      <a:srgbClr val="FFFFFF"/>
                    </a:solidFill>
                  </a:tcPr>
                </a:tc>
                <a:tc>
                  <a:txBody>
                    <a:bodyPr wrap="none"/>
                    <a:lstStyle/>
                    <a:p>
                      <a:pPr algn="ctr"/>
                      <a:r>
                        <a:rPr sz="1000" b="0" i="0">
                          <a:solidFill>
                            <a:srgbClr val="262626"/>
                          </a:solidFill>
                          <a:latin typeface="Arial"/>
                        </a:rPr>
                        <a:t>7,044</a:t>
                      </a:r>
                    </a:p>
                  </a:txBody>
                  <a:tcPr>
                    <a:solidFill>
                      <a:srgbClr val="FFFFFF"/>
                    </a:solidFill>
                  </a:tcPr>
                </a:tc>
              </a:tr>
              <a:tr h="264344">
                <a:tc>
                  <a:txBody>
                    <a:bodyPr wrap="none"/>
                    <a:lstStyle/>
                    <a:p>
                      <a:pPr algn="ctr"/>
                      <a:r>
                        <a:rPr sz="1000" b="1" i="0">
                          <a:solidFill>
                            <a:srgbClr val="262626"/>
                          </a:solidFill>
                          <a:latin typeface="Arial"/>
                        </a:rPr>
                        <a:t>2</a:t>
                      </a:r>
                    </a:p>
                  </a:txBody>
                  <a:tcPr>
                    <a:solidFill>
                      <a:srgbClr val="F2F2F2"/>
                    </a:solidFill>
                  </a:tcPr>
                </a:tc>
                <a:tc>
                  <a:txBody>
                    <a:bodyPr wrap="none"/>
                    <a:lstStyle/>
                    <a:p>
                      <a:pPr algn="l"/>
                      <a:r>
                        <a:rPr sz="1000" b="0" i="0">
                          <a:solidFill>
                            <a:srgbClr val="262626"/>
                          </a:solidFill>
                          <a:latin typeface="Arial"/>
                        </a:rPr>
                        <a:t>Vasco Vilaca</a:t>
                      </a:r>
                    </a:p>
                  </a:txBody>
                  <a:tcPr>
                    <a:solidFill>
                      <a:srgbClr val="F2F2F2"/>
                    </a:solidFill>
                  </a:tcPr>
                </a:tc>
                <a:tc>
                  <a:txBody>
                    <a:bodyPr wrap="none"/>
                    <a:lstStyle/>
                    <a:p>
                      <a:pPr algn="ctr"/>
                      <a:r>
                        <a:rPr sz="1000" b="0" i="0">
                          <a:solidFill>
                            <a:srgbClr val="262626"/>
                          </a:solidFill>
                          <a:latin typeface="Arial"/>
                        </a:rPr>
                        <a:t>6,930</a:t>
                      </a:r>
                    </a:p>
                  </a:txBody>
                  <a:tcPr>
                    <a:solidFill>
                      <a:srgbClr val="F2F2F2"/>
                    </a:solidFill>
                  </a:tcPr>
                </a:tc>
              </a:tr>
              <a:tr h="264344">
                <a:tc>
                  <a:txBody>
                    <a:bodyPr wrap="none"/>
                    <a:lstStyle/>
                    <a:p>
                      <a:pPr algn="ctr"/>
                      <a:r>
                        <a:rPr sz="1000" b="1" i="0">
                          <a:solidFill>
                            <a:srgbClr val="262626"/>
                          </a:solidFill>
                          <a:latin typeface="Arial"/>
                        </a:rPr>
                        <a:t>3</a:t>
                      </a:r>
                    </a:p>
                  </a:txBody>
                  <a:tcPr>
                    <a:solidFill>
                      <a:srgbClr val="FFFFFF"/>
                    </a:solidFill>
                  </a:tcPr>
                </a:tc>
                <a:tc>
                  <a:txBody>
                    <a:bodyPr wrap="none"/>
                    <a:lstStyle/>
                    <a:p>
                      <a:pPr algn="l"/>
                      <a:r>
                        <a:rPr sz="1000" b="0" i="0">
                          <a:solidFill>
                            <a:srgbClr val="262626"/>
                          </a:solidFill>
                          <a:latin typeface="Arial"/>
                        </a:rPr>
                        <a:t>Miguel Hidalgo</a:t>
                      </a:r>
                    </a:p>
                  </a:txBody>
                  <a:tcPr>
                    <a:solidFill>
                      <a:srgbClr val="FFFFFF"/>
                    </a:solidFill>
                  </a:tcPr>
                </a:tc>
                <a:tc>
                  <a:txBody>
                    <a:bodyPr wrap="none"/>
                    <a:lstStyle/>
                    <a:p>
                      <a:pPr algn="ctr"/>
                      <a:r>
                        <a:rPr sz="1000" b="0" i="0">
                          <a:solidFill>
                            <a:srgbClr val="262626"/>
                          </a:solidFill>
                          <a:latin typeface="Arial"/>
                        </a:rPr>
                        <a:t>6,531</a:t>
                      </a:r>
                    </a:p>
                  </a:txBody>
                  <a:tcPr>
                    <a:solidFill>
                      <a:srgbClr val="FFFFFF"/>
                    </a:solidFill>
                  </a:tcPr>
                </a:tc>
              </a:tr>
              <a:tr h="264344">
                <a:tc>
                  <a:txBody>
                    <a:bodyPr wrap="none"/>
                    <a:lstStyle/>
                    <a:p>
                      <a:pPr algn="ctr"/>
                      <a:r>
                        <a:rPr sz="1000" b="1" i="0">
                          <a:solidFill>
                            <a:srgbClr val="262626"/>
                          </a:solidFill>
                          <a:latin typeface="Arial"/>
                        </a:rPr>
                        <a:t>4</a:t>
                      </a:r>
                    </a:p>
                  </a:txBody>
                  <a:tcPr>
                    <a:solidFill>
                      <a:srgbClr val="F2F2F2"/>
                    </a:solidFill>
                  </a:tcPr>
                </a:tc>
                <a:tc>
                  <a:txBody>
                    <a:bodyPr wrap="none"/>
                    <a:lstStyle/>
                    <a:p>
                      <a:pPr algn="l"/>
                      <a:r>
                        <a:rPr sz="1000" b="0" i="0">
                          <a:solidFill>
                            <a:srgbClr val="262626"/>
                          </a:solidFill>
                          <a:latin typeface="Arial"/>
                        </a:rPr>
                        <a:t>Henry Graf</a:t>
                      </a:r>
                    </a:p>
                  </a:txBody>
                  <a:tcPr>
                    <a:solidFill>
                      <a:srgbClr val="F2F2F2"/>
                    </a:solidFill>
                  </a:tcPr>
                </a:tc>
                <a:tc>
                  <a:txBody>
                    <a:bodyPr wrap="none"/>
                    <a:lstStyle/>
                    <a:p>
                      <a:pPr algn="ctr"/>
                      <a:r>
                        <a:rPr sz="1000" b="0" i="0">
                          <a:solidFill>
                            <a:srgbClr val="262626"/>
                          </a:solidFill>
                          <a:latin typeface="Arial"/>
                        </a:rPr>
                        <a:t>6,104</a:t>
                      </a:r>
                    </a:p>
                  </a:txBody>
                  <a:tcPr>
                    <a:solidFill>
                      <a:srgbClr val="F2F2F2"/>
                    </a:solidFill>
                  </a:tcPr>
                </a:tc>
              </a:tr>
              <a:tr h="264344">
                <a:tc>
                  <a:txBody>
                    <a:bodyPr wrap="none"/>
                    <a:lstStyle/>
                    <a:p>
                      <a:pPr algn="ctr"/>
                      <a:r>
                        <a:rPr sz="1000" b="1" i="0">
                          <a:solidFill>
                            <a:srgbClr val="262626"/>
                          </a:solidFill>
                          <a:latin typeface="Arial"/>
                        </a:rPr>
                        <a:t>5</a:t>
                      </a:r>
                    </a:p>
                  </a:txBody>
                  <a:tcPr>
                    <a:solidFill>
                      <a:srgbClr val="FFFFFF"/>
                    </a:solidFill>
                  </a:tcPr>
                </a:tc>
                <a:tc>
                  <a:txBody>
                    <a:bodyPr wrap="none"/>
                    <a:lstStyle/>
                    <a:p>
                      <a:pPr algn="l"/>
                      <a:r>
                        <a:rPr sz="1000" b="0" i="0">
                          <a:solidFill>
                            <a:srgbClr val="262626"/>
                          </a:solidFill>
                          <a:latin typeface="Arial"/>
                        </a:rPr>
                        <a:t>David Cantero Del Campo</a:t>
                      </a:r>
                    </a:p>
                  </a:txBody>
                  <a:tcPr>
                    <a:solidFill>
                      <a:srgbClr val="FFFFFF"/>
                    </a:solidFill>
                  </a:tcPr>
                </a:tc>
                <a:tc>
                  <a:txBody>
                    <a:bodyPr wrap="none"/>
                    <a:lstStyle/>
                    <a:p>
                      <a:pPr algn="ctr"/>
                      <a:r>
                        <a:rPr sz="1000" b="0" i="0">
                          <a:solidFill>
                            <a:srgbClr val="262626"/>
                          </a:solidFill>
                          <a:latin typeface="Arial"/>
                        </a:rPr>
                        <a:t>5,583</a:t>
                      </a:r>
                    </a:p>
                  </a:txBody>
                  <a:tcPr>
                    <a:solidFill>
                      <a:srgbClr val="FFFFFF"/>
                    </a:solidFill>
                  </a:tcPr>
                </a:tc>
              </a:tr>
              <a:tr h="264344">
                <a:tc>
                  <a:txBody>
                    <a:bodyPr wrap="none"/>
                    <a:lstStyle/>
                    <a:p>
                      <a:pPr algn="ctr"/>
                      <a:r>
                        <a:rPr sz="1000" b="1" i="0">
                          <a:solidFill>
                            <a:srgbClr val="262626"/>
                          </a:solidFill>
                          <a:latin typeface="Arial"/>
                        </a:rPr>
                        <a:t>6</a:t>
                      </a:r>
                    </a:p>
                  </a:txBody>
                  <a:tcPr>
                    <a:solidFill>
                      <a:srgbClr val="F2F2F2"/>
                    </a:solidFill>
                  </a:tcPr>
                </a:tc>
                <a:tc>
                  <a:txBody>
                    <a:bodyPr wrap="none"/>
                    <a:lstStyle/>
                    <a:p>
                      <a:pPr algn="l"/>
                      <a:r>
                        <a:rPr sz="1000" b="0" i="0">
                          <a:solidFill>
                            <a:srgbClr val="262626"/>
                          </a:solidFill>
                          <a:latin typeface="Arial"/>
                        </a:rPr>
                        <a:t>Csongor Lehmann</a:t>
                      </a:r>
                    </a:p>
                  </a:txBody>
                  <a:tcPr>
                    <a:solidFill>
                      <a:srgbClr val="F2F2F2"/>
                    </a:solidFill>
                  </a:tcPr>
                </a:tc>
                <a:tc>
                  <a:txBody>
                    <a:bodyPr wrap="none"/>
                    <a:lstStyle/>
                    <a:p>
                      <a:pPr algn="ctr"/>
                      <a:r>
                        <a:rPr sz="1000" b="0" i="0">
                          <a:solidFill>
                            <a:srgbClr val="262626"/>
                          </a:solidFill>
                          <a:latin typeface="Arial"/>
                        </a:rPr>
                        <a:t>5,281</a:t>
                      </a:r>
                    </a:p>
                  </a:txBody>
                  <a:tcPr>
                    <a:solidFill>
                      <a:srgbClr val="F2F2F2"/>
                    </a:solidFill>
                  </a:tcPr>
                </a:tc>
              </a:tr>
              <a:tr h="264344">
                <a:tc>
                  <a:txBody>
                    <a:bodyPr wrap="none"/>
                    <a:lstStyle/>
                    <a:p>
                      <a:pPr algn="ctr"/>
                      <a:r>
                        <a:rPr sz="1000" b="1" i="0">
                          <a:solidFill>
                            <a:srgbClr val="262626"/>
                          </a:solidFill>
                          <a:latin typeface="Arial"/>
                        </a:rPr>
                        <a:t>7</a:t>
                      </a:r>
                    </a:p>
                  </a:txBody>
                  <a:tcPr>
                    <a:solidFill>
                      <a:srgbClr val="FFFFFF"/>
                    </a:solidFill>
                  </a:tcPr>
                </a:tc>
                <a:tc>
                  <a:txBody>
                    <a:bodyPr wrap="none"/>
                    <a:lstStyle/>
                    <a:p>
                      <a:pPr algn="l"/>
                      <a:r>
                        <a:rPr sz="1000" b="0" i="0">
                          <a:solidFill>
                            <a:srgbClr val="262626"/>
                          </a:solidFill>
                          <a:latin typeface="Arial"/>
                        </a:rPr>
                        <a:t>Luke Willian</a:t>
                      </a:r>
                    </a:p>
                  </a:txBody>
                  <a:tcPr>
                    <a:solidFill>
                      <a:srgbClr val="FFFFFF"/>
                    </a:solidFill>
                  </a:tcPr>
                </a:tc>
                <a:tc>
                  <a:txBody>
                    <a:bodyPr wrap="none"/>
                    <a:lstStyle/>
                    <a:p>
                      <a:pPr algn="ctr"/>
                      <a:r>
                        <a:rPr sz="1000" b="0" i="0">
                          <a:solidFill>
                            <a:srgbClr val="262626"/>
                          </a:solidFill>
                          <a:latin typeface="Arial"/>
                        </a:rPr>
                        <a:t>4,734</a:t>
                      </a:r>
                    </a:p>
                  </a:txBody>
                  <a:tcPr>
                    <a:solidFill>
                      <a:srgbClr val="FFFFFF"/>
                    </a:solidFill>
                  </a:tcPr>
                </a:tc>
              </a:tr>
              <a:tr h="264344">
                <a:tc>
                  <a:txBody>
                    <a:bodyPr wrap="none"/>
                    <a:lstStyle/>
                    <a:p>
                      <a:pPr algn="ctr"/>
                      <a:r>
                        <a:rPr sz="1000" b="1" i="0">
                          <a:solidFill>
                            <a:srgbClr val="262626"/>
                          </a:solidFill>
                          <a:latin typeface="Arial"/>
                        </a:rPr>
                        <a:t>8</a:t>
                      </a:r>
                    </a:p>
                  </a:txBody>
                  <a:tcPr>
                    <a:solidFill>
                      <a:srgbClr val="F2F2F2"/>
                    </a:solidFill>
                  </a:tcPr>
                </a:tc>
                <a:tc>
                  <a:txBody>
                    <a:bodyPr wrap="none"/>
                    <a:lstStyle/>
                    <a:p>
                      <a:pPr algn="l"/>
                      <a:r>
                        <a:rPr sz="1000" b="0" i="0">
                          <a:solidFill>
                            <a:srgbClr val="262626"/>
                          </a:solidFill>
                          <a:latin typeface="Arial"/>
                        </a:rPr>
                        <a:t>Dorian Coninx</a:t>
                      </a:r>
                    </a:p>
                  </a:txBody>
                  <a:tcPr>
                    <a:solidFill>
                      <a:srgbClr val="F2F2F2"/>
                    </a:solidFill>
                  </a:tcPr>
                </a:tc>
                <a:tc>
                  <a:txBody>
                    <a:bodyPr wrap="none"/>
                    <a:lstStyle/>
                    <a:p>
                      <a:pPr algn="ctr"/>
                      <a:r>
                        <a:rPr sz="1000" b="0" i="0">
                          <a:solidFill>
                            <a:srgbClr val="262626"/>
                          </a:solidFill>
                          <a:latin typeface="Arial"/>
                        </a:rPr>
                        <a:t>4,075</a:t>
                      </a:r>
                    </a:p>
                  </a:txBody>
                  <a:tcPr>
                    <a:solidFill>
                      <a:srgbClr val="F2F2F2"/>
                    </a:solidFill>
                  </a:tcPr>
                </a:tc>
              </a:tr>
              <a:tr h="264344">
                <a:tc>
                  <a:txBody>
                    <a:bodyPr wrap="none"/>
                    <a:lstStyle/>
                    <a:p>
                      <a:pPr algn="ctr"/>
                      <a:r>
                        <a:rPr sz="1000" b="1" i="0">
                          <a:solidFill>
                            <a:srgbClr val="262626"/>
                          </a:solidFill>
                          <a:latin typeface="Arial"/>
                        </a:rPr>
                        <a:t>9</a:t>
                      </a:r>
                    </a:p>
                  </a:txBody>
                  <a:tcPr>
                    <a:solidFill>
                      <a:srgbClr val="FFFFFF"/>
                    </a:solidFill>
                  </a:tcPr>
                </a:tc>
                <a:tc>
                  <a:txBody>
                    <a:bodyPr wrap="none"/>
                    <a:lstStyle/>
                    <a:p>
                      <a:pPr algn="l"/>
                      <a:r>
                        <a:rPr sz="1000" b="0" i="0">
                          <a:solidFill>
                            <a:srgbClr val="262626"/>
                          </a:solidFill>
                          <a:latin typeface="Arial"/>
                        </a:rPr>
                        <a:t>Max Studer</a:t>
                      </a:r>
                    </a:p>
                  </a:txBody>
                  <a:tcPr>
                    <a:solidFill>
                      <a:srgbClr val="FFFFFF"/>
                    </a:solidFill>
                  </a:tcPr>
                </a:tc>
                <a:tc>
                  <a:txBody>
                    <a:bodyPr wrap="none"/>
                    <a:lstStyle/>
                    <a:p>
                      <a:pPr algn="ctr"/>
                      <a:r>
                        <a:rPr sz="1000" b="0" i="0">
                          <a:solidFill>
                            <a:srgbClr val="262626"/>
                          </a:solidFill>
                          <a:latin typeface="Arial"/>
                        </a:rPr>
                        <a:t>4,054</a:t>
                      </a:r>
                    </a:p>
                  </a:txBody>
                  <a:tcPr>
                    <a:solidFill>
                      <a:srgbClr val="FFFFFF"/>
                    </a:solidFill>
                  </a:tcPr>
                </a:tc>
              </a:tr>
              <a:tr h="264352">
                <a:tc>
                  <a:txBody>
                    <a:bodyPr wrap="none"/>
                    <a:lstStyle/>
                    <a:p>
                      <a:pPr algn="ctr"/>
                      <a:r>
                        <a:rPr sz="1000" b="1" i="0">
                          <a:solidFill>
                            <a:srgbClr val="262626"/>
                          </a:solidFill>
                          <a:latin typeface="Arial"/>
                        </a:rPr>
                        <a:t>10</a:t>
                      </a:r>
                    </a:p>
                  </a:txBody>
                  <a:tcPr>
                    <a:solidFill>
                      <a:srgbClr val="F2F2F2"/>
                    </a:solidFill>
                  </a:tcPr>
                </a:tc>
                <a:tc>
                  <a:txBody>
                    <a:bodyPr wrap="none"/>
                    <a:lstStyle/>
                    <a:p>
                      <a:pPr algn="l"/>
                      <a:r>
                        <a:rPr sz="1000" b="0" i="0">
                          <a:solidFill>
                            <a:srgbClr val="262626"/>
                          </a:solidFill>
                          <a:latin typeface="Arial"/>
                        </a:rPr>
                        <a:t>Tyler Mislawchuk</a:t>
                      </a:r>
                    </a:p>
                  </a:txBody>
                  <a:tcPr>
                    <a:solidFill>
                      <a:srgbClr val="F2F2F2"/>
                    </a:solidFill>
                  </a:tcPr>
                </a:tc>
                <a:tc>
                  <a:txBody>
                    <a:bodyPr wrap="none"/>
                    <a:lstStyle/>
                    <a:p>
                      <a:pPr algn="ctr"/>
                      <a:r>
                        <a:rPr sz="1000" b="0" i="0">
                          <a:solidFill>
                            <a:srgbClr val="262626"/>
                          </a:solidFill>
                          <a:latin typeface="Arial"/>
                        </a:rPr>
                        <a:t>4,003</a:t>
                      </a:r>
                    </a:p>
                  </a:txBody>
                  <a:tcPr>
                    <a:solidFill>
                      <a:srgbClr val="F2F2F2"/>
                    </a:solidFill>
                  </a:tcPr>
                </a:tc>
              </a:tr>
            </a:tbl>
          </a:graphicData>
        </a:graphic>
      </p:graphicFrame>
      <p:sp>
        <p:nvSpPr>
          <p:cNvPr id="12" name="Rectangle 11"/>
          <p:cNvSpPr/>
          <p:nvPr/>
        </p:nvSpPr>
        <p:spPr>
          <a:xfrm>
            <a:off x="2743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074920"/>
            <a:ext cx="5486400" cy="237744"/>
          </a:xfrm>
          <a:prstGeom prst="rect">
            <a:avLst/>
          </a:prstGeom>
          <a:noFill/>
        </p:spPr>
        <p:txBody>
          <a:bodyPr wrap="square">
            <a:spAutoFit/>
          </a:bodyPr>
          <a:lstStyle/>
          <a:p>
            <a:pPr algn="l"/>
            <a:r>
              <a:rPr sz="1100" b="1" i="0">
                <a:solidFill>
                  <a:srgbClr val="FFFFFF"/>
                </a:solidFill>
                <a:latin typeface="Arial"/>
              </a:rPr>
              <a:t>Last Year's Podium at Weihai</a:t>
            </a:r>
          </a:p>
        </p:txBody>
      </p:sp>
      <p:sp>
        <p:nvSpPr>
          <p:cNvPr id="14" name="TextBox 13"/>
          <p:cNvSpPr txBox="1"/>
          <p:nvPr/>
        </p:nvSpPr>
        <p:spPr>
          <a:xfrm>
            <a:off x="411480" y="5422392"/>
            <a:ext cx="5394960" cy="292608"/>
          </a:xfrm>
          <a:prstGeom prst="rect">
            <a:avLst/>
          </a:prstGeom>
          <a:noFill/>
        </p:spPr>
        <p:txBody>
          <a:bodyPr wrap="square">
            <a:spAutoFit/>
          </a:bodyPr>
          <a:lstStyle/>
          <a:p>
            <a:pPr algn="l"/>
            <a:r>
              <a:rPr sz="1100" b="1" i="0">
                <a:solidFill>
                  <a:srgbClr val="262626"/>
                </a:solidFill>
                <a:latin typeface="Arial"/>
              </a:rPr>
              <a:t>1.  Max Studer   (01:41:08)</a:t>
            </a:r>
          </a:p>
        </p:txBody>
      </p:sp>
      <p:sp>
        <p:nvSpPr>
          <p:cNvPr id="15" name="TextBox 14"/>
          <p:cNvSpPr txBox="1"/>
          <p:nvPr/>
        </p:nvSpPr>
        <p:spPr>
          <a:xfrm>
            <a:off x="411480" y="5715000"/>
            <a:ext cx="5394960" cy="292608"/>
          </a:xfrm>
          <a:prstGeom prst="rect">
            <a:avLst/>
          </a:prstGeom>
          <a:noFill/>
        </p:spPr>
        <p:txBody>
          <a:bodyPr wrap="square">
            <a:spAutoFit/>
          </a:bodyPr>
          <a:lstStyle/>
          <a:p>
            <a:pPr algn="l"/>
            <a:r>
              <a:rPr sz="1100" b="0" i="0">
                <a:solidFill>
                  <a:srgbClr val="262626"/>
                </a:solidFill>
                <a:latin typeface="Arial"/>
              </a:rPr>
              <a:t>2.  David Cantero Del Campo   (01:41:18)</a:t>
            </a:r>
          </a:p>
        </p:txBody>
      </p:sp>
      <p:sp>
        <p:nvSpPr>
          <p:cNvPr id="16" name="TextBox 15"/>
          <p:cNvSpPr txBox="1"/>
          <p:nvPr/>
        </p:nvSpPr>
        <p:spPr>
          <a:xfrm>
            <a:off x="411480" y="6007608"/>
            <a:ext cx="5394960" cy="292608"/>
          </a:xfrm>
          <a:prstGeom prst="rect">
            <a:avLst/>
          </a:prstGeom>
          <a:noFill/>
        </p:spPr>
        <p:txBody>
          <a:bodyPr wrap="square">
            <a:spAutoFit/>
          </a:bodyPr>
          <a:lstStyle/>
          <a:p>
            <a:pPr algn="l"/>
            <a:r>
              <a:rPr sz="1100" b="0" i="0">
                <a:solidFill>
                  <a:srgbClr val="262626"/>
                </a:solidFill>
                <a:latin typeface="Arial"/>
              </a:rPr>
              <a:t>3.  Tyler Mislawchuk   (01:41:25)</a:t>
            </a:r>
          </a:p>
        </p:txBody>
      </p:sp>
      <p:sp>
        <p:nvSpPr>
          <p:cNvPr id="17" name="Rectangle 16"/>
          <p:cNvSpPr/>
          <p:nvPr/>
        </p:nvSpPr>
        <p:spPr>
          <a:xfrm>
            <a:off x="62179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234440"/>
            <a:ext cx="5486400" cy="292608"/>
          </a:xfrm>
          <a:prstGeom prst="rect">
            <a:avLst/>
          </a:prstGeom>
          <a:noFill/>
        </p:spPr>
        <p:txBody>
          <a:bodyPr wrap="square">
            <a:spAutoFit/>
          </a:bodyPr>
          <a:lstStyle/>
          <a:p>
            <a:pPr algn="ctr"/>
            <a:r>
              <a:rPr sz="1400" b="1" i="0">
                <a:solidFill>
                  <a:srgbClr val="FFFFFF"/>
                </a:solidFill>
                <a:latin typeface="Arial"/>
              </a:rPr>
              <a:t>ELITE WOMEN</a:t>
            </a:r>
          </a:p>
        </p:txBody>
      </p:sp>
      <p:sp>
        <p:nvSpPr>
          <p:cNvPr id="19" name="Rectangle 18"/>
          <p:cNvSpPr/>
          <p:nvPr/>
        </p:nvSpPr>
        <p:spPr>
          <a:xfrm>
            <a:off x="62179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664208"/>
            <a:ext cx="5486400" cy="237744"/>
          </a:xfrm>
          <a:prstGeom prst="rect">
            <a:avLst/>
          </a:prstGeom>
          <a:noFill/>
        </p:spPr>
        <p:txBody>
          <a:bodyPr wrap="square">
            <a:spAutoFit/>
          </a:bodyPr>
          <a:lstStyle/>
          <a:p>
            <a:pPr algn="l"/>
            <a:r>
              <a:rPr sz="1100" b="1" i="0">
                <a:solidFill>
                  <a:srgbClr val="FFFFFF"/>
                </a:solidFill>
                <a:latin typeface="Arial"/>
              </a:rPr>
              <a:t>Top 10 by World Ranking</a:t>
            </a:r>
          </a:p>
        </p:txBody>
      </p:sp>
      <p:graphicFrame>
        <p:nvGraphicFramePr>
          <p:cNvPr id="21" name="Table 20"/>
          <p:cNvGraphicFramePr>
            <a:graphicFrameLocks noGrp="1"/>
          </p:cNvGraphicFramePr>
          <p:nvPr/>
        </p:nvGraphicFramePr>
        <p:xfrm>
          <a:off x="6217920" y="1965960"/>
          <a:ext cx="5486400" cy="2907792"/>
        </p:xfrm>
        <a:graphic>
          <a:graphicData uri="http://schemas.openxmlformats.org/drawingml/2006/table">
            <a:tbl>
              <a:tblPr firstRow="1" bandRow="1">
                <a:tableStyleId>{5C22544A-7EE6-4342-B048-85BDC9FD1C3A}</a:tableStyleId>
              </a:tblPr>
              <a:tblGrid>
                <a:gridCol w="731520"/>
                <a:gridCol w="3291840"/>
                <a:gridCol w="1463040"/>
              </a:tblGrid>
              <a:tr h="264344">
                <a:tc>
                  <a:txBody>
                    <a:bodyPr wrap="none"/>
                    <a:lstStyle/>
                    <a:p>
                      <a:pPr algn="ctr"/>
                      <a:r>
                        <a:rPr sz="1000" b="1" i="0">
                          <a:solidFill>
                            <a:srgbClr val="FFFFFF"/>
                          </a:solidFill>
                          <a:latin typeface="Arial"/>
                        </a:rPr>
                        <a:t>Rank</a:t>
                      </a:r>
                    </a:p>
                  </a:txBody>
                  <a:tcPr>
                    <a:solidFill>
                      <a:srgbClr val="002060"/>
                    </a:solidFill>
                  </a:tcPr>
                </a:tc>
                <a:tc>
                  <a:txBody>
                    <a:bodyPr wrap="none"/>
                    <a:lstStyle/>
                    <a:p>
                      <a:pPr algn="ctr"/>
                      <a:r>
                        <a:rPr sz="1000" b="1" i="0">
                          <a:solidFill>
                            <a:srgbClr val="FFFFFF"/>
                          </a:solidFill>
                          <a:latin typeface="Arial"/>
                        </a:rPr>
                        <a:t>Athlete</a:t>
                      </a:r>
                    </a:p>
                  </a:txBody>
                  <a:tcPr>
                    <a:solidFill>
                      <a:srgbClr val="002060"/>
                    </a:solidFill>
                  </a:tcPr>
                </a:tc>
                <a:tc>
                  <a:txBody>
                    <a:bodyPr wrap="none"/>
                    <a:lstStyle/>
                    <a:p>
                      <a:pPr algn="ctr"/>
                      <a:r>
                        <a:rPr sz="1000" b="1" i="0">
                          <a:solidFill>
                            <a:srgbClr val="FFFFFF"/>
                          </a:solidFill>
                          <a:latin typeface="Arial"/>
                        </a:rPr>
                        <a:t>Points</a:t>
                      </a:r>
                    </a:p>
                  </a:txBody>
                  <a:tcPr>
                    <a:solidFill>
                      <a:srgbClr val="002060"/>
                    </a:solidFill>
                  </a:tcPr>
                </a:tc>
              </a:tr>
              <a:tr h="264344">
                <a:tc>
                  <a:txBody>
                    <a:bodyPr wrap="none"/>
                    <a:lstStyle/>
                    <a:p>
                      <a:pPr algn="ctr"/>
                      <a:r>
                        <a:rPr sz="1000" b="1" i="0">
                          <a:solidFill>
                            <a:srgbClr val="262626"/>
                          </a:solidFill>
                          <a:latin typeface="Arial"/>
                        </a:rPr>
                        <a:t>1</a:t>
                      </a:r>
                    </a:p>
                  </a:txBody>
                  <a:tcPr>
                    <a:solidFill>
                      <a:srgbClr val="FFFFFF"/>
                    </a:solidFill>
                  </a:tcPr>
                </a:tc>
                <a:tc>
                  <a:txBody>
                    <a:bodyPr wrap="none"/>
                    <a:lstStyle/>
                    <a:p>
                      <a:pPr algn="l"/>
                      <a:r>
                        <a:rPr sz="1000" b="0" i="0">
                          <a:solidFill>
                            <a:srgbClr val="262626"/>
                          </a:solidFill>
                          <a:latin typeface="Arial"/>
                        </a:rPr>
                        <a:t>Beth Potter</a:t>
                      </a:r>
                    </a:p>
                  </a:txBody>
                  <a:tcPr>
                    <a:solidFill>
                      <a:srgbClr val="FFFFFF"/>
                    </a:solidFill>
                  </a:tcPr>
                </a:tc>
                <a:tc>
                  <a:txBody>
                    <a:bodyPr wrap="none"/>
                    <a:lstStyle/>
                    <a:p>
                      <a:pPr algn="ctr"/>
                      <a:r>
                        <a:rPr sz="1000" b="0" i="0">
                          <a:solidFill>
                            <a:srgbClr val="262626"/>
                          </a:solidFill>
                          <a:latin typeface="Arial"/>
                        </a:rPr>
                        <a:t>7,499</a:t>
                      </a:r>
                    </a:p>
                  </a:txBody>
                  <a:tcPr>
                    <a:solidFill>
                      <a:srgbClr val="FFFFFF"/>
                    </a:solidFill>
                  </a:tcPr>
                </a:tc>
              </a:tr>
              <a:tr h="264344">
                <a:tc>
                  <a:txBody>
                    <a:bodyPr wrap="none"/>
                    <a:lstStyle/>
                    <a:p>
                      <a:pPr algn="ctr"/>
                      <a:r>
                        <a:rPr sz="1000" b="1" i="0">
                          <a:solidFill>
                            <a:srgbClr val="262626"/>
                          </a:solidFill>
                          <a:latin typeface="Arial"/>
                        </a:rPr>
                        <a:t>2</a:t>
                      </a:r>
                    </a:p>
                  </a:txBody>
                  <a:tcPr>
                    <a:solidFill>
                      <a:srgbClr val="F2F2F2"/>
                    </a:solidFill>
                  </a:tcPr>
                </a:tc>
                <a:tc>
                  <a:txBody>
                    <a:bodyPr wrap="none"/>
                    <a:lstStyle/>
                    <a:p>
                      <a:pPr algn="l"/>
                      <a:r>
                        <a:rPr sz="1000" b="0" i="0">
                          <a:solidFill>
                            <a:srgbClr val="262626"/>
                          </a:solidFill>
                          <a:latin typeface="Arial"/>
                        </a:rPr>
                        <a:t>Lisa Tertsch</a:t>
                      </a:r>
                    </a:p>
                  </a:txBody>
                  <a:tcPr>
                    <a:solidFill>
                      <a:srgbClr val="F2F2F2"/>
                    </a:solidFill>
                  </a:tcPr>
                </a:tc>
                <a:tc>
                  <a:txBody>
                    <a:bodyPr wrap="none"/>
                    <a:lstStyle/>
                    <a:p>
                      <a:pPr algn="ctr"/>
                      <a:r>
                        <a:rPr sz="1000" b="0" i="0">
                          <a:solidFill>
                            <a:srgbClr val="262626"/>
                          </a:solidFill>
                          <a:latin typeface="Arial"/>
                        </a:rPr>
                        <a:t>7,270</a:t>
                      </a:r>
                    </a:p>
                  </a:txBody>
                  <a:tcPr>
                    <a:solidFill>
                      <a:srgbClr val="F2F2F2"/>
                    </a:solidFill>
                  </a:tcPr>
                </a:tc>
              </a:tr>
              <a:tr h="264344">
                <a:tc>
                  <a:txBody>
                    <a:bodyPr wrap="none"/>
                    <a:lstStyle/>
                    <a:p>
                      <a:pPr algn="ctr"/>
                      <a:r>
                        <a:rPr sz="1000" b="1" i="0">
                          <a:solidFill>
                            <a:srgbClr val="262626"/>
                          </a:solidFill>
                          <a:latin typeface="Arial"/>
                        </a:rPr>
                        <a:t>3</a:t>
                      </a:r>
                    </a:p>
                  </a:txBody>
                  <a:tcPr>
                    <a:solidFill>
                      <a:srgbClr val="FFFFFF"/>
                    </a:solidFill>
                  </a:tcPr>
                </a:tc>
                <a:tc>
                  <a:txBody>
                    <a:bodyPr wrap="none"/>
                    <a:lstStyle/>
                    <a:p>
                      <a:pPr algn="l"/>
                      <a:r>
                        <a:rPr sz="1000" b="0" i="0">
                          <a:solidFill>
                            <a:srgbClr val="262626"/>
                          </a:solidFill>
                          <a:latin typeface="Arial"/>
                        </a:rPr>
                        <a:t>Leonie Periault</a:t>
                      </a:r>
                    </a:p>
                  </a:txBody>
                  <a:tcPr>
                    <a:solidFill>
                      <a:srgbClr val="FFFFFF"/>
                    </a:solidFill>
                  </a:tcPr>
                </a:tc>
                <a:tc>
                  <a:txBody>
                    <a:bodyPr wrap="none"/>
                    <a:lstStyle/>
                    <a:p>
                      <a:pPr algn="ctr"/>
                      <a:r>
                        <a:rPr sz="1000" b="0" i="0">
                          <a:solidFill>
                            <a:srgbClr val="262626"/>
                          </a:solidFill>
                          <a:latin typeface="Arial"/>
                        </a:rPr>
                        <a:t>6,586</a:t>
                      </a:r>
                    </a:p>
                  </a:txBody>
                  <a:tcPr>
                    <a:solidFill>
                      <a:srgbClr val="FFFFFF"/>
                    </a:solidFill>
                  </a:tcPr>
                </a:tc>
              </a:tr>
              <a:tr h="264344">
                <a:tc>
                  <a:txBody>
                    <a:bodyPr wrap="none"/>
                    <a:lstStyle/>
                    <a:p>
                      <a:pPr algn="ctr"/>
                      <a:r>
                        <a:rPr sz="1000" b="1" i="0">
                          <a:solidFill>
                            <a:srgbClr val="262626"/>
                          </a:solidFill>
                          <a:latin typeface="Arial"/>
                        </a:rPr>
                        <a:t>4</a:t>
                      </a:r>
                    </a:p>
                  </a:txBody>
                  <a:tcPr>
                    <a:solidFill>
                      <a:srgbClr val="F2F2F2"/>
                    </a:solidFill>
                  </a:tcPr>
                </a:tc>
                <a:tc>
                  <a:txBody>
                    <a:bodyPr wrap="none"/>
                    <a:lstStyle/>
                    <a:p>
                      <a:pPr algn="l"/>
                      <a:r>
                        <a:rPr sz="1000" b="0" i="0">
                          <a:solidFill>
                            <a:srgbClr val="262626"/>
                          </a:solidFill>
                          <a:latin typeface="Arial"/>
                        </a:rPr>
                        <a:t>Jeanne Lehair</a:t>
                      </a:r>
                    </a:p>
                  </a:txBody>
                  <a:tcPr>
                    <a:solidFill>
                      <a:srgbClr val="F2F2F2"/>
                    </a:solidFill>
                  </a:tcPr>
                </a:tc>
                <a:tc>
                  <a:txBody>
                    <a:bodyPr wrap="none"/>
                    <a:lstStyle/>
                    <a:p>
                      <a:pPr algn="ctr"/>
                      <a:r>
                        <a:rPr sz="1000" b="0" i="0">
                          <a:solidFill>
                            <a:srgbClr val="262626"/>
                          </a:solidFill>
                          <a:latin typeface="Arial"/>
                        </a:rPr>
                        <a:t>6,112</a:t>
                      </a:r>
                    </a:p>
                  </a:txBody>
                  <a:tcPr>
                    <a:solidFill>
                      <a:srgbClr val="F2F2F2"/>
                    </a:solidFill>
                  </a:tcPr>
                </a:tc>
              </a:tr>
              <a:tr h="264344">
                <a:tc>
                  <a:txBody>
                    <a:bodyPr wrap="none"/>
                    <a:lstStyle/>
                    <a:p>
                      <a:pPr algn="ctr"/>
                      <a:r>
                        <a:rPr sz="1000" b="1" i="0">
                          <a:solidFill>
                            <a:srgbClr val="262626"/>
                          </a:solidFill>
                          <a:latin typeface="Arial"/>
                        </a:rPr>
                        <a:t>5</a:t>
                      </a:r>
                    </a:p>
                  </a:txBody>
                  <a:tcPr>
                    <a:solidFill>
                      <a:srgbClr val="FFFFFF"/>
                    </a:solidFill>
                  </a:tcPr>
                </a:tc>
                <a:tc>
                  <a:txBody>
                    <a:bodyPr wrap="none"/>
                    <a:lstStyle/>
                    <a:p>
                      <a:pPr algn="l"/>
                      <a:r>
                        <a:rPr sz="1000" b="0" i="0">
                          <a:solidFill>
                            <a:srgbClr val="262626"/>
                          </a:solidFill>
                          <a:latin typeface="Arial"/>
                        </a:rPr>
                        <a:t>Cassandre Beaugrand</a:t>
                      </a:r>
                    </a:p>
                  </a:txBody>
                  <a:tcPr>
                    <a:solidFill>
                      <a:srgbClr val="FFFFFF"/>
                    </a:solidFill>
                  </a:tcPr>
                </a:tc>
                <a:tc>
                  <a:txBody>
                    <a:bodyPr wrap="none"/>
                    <a:lstStyle/>
                    <a:p>
                      <a:pPr algn="ctr"/>
                      <a:r>
                        <a:rPr sz="1000" b="0" i="0">
                          <a:solidFill>
                            <a:srgbClr val="262626"/>
                          </a:solidFill>
                          <a:latin typeface="Arial"/>
                        </a:rPr>
                        <a:t>5,725</a:t>
                      </a:r>
                    </a:p>
                  </a:txBody>
                  <a:tcPr>
                    <a:solidFill>
                      <a:srgbClr val="FFFFFF"/>
                    </a:solidFill>
                  </a:tcPr>
                </a:tc>
              </a:tr>
              <a:tr h="264344">
                <a:tc>
                  <a:txBody>
                    <a:bodyPr wrap="none"/>
                    <a:lstStyle/>
                    <a:p>
                      <a:pPr algn="ctr"/>
                      <a:r>
                        <a:rPr sz="1000" b="1" i="0">
                          <a:solidFill>
                            <a:srgbClr val="262626"/>
                          </a:solidFill>
                          <a:latin typeface="Arial"/>
                        </a:rPr>
                        <a:t>6</a:t>
                      </a:r>
                    </a:p>
                  </a:txBody>
                  <a:tcPr>
                    <a:solidFill>
                      <a:srgbClr val="F2F2F2"/>
                    </a:solidFill>
                  </a:tcPr>
                </a:tc>
                <a:tc>
                  <a:txBody>
                    <a:bodyPr wrap="none"/>
                    <a:lstStyle/>
                    <a:p>
                      <a:pPr algn="l"/>
                      <a:r>
                        <a:rPr sz="1000" b="0" i="0">
                          <a:solidFill>
                            <a:srgbClr val="262626"/>
                          </a:solidFill>
                          <a:latin typeface="Arial"/>
                        </a:rPr>
                        <a:t>Taylor Spivey</a:t>
                      </a:r>
                    </a:p>
                  </a:txBody>
                  <a:tcPr>
                    <a:solidFill>
                      <a:srgbClr val="F2F2F2"/>
                    </a:solidFill>
                  </a:tcPr>
                </a:tc>
                <a:tc>
                  <a:txBody>
                    <a:bodyPr wrap="none"/>
                    <a:lstStyle/>
                    <a:p>
                      <a:pPr algn="ctr"/>
                      <a:r>
                        <a:rPr sz="1000" b="0" i="0">
                          <a:solidFill>
                            <a:srgbClr val="262626"/>
                          </a:solidFill>
                          <a:latin typeface="Arial"/>
                        </a:rPr>
                        <a:t>5,253</a:t>
                      </a:r>
                    </a:p>
                  </a:txBody>
                  <a:tcPr>
                    <a:solidFill>
                      <a:srgbClr val="F2F2F2"/>
                    </a:solidFill>
                  </a:tcPr>
                </a:tc>
              </a:tr>
              <a:tr h="264344">
                <a:tc>
                  <a:txBody>
                    <a:bodyPr wrap="none"/>
                    <a:lstStyle/>
                    <a:p>
                      <a:pPr algn="ctr"/>
                      <a:r>
                        <a:rPr sz="1000" b="1" i="0">
                          <a:solidFill>
                            <a:srgbClr val="262626"/>
                          </a:solidFill>
                          <a:latin typeface="Arial"/>
                        </a:rPr>
                        <a:t>7</a:t>
                      </a:r>
                    </a:p>
                  </a:txBody>
                  <a:tcPr>
                    <a:solidFill>
                      <a:srgbClr val="FFFFFF"/>
                    </a:solidFill>
                  </a:tcPr>
                </a:tc>
                <a:tc>
                  <a:txBody>
                    <a:bodyPr wrap="none"/>
                    <a:lstStyle/>
                    <a:p>
                      <a:pPr algn="l"/>
                      <a:r>
                        <a:rPr sz="1000" b="0" i="0">
                          <a:solidFill>
                            <a:srgbClr val="262626"/>
                          </a:solidFill>
                          <a:latin typeface="Arial"/>
                        </a:rPr>
                        <a:t>Jolien Vermeylen</a:t>
                      </a:r>
                    </a:p>
                  </a:txBody>
                  <a:tcPr>
                    <a:solidFill>
                      <a:srgbClr val="FFFFFF"/>
                    </a:solidFill>
                  </a:tcPr>
                </a:tc>
                <a:tc>
                  <a:txBody>
                    <a:bodyPr wrap="none"/>
                    <a:lstStyle/>
                    <a:p>
                      <a:pPr algn="ctr"/>
                      <a:r>
                        <a:rPr sz="1000" b="0" i="0">
                          <a:solidFill>
                            <a:srgbClr val="262626"/>
                          </a:solidFill>
                          <a:latin typeface="Arial"/>
                        </a:rPr>
                        <a:t>5,179</a:t>
                      </a:r>
                    </a:p>
                  </a:txBody>
                  <a:tcPr>
                    <a:solidFill>
                      <a:srgbClr val="FFFFFF"/>
                    </a:solidFill>
                  </a:tcPr>
                </a:tc>
              </a:tr>
              <a:tr h="264344">
                <a:tc>
                  <a:txBody>
                    <a:bodyPr wrap="none"/>
                    <a:lstStyle/>
                    <a:p>
                      <a:pPr algn="ctr"/>
                      <a:r>
                        <a:rPr sz="1000" b="1" i="0">
                          <a:solidFill>
                            <a:srgbClr val="262626"/>
                          </a:solidFill>
                          <a:latin typeface="Arial"/>
                        </a:rPr>
                        <a:t>8</a:t>
                      </a:r>
                    </a:p>
                  </a:txBody>
                  <a:tcPr>
                    <a:solidFill>
                      <a:srgbClr val="F2F2F2"/>
                    </a:solidFill>
                  </a:tcPr>
                </a:tc>
                <a:tc>
                  <a:txBody>
                    <a:bodyPr wrap="none"/>
                    <a:lstStyle/>
                    <a:p>
                      <a:pPr algn="l"/>
                      <a:r>
                        <a:rPr sz="1000" b="0" i="0">
                          <a:solidFill>
                            <a:srgbClr val="262626"/>
                          </a:solidFill>
                          <a:latin typeface="Arial"/>
                        </a:rPr>
                        <a:t>Tilda Månsson</a:t>
                      </a:r>
                    </a:p>
                  </a:txBody>
                  <a:tcPr>
                    <a:solidFill>
                      <a:srgbClr val="F2F2F2"/>
                    </a:solidFill>
                  </a:tcPr>
                </a:tc>
                <a:tc>
                  <a:txBody>
                    <a:bodyPr wrap="none"/>
                    <a:lstStyle/>
                    <a:p>
                      <a:pPr algn="ctr"/>
                      <a:r>
                        <a:rPr sz="1000" b="0" i="0">
                          <a:solidFill>
                            <a:srgbClr val="262626"/>
                          </a:solidFill>
                          <a:latin typeface="Arial"/>
                        </a:rPr>
                        <a:t>5,045</a:t>
                      </a:r>
                    </a:p>
                  </a:txBody>
                  <a:tcPr>
                    <a:solidFill>
                      <a:srgbClr val="F2F2F2"/>
                    </a:solidFill>
                  </a:tcPr>
                </a:tc>
              </a:tr>
              <a:tr h="264344">
                <a:tc>
                  <a:txBody>
                    <a:bodyPr wrap="none"/>
                    <a:lstStyle/>
                    <a:p>
                      <a:pPr algn="ctr"/>
                      <a:r>
                        <a:rPr sz="1000" b="1" i="0">
                          <a:solidFill>
                            <a:srgbClr val="262626"/>
                          </a:solidFill>
                          <a:latin typeface="Arial"/>
                        </a:rPr>
                        <a:t>9</a:t>
                      </a:r>
                    </a:p>
                  </a:txBody>
                  <a:tcPr>
                    <a:solidFill>
                      <a:srgbClr val="FFFFFF"/>
                    </a:solidFill>
                  </a:tcPr>
                </a:tc>
                <a:tc>
                  <a:txBody>
                    <a:bodyPr wrap="none"/>
                    <a:lstStyle/>
                    <a:p>
                      <a:pPr algn="l"/>
                      <a:r>
                        <a:rPr sz="1000" b="0" i="0">
                          <a:solidFill>
                            <a:srgbClr val="262626"/>
                          </a:solidFill>
                          <a:latin typeface="Arial"/>
                        </a:rPr>
                        <a:t>Diana Isakova</a:t>
                      </a:r>
                    </a:p>
                  </a:txBody>
                  <a:tcPr>
                    <a:solidFill>
                      <a:srgbClr val="FFFFFF"/>
                    </a:solidFill>
                  </a:tcPr>
                </a:tc>
                <a:tc>
                  <a:txBody>
                    <a:bodyPr wrap="none"/>
                    <a:lstStyle/>
                    <a:p>
                      <a:pPr algn="ctr"/>
                      <a:r>
                        <a:rPr sz="1000" b="0" i="0">
                          <a:solidFill>
                            <a:srgbClr val="262626"/>
                          </a:solidFill>
                          <a:latin typeface="Arial"/>
                        </a:rPr>
                        <a:t>4,899</a:t>
                      </a:r>
                    </a:p>
                  </a:txBody>
                  <a:tcPr>
                    <a:solidFill>
                      <a:srgbClr val="FFFFFF"/>
                    </a:solidFill>
                  </a:tcPr>
                </a:tc>
              </a:tr>
              <a:tr h="264352">
                <a:tc>
                  <a:txBody>
                    <a:bodyPr wrap="none"/>
                    <a:lstStyle/>
                    <a:p>
                      <a:pPr algn="ctr"/>
                      <a:r>
                        <a:rPr sz="1000" b="1" i="0">
                          <a:solidFill>
                            <a:srgbClr val="262626"/>
                          </a:solidFill>
                          <a:latin typeface="Arial"/>
                        </a:rPr>
                        <a:t>10</a:t>
                      </a:r>
                    </a:p>
                  </a:txBody>
                  <a:tcPr>
                    <a:solidFill>
                      <a:srgbClr val="F2F2F2"/>
                    </a:solidFill>
                  </a:tcPr>
                </a:tc>
                <a:tc>
                  <a:txBody>
                    <a:bodyPr wrap="none"/>
                    <a:lstStyle/>
                    <a:p>
                      <a:pPr algn="l"/>
                      <a:r>
                        <a:rPr sz="1000" b="0" i="0">
                          <a:solidFill>
                            <a:srgbClr val="262626"/>
                          </a:solidFill>
                          <a:latin typeface="Arial"/>
                        </a:rPr>
                        <a:t>Emma Lombardi</a:t>
                      </a:r>
                    </a:p>
                  </a:txBody>
                  <a:tcPr>
                    <a:solidFill>
                      <a:srgbClr val="F2F2F2"/>
                    </a:solidFill>
                  </a:tcPr>
                </a:tc>
                <a:tc>
                  <a:txBody>
                    <a:bodyPr wrap="none"/>
                    <a:lstStyle/>
                    <a:p>
                      <a:pPr algn="ctr"/>
                      <a:r>
                        <a:rPr sz="1000" b="0" i="0">
                          <a:solidFill>
                            <a:srgbClr val="262626"/>
                          </a:solidFill>
                          <a:latin typeface="Arial"/>
                        </a:rPr>
                        <a:t>4,634</a:t>
                      </a:r>
                    </a:p>
                  </a:txBody>
                  <a:tcPr>
                    <a:solidFill>
                      <a:srgbClr val="F2F2F2"/>
                    </a:solidFill>
                  </a:tcPr>
                </a:tc>
              </a:tr>
            </a:tbl>
          </a:graphicData>
        </a:graphic>
      </p:graphicFrame>
      <p:sp>
        <p:nvSpPr>
          <p:cNvPr id="22" name="Rectangle 21"/>
          <p:cNvSpPr/>
          <p:nvPr/>
        </p:nvSpPr>
        <p:spPr>
          <a:xfrm>
            <a:off x="62179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5074920"/>
            <a:ext cx="5486400" cy="237744"/>
          </a:xfrm>
          <a:prstGeom prst="rect">
            <a:avLst/>
          </a:prstGeom>
          <a:noFill/>
        </p:spPr>
        <p:txBody>
          <a:bodyPr wrap="square">
            <a:spAutoFit/>
          </a:bodyPr>
          <a:lstStyle/>
          <a:p>
            <a:pPr algn="l"/>
            <a:r>
              <a:rPr sz="1100" b="1" i="0">
                <a:solidFill>
                  <a:srgbClr val="FFFFFF"/>
                </a:solidFill>
                <a:latin typeface="Arial"/>
              </a:rPr>
              <a:t>Last Year's Podium at Weihai</a:t>
            </a:r>
          </a:p>
        </p:txBody>
      </p:sp>
      <p:sp>
        <p:nvSpPr>
          <p:cNvPr id="24" name="TextBox 23"/>
          <p:cNvSpPr txBox="1"/>
          <p:nvPr/>
        </p:nvSpPr>
        <p:spPr>
          <a:xfrm>
            <a:off x="6355080" y="5422392"/>
            <a:ext cx="5394960" cy="292608"/>
          </a:xfrm>
          <a:prstGeom prst="rect">
            <a:avLst/>
          </a:prstGeom>
          <a:noFill/>
        </p:spPr>
        <p:txBody>
          <a:bodyPr wrap="square">
            <a:spAutoFit/>
          </a:bodyPr>
          <a:lstStyle/>
          <a:p>
            <a:pPr algn="l"/>
            <a:r>
              <a:rPr sz="1100" b="1" i="0">
                <a:solidFill>
                  <a:srgbClr val="262626"/>
                </a:solidFill>
                <a:latin typeface="Arial"/>
              </a:rPr>
              <a:t>1.  Cassandre Beaugrand   (01:49:20)</a:t>
            </a:r>
          </a:p>
        </p:txBody>
      </p:sp>
      <p:sp>
        <p:nvSpPr>
          <p:cNvPr id="25" name="TextBox 24"/>
          <p:cNvSpPr txBox="1"/>
          <p:nvPr/>
        </p:nvSpPr>
        <p:spPr>
          <a:xfrm>
            <a:off x="6355080" y="5715000"/>
            <a:ext cx="5394960" cy="292608"/>
          </a:xfrm>
          <a:prstGeom prst="rect">
            <a:avLst/>
          </a:prstGeom>
          <a:noFill/>
        </p:spPr>
        <p:txBody>
          <a:bodyPr wrap="square">
            <a:spAutoFit/>
          </a:bodyPr>
          <a:lstStyle/>
          <a:p>
            <a:pPr algn="l"/>
            <a:r>
              <a:rPr sz="1100" b="0" i="0">
                <a:solidFill>
                  <a:srgbClr val="262626"/>
                </a:solidFill>
                <a:latin typeface="Arial"/>
              </a:rPr>
              <a:t>2.  Beth Potter   (01:49:26)</a:t>
            </a:r>
          </a:p>
        </p:txBody>
      </p:sp>
      <p:sp>
        <p:nvSpPr>
          <p:cNvPr id="26" name="TextBox 25"/>
          <p:cNvSpPr txBox="1"/>
          <p:nvPr/>
        </p:nvSpPr>
        <p:spPr>
          <a:xfrm>
            <a:off x="6355080" y="6007608"/>
            <a:ext cx="5394960" cy="292608"/>
          </a:xfrm>
          <a:prstGeom prst="rect">
            <a:avLst/>
          </a:prstGeom>
          <a:noFill/>
        </p:spPr>
        <p:txBody>
          <a:bodyPr wrap="square">
            <a:spAutoFit/>
          </a:bodyPr>
          <a:lstStyle/>
          <a:p>
            <a:pPr algn="l"/>
            <a:r>
              <a:rPr sz="1100" b="0" i="0">
                <a:solidFill>
                  <a:srgbClr val="262626"/>
                </a:solidFill>
                <a:latin typeface="Arial"/>
              </a:rPr>
              <a:t>3.  Lisa Tertsch   (01:49:44)</a:t>
            </a:r>
          </a:p>
        </p:txBody>
      </p:sp>
      <p:sp>
        <p:nvSpPr>
          <p:cNvPr id="27" name="TextBox 26"/>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Rankings = current World Triathlon rankings snapshot; startlist intersect uses program_entries when available.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Top Swim Threats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78992"/>
            <a:ext cx="11640312" cy="32004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15568"/>
            <a:ext cx="11430000" cy="246888"/>
          </a:xfrm>
          <a:prstGeom prst="rect">
            <a:avLst/>
          </a:prstGeom>
          <a:noFill/>
        </p:spPr>
        <p:txBody>
          <a:bodyPr wrap="square">
            <a:spAutoFit/>
          </a:bodyPr>
          <a:lstStyle/>
          <a:p>
            <a:pPr algn="ctr"/>
            <a:r>
              <a:rPr sz="1000" b="1" i="0">
                <a:solidFill>
                  <a:srgbClr val="002060"/>
                </a:solidFill>
                <a:latin typeface="Arial"/>
              </a:rPr>
              <a:t>Ranked by Lead Pack % (within 15 s of swim leader — robust to course speed)   •   EWMA swim split (span-5) shown per distance; Sprint = this race   •   WTCS / World Cup / Continental, last 4 yrs</a:t>
            </a:r>
          </a:p>
        </p:txBody>
      </p:sp>
      <p:sp>
        <p:nvSpPr>
          <p:cNvPr id="10" name="Rectangle 9"/>
          <p:cNvSpPr/>
          <p:nvPr/>
        </p:nvSpPr>
        <p:spPr>
          <a:xfrm>
            <a:off x="274320" y="150876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536192"/>
            <a:ext cx="5806440" cy="219456"/>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12" name="Table 11"/>
          <p:cNvGraphicFramePr>
            <a:graphicFrameLocks noGrp="1"/>
          </p:cNvGraphicFramePr>
          <p:nvPr/>
        </p:nvGraphicFramePr>
        <p:xfrm>
          <a:off x="274320" y="1828800"/>
          <a:ext cx="5806439" cy="3840480"/>
        </p:xfrm>
        <a:graphic>
          <a:graphicData uri="http://schemas.openxmlformats.org/drawingml/2006/table">
            <a:tbl>
              <a:tblPr firstRow="1" bandRow="1">
                <a:tableStyleId>{5C22544A-7EE6-4342-B048-85BDC9FD1C3A}</a:tableStyleId>
              </a:tblPr>
              <a:tblGrid>
                <a:gridCol w="341985"/>
                <a:gridCol w="1783080"/>
                <a:gridCol w="822960"/>
                <a:gridCol w="950976"/>
                <a:gridCol w="950976"/>
                <a:gridCol w="956462"/>
              </a:tblGrid>
              <a:tr h="256032">
                <a:tc>
                  <a:txBody>
                    <a:bodyPr wrap="none"/>
                    <a:lstStyle/>
                    <a:p>
                      <a:pPr algn="ctr"/>
                      <a:r>
                        <a:rPr sz="850" b="1" i="0">
                          <a:solidFill>
                            <a:srgbClr val="FFFFFF"/>
                          </a:solidFill>
                          <a:latin typeface="Arial"/>
                        </a:rPr>
                        <a:t>#</a:t>
                      </a:r>
                    </a:p>
                  </a:txBody>
                  <a:tcPr>
                    <a:solidFill>
                      <a:srgbClr val="002060"/>
                    </a:solidFill>
                  </a:tcPr>
                </a:tc>
                <a:tc>
                  <a:txBody>
                    <a:bodyPr wrap="none"/>
                    <a:lstStyle/>
                    <a:p>
                      <a:pPr algn="l"/>
                      <a:r>
                        <a:rPr sz="850" b="1" i="0">
                          <a:solidFill>
                            <a:srgbClr val="FFFFFF"/>
                          </a:solidFill>
                          <a:latin typeface="Arial"/>
                        </a:rPr>
                        <a:t>Athlete</a:t>
                      </a:r>
                    </a:p>
                  </a:txBody>
                  <a:tcPr>
                    <a:solidFill>
                      <a:srgbClr val="002060"/>
                    </a:solidFill>
                  </a:tcPr>
                </a:tc>
                <a:tc>
                  <a:txBody>
                    <a:bodyPr wrap="none"/>
                    <a:lstStyle/>
                    <a:p>
                      <a:pPr algn="ctr"/>
                      <a:r>
                        <a:rPr sz="850" b="1" i="0">
                          <a:solidFill>
                            <a:srgbClr val="FFFFFF"/>
                          </a:solidFill>
                          <a:latin typeface="Arial"/>
                        </a:rPr>
                        <a:t>Lead %</a:t>
                      </a:r>
                    </a:p>
                  </a:txBody>
                  <a:tcPr>
                    <a:solidFill>
                      <a:srgbClr val="002060"/>
                    </a:solidFill>
                  </a:tcPr>
                </a:tc>
                <a:tc>
                  <a:txBody>
                    <a:bodyPr wrap="none"/>
                    <a:lstStyle/>
                    <a:p>
                      <a:pPr algn="ctr"/>
                      <a:r>
                        <a:rPr sz="850" b="1" i="0">
                          <a:solidFill>
                            <a:srgbClr val="FFFFFF"/>
                          </a:solidFill>
                          <a:latin typeface="Arial"/>
                        </a:rPr>
                        <a:t>EWMA Spr ▸</a:t>
                      </a:r>
                    </a:p>
                  </a:txBody>
                  <a:tcPr>
                    <a:solidFill>
                      <a:srgbClr val="002060"/>
                    </a:solidFill>
                  </a:tcPr>
                </a:tc>
                <a:tc>
                  <a:txBody>
                    <a:bodyPr wrap="none"/>
                    <a:lstStyle/>
                    <a:p>
                      <a:pPr algn="ctr"/>
                      <a:r>
                        <a:rPr sz="850" b="1" i="0">
                          <a:solidFill>
                            <a:srgbClr val="FFFFFF"/>
                          </a:solidFill>
                          <a:latin typeface="Arial"/>
                        </a:rPr>
                        <a:t>EWMA Std</a:t>
                      </a:r>
                    </a:p>
                  </a:txBody>
                  <a:tcPr>
                    <a:solidFill>
                      <a:srgbClr val="002060"/>
                    </a:solidFill>
                  </a:tcPr>
                </a:tc>
                <a:tc>
                  <a:txBody>
                    <a:bodyPr wrap="none"/>
                    <a:lstStyle/>
                    <a:p>
                      <a:pPr algn="ctr"/>
                      <a:r>
                        <a:rPr sz="850" b="1" i="0">
                          <a:solidFill>
                            <a:srgbClr val="FFFFFF"/>
                          </a:solidFill>
                          <a:latin typeface="Arial"/>
                        </a:rPr>
                        <a:t>Spr/Std</a:t>
                      </a:r>
                    </a:p>
                  </a:txBody>
                  <a:tcPr>
                    <a:solidFill>
                      <a:srgbClr val="002060"/>
                    </a:solidFill>
                  </a:tcPr>
                </a:tc>
              </a:tr>
              <a:tr h="256032">
                <a:tc>
                  <a:txBody>
                    <a:bodyPr wrap="none"/>
                    <a:lstStyle/>
                    <a:p>
                      <a:pPr algn="ctr"/>
                      <a:r>
                        <a:rPr sz="850" b="1" i="0">
                          <a:solidFill>
                            <a:srgbClr val="002060"/>
                          </a:solidFill>
                          <a:latin typeface="Arial"/>
                        </a:rPr>
                        <a:t>1</a:t>
                      </a:r>
                    </a:p>
                  </a:txBody>
                  <a:tcPr>
                    <a:solidFill>
                      <a:srgbClr val="FFFFFF"/>
                    </a:solidFill>
                  </a:tcPr>
                </a:tc>
                <a:tc>
                  <a:txBody>
                    <a:bodyPr wrap="none"/>
                    <a:lstStyle/>
                    <a:p>
                      <a:pPr algn="l"/>
                      <a:r>
                        <a:rPr sz="850" b="0" i="0">
                          <a:solidFill>
                            <a:srgbClr val="262626"/>
                          </a:solidFill>
                          <a:latin typeface="Arial"/>
                        </a:rPr>
                        <a:t>Alessio Crociani</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8:39</a:t>
                      </a:r>
                    </a:p>
                  </a:txBody>
                  <a:tcPr>
                    <a:solidFill>
                      <a:srgbClr val="FFFFFF"/>
                    </a:solidFill>
                  </a:tcPr>
                </a:tc>
                <a:tc>
                  <a:txBody>
                    <a:bodyPr wrap="none"/>
                    <a:lstStyle/>
                    <a:p>
                      <a:pPr algn="ctr"/>
                      <a:r>
                        <a:rPr sz="850" b="0" i="0">
                          <a:solidFill>
                            <a:srgbClr val="262626"/>
                          </a:solidFill>
                          <a:latin typeface="Arial"/>
                        </a:rPr>
                        <a:t>17:19</a:t>
                      </a:r>
                    </a:p>
                  </a:txBody>
                  <a:tcPr>
                    <a:solidFill>
                      <a:srgbClr val="FFFFFF"/>
                    </a:solidFill>
                  </a:tcPr>
                </a:tc>
                <a:tc>
                  <a:txBody>
                    <a:bodyPr wrap="none"/>
                    <a:lstStyle/>
                    <a:p>
                      <a:pPr algn="ctr"/>
                      <a:r>
                        <a:rPr sz="850" b="0" i="0">
                          <a:solidFill>
                            <a:srgbClr val="BFBFBF"/>
                          </a:solidFill>
                          <a:latin typeface="Arial"/>
                        </a:rPr>
                        <a:t>17/4</a:t>
                      </a:r>
                    </a:p>
                  </a:txBody>
                  <a:tcPr>
                    <a:solidFill>
                      <a:srgbClr val="FFFFFF"/>
                    </a:solidFill>
                  </a:tcPr>
                </a:tc>
              </a:tr>
              <a:tr h="256032">
                <a:tc>
                  <a:txBody>
                    <a:bodyPr wrap="none"/>
                    <a:lstStyle/>
                    <a:p>
                      <a:pPr algn="ctr"/>
                      <a:r>
                        <a:rPr sz="850" b="1" i="0">
                          <a:solidFill>
                            <a:srgbClr val="002060"/>
                          </a:solidFill>
                          <a:latin typeface="Arial"/>
                        </a:rPr>
                        <a:t>2</a:t>
                      </a:r>
                    </a:p>
                  </a:txBody>
                  <a:tcPr>
                    <a:solidFill>
                      <a:srgbClr val="F2F2F2"/>
                    </a:solidFill>
                  </a:tcPr>
                </a:tc>
                <a:tc>
                  <a:txBody>
                    <a:bodyPr wrap="none"/>
                    <a:lstStyle/>
                    <a:p>
                      <a:pPr algn="l"/>
                      <a:r>
                        <a:rPr sz="850" b="0" i="0">
                          <a:solidFill>
                            <a:srgbClr val="262626"/>
                          </a:solidFill>
                          <a:latin typeface="Arial"/>
                        </a:rPr>
                        <a:t>Michael Gar</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8:53</a:t>
                      </a:r>
                    </a:p>
                  </a:txBody>
                  <a:tcPr>
                    <a:solidFill>
                      <a:srgbClr val="F2F2F2"/>
                    </a:solidFill>
                  </a:tcPr>
                </a:tc>
                <a:tc>
                  <a:txBody>
                    <a:bodyPr wrap="none"/>
                    <a:lstStyle/>
                    <a:p>
                      <a:pPr algn="ctr"/>
                      <a:r>
                        <a:rPr sz="850" b="0" i="0">
                          <a:solidFill>
                            <a:srgbClr val="262626"/>
                          </a:solidFill>
                          <a:latin typeface="Arial"/>
                        </a:rPr>
                        <a:t>16:57</a:t>
                      </a:r>
                    </a:p>
                  </a:txBody>
                  <a:tcPr>
                    <a:solidFill>
                      <a:srgbClr val="F2F2F2"/>
                    </a:solidFill>
                  </a:tcPr>
                </a:tc>
                <a:tc>
                  <a:txBody>
                    <a:bodyPr wrap="none"/>
                    <a:lstStyle/>
                    <a:p>
                      <a:pPr algn="ctr"/>
                      <a:r>
                        <a:rPr sz="850" b="0" i="0">
                          <a:solidFill>
                            <a:srgbClr val="BFBFBF"/>
                          </a:solidFill>
                          <a:latin typeface="Arial"/>
                        </a:rPr>
                        <a:t>5/1</a:t>
                      </a:r>
                    </a:p>
                  </a:txBody>
                  <a:tcPr>
                    <a:solidFill>
                      <a:srgbClr val="F2F2F2"/>
                    </a:solidFill>
                  </a:tcPr>
                </a:tc>
              </a:tr>
              <a:tr h="256032">
                <a:tc>
                  <a:txBody>
                    <a:bodyPr wrap="none"/>
                    <a:lstStyle/>
                    <a:p>
                      <a:pPr algn="ctr"/>
                      <a:r>
                        <a:rPr sz="850" b="1" i="0">
                          <a:solidFill>
                            <a:srgbClr val="002060"/>
                          </a:solidFill>
                          <a:latin typeface="Arial"/>
                        </a:rPr>
                        <a:t>3</a:t>
                      </a:r>
                    </a:p>
                  </a:txBody>
                  <a:tcPr>
                    <a:solidFill>
                      <a:srgbClr val="FFFFFF"/>
                    </a:solidFill>
                  </a:tcPr>
                </a:tc>
                <a:tc>
                  <a:txBody>
                    <a:bodyPr wrap="none"/>
                    <a:lstStyle/>
                    <a:p>
                      <a:pPr algn="l"/>
                      <a:r>
                        <a:rPr sz="850" b="0" i="0">
                          <a:solidFill>
                            <a:srgbClr val="262626"/>
                          </a:solidFill>
                          <a:latin typeface="Arial"/>
                        </a:rPr>
                        <a:t>Dorian Coninx</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8:57</a:t>
                      </a:r>
                    </a:p>
                  </a:txBody>
                  <a:tcPr>
                    <a:solidFill>
                      <a:srgbClr val="FFFFFF"/>
                    </a:solidFill>
                  </a:tcPr>
                </a:tc>
                <a:tc>
                  <a:txBody>
                    <a:bodyPr wrap="none"/>
                    <a:lstStyle/>
                    <a:p>
                      <a:pPr algn="ctr"/>
                      <a:r>
                        <a:rPr sz="850" b="0" i="0">
                          <a:solidFill>
                            <a:srgbClr val="262626"/>
                          </a:solidFill>
                          <a:latin typeface="Arial"/>
                        </a:rPr>
                        <a:t>17:26</a:t>
                      </a:r>
                    </a:p>
                  </a:txBody>
                  <a:tcPr>
                    <a:solidFill>
                      <a:srgbClr val="FFFFFF"/>
                    </a:solidFill>
                  </a:tcPr>
                </a:tc>
                <a:tc>
                  <a:txBody>
                    <a:bodyPr wrap="none"/>
                    <a:lstStyle/>
                    <a:p>
                      <a:pPr algn="ctr"/>
                      <a:r>
                        <a:rPr sz="850" b="0" i="0">
                          <a:solidFill>
                            <a:srgbClr val="BFBFBF"/>
                          </a:solidFill>
                          <a:latin typeface="Arial"/>
                        </a:rPr>
                        <a:t>4/9</a:t>
                      </a:r>
                    </a:p>
                  </a:txBody>
                  <a:tcPr>
                    <a:solidFill>
                      <a:srgbClr val="FFFFFF"/>
                    </a:solidFill>
                  </a:tcPr>
                </a:tc>
              </a:tr>
              <a:tr h="256032">
                <a:tc>
                  <a:txBody>
                    <a:bodyPr wrap="none"/>
                    <a:lstStyle/>
                    <a:p>
                      <a:pPr algn="ctr"/>
                      <a:r>
                        <a:rPr sz="850" b="1" i="0">
                          <a:solidFill>
                            <a:srgbClr val="002060"/>
                          </a:solidFill>
                          <a:latin typeface="Arial"/>
                        </a:rPr>
                        <a:t>4</a:t>
                      </a:r>
                    </a:p>
                  </a:txBody>
                  <a:tcPr>
                    <a:solidFill>
                      <a:srgbClr val="F2F2F2"/>
                    </a:solidFill>
                  </a:tcPr>
                </a:tc>
                <a:tc>
                  <a:txBody>
                    <a:bodyPr wrap="none"/>
                    <a:lstStyle/>
                    <a:p>
                      <a:pPr algn="l"/>
                      <a:r>
                        <a:rPr sz="850" b="0" i="0">
                          <a:solidFill>
                            <a:srgbClr val="262626"/>
                          </a:solidFill>
                          <a:latin typeface="Arial"/>
                        </a:rPr>
                        <a:t>Marcus Dey</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8:57</a:t>
                      </a:r>
                    </a:p>
                  </a:txBody>
                  <a:tcPr>
                    <a:solidFill>
                      <a:srgbClr val="F2F2F2"/>
                    </a:solidFill>
                  </a:tcPr>
                </a:tc>
                <a:tc>
                  <a:txBody>
                    <a:bodyPr wrap="none"/>
                    <a:lstStyle/>
                    <a:p>
                      <a:pPr algn="ctr"/>
                      <a:r>
                        <a:rPr sz="850" b="0" i="0">
                          <a:solidFill>
                            <a:srgbClr val="262626"/>
                          </a:solidFill>
                          <a:latin typeface="Arial"/>
                        </a:rPr>
                        <a:t>17:10</a:t>
                      </a:r>
                    </a:p>
                  </a:txBody>
                  <a:tcPr>
                    <a:solidFill>
                      <a:srgbClr val="F2F2F2"/>
                    </a:solidFill>
                  </a:tcPr>
                </a:tc>
                <a:tc>
                  <a:txBody>
                    <a:bodyPr wrap="none"/>
                    <a:lstStyle/>
                    <a:p>
                      <a:pPr algn="ctr"/>
                      <a:r>
                        <a:rPr sz="850" b="0" i="0">
                          <a:solidFill>
                            <a:srgbClr val="BFBFBF"/>
                          </a:solidFill>
                          <a:latin typeface="Arial"/>
                        </a:rPr>
                        <a:t>8/4</a:t>
                      </a:r>
                    </a:p>
                  </a:txBody>
                  <a:tcPr>
                    <a:solidFill>
                      <a:srgbClr val="F2F2F2"/>
                    </a:solidFill>
                  </a:tcPr>
                </a:tc>
              </a:tr>
              <a:tr h="256032">
                <a:tc>
                  <a:txBody>
                    <a:bodyPr wrap="none"/>
                    <a:lstStyle/>
                    <a:p>
                      <a:pPr algn="ctr"/>
                      <a:r>
                        <a:rPr sz="850" b="1" i="0">
                          <a:solidFill>
                            <a:srgbClr val="002060"/>
                          </a:solidFill>
                          <a:latin typeface="Arial"/>
                        </a:rPr>
                        <a:t>5</a:t>
                      </a:r>
                    </a:p>
                  </a:txBody>
                  <a:tcPr>
                    <a:solidFill>
                      <a:srgbClr val="FFFFFF"/>
                    </a:solidFill>
                  </a:tcPr>
                </a:tc>
                <a:tc>
                  <a:txBody>
                    <a:bodyPr wrap="none"/>
                    <a:lstStyle/>
                    <a:p>
                      <a:pPr algn="l"/>
                      <a:r>
                        <a:rPr sz="850" b="0" i="0">
                          <a:solidFill>
                            <a:srgbClr val="262626"/>
                          </a:solidFill>
                          <a:latin typeface="Arial"/>
                        </a:rPr>
                        <a:t>Miguel Tiago Silva</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8:58</a:t>
                      </a:r>
                    </a:p>
                  </a:txBody>
                  <a:tcPr>
                    <a:solidFill>
                      <a:srgbClr val="FFFFFF"/>
                    </a:solidFill>
                  </a:tcPr>
                </a:tc>
                <a:tc>
                  <a:txBody>
                    <a:bodyPr wrap="none"/>
                    <a:lstStyle/>
                    <a:p>
                      <a:pPr algn="ctr"/>
                      <a:r>
                        <a:rPr sz="850" b="0" i="0">
                          <a:solidFill>
                            <a:srgbClr val="262626"/>
                          </a:solidFill>
                          <a:latin typeface="Arial"/>
                        </a:rPr>
                        <a:t>17:41</a:t>
                      </a:r>
                    </a:p>
                  </a:txBody>
                  <a:tcPr>
                    <a:solidFill>
                      <a:srgbClr val="FFFFFF"/>
                    </a:solidFill>
                  </a:tcPr>
                </a:tc>
                <a:tc>
                  <a:txBody>
                    <a:bodyPr wrap="none"/>
                    <a:lstStyle/>
                    <a:p>
                      <a:pPr algn="ctr"/>
                      <a:r>
                        <a:rPr sz="850" b="0" i="0">
                          <a:solidFill>
                            <a:srgbClr val="BFBFBF"/>
                          </a:solidFill>
                          <a:latin typeface="Arial"/>
                        </a:rPr>
                        <a:t>8/11</a:t>
                      </a:r>
                    </a:p>
                  </a:txBody>
                  <a:tcPr>
                    <a:solidFill>
                      <a:srgbClr val="FFFFFF"/>
                    </a:solidFill>
                  </a:tcPr>
                </a:tc>
              </a:tr>
              <a:tr h="256032">
                <a:tc>
                  <a:txBody>
                    <a:bodyPr wrap="none"/>
                    <a:lstStyle/>
                    <a:p>
                      <a:pPr algn="ctr"/>
                      <a:r>
                        <a:rPr sz="850" b="1" i="0">
                          <a:solidFill>
                            <a:srgbClr val="002060"/>
                          </a:solidFill>
                          <a:latin typeface="Arial"/>
                        </a:rPr>
                        <a:t>6</a:t>
                      </a:r>
                    </a:p>
                  </a:txBody>
                  <a:tcPr>
                    <a:solidFill>
                      <a:srgbClr val="F2F2F2"/>
                    </a:solidFill>
                  </a:tcPr>
                </a:tc>
                <a:tc>
                  <a:txBody>
                    <a:bodyPr wrap="none"/>
                    <a:lstStyle/>
                    <a:p>
                      <a:pPr algn="l"/>
                      <a:r>
                        <a:rPr sz="850" b="0" i="0">
                          <a:solidFill>
                            <a:srgbClr val="262626"/>
                          </a:solidFill>
                          <a:latin typeface="Arial"/>
                        </a:rPr>
                        <a:t>Vincent Luis</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8:59</a:t>
                      </a:r>
                    </a:p>
                  </a:txBody>
                  <a:tcPr>
                    <a:solidFill>
                      <a:srgbClr val="F2F2F2"/>
                    </a:solidFill>
                  </a:tcPr>
                </a:tc>
                <a:tc>
                  <a:txBody>
                    <a:bodyPr wrap="none"/>
                    <a:lstStyle/>
                    <a:p>
                      <a:pPr algn="ctr"/>
                      <a:r>
                        <a:rPr sz="850" b="0" i="0">
                          <a:solidFill>
                            <a:srgbClr val="262626"/>
                          </a:solidFill>
                          <a:latin typeface="Arial"/>
                        </a:rPr>
                        <a:t>18:20</a:t>
                      </a:r>
                    </a:p>
                  </a:txBody>
                  <a:tcPr>
                    <a:solidFill>
                      <a:srgbClr val="F2F2F2"/>
                    </a:solidFill>
                  </a:tcPr>
                </a:tc>
                <a:tc>
                  <a:txBody>
                    <a:bodyPr wrap="none"/>
                    <a:lstStyle/>
                    <a:p>
                      <a:pPr algn="ctr"/>
                      <a:r>
                        <a:rPr sz="850" b="0" i="0">
                          <a:solidFill>
                            <a:srgbClr val="BFBFBF"/>
                          </a:solidFill>
                          <a:latin typeface="Arial"/>
                        </a:rPr>
                        <a:t>2/7</a:t>
                      </a:r>
                    </a:p>
                  </a:txBody>
                  <a:tcPr>
                    <a:solidFill>
                      <a:srgbClr val="F2F2F2"/>
                    </a:solidFill>
                  </a:tcPr>
                </a:tc>
              </a:tr>
              <a:tr h="256032">
                <a:tc>
                  <a:txBody>
                    <a:bodyPr wrap="none"/>
                    <a:lstStyle/>
                    <a:p>
                      <a:pPr algn="ctr"/>
                      <a:r>
                        <a:rPr sz="850" b="1" i="0">
                          <a:solidFill>
                            <a:srgbClr val="002060"/>
                          </a:solidFill>
                          <a:latin typeface="Arial"/>
                        </a:rPr>
                        <a:t>7</a:t>
                      </a:r>
                    </a:p>
                  </a:txBody>
                  <a:tcPr>
                    <a:solidFill>
                      <a:srgbClr val="FFFFFF"/>
                    </a:solidFill>
                  </a:tcPr>
                </a:tc>
                <a:tc>
                  <a:txBody>
                    <a:bodyPr wrap="none"/>
                    <a:lstStyle/>
                    <a:p>
                      <a:pPr algn="l"/>
                      <a:r>
                        <a:rPr sz="850" b="0" i="0">
                          <a:solidFill>
                            <a:srgbClr val="262626"/>
                          </a:solidFill>
                          <a:latin typeface="Arial"/>
                        </a:rPr>
                        <a:t>Davide Ingrilli</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9:04</a:t>
                      </a:r>
                    </a:p>
                  </a:txBody>
                  <a:tcPr>
                    <a:solidFill>
                      <a:srgbClr val="FFFFFF"/>
                    </a:solidFill>
                  </a:tcPr>
                </a:tc>
                <a:tc>
                  <a:txBody>
                    <a:bodyPr wrap="none"/>
                    <a:lstStyle/>
                    <a:p>
                      <a:pPr algn="ctr"/>
                      <a:r>
                        <a:rPr sz="850" b="0" i="0">
                          <a:solidFill>
                            <a:srgbClr val="262626"/>
                          </a:solidFill>
                          <a:latin typeface="Arial"/>
                        </a:rPr>
                        <a:t>—</a:t>
                      </a:r>
                    </a:p>
                  </a:txBody>
                  <a:tcPr>
                    <a:solidFill>
                      <a:srgbClr val="FFFFFF"/>
                    </a:solidFill>
                  </a:tcPr>
                </a:tc>
                <a:tc>
                  <a:txBody>
                    <a:bodyPr wrap="none"/>
                    <a:lstStyle/>
                    <a:p>
                      <a:pPr algn="ctr"/>
                      <a:r>
                        <a:rPr sz="850" b="0" i="0">
                          <a:solidFill>
                            <a:srgbClr val="BFBFBF"/>
                          </a:solidFill>
                          <a:latin typeface="Arial"/>
                        </a:rPr>
                        <a:t>3/0</a:t>
                      </a:r>
                    </a:p>
                  </a:txBody>
                  <a:tcPr>
                    <a:solidFill>
                      <a:srgbClr val="FFFFFF"/>
                    </a:solidFill>
                  </a:tcPr>
                </a:tc>
              </a:tr>
              <a:tr h="256032">
                <a:tc>
                  <a:txBody>
                    <a:bodyPr wrap="none"/>
                    <a:lstStyle/>
                    <a:p>
                      <a:pPr algn="ctr"/>
                      <a:r>
                        <a:rPr sz="850" b="1" i="0">
                          <a:solidFill>
                            <a:srgbClr val="002060"/>
                          </a:solidFill>
                          <a:latin typeface="Arial"/>
                        </a:rPr>
                        <a:t>8</a:t>
                      </a:r>
                    </a:p>
                  </a:txBody>
                  <a:tcPr>
                    <a:solidFill>
                      <a:srgbClr val="F2F2F2"/>
                    </a:solidFill>
                  </a:tcPr>
                </a:tc>
                <a:tc>
                  <a:txBody>
                    <a:bodyPr wrap="none"/>
                    <a:lstStyle/>
                    <a:p>
                      <a:pPr algn="l"/>
                      <a:r>
                        <a:rPr sz="850" b="0" i="0">
                          <a:solidFill>
                            <a:srgbClr val="262626"/>
                          </a:solidFill>
                          <a:latin typeface="Arial"/>
                        </a:rPr>
                        <a:t>Lawrence Martindale</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9:12</a:t>
                      </a:r>
                    </a:p>
                  </a:txBody>
                  <a:tcPr>
                    <a:solidFill>
                      <a:srgbClr val="F2F2F2"/>
                    </a:solidFill>
                  </a:tcPr>
                </a:tc>
                <a:tc>
                  <a:txBody>
                    <a:bodyPr wrap="none"/>
                    <a:lstStyle/>
                    <a:p>
                      <a:pPr algn="ctr"/>
                      <a:r>
                        <a:rPr sz="850" b="0" i="0">
                          <a:solidFill>
                            <a:srgbClr val="262626"/>
                          </a:solidFill>
                          <a:latin typeface="Arial"/>
                        </a:rPr>
                        <a:t>—</a:t>
                      </a:r>
                    </a:p>
                  </a:txBody>
                  <a:tcPr>
                    <a:solidFill>
                      <a:srgbClr val="F2F2F2"/>
                    </a:solidFill>
                  </a:tcPr>
                </a:tc>
                <a:tc>
                  <a:txBody>
                    <a:bodyPr wrap="none"/>
                    <a:lstStyle/>
                    <a:p>
                      <a:pPr algn="ctr"/>
                      <a:r>
                        <a:rPr sz="850" b="0" i="0">
                          <a:solidFill>
                            <a:srgbClr val="BFBFBF"/>
                          </a:solidFill>
                          <a:latin typeface="Arial"/>
                        </a:rPr>
                        <a:t>3/0</a:t>
                      </a:r>
                    </a:p>
                  </a:txBody>
                  <a:tcPr>
                    <a:solidFill>
                      <a:srgbClr val="F2F2F2"/>
                    </a:solidFill>
                  </a:tcPr>
                </a:tc>
              </a:tr>
              <a:tr h="256032">
                <a:tc>
                  <a:txBody>
                    <a:bodyPr wrap="none"/>
                    <a:lstStyle/>
                    <a:p>
                      <a:pPr algn="ctr"/>
                      <a:r>
                        <a:rPr sz="850" b="1" i="0">
                          <a:solidFill>
                            <a:srgbClr val="002060"/>
                          </a:solidFill>
                          <a:latin typeface="Arial"/>
                        </a:rPr>
                        <a:t>9</a:t>
                      </a:r>
                    </a:p>
                  </a:txBody>
                  <a:tcPr>
                    <a:solidFill>
                      <a:srgbClr val="FFFFFF"/>
                    </a:solidFill>
                  </a:tcPr>
                </a:tc>
                <a:tc>
                  <a:txBody>
                    <a:bodyPr wrap="none"/>
                    <a:lstStyle/>
                    <a:p>
                      <a:pPr algn="l"/>
                      <a:r>
                        <a:rPr sz="850" b="0" i="0">
                          <a:solidFill>
                            <a:srgbClr val="262626"/>
                          </a:solidFill>
                          <a:latin typeface="Arial"/>
                        </a:rPr>
                        <a:t>Zheng Xu</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9:18</a:t>
                      </a:r>
                    </a:p>
                  </a:txBody>
                  <a:tcPr>
                    <a:solidFill>
                      <a:srgbClr val="FFFFFF"/>
                    </a:solidFill>
                  </a:tcPr>
                </a:tc>
                <a:tc>
                  <a:txBody>
                    <a:bodyPr wrap="none"/>
                    <a:lstStyle/>
                    <a:p>
                      <a:pPr algn="ctr"/>
                      <a:r>
                        <a:rPr sz="850" b="0" i="0">
                          <a:solidFill>
                            <a:srgbClr val="262626"/>
                          </a:solidFill>
                          <a:latin typeface="Arial"/>
                        </a:rPr>
                        <a:t>18:19</a:t>
                      </a:r>
                    </a:p>
                  </a:txBody>
                  <a:tcPr>
                    <a:solidFill>
                      <a:srgbClr val="FFFFFF"/>
                    </a:solidFill>
                  </a:tcPr>
                </a:tc>
                <a:tc>
                  <a:txBody>
                    <a:bodyPr wrap="none"/>
                    <a:lstStyle/>
                    <a:p>
                      <a:pPr algn="ctr"/>
                      <a:r>
                        <a:rPr sz="850" b="0" i="0">
                          <a:solidFill>
                            <a:srgbClr val="BFBFBF"/>
                          </a:solidFill>
                          <a:latin typeface="Arial"/>
                        </a:rPr>
                        <a:t>1/2</a:t>
                      </a:r>
                    </a:p>
                  </a:txBody>
                  <a:tcPr>
                    <a:solidFill>
                      <a:srgbClr val="FFFFFF"/>
                    </a:solidFill>
                  </a:tcPr>
                </a:tc>
              </a:tr>
              <a:tr h="256032">
                <a:tc>
                  <a:txBody>
                    <a:bodyPr wrap="none"/>
                    <a:lstStyle/>
                    <a:p>
                      <a:pPr algn="ctr"/>
                      <a:r>
                        <a:rPr sz="850" b="1" i="0">
                          <a:solidFill>
                            <a:srgbClr val="002060"/>
                          </a:solidFill>
                          <a:latin typeface="Arial"/>
                        </a:rPr>
                        <a:t>10</a:t>
                      </a:r>
                    </a:p>
                  </a:txBody>
                  <a:tcPr>
                    <a:solidFill>
                      <a:srgbClr val="F2F2F2"/>
                    </a:solidFill>
                  </a:tcPr>
                </a:tc>
                <a:tc>
                  <a:txBody>
                    <a:bodyPr wrap="none"/>
                    <a:lstStyle/>
                    <a:p>
                      <a:pPr algn="l"/>
                      <a:r>
                        <a:rPr sz="850" b="0" i="0">
                          <a:solidFill>
                            <a:srgbClr val="262626"/>
                          </a:solidFill>
                          <a:latin typeface="Arial"/>
                        </a:rPr>
                        <a:t>Pao Millo</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9:29</a:t>
                      </a:r>
                    </a:p>
                  </a:txBody>
                  <a:tcPr>
                    <a:solidFill>
                      <a:srgbClr val="F2F2F2"/>
                    </a:solidFill>
                  </a:tcPr>
                </a:tc>
                <a:tc>
                  <a:txBody>
                    <a:bodyPr wrap="none"/>
                    <a:lstStyle/>
                    <a:p>
                      <a:pPr algn="ctr"/>
                      <a:r>
                        <a:rPr sz="850" b="0" i="0">
                          <a:solidFill>
                            <a:srgbClr val="262626"/>
                          </a:solidFill>
                          <a:latin typeface="Arial"/>
                        </a:rPr>
                        <a:t>—</a:t>
                      </a:r>
                    </a:p>
                  </a:txBody>
                  <a:tcPr>
                    <a:solidFill>
                      <a:srgbClr val="F2F2F2"/>
                    </a:solidFill>
                  </a:tcPr>
                </a:tc>
                <a:tc>
                  <a:txBody>
                    <a:bodyPr wrap="none"/>
                    <a:lstStyle/>
                    <a:p>
                      <a:pPr algn="ctr"/>
                      <a:r>
                        <a:rPr sz="850" b="0" i="0">
                          <a:solidFill>
                            <a:srgbClr val="BFBFBF"/>
                          </a:solidFill>
                          <a:latin typeface="Arial"/>
                        </a:rPr>
                        <a:t>3/0</a:t>
                      </a:r>
                    </a:p>
                  </a:txBody>
                  <a:tcPr>
                    <a:solidFill>
                      <a:srgbClr val="F2F2F2"/>
                    </a:solidFill>
                  </a:tcPr>
                </a:tc>
              </a:tr>
              <a:tr h="256032">
                <a:tc>
                  <a:txBody>
                    <a:bodyPr wrap="none"/>
                    <a:lstStyle/>
                    <a:p>
                      <a:pPr algn="ctr"/>
                      <a:r>
                        <a:rPr sz="850" b="1" i="0">
                          <a:solidFill>
                            <a:srgbClr val="002060"/>
                          </a:solidFill>
                          <a:latin typeface="Arial"/>
                        </a:rPr>
                        <a:t>11</a:t>
                      </a:r>
                    </a:p>
                  </a:txBody>
                  <a:tcPr>
                    <a:solidFill>
                      <a:srgbClr val="FFFFFF"/>
                    </a:solidFill>
                  </a:tcPr>
                </a:tc>
                <a:tc>
                  <a:txBody>
                    <a:bodyPr wrap="none"/>
                    <a:lstStyle/>
                    <a:p>
                      <a:pPr algn="l"/>
                      <a:r>
                        <a:rPr sz="850" b="1" i="0">
                          <a:solidFill>
                            <a:srgbClr val="C00000"/>
                          </a:solidFill>
                          <a:latin typeface="Arial"/>
                        </a:rPr>
                        <a:t>Carter Stuhlmacher</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9:40</a:t>
                      </a:r>
                    </a:p>
                  </a:txBody>
                  <a:tcPr>
                    <a:solidFill>
                      <a:srgbClr val="FFFFFF"/>
                    </a:solidFill>
                  </a:tcPr>
                </a:tc>
                <a:tc>
                  <a:txBody>
                    <a:bodyPr wrap="none"/>
                    <a:lstStyle/>
                    <a:p>
                      <a:pPr algn="ctr"/>
                      <a:r>
                        <a:rPr sz="850" b="0" i="0">
                          <a:solidFill>
                            <a:srgbClr val="262626"/>
                          </a:solidFill>
                          <a:latin typeface="Arial"/>
                        </a:rPr>
                        <a:t>18:08</a:t>
                      </a:r>
                    </a:p>
                  </a:txBody>
                  <a:tcPr>
                    <a:solidFill>
                      <a:srgbClr val="FFFFFF"/>
                    </a:solidFill>
                  </a:tcPr>
                </a:tc>
                <a:tc>
                  <a:txBody>
                    <a:bodyPr wrap="none"/>
                    <a:lstStyle/>
                    <a:p>
                      <a:pPr algn="ctr"/>
                      <a:r>
                        <a:rPr sz="850" b="0" i="0">
                          <a:solidFill>
                            <a:srgbClr val="BFBFBF"/>
                          </a:solidFill>
                          <a:latin typeface="Arial"/>
                        </a:rPr>
                        <a:t>13/1</a:t>
                      </a:r>
                    </a:p>
                  </a:txBody>
                  <a:tcPr>
                    <a:solidFill>
                      <a:srgbClr val="FFFFFF"/>
                    </a:solidFill>
                  </a:tcPr>
                </a:tc>
              </a:tr>
              <a:tr h="256032">
                <a:tc>
                  <a:txBody>
                    <a:bodyPr wrap="none"/>
                    <a:lstStyle/>
                    <a:p>
                      <a:pPr algn="ctr"/>
                      <a:r>
                        <a:rPr sz="850" b="1" i="0">
                          <a:solidFill>
                            <a:srgbClr val="002060"/>
                          </a:solidFill>
                          <a:latin typeface="Arial"/>
                        </a:rPr>
                        <a:t>12</a:t>
                      </a:r>
                    </a:p>
                  </a:txBody>
                  <a:tcPr>
                    <a:solidFill>
                      <a:srgbClr val="F2F2F2"/>
                    </a:solidFill>
                  </a:tcPr>
                </a:tc>
                <a:tc>
                  <a:txBody>
                    <a:bodyPr wrap="none"/>
                    <a:lstStyle/>
                    <a:p>
                      <a:pPr algn="l"/>
                      <a:r>
                        <a:rPr sz="850" b="0" i="0">
                          <a:solidFill>
                            <a:srgbClr val="262626"/>
                          </a:solidFill>
                          <a:latin typeface="Arial"/>
                        </a:rPr>
                        <a:t>Jamie Riddle</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10:01</a:t>
                      </a:r>
                    </a:p>
                  </a:txBody>
                  <a:tcPr>
                    <a:solidFill>
                      <a:srgbClr val="F2F2F2"/>
                    </a:solidFill>
                  </a:tcPr>
                </a:tc>
                <a:tc>
                  <a:txBody>
                    <a:bodyPr wrap="none"/>
                    <a:lstStyle/>
                    <a:p>
                      <a:pPr algn="ctr"/>
                      <a:r>
                        <a:rPr sz="850" b="0" i="0">
                          <a:solidFill>
                            <a:srgbClr val="262626"/>
                          </a:solidFill>
                          <a:latin typeface="Arial"/>
                        </a:rPr>
                        <a:t>17:26</a:t>
                      </a:r>
                    </a:p>
                  </a:txBody>
                  <a:tcPr>
                    <a:solidFill>
                      <a:srgbClr val="F2F2F2"/>
                    </a:solidFill>
                  </a:tcPr>
                </a:tc>
                <a:tc>
                  <a:txBody>
                    <a:bodyPr wrap="none"/>
                    <a:lstStyle/>
                    <a:p>
                      <a:pPr algn="ctr"/>
                      <a:r>
                        <a:rPr sz="850" b="0" i="0">
                          <a:solidFill>
                            <a:srgbClr val="BFBFBF"/>
                          </a:solidFill>
                          <a:latin typeface="Arial"/>
                        </a:rPr>
                        <a:t>8/3</a:t>
                      </a:r>
                    </a:p>
                  </a:txBody>
                  <a:tcPr>
                    <a:solidFill>
                      <a:srgbClr val="F2F2F2"/>
                    </a:solidFill>
                  </a:tcPr>
                </a:tc>
              </a:tr>
              <a:tr h="256032">
                <a:tc>
                  <a:txBody>
                    <a:bodyPr wrap="none"/>
                    <a:lstStyle/>
                    <a:p>
                      <a:pPr algn="ctr"/>
                      <a:r>
                        <a:rPr sz="850" b="1" i="0">
                          <a:solidFill>
                            <a:srgbClr val="002060"/>
                          </a:solidFill>
                          <a:latin typeface="Arial"/>
                        </a:rPr>
                        <a:t>13</a:t>
                      </a:r>
                    </a:p>
                  </a:txBody>
                  <a:tcPr>
                    <a:solidFill>
                      <a:srgbClr val="FFFFFF"/>
                    </a:solidFill>
                  </a:tcPr>
                </a:tc>
                <a:tc>
                  <a:txBody>
                    <a:bodyPr wrap="none"/>
                    <a:lstStyle/>
                    <a:p>
                      <a:pPr algn="l"/>
                      <a:r>
                        <a:rPr sz="850" b="0" i="0">
                          <a:solidFill>
                            <a:srgbClr val="262626"/>
                          </a:solidFill>
                          <a:latin typeface="Arial"/>
                        </a:rPr>
                        <a:t>Nicholas Quenet</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10:17</a:t>
                      </a:r>
                    </a:p>
                  </a:txBody>
                  <a:tcPr>
                    <a:solidFill>
                      <a:srgbClr val="FFFFFF"/>
                    </a:solidFill>
                  </a:tcPr>
                </a:tc>
                <a:tc>
                  <a:txBody>
                    <a:bodyPr wrap="none"/>
                    <a:lstStyle/>
                    <a:p>
                      <a:pPr algn="ctr"/>
                      <a:r>
                        <a:rPr sz="850" b="0" i="0">
                          <a:solidFill>
                            <a:srgbClr val="262626"/>
                          </a:solidFill>
                          <a:latin typeface="Arial"/>
                        </a:rPr>
                        <a:t>18:35</a:t>
                      </a:r>
                    </a:p>
                  </a:txBody>
                  <a:tcPr>
                    <a:solidFill>
                      <a:srgbClr val="FFFFFF"/>
                    </a:solidFill>
                  </a:tcPr>
                </a:tc>
                <a:tc>
                  <a:txBody>
                    <a:bodyPr wrap="none"/>
                    <a:lstStyle/>
                    <a:p>
                      <a:pPr algn="ctr"/>
                      <a:r>
                        <a:rPr sz="850" b="0" i="0">
                          <a:solidFill>
                            <a:srgbClr val="BFBFBF"/>
                          </a:solidFill>
                          <a:latin typeface="Arial"/>
                        </a:rPr>
                        <a:t>5/1</a:t>
                      </a:r>
                    </a:p>
                  </a:txBody>
                  <a:tcPr>
                    <a:solidFill>
                      <a:srgbClr val="FFFFFF"/>
                    </a:solidFill>
                  </a:tcPr>
                </a:tc>
              </a:tr>
              <a:tr h="256032">
                <a:tc>
                  <a:txBody>
                    <a:bodyPr wrap="none"/>
                    <a:lstStyle/>
                    <a:p>
                      <a:pPr algn="ctr"/>
                      <a:r>
                        <a:rPr sz="850" b="1" i="0">
                          <a:solidFill>
                            <a:srgbClr val="002060"/>
                          </a:solidFill>
                          <a:latin typeface="Arial"/>
                        </a:rPr>
                        <a:t>14</a:t>
                      </a:r>
                    </a:p>
                  </a:txBody>
                  <a:tcPr>
                    <a:solidFill>
                      <a:srgbClr val="F2F2F2"/>
                    </a:solidFill>
                  </a:tcPr>
                </a:tc>
                <a:tc>
                  <a:txBody>
                    <a:bodyPr wrap="none"/>
                    <a:lstStyle/>
                    <a:p>
                      <a:pPr algn="l"/>
                      <a:r>
                        <a:rPr sz="850" b="0" i="0">
                          <a:solidFill>
                            <a:srgbClr val="262626"/>
                          </a:solidFill>
                          <a:latin typeface="Arial"/>
                        </a:rPr>
                        <a:t>Márk Dévay</a:t>
                      </a:r>
                    </a:p>
                  </a:txBody>
                  <a:tcPr>
                    <a:solidFill>
                      <a:srgbClr val="F2F2F2"/>
                    </a:solidFill>
                  </a:tcPr>
                </a:tc>
                <a:tc>
                  <a:txBody>
                    <a:bodyPr wrap="none"/>
                    <a:lstStyle/>
                    <a:p>
                      <a:pPr algn="ctr"/>
                      <a:r>
                        <a:rPr sz="850" b="1" i="0">
                          <a:solidFill>
                            <a:srgbClr val="262626"/>
                          </a:solidFill>
                          <a:latin typeface="Arial"/>
                        </a:rPr>
                        <a:t>97%</a:t>
                      </a:r>
                    </a:p>
                  </a:txBody>
                  <a:tcPr>
                    <a:solidFill>
                      <a:srgbClr val="F2F2F2"/>
                    </a:solidFill>
                  </a:tcPr>
                </a:tc>
                <a:tc>
                  <a:txBody>
                    <a:bodyPr wrap="none"/>
                    <a:lstStyle/>
                    <a:p>
                      <a:pPr algn="ctr"/>
                      <a:r>
                        <a:rPr sz="850" b="1" i="0">
                          <a:solidFill>
                            <a:srgbClr val="262626"/>
                          </a:solidFill>
                          <a:latin typeface="Arial"/>
                        </a:rPr>
                        <a:t>8:50</a:t>
                      </a:r>
                    </a:p>
                  </a:txBody>
                  <a:tcPr>
                    <a:solidFill>
                      <a:srgbClr val="F2F2F2"/>
                    </a:solidFill>
                  </a:tcPr>
                </a:tc>
                <a:tc>
                  <a:txBody>
                    <a:bodyPr wrap="none"/>
                    <a:lstStyle/>
                    <a:p>
                      <a:pPr algn="ctr"/>
                      <a:r>
                        <a:rPr sz="850" b="0" i="0">
                          <a:solidFill>
                            <a:srgbClr val="262626"/>
                          </a:solidFill>
                          <a:latin typeface="Arial"/>
                        </a:rPr>
                        <a:t>17:33</a:t>
                      </a:r>
                    </a:p>
                  </a:txBody>
                  <a:tcPr>
                    <a:solidFill>
                      <a:srgbClr val="F2F2F2"/>
                    </a:solidFill>
                  </a:tcPr>
                </a:tc>
                <a:tc>
                  <a:txBody>
                    <a:bodyPr wrap="none"/>
                    <a:lstStyle/>
                    <a:p>
                      <a:pPr algn="ctr"/>
                      <a:r>
                        <a:rPr sz="850" b="0" i="0">
                          <a:solidFill>
                            <a:srgbClr val="BFBFBF"/>
                          </a:solidFill>
                          <a:latin typeface="Arial"/>
                        </a:rPr>
                        <a:t>9/23</a:t>
                      </a:r>
                    </a:p>
                  </a:txBody>
                  <a:tcPr>
                    <a:solidFill>
                      <a:srgbClr val="F2F2F2"/>
                    </a:solidFill>
                  </a:tcPr>
                </a:tc>
              </a:tr>
            </a:tbl>
          </a:graphicData>
        </a:graphic>
      </p:graphicFrame>
      <p:sp>
        <p:nvSpPr>
          <p:cNvPr id="13" name="Rectangle 12"/>
          <p:cNvSpPr/>
          <p:nvPr/>
        </p:nvSpPr>
        <p:spPr>
          <a:xfrm>
            <a:off x="6126480" y="150876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1536192"/>
            <a:ext cx="5806440" cy="219456"/>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15" name="Table 14"/>
          <p:cNvGraphicFramePr>
            <a:graphicFrameLocks noGrp="1"/>
          </p:cNvGraphicFramePr>
          <p:nvPr/>
        </p:nvGraphicFramePr>
        <p:xfrm>
          <a:off x="6126480" y="1828800"/>
          <a:ext cx="5806439" cy="3840480"/>
        </p:xfrm>
        <a:graphic>
          <a:graphicData uri="http://schemas.openxmlformats.org/drawingml/2006/table">
            <a:tbl>
              <a:tblPr firstRow="1" bandRow="1">
                <a:tableStyleId>{5C22544A-7EE6-4342-B048-85BDC9FD1C3A}</a:tableStyleId>
              </a:tblPr>
              <a:tblGrid>
                <a:gridCol w="341985"/>
                <a:gridCol w="1783080"/>
                <a:gridCol w="822960"/>
                <a:gridCol w="950976"/>
                <a:gridCol w="950976"/>
                <a:gridCol w="956462"/>
              </a:tblGrid>
              <a:tr h="256032">
                <a:tc>
                  <a:txBody>
                    <a:bodyPr wrap="none"/>
                    <a:lstStyle/>
                    <a:p>
                      <a:pPr algn="ctr"/>
                      <a:r>
                        <a:rPr sz="850" b="1" i="0">
                          <a:solidFill>
                            <a:srgbClr val="FFFFFF"/>
                          </a:solidFill>
                          <a:latin typeface="Arial"/>
                        </a:rPr>
                        <a:t>#</a:t>
                      </a:r>
                    </a:p>
                  </a:txBody>
                  <a:tcPr>
                    <a:solidFill>
                      <a:srgbClr val="002060"/>
                    </a:solidFill>
                  </a:tcPr>
                </a:tc>
                <a:tc>
                  <a:txBody>
                    <a:bodyPr wrap="none"/>
                    <a:lstStyle/>
                    <a:p>
                      <a:pPr algn="l"/>
                      <a:r>
                        <a:rPr sz="850" b="1" i="0">
                          <a:solidFill>
                            <a:srgbClr val="FFFFFF"/>
                          </a:solidFill>
                          <a:latin typeface="Arial"/>
                        </a:rPr>
                        <a:t>Athlete</a:t>
                      </a:r>
                    </a:p>
                  </a:txBody>
                  <a:tcPr>
                    <a:solidFill>
                      <a:srgbClr val="002060"/>
                    </a:solidFill>
                  </a:tcPr>
                </a:tc>
                <a:tc>
                  <a:txBody>
                    <a:bodyPr wrap="none"/>
                    <a:lstStyle/>
                    <a:p>
                      <a:pPr algn="ctr"/>
                      <a:r>
                        <a:rPr sz="850" b="1" i="0">
                          <a:solidFill>
                            <a:srgbClr val="FFFFFF"/>
                          </a:solidFill>
                          <a:latin typeface="Arial"/>
                        </a:rPr>
                        <a:t>Lead %</a:t>
                      </a:r>
                    </a:p>
                  </a:txBody>
                  <a:tcPr>
                    <a:solidFill>
                      <a:srgbClr val="002060"/>
                    </a:solidFill>
                  </a:tcPr>
                </a:tc>
                <a:tc>
                  <a:txBody>
                    <a:bodyPr wrap="none"/>
                    <a:lstStyle/>
                    <a:p>
                      <a:pPr algn="ctr"/>
                      <a:r>
                        <a:rPr sz="850" b="1" i="0">
                          <a:solidFill>
                            <a:srgbClr val="FFFFFF"/>
                          </a:solidFill>
                          <a:latin typeface="Arial"/>
                        </a:rPr>
                        <a:t>EWMA Spr ▸</a:t>
                      </a:r>
                    </a:p>
                  </a:txBody>
                  <a:tcPr>
                    <a:solidFill>
                      <a:srgbClr val="002060"/>
                    </a:solidFill>
                  </a:tcPr>
                </a:tc>
                <a:tc>
                  <a:txBody>
                    <a:bodyPr wrap="none"/>
                    <a:lstStyle/>
                    <a:p>
                      <a:pPr algn="ctr"/>
                      <a:r>
                        <a:rPr sz="850" b="1" i="0">
                          <a:solidFill>
                            <a:srgbClr val="FFFFFF"/>
                          </a:solidFill>
                          <a:latin typeface="Arial"/>
                        </a:rPr>
                        <a:t>EWMA Std</a:t>
                      </a:r>
                    </a:p>
                  </a:txBody>
                  <a:tcPr>
                    <a:solidFill>
                      <a:srgbClr val="002060"/>
                    </a:solidFill>
                  </a:tcPr>
                </a:tc>
                <a:tc>
                  <a:txBody>
                    <a:bodyPr wrap="none"/>
                    <a:lstStyle/>
                    <a:p>
                      <a:pPr algn="ctr"/>
                      <a:r>
                        <a:rPr sz="850" b="1" i="0">
                          <a:solidFill>
                            <a:srgbClr val="FFFFFF"/>
                          </a:solidFill>
                          <a:latin typeface="Arial"/>
                        </a:rPr>
                        <a:t>Spr/Std</a:t>
                      </a:r>
                    </a:p>
                  </a:txBody>
                  <a:tcPr>
                    <a:solidFill>
                      <a:srgbClr val="002060"/>
                    </a:solidFill>
                  </a:tcPr>
                </a:tc>
              </a:tr>
              <a:tr h="256032">
                <a:tc>
                  <a:txBody>
                    <a:bodyPr wrap="none"/>
                    <a:lstStyle/>
                    <a:p>
                      <a:pPr algn="ctr"/>
                      <a:r>
                        <a:rPr sz="850" b="1" i="0">
                          <a:solidFill>
                            <a:srgbClr val="002060"/>
                          </a:solidFill>
                          <a:latin typeface="Arial"/>
                        </a:rPr>
                        <a:t>1</a:t>
                      </a:r>
                    </a:p>
                  </a:txBody>
                  <a:tcPr>
                    <a:solidFill>
                      <a:srgbClr val="FFFFFF"/>
                    </a:solidFill>
                  </a:tcPr>
                </a:tc>
                <a:tc>
                  <a:txBody>
                    <a:bodyPr wrap="none"/>
                    <a:lstStyle/>
                    <a:p>
                      <a:pPr algn="l"/>
                      <a:r>
                        <a:rPr sz="850" b="0" i="0">
                          <a:solidFill>
                            <a:srgbClr val="262626"/>
                          </a:solidFill>
                          <a:latin typeface="Arial"/>
                        </a:rPr>
                        <a:t>Tilly Anema</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9:22</a:t>
                      </a:r>
                    </a:p>
                  </a:txBody>
                  <a:tcPr>
                    <a:solidFill>
                      <a:srgbClr val="FFFFFF"/>
                    </a:solidFill>
                  </a:tcPr>
                </a:tc>
                <a:tc>
                  <a:txBody>
                    <a:bodyPr wrap="none"/>
                    <a:lstStyle/>
                    <a:p>
                      <a:pPr algn="ctr"/>
                      <a:r>
                        <a:rPr sz="850" b="0" i="0">
                          <a:solidFill>
                            <a:srgbClr val="262626"/>
                          </a:solidFill>
                          <a:latin typeface="Arial"/>
                        </a:rPr>
                        <a:t>19:20</a:t>
                      </a:r>
                    </a:p>
                  </a:txBody>
                  <a:tcPr>
                    <a:solidFill>
                      <a:srgbClr val="FFFFFF"/>
                    </a:solidFill>
                  </a:tcPr>
                </a:tc>
                <a:tc>
                  <a:txBody>
                    <a:bodyPr wrap="none"/>
                    <a:lstStyle/>
                    <a:p>
                      <a:pPr algn="ctr"/>
                      <a:r>
                        <a:rPr sz="850" b="0" i="0">
                          <a:solidFill>
                            <a:srgbClr val="BFBFBF"/>
                          </a:solidFill>
                          <a:latin typeface="Arial"/>
                        </a:rPr>
                        <a:t>5/5</a:t>
                      </a:r>
                    </a:p>
                  </a:txBody>
                  <a:tcPr>
                    <a:solidFill>
                      <a:srgbClr val="FFFFFF"/>
                    </a:solidFill>
                  </a:tcPr>
                </a:tc>
              </a:tr>
              <a:tr h="256032">
                <a:tc>
                  <a:txBody>
                    <a:bodyPr wrap="none"/>
                    <a:lstStyle/>
                    <a:p>
                      <a:pPr algn="ctr"/>
                      <a:r>
                        <a:rPr sz="850" b="1" i="0">
                          <a:solidFill>
                            <a:srgbClr val="002060"/>
                          </a:solidFill>
                          <a:latin typeface="Arial"/>
                        </a:rPr>
                        <a:t>2</a:t>
                      </a:r>
                    </a:p>
                  </a:txBody>
                  <a:tcPr>
                    <a:solidFill>
                      <a:srgbClr val="F2F2F2"/>
                    </a:solidFill>
                  </a:tcPr>
                </a:tc>
                <a:tc>
                  <a:txBody>
                    <a:bodyPr wrap="none"/>
                    <a:lstStyle/>
                    <a:p>
                      <a:pPr algn="l"/>
                      <a:r>
                        <a:rPr sz="850" b="0" i="0">
                          <a:solidFill>
                            <a:srgbClr val="262626"/>
                          </a:solidFill>
                          <a:latin typeface="Arial"/>
                        </a:rPr>
                        <a:t>Giorgia Messori</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9:23</a:t>
                      </a:r>
                    </a:p>
                  </a:txBody>
                  <a:tcPr>
                    <a:solidFill>
                      <a:srgbClr val="F2F2F2"/>
                    </a:solidFill>
                  </a:tcPr>
                </a:tc>
                <a:tc>
                  <a:txBody>
                    <a:bodyPr wrap="none"/>
                    <a:lstStyle/>
                    <a:p>
                      <a:pPr algn="ctr"/>
                      <a:r>
                        <a:rPr sz="850" b="0" i="0">
                          <a:solidFill>
                            <a:srgbClr val="262626"/>
                          </a:solidFill>
                          <a:latin typeface="Arial"/>
                        </a:rPr>
                        <a:t>—</a:t>
                      </a:r>
                    </a:p>
                  </a:txBody>
                  <a:tcPr>
                    <a:solidFill>
                      <a:srgbClr val="F2F2F2"/>
                    </a:solidFill>
                  </a:tcPr>
                </a:tc>
                <a:tc>
                  <a:txBody>
                    <a:bodyPr wrap="none"/>
                    <a:lstStyle/>
                    <a:p>
                      <a:pPr algn="ctr"/>
                      <a:r>
                        <a:rPr sz="850" b="0" i="0">
                          <a:solidFill>
                            <a:srgbClr val="BFBFBF"/>
                          </a:solidFill>
                          <a:latin typeface="Arial"/>
                        </a:rPr>
                        <a:t>3/0</a:t>
                      </a:r>
                    </a:p>
                  </a:txBody>
                  <a:tcPr>
                    <a:solidFill>
                      <a:srgbClr val="F2F2F2"/>
                    </a:solidFill>
                  </a:tcPr>
                </a:tc>
              </a:tr>
              <a:tr h="256032">
                <a:tc>
                  <a:txBody>
                    <a:bodyPr wrap="none"/>
                    <a:lstStyle/>
                    <a:p>
                      <a:pPr algn="ctr"/>
                      <a:r>
                        <a:rPr sz="850" b="1" i="0">
                          <a:solidFill>
                            <a:srgbClr val="002060"/>
                          </a:solidFill>
                          <a:latin typeface="Arial"/>
                        </a:rPr>
                        <a:t>3</a:t>
                      </a:r>
                    </a:p>
                  </a:txBody>
                  <a:tcPr>
                    <a:solidFill>
                      <a:srgbClr val="FFFFFF"/>
                    </a:solidFill>
                  </a:tcPr>
                </a:tc>
                <a:tc>
                  <a:txBody>
                    <a:bodyPr wrap="none"/>
                    <a:lstStyle/>
                    <a:p>
                      <a:pPr algn="l"/>
                      <a:r>
                        <a:rPr sz="850" b="0" i="0">
                          <a:solidFill>
                            <a:srgbClr val="262626"/>
                          </a:solidFill>
                          <a:latin typeface="Arial"/>
                        </a:rPr>
                        <a:t>Lea Marchal</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9:30</a:t>
                      </a:r>
                    </a:p>
                  </a:txBody>
                  <a:tcPr>
                    <a:solidFill>
                      <a:srgbClr val="FFFFFF"/>
                    </a:solidFill>
                  </a:tcPr>
                </a:tc>
                <a:tc>
                  <a:txBody>
                    <a:bodyPr wrap="none"/>
                    <a:lstStyle/>
                    <a:p>
                      <a:pPr algn="ctr"/>
                      <a:r>
                        <a:rPr sz="850" b="0" i="0">
                          <a:solidFill>
                            <a:srgbClr val="262626"/>
                          </a:solidFill>
                          <a:latin typeface="Arial"/>
                        </a:rPr>
                        <a:t>—</a:t>
                      </a:r>
                    </a:p>
                  </a:txBody>
                  <a:tcPr>
                    <a:solidFill>
                      <a:srgbClr val="FFFFFF"/>
                    </a:solidFill>
                  </a:tcPr>
                </a:tc>
                <a:tc>
                  <a:txBody>
                    <a:bodyPr wrap="none"/>
                    <a:lstStyle/>
                    <a:p>
                      <a:pPr algn="ctr"/>
                      <a:r>
                        <a:rPr sz="850" b="0" i="0">
                          <a:solidFill>
                            <a:srgbClr val="BFBFBF"/>
                          </a:solidFill>
                          <a:latin typeface="Arial"/>
                        </a:rPr>
                        <a:t>4/0</a:t>
                      </a:r>
                    </a:p>
                  </a:txBody>
                  <a:tcPr>
                    <a:solidFill>
                      <a:srgbClr val="FFFFFF"/>
                    </a:solidFill>
                  </a:tcPr>
                </a:tc>
              </a:tr>
              <a:tr h="256032">
                <a:tc>
                  <a:txBody>
                    <a:bodyPr wrap="none"/>
                    <a:lstStyle/>
                    <a:p>
                      <a:pPr algn="ctr"/>
                      <a:r>
                        <a:rPr sz="850" b="1" i="0">
                          <a:solidFill>
                            <a:srgbClr val="002060"/>
                          </a:solidFill>
                          <a:latin typeface="Arial"/>
                        </a:rPr>
                        <a:t>4</a:t>
                      </a:r>
                    </a:p>
                  </a:txBody>
                  <a:tcPr>
                    <a:solidFill>
                      <a:srgbClr val="F2F2F2"/>
                    </a:solidFill>
                  </a:tcPr>
                </a:tc>
                <a:tc>
                  <a:txBody>
                    <a:bodyPr wrap="none"/>
                    <a:lstStyle/>
                    <a:p>
                      <a:pPr algn="l"/>
                      <a:r>
                        <a:rPr sz="850" b="0" i="0">
                          <a:solidFill>
                            <a:srgbClr val="262626"/>
                          </a:solidFill>
                          <a:latin typeface="Arial"/>
                        </a:rPr>
                        <a:t>Sophie Alden</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9:33</a:t>
                      </a:r>
                    </a:p>
                  </a:txBody>
                  <a:tcPr>
                    <a:solidFill>
                      <a:srgbClr val="F2F2F2"/>
                    </a:solidFill>
                  </a:tcPr>
                </a:tc>
                <a:tc>
                  <a:txBody>
                    <a:bodyPr wrap="none"/>
                    <a:lstStyle/>
                    <a:p>
                      <a:pPr algn="ctr"/>
                      <a:r>
                        <a:rPr sz="850" b="0" i="0">
                          <a:solidFill>
                            <a:srgbClr val="262626"/>
                          </a:solidFill>
                          <a:latin typeface="Arial"/>
                        </a:rPr>
                        <a:t>18:41</a:t>
                      </a:r>
                    </a:p>
                  </a:txBody>
                  <a:tcPr>
                    <a:solidFill>
                      <a:srgbClr val="F2F2F2"/>
                    </a:solidFill>
                  </a:tcPr>
                </a:tc>
                <a:tc>
                  <a:txBody>
                    <a:bodyPr wrap="none"/>
                    <a:lstStyle/>
                    <a:p>
                      <a:pPr algn="ctr"/>
                      <a:r>
                        <a:rPr sz="850" b="0" i="0">
                          <a:solidFill>
                            <a:srgbClr val="BFBFBF"/>
                          </a:solidFill>
                          <a:latin typeface="Arial"/>
                        </a:rPr>
                        <a:t>7/2</a:t>
                      </a:r>
                    </a:p>
                  </a:txBody>
                  <a:tcPr>
                    <a:solidFill>
                      <a:srgbClr val="F2F2F2"/>
                    </a:solidFill>
                  </a:tcPr>
                </a:tc>
              </a:tr>
              <a:tr h="256032">
                <a:tc>
                  <a:txBody>
                    <a:bodyPr wrap="none"/>
                    <a:lstStyle/>
                    <a:p>
                      <a:pPr algn="ctr"/>
                      <a:r>
                        <a:rPr sz="850" b="1" i="0">
                          <a:solidFill>
                            <a:srgbClr val="002060"/>
                          </a:solidFill>
                          <a:latin typeface="Arial"/>
                        </a:rPr>
                        <a:t>5</a:t>
                      </a:r>
                    </a:p>
                  </a:txBody>
                  <a:tcPr>
                    <a:solidFill>
                      <a:srgbClr val="FFFFFF"/>
                    </a:solidFill>
                  </a:tcPr>
                </a:tc>
                <a:tc>
                  <a:txBody>
                    <a:bodyPr wrap="none"/>
                    <a:lstStyle/>
                    <a:p>
                      <a:pPr algn="l"/>
                      <a:r>
                        <a:rPr sz="850" b="0" i="0">
                          <a:solidFill>
                            <a:srgbClr val="262626"/>
                          </a:solidFill>
                          <a:latin typeface="Arial"/>
                        </a:rPr>
                        <a:t>Mikayla Messer</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9:43</a:t>
                      </a:r>
                    </a:p>
                  </a:txBody>
                  <a:tcPr>
                    <a:solidFill>
                      <a:srgbClr val="FFFFFF"/>
                    </a:solidFill>
                  </a:tcPr>
                </a:tc>
                <a:tc>
                  <a:txBody>
                    <a:bodyPr wrap="none"/>
                    <a:lstStyle/>
                    <a:p>
                      <a:pPr algn="ctr"/>
                      <a:r>
                        <a:rPr sz="850" b="0" i="0">
                          <a:solidFill>
                            <a:srgbClr val="262626"/>
                          </a:solidFill>
                          <a:latin typeface="Arial"/>
                        </a:rPr>
                        <a:t>20:01</a:t>
                      </a:r>
                    </a:p>
                  </a:txBody>
                  <a:tcPr>
                    <a:solidFill>
                      <a:srgbClr val="FFFFFF"/>
                    </a:solidFill>
                  </a:tcPr>
                </a:tc>
                <a:tc>
                  <a:txBody>
                    <a:bodyPr wrap="none"/>
                    <a:lstStyle/>
                    <a:p>
                      <a:pPr algn="ctr"/>
                      <a:r>
                        <a:rPr sz="850" b="0" i="0">
                          <a:solidFill>
                            <a:srgbClr val="BFBFBF"/>
                          </a:solidFill>
                          <a:latin typeface="Arial"/>
                        </a:rPr>
                        <a:t>8/1</a:t>
                      </a:r>
                    </a:p>
                  </a:txBody>
                  <a:tcPr>
                    <a:solidFill>
                      <a:srgbClr val="FFFFFF"/>
                    </a:solidFill>
                  </a:tcPr>
                </a:tc>
              </a:tr>
              <a:tr h="256032">
                <a:tc>
                  <a:txBody>
                    <a:bodyPr wrap="none"/>
                    <a:lstStyle/>
                    <a:p>
                      <a:pPr algn="ctr"/>
                      <a:r>
                        <a:rPr sz="850" b="1" i="0">
                          <a:solidFill>
                            <a:srgbClr val="002060"/>
                          </a:solidFill>
                          <a:latin typeface="Arial"/>
                        </a:rPr>
                        <a:t>6</a:t>
                      </a:r>
                    </a:p>
                  </a:txBody>
                  <a:tcPr>
                    <a:solidFill>
                      <a:srgbClr val="F2F2F2"/>
                    </a:solidFill>
                  </a:tcPr>
                </a:tc>
                <a:tc>
                  <a:txBody>
                    <a:bodyPr wrap="none"/>
                    <a:lstStyle/>
                    <a:p>
                      <a:pPr algn="l"/>
                      <a:r>
                        <a:rPr sz="850" b="0" i="0">
                          <a:solidFill>
                            <a:srgbClr val="262626"/>
                          </a:solidFill>
                          <a:latin typeface="Arial"/>
                        </a:rPr>
                        <a:t>Jasmine Greaves</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9:57</a:t>
                      </a:r>
                    </a:p>
                  </a:txBody>
                  <a:tcPr>
                    <a:solidFill>
                      <a:srgbClr val="F2F2F2"/>
                    </a:solidFill>
                  </a:tcPr>
                </a:tc>
                <a:tc>
                  <a:txBody>
                    <a:bodyPr wrap="none"/>
                    <a:lstStyle/>
                    <a:p>
                      <a:pPr algn="ctr"/>
                      <a:r>
                        <a:rPr sz="850" b="0" i="0">
                          <a:solidFill>
                            <a:srgbClr val="262626"/>
                          </a:solidFill>
                          <a:latin typeface="Arial"/>
                        </a:rPr>
                        <a:t>—</a:t>
                      </a:r>
                    </a:p>
                  </a:txBody>
                  <a:tcPr>
                    <a:solidFill>
                      <a:srgbClr val="F2F2F2"/>
                    </a:solidFill>
                  </a:tcPr>
                </a:tc>
                <a:tc>
                  <a:txBody>
                    <a:bodyPr wrap="none"/>
                    <a:lstStyle/>
                    <a:p>
                      <a:pPr algn="ctr"/>
                      <a:r>
                        <a:rPr sz="850" b="0" i="0">
                          <a:solidFill>
                            <a:srgbClr val="BFBFBF"/>
                          </a:solidFill>
                          <a:latin typeface="Arial"/>
                        </a:rPr>
                        <a:t>3/0</a:t>
                      </a:r>
                    </a:p>
                  </a:txBody>
                  <a:tcPr>
                    <a:solidFill>
                      <a:srgbClr val="F2F2F2"/>
                    </a:solidFill>
                  </a:tcPr>
                </a:tc>
              </a:tr>
              <a:tr h="256032">
                <a:tc>
                  <a:txBody>
                    <a:bodyPr wrap="none"/>
                    <a:lstStyle/>
                    <a:p>
                      <a:pPr algn="ctr"/>
                      <a:r>
                        <a:rPr sz="850" b="1" i="0">
                          <a:solidFill>
                            <a:srgbClr val="002060"/>
                          </a:solidFill>
                          <a:latin typeface="Arial"/>
                        </a:rPr>
                        <a:t>7</a:t>
                      </a:r>
                    </a:p>
                  </a:txBody>
                  <a:tcPr>
                    <a:solidFill>
                      <a:srgbClr val="FFFFFF"/>
                    </a:solidFill>
                  </a:tcPr>
                </a:tc>
                <a:tc>
                  <a:txBody>
                    <a:bodyPr wrap="none"/>
                    <a:lstStyle/>
                    <a:p>
                      <a:pPr algn="l"/>
                      <a:r>
                        <a:rPr sz="850" b="0" i="0">
                          <a:solidFill>
                            <a:srgbClr val="262626"/>
                          </a:solidFill>
                          <a:latin typeface="Arial"/>
                        </a:rPr>
                        <a:t>Astrid Bergman</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9:57</a:t>
                      </a:r>
                    </a:p>
                  </a:txBody>
                  <a:tcPr>
                    <a:solidFill>
                      <a:srgbClr val="FFFFFF"/>
                    </a:solidFill>
                  </a:tcPr>
                </a:tc>
                <a:tc>
                  <a:txBody>
                    <a:bodyPr wrap="none"/>
                    <a:lstStyle/>
                    <a:p>
                      <a:pPr algn="ctr"/>
                      <a:r>
                        <a:rPr sz="850" b="0" i="0">
                          <a:solidFill>
                            <a:srgbClr val="262626"/>
                          </a:solidFill>
                          <a:latin typeface="Arial"/>
                        </a:rPr>
                        <a:t>—</a:t>
                      </a:r>
                    </a:p>
                  </a:txBody>
                  <a:tcPr>
                    <a:solidFill>
                      <a:srgbClr val="FFFFFF"/>
                    </a:solidFill>
                  </a:tcPr>
                </a:tc>
                <a:tc>
                  <a:txBody>
                    <a:bodyPr wrap="none"/>
                    <a:lstStyle/>
                    <a:p>
                      <a:pPr algn="ctr"/>
                      <a:r>
                        <a:rPr sz="850" b="0" i="0">
                          <a:solidFill>
                            <a:srgbClr val="BFBFBF"/>
                          </a:solidFill>
                          <a:latin typeface="Arial"/>
                        </a:rPr>
                        <a:t>3/0</a:t>
                      </a:r>
                    </a:p>
                  </a:txBody>
                  <a:tcPr>
                    <a:solidFill>
                      <a:srgbClr val="FFFFFF"/>
                    </a:solidFill>
                  </a:tcPr>
                </a:tc>
              </a:tr>
              <a:tr h="256032">
                <a:tc>
                  <a:txBody>
                    <a:bodyPr wrap="none"/>
                    <a:lstStyle/>
                    <a:p>
                      <a:pPr algn="ctr"/>
                      <a:r>
                        <a:rPr sz="850" b="1" i="0">
                          <a:solidFill>
                            <a:srgbClr val="002060"/>
                          </a:solidFill>
                          <a:latin typeface="Arial"/>
                        </a:rPr>
                        <a:t>8</a:t>
                      </a:r>
                    </a:p>
                  </a:txBody>
                  <a:tcPr>
                    <a:solidFill>
                      <a:srgbClr val="F2F2F2"/>
                    </a:solidFill>
                  </a:tcPr>
                </a:tc>
                <a:tc>
                  <a:txBody>
                    <a:bodyPr wrap="none"/>
                    <a:lstStyle/>
                    <a:p>
                      <a:pPr algn="l"/>
                      <a:r>
                        <a:rPr sz="850" b="0" i="0">
                          <a:solidFill>
                            <a:srgbClr val="262626"/>
                          </a:solidFill>
                          <a:latin typeface="Arial"/>
                        </a:rPr>
                        <a:t>Saki Yanagihara</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10:05</a:t>
                      </a:r>
                    </a:p>
                  </a:txBody>
                  <a:tcPr>
                    <a:solidFill>
                      <a:srgbClr val="F2F2F2"/>
                    </a:solidFill>
                  </a:tcPr>
                </a:tc>
                <a:tc>
                  <a:txBody>
                    <a:bodyPr wrap="none"/>
                    <a:lstStyle/>
                    <a:p>
                      <a:pPr algn="ctr"/>
                      <a:r>
                        <a:rPr sz="850" b="0" i="0">
                          <a:solidFill>
                            <a:srgbClr val="262626"/>
                          </a:solidFill>
                          <a:latin typeface="Arial"/>
                        </a:rPr>
                        <a:t>21:00</a:t>
                      </a:r>
                    </a:p>
                  </a:txBody>
                  <a:tcPr>
                    <a:solidFill>
                      <a:srgbClr val="F2F2F2"/>
                    </a:solidFill>
                  </a:tcPr>
                </a:tc>
                <a:tc>
                  <a:txBody>
                    <a:bodyPr wrap="none"/>
                    <a:lstStyle/>
                    <a:p>
                      <a:pPr algn="ctr"/>
                      <a:r>
                        <a:rPr sz="850" b="0" i="0">
                          <a:solidFill>
                            <a:srgbClr val="BFBFBF"/>
                          </a:solidFill>
                          <a:latin typeface="Arial"/>
                        </a:rPr>
                        <a:t>4/1</a:t>
                      </a:r>
                    </a:p>
                  </a:txBody>
                  <a:tcPr>
                    <a:solidFill>
                      <a:srgbClr val="F2F2F2"/>
                    </a:solidFill>
                  </a:tcPr>
                </a:tc>
              </a:tr>
              <a:tr h="256032">
                <a:tc>
                  <a:txBody>
                    <a:bodyPr wrap="none"/>
                    <a:lstStyle/>
                    <a:p>
                      <a:pPr algn="ctr"/>
                      <a:r>
                        <a:rPr sz="850" b="1" i="0">
                          <a:solidFill>
                            <a:srgbClr val="002060"/>
                          </a:solidFill>
                          <a:latin typeface="Arial"/>
                        </a:rPr>
                        <a:t>9</a:t>
                      </a:r>
                    </a:p>
                  </a:txBody>
                  <a:tcPr>
                    <a:solidFill>
                      <a:srgbClr val="FFFFFF"/>
                    </a:solidFill>
                  </a:tcPr>
                </a:tc>
                <a:tc>
                  <a:txBody>
                    <a:bodyPr wrap="none"/>
                    <a:lstStyle/>
                    <a:p>
                      <a:pPr algn="l"/>
                      <a:r>
                        <a:rPr sz="850" b="0" i="0">
                          <a:solidFill>
                            <a:srgbClr val="262626"/>
                          </a:solidFill>
                          <a:latin typeface="Arial"/>
                        </a:rPr>
                        <a:t>Vittoria Lopes</a:t>
                      </a:r>
                    </a:p>
                  </a:txBody>
                  <a:tcPr>
                    <a:solidFill>
                      <a:srgbClr val="FFFFFF"/>
                    </a:solidFill>
                  </a:tcPr>
                </a:tc>
                <a:tc>
                  <a:txBody>
                    <a:bodyPr wrap="none"/>
                    <a:lstStyle/>
                    <a:p>
                      <a:pPr algn="ctr"/>
                      <a:r>
                        <a:rPr sz="850" b="1" i="0">
                          <a:solidFill>
                            <a:srgbClr val="262626"/>
                          </a:solidFill>
                          <a:latin typeface="Arial"/>
                        </a:rPr>
                        <a:t>100%</a:t>
                      </a:r>
                    </a:p>
                  </a:txBody>
                  <a:tcPr>
                    <a:solidFill>
                      <a:srgbClr val="FFFFFF"/>
                    </a:solidFill>
                  </a:tcPr>
                </a:tc>
                <a:tc>
                  <a:txBody>
                    <a:bodyPr wrap="none"/>
                    <a:lstStyle/>
                    <a:p>
                      <a:pPr algn="ctr"/>
                      <a:r>
                        <a:rPr sz="850" b="1" i="0">
                          <a:solidFill>
                            <a:srgbClr val="262626"/>
                          </a:solidFill>
                          <a:latin typeface="Arial"/>
                        </a:rPr>
                        <a:t>10:11</a:t>
                      </a:r>
                    </a:p>
                  </a:txBody>
                  <a:tcPr>
                    <a:solidFill>
                      <a:srgbClr val="FFFFFF"/>
                    </a:solidFill>
                  </a:tcPr>
                </a:tc>
                <a:tc>
                  <a:txBody>
                    <a:bodyPr wrap="none"/>
                    <a:lstStyle/>
                    <a:p>
                      <a:pPr algn="ctr"/>
                      <a:r>
                        <a:rPr sz="850" b="0" i="0">
                          <a:solidFill>
                            <a:srgbClr val="262626"/>
                          </a:solidFill>
                          <a:latin typeface="Arial"/>
                        </a:rPr>
                        <a:t>19:15</a:t>
                      </a:r>
                    </a:p>
                  </a:txBody>
                  <a:tcPr>
                    <a:solidFill>
                      <a:srgbClr val="FFFFFF"/>
                    </a:solidFill>
                  </a:tcPr>
                </a:tc>
                <a:tc>
                  <a:txBody>
                    <a:bodyPr wrap="none"/>
                    <a:lstStyle/>
                    <a:p>
                      <a:pPr algn="ctr"/>
                      <a:r>
                        <a:rPr sz="850" b="0" i="0">
                          <a:solidFill>
                            <a:srgbClr val="BFBFBF"/>
                          </a:solidFill>
                          <a:latin typeface="Arial"/>
                        </a:rPr>
                        <a:t>7/8</a:t>
                      </a:r>
                    </a:p>
                  </a:txBody>
                  <a:tcPr>
                    <a:solidFill>
                      <a:srgbClr val="FFFFFF"/>
                    </a:solidFill>
                  </a:tcPr>
                </a:tc>
              </a:tr>
              <a:tr h="256032">
                <a:tc>
                  <a:txBody>
                    <a:bodyPr wrap="none"/>
                    <a:lstStyle/>
                    <a:p>
                      <a:pPr algn="ctr"/>
                      <a:r>
                        <a:rPr sz="850" b="1" i="0">
                          <a:solidFill>
                            <a:srgbClr val="002060"/>
                          </a:solidFill>
                          <a:latin typeface="Arial"/>
                        </a:rPr>
                        <a:t>10</a:t>
                      </a:r>
                    </a:p>
                  </a:txBody>
                  <a:tcPr>
                    <a:solidFill>
                      <a:srgbClr val="F2F2F2"/>
                    </a:solidFill>
                  </a:tcPr>
                </a:tc>
                <a:tc>
                  <a:txBody>
                    <a:bodyPr wrap="none"/>
                    <a:lstStyle/>
                    <a:p>
                      <a:pPr algn="l"/>
                      <a:r>
                        <a:rPr sz="850" b="0" i="0">
                          <a:solidFill>
                            <a:srgbClr val="262626"/>
                          </a:solidFill>
                          <a:latin typeface="Arial"/>
                        </a:rPr>
                        <a:t>Flora Duffy</a:t>
                      </a:r>
                    </a:p>
                  </a:txBody>
                  <a:tcPr>
                    <a:solidFill>
                      <a:srgbClr val="F2F2F2"/>
                    </a:solidFill>
                  </a:tcPr>
                </a:tc>
                <a:tc>
                  <a:txBody>
                    <a:bodyPr wrap="none"/>
                    <a:lstStyle/>
                    <a:p>
                      <a:pPr algn="ctr"/>
                      <a:r>
                        <a:rPr sz="850" b="1" i="0">
                          <a:solidFill>
                            <a:srgbClr val="262626"/>
                          </a:solidFill>
                          <a:latin typeface="Arial"/>
                        </a:rPr>
                        <a:t>100%</a:t>
                      </a:r>
                    </a:p>
                  </a:txBody>
                  <a:tcPr>
                    <a:solidFill>
                      <a:srgbClr val="F2F2F2"/>
                    </a:solidFill>
                  </a:tcPr>
                </a:tc>
                <a:tc>
                  <a:txBody>
                    <a:bodyPr wrap="none"/>
                    <a:lstStyle/>
                    <a:p>
                      <a:pPr algn="ctr"/>
                      <a:r>
                        <a:rPr sz="850" b="1" i="0">
                          <a:solidFill>
                            <a:srgbClr val="262626"/>
                          </a:solidFill>
                          <a:latin typeface="Arial"/>
                        </a:rPr>
                        <a:t>—</a:t>
                      </a:r>
                    </a:p>
                  </a:txBody>
                  <a:tcPr>
                    <a:solidFill>
                      <a:srgbClr val="F2F2F2"/>
                    </a:solidFill>
                  </a:tcPr>
                </a:tc>
                <a:tc>
                  <a:txBody>
                    <a:bodyPr wrap="none"/>
                    <a:lstStyle/>
                    <a:p>
                      <a:pPr algn="ctr"/>
                      <a:r>
                        <a:rPr sz="850" b="0" i="0">
                          <a:solidFill>
                            <a:srgbClr val="262626"/>
                          </a:solidFill>
                          <a:latin typeface="Arial"/>
                        </a:rPr>
                        <a:t>19:01</a:t>
                      </a:r>
                    </a:p>
                  </a:txBody>
                  <a:tcPr>
                    <a:solidFill>
                      <a:srgbClr val="F2F2F2"/>
                    </a:solidFill>
                  </a:tcPr>
                </a:tc>
                <a:tc>
                  <a:txBody>
                    <a:bodyPr wrap="none"/>
                    <a:lstStyle/>
                    <a:p>
                      <a:pPr algn="ctr"/>
                      <a:r>
                        <a:rPr sz="850" b="0" i="0">
                          <a:solidFill>
                            <a:srgbClr val="BFBFBF"/>
                          </a:solidFill>
                          <a:latin typeface="Arial"/>
                        </a:rPr>
                        <a:t>0/4</a:t>
                      </a:r>
                    </a:p>
                  </a:txBody>
                  <a:tcPr>
                    <a:solidFill>
                      <a:srgbClr val="F2F2F2"/>
                    </a:solidFill>
                  </a:tcPr>
                </a:tc>
              </a:tr>
              <a:tr h="256032">
                <a:tc>
                  <a:txBody>
                    <a:bodyPr wrap="none"/>
                    <a:lstStyle/>
                    <a:p>
                      <a:pPr algn="ctr"/>
                      <a:r>
                        <a:rPr sz="850" b="1" i="0">
                          <a:solidFill>
                            <a:srgbClr val="002060"/>
                          </a:solidFill>
                          <a:latin typeface="Arial"/>
                        </a:rPr>
                        <a:t>11</a:t>
                      </a:r>
                    </a:p>
                  </a:txBody>
                  <a:tcPr>
                    <a:solidFill>
                      <a:srgbClr val="FFFFFF"/>
                    </a:solidFill>
                  </a:tcPr>
                </a:tc>
                <a:tc>
                  <a:txBody>
                    <a:bodyPr wrap="none"/>
                    <a:lstStyle/>
                    <a:p>
                      <a:pPr algn="l"/>
                      <a:r>
                        <a:rPr sz="850" b="0" i="0">
                          <a:solidFill>
                            <a:srgbClr val="262626"/>
                          </a:solidFill>
                          <a:latin typeface="Arial"/>
                        </a:rPr>
                        <a:t>Bianca Seregni</a:t>
                      </a:r>
                    </a:p>
                  </a:txBody>
                  <a:tcPr>
                    <a:solidFill>
                      <a:srgbClr val="FFFFFF"/>
                    </a:solidFill>
                  </a:tcPr>
                </a:tc>
                <a:tc>
                  <a:txBody>
                    <a:bodyPr wrap="none"/>
                    <a:lstStyle/>
                    <a:p>
                      <a:pPr algn="ctr"/>
                      <a:r>
                        <a:rPr sz="850" b="1" i="0">
                          <a:solidFill>
                            <a:srgbClr val="262626"/>
                          </a:solidFill>
                          <a:latin typeface="Arial"/>
                        </a:rPr>
                        <a:t>93%</a:t>
                      </a:r>
                    </a:p>
                  </a:txBody>
                  <a:tcPr>
                    <a:solidFill>
                      <a:srgbClr val="FFFFFF"/>
                    </a:solidFill>
                  </a:tcPr>
                </a:tc>
                <a:tc>
                  <a:txBody>
                    <a:bodyPr wrap="none"/>
                    <a:lstStyle/>
                    <a:p>
                      <a:pPr algn="ctr"/>
                      <a:r>
                        <a:rPr sz="850" b="1" i="0">
                          <a:solidFill>
                            <a:srgbClr val="262626"/>
                          </a:solidFill>
                          <a:latin typeface="Arial"/>
                        </a:rPr>
                        <a:t>9:02</a:t>
                      </a:r>
                    </a:p>
                  </a:txBody>
                  <a:tcPr>
                    <a:solidFill>
                      <a:srgbClr val="FFFFFF"/>
                    </a:solidFill>
                  </a:tcPr>
                </a:tc>
                <a:tc>
                  <a:txBody>
                    <a:bodyPr wrap="none"/>
                    <a:lstStyle/>
                    <a:p>
                      <a:pPr algn="ctr"/>
                      <a:r>
                        <a:rPr sz="850" b="0" i="0">
                          <a:solidFill>
                            <a:srgbClr val="262626"/>
                          </a:solidFill>
                          <a:latin typeface="Arial"/>
                        </a:rPr>
                        <a:t>19:25</a:t>
                      </a:r>
                    </a:p>
                  </a:txBody>
                  <a:tcPr>
                    <a:solidFill>
                      <a:srgbClr val="FFFFFF"/>
                    </a:solidFill>
                  </a:tcPr>
                </a:tc>
                <a:tc>
                  <a:txBody>
                    <a:bodyPr wrap="none"/>
                    <a:lstStyle/>
                    <a:p>
                      <a:pPr algn="ctr"/>
                      <a:r>
                        <a:rPr sz="850" b="0" i="0">
                          <a:solidFill>
                            <a:srgbClr val="BFBFBF"/>
                          </a:solidFill>
                          <a:latin typeface="Arial"/>
                        </a:rPr>
                        <a:t>8/19</a:t>
                      </a:r>
                    </a:p>
                  </a:txBody>
                  <a:tcPr>
                    <a:solidFill>
                      <a:srgbClr val="FFFFFF"/>
                    </a:solidFill>
                  </a:tcPr>
                </a:tc>
              </a:tr>
              <a:tr h="256032">
                <a:tc>
                  <a:txBody>
                    <a:bodyPr wrap="none"/>
                    <a:lstStyle/>
                    <a:p>
                      <a:pPr algn="ctr"/>
                      <a:r>
                        <a:rPr sz="850" b="1" i="0">
                          <a:solidFill>
                            <a:srgbClr val="002060"/>
                          </a:solidFill>
                          <a:latin typeface="Arial"/>
                        </a:rPr>
                        <a:t>12</a:t>
                      </a:r>
                    </a:p>
                  </a:txBody>
                  <a:tcPr>
                    <a:solidFill>
                      <a:srgbClr val="F2F2F2"/>
                    </a:solidFill>
                  </a:tcPr>
                </a:tc>
                <a:tc>
                  <a:txBody>
                    <a:bodyPr wrap="none"/>
                    <a:lstStyle/>
                    <a:p>
                      <a:pPr algn="l"/>
                      <a:r>
                        <a:rPr sz="850" b="0" i="0">
                          <a:solidFill>
                            <a:srgbClr val="262626"/>
                          </a:solidFill>
                          <a:latin typeface="Arial"/>
                        </a:rPr>
                        <a:t>Britney Brown</a:t>
                      </a:r>
                    </a:p>
                  </a:txBody>
                  <a:tcPr>
                    <a:solidFill>
                      <a:srgbClr val="F2F2F2"/>
                    </a:solidFill>
                  </a:tcPr>
                </a:tc>
                <a:tc>
                  <a:txBody>
                    <a:bodyPr wrap="none"/>
                    <a:lstStyle/>
                    <a:p>
                      <a:pPr algn="ctr"/>
                      <a:r>
                        <a:rPr sz="850" b="1" i="0">
                          <a:solidFill>
                            <a:srgbClr val="262626"/>
                          </a:solidFill>
                          <a:latin typeface="Arial"/>
                        </a:rPr>
                        <a:t>90%</a:t>
                      </a:r>
                    </a:p>
                  </a:txBody>
                  <a:tcPr>
                    <a:solidFill>
                      <a:srgbClr val="F2F2F2"/>
                    </a:solidFill>
                  </a:tcPr>
                </a:tc>
                <a:tc>
                  <a:txBody>
                    <a:bodyPr wrap="none"/>
                    <a:lstStyle/>
                    <a:p>
                      <a:pPr algn="ctr"/>
                      <a:r>
                        <a:rPr sz="850" b="1" i="0">
                          <a:solidFill>
                            <a:srgbClr val="262626"/>
                          </a:solidFill>
                          <a:latin typeface="Arial"/>
                        </a:rPr>
                        <a:t>10:04</a:t>
                      </a:r>
                    </a:p>
                  </a:txBody>
                  <a:tcPr>
                    <a:solidFill>
                      <a:srgbClr val="F2F2F2"/>
                    </a:solidFill>
                  </a:tcPr>
                </a:tc>
                <a:tc>
                  <a:txBody>
                    <a:bodyPr wrap="none"/>
                    <a:lstStyle/>
                    <a:p>
                      <a:pPr algn="ctr"/>
                      <a:r>
                        <a:rPr sz="850" b="0" i="0">
                          <a:solidFill>
                            <a:srgbClr val="262626"/>
                          </a:solidFill>
                          <a:latin typeface="Arial"/>
                        </a:rPr>
                        <a:t>—</a:t>
                      </a:r>
                    </a:p>
                  </a:txBody>
                  <a:tcPr>
                    <a:solidFill>
                      <a:srgbClr val="F2F2F2"/>
                    </a:solidFill>
                  </a:tcPr>
                </a:tc>
                <a:tc>
                  <a:txBody>
                    <a:bodyPr wrap="none"/>
                    <a:lstStyle/>
                    <a:p>
                      <a:pPr algn="ctr"/>
                      <a:r>
                        <a:rPr sz="850" b="0" i="0">
                          <a:solidFill>
                            <a:srgbClr val="BFBFBF"/>
                          </a:solidFill>
                          <a:latin typeface="Arial"/>
                        </a:rPr>
                        <a:t>10/0</a:t>
                      </a:r>
                    </a:p>
                  </a:txBody>
                  <a:tcPr>
                    <a:solidFill>
                      <a:srgbClr val="F2F2F2"/>
                    </a:solidFill>
                  </a:tcPr>
                </a:tc>
              </a:tr>
              <a:tr h="256032">
                <a:tc>
                  <a:txBody>
                    <a:bodyPr wrap="none"/>
                    <a:lstStyle/>
                    <a:p>
                      <a:pPr algn="ctr"/>
                      <a:r>
                        <a:rPr sz="850" b="1" i="0">
                          <a:solidFill>
                            <a:srgbClr val="002060"/>
                          </a:solidFill>
                          <a:latin typeface="Arial"/>
                        </a:rPr>
                        <a:t>13</a:t>
                      </a:r>
                    </a:p>
                  </a:txBody>
                  <a:tcPr>
                    <a:solidFill>
                      <a:srgbClr val="FFFFFF"/>
                    </a:solidFill>
                  </a:tcPr>
                </a:tc>
                <a:tc>
                  <a:txBody>
                    <a:bodyPr wrap="none"/>
                    <a:lstStyle/>
                    <a:p>
                      <a:pPr algn="l"/>
                      <a:r>
                        <a:rPr sz="850" b="0" i="0">
                          <a:solidFill>
                            <a:srgbClr val="262626"/>
                          </a:solidFill>
                          <a:latin typeface="Arial"/>
                        </a:rPr>
                        <a:t>Sophie Evans</a:t>
                      </a:r>
                    </a:p>
                  </a:txBody>
                  <a:tcPr>
                    <a:solidFill>
                      <a:srgbClr val="FFFFFF"/>
                    </a:solidFill>
                  </a:tcPr>
                </a:tc>
                <a:tc>
                  <a:txBody>
                    <a:bodyPr wrap="none"/>
                    <a:lstStyle/>
                    <a:p>
                      <a:pPr algn="ctr"/>
                      <a:r>
                        <a:rPr sz="850" b="1" i="0">
                          <a:solidFill>
                            <a:srgbClr val="262626"/>
                          </a:solidFill>
                          <a:latin typeface="Arial"/>
                        </a:rPr>
                        <a:t>89%</a:t>
                      </a:r>
                    </a:p>
                  </a:txBody>
                  <a:tcPr>
                    <a:solidFill>
                      <a:srgbClr val="FFFFFF"/>
                    </a:solidFill>
                  </a:tcPr>
                </a:tc>
                <a:tc>
                  <a:txBody>
                    <a:bodyPr wrap="none"/>
                    <a:lstStyle/>
                    <a:p>
                      <a:pPr algn="ctr"/>
                      <a:r>
                        <a:rPr sz="850" b="1" i="0">
                          <a:solidFill>
                            <a:srgbClr val="262626"/>
                          </a:solidFill>
                          <a:latin typeface="Arial"/>
                        </a:rPr>
                        <a:t>9:17</a:t>
                      </a:r>
                    </a:p>
                  </a:txBody>
                  <a:tcPr>
                    <a:solidFill>
                      <a:srgbClr val="FFFFFF"/>
                    </a:solidFill>
                  </a:tcPr>
                </a:tc>
                <a:tc>
                  <a:txBody>
                    <a:bodyPr wrap="none"/>
                    <a:lstStyle/>
                    <a:p>
                      <a:pPr algn="ctr"/>
                      <a:r>
                        <a:rPr sz="850" b="0" i="0">
                          <a:solidFill>
                            <a:srgbClr val="262626"/>
                          </a:solidFill>
                          <a:latin typeface="Arial"/>
                        </a:rPr>
                        <a:t>19:22</a:t>
                      </a:r>
                    </a:p>
                  </a:txBody>
                  <a:tcPr>
                    <a:solidFill>
                      <a:srgbClr val="FFFFFF"/>
                    </a:solidFill>
                  </a:tcPr>
                </a:tc>
                <a:tc>
                  <a:txBody>
                    <a:bodyPr wrap="none"/>
                    <a:lstStyle/>
                    <a:p>
                      <a:pPr algn="ctr"/>
                      <a:r>
                        <a:rPr sz="850" b="0" i="0">
                          <a:solidFill>
                            <a:srgbClr val="BFBFBF"/>
                          </a:solidFill>
                          <a:latin typeface="Arial"/>
                        </a:rPr>
                        <a:t>3/6</a:t>
                      </a:r>
                    </a:p>
                  </a:txBody>
                  <a:tcPr>
                    <a:solidFill>
                      <a:srgbClr val="FFFFFF"/>
                    </a:solidFill>
                  </a:tcPr>
                </a:tc>
              </a:tr>
              <a:tr h="256032">
                <a:tc>
                  <a:txBody>
                    <a:bodyPr wrap="none"/>
                    <a:lstStyle/>
                    <a:p>
                      <a:pPr algn="ctr"/>
                      <a:r>
                        <a:rPr sz="850" b="1" i="0">
                          <a:solidFill>
                            <a:srgbClr val="002060"/>
                          </a:solidFill>
                          <a:latin typeface="Arial"/>
                        </a:rPr>
                        <a:t>14</a:t>
                      </a:r>
                    </a:p>
                  </a:txBody>
                  <a:tcPr>
                    <a:solidFill>
                      <a:srgbClr val="F2F2F2"/>
                    </a:solidFill>
                  </a:tcPr>
                </a:tc>
                <a:tc>
                  <a:txBody>
                    <a:bodyPr wrap="none"/>
                    <a:lstStyle/>
                    <a:p>
                      <a:pPr algn="l"/>
                      <a:r>
                        <a:rPr sz="850" b="1" i="0">
                          <a:solidFill>
                            <a:srgbClr val="C00000"/>
                          </a:solidFill>
                          <a:latin typeface="Arial"/>
                        </a:rPr>
                        <a:t>Caroline Theil</a:t>
                      </a:r>
                    </a:p>
                  </a:txBody>
                  <a:tcPr>
                    <a:solidFill>
                      <a:srgbClr val="F2F2F2"/>
                    </a:solidFill>
                  </a:tcPr>
                </a:tc>
                <a:tc>
                  <a:txBody>
                    <a:bodyPr wrap="none"/>
                    <a:lstStyle/>
                    <a:p>
                      <a:pPr algn="ctr"/>
                      <a:r>
                        <a:rPr sz="850" b="1" i="0">
                          <a:solidFill>
                            <a:srgbClr val="262626"/>
                          </a:solidFill>
                          <a:latin typeface="Arial"/>
                        </a:rPr>
                        <a:t>89%</a:t>
                      </a:r>
                    </a:p>
                  </a:txBody>
                  <a:tcPr>
                    <a:solidFill>
                      <a:srgbClr val="F2F2F2"/>
                    </a:solidFill>
                  </a:tcPr>
                </a:tc>
                <a:tc>
                  <a:txBody>
                    <a:bodyPr wrap="none"/>
                    <a:lstStyle/>
                    <a:p>
                      <a:pPr algn="ctr"/>
                      <a:r>
                        <a:rPr sz="850" b="1" i="0">
                          <a:solidFill>
                            <a:srgbClr val="262626"/>
                          </a:solidFill>
                          <a:latin typeface="Arial"/>
                        </a:rPr>
                        <a:t>9:46</a:t>
                      </a:r>
                    </a:p>
                  </a:txBody>
                  <a:tcPr>
                    <a:solidFill>
                      <a:srgbClr val="F2F2F2"/>
                    </a:solidFill>
                  </a:tcPr>
                </a:tc>
                <a:tc>
                  <a:txBody>
                    <a:bodyPr wrap="none"/>
                    <a:lstStyle/>
                    <a:p>
                      <a:pPr algn="ctr"/>
                      <a:r>
                        <a:rPr sz="850" b="0" i="0">
                          <a:solidFill>
                            <a:srgbClr val="262626"/>
                          </a:solidFill>
                          <a:latin typeface="Arial"/>
                        </a:rPr>
                        <a:t>19:33</a:t>
                      </a:r>
                    </a:p>
                  </a:txBody>
                  <a:tcPr>
                    <a:solidFill>
                      <a:srgbClr val="F2F2F2"/>
                    </a:solidFill>
                  </a:tcPr>
                </a:tc>
                <a:tc>
                  <a:txBody>
                    <a:bodyPr wrap="none"/>
                    <a:lstStyle/>
                    <a:p>
                      <a:pPr algn="ctr"/>
                      <a:r>
                        <a:rPr sz="850" b="0" i="0">
                          <a:solidFill>
                            <a:srgbClr val="BFBFBF"/>
                          </a:solidFill>
                          <a:latin typeface="Arial"/>
                        </a:rPr>
                        <a:t>8/1</a:t>
                      </a:r>
                    </a:p>
                  </a:txBody>
                  <a:tcPr>
                    <a:solidFill>
                      <a:srgbClr val="F2F2F2"/>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USA World Rankings Snapshot</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384048"/>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70432"/>
            <a:ext cx="11430000" cy="256032"/>
          </a:xfrm>
          <a:prstGeom prst="rect">
            <a:avLst/>
          </a:prstGeom>
          <a:noFill/>
        </p:spPr>
        <p:txBody>
          <a:bodyPr wrap="square">
            <a:spAutoFit/>
          </a:bodyPr>
          <a:lstStyle/>
          <a:p>
            <a:pPr algn="ctr"/>
            <a:r>
              <a:rPr sz="1200" b="1" i="0">
                <a:solidFill>
                  <a:srgbClr val="002060"/>
                </a:solidFill>
                <a:latin typeface="Arial"/>
              </a:rPr>
              <a:t>As of 2026-08-31   •   World Triathlon Rankings   •   Heading into Weihai   •   Race tier: WTCS</a:t>
            </a:r>
          </a:p>
        </p:txBody>
      </p:sp>
      <p:sp>
        <p:nvSpPr>
          <p:cNvPr id="10" name="Rectangle 9"/>
          <p:cNvSpPr/>
          <p:nvPr/>
        </p:nvSpPr>
        <p:spPr>
          <a:xfrm>
            <a:off x="274320" y="160020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627632"/>
            <a:ext cx="11430000" cy="246888"/>
          </a:xfrm>
          <a:prstGeom prst="rect">
            <a:avLst/>
          </a:prstGeom>
          <a:noFill/>
        </p:spPr>
        <p:txBody>
          <a:bodyPr wrap="square">
            <a:spAutoFit/>
          </a:bodyPr>
          <a:lstStyle/>
          <a:p>
            <a:pPr algn="l"/>
            <a:r>
              <a:rPr sz="1200" b="1" i="0">
                <a:solidFill>
                  <a:srgbClr val="FFFFFF"/>
                </a:solidFill>
                <a:latin typeface="Arial"/>
              </a:rPr>
              <a:t>Max Points Available at this Race</a:t>
            </a:r>
          </a:p>
        </p:txBody>
      </p:sp>
      <p:sp>
        <p:nvSpPr>
          <p:cNvPr id="12" name="Rectangle 11"/>
          <p:cNvSpPr/>
          <p:nvPr/>
        </p:nvSpPr>
        <p:spPr>
          <a:xfrm>
            <a:off x="274320" y="1984248"/>
            <a:ext cx="1803196" cy="502920"/>
          </a:xfrm>
          <a:prstGeom prst="rect">
            <a:avLst/>
          </a:prstGeom>
          <a:solidFill>
            <a:srgbClr val="F2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011680"/>
            <a:ext cx="1803196" cy="182880"/>
          </a:xfrm>
          <a:prstGeom prst="rect">
            <a:avLst/>
          </a:prstGeom>
          <a:noFill/>
        </p:spPr>
        <p:txBody>
          <a:bodyPr wrap="square">
            <a:spAutoFit/>
          </a:bodyPr>
          <a:lstStyle/>
          <a:p>
            <a:pPr algn="ctr"/>
            <a:r>
              <a:rPr sz="900" b="1" i="0">
                <a:solidFill>
                  <a:srgbClr val="002060"/>
                </a:solidFill>
                <a:latin typeface="Arial"/>
              </a:rPr>
              <a:t>Win</a:t>
            </a:r>
          </a:p>
        </p:txBody>
      </p:sp>
      <p:sp>
        <p:nvSpPr>
          <p:cNvPr id="14" name="TextBox 13"/>
          <p:cNvSpPr txBox="1"/>
          <p:nvPr/>
        </p:nvSpPr>
        <p:spPr>
          <a:xfrm>
            <a:off x="274320" y="2185416"/>
            <a:ext cx="1803196" cy="292608"/>
          </a:xfrm>
          <a:prstGeom prst="rect">
            <a:avLst/>
          </a:prstGeom>
          <a:noFill/>
        </p:spPr>
        <p:txBody>
          <a:bodyPr wrap="square">
            <a:spAutoFit/>
          </a:bodyPr>
          <a:lstStyle/>
          <a:p>
            <a:pPr algn="ctr"/>
            <a:r>
              <a:rPr sz="1400" b="1" i="0">
                <a:solidFill>
                  <a:srgbClr val="C00000"/>
                </a:solidFill>
                <a:latin typeface="Arial"/>
              </a:rPr>
              <a:t>1,000 pts</a:t>
            </a:r>
          </a:p>
        </p:txBody>
      </p:sp>
      <p:sp>
        <p:nvSpPr>
          <p:cNvPr id="15" name="Rectangle 14"/>
          <p:cNvSpPr/>
          <p:nvPr/>
        </p:nvSpPr>
        <p:spPr>
          <a:xfrm>
            <a:off x="2242108"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42108" y="2011680"/>
            <a:ext cx="1803196" cy="182880"/>
          </a:xfrm>
          <a:prstGeom prst="rect">
            <a:avLst/>
          </a:prstGeom>
          <a:noFill/>
        </p:spPr>
        <p:txBody>
          <a:bodyPr wrap="square">
            <a:spAutoFit/>
          </a:bodyPr>
          <a:lstStyle/>
          <a:p>
            <a:pPr algn="ctr"/>
            <a:r>
              <a:rPr sz="900" b="1" i="0">
                <a:solidFill>
                  <a:srgbClr val="002060"/>
                </a:solidFill>
                <a:latin typeface="Arial"/>
              </a:rPr>
              <a:t>Podium</a:t>
            </a:r>
          </a:p>
        </p:txBody>
      </p:sp>
      <p:sp>
        <p:nvSpPr>
          <p:cNvPr id="17" name="TextBox 16"/>
          <p:cNvSpPr txBox="1"/>
          <p:nvPr/>
        </p:nvSpPr>
        <p:spPr>
          <a:xfrm>
            <a:off x="2242108" y="2185416"/>
            <a:ext cx="1803196" cy="292608"/>
          </a:xfrm>
          <a:prstGeom prst="rect">
            <a:avLst/>
          </a:prstGeom>
          <a:noFill/>
        </p:spPr>
        <p:txBody>
          <a:bodyPr wrap="square">
            <a:spAutoFit/>
          </a:bodyPr>
          <a:lstStyle/>
          <a:p>
            <a:pPr algn="ctr"/>
            <a:r>
              <a:rPr sz="1400" b="1" i="0">
                <a:solidFill>
                  <a:srgbClr val="002060"/>
                </a:solidFill>
                <a:latin typeface="Arial"/>
              </a:rPr>
              <a:t>855 pts</a:t>
            </a:r>
          </a:p>
        </p:txBody>
      </p:sp>
      <p:sp>
        <p:nvSpPr>
          <p:cNvPr id="18" name="Rectangle 17"/>
          <p:cNvSpPr/>
          <p:nvPr/>
        </p:nvSpPr>
        <p:spPr>
          <a:xfrm>
            <a:off x="4209896"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9896" y="2011680"/>
            <a:ext cx="1803196" cy="182880"/>
          </a:xfrm>
          <a:prstGeom prst="rect">
            <a:avLst/>
          </a:prstGeom>
          <a:noFill/>
        </p:spPr>
        <p:txBody>
          <a:bodyPr wrap="square">
            <a:spAutoFit/>
          </a:bodyPr>
          <a:lstStyle/>
          <a:p>
            <a:pPr algn="ctr"/>
            <a:r>
              <a:rPr sz="900" b="1" i="0">
                <a:solidFill>
                  <a:srgbClr val="002060"/>
                </a:solidFill>
                <a:latin typeface="Arial"/>
              </a:rPr>
              <a:t>Top 5</a:t>
            </a:r>
          </a:p>
        </p:txBody>
      </p:sp>
      <p:sp>
        <p:nvSpPr>
          <p:cNvPr id="20" name="TextBox 19"/>
          <p:cNvSpPr txBox="1"/>
          <p:nvPr/>
        </p:nvSpPr>
        <p:spPr>
          <a:xfrm>
            <a:off x="4209896" y="2185416"/>
            <a:ext cx="1803196" cy="292608"/>
          </a:xfrm>
          <a:prstGeom prst="rect">
            <a:avLst/>
          </a:prstGeom>
          <a:noFill/>
        </p:spPr>
        <p:txBody>
          <a:bodyPr wrap="square">
            <a:spAutoFit/>
          </a:bodyPr>
          <a:lstStyle/>
          <a:p>
            <a:pPr algn="ctr"/>
            <a:r>
              <a:rPr sz="1400" b="1" i="0">
                <a:solidFill>
                  <a:srgbClr val="002060"/>
                </a:solidFill>
                <a:latin typeface="Arial"/>
              </a:rPr>
              <a:t>732 pts</a:t>
            </a:r>
          </a:p>
        </p:txBody>
      </p:sp>
      <p:sp>
        <p:nvSpPr>
          <p:cNvPr id="21" name="Rectangle 20"/>
          <p:cNvSpPr/>
          <p:nvPr/>
        </p:nvSpPr>
        <p:spPr>
          <a:xfrm>
            <a:off x="6177684"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77684" y="2011680"/>
            <a:ext cx="1803196" cy="182880"/>
          </a:xfrm>
          <a:prstGeom prst="rect">
            <a:avLst/>
          </a:prstGeom>
          <a:noFill/>
        </p:spPr>
        <p:txBody>
          <a:bodyPr wrap="square">
            <a:spAutoFit/>
          </a:bodyPr>
          <a:lstStyle/>
          <a:p>
            <a:pPr algn="ctr"/>
            <a:r>
              <a:rPr sz="900" b="1" i="0">
                <a:solidFill>
                  <a:srgbClr val="002060"/>
                </a:solidFill>
                <a:latin typeface="Arial"/>
              </a:rPr>
              <a:t>Top 10</a:t>
            </a:r>
          </a:p>
        </p:txBody>
      </p:sp>
      <p:sp>
        <p:nvSpPr>
          <p:cNvPr id="23" name="TextBox 22"/>
          <p:cNvSpPr txBox="1"/>
          <p:nvPr/>
        </p:nvSpPr>
        <p:spPr>
          <a:xfrm>
            <a:off x="6177684" y="2185416"/>
            <a:ext cx="1803196" cy="292608"/>
          </a:xfrm>
          <a:prstGeom prst="rect">
            <a:avLst/>
          </a:prstGeom>
          <a:noFill/>
        </p:spPr>
        <p:txBody>
          <a:bodyPr wrap="square">
            <a:spAutoFit/>
          </a:bodyPr>
          <a:lstStyle/>
          <a:p>
            <a:pPr algn="ctr"/>
            <a:r>
              <a:rPr sz="1400" b="1" i="0">
                <a:solidFill>
                  <a:srgbClr val="002060"/>
                </a:solidFill>
                <a:latin typeface="Arial"/>
              </a:rPr>
              <a:t>495 pts</a:t>
            </a:r>
          </a:p>
        </p:txBody>
      </p:sp>
      <p:sp>
        <p:nvSpPr>
          <p:cNvPr id="24" name="Rectangle 23"/>
          <p:cNvSpPr/>
          <p:nvPr/>
        </p:nvSpPr>
        <p:spPr>
          <a:xfrm>
            <a:off x="8145472"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45472" y="2011680"/>
            <a:ext cx="1803196" cy="182880"/>
          </a:xfrm>
          <a:prstGeom prst="rect">
            <a:avLst/>
          </a:prstGeom>
          <a:noFill/>
        </p:spPr>
        <p:txBody>
          <a:bodyPr wrap="square">
            <a:spAutoFit/>
          </a:bodyPr>
          <a:lstStyle/>
          <a:p>
            <a:pPr algn="ctr"/>
            <a:r>
              <a:rPr sz="900" b="1" i="0">
                <a:solidFill>
                  <a:srgbClr val="002060"/>
                </a:solidFill>
                <a:latin typeface="Arial"/>
              </a:rPr>
              <a:t>Top 15</a:t>
            </a:r>
          </a:p>
        </p:txBody>
      </p:sp>
      <p:sp>
        <p:nvSpPr>
          <p:cNvPr id="26" name="TextBox 25"/>
          <p:cNvSpPr txBox="1"/>
          <p:nvPr/>
        </p:nvSpPr>
        <p:spPr>
          <a:xfrm>
            <a:off x="8145472" y="2185416"/>
            <a:ext cx="1803196" cy="292608"/>
          </a:xfrm>
          <a:prstGeom prst="rect">
            <a:avLst/>
          </a:prstGeom>
          <a:noFill/>
        </p:spPr>
        <p:txBody>
          <a:bodyPr wrap="square">
            <a:spAutoFit/>
          </a:bodyPr>
          <a:lstStyle/>
          <a:p>
            <a:pPr algn="ctr"/>
            <a:r>
              <a:rPr sz="1400" b="1" i="0">
                <a:solidFill>
                  <a:srgbClr val="002060"/>
                </a:solidFill>
                <a:latin typeface="Arial"/>
              </a:rPr>
              <a:t>335 pts</a:t>
            </a:r>
          </a:p>
        </p:txBody>
      </p:sp>
      <p:sp>
        <p:nvSpPr>
          <p:cNvPr id="27" name="Rectangle 26"/>
          <p:cNvSpPr/>
          <p:nvPr/>
        </p:nvSpPr>
        <p:spPr>
          <a:xfrm>
            <a:off x="10113260" y="1984248"/>
            <a:ext cx="1803196" cy="502920"/>
          </a:xfrm>
          <a:prstGeom prst="rect">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13260" y="2011680"/>
            <a:ext cx="1803196" cy="182880"/>
          </a:xfrm>
          <a:prstGeom prst="rect">
            <a:avLst/>
          </a:prstGeom>
          <a:noFill/>
        </p:spPr>
        <p:txBody>
          <a:bodyPr wrap="square">
            <a:spAutoFit/>
          </a:bodyPr>
          <a:lstStyle/>
          <a:p>
            <a:pPr algn="ctr"/>
            <a:r>
              <a:rPr sz="900" b="1" i="0">
                <a:solidFill>
                  <a:srgbClr val="002060"/>
                </a:solidFill>
                <a:latin typeface="Arial"/>
              </a:rPr>
              <a:t>Top 20</a:t>
            </a:r>
          </a:p>
        </p:txBody>
      </p:sp>
      <p:sp>
        <p:nvSpPr>
          <p:cNvPr id="29" name="TextBox 28"/>
          <p:cNvSpPr txBox="1"/>
          <p:nvPr/>
        </p:nvSpPr>
        <p:spPr>
          <a:xfrm>
            <a:off x="10113260" y="2185416"/>
            <a:ext cx="1803196" cy="292608"/>
          </a:xfrm>
          <a:prstGeom prst="rect">
            <a:avLst/>
          </a:prstGeom>
          <a:noFill/>
        </p:spPr>
        <p:txBody>
          <a:bodyPr wrap="square">
            <a:spAutoFit/>
          </a:bodyPr>
          <a:lstStyle/>
          <a:p>
            <a:pPr algn="ctr"/>
            <a:r>
              <a:rPr sz="1400" b="1" i="0">
                <a:solidFill>
                  <a:srgbClr val="BFBFBF"/>
                </a:solidFill>
                <a:latin typeface="Arial"/>
              </a:rPr>
              <a:t>227 pts</a:t>
            </a:r>
          </a:p>
        </p:txBody>
      </p:sp>
      <p:sp>
        <p:nvSpPr>
          <p:cNvPr id="30" name="Rectangle 29"/>
          <p:cNvSpPr/>
          <p:nvPr/>
        </p:nvSpPr>
        <p:spPr>
          <a:xfrm>
            <a:off x="27432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2633472"/>
            <a:ext cx="5788152" cy="237744"/>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32" name="Table 31"/>
          <p:cNvGraphicFramePr>
            <a:graphicFrameLocks noGrp="1"/>
          </p:cNvGraphicFramePr>
          <p:nvPr/>
        </p:nvGraphicFramePr>
        <p:xfrm>
          <a:off x="274320" y="2935224"/>
          <a:ext cx="5787236" cy="3584448"/>
        </p:xfrm>
        <a:graphic>
          <a:graphicData uri="http://schemas.openxmlformats.org/drawingml/2006/table">
            <a:tbl>
              <a:tblPr firstRow="1" bandRow="1">
                <a:tableStyleId>{5C22544A-7EE6-4342-B048-85BDC9FD1C3A}</a:tableStyleId>
              </a:tblPr>
              <a:tblGrid>
                <a:gridCol w="783640"/>
                <a:gridCol w="2531973"/>
                <a:gridCol w="1145743"/>
                <a:gridCol w="662940"/>
                <a:gridCol w="662940"/>
              </a:tblGrid>
              <a:tr h="224028">
                <a:tc>
                  <a:txBody>
                    <a:bodyPr wrap="none"/>
                    <a:lstStyle/>
                    <a:p>
                      <a:pPr algn="ctr"/>
                      <a:r>
                        <a:rPr sz="900" b="1" i="0">
                          <a:solidFill>
                            <a:srgbClr val="FFFFFF"/>
                          </a:solidFill>
                          <a:latin typeface="Arial"/>
                        </a:rPr>
                        <a:t>Rank</a:t>
                      </a:r>
                    </a:p>
                  </a:txBody>
                  <a:tcPr>
                    <a:solidFill>
                      <a:srgbClr val="002060"/>
                    </a:solidFill>
                  </a:tcPr>
                </a:tc>
                <a:tc>
                  <a:txBody>
                    <a:bodyPr wrap="none"/>
                    <a:lstStyle/>
                    <a:p>
                      <a:pPr algn="l"/>
                      <a:r>
                        <a:rPr sz="900" b="1" i="0">
                          <a:solidFill>
                            <a:srgbClr val="FFFFFF"/>
                          </a:solidFill>
                          <a:latin typeface="Arial"/>
                        </a:rPr>
                        <a:t>Athlete</a:t>
                      </a:r>
                    </a:p>
                  </a:txBody>
                  <a:tcPr>
                    <a:solidFill>
                      <a:srgbClr val="002060"/>
                    </a:solidFill>
                  </a:tcPr>
                </a:tc>
                <a:tc>
                  <a:txBody>
                    <a:bodyPr wrap="none"/>
                    <a:lstStyle/>
                    <a:p>
                      <a:pPr algn="ctr"/>
                      <a:r>
                        <a:rPr sz="900" b="1" i="0">
                          <a:solidFill>
                            <a:srgbClr val="FFFFFF"/>
                          </a:solidFill>
                          <a:latin typeface="Arial"/>
                        </a:rPr>
                        <a:t>Points</a:t>
                      </a:r>
                    </a:p>
                  </a:txBody>
                  <a:tcPr>
                    <a:solidFill>
                      <a:srgbClr val="002060"/>
                    </a:solidFill>
                  </a:tcPr>
                </a:tc>
                <a:tc>
                  <a:txBody>
                    <a:bodyPr wrap="none"/>
                    <a:lstStyle/>
                    <a:p>
                      <a:pPr algn="ctr"/>
                      <a:r>
                        <a:rPr sz="900" b="1" i="0">
                          <a:solidFill>
                            <a:srgbClr val="FFFFFF"/>
                          </a:solidFill>
                          <a:latin typeface="Arial"/>
                        </a:rPr>
                        <a:t>Curr</a:t>
                      </a:r>
                    </a:p>
                  </a:txBody>
                  <a:tcPr>
                    <a:solidFill>
                      <a:srgbClr val="002060"/>
                    </a:solidFill>
                  </a:tcPr>
                </a:tc>
                <a:tc>
                  <a:txBody>
                    <a:bodyPr wrap="none"/>
                    <a:lstStyle/>
                    <a:p>
                      <a:pPr algn="ctr"/>
                      <a:r>
                        <a:rPr sz="900" b="1" i="0">
                          <a:solidFill>
                            <a:srgbClr val="FFFFFF"/>
                          </a:solidFill>
                          <a:latin typeface="Arial"/>
                        </a:rPr>
                        <a:t>Prev</a:t>
                      </a:r>
                    </a:p>
                  </a:txBody>
                  <a:tcPr>
                    <a:solidFill>
                      <a:srgbClr val="002060"/>
                    </a:solidFill>
                  </a:tcPr>
                </a:tc>
              </a:tr>
              <a:tr h="224028">
                <a:tc>
                  <a:txBody>
                    <a:bodyPr wrap="none"/>
                    <a:lstStyle/>
                    <a:p>
                      <a:pPr algn="ctr"/>
                      <a:r>
                        <a:rPr sz="850" b="1" i="0">
                          <a:solidFill>
                            <a:srgbClr val="262626"/>
                          </a:solidFill>
                          <a:latin typeface="Arial"/>
                        </a:rPr>
                        <a:t>20</a:t>
                      </a:r>
                    </a:p>
                  </a:txBody>
                  <a:tcPr>
                    <a:solidFill>
                      <a:srgbClr val="FFFFFF"/>
                    </a:solidFill>
                  </a:tcPr>
                </a:tc>
                <a:tc>
                  <a:txBody>
                    <a:bodyPr wrap="none"/>
                    <a:lstStyle/>
                    <a:p>
                      <a:pPr algn="l"/>
                      <a:r>
                        <a:rPr sz="850" b="0" i="0">
                          <a:solidFill>
                            <a:srgbClr val="262626"/>
                          </a:solidFill>
                          <a:latin typeface="Arial"/>
                        </a:rPr>
                        <a:t>John Reed</a:t>
                      </a:r>
                    </a:p>
                  </a:txBody>
                  <a:tcPr>
                    <a:solidFill>
                      <a:srgbClr val="FFFFFF"/>
                    </a:solidFill>
                  </a:tcPr>
                </a:tc>
                <a:tc>
                  <a:txBody>
                    <a:bodyPr wrap="none"/>
                    <a:lstStyle/>
                    <a:p>
                      <a:pPr algn="ctr"/>
                      <a:r>
                        <a:rPr sz="850" b="0" i="0">
                          <a:solidFill>
                            <a:srgbClr val="262626"/>
                          </a:solidFill>
                          <a:latin typeface="Arial"/>
                        </a:rPr>
                        <a:t>3,233</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r>
              <a:tr h="224028">
                <a:tc>
                  <a:txBody>
                    <a:bodyPr wrap="none"/>
                    <a:lstStyle/>
                    <a:p>
                      <a:pPr algn="ctr"/>
                      <a:r>
                        <a:rPr sz="850" b="1" i="0">
                          <a:solidFill>
                            <a:srgbClr val="262626"/>
                          </a:solidFill>
                          <a:latin typeface="Arial"/>
                        </a:rPr>
                        <a:t>24</a:t>
                      </a:r>
                    </a:p>
                  </a:txBody>
                  <a:tcPr>
                    <a:solidFill>
                      <a:srgbClr val="F2F2F2"/>
                    </a:solidFill>
                  </a:tcPr>
                </a:tc>
                <a:tc>
                  <a:txBody>
                    <a:bodyPr wrap="none"/>
                    <a:lstStyle/>
                    <a:p>
                      <a:pPr algn="l"/>
                      <a:r>
                        <a:rPr sz="850" b="0" i="0">
                          <a:solidFill>
                            <a:srgbClr val="262626"/>
                          </a:solidFill>
                          <a:latin typeface="Arial"/>
                        </a:rPr>
                        <a:t>Reese Vannerson</a:t>
                      </a:r>
                    </a:p>
                  </a:txBody>
                  <a:tcPr>
                    <a:solidFill>
                      <a:srgbClr val="F2F2F2"/>
                    </a:solidFill>
                  </a:tcPr>
                </a:tc>
                <a:tc>
                  <a:txBody>
                    <a:bodyPr wrap="none"/>
                    <a:lstStyle/>
                    <a:p>
                      <a:pPr algn="ctr"/>
                      <a:r>
                        <a:rPr sz="850" b="0" i="0">
                          <a:solidFill>
                            <a:srgbClr val="262626"/>
                          </a:solidFill>
                          <a:latin typeface="Arial"/>
                        </a:rPr>
                        <a:t>2,818</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r>
              <a:tr h="224028">
                <a:tc>
                  <a:txBody>
                    <a:bodyPr wrap="none"/>
                    <a:lstStyle/>
                    <a:p>
                      <a:pPr algn="ctr"/>
                      <a:r>
                        <a:rPr sz="850" b="1" i="0">
                          <a:solidFill>
                            <a:srgbClr val="262626"/>
                          </a:solidFill>
                          <a:latin typeface="Arial"/>
                        </a:rPr>
                        <a:t>33</a:t>
                      </a:r>
                    </a:p>
                  </a:txBody>
                  <a:tcPr>
                    <a:solidFill>
                      <a:srgbClr val="FFFFFF"/>
                    </a:solidFill>
                  </a:tcPr>
                </a:tc>
                <a:tc>
                  <a:txBody>
                    <a:bodyPr wrap="none"/>
                    <a:lstStyle/>
                    <a:p>
                      <a:pPr algn="l"/>
                      <a:r>
                        <a:rPr sz="850" b="0" i="0">
                          <a:solidFill>
                            <a:srgbClr val="262626"/>
                          </a:solidFill>
                          <a:latin typeface="Arial"/>
                        </a:rPr>
                        <a:t>Morgan Pearson</a:t>
                      </a:r>
                    </a:p>
                  </a:txBody>
                  <a:tcPr>
                    <a:solidFill>
                      <a:srgbClr val="FFFFFF"/>
                    </a:solidFill>
                  </a:tcPr>
                </a:tc>
                <a:tc>
                  <a:txBody>
                    <a:bodyPr wrap="none"/>
                    <a:lstStyle/>
                    <a:p>
                      <a:pPr algn="ctr"/>
                      <a:r>
                        <a:rPr sz="850" b="0" i="0">
                          <a:solidFill>
                            <a:srgbClr val="262626"/>
                          </a:solidFill>
                          <a:latin typeface="Arial"/>
                        </a:rPr>
                        <a:t>2,585</a:t>
                      </a:r>
                    </a:p>
                  </a:txBody>
                  <a:tcPr>
                    <a:solidFill>
                      <a:srgbClr val="FFFFFF"/>
                    </a:solidFill>
                  </a:tcPr>
                </a:tc>
                <a:tc>
                  <a:txBody>
                    <a:bodyPr wrap="none"/>
                    <a:lstStyle/>
                    <a:p>
                      <a:pPr algn="ctr"/>
                      <a:r>
                        <a:rPr sz="850" b="0" i="0">
                          <a:solidFill>
                            <a:srgbClr val="262626"/>
                          </a:solidFill>
                          <a:latin typeface="Arial"/>
                        </a:rPr>
                        <a:t>4</a:t>
                      </a:r>
                    </a:p>
                  </a:txBody>
                  <a:tcPr>
                    <a:solidFill>
                      <a:srgbClr val="FFFFFF"/>
                    </a:solidFill>
                  </a:tcPr>
                </a:tc>
                <a:tc>
                  <a:txBody>
                    <a:bodyPr wrap="none"/>
                    <a:lstStyle/>
                    <a:p>
                      <a:pPr algn="ctr"/>
                      <a:r>
                        <a:rPr sz="850" b="0" i="0">
                          <a:solidFill>
                            <a:srgbClr val="262626"/>
                          </a:solidFill>
                          <a:latin typeface="Arial"/>
                        </a:rPr>
                        <a:t>5</a:t>
                      </a:r>
                    </a:p>
                  </a:txBody>
                  <a:tcPr>
                    <a:solidFill>
                      <a:srgbClr val="FFFFFF"/>
                    </a:solidFill>
                  </a:tcPr>
                </a:tc>
              </a:tr>
              <a:tr h="224028">
                <a:tc>
                  <a:txBody>
                    <a:bodyPr wrap="none"/>
                    <a:lstStyle/>
                    <a:p>
                      <a:pPr algn="ctr"/>
                      <a:r>
                        <a:rPr sz="850" b="1" i="0">
                          <a:solidFill>
                            <a:srgbClr val="262626"/>
                          </a:solidFill>
                          <a:latin typeface="Arial"/>
                        </a:rPr>
                        <a:t>40</a:t>
                      </a:r>
                    </a:p>
                  </a:txBody>
                  <a:tcPr>
                    <a:solidFill>
                      <a:srgbClr val="F2F2F2"/>
                    </a:solidFill>
                  </a:tcPr>
                </a:tc>
                <a:tc>
                  <a:txBody>
                    <a:bodyPr wrap="none"/>
                    <a:lstStyle/>
                    <a:p>
                      <a:pPr algn="l"/>
                      <a:r>
                        <a:rPr sz="850" b="0" i="0">
                          <a:solidFill>
                            <a:srgbClr val="262626"/>
                          </a:solidFill>
                          <a:latin typeface="Arial"/>
                        </a:rPr>
                        <a:t>Braxton Legg</a:t>
                      </a:r>
                    </a:p>
                  </a:txBody>
                  <a:tcPr>
                    <a:solidFill>
                      <a:srgbClr val="F2F2F2"/>
                    </a:solidFill>
                  </a:tcPr>
                </a:tc>
                <a:tc>
                  <a:txBody>
                    <a:bodyPr wrap="none"/>
                    <a:lstStyle/>
                    <a:p>
                      <a:pPr algn="ctr"/>
                      <a:r>
                        <a:rPr sz="850" b="0" i="0">
                          <a:solidFill>
                            <a:srgbClr val="262626"/>
                          </a:solidFill>
                          <a:latin typeface="Arial"/>
                        </a:rPr>
                        <a:t>2,442</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r>
              <a:tr h="224028">
                <a:tc>
                  <a:txBody>
                    <a:bodyPr wrap="none"/>
                    <a:lstStyle/>
                    <a:p>
                      <a:pPr algn="ctr"/>
                      <a:r>
                        <a:rPr sz="850" b="1" i="0">
                          <a:solidFill>
                            <a:srgbClr val="262626"/>
                          </a:solidFill>
                          <a:latin typeface="Arial"/>
                        </a:rPr>
                        <a:t>45</a:t>
                      </a:r>
                    </a:p>
                  </a:txBody>
                  <a:tcPr>
                    <a:solidFill>
                      <a:srgbClr val="FFFFFF"/>
                    </a:solidFill>
                  </a:tcPr>
                </a:tc>
                <a:tc>
                  <a:txBody>
                    <a:bodyPr wrap="none"/>
                    <a:lstStyle/>
                    <a:p>
                      <a:pPr algn="l"/>
                      <a:r>
                        <a:rPr sz="850" b="0" i="0">
                          <a:solidFill>
                            <a:srgbClr val="262626"/>
                          </a:solidFill>
                          <a:latin typeface="Arial"/>
                        </a:rPr>
                        <a:t>Sullivan Middaugh</a:t>
                      </a:r>
                    </a:p>
                  </a:txBody>
                  <a:tcPr>
                    <a:solidFill>
                      <a:srgbClr val="FFFFFF"/>
                    </a:solidFill>
                  </a:tcPr>
                </a:tc>
                <a:tc>
                  <a:txBody>
                    <a:bodyPr wrap="none"/>
                    <a:lstStyle/>
                    <a:p>
                      <a:pPr algn="ctr"/>
                      <a:r>
                        <a:rPr sz="850" b="0" i="0">
                          <a:solidFill>
                            <a:srgbClr val="262626"/>
                          </a:solidFill>
                          <a:latin typeface="Arial"/>
                        </a:rPr>
                        <a:t>2,281</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r>
              <a:tr h="224028">
                <a:tc>
                  <a:txBody>
                    <a:bodyPr wrap="none"/>
                    <a:lstStyle/>
                    <a:p>
                      <a:pPr algn="ctr"/>
                      <a:r>
                        <a:rPr sz="850" b="1" i="0">
                          <a:solidFill>
                            <a:srgbClr val="262626"/>
                          </a:solidFill>
                          <a:latin typeface="Arial"/>
                        </a:rPr>
                        <a:t>48</a:t>
                      </a:r>
                    </a:p>
                  </a:txBody>
                  <a:tcPr>
                    <a:solidFill>
                      <a:srgbClr val="F2F2F2"/>
                    </a:solidFill>
                  </a:tcPr>
                </a:tc>
                <a:tc>
                  <a:txBody>
                    <a:bodyPr wrap="none"/>
                    <a:lstStyle/>
                    <a:p>
                      <a:pPr algn="l"/>
                      <a:r>
                        <a:rPr sz="850" b="0" i="0">
                          <a:solidFill>
                            <a:srgbClr val="262626"/>
                          </a:solidFill>
                          <a:latin typeface="Arial"/>
                        </a:rPr>
                        <a:t>Seth Rider</a:t>
                      </a:r>
                    </a:p>
                  </a:txBody>
                  <a:tcPr>
                    <a:solidFill>
                      <a:srgbClr val="F2F2F2"/>
                    </a:solidFill>
                  </a:tcPr>
                </a:tc>
                <a:tc>
                  <a:txBody>
                    <a:bodyPr wrap="none"/>
                    <a:lstStyle/>
                    <a:p>
                      <a:pPr algn="ctr"/>
                      <a:r>
                        <a:rPr sz="850" b="0" i="0">
                          <a:solidFill>
                            <a:srgbClr val="262626"/>
                          </a:solidFill>
                          <a:latin typeface="Arial"/>
                        </a:rPr>
                        <a:t>2,259</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5</a:t>
                      </a:r>
                    </a:p>
                  </a:txBody>
                  <a:tcPr>
                    <a:solidFill>
                      <a:srgbClr val="F2F2F2"/>
                    </a:solidFill>
                  </a:tcPr>
                </a:tc>
              </a:tr>
              <a:tr h="224028">
                <a:tc>
                  <a:txBody>
                    <a:bodyPr wrap="none"/>
                    <a:lstStyle/>
                    <a:p>
                      <a:pPr algn="ctr"/>
                      <a:r>
                        <a:rPr sz="850" b="1" i="0">
                          <a:solidFill>
                            <a:srgbClr val="262626"/>
                          </a:solidFill>
                          <a:latin typeface="Arial"/>
                        </a:rPr>
                        <a:t>68</a:t>
                      </a:r>
                    </a:p>
                  </a:txBody>
                  <a:tcPr>
                    <a:solidFill>
                      <a:srgbClr val="FFFFFF"/>
                    </a:solidFill>
                  </a:tcPr>
                </a:tc>
                <a:tc>
                  <a:txBody>
                    <a:bodyPr wrap="none"/>
                    <a:lstStyle/>
                    <a:p>
                      <a:pPr algn="l"/>
                      <a:r>
                        <a:rPr sz="850" b="0" i="0">
                          <a:solidFill>
                            <a:srgbClr val="262626"/>
                          </a:solidFill>
                          <a:latin typeface="Arial"/>
                        </a:rPr>
                        <a:t>Keller Norland</a:t>
                      </a:r>
                    </a:p>
                  </a:txBody>
                  <a:tcPr>
                    <a:solidFill>
                      <a:srgbClr val="FFFFFF"/>
                    </a:solidFill>
                  </a:tcPr>
                </a:tc>
                <a:tc>
                  <a:txBody>
                    <a:bodyPr wrap="none"/>
                    <a:lstStyle/>
                    <a:p>
                      <a:pPr algn="ctr"/>
                      <a:r>
                        <a:rPr sz="850" b="0" i="0">
                          <a:solidFill>
                            <a:srgbClr val="262626"/>
                          </a:solidFill>
                          <a:latin typeface="Arial"/>
                        </a:rPr>
                        <a:t>1,988</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r>
              <a:tr h="224028">
                <a:tc>
                  <a:txBody>
                    <a:bodyPr wrap="none"/>
                    <a:lstStyle/>
                    <a:p>
                      <a:pPr algn="ctr"/>
                      <a:r>
                        <a:rPr sz="850" b="1" i="0">
                          <a:solidFill>
                            <a:srgbClr val="262626"/>
                          </a:solidFill>
                          <a:latin typeface="Arial"/>
                        </a:rPr>
                        <a:t>81</a:t>
                      </a:r>
                    </a:p>
                  </a:txBody>
                  <a:tcPr>
                    <a:solidFill>
                      <a:srgbClr val="F2F2F2"/>
                    </a:solidFill>
                  </a:tcPr>
                </a:tc>
                <a:tc>
                  <a:txBody>
                    <a:bodyPr wrap="none"/>
                    <a:lstStyle/>
                    <a:p>
                      <a:pPr algn="l"/>
                      <a:r>
                        <a:rPr sz="850" b="0" i="0">
                          <a:solidFill>
                            <a:srgbClr val="262626"/>
                          </a:solidFill>
                          <a:latin typeface="Arial"/>
                        </a:rPr>
                        <a:t>Chase McQueen</a:t>
                      </a:r>
                    </a:p>
                  </a:txBody>
                  <a:tcPr>
                    <a:solidFill>
                      <a:srgbClr val="F2F2F2"/>
                    </a:solidFill>
                  </a:tcPr>
                </a:tc>
                <a:tc>
                  <a:txBody>
                    <a:bodyPr wrap="none"/>
                    <a:lstStyle/>
                    <a:p>
                      <a:pPr algn="ctr"/>
                      <a:r>
                        <a:rPr sz="850" b="0" i="0">
                          <a:solidFill>
                            <a:srgbClr val="262626"/>
                          </a:solidFill>
                          <a:latin typeface="Arial"/>
                        </a:rPr>
                        <a:t>1,755</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r>
              <a:tr h="224028">
                <a:tc>
                  <a:txBody>
                    <a:bodyPr wrap="none"/>
                    <a:lstStyle/>
                    <a:p>
                      <a:pPr algn="ctr"/>
                      <a:r>
                        <a:rPr sz="850" b="1" i="0">
                          <a:solidFill>
                            <a:srgbClr val="262626"/>
                          </a:solidFill>
                          <a:latin typeface="Arial"/>
                        </a:rPr>
                        <a:t>82</a:t>
                      </a:r>
                    </a:p>
                  </a:txBody>
                  <a:tcPr>
                    <a:solidFill>
                      <a:srgbClr val="FFFFFF"/>
                    </a:solidFill>
                  </a:tcPr>
                </a:tc>
                <a:tc>
                  <a:txBody>
                    <a:bodyPr wrap="none"/>
                    <a:lstStyle/>
                    <a:p>
                      <a:pPr algn="l"/>
                      <a:r>
                        <a:rPr sz="850" b="0" i="0">
                          <a:solidFill>
                            <a:srgbClr val="262626"/>
                          </a:solidFill>
                          <a:latin typeface="Arial"/>
                        </a:rPr>
                        <a:t>Blake Bullard</a:t>
                      </a:r>
                    </a:p>
                  </a:txBody>
                  <a:tcPr>
                    <a:solidFill>
                      <a:srgbClr val="FFFFFF"/>
                    </a:solidFill>
                  </a:tcPr>
                </a:tc>
                <a:tc>
                  <a:txBody>
                    <a:bodyPr wrap="none"/>
                    <a:lstStyle/>
                    <a:p>
                      <a:pPr algn="ctr"/>
                      <a:r>
                        <a:rPr sz="850" b="0" i="0">
                          <a:solidFill>
                            <a:srgbClr val="262626"/>
                          </a:solidFill>
                          <a:latin typeface="Arial"/>
                        </a:rPr>
                        <a:t>1,732</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r>
              <a:tr h="224028">
                <a:tc>
                  <a:txBody>
                    <a:bodyPr wrap="none"/>
                    <a:lstStyle/>
                    <a:p>
                      <a:pPr algn="ctr"/>
                      <a:r>
                        <a:rPr sz="850" b="1" i="0">
                          <a:solidFill>
                            <a:srgbClr val="262626"/>
                          </a:solidFill>
                          <a:latin typeface="Arial"/>
                        </a:rPr>
                        <a:t>95</a:t>
                      </a:r>
                    </a:p>
                  </a:txBody>
                  <a:tcPr>
                    <a:solidFill>
                      <a:srgbClr val="F2F2F2"/>
                    </a:solidFill>
                  </a:tcPr>
                </a:tc>
                <a:tc>
                  <a:txBody>
                    <a:bodyPr wrap="none"/>
                    <a:lstStyle/>
                    <a:p>
                      <a:pPr algn="l"/>
                      <a:r>
                        <a:rPr sz="850" b="0" i="0">
                          <a:solidFill>
                            <a:srgbClr val="262626"/>
                          </a:solidFill>
                          <a:latin typeface="Arial"/>
                        </a:rPr>
                        <a:t>Darr Smith</a:t>
                      </a:r>
                    </a:p>
                  </a:txBody>
                  <a:tcPr>
                    <a:solidFill>
                      <a:srgbClr val="F2F2F2"/>
                    </a:solidFill>
                  </a:tcPr>
                </a:tc>
                <a:tc>
                  <a:txBody>
                    <a:bodyPr wrap="none"/>
                    <a:lstStyle/>
                    <a:p>
                      <a:pPr algn="ctr"/>
                      <a:r>
                        <a:rPr sz="850" b="0" i="0">
                          <a:solidFill>
                            <a:srgbClr val="262626"/>
                          </a:solidFill>
                          <a:latin typeface="Arial"/>
                        </a:rPr>
                        <a:t>1,619</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r>
              <a:tr h="224028">
                <a:tc>
                  <a:txBody>
                    <a:bodyPr wrap="none"/>
                    <a:lstStyle/>
                    <a:p>
                      <a:pPr algn="ctr"/>
                      <a:r>
                        <a:rPr sz="850" b="1" i="0">
                          <a:solidFill>
                            <a:srgbClr val="262626"/>
                          </a:solidFill>
                          <a:latin typeface="Arial"/>
                        </a:rPr>
                        <a:t>105</a:t>
                      </a:r>
                    </a:p>
                  </a:txBody>
                  <a:tcPr>
                    <a:solidFill>
                      <a:srgbClr val="FFFFFF"/>
                    </a:solidFill>
                  </a:tcPr>
                </a:tc>
                <a:tc>
                  <a:txBody>
                    <a:bodyPr wrap="none"/>
                    <a:lstStyle/>
                    <a:p>
                      <a:pPr algn="l"/>
                      <a:r>
                        <a:rPr sz="850" b="0" i="0">
                          <a:solidFill>
                            <a:srgbClr val="262626"/>
                          </a:solidFill>
                          <a:latin typeface="Arial"/>
                        </a:rPr>
                        <a:t>Porter Middaugh</a:t>
                      </a:r>
                    </a:p>
                  </a:txBody>
                  <a:tcPr>
                    <a:solidFill>
                      <a:srgbClr val="FFFFFF"/>
                    </a:solidFill>
                  </a:tcPr>
                </a:tc>
                <a:tc>
                  <a:txBody>
                    <a:bodyPr wrap="none"/>
                    <a:lstStyle/>
                    <a:p>
                      <a:pPr algn="ctr"/>
                      <a:r>
                        <a:rPr sz="850" b="0" i="0">
                          <a:solidFill>
                            <a:srgbClr val="262626"/>
                          </a:solidFill>
                          <a:latin typeface="Arial"/>
                        </a:rPr>
                        <a:t>1,513</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r>
              <a:tr h="224028">
                <a:tc>
                  <a:txBody>
                    <a:bodyPr wrap="none"/>
                    <a:lstStyle/>
                    <a:p>
                      <a:pPr algn="ctr"/>
                      <a:r>
                        <a:rPr sz="850" b="1" i="0">
                          <a:solidFill>
                            <a:srgbClr val="262626"/>
                          </a:solidFill>
                          <a:latin typeface="Arial"/>
                        </a:rPr>
                        <a:t>119</a:t>
                      </a:r>
                    </a:p>
                  </a:txBody>
                  <a:tcPr>
                    <a:solidFill>
                      <a:srgbClr val="F2F2F2"/>
                    </a:solidFill>
                  </a:tcPr>
                </a:tc>
                <a:tc>
                  <a:txBody>
                    <a:bodyPr wrap="none"/>
                    <a:lstStyle/>
                    <a:p>
                      <a:pPr algn="l"/>
                      <a:r>
                        <a:rPr sz="850" b="0" i="0">
                          <a:solidFill>
                            <a:srgbClr val="262626"/>
                          </a:solidFill>
                          <a:latin typeface="Arial"/>
                        </a:rPr>
                        <a:t>Zach Leachman</a:t>
                      </a:r>
                    </a:p>
                  </a:txBody>
                  <a:tcPr>
                    <a:solidFill>
                      <a:srgbClr val="F2F2F2"/>
                    </a:solidFill>
                  </a:tcPr>
                </a:tc>
                <a:tc>
                  <a:txBody>
                    <a:bodyPr wrap="none"/>
                    <a:lstStyle/>
                    <a:p>
                      <a:pPr algn="ctr"/>
                      <a:r>
                        <a:rPr sz="850" b="0" i="0">
                          <a:solidFill>
                            <a:srgbClr val="262626"/>
                          </a:solidFill>
                          <a:latin typeface="Arial"/>
                        </a:rPr>
                        <a:t>1,433</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a:t>
                      </a:r>
                    </a:p>
                  </a:txBody>
                  <a:tcPr>
                    <a:solidFill>
                      <a:srgbClr val="F2F2F2"/>
                    </a:solidFill>
                  </a:tcPr>
                </a:tc>
              </a:tr>
              <a:tr h="224028">
                <a:tc>
                  <a:txBody>
                    <a:bodyPr wrap="none"/>
                    <a:lstStyle/>
                    <a:p>
                      <a:pPr algn="ctr"/>
                      <a:r>
                        <a:rPr sz="850" b="1" i="0">
                          <a:solidFill>
                            <a:srgbClr val="262626"/>
                          </a:solidFill>
                          <a:latin typeface="Arial"/>
                        </a:rPr>
                        <a:t>134</a:t>
                      </a:r>
                    </a:p>
                  </a:txBody>
                  <a:tcPr>
                    <a:solidFill>
                      <a:srgbClr val="FFFFFF"/>
                    </a:solidFill>
                  </a:tcPr>
                </a:tc>
                <a:tc>
                  <a:txBody>
                    <a:bodyPr wrap="none"/>
                    <a:lstStyle/>
                    <a:p>
                      <a:pPr algn="l"/>
                      <a:r>
                        <a:rPr sz="850" b="0" i="0">
                          <a:solidFill>
                            <a:srgbClr val="262626"/>
                          </a:solidFill>
                          <a:latin typeface="Arial"/>
                        </a:rPr>
                        <a:t>Carter Stuhlmacher</a:t>
                      </a:r>
                    </a:p>
                  </a:txBody>
                  <a:tcPr>
                    <a:solidFill>
                      <a:srgbClr val="FFFFFF"/>
                    </a:solidFill>
                  </a:tcPr>
                </a:tc>
                <a:tc>
                  <a:txBody>
                    <a:bodyPr wrap="none"/>
                    <a:lstStyle/>
                    <a:p>
                      <a:pPr algn="ctr"/>
                      <a:r>
                        <a:rPr sz="850" b="0" i="0">
                          <a:solidFill>
                            <a:srgbClr val="262626"/>
                          </a:solidFill>
                          <a:latin typeface="Arial"/>
                        </a:rPr>
                        <a:t>1,274</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3</a:t>
                      </a:r>
                    </a:p>
                  </a:txBody>
                  <a:tcPr>
                    <a:solidFill>
                      <a:srgbClr val="FFFFFF"/>
                    </a:solidFill>
                  </a:tcPr>
                </a:tc>
              </a:tr>
              <a:tr h="224028">
                <a:tc>
                  <a:txBody>
                    <a:bodyPr wrap="none"/>
                    <a:lstStyle/>
                    <a:p>
                      <a:pPr algn="ctr"/>
                      <a:r>
                        <a:rPr sz="850" b="1" i="0">
                          <a:solidFill>
                            <a:srgbClr val="262626"/>
                          </a:solidFill>
                          <a:latin typeface="Arial"/>
                        </a:rPr>
                        <a:t>280</a:t>
                      </a:r>
                    </a:p>
                  </a:txBody>
                  <a:tcPr>
                    <a:solidFill>
                      <a:srgbClr val="F2F2F2"/>
                    </a:solidFill>
                  </a:tcPr>
                </a:tc>
                <a:tc>
                  <a:txBody>
                    <a:bodyPr wrap="none"/>
                    <a:lstStyle/>
                    <a:p>
                      <a:pPr algn="l"/>
                      <a:r>
                        <a:rPr sz="850" b="0" i="0">
                          <a:solidFill>
                            <a:srgbClr val="262626"/>
                          </a:solidFill>
                          <a:latin typeface="Arial"/>
                        </a:rPr>
                        <a:t>Cole Jamieson </a:t>
                      </a:r>
                    </a:p>
                  </a:txBody>
                  <a:tcPr>
                    <a:solidFill>
                      <a:srgbClr val="F2F2F2"/>
                    </a:solidFill>
                  </a:tcPr>
                </a:tc>
                <a:tc>
                  <a:txBody>
                    <a:bodyPr wrap="none"/>
                    <a:lstStyle/>
                    <a:p>
                      <a:pPr algn="ctr"/>
                      <a:r>
                        <a:rPr sz="850" b="0" i="0">
                          <a:solidFill>
                            <a:srgbClr val="262626"/>
                          </a:solidFill>
                          <a:latin typeface="Arial"/>
                        </a:rPr>
                        <a:t>600</a:t>
                      </a:r>
                    </a:p>
                  </a:txBody>
                  <a:tcPr>
                    <a:solidFill>
                      <a:srgbClr val="F2F2F2"/>
                    </a:solidFill>
                  </a:tcPr>
                </a:tc>
                <a:tc>
                  <a:txBody>
                    <a:bodyPr wrap="none"/>
                    <a:lstStyle/>
                    <a:p>
                      <a:pPr algn="ctr"/>
                      <a:r>
                        <a:rPr sz="850" b="0" i="0">
                          <a:solidFill>
                            <a:srgbClr val="262626"/>
                          </a:solidFill>
                          <a:latin typeface="Arial"/>
                        </a:rPr>
                        <a:t>4</a:t>
                      </a:r>
                    </a:p>
                  </a:txBody>
                  <a:tcPr>
                    <a:solidFill>
                      <a:srgbClr val="F2F2F2"/>
                    </a:solidFill>
                  </a:tcPr>
                </a:tc>
                <a:tc>
                  <a:txBody>
                    <a:bodyPr wrap="none"/>
                    <a:lstStyle/>
                    <a:p>
                      <a:pPr algn="ctr"/>
                      <a:r>
                        <a:rPr sz="850" b="0" i="0">
                          <a:solidFill>
                            <a:srgbClr val="262626"/>
                          </a:solidFill>
                          <a:latin typeface="Arial"/>
                        </a:rPr>
                        <a:t>2</a:t>
                      </a:r>
                    </a:p>
                  </a:txBody>
                  <a:tcPr>
                    <a:solidFill>
                      <a:srgbClr val="F2F2F2"/>
                    </a:solidFill>
                  </a:tcPr>
                </a:tc>
              </a:tr>
              <a:tr h="224028">
                <a:tc>
                  <a:txBody>
                    <a:bodyPr wrap="none"/>
                    <a:lstStyle/>
                    <a:p>
                      <a:pPr algn="ctr"/>
                      <a:r>
                        <a:rPr sz="850" b="1" i="0">
                          <a:solidFill>
                            <a:srgbClr val="262626"/>
                          </a:solidFill>
                          <a:latin typeface="Arial"/>
                        </a:rPr>
                        <a:t>349</a:t>
                      </a:r>
                    </a:p>
                  </a:txBody>
                  <a:tcPr>
                    <a:solidFill>
                      <a:srgbClr val="FFFFFF"/>
                    </a:solidFill>
                  </a:tcPr>
                </a:tc>
                <a:tc>
                  <a:txBody>
                    <a:bodyPr wrap="none"/>
                    <a:lstStyle/>
                    <a:p>
                      <a:pPr algn="l"/>
                      <a:r>
                        <a:rPr sz="850" b="0" i="0">
                          <a:solidFill>
                            <a:srgbClr val="262626"/>
                          </a:solidFill>
                          <a:latin typeface="Arial"/>
                        </a:rPr>
                        <a:t>Foster Wilfong</a:t>
                      </a:r>
                    </a:p>
                  </a:txBody>
                  <a:tcPr>
                    <a:solidFill>
                      <a:srgbClr val="FFFFFF"/>
                    </a:solidFill>
                  </a:tcPr>
                </a:tc>
                <a:tc>
                  <a:txBody>
                    <a:bodyPr wrap="none"/>
                    <a:lstStyle/>
                    <a:p>
                      <a:pPr algn="ctr"/>
                      <a:r>
                        <a:rPr sz="850" b="0" i="0">
                          <a:solidFill>
                            <a:srgbClr val="262626"/>
                          </a:solidFill>
                          <a:latin typeface="Arial"/>
                        </a:rPr>
                        <a:t>448</a:t>
                      </a:r>
                    </a:p>
                  </a:txBody>
                  <a:tcPr>
                    <a:solidFill>
                      <a:srgbClr val="FFFFFF"/>
                    </a:solidFill>
                  </a:tcPr>
                </a:tc>
                <a:tc>
                  <a:txBody>
                    <a:bodyPr wrap="none"/>
                    <a:lstStyle/>
                    <a:p>
                      <a:pPr algn="ctr"/>
                      <a:r>
                        <a:rPr sz="850" b="0" i="0">
                          <a:solidFill>
                            <a:srgbClr val="262626"/>
                          </a:solidFill>
                          <a:latin typeface="Arial"/>
                        </a:rPr>
                        <a:t>4</a:t>
                      </a:r>
                    </a:p>
                  </a:txBody>
                  <a:tcPr>
                    <a:solidFill>
                      <a:srgbClr val="FFFFFF"/>
                    </a:solidFill>
                  </a:tcPr>
                </a:tc>
                <a:tc>
                  <a:txBody>
                    <a:bodyPr wrap="none"/>
                    <a:lstStyle/>
                    <a:p>
                      <a:pPr algn="ctr"/>
                      <a:r>
                        <a:rPr sz="850" b="0" i="0">
                          <a:solidFill>
                            <a:srgbClr val="262626"/>
                          </a:solidFill>
                          <a:latin typeface="Arial"/>
                        </a:rPr>
                        <a:t>—</a:t>
                      </a:r>
                    </a:p>
                  </a:txBody>
                  <a:tcPr>
                    <a:solidFill>
                      <a:srgbClr val="FFFFFF"/>
                    </a:solidFill>
                  </a:tcPr>
                </a:tc>
              </a:tr>
            </a:tbl>
          </a:graphicData>
        </a:graphic>
      </p:graphicFrame>
      <p:sp>
        <p:nvSpPr>
          <p:cNvPr id="33" name="Rectangle 32"/>
          <p:cNvSpPr/>
          <p:nvPr/>
        </p:nvSpPr>
        <p:spPr>
          <a:xfrm>
            <a:off x="612648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0" y="2633472"/>
            <a:ext cx="5788152" cy="237744"/>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35" name="Table 34"/>
          <p:cNvGraphicFramePr>
            <a:graphicFrameLocks noGrp="1"/>
          </p:cNvGraphicFramePr>
          <p:nvPr/>
        </p:nvGraphicFramePr>
        <p:xfrm>
          <a:off x="6126480" y="2935224"/>
          <a:ext cx="5787236" cy="3584448"/>
        </p:xfrm>
        <a:graphic>
          <a:graphicData uri="http://schemas.openxmlformats.org/drawingml/2006/table">
            <a:tbl>
              <a:tblPr firstRow="1" bandRow="1">
                <a:tableStyleId>{5C22544A-7EE6-4342-B048-85BDC9FD1C3A}</a:tableStyleId>
              </a:tblPr>
              <a:tblGrid>
                <a:gridCol w="783640"/>
                <a:gridCol w="2531973"/>
                <a:gridCol w="1145743"/>
                <a:gridCol w="662940"/>
                <a:gridCol w="662940"/>
              </a:tblGrid>
              <a:tr h="224028">
                <a:tc>
                  <a:txBody>
                    <a:bodyPr wrap="none"/>
                    <a:lstStyle/>
                    <a:p>
                      <a:pPr algn="ctr"/>
                      <a:r>
                        <a:rPr sz="900" b="1" i="0">
                          <a:solidFill>
                            <a:srgbClr val="FFFFFF"/>
                          </a:solidFill>
                          <a:latin typeface="Arial"/>
                        </a:rPr>
                        <a:t>Rank</a:t>
                      </a:r>
                    </a:p>
                  </a:txBody>
                  <a:tcPr>
                    <a:solidFill>
                      <a:srgbClr val="002060"/>
                    </a:solidFill>
                  </a:tcPr>
                </a:tc>
                <a:tc>
                  <a:txBody>
                    <a:bodyPr wrap="none"/>
                    <a:lstStyle/>
                    <a:p>
                      <a:pPr algn="l"/>
                      <a:r>
                        <a:rPr sz="900" b="1" i="0">
                          <a:solidFill>
                            <a:srgbClr val="FFFFFF"/>
                          </a:solidFill>
                          <a:latin typeface="Arial"/>
                        </a:rPr>
                        <a:t>Athlete</a:t>
                      </a:r>
                    </a:p>
                  </a:txBody>
                  <a:tcPr>
                    <a:solidFill>
                      <a:srgbClr val="002060"/>
                    </a:solidFill>
                  </a:tcPr>
                </a:tc>
                <a:tc>
                  <a:txBody>
                    <a:bodyPr wrap="none"/>
                    <a:lstStyle/>
                    <a:p>
                      <a:pPr algn="ctr"/>
                      <a:r>
                        <a:rPr sz="900" b="1" i="0">
                          <a:solidFill>
                            <a:srgbClr val="FFFFFF"/>
                          </a:solidFill>
                          <a:latin typeface="Arial"/>
                        </a:rPr>
                        <a:t>Points</a:t>
                      </a:r>
                    </a:p>
                  </a:txBody>
                  <a:tcPr>
                    <a:solidFill>
                      <a:srgbClr val="002060"/>
                    </a:solidFill>
                  </a:tcPr>
                </a:tc>
                <a:tc>
                  <a:txBody>
                    <a:bodyPr wrap="none"/>
                    <a:lstStyle/>
                    <a:p>
                      <a:pPr algn="ctr"/>
                      <a:r>
                        <a:rPr sz="900" b="1" i="0">
                          <a:solidFill>
                            <a:srgbClr val="FFFFFF"/>
                          </a:solidFill>
                          <a:latin typeface="Arial"/>
                        </a:rPr>
                        <a:t>Curr</a:t>
                      </a:r>
                    </a:p>
                  </a:txBody>
                  <a:tcPr>
                    <a:solidFill>
                      <a:srgbClr val="002060"/>
                    </a:solidFill>
                  </a:tcPr>
                </a:tc>
                <a:tc>
                  <a:txBody>
                    <a:bodyPr wrap="none"/>
                    <a:lstStyle/>
                    <a:p>
                      <a:pPr algn="ctr"/>
                      <a:r>
                        <a:rPr sz="900" b="1" i="0">
                          <a:solidFill>
                            <a:srgbClr val="FFFFFF"/>
                          </a:solidFill>
                          <a:latin typeface="Arial"/>
                        </a:rPr>
                        <a:t>Prev</a:t>
                      </a:r>
                    </a:p>
                  </a:txBody>
                  <a:tcPr>
                    <a:solidFill>
                      <a:srgbClr val="002060"/>
                    </a:solidFill>
                  </a:tcPr>
                </a:tc>
              </a:tr>
              <a:tr h="224028">
                <a:tc>
                  <a:txBody>
                    <a:bodyPr wrap="none"/>
                    <a:lstStyle/>
                    <a:p>
                      <a:pPr algn="ctr"/>
                      <a:r>
                        <a:rPr sz="850" b="1" i="0">
                          <a:solidFill>
                            <a:srgbClr val="262626"/>
                          </a:solidFill>
                          <a:latin typeface="Arial"/>
                        </a:rPr>
                        <a:t>6</a:t>
                      </a:r>
                    </a:p>
                  </a:txBody>
                  <a:tcPr>
                    <a:solidFill>
                      <a:srgbClr val="FFFFFF"/>
                    </a:solidFill>
                  </a:tcPr>
                </a:tc>
                <a:tc>
                  <a:txBody>
                    <a:bodyPr wrap="none"/>
                    <a:lstStyle/>
                    <a:p>
                      <a:pPr algn="l"/>
                      <a:r>
                        <a:rPr sz="850" b="0" i="0">
                          <a:solidFill>
                            <a:srgbClr val="262626"/>
                          </a:solidFill>
                          <a:latin typeface="Arial"/>
                        </a:rPr>
                        <a:t>Taylor Spivey</a:t>
                      </a:r>
                    </a:p>
                  </a:txBody>
                  <a:tcPr>
                    <a:solidFill>
                      <a:srgbClr val="FFFFFF"/>
                    </a:solidFill>
                  </a:tcPr>
                </a:tc>
                <a:tc>
                  <a:txBody>
                    <a:bodyPr wrap="none"/>
                    <a:lstStyle/>
                    <a:p>
                      <a:pPr algn="ctr"/>
                      <a:r>
                        <a:rPr sz="850" b="0" i="0">
                          <a:solidFill>
                            <a:srgbClr val="262626"/>
                          </a:solidFill>
                          <a:latin typeface="Arial"/>
                        </a:rPr>
                        <a:t>5,253</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4</a:t>
                      </a:r>
                    </a:p>
                  </a:txBody>
                  <a:tcPr>
                    <a:solidFill>
                      <a:srgbClr val="FFFFFF"/>
                    </a:solidFill>
                  </a:tcPr>
                </a:tc>
              </a:tr>
              <a:tr h="224028">
                <a:tc>
                  <a:txBody>
                    <a:bodyPr wrap="none"/>
                    <a:lstStyle/>
                    <a:p>
                      <a:pPr algn="ctr"/>
                      <a:r>
                        <a:rPr sz="850" b="1" i="0">
                          <a:solidFill>
                            <a:srgbClr val="262626"/>
                          </a:solidFill>
                          <a:latin typeface="Arial"/>
                        </a:rPr>
                        <a:t>17</a:t>
                      </a:r>
                    </a:p>
                  </a:txBody>
                  <a:tcPr>
                    <a:solidFill>
                      <a:srgbClr val="F2F2F2"/>
                    </a:solidFill>
                  </a:tcPr>
                </a:tc>
                <a:tc>
                  <a:txBody>
                    <a:bodyPr wrap="none"/>
                    <a:lstStyle/>
                    <a:p>
                      <a:pPr algn="l"/>
                      <a:r>
                        <a:rPr sz="850" b="0" i="0">
                          <a:solidFill>
                            <a:srgbClr val="262626"/>
                          </a:solidFill>
                          <a:latin typeface="Arial"/>
                        </a:rPr>
                        <a:t>Gwen Jorgensen</a:t>
                      </a:r>
                    </a:p>
                  </a:txBody>
                  <a:tcPr>
                    <a:solidFill>
                      <a:srgbClr val="F2F2F2"/>
                    </a:solidFill>
                  </a:tcPr>
                </a:tc>
                <a:tc>
                  <a:txBody>
                    <a:bodyPr wrap="none"/>
                    <a:lstStyle/>
                    <a:p>
                      <a:pPr algn="ctr"/>
                      <a:r>
                        <a:rPr sz="850" b="0" i="0">
                          <a:solidFill>
                            <a:srgbClr val="262626"/>
                          </a:solidFill>
                          <a:latin typeface="Arial"/>
                        </a:rPr>
                        <a:t>3,371</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r>
              <a:tr h="224028">
                <a:tc>
                  <a:txBody>
                    <a:bodyPr wrap="none"/>
                    <a:lstStyle/>
                    <a:p>
                      <a:pPr algn="ctr"/>
                      <a:r>
                        <a:rPr sz="850" b="1" i="0">
                          <a:solidFill>
                            <a:srgbClr val="262626"/>
                          </a:solidFill>
                          <a:latin typeface="Arial"/>
                        </a:rPr>
                        <a:t>18</a:t>
                      </a:r>
                    </a:p>
                  </a:txBody>
                  <a:tcPr>
                    <a:solidFill>
                      <a:srgbClr val="FFFFFF"/>
                    </a:solidFill>
                  </a:tcPr>
                </a:tc>
                <a:tc>
                  <a:txBody>
                    <a:bodyPr wrap="none"/>
                    <a:lstStyle/>
                    <a:p>
                      <a:pPr algn="l"/>
                      <a:r>
                        <a:rPr sz="850" b="0" i="0">
                          <a:solidFill>
                            <a:srgbClr val="262626"/>
                          </a:solidFill>
                          <a:latin typeface="Arial"/>
                        </a:rPr>
                        <a:t>Gina Sereno</a:t>
                      </a:r>
                    </a:p>
                  </a:txBody>
                  <a:tcPr>
                    <a:solidFill>
                      <a:srgbClr val="FFFFFF"/>
                    </a:solidFill>
                  </a:tcPr>
                </a:tc>
                <a:tc>
                  <a:txBody>
                    <a:bodyPr wrap="none"/>
                    <a:lstStyle/>
                    <a:p>
                      <a:pPr algn="ctr"/>
                      <a:r>
                        <a:rPr sz="850" b="0" i="0">
                          <a:solidFill>
                            <a:srgbClr val="262626"/>
                          </a:solidFill>
                          <a:latin typeface="Arial"/>
                        </a:rPr>
                        <a:t>3,295</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r>
              <a:tr h="224028">
                <a:tc>
                  <a:txBody>
                    <a:bodyPr wrap="none"/>
                    <a:lstStyle/>
                    <a:p>
                      <a:pPr algn="ctr"/>
                      <a:r>
                        <a:rPr sz="850" b="1" i="0">
                          <a:solidFill>
                            <a:srgbClr val="262626"/>
                          </a:solidFill>
                          <a:latin typeface="Arial"/>
                        </a:rPr>
                        <a:t>29</a:t>
                      </a:r>
                    </a:p>
                  </a:txBody>
                  <a:tcPr>
                    <a:solidFill>
                      <a:srgbClr val="F2F2F2"/>
                    </a:solidFill>
                  </a:tcPr>
                </a:tc>
                <a:tc>
                  <a:txBody>
                    <a:bodyPr wrap="none"/>
                    <a:lstStyle/>
                    <a:p>
                      <a:pPr algn="l"/>
                      <a:r>
                        <a:rPr sz="850" b="0" i="0">
                          <a:solidFill>
                            <a:srgbClr val="262626"/>
                          </a:solidFill>
                          <a:latin typeface="Arial"/>
                        </a:rPr>
                        <a:t>Danielle Orie</a:t>
                      </a:r>
                    </a:p>
                  </a:txBody>
                  <a:tcPr>
                    <a:solidFill>
                      <a:srgbClr val="F2F2F2"/>
                    </a:solidFill>
                  </a:tcPr>
                </a:tc>
                <a:tc>
                  <a:txBody>
                    <a:bodyPr wrap="none"/>
                    <a:lstStyle/>
                    <a:p>
                      <a:pPr algn="ctr"/>
                      <a:r>
                        <a:rPr sz="850" b="0" i="0">
                          <a:solidFill>
                            <a:srgbClr val="262626"/>
                          </a:solidFill>
                          <a:latin typeface="Arial"/>
                        </a:rPr>
                        <a:t>2,692</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5</a:t>
                      </a:r>
                    </a:p>
                  </a:txBody>
                  <a:tcPr>
                    <a:solidFill>
                      <a:srgbClr val="F2F2F2"/>
                    </a:solidFill>
                  </a:tcPr>
                </a:tc>
              </a:tr>
              <a:tr h="224028">
                <a:tc>
                  <a:txBody>
                    <a:bodyPr wrap="none"/>
                    <a:lstStyle/>
                    <a:p>
                      <a:pPr algn="ctr"/>
                      <a:r>
                        <a:rPr sz="850" b="1" i="0">
                          <a:solidFill>
                            <a:srgbClr val="262626"/>
                          </a:solidFill>
                          <a:latin typeface="Arial"/>
                        </a:rPr>
                        <a:t>44</a:t>
                      </a:r>
                    </a:p>
                  </a:txBody>
                  <a:tcPr>
                    <a:solidFill>
                      <a:srgbClr val="FFFFFF"/>
                    </a:solidFill>
                  </a:tcPr>
                </a:tc>
                <a:tc>
                  <a:txBody>
                    <a:bodyPr wrap="none"/>
                    <a:lstStyle/>
                    <a:p>
                      <a:pPr algn="l"/>
                      <a:r>
                        <a:rPr sz="850" b="0" i="0">
                          <a:solidFill>
                            <a:srgbClr val="262626"/>
                          </a:solidFill>
                          <a:latin typeface="Arial"/>
                        </a:rPr>
                        <a:t>Erika Ackerlund</a:t>
                      </a:r>
                    </a:p>
                  </a:txBody>
                  <a:tcPr>
                    <a:solidFill>
                      <a:srgbClr val="FFFFFF"/>
                    </a:solidFill>
                  </a:tcPr>
                </a:tc>
                <a:tc>
                  <a:txBody>
                    <a:bodyPr wrap="none"/>
                    <a:lstStyle/>
                    <a:p>
                      <a:pPr algn="ctr"/>
                      <a:r>
                        <a:rPr sz="850" b="0" i="0">
                          <a:solidFill>
                            <a:srgbClr val="262626"/>
                          </a:solidFill>
                          <a:latin typeface="Arial"/>
                        </a:rPr>
                        <a:t>2,273</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r>
              <a:tr h="224028">
                <a:tc>
                  <a:txBody>
                    <a:bodyPr wrap="none"/>
                    <a:lstStyle/>
                    <a:p>
                      <a:pPr algn="ctr"/>
                      <a:r>
                        <a:rPr sz="850" b="1" i="0">
                          <a:solidFill>
                            <a:srgbClr val="262626"/>
                          </a:solidFill>
                          <a:latin typeface="Arial"/>
                        </a:rPr>
                        <a:t>49</a:t>
                      </a:r>
                    </a:p>
                  </a:txBody>
                  <a:tcPr>
                    <a:solidFill>
                      <a:srgbClr val="F2F2F2"/>
                    </a:solidFill>
                  </a:tcPr>
                </a:tc>
                <a:tc>
                  <a:txBody>
                    <a:bodyPr wrap="none"/>
                    <a:lstStyle/>
                    <a:p>
                      <a:pPr algn="l"/>
                      <a:r>
                        <a:rPr sz="850" b="0" i="0">
                          <a:solidFill>
                            <a:srgbClr val="262626"/>
                          </a:solidFill>
                          <a:latin typeface="Arial"/>
                        </a:rPr>
                        <a:t>Kelly Wetteland</a:t>
                      </a:r>
                    </a:p>
                  </a:txBody>
                  <a:tcPr>
                    <a:solidFill>
                      <a:srgbClr val="F2F2F2"/>
                    </a:solidFill>
                  </a:tcPr>
                </a:tc>
                <a:tc>
                  <a:txBody>
                    <a:bodyPr wrap="none"/>
                    <a:lstStyle/>
                    <a:p>
                      <a:pPr algn="ctr"/>
                      <a:r>
                        <a:rPr sz="850" b="0" i="0">
                          <a:solidFill>
                            <a:srgbClr val="262626"/>
                          </a:solidFill>
                          <a:latin typeface="Arial"/>
                        </a:rPr>
                        <a:t>2,109</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3</a:t>
                      </a:r>
                    </a:p>
                  </a:txBody>
                  <a:tcPr>
                    <a:solidFill>
                      <a:srgbClr val="F2F2F2"/>
                    </a:solidFill>
                  </a:tcPr>
                </a:tc>
              </a:tr>
              <a:tr h="224028">
                <a:tc>
                  <a:txBody>
                    <a:bodyPr wrap="none"/>
                    <a:lstStyle/>
                    <a:p>
                      <a:pPr algn="ctr"/>
                      <a:r>
                        <a:rPr sz="850" b="1" i="0">
                          <a:solidFill>
                            <a:srgbClr val="262626"/>
                          </a:solidFill>
                          <a:latin typeface="Arial"/>
                        </a:rPr>
                        <a:t>54</a:t>
                      </a:r>
                    </a:p>
                  </a:txBody>
                  <a:tcPr>
                    <a:solidFill>
                      <a:srgbClr val="FFFFFF"/>
                    </a:solidFill>
                  </a:tcPr>
                </a:tc>
                <a:tc>
                  <a:txBody>
                    <a:bodyPr wrap="none"/>
                    <a:lstStyle/>
                    <a:p>
                      <a:pPr algn="l"/>
                      <a:r>
                        <a:rPr sz="850" b="0" i="0">
                          <a:solidFill>
                            <a:srgbClr val="262626"/>
                          </a:solidFill>
                          <a:latin typeface="Arial"/>
                        </a:rPr>
                        <a:t>Taylor Knibb</a:t>
                      </a:r>
                    </a:p>
                  </a:txBody>
                  <a:tcPr>
                    <a:solidFill>
                      <a:srgbClr val="FFFFFF"/>
                    </a:solidFill>
                  </a:tcPr>
                </a:tc>
                <a:tc>
                  <a:txBody>
                    <a:bodyPr wrap="none"/>
                    <a:lstStyle/>
                    <a:p>
                      <a:pPr algn="ctr"/>
                      <a:r>
                        <a:rPr sz="850" b="0" i="0">
                          <a:solidFill>
                            <a:srgbClr val="262626"/>
                          </a:solidFill>
                          <a:latin typeface="Arial"/>
                        </a:rPr>
                        <a:t>2,047</a:t>
                      </a:r>
                    </a:p>
                  </a:txBody>
                  <a:tcPr>
                    <a:solidFill>
                      <a:srgbClr val="FFFFFF"/>
                    </a:solidFill>
                  </a:tcPr>
                </a:tc>
                <a:tc>
                  <a:txBody>
                    <a:bodyPr wrap="none"/>
                    <a:lstStyle/>
                    <a:p>
                      <a:pPr algn="ctr"/>
                      <a:r>
                        <a:rPr sz="850" b="0" i="0">
                          <a:solidFill>
                            <a:srgbClr val="262626"/>
                          </a:solidFill>
                          <a:latin typeface="Arial"/>
                        </a:rPr>
                        <a:t>4</a:t>
                      </a:r>
                    </a:p>
                  </a:txBody>
                  <a:tcPr>
                    <a:solidFill>
                      <a:srgbClr val="FFFFFF"/>
                    </a:solidFill>
                  </a:tcPr>
                </a:tc>
                <a:tc>
                  <a:txBody>
                    <a:bodyPr wrap="none"/>
                    <a:lstStyle/>
                    <a:p>
                      <a:pPr algn="ctr"/>
                      <a:r>
                        <a:rPr sz="850" b="0" i="0">
                          <a:solidFill>
                            <a:srgbClr val="262626"/>
                          </a:solidFill>
                          <a:latin typeface="Arial"/>
                        </a:rPr>
                        <a:t>—</a:t>
                      </a:r>
                    </a:p>
                  </a:txBody>
                  <a:tcPr>
                    <a:solidFill>
                      <a:srgbClr val="FFFFFF"/>
                    </a:solidFill>
                  </a:tcPr>
                </a:tc>
              </a:tr>
              <a:tr h="224028">
                <a:tc>
                  <a:txBody>
                    <a:bodyPr wrap="none"/>
                    <a:lstStyle/>
                    <a:p>
                      <a:pPr algn="ctr"/>
                      <a:r>
                        <a:rPr sz="850" b="1" i="0">
                          <a:solidFill>
                            <a:srgbClr val="262626"/>
                          </a:solidFill>
                          <a:latin typeface="Arial"/>
                        </a:rPr>
                        <a:t>59</a:t>
                      </a:r>
                    </a:p>
                  </a:txBody>
                  <a:tcPr>
                    <a:solidFill>
                      <a:srgbClr val="F2F2F2"/>
                    </a:solidFill>
                  </a:tcPr>
                </a:tc>
                <a:tc>
                  <a:txBody>
                    <a:bodyPr wrap="none"/>
                    <a:lstStyle/>
                    <a:p>
                      <a:pPr algn="l"/>
                      <a:r>
                        <a:rPr sz="850" b="0" i="0">
                          <a:solidFill>
                            <a:srgbClr val="262626"/>
                          </a:solidFill>
                          <a:latin typeface="Arial"/>
                        </a:rPr>
                        <a:t>Naomi Ruff</a:t>
                      </a:r>
                    </a:p>
                  </a:txBody>
                  <a:tcPr>
                    <a:solidFill>
                      <a:srgbClr val="F2F2F2"/>
                    </a:solidFill>
                  </a:tcPr>
                </a:tc>
                <a:tc>
                  <a:txBody>
                    <a:bodyPr wrap="none"/>
                    <a:lstStyle/>
                    <a:p>
                      <a:pPr algn="ctr"/>
                      <a:r>
                        <a:rPr sz="850" b="0" i="0">
                          <a:solidFill>
                            <a:srgbClr val="262626"/>
                          </a:solidFill>
                          <a:latin typeface="Arial"/>
                        </a:rPr>
                        <a:t>1,968</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r>
              <a:tr h="224028">
                <a:tc>
                  <a:txBody>
                    <a:bodyPr wrap="none"/>
                    <a:lstStyle/>
                    <a:p>
                      <a:pPr algn="ctr"/>
                      <a:r>
                        <a:rPr sz="850" b="1" i="0">
                          <a:solidFill>
                            <a:srgbClr val="262626"/>
                          </a:solidFill>
                          <a:latin typeface="Arial"/>
                        </a:rPr>
                        <a:t>63</a:t>
                      </a:r>
                    </a:p>
                  </a:txBody>
                  <a:tcPr>
                    <a:solidFill>
                      <a:srgbClr val="FFFFFF"/>
                    </a:solidFill>
                  </a:tcPr>
                </a:tc>
                <a:tc>
                  <a:txBody>
                    <a:bodyPr wrap="none"/>
                    <a:lstStyle/>
                    <a:p>
                      <a:pPr algn="l"/>
                      <a:r>
                        <a:rPr sz="850" b="0" i="0">
                          <a:solidFill>
                            <a:srgbClr val="262626"/>
                          </a:solidFill>
                          <a:latin typeface="Arial"/>
                        </a:rPr>
                        <a:t>Kirsten Kasper</a:t>
                      </a:r>
                    </a:p>
                  </a:txBody>
                  <a:tcPr>
                    <a:solidFill>
                      <a:srgbClr val="FFFFFF"/>
                    </a:solidFill>
                  </a:tcPr>
                </a:tc>
                <a:tc>
                  <a:txBody>
                    <a:bodyPr wrap="none"/>
                    <a:lstStyle/>
                    <a:p>
                      <a:pPr algn="ctr"/>
                      <a:r>
                        <a:rPr sz="850" b="0" i="0">
                          <a:solidFill>
                            <a:srgbClr val="262626"/>
                          </a:solidFill>
                          <a:latin typeface="Arial"/>
                        </a:rPr>
                        <a:t>1,914</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2</a:t>
                      </a:r>
                    </a:p>
                  </a:txBody>
                  <a:tcPr>
                    <a:solidFill>
                      <a:srgbClr val="FFFFFF"/>
                    </a:solidFill>
                  </a:tcPr>
                </a:tc>
              </a:tr>
              <a:tr h="224028">
                <a:tc>
                  <a:txBody>
                    <a:bodyPr wrap="none"/>
                    <a:lstStyle/>
                    <a:p>
                      <a:pPr algn="ctr"/>
                      <a:r>
                        <a:rPr sz="850" b="1" i="0">
                          <a:solidFill>
                            <a:srgbClr val="262626"/>
                          </a:solidFill>
                          <a:latin typeface="Arial"/>
                        </a:rPr>
                        <a:t>96</a:t>
                      </a:r>
                    </a:p>
                  </a:txBody>
                  <a:tcPr>
                    <a:solidFill>
                      <a:srgbClr val="F2F2F2"/>
                    </a:solidFill>
                  </a:tcPr>
                </a:tc>
                <a:tc>
                  <a:txBody>
                    <a:bodyPr wrap="none"/>
                    <a:lstStyle/>
                    <a:p>
                      <a:pPr algn="l"/>
                      <a:r>
                        <a:rPr sz="850" b="0" i="0">
                          <a:solidFill>
                            <a:srgbClr val="262626"/>
                          </a:solidFill>
                          <a:latin typeface="Arial"/>
                        </a:rPr>
                        <a:t>Eleanor Beveridge</a:t>
                      </a:r>
                    </a:p>
                  </a:txBody>
                  <a:tcPr>
                    <a:solidFill>
                      <a:srgbClr val="F2F2F2"/>
                    </a:solidFill>
                  </a:tcPr>
                </a:tc>
                <a:tc>
                  <a:txBody>
                    <a:bodyPr wrap="none"/>
                    <a:lstStyle/>
                    <a:p>
                      <a:pPr algn="ctr"/>
                      <a:r>
                        <a:rPr sz="850" b="0" i="0">
                          <a:solidFill>
                            <a:srgbClr val="262626"/>
                          </a:solidFill>
                          <a:latin typeface="Arial"/>
                        </a:rPr>
                        <a:t>1,448</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4</a:t>
                      </a:r>
                    </a:p>
                  </a:txBody>
                  <a:tcPr>
                    <a:solidFill>
                      <a:srgbClr val="F2F2F2"/>
                    </a:solidFill>
                  </a:tcPr>
                </a:tc>
              </a:tr>
              <a:tr h="224028">
                <a:tc>
                  <a:txBody>
                    <a:bodyPr wrap="none"/>
                    <a:lstStyle/>
                    <a:p>
                      <a:pPr algn="ctr"/>
                      <a:r>
                        <a:rPr sz="850" b="1" i="0">
                          <a:solidFill>
                            <a:srgbClr val="262626"/>
                          </a:solidFill>
                          <a:latin typeface="Arial"/>
                        </a:rPr>
                        <a:t>102</a:t>
                      </a:r>
                    </a:p>
                  </a:txBody>
                  <a:tcPr>
                    <a:solidFill>
                      <a:srgbClr val="FFFFFF"/>
                    </a:solidFill>
                  </a:tcPr>
                </a:tc>
                <a:tc>
                  <a:txBody>
                    <a:bodyPr wrap="none"/>
                    <a:lstStyle/>
                    <a:p>
                      <a:pPr algn="l"/>
                      <a:r>
                        <a:rPr sz="850" b="0" i="0">
                          <a:solidFill>
                            <a:srgbClr val="262626"/>
                          </a:solidFill>
                          <a:latin typeface="Arial"/>
                        </a:rPr>
                        <a:t>Joy Gill</a:t>
                      </a:r>
                    </a:p>
                  </a:txBody>
                  <a:tcPr>
                    <a:solidFill>
                      <a:srgbClr val="FFFFFF"/>
                    </a:solidFill>
                  </a:tcPr>
                </a:tc>
                <a:tc>
                  <a:txBody>
                    <a:bodyPr wrap="none"/>
                    <a:lstStyle/>
                    <a:p>
                      <a:pPr algn="ctr"/>
                      <a:r>
                        <a:rPr sz="850" b="0" i="0">
                          <a:solidFill>
                            <a:srgbClr val="262626"/>
                          </a:solidFill>
                          <a:latin typeface="Arial"/>
                        </a:rPr>
                        <a:t>1,421</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r>
              <a:tr h="224028">
                <a:tc>
                  <a:txBody>
                    <a:bodyPr wrap="none"/>
                    <a:lstStyle/>
                    <a:p>
                      <a:pPr algn="ctr"/>
                      <a:r>
                        <a:rPr sz="850" b="1" i="0">
                          <a:solidFill>
                            <a:srgbClr val="262626"/>
                          </a:solidFill>
                          <a:latin typeface="Arial"/>
                        </a:rPr>
                        <a:t>114</a:t>
                      </a:r>
                    </a:p>
                  </a:txBody>
                  <a:tcPr>
                    <a:solidFill>
                      <a:srgbClr val="F2F2F2"/>
                    </a:solidFill>
                  </a:tcPr>
                </a:tc>
                <a:tc>
                  <a:txBody>
                    <a:bodyPr wrap="none"/>
                    <a:lstStyle/>
                    <a:p>
                      <a:pPr algn="l"/>
                      <a:r>
                        <a:rPr sz="850" b="0" i="0">
                          <a:solidFill>
                            <a:srgbClr val="262626"/>
                          </a:solidFill>
                          <a:latin typeface="Arial"/>
                        </a:rPr>
                        <a:t>Rachel Werking</a:t>
                      </a:r>
                    </a:p>
                  </a:txBody>
                  <a:tcPr>
                    <a:solidFill>
                      <a:srgbClr val="F2F2F2"/>
                    </a:solidFill>
                  </a:tcPr>
                </a:tc>
                <a:tc>
                  <a:txBody>
                    <a:bodyPr wrap="none"/>
                    <a:lstStyle/>
                    <a:p>
                      <a:pPr algn="ctr"/>
                      <a:r>
                        <a:rPr sz="850" b="0" i="0">
                          <a:solidFill>
                            <a:srgbClr val="262626"/>
                          </a:solidFill>
                          <a:latin typeface="Arial"/>
                        </a:rPr>
                        <a:t>1,328</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3</a:t>
                      </a:r>
                    </a:p>
                  </a:txBody>
                  <a:tcPr>
                    <a:solidFill>
                      <a:srgbClr val="F2F2F2"/>
                    </a:solidFill>
                  </a:tcPr>
                </a:tc>
              </a:tr>
              <a:tr h="224028">
                <a:tc>
                  <a:txBody>
                    <a:bodyPr wrap="none"/>
                    <a:lstStyle/>
                    <a:p>
                      <a:pPr algn="ctr"/>
                      <a:r>
                        <a:rPr sz="850" b="1" i="0">
                          <a:solidFill>
                            <a:srgbClr val="262626"/>
                          </a:solidFill>
                          <a:latin typeface="Arial"/>
                        </a:rPr>
                        <a:t>128</a:t>
                      </a:r>
                    </a:p>
                  </a:txBody>
                  <a:tcPr>
                    <a:solidFill>
                      <a:srgbClr val="FFFFFF"/>
                    </a:solidFill>
                  </a:tcPr>
                </a:tc>
                <a:tc>
                  <a:txBody>
                    <a:bodyPr wrap="none"/>
                    <a:lstStyle/>
                    <a:p>
                      <a:pPr algn="l"/>
                      <a:r>
                        <a:rPr sz="850" b="0" i="0">
                          <a:solidFill>
                            <a:srgbClr val="262626"/>
                          </a:solidFill>
                          <a:latin typeface="Arial"/>
                        </a:rPr>
                        <a:t>Michelle Magnani</a:t>
                      </a:r>
                    </a:p>
                  </a:txBody>
                  <a:tcPr>
                    <a:solidFill>
                      <a:srgbClr val="FFFFFF"/>
                    </a:solidFill>
                  </a:tcPr>
                </a:tc>
                <a:tc>
                  <a:txBody>
                    <a:bodyPr wrap="none"/>
                    <a:lstStyle/>
                    <a:p>
                      <a:pPr algn="ctr"/>
                      <a:r>
                        <a:rPr sz="850" b="0" i="0">
                          <a:solidFill>
                            <a:srgbClr val="262626"/>
                          </a:solidFill>
                          <a:latin typeface="Arial"/>
                        </a:rPr>
                        <a:t>1,242</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r>
              <a:tr h="224028">
                <a:tc>
                  <a:txBody>
                    <a:bodyPr wrap="none"/>
                    <a:lstStyle/>
                    <a:p>
                      <a:pPr algn="ctr"/>
                      <a:r>
                        <a:rPr sz="850" b="1" i="0">
                          <a:solidFill>
                            <a:srgbClr val="262626"/>
                          </a:solidFill>
                          <a:latin typeface="Arial"/>
                        </a:rPr>
                        <a:t>143</a:t>
                      </a:r>
                    </a:p>
                  </a:txBody>
                  <a:tcPr>
                    <a:solidFill>
                      <a:srgbClr val="F2F2F2"/>
                    </a:solidFill>
                  </a:tcPr>
                </a:tc>
                <a:tc>
                  <a:txBody>
                    <a:bodyPr wrap="none"/>
                    <a:lstStyle/>
                    <a:p>
                      <a:pPr algn="l"/>
                      <a:r>
                        <a:rPr sz="850" b="0" i="0">
                          <a:solidFill>
                            <a:srgbClr val="262626"/>
                          </a:solidFill>
                          <a:latin typeface="Arial"/>
                        </a:rPr>
                        <a:t>Faith Duncan</a:t>
                      </a:r>
                    </a:p>
                  </a:txBody>
                  <a:tcPr>
                    <a:solidFill>
                      <a:srgbClr val="F2F2F2"/>
                    </a:solidFill>
                  </a:tcPr>
                </a:tc>
                <a:tc>
                  <a:txBody>
                    <a:bodyPr wrap="none"/>
                    <a:lstStyle/>
                    <a:p>
                      <a:pPr algn="ctr"/>
                      <a:r>
                        <a:rPr sz="850" b="0" i="0">
                          <a:solidFill>
                            <a:srgbClr val="262626"/>
                          </a:solidFill>
                          <a:latin typeface="Arial"/>
                        </a:rPr>
                        <a:t>1,156</a:t>
                      </a:r>
                    </a:p>
                  </a:txBody>
                  <a:tcPr>
                    <a:solidFill>
                      <a:srgbClr val="F2F2F2"/>
                    </a:solidFill>
                  </a:tcPr>
                </a:tc>
                <a:tc>
                  <a:txBody>
                    <a:bodyPr wrap="none"/>
                    <a:lstStyle/>
                    <a:p>
                      <a:pPr algn="ctr"/>
                      <a:r>
                        <a:rPr sz="850" b="0" i="0">
                          <a:solidFill>
                            <a:srgbClr val="262626"/>
                          </a:solidFill>
                          <a:latin typeface="Arial"/>
                        </a:rPr>
                        <a:t>6</a:t>
                      </a:r>
                    </a:p>
                  </a:txBody>
                  <a:tcPr>
                    <a:solidFill>
                      <a:srgbClr val="F2F2F2"/>
                    </a:solidFill>
                  </a:tcPr>
                </a:tc>
                <a:tc>
                  <a:txBody>
                    <a:bodyPr wrap="none"/>
                    <a:lstStyle/>
                    <a:p>
                      <a:pPr algn="ctr"/>
                      <a:r>
                        <a:rPr sz="850" b="0" i="0">
                          <a:solidFill>
                            <a:srgbClr val="262626"/>
                          </a:solidFill>
                          <a:latin typeface="Arial"/>
                        </a:rPr>
                        <a:t>—</a:t>
                      </a:r>
                    </a:p>
                  </a:txBody>
                  <a:tcPr>
                    <a:solidFill>
                      <a:srgbClr val="F2F2F2"/>
                    </a:solidFill>
                  </a:tcPr>
                </a:tc>
              </a:tr>
              <a:tr h="224028">
                <a:tc>
                  <a:txBody>
                    <a:bodyPr wrap="none"/>
                    <a:lstStyle/>
                    <a:p>
                      <a:pPr algn="ctr"/>
                      <a:r>
                        <a:rPr sz="850" b="1" i="0">
                          <a:solidFill>
                            <a:srgbClr val="262626"/>
                          </a:solidFill>
                          <a:latin typeface="Arial"/>
                        </a:rPr>
                        <a:t>163</a:t>
                      </a:r>
                    </a:p>
                  </a:txBody>
                  <a:tcPr>
                    <a:solidFill>
                      <a:srgbClr val="FFFFFF"/>
                    </a:solidFill>
                  </a:tcPr>
                </a:tc>
                <a:tc>
                  <a:txBody>
                    <a:bodyPr wrap="none"/>
                    <a:lstStyle/>
                    <a:p>
                      <a:pPr algn="l"/>
                      <a:r>
                        <a:rPr sz="850" b="0" i="0">
                          <a:solidFill>
                            <a:srgbClr val="262626"/>
                          </a:solidFill>
                          <a:latin typeface="Arial"/>
                        </a:rPr>
                        <a:t>Katie McCune</a:t>
                      </a:r>
                    </a:p>
                  </a:txBody>
                  <a:tcPr>
                    <a:solidFill>
                      <a:srgbClr val="FFFFFF"/>
                    </a:solidFill>
                  </a:tcPr>
                </a:tc>
                <a:tc>
                  <a:txBody>
                    <a:bodyPr wrap="none"/>
                    <a:lstStyle/>
                    <a:p>
                      <a:pPr algn="ctr"/>
                      <a:r>
                        <a:rPr sz="850" b="0" i="0">
                          <a:solidFill>
                            <a:srgbClr val="262626"/>
                          </a:solidFill>
                          <a:latin typeface="Arial"/>
                        </a:rPr>
                        <a:t>1,042</a:t>
                      </a:r>
                    </a:p>
                  </a:txBody>
                  <a:tcPr>
                    <a:solidFill>
                      <a:srgbClr val="FFFFFF"/>
                    </a:solidFill>
                  </a:tcPr>
                </a:tc>
                <a:tc>
                  <a:txBody>
                    <a:bodyPr wrap="none"/>
                    <a:lstStyle/>
                    <a:p>
                      <a:pPr algn="ctr"/>
                      <a:r>
                        <a:rPr sz="850" b="0" i="0">
                          <a:solidFill>
                            <a:srgbClr val="262626"/>
                          </a:solidFill>
                          <a:latin typeface="Arial"/>
                        </a:rPr>
                        <a:t>6</a:t>
                      </a:r>
                    </a:p>
                  </a:txBody>
                  <a:tcPr>
                    <a:solidFill>
                      <a:srgbClr val="FFFFFF"/>
                    </a:solidFill>
                  </a:tcPr>
                </a:tc>
                <a:tc>
                  <a:txBody>
                    <a:bodyPr wrap="none"/>
                    <a:lstStyle/>
                    <a:p>
                      <a:pPr algn="ctr"/>
                      <a:r>
                        <a:rPr sz="850" b="0" i="0">
                          <a:solidFill>
                            <a:srgbClr val="262626"/>
                          </a:solidFill>
                          <a:latin typeface="Arial"/>
                        </a:rPr>
                        <a:t>1</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Olympic Qualification Pace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66476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88720"/>
            <a:ext cx="11430000" cy="329184"/>
          </a:xfrm>
          <a:prstGeom prst="rect">
            <a:avLst/>
          </a:prstGeom>
          <a:noFill/>
        </p:spPr>
        <p:txBody>
          <a:bodyPr wrap="square">
            <a:spAutoFit/>
          </a:bodyPr>
          <a:lstStyle/>
          <a:p>
            <a:pPr algn="ctr"/>
            <a:r>
              <a:rPr sz="1500" b="1" i="0">
                <a:solidFill>
                  <a:srgbClr val="FFFFFF"/>
                </a:solidFill>
                <a:latin typeface="Arial"/>
              </a:rPr>
              <a:t>Paris 2024 OQR cutoff (30th): 3,626.69 pts   ÷   12-event cap =   302 pts / event on pace</a:t>
            </a:r>
          </a:p>
        </p:txBody>
      </p:sp>
      <p:sp>
        <p:nvSpPr>
          <p:cNvPr id="10" name="TextBox 9"/>
          <p:cNvSpPr txBox="1"/>
          <p:nvPr/>
        </p:nvSpPr>
        <p:spPr>
          <a:xfrm>
            <a:off x="365760" y="1458468"/>
            <a:ext cx="11430000" cy="329184"/>
          </a:xfrm>
          <a:prstGeom prst="rect">
            <a:avLst/>
          </a:prstGeom>
          <a:noFill/>
        </p:spPr>
        <p:txBody>
          <a:bodyPr wrap="square">
            <a:spAutoFit/>
          </a:bodyPr>
          <a:lstStyle/>
          <a:p>
            <a:pPr algn="ctr"/>
            <a:r>
              <a:rPr sz="1100" b="0" i="1">
                <a:solidFill>
                  <a:srgbClr val="AABBDD"/>
                </a:solidFill>
                <a:latin typeface="Arial"/>
              </a:rPr>
              <a:t>An athlete who averages ~302 pts per event across their best 12 events is on pace to clear the LA 2028 qualifying threshold.</a:t>
            </a:r>
          </a:p>
        </p:txBody>
      </p:sp>
      <p:sp>
        <p:nvSpPr>
          <p:cNvPr id="11" name="Rectangle 10"/>
          <p:cNvSpPr/>
          <p:nvPr/>
        </p:nvSpPr>
        <p:spPr>
          <a:xfrm>
            <a:off x="274320" y="181234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839772"/>
            <a:ext cx="11430000" cy="237744"/>
          </a:xfrm>
          <a:prstGeom prst="rect">
            <a:avLst/>
          </a:prstGeom>
          <a:noFill/>
        </p:spPr>
        <p:txBody>
          <a:bodyPr wrap="square">
            <a:spAutoFit/>
          </a:bodyPr>
          <a:lstStyle/>
          <a:p>
            <a:pPr algn="ctr"/>
            <a:r>
              <a:rPr sz="1100" b="1" i="0">
                <a:solidFill>
                  <a:srgbClr val="FFFFFF"/>
                </a:solidFill>
                <a:latin typeface="Arial"/>
              </a:rPr>
              <a:t>FINISH POSITION AT EACH TIER THAT HITS 302-PT PACE</a:t>
            </a:r>
          </a:p>
        </p:txBody>
      </p:sp>
      <p:graphicFrame>
        <p:nvGraphicFramePr>
          <p:cNvPr id="13" name="Table 12"/>
          <p:cNvGraphicFramePr>
            <a:graphicFrameLocks noGrp="1"/>
          </p:cNvGraphicFramePr>
          <p:nvPr/>
        </p:nvGraphicFramePr>
        <p:xfrm>
          <a:off x="274320" y="2196388"/>
          <a:ext cx="11640309" cy="1371600"/>
        </p:xfrm>
        <a:graphic>
          <a:graphicData uri="http://schemas.openxmlformats.org/drawingml/2006/table">
            <a:tbl>
              <a:tblPr firstRow="1" bandRow="1">
                <a:tableStyleId>{5C22544A-7EE6-4342-B048-85BDC9FD1C3A}</a:tableStyleId>
              </a:tblPr>
              <a:tblGrid>
                <a:gridCol w="4399178"/>
                <a:gridCol w="1375257"/>
                <a:gridCol w="2200046"/>
                <a:gridCol w="2749600"/>
                <a:gridCol w="916228"/>
              </a:tblGrid>
              <a:tr h="274320">
                <a:tc>
                  <a:txBody>
                    <a:bodyPr wrap="none"/>
                    <a:lstStyle/>
                    <a:p>
                      <a:pPr algn="l"/>
                      <a:r>
                        <a:rPr sz="950" b="1" i="0">
                          <a:solidFill>
                            <a:srgbClr val="FFFFFF"/>
                          </a:solidFill>
                          <a:latin typeface="Arial"/>
                        </a:rPr>
                        <a:t>Tier</a:t>
                      </a:r>
                    </a:p>
                  </a:txBody>
                  <a:tcPr>
                    <a:solidFill>
                      <a:srgbClr val="002060"/>
                    </a:solidFill>
                  </a:tcPr>
                </a:tc>
                <a:tc>
                  <a:txBody>
                    <a:bodyPr wrap="none"/>
                    <a:lstStyle/>
                    <a:p>
                      <a:pPr algn="ctr"/>
                      <a:r>
                        <a:rPr sz="950" b="1" i="0">
                          <a:solidFill>
                            <a:srgbClr val="FFFFFF"/>
                          </a:solidFill>
                          <a:latin typeface="Arial"/>
                        </a:rPr>
                        <a:t>Win pts</a:t>
                      </a:r>
                    </a:p>
                  </a:txBody>
                  <a:tcPr>
                    <a:solidFill>
                      <a:srgbClr val="002060"/>
                    </a:solidFill>
                  </a:tcPr>
                </a:tc>
                <a:tc>
                  <a:txBody>
                    <a:bodyPr wrap="none"/>
                    <a:lstStyle/>
                    <a:p>
                      <a:pPr algn="ctr"/>
                      <a:r>
                        <a:rPr sz="950" b="1" i="0">
                          <a:solidFill>
                            <a:srgbClr val="FFFFFF"/>
                          </a:solidFill>
                          <a:latin typeface="Arial"/>
                        </a:rPr>
                        <a:t>Last on-pace pos</a:t>
                      </a:r>
                    </a:p>
                  </a:txBody>
                  <a:tcPr>
                    <a:solidFill>
                      <a:srgbClr val="002060"/>
                    </a:solidFill>
                  </a:tcPr>
                </a:tc>
                <a:tc>
                  <a:txBody>
                    <a:bodyPr wrap="none"/>
                    <a:lstStyle/>
                    <a:p>
                      <a:pPr algn="ctr"/>
                      <a:r>
                        <a:rPr sz="950" b="1" i="0">
                          <a:solidFill>
                            <a:srgbClr val="FFFFFF"/>
                          </a:solidFill>
                          <a:latin typeface="Arial"/>
                        </a:rPr>
                        <a:t>First off-pace pos (pts)</a:t>
                      </a:r>
                    </a:p>
                  </a:txBody>
                  <a:tcPr>
                    <a:solidFill>
                      <a:srgbClr val="002060"/>
                    </a:solidFill>
                  </a:tcPr>
                </a:tc>
                <a:tc>
                  <a:txBody>
                    <a:bodyPr wrap="none"/>
                    <a:lstStyle/>
                    <a:p>
                      <a:pPr algn="ctr"/>
                      <a:r>
                        <a:rPr sz="950" b="1" i="0">
                          <a:solidFill>
                            <a:srgbClr val="FFFFFF"/>
                          </a:solidFill>
                          <a:latin typeface="Arial"/>
                        </a:rPr>
                        <a:t>Verdict</a:t>
                      </a:r>
                    </a:p>
                  </a:txBody>
                  <a:tcPr>
                    <a:solidFill>
                      <a:srgbClr val="002060"/>
                    </a:solidFill>
                  </a:tcPr>
                </a:tc>
              </a:tr>
              <a:tr h="274320">
                <a:tc>
                  <a:txBody>
                    <a:bodyPr wrap="none"/>
                    <a:lstStyle/>
                    <a:p>
                      <a:pPr algn="l"/>
                      <a:r>
                        <a:rPr sz="950" b="0" i="0">
                          <a:solidFill>
                            <a:srgbClr val="262626"/>
                          </a:solidFill>
                          <a:latin typeface="Arial"/>
                        </a:rPr>
                        <a:t>World Championship Series</a:t>
                      </a:r>
                    </a:p>
                  </a:txBody>
                  <a:tcPr>
                    <a:solidFill>
                      <a:srgbClr val="FFFFFF"/>
                    </a:solidFill>
                  </a:tcPr>
                </a:tc>
                <a:tc>
                  <a:txBody>
                    <a:bodyPr wrap="none"/>
                    <a:lstStyle/>
                    <a:p>
                      <a:pPr algn="ctr"/>
                      <a:r>
                        <a:rPr sz="950" b="1" i="0">
                          <a:solidFill>
                            <a:srgbClr val="262626"/>
                          </a:solidFill>
                          <a:latin typeface="Arial"/>
                        </a:rPr>
                        <a:t>1000</a:t>
                      </a:r>
                    </a:p>
                  </a:txBody>
                  <a:tcPr>
                    <a:solidFill>
                      <a:srgbClr val="FFFFFF"/>
                    </a:solidFill>
                  </a:tcPr>
                </a:tc>
                <a:tc>
                  <a:txBody>
                    <a:bodyPr wrap="none"/>
                    <a:lstStyle/>
                    <a:p>
                      <a:pPr algn="ctr"/>
                      <a:r>
                        <a:rPr sz="950" b="1" i="0">
                          <a:solidFill>
                            <a:srgbClr val="262626"/>
                          </a:solidFill>
                          <a:latin typeface="Arial"/>
                        </a:rPr>
                        <a:t>#16</a:t>
                      </a:r>
                    </a:p>
                  </a:txBody>
                  <a:tcPr>
                    <a:solidFill>
                      <a:srgbClr val="FFFFFF"/>
                    </a:solidFill>
                  </a:tcPr>
                </a:tc>
                <a:tc>
                  <a:txBody>
                    <a:bodyPr wrap="none"/>
                    <a:lstStyle/>
                    <a:p>
                      <a:pPr algn="ctr"/>
                      <a:r>
                        <a:rPr sz="950" b="0" i="0">
                          <a:solidFill>
                            <a:srgbClr val="262626"/>
                          </a:solidFill>
                          <a:latin typeface="Arial"/>
                        </a:rPr>
                        <a:t>#17 (287 pts)</a:t>
                      </a:r>
                    </a:p>
                  </a:txBody>
                  <a:tcPr>
                    <a:solidFill>
                      <a:srgbClr val="FFFFFF"/>
                    </a:solidFill>
                  </a:tcPr>
                </a:tc>
                <a:tc>
                  <a:txBody>
                    <a:bodyPr wrap="none"/>
                    <a:lstStyle/>
                    <a:p>
                      <a:pPr algn="ctr"/>
                      <a:r>
                        <a:rPr sz="950" b="1" i="0">
                          <a:solidFill>
                            <a:srgbClr val="1B7F3A"/>
                          </a:solidFill>
                          <a:latin typeface="Arial"/>
                        </a:rPr>
                        <a:t>Top 16</a:t>
                      </a:r>
                    </a:p>
                  </a:txBody>
                  <a:tcPr>
                    <a:solidFill>
                      <a:srgbClr val="FFFFFF"/>
                    </a:solidFill>
                  </a:tcPr>
                </a:tc>
              </a:tr>
              <a:tr h="274320">
                <a:tc>
                  <a:txBody>
                    <a:bodyPr wrap="none"/>
                    <a:lstStyle/>
                    <a:p>
                      <a:pPr algn="l"/>
                      <a:r>
                        <a:rPr sz="950" b="0" i="0">
                          <a:solidFill>
                            <a:srgbClr val="262626"/>
                          </a:solidFill>
                          <a:latin typeface="Arial"/>
                        </a:rPr>
                        <a:t>World Cup</a:t>
                      </a:r>
                    </a:p>
                  </a:txBody>
                  <a:tcPr>
                    <a:solidFill>
                      <a:srgbClr val="F2F2F2"/>
                    </a:solidFill>
                  </a:tcPr>
                </a:tc>
                <a:tc>
                  <a:txBody>
                    <a:bodyPr wrap="none"/>
                    <a:lstStyle/>
                    <a:p>
                      <a:pPr algn="ctr"/>
                      <a:r>
                        <a:rPr sz="950" b="1" i="0">
                          <a:solidFill>
                            <a:srgbClr val="262626"/>
                          </a:solidFill>
                          <a:latin typeface="Arial"/>
                        </a:rPr>
                        <a:t>500</a:t>
                      </a:r>
                    </a:p>
                  </a:txBody>
                  <a:tcPr>
                    <a:solidFill>
                      <a:srgbClr val="F2F2F2"/>
                    </a:solidFill>
                  </a:tcPr>
                </a:tc>
                <a:tc>
                  <a:txBody>
                    <a:bodyPr wrap="none"/>
                    <a:lstStyle/>
                    <a:p>
                      <a:pPr algn="ctr"/>
                      <a:r>
                        <a:rPr sz="950" b="1" i="0">
                          <a:solidFill>
                            <a:srgbClr val="262626"/>
                          </a:solidFill>
                          <a:latin typeface="Arial"/>
                        </a:rPr>
                        <a:t>#7</a:t>
                      </a:r>
                    </a:p>
                  </a:txBody>
                  <a:tcPr>
                    <a:solidFill>
                      <a:srgbClr val="F2F2F2"/>
                    </a:solidFill>
                  </a:tcPr>
                </a:tc>
                <a:tc>
                  <a:txBody>
                    <a:bodyPr wrap="none"/>
                    <a:lstStyle/>
                    <a:p>
                      <a:pPr algn="ctr"/>
                      <a:r>
                        <a:rPr sz="950" b="0" i="0">
                          <a:solidFill>
                            <a:srgbClr val="262626"/>
                          </a:solidFill>
                          <a:latin typeface="Arial"/>
                        </a:rPr>
                        <a:t>#8 (290 pts)</a:t>
                      </a:r>
                    </a:p>
                  </a:txBody>
                  <a:tcPr>
                    <a:solidFill>
                      <a:srgbClr val="F2F2F2"/>
                    </a:solidFill>
                  </a:tcPr>
                </a:tc>
                <a:tc>
                  <a:txBody>
                    <a:bodyPr wrap="none"/>
                    <a:lstStyle/>
                    <a:p>
                      <a:pPr algn="ctr"/>
                      <a:r>
                        <a:rPr sz="950" b="1" i="0">
                          <a:solidFill>
                            <a:srgbClr val="1B7F3A"/>
                          </a:solidFill>
                          <a:latin typeface="Arial"/>
                        </a:rPr>
                        <a:t>Top 7</a:t>
                      </a:r>
                    </a:p>
                  </a:txBody>
                  <a:tcPr>
                    <a:solidFill>
                      <a:srgbClr val="F2F2F2"/>
                    </a:solidFill>
                  </a:tcPr>
                </a:tc>
              </a:tr>
              <a:tr h="274320">
                <a:tc>
                  <a:txBody>
                    <a:bodyPr wrap="none"/>
                    <a:lstStyle/>
                    <a:p>
                      <a:pPr algn="l"/>
                      <a:r>
                        <a:rPr sz="950" b="0" i="0">
                          <a:solidFill>
                            <a:srgbClr val="262626"/>
                          </a:solidFill>
                          <a:latin typeface="Arial"/>
                        </a:rPr>
                        <a:t>Continental Championships (Americas)</a:t>
                      </a:r>
                    </a:p>
                  </a:txBody>
                  <a:tcPr>
                    <a:solidFill>
                      <a:srgbClr val="FFFFFF"/>
                    </a:solidFill>
                  </a:tcPr>
                </a:tc>
                <a:tc>
                  <a:txBody>
                    <a:bodyPr wrap="none"/>
                    <a:lstStyle/>
                    <a:p>
                      <a:pPr algn="ctr"/>
                      <a:r>
                        <a:rPr sz="950" b="1" i="0">
                          <a:solidFill>
                            <a:srgbClr val="262626"/>
                          </a:solidFill>
                          <a:latin typeface="Arial"/>
                        </a:rPr>
                        <a:t>590</a:t>
                      </a:r>
                    </a:p>
                  </a:txBody>
                  <a:tcPr>
                    <a:solidFill>
                      <a:srgbClr val="FFFFFF"/>
                    </a:solidFill>
                  </a:tcPr>
                </a:tc>
                <a:tc>
                  <a:txBody>
                    <a:bodyPr wrap="none"/>
                    <a:lstStyle/>
                    <a:p>
                      <a:pPr algn="ctr"/>
                      <a:r>
                        <a:rPr sz="950" b="1" i="0">
                          <a:solidFill>
                            <a:srgbClr val="262626"/>
                          </a:solidFill>
                          <a:latin typeface="Arial"/>
                        </a:rPr>
                        <a:t>#9</a:t>
                      </a:r>
                    </a:p>
                  </a:txBody>
                  <a:tcPr>
                    <a:solidFill>
                      <a:srgbClr val="FFFFFF"/>
                    </a:solidFill>
                  </a:tcPr>
                </a:tc>
                <a:tc>
                  <a:txBody>
                    <a:bodyPr wrap="none"/>
                    <a:lstStyle/>
                    <a:p>
                      <a:pPr algn="ctr"/>
                      <a:r>
                        <a:rPr sz="950" b="0" i="0">
                          <a:solidFill>
                            <a:srgbClr val="262626"/>
                          </a:solidFill>
                          <a:latin typeface="Arial"/>
                        </a:rPr>
                        <a:t>#10 (293 pts)</a:t>
                      </a:r>
                    </a:p>
                  </a:txBody>
                  <a:tcPr>
                    <a:solidFill>
                      <a:srgbClr val="FFFFFF"/>
                    </a:solidFill>
                  </a:tcPr>
                </a:tc>
                <a:tc>
                  <a:txBody>
                    <a:bodyPr wrap="none"/>
                    <a:lstStyle/>
                    <a:p>
                      <a:pPr algn="ctr"/>
                      <a:r>
                        <a:rPr sz="950" b="1" i="0">
                          <a:solidFill>
                            <a:srgbClr val="1B7F3A"/>
                          </a:solidFill>
                          <a:latin typeface="Arial"/>
                        </a:rPr>
                        <a:t>Top 9</a:t>
                      </a:r>
                    </a:p>
                  </a:txBody>
                  <a:tcPr>
                    <a:solidFill>
                      <a:srgbClr val="FFFFFF"/>
                    </a:solidFill>
                  </a:tcPr>
                </a:tc>
              </a:tr>
              <a:tr h="274320">
                <a:tc>
                  <a:txBody>
                    <a:bodyPr wrap="none"/>
                    <a:lstStyle/>
                    <a:p>
                      <a:pPr algn="l"/>
                      <a:r>
                        <a:rPr sz="950" b="0" i="0">
                          <a:solidFill>
                            <a:srgbClr val="262626"/>
                          </a:solidFill>
                          <a:latin typeface="Arial"/>
                        </a:rPr>
                        <a:t>Continental Cup (Americas)</a:t>
                      </a:r>
                    </a:p>
                  </a:txBody>
                  <a:tcPr>
                    <a:solidFill>
                      <a:srgbClr val="F2F2F2"/>
                    </a:solidFill>
                  </a:tcPr>
                </a:tc>
                <a:tc>
                  <a:txBody>
                    <a:bodyPr wrap="none"/>
                    <a:lstStyle/>
                    <a:p>
                      <a:pPr algn="ctr"/>
                      <a:r>
                        <a:rPr sz="950" b="1" i="0">
                          <a:solidFill>
                            <a:srgbClr val="262626"/>
                          </a:solidFill>
                          <a:latin typeface="Arial"/>
                        </a:rPr>
                        <a:t>280</a:t>
                      </a:r>
                    </a:p>
                  </a:txBody>
                  <a:tcPr>
                    <a:solidFill>
                      <a:srgbClr val="F2F2F2"/>
                    </a:solidFill>
                  </a:tcPr>
                </a:tc>
                <a:tc>
                  <a:txBody>
                    <a:bodyPr wrap="none"/>
                    <a:lstStyle/>
                    <a:p>
                      <a:pPr algn="ctr"/>
                      <a:r>
                        <a:rPr sz="950" b="1" i="0">
                          <a:solidFill>
                            <a:srgbClr val="262626"/>
                          </a:solidFill>
                          <a:latin typeface="Arial"/>
                        </a:rPr>
                        <a:t>None (win = 280)</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c>
                  <a:txBody>
                    <a:bodyPr wrap="none"/>
                    <a:lstStyle/>
                    <a:p>
                      <a:pPr algn="ctr"/>
                      <a:r>
                        <a:rPr sz="950" b="1" i="0">
                          <a:solidFill>
                            <a:srgbClr val="C00000"/>
                          </a:solidFill>
                          <a:latin typeface="Arial"/>
                        </a:rPr>
                        <a:t>Not achievable</a:t>
                      </a:r>
                    </a:p>
                  </a:txBody>
                  <a:tcPr>
                    <a:solidFill>
                      <a:srgbClr val="F2F2F2"/>
                    </a:solidFill>
                  </a:tcPr>
                </a:tc>
              </a:tr>
            </a:tbl>
          </a:graphicData>
        </a:graphic>
      </p:graphicFrame>
      <p:sp>
        <p:nvSpPr>
          <p:cNvPr id="14" name="Rectangle 13"/>
          <p:cNvSpPr/>
          <p:nvPr/>
        </p:nvSpPr>
        <p:spPr>
          <a:xfrm>
            <a:off x="27432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3639312"/>
            <a:ext cx="5806440" cy="219456"/>
          </a:xfrm>
          <a:prstGeom prst="rect">
            <a:avLst/>
          </a:prstGeom>
          <a:noFill/>
        </p:spPr>
        <p:txBody>
          <a:bodyPr wrap="square">
            <a:spAutoFit/>
          </a:bodyPr>
          <a:lstStyle/>
          <a:p>
            <a:pPr algn="ctr"/>
            <a:r>
              <a:rPr sz="1100" b="1" i="0">
                <a:solidFill>
                  <a:srgbClr val="FFFFFF"/>
                </a:solidFill>
                <a:latin typeface="Arial"/>
              </a:rPr>
              <a:t>USA MEN</a:t>
            </a:r>
          </a:p>
        </p:txBody>
      </p:sp>
      <p:graphicFrame>
        <p:nvGraphicFramePr>
          <p:cNvPr id="16" name="Table 15"/>
          <p:cNvGraphicFramePr>
            <a:graphicFrameLocks noGrp="1"/>
          </p:cNvGraphicFramePr>
          <p:nvPr/>
        </p:nvGraphicFramePr>
        <p:xfrm>
          <a:off x="274320" y="3931920"/>
          <a:ext cx="5806440" cy="2414016"/>
        </p:xfrm>
        <a:graphic>
          <a:graphicData uri="http://schemas.openxmlformats.org/drawingml/2006/table">
            <a:tbl>
              <a:tblPr firstRow="1" bandRow="1">
                <a:tableStyleId>{5C22544A-7EE6-4342-B048-85BDC9FD1C3A}</a:tableStyleId>
              </a:tblPr>
              <a:tblGrid>
                <a:gridCol w="411480"/>
                <a:gridCol w="1920240"/>
                <a:gridCol w="731520"/>
                <a:gridCol w="502920"/>
                <a:gridCol w="411480"/>
                <a:gridCol w="411480"/>
                <a:gridCol w="685800"/>
                <a:gridCol w="731520"/>
              </a:tblGrid>
              <a:tr h="201168">
                <a:tc>
                  <a:txBody>
                    <a:bodyPr wrap="none"/>
                    <a:lstStyle/>
                    <a:p>
                      <a:pPr algn="ctr"/>
                      <a:r>
                        <a:rPr sz="850" b="1" i="0">
                          <a:solidFill>
                            <a:srgbClr val="FFFFFF"/>
                          </a:solidFill>
                          <a:latin typeface="Arial"/>
                        </a:rPr>
                        <a:t>Rk</a:t>
                      </a:r>
                    </a:p>
                  </a:txBody>
                  <a:tcPr>
                    <a:solidFill>
                      <a:srgbClr val="002060"/>
                    </a:solidFill>
                  </a:tcPr>
                </a:tc>
                <a:tc>
                  <a:txBody>
                    <a:bodyPr wrap="none"/>
                    <a:lstStyle/>
                    <a:p>
                      <a:pPr algn="l"/>
                      <a:r>
                        <a:rPr sz="850" b="1" i="0">
                          <a:solidFill>
                            <a:srgbClr val="FFFFFF"/>
                          </a:solidFill>
                          <a:latin typeface="Arial"/>
                        </a:rPr>
                        <a:t>Athlete</a:t>
                      </a:r>
                    </a:p>
                  </a:txBody>
                  <a:tcPr>
                    <a:solidFill>
                      <a:srgbClr val="002060"/>
                    </a:solidFill>
                  </a:tcPr>
                </a:tc>
                <a:tc>
                  <a:txBody>
                    <a:bodyPr wrap="none"/>
                    <a:lstStyle/>
                    <a:p>
                      <a:pPr algn="ctr"/>
                      <a:r>
                        <a:rPr sz="850" b="1" i="0">
                          <a:solidFill>
                            <a:srgbClr val="FFFFFF"/>
                          </a:solidFill>
                          <a:latin typeface="Arial"/>
                        </a:rPr>
                        <a:t>Total</a:t>
                      </a:r>
                    </a:p>
                  </a:txBody>
                  <a:tcPr>
                    <a:solidFill>
                      <a:srgbClr val="002060"/>
                    </a:solidFill>
                  </a:tcPr>
                </a:tc>
                <a:tc>
                  <a:txBody>
                    <a:bodyPr wrap="none"/>
                    <a:lstStyle/>
                    <a:p>
                      <a:pPr algn="ctr"/>
                      <a:r>
                        <a:rPr sz="850" b="1" i="0">
                          <a:solidFill>
                            <a:srgbClr val="FFFFFF"/>
                          </a:solidFill>
                          <a:latin typeface="Arial"/>
                        </a:rPr>
                        <a:t>Races</a:t>
                      </a:r>
                    </a:p>
                  </a:txBody>
                  <a:tcPr>
                    <a:solidFill>
                      <a:srgbClr val="002060"/>
                    </a:solidFill>
                  </a:tcPr>
                </a:tc>
                <a:tc>
                  <a:txBody>
                    <a:bodyPr wrap="none"/>
                    <a:lstStyle/>
                    <a:p>
                      <a:pPr algn="ctr"/>
                      <a:r>
                        <a:rPr sz="850" b="1" i="0">
                          <a:solidFill>
                            <a:srgbClr val="FFFFFF"/>
                          </a:solidFill>
                          <a:latin typeface="Arial"/>
                        </a:rPr>
                        <a:t>On</a:t>
                      </a:r>
                    </a:p>
                  </a:txBody>
                  <a:tcPr>
                    <a:solidFill>
                      <a:srgbClr val="002060"/>
                    </a:solidFill>
                  </a:tcPr>
                </a:tc>
                <a:tc>
                  <a:txBody>
                    <a:bodyPr wrap="none"/>
                    <a:lstStyle/>
                    <a:p>
                      <a:pPr algn="ctr"/>
                      <a:r>
                        <a:rPr sz="850" b="1" i="0">
                          <a:solidFill>
                            <a:srgbClr val="FFFFFF"/>
                          </a:solidFill>
                          <a:latin typeface="Arial"/>
                        </a:rPr>
                        <a:t>Off</a:t>
                      </a:r>
                    </a:p>
                  </a:txBody>
                  <a:tcPr>
                    <a:solidFill>
                      <a:srgbClr val="002060"/>
                    </a:solidFill>
                  </a:tcPr>
                </a:tc>
                <a:tc>
                  <a:txBody>
                    <a:bodyPr wrap="none"/>
                    <a:lstStyle/>
                    <a:p>
                      <a:pPr algn="ctr"/>
                      <a:r>
                        <a:rPr sz="850" b="1" i="0">
                          <a:solidFill>
                            <a:srgbClr val="FFFFFF"/>
                          </a:solidFill>
                          <a:latin typeface="Arial"/>
                        </a:rPr>
                        <a:t>Pace</a:t>
                      </a:r>
                    </a:p>
                  </a:txBody>
                  <a:tcPr>
                    <a:solidFill>
                      <a:srgbClr val="002060"/>
                    </a:solidFill>
                  </a:tcPr>
                </a:tc>
                <a:tc>
                  <a:txBody>
                    <a:bodyPr wrap="none"/>
                    <a:lstStyle/>
                    <a:p>
                      <a:pPr algn="ctr"/>
                      <a:r>
                        <a:rPr sz="850" b="1" i="0">
                          <a:solidFill>
                            <a:srgbClr val="FFFFFF"/>
                          </a:solidFill>
                          <a:latin typeface="Arial"/>
                        </a:rPr>
                        <a:t>Proj @12</a:t>
                      </a:r>
                    </a:p>
                  </a:txBody>
                  <a:tcPr>
                    <a:solidFill>
                      <a:srgbClr val="002060"/>
                    </a:solidFill>
                  </a:tcPr>
                </a:tc>
              </a:tr>
              <a:tr h="201168">
                <a:tc>
                  <a:txBody>
                    <a:bodyPr wrap="none"/>
                    <a:lstStyle/>
                    <a:p>
                      <a:pPr algn="ctr"/>
                      <a:r>
                        <a:rPr sz="750" b="1" i="0">
                          <a:solidFill>
                            <a:srgbClr val="262626"/>
                          </a:solidFill>
                          <a:latin typeface="Arial"/>
                        </a:rPr>
                        <a:t>17</a:t>
                      </a:r>
                    </a:p>
                  </a:txBody>
                  <a:tcPr>
                    <a:solidFill>
                      <a:srgbClr val="FFFFFF"/>
                    </a:solidFill>
                  </a:tcPr>
                </a:tc>
                <a:tc>
                  <a:txBody>
                    <a:bodyPr wrap="none"/>
                    <a:lstStyle/>
                    <a:p>
                      <a:pPr algn="l"/>
                      <a:r>
                        <a:rPr sz="750" b="0" i="0">
                          <a:solidFill>
                            <a:srgbClr val="262626"/>
                          </a:solidFill>
                          <a:latin typeface="Arial"/>
                        </a:rPr>
                        <a:t>Sullivan Middaugh</a:t>
                      </a:r>
                    </a:p>
                  </a:txBody>
                  <a:tcPr>
                    <a:solidFill>
                      <a:srgbClr val="FFFFFF"/>
                    </a:solidFill>
                  </a:tcPr>
                </a:tc>
                <a:tc>
                  <a:txBody>
                    <a:bodyPr wrap="none"/>
                    <a:lstStyle/>
                    <a:p>
                      <a:pPr algn="ctr"/>
                      <a:r>
                        <a:rPr sz="750" b="1" i="0">
                          <a:solidFill>
                            <a:srgbClr val="262626"/>
                          </a:solidFill>
                          <a:latin typeface="Arial"/>
                        </a:rPr>
                        <a:t>1,573</a:t>
                      </a:r>
                    </a:p>
                  </a:txBody>
                  <a:tcPr>
                    <a:solidFill>
                      <a:srgbClr val="FFFFFF"/>
                    </a:solidFill>
                  </a:tcPr>
                </a:tc>
                <a:tc>
                  <a:txBody>
                    <a:bodyPr wrap="none"/>
                    <a:lstStyle/>
                    <a:p>
                      <a:pPr algn="ctr"/>
                      <a:r>
                        <a:rPr sz="750" b="0" i="0">
                          <a:solidFill>
                            <a:srgbClr val="262626"/>
                          </a:solidFill>
                          <a:latin typeface="Arial"/>
                        </a:rPr>
                        <a:t>5</a:t>
                      </a:r>
                    </a:p>
                  </a:txBody>
                  <a:tcPr>
                    <a:solidFill>
                      <a:srgbClr val="FFFFFF"/>
                    </a:solidFill>
                  </a:tcPr>
                </a:tc>
                <a:tc>
                  <a:txBody>
                    <a:bodyPr wrap="none"/>
                    <a:lstStyle/>
                    <a:p>
                      <a:pPr algn="ctr"/>
                      <a:r>
                        <a:rPr sz="750" b="1" i="0">
                          <a:solidFill>
                            <a:srgbClr val="1B7F3A"/>
                          </a:solidFill>
                          <a:latin typeface="Arial"/>
                        </a:rPr>
                        <a:t>2</a:t>
                      </a:r>
                    </a:p>
                  </a:txBody>
                  <a:tcPr>
                    <a:solidFill>
                      <a:srgbClr val="FFFFFF"/>
                    </a:solidFill>
                  </a:tcPr>
                </a:tc>
                <a:tc>
                  <a:txBody>
                    <a:bodyPr wrap="none"/>
                    <a:lstStyle/>
                    <a:p>
                      <a:pPr algn="ctr"/>
                      <a:r>
                        <a:rPr sz="750" b="1" i="0">
                          <a:solidFill>
                            <a:srgbClr val="C00000"/>
                          </a:solidFill>
                          <a:latin typeface="Arial"/>
                        </a:rPr>
                        <a:t>3</a:t>
                      </a:r>
                    </a:p>
                  </a:txBody>
                  <a:tcPr>
                    <a:solidFill>
                      <a:srgbClr val="FFFFFF"/>
                    </a:solidFill>
                  </a:tcPr>
                </a:tc>
                <a:tc>
                  <a:txBody>
                    <a:bodyPr wrap="none"/>
                    <a:lstStyle/>
                    <a:p>
                      <a:pPr algn="ctr"/>
                      <a:r>
                        <a:rPr sz="750" b="0" i="0">
                          <a:solidFill>
                            <a:srgbClr val="262626"/>
                          </a:solidFill>
                          <a:latin typeface="Arial"/>
                        </a:rPr>
                        <a:t>314</a:t>
                      </a:r>
                    </a:p>
                  </a:txBody>
                  <a:tcPr>
                    <a:solidFill>
                      <a:srgbClr val="FFFFFF"/>
                    </a:solidFill>
                  </a:tcPr>
                </a:tc>
                <a:tc>
                  <a:txBody>
                    <a:bodyPr wrap="none"/>
                    <a:lstStyle/>
                    <a:p>
                      <a:pPr algn="ctr"/>
                      <a:r>
                        <a:rPr sz="750" b="1" i="0">
                          <a:solidFill>
                            <a:srgbClr val="1B7F3A"/>
                          </a:solidFill>
                          <a:latin typeface="Arial"/>
                        </a:rPr>
                        <a:t>3,776</a:t>
                      </a:r>
                    </a:p>
                  </a:txBody>
                  <a:tcPr>
                    <a:solidFill>
                      <a:srgbClr val="FFFFFF"/>
                    </a:solidFill>
                  </a:tcPr>
                </a:tc>
              </a:tr>
              <a:tr h="201168">
                <a:tc>
                  <a:txBody>
                    <a:bodyPr wrap="none"/>
                    <a:lstStyle/>
                    <a:p>
                      <a:pPr algn="ctr"/>
                      <a:r>
                        <a:rPr sz="750" b="1" i="0">
                          <a:solidFill>
                            <a:srgbClr val="262626"/>
                          </a:solidFill>
                          <a:latin typeface="Arial"/>
                        </a:rPr>
                        <a:t>21</a:t>
                      </a:r>
                    </a:p>
                  </a:txBody>
                  <a:tcPr>
                    <a:solidFill>
                      <a:srgbClr val="F2F2F2"/>
                    </a:solidFill>
                  </a:tcPr>
                </a:tc>
                <a:tc>
                  <a:txBody>
                    <a:bodyPr wrap="none"/>
                    <a:lstStyle/>
                    <a:p>
                      <a:pPr algn="l"/>
                      <a:r>
                        <a:rPr sz="750" b="0" i="0">
                          <a:solidFill>
                            <a:srgbClr val="262626"/>
                          </a:solidFill>
                          <a:latin typeface="Arial"/>
                        </a:rPr>
                        <a:t>Reese Vannerson</a:t>
                      </a:r>
                    </a:p>
                  </a:txBody>
                  <a:tcPr>
                    <a:solidFill>
                      <a:srgbClr val="F2F2F2"/>
                    </a:solidFill>
                  </a:tcPr>
                </a:tc>
                <a:tc>
                  <a:txBody>
                    <a:bodyPr wrap="none"/>
                    <a:lstStyle/>
                    <a:p>
                      <a:pPr algn="ctr"/>
                      <a:r>
                        <a:rPr sz="750" b="1" i="0">
                          <a:solidFill>
                            <a:srgbClr val="262626"/>
                          </a:solidFill>
                          <a:latin typeface="Arial"/>
                        </a:rPr>
                        <a:t>1,479</a:t>
                      </a:r>
                    </a:p>
                  </a:txBody>
                  <a:tcPr>
                    <a:solidFill>
                      <a:srgbClr val="F2F2F2"/>
                    </a:solidFill>
                  </a:tcPr>
                </a:tc>
                <a:tc>
                  <a:txBody>
                    <a:bodyPr wrap="none"/>
                    <a:lstStyle/>
                    <a:p>
                      <a:pPr algn="ctr"/>
                      <a:r>
                        <a:rPr sz="750" b="0" i="0">
                          <a:solidFill>
                            <a:srgbClr val="262626"/>
                          </a:solidFill>
                          <a:latin typeface="Arial"/>
                        </a:rPr>
                        <a:t>4</a:t>
                      </a:r>
                    </a:p>
                  </a:txBody>
                  <a:tcPr>
                    <a:solidFill>
                      <a:srgbClr val="F2F2F2"/>
                    </a:solidFill>
                  </a:tcPr>
                </a:tc>
                <a:tc>
                  <a:txBody>
                    <a:bodyPr wrap="none"/>
                    <a:lstStyle/>
                    <a:p>
                      <a:pPr algn="ctr"/>
                      <a:r>
                        <a:rPr sz="750" b="1" i="0">
                          <a:solidFill>
                            <a:srgbClr val="1B7F3A"/>
                          </a:solidFill>
                          <a:latin typeface="Arial"/>
                        </a:rPr>
                        <a:t>3</a:t>
                      </a:r>
                    </a:p>
                  </a:txBody>
                  <a:tcPr>
                    <a:solidFill>
                      <a:srgbClr val="F2F2F2"/>
                    </a:solidFill>
                  </a:tcPr>
                </a:tc>
                <a:tc>
                  <a:txBody>
                    <a:bodyPr wrap="none"/>
                    <a:lstStyle/>
                    <a:p>
                      <a:pPr algn="ctr"/>
                      <a:r>
                        <a:rPr sz="750" b="1" i="0">
                          <a:solidFill>
                            <a:srgbClr val="C00000"/>
                          </a:solidFill>
                          <a:latin typeface="Arial"/>
                        </a:rPr>
                        <a:t>1</a:t>
                      </a:r>
                    </a:p>
                  </a:txBody>
                  <a:tcPr>
                    <a:solidFill>
                      <a:srgbClr val="F2F2F2"/>
                    </a:solidFill>
                  </a:tcPr>
                </a:tc>
                <a:tc>
                  <a:txBody>
                    <a:bodyPr wrap="none"/>
                    <a:lstStyle/>
                    <a:p>
                      <a:pPr algn="ctr"/>
                      <a:r>
                        <a:rPr sz="750" b="0" i="0">
                          <a:solidFill>
                            <a:srgbClr val="262626"/>
                          </a:solidFill>
                          <a:latin typeface="Arial"/>
                        </a:rPr>
                        <a:t>369</a:t>
                      </a:r>
                    </a:p>
                  </a:txBody>
                  <a:tcPr>
                    <a:solidFill>
                      <a:srgbClr val="F2F2F2"/>
                    </a:solidFill>
                  </a:tcPr>
                </a:tc>
                <a:tc>
                  <a:txBody>
                    <a:bodyPr wrap="none"/>
                    <a:lstStyle/>
                    <a:p>
                      <a:pPr algn="ctr"/>
                      <a:r>
                        <a:rPr sz="750" b="1" i="0">
                          <a:solidFill>
                            <a:srgbClr val="1B7F3A"/>
                          </a:solidFill>
                          <a:latin typeface="Arial"/>
                        </a:rPr>
                        <a:t>4,439</a:t>
                      </a:r>
                    </a:p>
                  </a:txBody>
                  <a:tcPr>
                    <a:solidFill>
                      <a:srgbClr val="F2F2F2"/>
                    </a:solidFill>
                  </a:tcPr>
                </a:tc>
              </a:tr>
              <a:tr h="201168">
                <a:tc>
                  <a:txBody>
                    <a:bodyPr wrap="none"/>
                    <a:lstStyle/>
                    <a:p>
                      <a:pPr algn="ctr"/>
                      <a:r>
                        <a:rPr sz="750" b="1" i="0">
                          <a:solidFill>
                            <a:srgbClr val="262626"/>
                          </a:solidFill>
                          <a:latin typeface="Arial"/>
                        </a:rPr>
                        <a:t>24</a:t>
                      </a:r>
                    </a:p>
                  </a:txBody>
                  <a:tcPr>
                    <a:solidFill>
                      <a:srgbClr val="FFFFFF"/>
                    </a:solidFill>
                  </a:tcPr>
                </a:tc>
                <a:tc>
                  <a:txBody>
                    <a:bodyPr wrap="none"/>
                    <a:lstStyle/>
                    <a:p>
                      <a:pPr algn="l"/>
                      <a:r>
                        <a:rPr sz="750" b="0" i="0">
                          <a:solidFill>
                            <a:srgbClr val="262626"/>
                          </a:solidFill>
                          <a:latin typeface="Arial"/>
                        </a:rPr>
                        <a:t>Seth Rider</a:t>
                      </a:r>
                    </a:p>
                  </a:txBody>
                  <a:tcPr>
                    <a:solidFill>
                      <a:srgbClr val="FFFFFF"/>
                    </a:solidFill>
                  </a:tcPr>
                </a:tc>
                <a:tc>
                  <a:txBody>
                    <a:bodyPr wrap="none"/>
                    <a:lstStyle/>
                    <a:p>
                      <a:pPr algn="ctr"/>
                      <a:r>
                        <a:rPr sz="750" b="1" i="0">
                          <a:solidFill>
                            <a:srgbClr val="262626"/>
                          </a:solidFill>
                          <a:latin typeface="Arial"/>
                        </a:rPr>
                        <a:t>1,341</a:t>
                      </a:r>
                    </a:p>
                  </a:txBody>
                  <a:tcPr>
                    <a:solidFill>
                      <a:srgbClr val="FFFFFF"/>
                    </a:solidFill>
                  </a:tcPr>
                </a:tc>
                <a:tc>
                  <a:txBody>
                    <a:bodyPr wrap="none"/>
                    <a:lstStyle/>
                    <a:p>
                      <a:pPr algn="ctr"/>
                      <a:r>
                        <a:rPr sz="750" b="0" i="0">
                          <a:solidFill>
                            <a:srgbClr val="262626"/>
                          </a:solidFill>
                          <a:latin typeface="Arial"/>
                        </a:rPr>
                        <a:t>4</a:t>
                      </a:r>
                    </a:p>
                  </a:txBody>
                  <a:tcPr>
                    <a:solidFill>
                      <a:srgbClr val="FFFFFF"/>
                    </a:solidFill>
                  </a:tcPr>
                </a:tc>
                <a:tc>
                  <a:txBody>
                    <a:bodyPr wrap="none"/>
                    <a:lstStyle/>
                    <a:p>
                      <a:pPr algn="ctr"/>
                      <a:r>
                        <a:rPr sz="750" b="1" i="0">
                          <a:solidFill>
                            <a:srgbClr val="1B7F3A"/>
                          </a:solidFill>
                          <a:latin typeface="Arial"/>
                        </a:rPr>
                        <a:t>3</a:t>
                      </a:r>
                    </a:p>
                  </a:txBody>
                  <a:tcPr>
                    <a:solidFill>
                      <a:srgbClr val="FFFFFF"/>
                    </a:solidFill>
                  </a:tcPr>
                </a:tc>
                <a:tc>
                  <a:txBody>
                    <a:bodyPr wrap="none"/>
                    <a:lstStyle/>
                    <a:p>
                      <a:pPr algn="ctr"/>
                      <a:r>
                        <a:rPr sz="750" b="1" i="0">
                          <a:solidFill>
                            <a:srgbClr val="C00000"/>
                          </a:solidFill>
                          <a:latin typeface="Arial"/>
                        </a:rPr>
                        <a:t>1</a:t>
                      </a:r>
                    </a:p>
                  </a:txBody>
                  <a:tcPr>
                    <a:solidFill>
                      <a:srgbClr val="FFFFFF"/>
                    </a:solidFill>
                  </a:tcPr>
                </a:tc>
                <a:tc>
                  <a:txBody>
                    <a:bodyPr wrap="none"/>
                    <a:lstStyle/>
                    <a:p>
                      <a:pPr algn="ctr"/>
                      <a:r>
                        <a:rPr sz="750" b="0" i="0">
                          <a:solidFill>
                            <a:srgbClr val="262626"/>
                          </a:solidFill>
                          <a:latin typeface="Arial"/>
                        </a:rPr>
                        <a:t>335</a:t>
                      </a:r>
                    </a:p>
                  </a:txBody>
                  <a:tcPr>
                    <a:solidFill>
                      <a:srgbClr val="FFFFFF"/>
                    </a:solidFill>
                  </a:tcPr>
                </a:tc>
                <a:tc>
                  <a:txBody>
                    <a:bodyPr wrap="none"/>
                    <a:lstStyle/>
                    <a:p>
                      <a:pPr algn="ctr"/>
                      <a:r>
                        <a:rPr sz="750" b="1" i="0">
                          <a:solidFill>
                            <a:srgbClr val="1B7F3A"/>
                          </a:solidFill>
                          <a:latin typeface="Arial"/>
                        </a:rPr>
                        <a:t>4,023</a:t>
                      </a:r>
                    </a:p>
                  </a:txBody>
                  <a:tcPr>
                    <a:solidFill>
                      <a:srgbClr val="FFFFFF"/>
                    </a:solidFill>
                  </a:tcPr>
                </a:tc>
              </a:tr>
              <a:tr h="201168">
                <a:tc>
                  <a:txBody>
                    <a:bodyPr wrap="none"/>
                    <a:lstStyle/>
                    <a:p>
                      <a:pPr algn="ctr"/>
                      <a:r>
                        <a:rPr sz="750" b="1" i="0">
                          <a:solidFill>
                            <a:srgbClr val="262626"/>
                          </a:solidFill>
                          <a:latin typeface="Arial"/>
                        </a:rPr>
                        <a:t>25</a:t>
                      </a:r>
                    </a:p>
                  </a:txBody>
                  <a:tcPr>
                    <a:solidFill>
                      <a:srgbClr val="F2F2F2"/>
                    </a:solidFill>
                  </a:tcPr>
                </a:tc>
                <a:tc>
                  <a:txBody>
                    <a:bodyPr wrap="none"/>
                    <a:lstStyle/>
                    <a:p>
                      <a:pPr algn="l"/>
                      <a:r>
                        <a:rPr sz="750" b="0" i="0">
                          <a:solidFill>
                            <a:srgbClr val="262626"/>
                          </a:solidFill>
                          <a:latin typeface="Arial"/>
                        </a:rPr>
                        <a:t>Braxton Legg</a:t>
                      </a:r>
                    </a:p>
                  </a:txBody>
                  <a:tcPr>
                    <a:solidFill>
                      <a:srgbClr val="F2F2F2"/>
                    </a:solidFill>
                  </a:tcPr>
                </a:tc>
                <a:tc>
                  <a:txBody>
                    <a:bodyPr wrap="none"/>
                    <a:lstStyle/>
                    <a:p>
                      <a:pPr algn="ctr"/>
                      <a:r>
                        <a:rPr sz="750" b="1" i="0">
                          <a:solidFill>
                            <a:srgbClr val="262626"/>
                          </a:solidFill>
                          <a:latin typeface="Arial"/>
                        </a:rPr>
                        <a:t>1,274</a:t>
                      </a:r>
                    </a:p>
                  </a:txBody>
                  <a:tcPr>
                    <a:solidFill>
                      <a:srgbClr val="F2F2F2"/>
                    </a:solidFill>
                  </a:tcPr>
                </a:tc>
                <a:tc>
                  <a:txBody>
                    <a:bodyPr wrap="none"/>
                    <a:lstStyle/>
                    <a:p>
                      <a:pPr algn="ctr"/>
                      <a:r>
                        <a:rPr sz="750" b="0" i="0">
                          <a:solidFill>
                            <a:srgbClr val="262626"/>
                          </a:solidFill>
                          <a:latin typeface="Arial"/>
                        </a:rPr>
                        <a:t>4</a:t>
                      </a:r>
                    </a:p>
                  </a:txBody>
                  <a:tcPr>
                    <a:solidFill>
                      <a:srgbClr val="F2F2F2"/>
                    </a:solidFill>
                  </a:tcPr>
                </a:tc>
                <a:tc>
                  <a:txBody>
                    <a:bodyPr wrap="none"/>
                    <a:lstStyle/>
                    <a:p>
                      <a:pPr algn="ctr"/>
                      <a:r>
                        <a:rPr sz="750" b="1" i="0">
                          <a:solidFill>
                            <a:srgbClr val="1B7F3A"/>
                          </a:solidFill>
                          <a:latin typeface="Arial"/>
                        </a:rPr>
                        <a:t>2</a:t>
                      </a:r>
                    </a:p>
                  </a:txBody>
                  <a:tcPr>
                    <a:solidFill>
                      <a:srgbClr val="F2F2F2"/>
                    </a:solidFill>
                  </a:tcPr>
                </a:tc>
                <a:tc>
                  <a:txBody>
                    <a:bodyPr wrap="none"/>
                    <a:lstStyle/>
                    <a:p>
                      <a:pPr algn="ctr"/>
                      <a:r>
                        <a:rPr sz="750" b="1" i="0">
                          <a:solidFill>
                            <a:srgbClr val="C00000"/>
                          </a:solidFill>
                          <a:latin typeface="Arial"/>
                        </a:rPr>
                        <a:t>2</a:t>
                      </a:r>
                    </a:p>
                  </a:txBody>
                  <a:tcPr>
                    <a:solidFill>
                      <a:srgbClr val="F2F2F2"/>
                    </a:solidFill>
                  </a:tcPr>
                </a:tc>
                <a:tc>
                  <a:txBody>
                    <a:bodyPr wrap="none"/>
                    <a:lstStyle/>
                    <a:p>
                      <a:pPr algn="ctr"/>
                      <a:r>
                        <a:rPr sz="750" b="0" i="0">
                          <a:solidFill>
                            <a:srgbClr val="262626"/>
                          </a:solidFill>
                          <a:latin typeface="Arial"/>
                        </a:rPr>
                        <a:t>318</a:t>
                      </a:r>
                    </a:p>
                  </a:txBody>
                  <a:tcPr>
                    <a:solidFill>
                      <a:srgbClr val="F2F2F2"/>
                    </a:solidFill>
                  </a:tcPr>
                </a:tc>
                <a:tc>
                  <a:txBody>
                    <a:bodyPr wrap="none"/>
                    <a:lstStyle/>
                    <a:p>
                      <a:pPr algn="ctr"/>
                      <a:r>
                        <a:rPr sz="750" b="1" i="0">
                          <a:solidFill>
                            <a:srgbClr val="1B7F3A"/>
                          </a:solidFill>
                          <a:latin typeface="Arial"/>
                        </a:rPr>
                        <a:t>3,823</a:t>
                      </a:r>
                    </a:p>
                  </a:txBody>
                  <a:tcPr>
                    <a:solidFill>
                      <a:srgbClr val="F2F2F2"/>
                    </a:solidFill>
                  </a:tcPr>
                </a:tc>
              </a:tr>
              <a:tr h="201168">
                <a:tc>
                  <a:txBody>
                    <a:bodyPr wrap="none"/>
                    <a:lstStyle/>
                    <a:p>
                      <a:pPr algn="ctr"/>
                      <a:r>
                        <a:rPr sz="750" b="1" i="0">
                          <a:solidFill>
                            <a:srgbClr val="262626"/>
                          </a:solidFill>
                          <a:latin typeface="Arial"/>
                        </a:rPr>
                        <a:t>26</a:t>
                      </a:r>
                    </a:p>
                  </a:txBody>
                  <a:tcPr>
                    <a:solidFill>
                      <a:srgbClr val="FFFFFF"/>
                    </a:solidFill>
                  </a:tcPr>
                </a:tc>
                <a:tc>
                  <a:txBody>
                    <a:bodyPr wrap="none"/>
                    <a:lstStyle/>
                    <a:p>
                      <a:pPr algn="l"/>
                      <a:r>
                        <a:rPr sz="750" b="0" i="0">
                          <a:solidFill>
                            <a:srgbClr val="262626"/>
                          </a:solidFill>
                          <a:latin typeface="Arial"/>
                        </a:rPr>
                        <a:t>John Reed</a:t>
                      </a:r>
                    </a:p>
                  </a:txBody>
                  <a:tcPr>
                    <a:solidFill>
                      <a:srgbClr val="FFFFFF"/>
                    </a:solidFill>
                  </a:tcPr>
                </a:tc>
                <a:tc>
                  <a:txBody>
                    <a:bodyPr wrap="none"/>
                    <a:lstStyle/>
                    <a:p>
                      <a:pPr algn="ctr"/>
                      <a:r>
                        <a:rPr sz="750" b="1" i="0">
                          <a:solidFill>
                            <a:srgbClr val="262626"/>
                          </a:solidFill>
                          <a:latin typeface="Arial"/>
                        </a:rPr>
                        <a:t>1,226</a:t>
                      </a:r>
                    </a:p>
                  </a:txBody>
                  <a:tcPr>
                    <a:solidFill>
                      <a:srgbClr val="FFFFFF"/>
                    </a:solidFill>
                  </a:tcPr>
                </a:tc>
                <a:tc>
                  <a:txBody>
                    <a:bodyPr wrap="none"/>
                    <a:lstStyle/>
                    <a:p>
                      <a:pPr algn="ctr"/>
                      <a:r>
                        <a:rPr sz="750" b="0" i="0">
                          <a:solidFill>
                            <a:srgbClr val="262626"/>
                          </a:solidFill>
                          <a:latin typeface="Arial"/>
                        </a:rPr>
                        <a:t>3</a:t>
                      </a:r>
                    </a:p>
                  </a:txBody>
                  <a:tcPr>
                    <a:solidFill>
                      <a:srgbClr val="FFFFFF"/>
                    </a:solidFill>
                  </a:tcPr>
                </a:tc>
                <a:tc>
                  <a:txBody>
                    <a:bodyPr wrap="none"/>
                    <a:lstStyle/>
                    <a:p>
                      <a:pPr algn="ctr"/>
                      <a:r>
                        <a:rPr sz="750" b="1" i="0">
                          <a:solidFill>
                            <a:srgbClr val="1B7F3A"/>
                          </a:solidFill>
                          <a:latin typeface="Arial"/>
                        </a:rPr>
                        <a:t>2</a:t>
                      </a:r>
                    </a:p>
                  </a:txBody>
                  <a:tcPr>
                    <a:solidFill>
                      <a:srgbClr val="FFFFFF"/>
                    </a:solidFill>
                  </a:tcPr>
                </a:tc>
                <a:tc>
                  <a:txBody>
                    <a:bodyPr wrap="none"/>
                    <a:lstStyle/>
                    <a:p>
                      <a:pPr algn="ctr"/>
                      <a:r>
                        <a:rPr sz="750" b="1" i="0">
                          <a:solidFill>
                            <a:srgbClr val="C00000"/>
                          </a:solidFill>
                          <a:latin typeface="Arial"/>
                        </a:rPr>
                        <a:t>1</a:t>
                      </a:r>
                    </a:p>
                  </a:txBody>
                  <a:tcPr>
                    <a:solidFill>
                      <a:srgbClr val="FFFFFF"/>
                    </a:solidFill>
                  </a:tcPr>
                </a:tc>
                <a:tc>
                  <a:txBody>
                    <a:bodyPr wrap="none"/>
                    <a:lstStyle/>
                    <a:p>
                      <a:pPr algn="ctr"/>
                      <a:r>
                        <a:rPr sz="750" b="0" i="0">
                          <a:solidFill>
                            <a:srgbClr val="262626"/>
                          </a:solidFill>
                          <a:latin typeface="Arial"/>
                        </a:rPr>
                        <a:t>408</a:t>
                      </a:r>
                    </a:p>
                  </a:txBody>
                  <a:tcPr>
                    <a:solidFill>
                      <a:srgbClr val="FFFFFF"/>
                    </a:solidFill>
                  </a:tcPr>
                </a:tc>
                <a:tc>
                  <a:txBody>
                    <a:bodyPr wrap="none"/>
                    <a:lstStyle/>
                    <a:p>
                      <a:pPr algn="ctr"/>
                      <a:r>
                        <a:rPr sz="750" b="1" i="0">
                          <a:solidFill>
                            <a:srgbClr val="1B7F3A"/>
                          </a:solidFill>
                          <a:latin typeface="Arial"/>
                        </a:rPr>
                        <a:t>4,904</a:t>
                      </a:r>
                    </a:p>
                  </a:txBody>
                  <a:tcPr>
                    <a:solidFill>
                      <a:srgbClr val="FFFFFF"/>
                    </a:solidFill>
                  </a:tcPr>
                </a:tc>
              </a:tr>
              <a:tr h="201168">
                <a:tc>
                  <a:txBody>
                    <a:bodyPr wrap="none"/>
                    <a:lstStyle/>
                    <a:p>
                      <a:pPr algn="ctr"/>
                      <a:r>
                        <a:rPr sz="750" b="1" i="0">
                          <a:solidFill>
                            <a:srgbClr val="262626"/>
                          </a:solidFill>
                          <a:latin typeface="Arial"/>
                        </a:rPr>
                        <a:t>30</a:t>
                      </a:r>
                    </a:p>
                  </a:txBody>
                  <a:tcPr>
                    <a:solidFill>
                      <a:srgbClr val="F2F2F2"/>
                    </a:solidFill>
                  </a:tcPr>
                </a:tc>
                <a:tc>
                  <a:txBody>
                    <a:bodyPr wrap="none"/>
                    <a:lstStyle/>
                    <a:p>
                      <a:pPr algn="l"/>
                      <a:r>
                        <a:rPr sz="750" b="0" i="0">
                          <a:solidFill>
                            <a:srgbClr val="262626"/>
                          </a:solidFill>
                          <a:latin typeface="Arial"/>
                        </a:rPr>
                        <a:t>Keller Norland</a:t>
                      </a:r>
                    </a:p>
                  </a:txBody>
                  <a:tcPr>
                    <a:solidFill>
                      <a:srgbClr val="F2F2F2"/>
                    </a:solidFill>
                  </a:tcPr>
                </a:tc>
                <a:tc>
                  <a:txBody>
                    <a:bodyPr wrap="none"/>
                    <a:lstStyle/>
                    <a:p>
                      <a:pPr algn="ctr"/>
                      <a:r>
                        <a:rPr sz="750" b="1" i="0">
                          <a:solidFill>
                            <a:srgbClr val="262626"/>
                          </a:solidFill>
                          <a:latin typeface="Arial"/>
                        </a:rPr>
                        <a:t>1,087</a:t>
                      </a:r>
                    </a:p>
                  </a:txBody>
                  <a:tcPr>
                    <a:solidFill>
                      <a:srgbClr val="F2F2F2"/>
                    </a:solidFill>
                  </a:tcPr>
                </a:tc>
                <a:tc>
                  <a:txBody>
                    <a:bodyPr wrap="none"/>
                    <a:lstStyle/>
                    <a:p>
                      <a:pPr algn="ctr"/>
                      <a:r>
                        <a:rPr sz="750" b="0" i="0">
                          <a:solidFill>
                            <a:srgbClr val="262626"/>
                          </a:solidFill>
                          <a:latin typeface="Arial"/>
                        </a:rPr>
                        <a:t>3</a:t>
                      </a:r>
                    </a:p>
                  </a:txBody>
                  <a:tcPr>
                    <a:solidFill>
                      <a:srgbClr val="F2F2F2"/>
                    </a:solidFill>
                  </a:tcPr>
                </a:tc>
                <a:tc>
                  <a:txBody>
                    <a:bodyPr wrap="none"/>
                    <a:lstStyle/>
                    <a:p>
                      <a:pPr algn="ctr"/>
                      <a:r>
                        <a:rPr sz="750" b="1" i="0">
                          <a:solidFill>
                            <a:srgbClr val="1B7F3A"/>
                          </a:solidFill>
                          <a:latin typeface="Arial"/>
                        </a:rPr>
                        <a:t>2</a:t>
                      </a:r>
                    </a:p>
                  </a:txBody>
                  <a:tcPr>
                    <a:solidFill>
                      <a:srgbClr val="F2F2F2"/>
                    </a:solidFill>
                  </a:tcPr>
                </a:tc>
                <a:tc>
                  <a:txBody>
                    <a:bodyPr wrap="none"/>
                    <a:lstStyle/>
                    <a:p>
                      <a:pPr algn="ctr"/>
                      <a:r>
                        <a:rPr sz="750" b="1" i="0">
                          <a:solidFill>
                            <a:srgbClr val="C00000"/>
                          </a:solidFill>
                          <a:latin typeface="Arial"/>
                        </a:rPr>
                        <a:t>1</a:t>
                      </a:r>
                    </a:p>
                  </a:txBody>
                  <a:tcPr>
                    <a:solidFill>
                      <a:srgbClr val="F2F2F2"/>
                    </a:solidFill>
                  </a:tcPr>
                </a:tc>
                <a:tc>
                  <a:txBody>
                    <a:bodyPr wrap="none"/>
                    <a:lstStyle/>
                    <a:p>
                      <a:pPr algn="ctr"/>
                      <a:r>
                        <a:rPr sz="750" b="0" i="0">
                          <a:solidFill>
                            <a:srgbClr val="262626"/>
                          </a:solidFill>
                          <a:latin typeface="Arial"/>
                        </a:rPr>
                        <a:t>362</a:t>
                      </a:r>
                    </a:p>
                  </a:txBody>
                  <a:tcPr>
                    <a:solidFill>
                      <a:srgbClr val="F2F2F2"/>
                    </a:solidFill>
                  </a:tcPr>
                </a:tc>
                <a:tc>
                  <a:txBody>
                    <a:bodyPr wrap="none"/>
                    <a:lstStyle/>
                    <a:p>
                      <a:pPr algn="ctr"/>
                      <a:r>
                        <a:rPr sz="750" b="1" i="0">
                          <a:solidFill>
                            <a:srgbClr val="1B7F3A"/>
                          </a:solidFill>
                          <a:latin typeface="Arial"/>
                        </a:rPr>
                        <a:t>4,349</a:t>
                      </a:r>
                    </a:p>
                  </a:txBody>
                  <a:tcPr>
                    <a:solidFill>
                      <a:srgbClr val="F2F2F2"/>
                    </a:solidFill>
                  </a:tcPr>
                </a:tc>
              </a:tr>
              <a:tr h="201168">
                <a:tc>
                  <a:txBody>
                    <a:bodyPr wrap="none"/>
                    <a:lstStyle/>
                    <a:p>
                      <a:pPr algn="ctr"/>
                      <a:r>
                        <a:rPr sz="750" b="1" i="0">
                          <a:solidFill>
                            <a:srgbClr val="262626"/>
                          </a:solidFill>
                          <a:latin typeface="Arial"/>
                        </a:rPr>
                        <a:t>42</a:t>
                      </a:r>
                    </a:p>
                  </a:txBody>
                  <a:tcPr>
                    <a:solidFill>
                      <a:srgbClr val="FFFFFF"/>
                    </a:solidFill>
                  </a:tcPr>
                </a:tc>
                <a:tc>
                  <a:txBody>
                    <a:bodyPr wrap="none"/>
                    <a:lstStyle/>
                    <a:p>
                      <a:pPr algn="l"/>
                      <a:r>
                        <a:rPr sz="750" b="0" i="0">
                          <a:solidFill>
                            <a:srgbClr val="262626"/>
                          </a:solidFill>
                          <a:latin typeface="Arial"/>
                        </a:rPr>
                        <a:t>Chase McQueen</a:t>
                      </a:r>
                    </a:p>
                  </a:txBody>
                  <a:tcPr>
                    <a:solidFill>
                      <a:srgbClr val="FFFFFF"/>
                    </a:solidFill>
                  </a:tcPr>
                </a:tc>
                <a:tc>
                  <a:txBody>
                    <a:bodyPr wrap="none"/>
                    <a:lstStyle/>
                    <a:p>
                      <a:pPr algn="ctr"/>
                      <a:r>
                        <a:rPr sz="750" b="1" i="0">
                          <a:solidFill>
                            <a:srgbClr val="262626"/>
                          </a:solidFill>
                          <a:latin typeface="Arial"/>
                        </a:rPr>
                        <a:t>929</a:t>
                      </a:r>
                    </a:p>
                  </a:txBody>
                  <a:tcPr>
                    <a:solidFill>
                      <a:srgbClr val="FFFFFF"/>
                    </a:solidFill>
                  </a:tcPr>
                </a:tc>
                <a:tc>
                  <a:txBody>
                    <a:bodyPr wrap="none"/>
                    <a:lstStyle/>
                    <a:p>
                      <a:pPr algn="ctr"/>
                      <a:r>
                        <a:rPr sz="750" b="0" i="0">
                          <a:solidFill>
                            <a:srgbClr val="262626"/>
                          </a:solidFill>
                          <a:latin typeface="Arial"/>
                        </a:rPr>
                        <a:t>5</a:t>
                      </a:r>
                    </a:p>
                  </a:txBody>
                  <a:tcPr>
                    <a:solidFill>
                      <a:srgbClr val="FFFFFF"/>
                    </a:solidFill>
                  </a:tcPr>
                </a:tc>
                <a:tc>
                  <a:txBody>
                    <a:bodyPr wrap="none"/>
                    <a:lstStyle/>
                    <a:p>
                      <a:pPr algn="ctr"/>
                      <a:r>
                        <a:rPr sz="750" b="1" i="0">
                          <a:solidFill>
                            <a:srgbClr val="1B7F3A"/>
                          </a:solidFill>
                          <a:latin typeface="Arial"/>
                        </a:rPr>
                        <a:t>1</a:t>
                      </a:r>
                    </a:p>
                  </a:txBody>
                  <a:tcPr>
                    <a:solidFill>
                      <a:srgbClr val="FFFFFF"/>
                    </a:solidFill>
                  </a:tcPr>
                </a:tc>
                <a:tc>
                  <a:txBody>
                    <a:bodyPr wrap="none"/>
                    <a:lstStyle/>
                    <a:p>
                      <a:pPr algn="ctr"/>
                      <a:r>
                        <a:rPr sz="750" b="1" i="0">
                          <a:solidFill>
                            <a:srgbClr val="C00000"/>
                          </a:solidFill>
                          <a:latin typeface="Arial"/>
                        </a:rPr>
                        <a:t>4</a:t>
                      </a:r>
                    </a:p>
                  </a:txBody>
                  <a:tcPr>
                    <a:solidFill>
                      <a:srgbClr val="FFFFFF"/>
                    </a:solidFill>
                  </a:tcPr>
                </a:tc>
                <a:tc>
                  <a:txBody>
                    <a:bodyPr wrap="none"/>
                    <a:lstStyle/>
                    <a:p>
                      <a:pPr algn="ctr"/>
                      <a:r>
                        <a:rPr sz="750" b="0" i="0">
                          <a:solidFill>
                            <a:srgbClr val="262626"/>
                          </a:solidFill>
                          <a:latin typeface="Arial"/>
                        </a:rPr>
                        <a:t>185</a:t>
                      </a:r>
                    </a:p>
                  </a:txBody>
                  <a:tcPr>
                    <a:solidFill>
                      <a:srgbClr val="FFFFFF"/>
                    </a:solidFill>
                  </a:tcPr>
                </a:tc>
                <a:tc>
                  <a:txBody>
                    <a:bodyPr wrap="none"/>
                    <a:lstStyle/>
                    <a:p>
                      <a:pPr algn="ctr"/>
                      <a:r>
                        <a:rPr sz="750" b="1" i="0">
                          <a:solidFill>
                            <a:srgbClr val="262626"/>
                          </a:solidFill>
                          <a:latin typeface="Arial"/>
                        </a:rPr>
                        <a:t>2,230</a:t>
                      </a:r>
                    </a:p>
                  </a:txBody>
                  <a:tcPr>
                    <a:solidFill>
                      <a:srgbClr val="FFFFFF"/>
                    </a:solidFill>
                  </a:tcPr>
                </a:tc>
              </a:tr>
              <a:tr h="201168">
                <a:tc>
                  <a:txBody>
                    <a:bodyPr wrap="none"/>
                    <a:lstStyle/>
                    <a:p>
                      <a:pPr algn="ctr"/>
                      <a:r>
                        <a:rPr sz="750" b="1" i="0">
                          <a:solidFill>
                            <a:srgbClr val="262626"/>
                          </a:solidFill>
                          <a:latin typeface="Arial"/>
                        </a:rPr>
                        <a:t>45</a:t>
                      </a:r>
                    </a:p>
                  </a:txBody>
                  <a:tcPr>
                    <a:solidFill>
                      <a:srgbClr val="F2F2F2"/>
                    </a:solidFill>
                  </a:tcPr>
                </a:tc>
                <a:tc>
                  <a:txBody>
                    <a:bodyPr wrap="none"/>
                    <a:lstStyle/>
                    <a:p>
                      <a:pPr algn="l"/>
                      <a:r>
                        <a:rPr sz="750" b="0" i="0">
                          <a:solidFill>
                            <a:srgbClr val="262626"/>
                          </a:solidFill>
                          <a:latin typeface="Arial"/>
                        </a:rPr>
                        <a:t>Morgan Pearson</a:t>
                      </a:r>
                    </a:p>
                  </a:txBody>
                  <a:tcPr>
                    <a:solidFill>
                      <a:srgbClr val="F2F2F2"/>
                    </a:solidFill>
                  </a:tcPr>
                </a:tc>
                <a:tc>
                  <a:txBody>
                    <a:bodyPr wrap="none"/>
                    <a:lstStyle/>
                    <a:p>
                      <a:pPr algn="ctr"/>
                      <a:r>
                        <a:rPr sz="750" b="1" i="0">
                          <a:solidFill>
                            <a:srgbClr val="262626"/>
                          </a:solidFill>
                          <a:latin typeface="Arial"/>
                        </a:rPr>
                        <a:t>904</a:t>
                      </a:r>
                    </a:p>
                  </a:txBody>
                  <a:tcPr>
                    <a:solidFill>
                      <a:srgbClr val="F2F2F2"/>
                    </a:solidFill>
                  </a:tcPr>
                </a:tc>
                <a:tc>
                  <a:txBody>
                    <a:bodyPr wrap="none"/>
                    <a:lstStyle/>
                    <a:p>
                      <a:pPr algn="ctr"/>
                      <a:r>
                        <a:rPr sz="750" b="0" i="0">
                          <a:solidFill>
                            <a:srgbClr val="262626"/>
                          </a:solidFill>
                          <a:latin typeface="Arial"/>
                        </a:rPr>
                        <a:t>2</a:t>
                      </a:r>
                    </a:p>
                  </a:txBody>
                  <a:tcPr>
                    <a:solidFill>
                      <a:srgbClr val="F2F2F2"/>
                    </a:solidFill>
                  </a:tcPr>
                </a:tc>
                <a:tc>
                  <a:txBody>
                    <a:bodyPr wrap="none"/>
                    <a:lstStyle/>
                    <a:p>
                      <a:pPr algn="ctr"/>
                      <a:r>
                        <a:rPr sz="750" b="1" i="0">
                          <a:solidFill>
                            <a:srgbClr val="1B7F3A"/>
                          </a:solidFill>
                          <a:latin typeface="Arial"/>
                        </a:rPr>
                        <a:t>1</a:t>
                      </a:r>
                    </a:p>
                  </a:txBody>
                  <a:tcPr>
                    <a:solidFill>
                      <a:srgbClr val="F2F2F2"/>
                    </a:solidFill>
                  </a:tcPr>
                </a:tc>
                <a:tc>
                  <a:txBody>
                    <a:bodyPr wrap="none"/>
                    <a:lstStyle/>
                    <a:p>
                      <a:pPr algn="ctr"/>
                      <a:r>
                        <a:rPr sz="750" b="1" i="0">
                          <a:solidFill>
                            <a:srgbClr val="C00000"/>
                          </a:solidFill>
                          <a:latin typeface="Arial"/>
                        </a:rPr>
                        <a:t>1</a:t>
                      </a:r>
                    </a:p>
                  </a:txBody>
                  <a:tcPr>
                    <a:solidFill>
                      <a:srgbClr val="F2F2F2"/>
                    </a:solidFill>
                  </a:tcPr>
                </a:tc>
                <a:tc>
                  <a:txBody>
                    <a:bodyPr wrap="none"/>
                    <a:lstStyle/>
                    <a:p>
                      <a:pPr algn="ctr"/>
                      <a:r>
                        <a:rPr sz="750" b="0" i="0">
                          <a:solidFill>
                            <a:srgbClr val="262626"/>
                          </a:solidFill>
                          <a:latin typeface="Arial"/>
                        </a:rPr>
                        <a:t>452</a:t>
                      </a:r>
                    </a:p>
                  </a:txBody>
                  <a:tcPr>
                    <a:solidFill>
                      <a:srgbClr val="F2F2F2"/>
                    </a:solidFill>
                  </a:tcPr>
                </a:tc>
                <a:tc>
                  <a:txBody>
                    <a:bodyPr wrap="none"/>
                    <a:lstStyle/>
                    <a:p>
                      <a:pPr algn="ctr"/>
                      <a:r>
                        <a:rPr sz="750" b="1" i="0">
                          <a:solidFill>
                            <a:srgbClr val="1B7F3A"/>
                          </a:solidFill>
                          <a:latin typeface="Arial"/>
                        </a:rPr>
                        <a:t>5,425</a:t>
                      </a:r>
                    </a:p>
                  </a:txBody>
                  <a:tcPr>
                    <a:solidFill>
                      <a:srgbClr val="F2F2F2"/>
                    </a:solidFill>
                  </a:tcPr>
                </a:tc>
              </a:tr>
              <a:tr h="201168">
                <a:tc>
                  <a:txBody>
                    <a:bodyPr wrap="none"/>
                    <a:lstStyle/>
                    <a:p>
                      <a:pPr algn="ctr"/>
                      <a:r>
                        <a:rPr sz="750" b="1" i="0">
                          <a:solidFill>
                            <a:srgbClr val="262626"/>
                          </a:solidFill>
                          <a:latin typeface="Arial"/>
                        </a:rPr>
                        <a:t>70</a:t>
                      </a:r>
                    </a:p>
                  </a:txBody>
                  <a:tcPr>
                    <a:solidFill>
                      <a:srgbClr val="FFFFFF"/>
                    </a:solidFill>
                  </a:tcPr>
                </a:tc>
                <a:tc>
                  <a:txBody>
                    <a:bodyPr wrap="none"/>
                    <a:lstStyle/>
                    <a:p>
                      <a:pPr algn="l"/>
                      <a:r>
                        <a:rPr sz="750" b="0" i="0">
                          <a:solidFill>
                            <a:srgbClr val="262626"/>
                          </a:solidFill>
                          <a:latin typeface="Arial"/>
                        </a:rPr>
                        <a:t>Blake Bullard</a:t>
                      </a:r>
                    </a:p>
                  </a:txBody>
                  <a:tcPr>
                    <a:solidFill>
                      <a:srgbClr val="FFFFFF"/>
                    </a:solidFill>
                  </a:tcPr>
                </a:tc>
                <a:tc>
                  <a:txBody>
                    <a:bodyPr wrap="none"/>
                    <a:lstStyle/>
                    <a:p>
                      <a:pPr algn="ctr"/>
                      <a:r>
                        <a:rPr sz="750" b="1" i="0">
                          <a:solidFill>
                            <a:srgbClr val="262626"/>
                          </a:solidFill>
                          <a:latin typeface="Arial"/>
                        </a:rPr>
                        <a:t>513</a:t>
                      </a:r>
                    </a:p>
                  </a:txBody>
                  <a:tcPr>
                    <a:solidFill>
                      <a:srgbClr val="FFFFFF"/>
                    </a:solidFill>
                  </a:tcPr>
                </a:tc>
                <a:tc>
                  <a:txBody>
                    <a:bodyPr wrap="none"/>
                    <a:lstStyle/>
                    <a:p>
                      <a:pPr algn="ctr"/>
                      <a:r>
                        <a:rPr sz="750" b="0" i="0">
                          <a:solidFill>
                            <a:srgbClr val="262626"/>
                          </a:solidFill>
                          <a:latin typeface="Arial"/>
                        </a:rPr>
                        <a:t>3</a:t>
                      </a:r>
                    </a:p>
                  </a:txBody>
                  <a:tcPr>
                    <a:solidFill>
                      <a:srgbClr val="FFFFFF"/>
                    </a:solidFill>
                  </a:tcPr>
                </a:tc>
                <a:tc>
                  <a:txBody>
                    <a:bodyPr wrap="none"/>
                    <a:lstStyle/>
                    <a:p>
                      <a:pPr algn="ctr"/>
                      <a:r>
                        <a:rPr sz="750" b="1" i="0">
                          <a:solidFill>
                            <a:srgbClr val="1B7F3A"/>
                          </a:solidFill>
                          <a:latin typeface="Arial"/>
                        </a:rPr>
                        <a:t>0</a:t>
                      </a:r>
                    </a:p>
                  </a:txBody>
                  <a:tcPr>
                    <a:solidFill>
                      <a:srgbClr val="FFFFFF"/>
                    </a:solidFill>
                  </a:tcPr>
                </a:tc>
                <a:tc>
                  <a:txBody>
                    <a:bodyPr wrap="none"/>
                    <a:lstStyle/>
                    <a:p>
                      <a:pPr algn="ctr"/>
                      <a:r>
                        <a:rPr sz="750" b="1" i="0">
                          <a:solidFill>
                            <a:srgbClr val="C00000"/>
                          </a:solidFill>
                          <a:latin typeface="Arial"/>
                        </a:rPr>
                        <a:t>3</a:t>
                      </a:r>
                    </a:p>
                  </a:txBody>
                  <a:tcPr>
                    <a:solidFill>
                      <a:srgbClr val="FFFFFF"/>
                    </a:solidFill>
                  </a:tcPr>
                </a:tc>
                <a:tc>
                  <a:txBody>
                    <a:bodyPr wrap="none"/>
                    <a:lstStyle/>
                    <a:p>
                      <a:pPr algn="ctr"/>
                      <a:r>
                        <a:rPr sz="750" b="0" i="0">
                          <a:solidFill>
                            <a:srgbClr val="262626"/>
                          </a:solidFill>
                          <a:latin typeface="Arial"/>
                        </a:rPr>
                        <a:t>171</a:t>
                      </a:r>
                    </a:p>
                  </a:txBody>
                  <a:tcPr>
                    <a:solidFill>
                      <a:srgbClr val="FFFFFF"/>
                    </a:solidFill>
                  </a:tcPr>
                </a:tc>
                <a:tc>
                  <a:txBody>
                    <a:bodyPr wrap="none"/>
                    <a:lstStyle/>
                    <a:p>
                      <a:pPr algn="ctr"/>
                      <a:r>
                        <a:rPr sz="750" b="1" i="0">
                          <a:solidFill>
                            <a:srgbClr val="262626"/>
                          </a:solidFill>
                          <a:latin typeface="Arial"/>
                        </a:rPr>
                        <a:t>2,055</a:t>
                      </a:r>
                    </a:p>
                  </a:txBody>
                  <a:tcPr>
                    <a:solidFill>
                      <a:srgbClr val="FFFFFF"/>
                    </a:solidFill>
                  </a:tcPr>
                </a:tc>
              </a:tr>
              <a:tr h="201168">
                <a:tc>
                  <a:txBody>
                    <a:bodyPr wrap="none"/>
                    <a:lstStyle/>
                    <a:p>
                      <a:pPr algn="ctr"/>
                      <a:r>
                        <a:rPr sz="750" b="1" i="0">
                          <a:solidFill>
                            <a:srgbClr val="262626"/>
                          </a:solidFill>
                          <a:latin typeface="Arial"/>
                        </a:rPr>
                        <a:t>73</a:t>
                      </a:r>
                    </a:p>
                  </a:txBody>
                  <a:tcPr>
                    <a:solidFill>
                      <a:srgbClr val="F2F2F2"/>
                    </a:solidFill>
                  </a:tcPr>
                </a:tc>
                <a:tc>
                  <a:txBody>
                    <a:bodyPr wrap="none"/>
                    <a:lstStyle/>
                    <a:p>
                      <a:pPr algn="l"/>
                      <a:r>
                        <a:rPr sz="750" b="0" i="0">
                          <a:solidFill>
                            <a:srgbClr val="262626"/>
                          </a:solidFill>
                          <a:latin typeface="Arial"/>
                        </a:rPr>
                        <a:t>Porter Middaugh</a:t>
                      </a:r>
                    </a:p>
                  </a:txBody>
                  <a:tcPr>
                    <a:solidFill>
                      <a:srgbClr val="F2F2F2"/>
                    </a:solidFill>
                  </a:tcPr>
                </a:tc>
                <a:tc>
                  <a:txBody>
                    <a:bodyPr wrap="none"/>
                    <a:lstStyle/>
                    <a:p>
                      <a:pPr algn="ctr"/>
                      <a:r>
                        <a:rPr sz="750" b="1" i="0">
                          <a:solidFill>
                            <a:srgbClr val="262626"/>
                          </a:solidFill>
                          <a:latin typeface="Arial"/>
                        </a:rPr>
                        <a:t>481</a:t>
                      </a:r>
                    </a:p>
                  </a:txBody>
                  <a:tcPr>
                    <a:solidFill>
                      <a:srgbClr val="F2F2F2"/>
                    </a:solidFill>
                  </a:tcPr>
                </a:tc>
                <a:tc>
                  <a:txBody>
                    <a:bodyPr wrap="none"/>
                    <a:lstStyle/>
                    <a:p>
                      <a:pPr algn="ctr"/>
                      <a:r>
                        <a:rPr sz="750" b="0" i="0">
                          <a:solidFill>
                            <a:srgbClr val="262626"/>
                          </a:solidFill>
                          <a:latin typeface="Arial"/>
                        </a:rPr>
                        <a:t>3</a:t>
                      </a:r>
                    </a:p>
                  </a:txBody>
                  <a:tcPr>
                    <a:solidFill>
                      <a:srgbClr val="F2F2F2"/>
                    </a:solidFill>
                  </a:tcPr>
                </a:tc>
                <a:tc>
                  <a:txBody>
                    <a:bodyPr wrap="none"/>
                    <a:lstStyle/>
                    <a:p>
                      <a:pPr algn="ctr"/>
                      <a:r>
                        <a:rPr sz="750" b="1" i="0">
                          <a:solidFill>
                            <a:srgbClr val="1B7F3A"/>
                          </a:solidFill>
                          <a:latin typeface="Arial"/>
                        </a:rPr>
                        <a:t>1</a:t>
                      </a:r>
                    </a:p>
                  </a:txBody>
                  <a:tcPr>
                    <a:solidFill>
                      <a:srgbClr val="F2F2F2"/>
                    </a:solidFill>
                  </a:tcPr>
                </a:tc>
                <a:tc>
                  <a:txBody>
                    <a:bodyPr wrap="none"/>
                    <a:lstStyle/>
                    <a:p>
                      <a:pPr algn="ctr"/>
                      <a:r>
                        <a:rPr sz="750" b="1" i="0">
                          <a:solidFill>
                            <a:srgbClr val="C00000"/>
                          </a:solidFill>
                          <a:latin typeface="Arial"/>
                        </a:rPr>
                        <a:t>2</a:t>
                      </a:r>
                    </a:p>
                  </a:txBody>
                  <a:tcPr>
                    <a:solidFill>
                      <a:srgbClr val="F2F2F2"/>
                    </a:solidFill>
                  </a:tcPr>
                </a:tc>
                <a:tc>
                  <a:txBody>
                    <a:bodyPr wrap="none"/>
                    <a:lstStyle/>
                    <a:p>
                      <a:pPr algn="ctr"/>
                      <a:r>
                        <a:rPr sz="750" b="0" i="0">
                          <a:solidFill>
                            <a:srgbClr val="262626"/>
                          </a:solidFill>
                          <a:latin typeface="Arial"/>
                        </a:rPr>
                        <a:t>160</a:t>
                      </a:r>
                    </a:p>
                  </a:txBody>
                  <a:tcPr>
                    <a:solidFill>
                      <a:srgbClr val="F2F2F2"/>
                    </a:solidFill>
                  </a:tcPr>
                </a:tc>
                <a:tc>
                  <a:txBody>
                    <a:bodyPr wrap="none"/>
                    <a:lstStyle/>
                    <a:p>
                      <a:pPr algn="ctr"/>
                      <a:r>
                        <a:rPr sz="750" b="1" i="0">
                          <a:solidFill>
                            <a:srgbClr val="262626"/>
                          </a:solidFill>
                          <a:latin typeface="Arial"/>
                        </a:rPr>
                        <a:t>1,926</a:t>
                      </a:r>
                    </a:p>
                  </a:txBody>
                  <a:tcPr>
                    <a:solidFill>
                      <a:srgbClr val="F2F2F2"/>
                    </a:solidFill>
                  </a:tcPr>
                </a:tc>
              </a:tr>
              <a:tr h="201168">
                <a:tc>
                  <a:txBody>
                    <a:bodyPr wrap="none"/>
                    <a:lstStyle/>
                    <a:p>
                      <a:pPr algn="ctr"/>
                      <a:r>
                        <a:rPr sz="750" b="1" i="0">
                          <a:solidFill>
                            <a:srgbClr val="262626"/>
                          </a:solidFill>
                          <a:latin typeface="Arial"/>
                        </a:rPr>
                        <a:t>100</a:t>
                      </a:r>
                    </a:p>
                  </a:txBody>
                  <a:tcPr>
                    <a:solidFill>
                      <a:srgbClr val="FFFFFF"/>
                    </a:solidFill>
                  </a:tcPr>
                </a:tc>
                <a:tc>
                  <a:txBody>
                    <a:bodyPr wrap="none"/>
                    <a:lstStyle/>
                    <a:p>
                      <a:pPr algn="l"/>
                      <a:r>
                        <a:rPr sz="750" b="0" i="0">
                          <a:solidFill>
                            <a:srgbClr val="262626"/>
                          </a:solidFill>
                          <a:latin typeface="Arial"/>
                        </a:rPr>
                        <a:t>Zach Leachman</a:t>
                      </a:r>
                    </a:p>
                  </a:txBody>
                  <a:tcPr>
                    <a:solidFill>
                      <a:srgbClr val="FFFFFF"/>
                    </a:solidFill>
                  </a:tcPr>
                </a:tc>
                <a:tc>
                  <a:txBody>
                    <a:bodyPr wrap="none"/>
                    <a:lstStyle/>
                    <a:p>
                      <a:pPr algn="ctr"/>
                      <a:r>
                        <a:rPr sz="750" b="1" i="0">
                          <a:solidFill>
                            <a:srgbClr val="262626"/>
                          </a:solidFill>
                          <a:latin typeface="Arial"/>
                        </a:rPr>
                        <a:t>282</a:t>
                      </a:r>
                    </a:p>
                  </a:txBody>
                  <a:tcPr>
                    <a:solidFill>
                      <a:srgbClr val="FFFFFF"/>
                    </a:solidFill>
                  </a:tcPr>
                </a:tc>
                <a:tc>
                  <a:txBody>
                    <a:bodyPr wrap="none"/>
                    <a:lstStyle/>
                    <a:p>
                      <a:pPr algn="ctr"/>
                      <a:r>
                        <a:rPr sz="750" b="0" i="0">
                          <a:solidFill>
                            <a:srgbClr val="262626"/>
                          </a:solidFill>
                          <a:latin typeface="Arial"/>
                        </a:rPr>
                        <a:t>2</a:t>
                      </a:r>
                    </a:p>
                  </a:txBody>
                  <a:tcPr>
                    <a:solidFill>
                      <a:srgbClr val="FFFFFF"/>
                    </a:solidFill>
                  </a:tcPr>
                </a:tc>
                <a:tc>
                  <a:txBody>
                    <a:bodyPr wrap="none"/>
                    <a:lstStyle/>
                    <a:p>
                      <a:pPr algn="ctr"/>
                      <a:r>
                        <a:rPr sz="750" b="1" i="0">
                          <a:solidFill>
                            <a:srgbClr val="1B7F3A"/>
                          </a:solidFill>
                          <a:latin typeface="Arial"/>
                        </a:rPr>
                        <a:t>0</a:t>
                      </a:r>
                    </a:p>
                  </a:txBody>
                  <a:tcPr>
                    <a:solidFill>
                      <a:srgbClr val="FFFFFF"/>
                    </a:solidFill>
                  </a:tcPr>
                </a:tc>
                <a:tc>
                  <a:txBody>
                    <a:bodyPr wrap="none"/>
                    <a:lstStyle/>
                    <a:p>
                      <a:pPr algn="ctr"/>
                      <a:r>
                        <a:rPr sz="750" b="1" i="0">
                          <a:solidFill>
                            <a:srgbClr val="C00000"/>
                          </a:solidFill>
                          <a:latin typeface="Arial"/>
                        </a:rPr>
                        <a:t>2</a:t>
                      </a:r>
                    </a:p>
                  </a:txBody>
                  <a:tcPr>
                    <a:solidFill>
                      <a:srgbClr val="FFFFFF"/>
                    </a:solidFill>
                  </a:tcPr>
                </a:tc>
                <a:tc>
                  <a:txBody>
                    <a:bodyPr wrap="none"/>
                    <a:lstStyle/>
                    <a:p>
                      <a:pPr algn="ctr"/>
                      <a:r>
                        <a:rPr sz="750" b="0" i="0">
                          <a:solidFill>
                            <a:srgbClr val="262626"/>
                          </a:solidFill>
                          <a:latin typeface="Arial"/>
                        </a:rPr>
                        <a:t>141</a:t>
                      </a:r>
                    </a:p>
                  </a:txBody>
                  <a:tcPr>
                    <a:solidFill>
                      <a:srgbClr val="FFFFFF"/>
                    </a:solidFill>
                  </a:tcPr>
                </a:tc>
                <a:tc>
                  <a:txBody>
                    <a:bodyPr wrap="none"/>
                    <a:lstStyle/>
                    <a:p>
                      <a:pPr algn="ctr"/>
                      <a:r>
                        <a:rPr sz="750" b="1" i="0">
                          <a:solidFill>
                            <a:srgbClr val="262626"/>
                          </a:solidFill>
                          <a:latin typeface="Arial"/>
                        </a:rPr>
                        <a:t>1,696</a:t>
                      </a:r>
                    </a:p>
                  </a:txBody>
                  <a:tcPr>
                    <a:solidFill>
                      <a:srgbClr val="FFFFFF"/>
                    </a:solidFill>
                  </a:tcPr>
                </a:tc>
              </a:tr>
            </a:tbl>
          </a:graphicData>
        </a:graphic>
      </p:graphicFrame>
      <p:sp>
        <p:nvSpPr>
          <p:cNvPr id="17" name="Rectangle 16"/>
          <p:cNvSpPr/>
          <p:nvPr/>
        </p:nvSpPr>
        <p:spPr>
          <a:xfrm>
            <a:off x="612648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639312"/>
            <a:ext cx="5806440" cy="219456"/>
          </a:xfrm>
          <a:prstGeom prst="rect">
            <a:avLst/>
          </a:prstGeom>
          <a:noFill/>
        </p:spPr>
        <p:txBody>
          <a:bodyPr wrap="square">
            <a:spAutoFit/>
          </a:bodyPr>
          <a:lstStyle/>
          <a:p>
            <a:pPr algn="ctr"/>
            <a:r>
              <a:rPr sz="1100" b="1" i="0">
                <a:solidFill>
                  <a:srgbClr val="FFFFFF"/>
                </a:solidFill>
                <a:latin typeface="Arial"/>
              </a:rPr>
              <a:t>USA WOMEN</a:t>
            </a:r>
          </a:p>
        </p:txBody>
      </p:sp>
      <p:graphicFrame>
        <p:nvGraphicFramePr>
          <p:cNvPr id="19" name="Table 18"/>
          <p:cNvGraphicFramePr>
            <a:graphicFrameLocks noGrp="1"/>
          </p:cNvGraphicFramePr>
          <p:nvPr/>
        </p:nvGraphicFramePr>
        <p:xfrm>
          <a:off x="6126480" y="3931920"/>
          <a:ext cx="5806440" cy="2414016"/>
        </p:xfrm>
        <a:graphic>
          <a:graphicData uri="http://schemas.openxmlformats.org/drawingml/2006/table">
            <a:tbl>
              <a:tblPr firstRow="1" bandRow="1">
                <a:tableStyleId>{5C22544A-7EE6-4342-B048-85BDC9FD1C3A}</a:tableStyleId>
              </a:tblPr>
              <a:tblGrid>
                <a:gridCol w="411480"/>
                <a:gridCol w="1920240"/>
                <a:gridCol w="731520"/>
                <a:gridCol w="502920"/>
                <a:gridCol w="411480"/>
                <a:gridCol w="411480"/>
                <a:gridCol w="685800"/>
                <a:gridCol w="731520"/>
              </a:tblGrid>
              <a:tr h="201168">
                <a:tc>
                  <a:txBody>
                    <a:bodyPr wrap="none"/>
                    <a:lstStyle/>
                    <a:p>
                      <a:pPr algn="ctr"/>
                      <a:r>
                        <a:rPr sz="850" b="1" i="0">
                          <a:solidFill>
                            <a:srgbClr val="FFFFFF"/>
                          </a:solidFill>
                          <a:latin typeface="Arial"/>
                        </a:rPr>
                        <a:t>Rk</a:t>
                      </a:r>
                    </a:p>
                  </a:txBody>
                  <a:tcPr>
                    <a:solidFill>
                      <a:srgbClr val="002060"/>
                    </a:solidFill>
                  </a:tcPr>
                </a:tc>
                <a:tc>
                  <a:txBody>
                    <a:bodyPr wrap="none"/>
                    <a:lstStyle/>
                    <a:p>
                      <a:pPr algn="l"/>
                      <a:r>
                        <a:rPr sz="850" b="1" i="0">
                          <a:solidFill>
                            <a:srgbClr val="FFFFFF"/>
                          </a:solidFill>
                          <a:latin typeface="Arial"/>
                        </a:rPr>
                        <a:t>Athlete</a:t>
                      </a:r>
                    </a:p>
                  </a:txBody>
                  <a:tcPr>
                    <a:solidFill>
                      <a:srgbClr val="002060"/>
                    </a:solidFill>
                  </a:tcPr>
                </a:tc>
                <a:tc>
                  <a:txBody>
                    <a:bodyPr wrap="none"/>
                    <a:lstStyle/>
                    <a:p>
                      <a:pPr algn="ctr"/>
                      <a:r>
                        <a:rPr sz="850" b="1" i="0">
                          <a:solidFill>
                            <a:srgbClr val="FFFFFF"/>
                          </a:solidFill>
                          <a:latin typeface="Arial"/>
                        </a:rPr>
                        <a:t>Total</a:t>
                      </a:r>
                    </a:p>
                  </a:txBody>
                  <a:tcPr>
                    <a:solidFill>
                      <a:srgbClr val="002060"/>
                    </a:solidFill>
                  </a:tcPr>
                </a:tc>
                <a:tc>
                  <a:txBody>
                    <a:bodyPr wrap="none"/>
                    <a:lstStyle/>
                    <a:p>
                      <a:pPr algn="ctr"/>
                      <a:r>
                        <a:rPr sz="850" b="1" i="0">
                          <a:solidFill>
                            <a:srgbClr val="FFFFFF"/>
                          </a:solidFill>
                          <a:latin typeface="Arial"/>
                        </a:rPr>
                        <a:t>Races</a:t>
                      </a:r>
                    </a:p>
                  </a:txBody>
                  <a:tcPr>
                    <a:solidFill>
                      <a:srgbClr val="002060"/>
                    </a:solidFill>
                  </a:tcPr>
                </a:tc>
                <a:tc>
                  <a:txBody>
                    <a:bodyPr wrap="none"/>
                    <a:lstStyle/>
                    <a:p>
                      <a:pPr algn="ctr"/>
                      <a:r>
                        <a:rPr sz="850" b="1" i="0">
                          <a:solidFill>
                            <a:srgbClr val="FFFFFF"/>
                          </a:solidFill>
                          <a:latin typeface="Arial"/>
                        </a:rPr>
                        <a:t>On</a:t>
                      </a:r>
                    </a:p>
                  </a:txBody>
                  <a:tcPr>
                    <a:solidFill>
                      <a:srgbClr val="002060"/>
                    </a:solidFill>
                  </a:tcPr>
                </a:tc>
                <a:tc>
                  <a:txBody>
                    <a:bodyPr wrap="none"/>
                    <a:lstStyle/>
                    <a:p>
                      <a:pPr algn="ctr"/>
                      <a:r>
                        <a:rPr sz="850" b="1" i="0">
                          <a:solidFill>
                            <a:srgbClr val="FFFFFF"/>
                          </a:solidFill>
                          <a:latin typeface="Arial"/>
                        </a:rPr>
                        <a:t>Off</a:t>
                      </a:r>
                    </a:p>
                  </a:txBody>
                  <a:tcPr>
                    <a:solidFill>
                      <a:srgbClr val="002060"/>
                    </a:solidFill>
                  </a:tcPr>
                </a:tc>
                <a:tc>
                  <a:txBody>
                    <a:bodyPr wrap="none"/>
                    <a:lstStyle/>
                    <a:p>
                      <a:pPr algn="ctr"/>
                      <a:r>
                        <a:rPr sz="850" b="1" i="0">
                          <a:solidFill>
                            <a:srgbClr val="FFFFFF"/>
                          </a:solidFill>
                          <a:latin typeface="Arial"/>
                        </a:rPr>
                        <a:t>Pace</a:t>
                      </a:r>
                    </a:p>
                  </a:txBody>
                  <a:tcPr>
                    <a:solidFill>
                      <a:srgbClr val="002060"/>
                    </a:solidFill>
                  </a:tcPr>
                </a:tc>
                <a:tc>
                  <a:txBody>
                    <a:bodyPr wrap="none"/>
                    <a:lstStyle/>
                    <a:p>
                      <a:pPr algn="ctr"/>
                      <a:r>
                        <a:rPr sz="850" b="1" i="0">
                          <a:solidFill>
                            <a:srgbClr val="FFFFFF"/>
                          </a:solidFill>
                          <a:latin typeface="Arial"/>
                        </a:rPr>
                        <a:t>Proj @12</a:t>
                      </a:r>
                    </a:p>
                  </a:txBody>
                  <a:tcPr>
                    <a:solidFill>
                      <a:srgbClr val="002060"/>
                    </a:solidFill>
                  </a:tcPr>
                </a:tc>
              </a:tr>
              <a:tr h="201168">
                <a:tc>
                  <a:txBody>
                    <a:bodyPr wrap="none"/>
                    <a:lstStyle/>
                    <a:p>
                      <a:pPr algn="ctr"/>
                      <a:r>
                        <a:rPr sz="750" b="1" i="0">
                          <a:solidFill>
                            <a:srgbClr val="262626"/>
                          </a:solidFill>
                          <a:latin typeface="Arial"/>
                        </a:rPr>
                        <a:t>10</a:t>
                      </a:r>
                    </a:p>
                  </a:txBody>
                  <a:tcPr>
                    <a:solidFill>
                      <a:srgbClr val="FFFFFF"/>
                    </a:solidFill>
                  </a:tcPr>
                </a:tc>
                <a:tc>
                  <a:txBody>
                    <a:bodyPr wrap="none"/>
                    <a:lstStyle/>
                    <a:p>
                      <a:pPr algn="l"/>
                      <a:r>
                        <a:rPr sz="750" b="0" i="0">
                          <a:solidFill>
                            <a:srgbClr val="262626"/>
                          </a:solidFill>
                          <a:latin typeface="Arial"/>
                        </a:rPr>
                        <a:t>Taylor Knibb</a:t>
                      </a:r>
                    </a:p>
                  </a:txBody>
                  <a:tcPr>
                    <a:solidFill>
                      <a:srgbClr val="FFFFFF"/>
                    </a:solidFill>
                  </a:tcPr>
                </a:tc>
                <a:tc>
                  <a:txBody>
                    <a:bodyPr wrap="none"/>
                    <a:lstStyle/>
                    <a:p>
                      <a:pPr algn="ctr"/>
                      <a:r>
                        <a:rPr sz="750" b="1" i="0">
                          <a:solidFill>
                            <a:srgbClr val="262626"/>
                          </a:solidFill>
                          <a:latin typeface="Arial"/>
                        </a:rPr>
                        <a:t>2,047</a:t>
                      </a:r>
                    </a:p>
                  </a:txBody>
                  <a:tcPr>
                    <a:solidFill>
                      <a:srgbClr val="FFFFFF"/>
                    </a:solidFill>
                  </a:tcPr>
                </a:tc>
                <a:tc>
                  <a:txBody>
                    <a:bodyPr wrap="none"/>
                    <a:lstStyle/>
                    <a:p>
                      <a:pPr algn="ctr"/>
                      <a:r>
                        <a:rPr sz="750" b="0" i="0">
                          <a:solidFill>
                            <a:srgbClr val="262626"/>
                          </a:solidFill>
                          <a:latin typeface="Arial"/>
                        </a:rPr>
                        <a:t>4</a:t>
                      </a:r>
                    </a:p>
                  </a:txBody>
                  <a:tcPr>
                    <a:solidFill>
                      <a:srgbClr val="FFFFFF"/>
                    </a:solidFill>
                  </a:tcPr>
                </a:tc>
                <a:tc>
                  <a:txBody>
                    <a:bodyPr wrap="none"/>
                    <a:lstStyle/>
                    <a:p>
                      <a:pPr algn="ctr"/>
                      <a:r>
                        <a:rPr sz="750" b="1" i="0">
                          <a:solidFill>
                            <a:srgbClr val="1B7F3A"/>
                          </a:solidFill>
                          <a:latin typeface="Arial"/>
                        </a:rPr>
                        <a:t>4</a:t>
                      </a:r>
                    </a:p>
                  </a:txBody>
                  <a:tcPr>
                    <a:solidFill>
                      <a:srgbClr val="FFFFFF"/>
                    </a:solidFill>
                  </a:tcPr>
                </a:tc>
                <a:tc>
                  <a:txBody>
                    <a:bodyPr wrap="none"/>
                    <a:lstStyle/>
                    <a:p>
                      <a:pPr algn="ctr"/>
                      <a:r>
                        <a:rPr sz="750" b="1" i="0">
                          <a:solidFill>
                            <a:srgbClr val="C00000"/>
                          </a:solidFill>
                          <a:latin typeface="Arial"/>
                        </a:rPr>
                        <a:t>0</a:t>
                      </a:r>
                    </a:p>
                  </a:txBody>
                  <a:tcPr>
                    <a:solidFill>
                      <a:srgbClr val="FFFFFF"/>
                    </a:solidFill>
                  </a:tcPr>
                </a:tc>
                <a:tc>
                  <a:txBody>
                    <a:bodyPr wrap="none"/>
                    <a:lstStyle/>
                    <a:p>
                      <a:pPr algn="ctr"/>
                      <a:r>
                        <a:rPr sz="750" b="0" i="0">
                          <a:solidFill>
                            <a:srgbClr val="262626"/>
                          </a:solidFill>
                          <a:latin typeface="Arial"/>
                        </a:rPr>
                        <a:t>511</a:t>
                      </a:r>
                    </a:p>
                  </a:txBody>
                  <a:tcPr>
                    <a:solidFill>
                      <a:srgbClr val="FFFFFF"/>
                    </a:solidFill>
                  </a:tcPr>
                </a:tc>
                <a:tc>
                  <a:txBody>
                    <a:bodyPr wrap="none"/>
                    <a:lstStyle/>
                    <a:p>
                      <a:pPr algn="ctr"/>
                      <a:r>
                        <a:rPr sz="750" b="1" i="0">
                          <a:solidFill>
                            <a:srgbClr val="1B7F3A"/>
                          </a:solidFill>
                          <a:latin typeface="Arial"/>
                        </a:rPr>
                        <a:t>6,142</a:t>
                      </a:r>
                    </a:p>
                  </a:txBody>
                  <a:tcPr>
                    <a:solidFill>
                      <a:srgbClr val="FFFFFF"/>
                    </a:solidFill>
                  </a:tcPr>
                </a:tc>
              </a:tr>
              <a:tr h="201168">
                <a:tc>
                  <a:txBody>
                    <a:bodyPr wrap="none"/>
                    <a:lstStyle/>
                    <a:p>
                      <a:pPr algn="ctr"/>
                      <a:r>
                        <a:rPr sz="750" b="1" i="0">
                          <a:solidFill>
                            <a:srgbClr val="262626"/>
                          </a:solidFill>
                          <a:latin typeface="Arial"/>
                        </a:rPr>
                        <a:t>15</a:t>
                      </a:r>
                    </a:p>
                  </a:txBody>
                  <a:tcPr>
                    <a:solidFill>
                      <a:srgbClr val="F2F2F2"/>
                    </a:solidFill>
                  </a:tcPr>
                </a:tc>
                <a:tc>
                  <a:txBody>
                    <a:bodyPr wrap="none"/>
                    <a:lstStyle/>
                    <a:p>
                      <a:pPr algn="l"/>
                      <a:r>
                        <a:rPr sz="750" b="0" i="0">
                          <a:solidFill>
                            <a:srgbClr val="262626"/>
                          </a:solidFill>
                          <a:latin typeface="Arial"/>
                        </a:rPr>
                        <a:t>Taylor Spivey</a:t>
                      </a:r>
                    </a:p>
                  </a:txBody>
                  <a:tcPr>
                    <a:solidFill>
                      <a:srgbClr val="F2F2F2"/>
                    </a:solidFill>
                  </a:tcPr>
                </a:tc>
                <a:tc>
                  <a:txBody>
                    <a:bodyPr wrap="none"/>
                    <a:lstStyle/>
                    <a:p>
                      <a:pPr algn="ctr"/>
                      <a:r>
                        <a:rPr sz="750" b="1" i="0">
                          <a:solidFill>
                            <a:srgbClr val="262626"/>
                          </a:solidFill>
                          <a:latin typeface="Arial"/>
                        </a:rPr>
                        <a:t>1,795</a:t>
                      </a:r>
                    </a:p>
                  </a:txBody>
                  <a:tcPr>
                    <a:solidFill>
                      <a:srgbClr val="F2F2F2"/>
                    </a:solidFill>
                  </a:tcPr>
                </a:tc>
                <a:tc>
                  <a:txBody>
                    <a:bodyPr wrap="none"/>
                    <a:lstStyle/>
                    <a:p>
                      <a:pPr algn="ctr"/>
                      <a:r>
                        <a:rPr sz="750" b="0" i="0">
                          <a:solidFill>
                            <a:srgbClr val="262626"/>
                          </a:solidFill>
                          <a:latin typeface="Arial"/>
                        </a:rPr>
                        <a:t>3</a:t>
                      </a:r>
                    </a:p>
                  </a:txBody>
                  <a:tcPr>
                    <a:solidFill>
                      <a:srgbClr val="F2F2F2"/>
                    </a:solidFill>
                  </a:tcPr>
                </a:tc>
                <a:tc>
                  <a:txBody>
                    <a:bodyPr wrap="none"/>
                    <a:lstStyle/>
                    <a:p>
                      <a:pPr algn="ctr"/>
                      <a:r>
                        <a:rPr sz="750" b="1" i="0">
                          <a:solidFill>
                            <a:srgbClr val="1B7F3A"/>
                          </a:solidFill>
                          <a:latin typeface="Arial"/>
                        </a:rPr>
                        <a:t>3</a:t>
                      </a:r>
                    </a:p>
                  </a:txBody>
                  <a:tcPr>
                    <a:solidFill>
                      <a:srgbClr val="F2F2F2"/>
                    </a:solidFill>
                  </a:tcPr>
                </a:tc>
                <a:tc>
                  <a:txBody>
                    <a:bodyPr wrap="none"/>
                    <a:lstStyle/>
                    <a:p>
                      <a:pPr algn="ctr"/>
                      <a:r>
                        <a:rPr sz="750" b="1" i="0">
                          <a:solidFill>
                            <a:srgbClr val="C00000"/>
                          </a:solidFill>
                          <a:latin typeface="Arial"/>
                        </a:rPr>
                        <a:t>0</a:t>
                      </a:r>
                    </a:p>
                  </a:txBody>
                  <a:tcPr>
                    <a:solidFill>
                      <a:srgbClr val="F2F2F2"/>
                    </a:solidFill>
                  </a:tcPr>
                </a:tc>
                <a:tc>
                  <a:txBody>
                    <a:bodyPr wrap="none"/>
                    <a:lstStyle/>
                    <a:p>
                      <a:pPr algn="ctr"/>
                      <a:r>
                        <a:rPr sz="750" b="0" i="0">
                          <a:solidFill>
                            <a:srgbClr val="262626"/>
                          </a:solidFill>
                          <a:latin typeface="Arial"/>
                        </a:rPr>
                        <a:t>598</a:t>
                      </a:r>
                    </a:p>
                  </a:txBody>
                  <a:tcPr>
                    <a:solidFill>
                      <a:srgbClr val="F2F2F2"/>
                    </a:solidFill>
                  </a:tcPr>
                </a:tc>
                <a:tc>
                  <a:txBody>
                    <a:bodyPr wrap="none"/>
                    <a:lstStyle/>
                    <a:p>
                      <a:pPr algn="ctr"/>
                      <a:r>
                        <a:rPr sz="750" b="1" i="0">
                          <a:solidFill>
                            <a:srgbClr val="1B7F3A"/>
                          </a:solidFill>
                          <a:latin typeface="Arial"/>
                        </a:rPr>
                        <a:t>7,180</a:t>
                      </a:r>
                    </a:p>
                  </a:txBody>
                  <a:tcPr>
                    <a:solidFill>
                      <a:srgbClr val="F2F2F2"/>
                    </a:solidFill>
                  </a:tcPr>
                </a:tc>
              </a:tr>
              <a:tr h="201168">
                <a:tc>
                  <a:txBody>
                    <a:bodyPr wrap="none"/>
                    <a:lstStyle/>
                    <a:p>
                      <a:pPr algn="ctr"/>
                      <a:r>
                        <a:rPr sz="750" b="1" i="0">
                          <a:solidFill>
                            <a:srgbClr val="262626"/>
                          </a:solidFill>
                          <a:latin typeface="Arial"/>
                        </a:rPr>
                        <a:t>16</a:t>
                      </a:r>
                    </a:p>
                  </a:txBody>
                  <a:tcPr>
                    <a:solidFill>
                      <a:srgbClr val="FFFFFF"/>
                    </a:solidFill>
                  </a:tcPr>
                </a:tc>
                <a:tc>
                  <a:txBody>
                    <a:bodyPr wrap="none"/>
                    <a:lstStyle/>
                    <a:p>
                      <a:pPr algn="l"/>
                      <a:r>
                        <a:rPr sz="750" b="0" i="0">
                          <a:solidFill>
                            <a:srgbClr val="262626"/>
                          </a:solidFill>
                          <a:latin typeface="Arial"/>
                        </a:rPr>
                        <a:t>Gina Sereno</a:t>
                      </a:r>
                    </a:p>
                  </a:txBody>
                  <a:tcPr>
                    <a:solidFill>
                      <a:srgbClr val="FFFFFF"/>
                    </a:solidFill>
                  </a:tcPr>
                </a:tc>
                <a:tc>
                  <a:txBody>
                    <a:bodyPr wrap="none"/>
                    <a:lstStyle/>
                    <a:p>
                      <a:pPr algn="ctr"/>
                      <a:r>
                        <a:rPr sz="750" b="1" i="0">
                          <a:solidFill>
                            <a:srgbClr val="262626"/>
                          </a:solidFill>
                          <a:latin typeface="Arial"/>
                        </a:rPr>
                        <a:t>1,785</a:t>
                      </a:r>
                    </a:p>
                  </a:txBody>
                  <a:tcPr>
                    <a:solidFill>
                      <a:srgbClr val="FFFFFF"/>
                    </a:solidFill>
                  </a:tcPr>
                </a:tc>
                <a:tc>
                  <a:txBody>
                    <a:bodyPr wrap="none"/>
                    <a:lstStyle/>
                    <a:p>
                      <a:pPr algn="ctr"/>
                      <a:r>
                        <a:rPr sz="750" b="0" i="0">
                          <a:solidFill>
                            <a:srgbClr val="262626"/>
                          </a:solidFill>
                          <a:latin typeface="Arial"/>
                        </a:rPr>
                        <a:t>5</a:t>
                      </a:r>
                    </a:p>
                  </a:txBody>
                  <a:tcPr>
                    <a:solidFill>
                      <a:srgbClr val="FFFFFF"/>
                    </a:solidFill>
                  </a:tcPr>
                </a:tc>
                <a:tc>
                  <a:txBody>
                    <a:bodyPr wrap="none"/>
                    <a:lstStyle/>
                    <a:p>
                      <a:pPr algn="ctr"/>
                      <a:r>
                        <a:rPr sz="750" b="1" i="0">
                          <a:solidFill>
                            <a:srgbClr val="1B7F3A"/>
                          </a:solidFill>
                          <a:latin typeface="Arial"/>
                        </a:rPr>
                        <a:t>3</a:t>
                      </a:r>
                    </a:p>
                  </a:txBody>
                  <a:tcPr>
                    <a:solidFill>
                      <a:srgbClr val="FFFFFF"/>
                    </a:solidFill>
                  </a:tcPr>
                </a:tc>
                <a:tc>
                  <a:txBody>
                    <a:bodyPr wrap="none"/>
                    <a:lstStyle/>
                    <a:p>
                      <a:pPr algn="ctr"/>
                      <a:r>
                        <a:rPr sz="750" b="1" i="0">
                          <a:solidFill>
                            <a:srgbClr val="C00000"/>
                          </a:solidFill>
                          <a:latin typeface="Arial"/>
                        </a:rPr>
                        <a:t>2</a:t>
                      </a:r>
                    </a:p>
                  </a:txBody>
                  <a:tcPr>
                    <a:solidFill>
                      <a:srgbClr val="FFFFFF"/>
                    </a:solidFill>
                  </a:tcPr>
                </a:tc>
                <a:tc>
                  <a:txBody>
                    <a:bodyPr wrap="none"/>
                    <a:lstStyle/>
                    <a:p>
                      <a:pPr algn="ctr"/>
                      <a:r>
                        <a:rPr sz="750" b="0" i="0">
                          <a:solidFill>
                            <a:srgbClr val="262626"/>
                          </a:solidFill>
                          <a:latin typeface="Arial"/>
                        </a:rPr>
                        <a:t>357</a:t>
                      </a:r>
                    </a:p>
                  </a:txBody>
                  <a:tcPr>
                    <a:solidFill>
                      <a:srgbClr val="FFFFFF"/>
                    </a:solidFill>
                  </a:tcPr>
                </a:tc>
                <a:tc>
                  <a:txBody>
                    <a:bodyPr wrap="none"/>
                    <a:lstStyle/>
                    <a:p>
                      <a:pPr algn="ctr"/>
                      <a:r>
                        <a:rPr sz="750" b="1" i="0">
                          <a:solidFill>
                            <a:srgbClr val="1B7F3A"/>
                          </a:solidFill>
                          <a:latin typeface="Arial"/>
                        </a:rPr>
                        <a:t>4,286</a:t>
                      </a:r>
                    </a:p>
                  </a:txBody>
                  <a:tcPr>
                    <a:solidFill>
                      <a:srgbClr val="FFFFFF"/>
                    </a:solidFill>
                  </a:tcPr>
                </a:tc>
              </a:tr>
              <a:tr h="201168">
                <a:tc>
                  <a:txBody>
                    <a:bodyPr wrap="none"/>
                    <a:lstStyle/>
                    <a:p>
                      <a:pPr algn="ctr"/>
                      <a:r>
                        <a:rPr sz="750" b="1" i="0">
                          <a:solidFill>
                            <a:srgbClr val="262626"/>
                          </a:solidFill>
                          <a:latin typeface="Arial"/>
                        </a:rPr>
                        <a:t>17</a:t>
                      </a:r>
                    </a:p>
                  </a:txBody>
                  <a:tcPr>
                    <a:solidFill>
                      <a:srgbClr val="F2F2F2"/>
                    </a:solidFill>
                  </a:tcPr>
                </a:tc>
                <a:tc>
                  <a:txBody>
                    <a:bodyPr wrap="none"/>
                    <a:lstStyle/>
                    <a:p>
                      <a:pPr algn="l"/>
                      <a:r>
                        <a:rPr sz="750" b="0" i="0">
                          <a:solidFill>
                            <a:srgbClr val="262626"/>
                          </a:solidFill>
                          <a:latin typeface="Arial"/>
                        </a:rPr>
                        <a:t>Danielle Orie</a:t>
                      </a:r>
                    </a:p>
                  </a:txBody>
                  <a:tcPr>
                    <a:solidFill>
                      <a:srgbClr val="F2F2F2"/>
                    </a:solidFill>
                  </a:tcPr>
                </a:tc>
                <a:tc>
                  <a:txBody>
                    <a:bodyPr wrap="none"/>
                    <a:lstStyle/>
                    <a:p>
                      <a:pPr algn="ctr"/>
                      <a:r>
                        <a:rPr sz="750" b="1" i="0">
                          <a:solidFill>
                            <a:srgbClr val="262626"/>
                          </a:solidFill>
                          <a:latin typeface="Arial"/>
                        </a:rPr>
                        <a:t>1,646</a:t>
                      </a:r>
                    </a:p>
                  </a:txBody>
                  <a:tcPr>
                    <a:solidFill>
                      <a:srgbClr val="F2F2F2"/>
                    </a:solidFill>
                  </a:tcPr>
                </a:tc>
                <a:tc>
                  <a:txBody>
                    <a:bodyPr wrap="none"/>
                    <a:lstStyle/>
                    <a:p>
                      <a:pPr algn="ctr"/>
                      <a:r>
                        <a:rPr sz="750" b="0" i="0">
                          <a:solidFill>
                            <a:srgbClr val="262626"/>
                          </a:solidFill>
                          <a:latin typeface="Arial"/>
                        </a:rPr>
                        <a:t>5</a:t>
                      </a:r>
                    </a:p>
                  </a:txBody>
                  <a:tcPr>
                    <a:solidFill>
                      <a:srgbClr val="F2F2F2"/>
                    </a:solidFill>
                  </a:tcPr>
                </a:tc>
                <a:tc>
                  <a:txBody>
                    <a:bodyPr wrap="none"/>
                    <a:lstStyle/>
                    <a:p>
                      <a:pPr algn="ctr"/>
                      <a:r>
                        <a:rPr sz="750" b="1" i="0">
                          <a:solidFill>
                            <a:srgbClr val="1B7F3A"/>
                          </a:solidFill>
                          <a:latin typeface="Arial"/>
                        </a:rPr>
                        <a:t>3</a:t>
                      </a:r>
                    </a:p>
                  </a:txBody>
                  <a:tcPr>
                    <a:solidFill>
                      <a:srgbClr val="F2F2F2"/>
                    </a:solidFill>
                  </a:tcPr>
                </a:tc>
                <a:tc>
                  <a:txBody>
                    <a:bodyPr wrap="none"/>
                    <a:lstStyle/>
                    <a:p>
                      <a:pPr algn="ctr"/>
                      <a:r>
                        <a:rPr sz="750" b="1" i="0">
                          <a:solidFill>
                            <a:srgbClr val="C00000"/>
                          </a:solidFill>
                          <a:latin typeface="Arial"/>
                        </a:rPr>
                        <a:t>2</a:t>
                      </a:r>
                    </a:p>
                  </a:txBody>
                  <a:tcPr>
                    <a:solidFill>
                      <a:srgbClr val="F2F2F2"/>
                    </a:solidFill>
                  </a:tcPr>
                </a:tc>
                <a:tc>
                  <a:txBody>
                    <a:bodyPr wrap="none"/>
                    <a:lstStyle/>
                    <a:p>
                      <a:pPr algn="ctr"/>
                      <a:r>
                        <a:rPr sz="750" b="0" i="0">
                          <a:solidFill>
                            <a:srgbClr val="262626"/>
                          </a:solidFill>
                          <a:latin typeface="Arial"/>
                        </a:rPr>
                        <a:t>329</a:t>
                      </a:r>
                    </a:p>
                  </a:txBody>
                  <a:tcPr>
                    <a:solidFill>
                      <a:srgbClr val="F2F2F2"/>
                    </a:solidFill>
                  </a:tcPr>
                </a:tc>
                <a:tc>
                  <a:txBody>
                    <a:bodyPr wrap="none"/>
                    <a:lstStyle/>
                    <a:p>
                      <a:pPr algn="ctr"/>
                      <a:r>
                        <a:rPr sz="750" b="1" i="0">
                          <a:solidFill>
                            <a:srgbClr val="1B7F3A"/>
                          </a:solidFill>
                          <a:latin typeface="Arial"/>
                        </a:rPr>
                        <a:t>3,951</a:t>
                      </a:r>
                    </a:p>
                  </a:txBody>
                  <a:tcPr>
                    <a:solidFill>
                      <a:srgbClr val="F2F2F2"/>
                    </a:solidFill>
                  </a:tcPr>
                </a:tc>
              </a:tr>
              <a:tr h="201168">
                <a:tc>
                  <a:txBody>
                    <a:bodyPr wrap="none"/>
                    <a:lstStyle/>
                    <a:p>
                      <a:pPr algn="ctr"/>
                      <a:r>
                        <a:rPr sz="750" b="1" i="0">
                          <a:solidFill>
                            <a:srgbClr val="262626"/>
                          </a:solidFill>
                          <a:latin typeface="Arial"/>
                        </a:rPr>
                        <a:t>23</a:t>
                      </a:r>
                    </a:p>
                  </a:txBody>
                  <a:tcPr>
                    <a:solidFill>
                      <a:srgbClr val="FFFFFF"/>
                    </a:solidFill>
                  </a:tcPr>
                </a:tc>
                <a:tc>
                  <a:txBody>
                    <a:bodyPr wrap="none"/>
                    <a:lstStyle/>
                    <a:p>
                      <a:pPr algn="l"/>
                      <a:r>
                        <a:rPr sz="750" b="0" i="0">
                          <a:solidFill>
                            <a:srgbClr val="262626"/>
                          </a:solidFill>
                          <a:latin typeface="Arial"/>
                        </a:rPr>
                        <a:t>Gwen Jorgensen</a:t>
                      </a:r>
                    </a:p>
                  </a:txBody>
                  <a:tcPr>
                    <a:solidFill>
                      <a:srgbClr val="FFFFFF"/>
                    </a:solidFill>
                  </a:tcPr>
                </a:tc>
                <a:tc>
                  <a:txBody>
                    <a:bodyPr wrap="none"/>
                    <a:lstStyle/>
                    <a:p>
                      <a:pPr algn="ctr"/>
                      <a:r>
                        <a:rPr sz="750" b="1" i="0">
                          <a:solidFill>
                            <a:srgbClr val="262626"/>
                          </a:solidFill>
                          <a:latin typeface="Arial"/>
                        </a:rPr>
                        <a:t>1,288</a:t>
                      </a:r>
                    </a:p>
                  </a:txBody>
                  <a:tcPr>
                    <a:solidFill>
                      <a:srgbClr val="FFFFFF"/>
                    </a:solidFill>
                  </a:tcPr>
                </a:tc>
                <a:tc>
                  <a:txBody>
                    <a:bodyPr wrap="none"/>
                    <a:lstStyle/>
                    <a:p>
                      <a:pPr algn="ctr"/>
                      <a:r>
                        <a:rPr sz="750" b="0" i="0">
                          <a:solidFill>
                            <a:srgbClr val="262626"/>
                          </a:solidFill>
                          <a:latin typeface="Arial"/>
                        </a:rPr>
                        <a:t>3</a:t>
                      </a:r>
                    </a:p>
                  </a:txBody>
                  <a:tcPr>
                    <a:solidFill>
                      <a:srgbClr val="FFFFFF"/>
                    </a:solidFill>
                  </a:tcPr>
                </a:tc>
                <a:tc>
                  <a:txBody>
                    <a:bodyPr wrap="none"/>
                    <a:lstStyle/>
                    <a:p>
                      <a:pPr algn="ctr"/>
                      <a:r>
                        <a:rPr sz="750" b="1" i="0">
                          <a:solidFill>
                            <a:srgbClr val="1B7F3A"/>
                          </a:solidFill>
                          <a:latin typeface="Arial"/>
                        </a:rPr>
                        <a:t>2</a:t>
                      </a:r>
                    </a:p>
                  </a:txBody>
                  <a:tcPr>
                    <a:solidFill>
                      <a:srgbClr val="FFFFFF"/>
                    </a:solidFill>
                  </a:tcPr>
                </a:tc>
                <a:tc>
                  <a:txBody>
                    <a:bodyPr wrap="none"/>
                    <a:lstStyle/>
                    <a:p>
                      <a:pPr algn="ctr"/>
                      <a:r>
                        <a:rPr sz="750" b="1" i="0">
                          <a:solidFill>
                            <a:srgbClr val="C00000"/>
                          </a:solidFill>
                          <a:latin typeface="Arial"/>
                        </a:rPr>
                        <a:t>1</a:t>
                      </a:r>
                    </a:p>
                  </a:txBody>
                  <a:tcPr>
                    <a:solidFill>
                      <a:srgbClr val="FFFFFF"/>
                    </a:solidFill>
                  </a:tcPr>
                </a:tc>
                <a:tc>
                  <a:txBody>
                    <a:bodyPr wrap="none"/>
                    <a:lstStyle/>
                    <a:p>
                      <a:pPr algn="ctr"/>
                      <a:r>
                        <a:rPr sz="750" b="0" i="0">
                          <a:solidFill>
                            <a:srgbClr val="262626"/>
                          </a:solidFill>
                          <a:latin typeface="Arial"/>
                        </a:rPr>
                        <a:t>429</a:t>
                      </a:r>
                    </a:p>
                  </a:txBody>
                  <a:tcPr>
                    <a:solidFill>
                      <a:srgbClr val="FFFFFF"/>
                    </a:solidFill>
                  </a:tcPr>
                </a:tc>
                <a:tc>
                  <a:txBody>
                    <a:bodyPr wrap="none"/>
                    <a:lstStyle/>
                    <a:p>
                      <a:pPr algn="ctr"/>
                      <a:r>
                        <a:rPr sz="750" b="1" i="0">
                          <a:solidFill>
                            <a:srgbClr val="1B7F3A"/>
                          </a:solidFill>
                          <a:latin typeface="Arial"/>
                        </a:rPr>
                        <a:t>5,153</a:t>
                      </a:r>
                    </a:p>
                  </a:txBody>
                  <a:tcPr>
                    <a:solidFill>
                      <a:srgbClr val="FFFFFF"/>
                    </a:solidFill>
                  </a:tcPr>
                </a:tc>
              </a:tr>
              <a:tr h="201168">
                <a:tc>
                  <a:txBody>
                    <a:bodyPr wrap="none"/>
                    <a:lstStyle/>
                    <a:p>
                      <a:pPr algn="ctr"/>
                      <a:r>
                        <a:rPr sz="750" b="1" i="0">
                          <a:solidFill>
                            <a:srgbClr val="262626"/>
                          </a:solidFill>
                          <a:latin typeface="Arial"/>
                        </a:rPr>
                        <a:t>34</a:t>
                      </a:r>
                    </a:p>
                  </a:txBody>
                  <a:tcPr>
                    <a:solidFill>
                      <a:srgbClr val="F2F2F2"/>
                    </a:solidFill>
                  </a:tcPr>
                </a:tc>
                <a:tc>
                  <a:txBody>
                    <a:bodyPr wrap="none"/>
                    <a:lstStyle/>
                    <a:p>
                      <a:pPr algn="l"/>
                      <a:r>
                        <a:rPr sz="750" b="0" i="0">
                          <a:solidFill>
                            <a:srgbClr val="262626"/>
                          </a:solidFill>
                          <a:latin typeface="Arial"/>
                        </a:rPr>
                        <a:t>Kelly Wetteland</a:t>
                      </a:r>
                    </a:p>
                  </a:txBody>
                  <a:tcPr>
                    <a:solidFill>
                      <a:srgbClr val="F2F2F2"/>
                    </a:solidFill>
                  </a:tcPr>
                </a:tc>
                <a:tc>
                  <a:txBody>
                    <a:bodyPr wrap="none"/>
                    <a:lstStyle/>
                    <a:p>
                      <a:pPr algn="ctr"/>
                      <a:r>
                        <a:rPr sz="750" b="1" i="0">
                          <a:solidFill>
                            <a:srgbClr val="262626"/>
                          </a:solidFill>
                          <a:latin typeface="Arial"/>
                        </a:rPr>
                        <a:t>925</a:t>
                      </a:r>
                    </a:p>
                  </a:txBody>
                  <a:tcPr>
                    <a:solidFill>
                      <a:srgbClr val="F2F2F2"/>
                    </a:solidFill>
                  </a:tcPr>
                </a:tc>
                <a:tc>
                  <a:txBody>
                    <a:bodyPr wrap="none"/>
                    <a:lstStyle/>
                    <a:p>
                      <a:pPr algn="ctr"/>
                      <a:r>
                        <a:rPr sz="750" b="0" i="0">
                          <a:solidFill>
                            <a:srgbClr val="262626"/>
                          </a:solidFill>
                          <a:latin typeface="Arial"/>
                        </a:rPr>
                        <a:t>2</a:t>
                      </a:r>
                    </a:p>
                  </a:txBody>
                  <a:tcPr>
                    <a:solidFill>
                      <a:srgbClr val="F2F2F2"/>
                    </a:solidFill>
                  </a:tcPr>
                </a:tc>
                <a:tc>
                  <a:txBody>
                    <a:bodyPr wrap="none"/>
                    <a:lstStyle/>
                    <a:p>
                      <a:pPr algn="ctr"/>
                      <a:r>
                        <a:rPr sz="750" b="1" i="0">
                          <a:solidFill>
                            <a:srgbClr val="1B7F3A"/>
                          </a:solidFill>
                          <a:latin typeface="Arial"/>
                        </a:rPr>
                        <a:t>2</a:t>
                      </a:r>
                    </a:p>
                  </a:txBody>
                  <a:tcPr>
                    <a:solidFill>
                      <a:srgbClr val="F2F2F2"/>
                    </a:solidFill>
                  </a:tcPr>
                </a:tc>
                <a:tc>
                  <a:txBody>
                    <a:bodyPr wrap="none"/>
                    <a:lstStyle/>
                    <a:p>
                      <a:pPr algn="ctr"/>
                      <a:r>
                        <a:rPr sz="750" b="1" i="0">
                          <a:solidFill>
                            <a:srgbClr val="C00000"/>
                          </a:solidFill>
                          <a:latin typeface="Arial"/>
                        </a:rPr>
                        <a:t>0</a:t>
                      </a:r>
                    </a:p>
                  </a:txBody>
                  <a:tcPr>
                    <a:solidFill>
                      <a:srgbClr val="F2F2F2"/>
                    </a:solidFill>
                  </a:tcPr>
                </a:tc>
                <a:tc>
                  <a:txBody>
                    <a:bodyPr wrap="none"/>
                    <a:lstStyle/>
                    <a:p>
                      <a:pPr algn="ctr"/>
                      <a:r>
                        <a:rPr sz="750" b="0" i="0">
                          <a:solidFill>
                            <a:srgbClr val="262626"/>
                          </a:solidFill>
                          <a:latin typeface="Arial"/>
                        </a:rPr>
                        <a:t>462</a:t>
                      </a:r>
                    </a:p>
                  </a:txBody>
                  <a:tcPr>
                    <a:solidFill>
                      <a:srgbClr val="F2F2F2"/>
                    </a:solidFill>
                  </a:tcPr>
                </a:tc>
                <a:tc>
                  <a:txBody>
                    <a:bodyPr wrap="none"/>
                    <a:lstStyle/>
                    <a:p>
                      <a:pPr algn="ctr"/>
                      <a:r>
                        <a:rPr sz="750" b="1" i="0">
                          <a:solidFill>
                            <a:srgbClr val="1B7F3A"/>
                          </a:solidFill>
                          <a:latin typeface="Arial"/>
                        </a:rPr>
                        <a:t>5,550</a:t>
                      </a:r>
                    </a:p>
                  </a:txBody>
                  <a:tcPr>
                    <a:solidFill>
                      <a:srgbClr val="F2F2F2"/>
                    </a:solidFill>
                  </a:tcPr>
                </a:tc>
              </a:tr>
              <a:tr h="201168">
                <a:tc>
                  <a:txBody>
                    <a:bodyPr wrap="none"/>
                    <a:lstStyle/>
                    <a:p>
                      <a:pPr algn="ctr"/>
                      <a:r>
                        <a:rPr sz="750" b="1" i="0">
                          <a:solidFill>
                            <a:srgbClr val="262626"/>
                          </a:solidFill>
                          <a:latin typeface="Arial"/>
                        </a:rPr>
                        <a:t>38</a:t>
                      </a:r>
                    </a:p>
                  </a:txBody>
                  <a:tcPr>
                    <a:solidFill>
                      <a:srgbClr val="FFFFFF"/>
                    </a:solidFill>
                  </a:tcPr>
                </a:tc>
                <a:tc>
                  <a:txBody>
                    <a:bodyPr wrap="none"/>
                    <a:lstStyle/>
                    <a:p>
                      <a:pPr algn="l"/>
                      <a:r>
                        <a:rPr sz="750" b="0" i="0">
                          <a:solidFill>
                            <a:srgbClr val="262626"/>
                          </a:solidFill>
                          <a:latin typeface="Arial"/>
                        </a:rPr>
                        <a:t>Naomi Ruff</a:t>
                      </a:r>
                    </a:p>
                  </a:txBody>
                  <a:tcPr>
                    <a:solidFill>
                      <a:srgbClr val="FFFFFF"/>
                    </a:solidFill>
                  </a:tcPr>
                </a:tc>
                <a:tc>
                  <a:txBody>
                    <a:bodyPr wrap="none"/>
                    <a:lstStyle/>
                    <a:p>
                      <a:pPr algn="ctr"/>
                      <a:r>
                        <a:rPr sz="750" b="1" i="0">
                          <a:solidFill>
                            <a:srgbClr val="262626"/>
                          </a:solidFill>
                          <a:latin typeface="Arial"/>
                        </a:rPr>
                        <a:t>882</a:t>
                      </a:r>
                    </a:p>
                  </a:txBody>
                  <a:tcPr>
                    <a:solidFill>
                      <a:srgbClr val="FFFFFF"/>
                    </a:solidFill>
                  </a:tcPr>
                </a:tc>
                <a:tc>
                  <a:txBody>
                    <a:bodyPr wrap="none"/>
                    <a:lstStyle/>
                    <a:p>
                      <a:pPr algn="ctr"/>
                      <a:r>
                        <a:rPr sz="750" b="0" i="0">
                          <a:solidFill>
                            <a:srgbClr val="262626"/>
                          </a:solidFill>
                          <a:latin typeface="Arial"/>
                        </a:rPr>
                        <a:t>3</a:t>
                      </a:r>
                    </a:p>
                  </a:txBody>
                  <a:tcPr>
                    <a:solidFill>
                      <a:srgbClr val="FFFFFF"/>
                    </a:solidFill>
                  </a:tcPr>
                </a:tc>
                <a:tc>
                  <a:txBody>
                    <a:bodyPr wrap="none"/>
                    <a:lstStyle/>
                    <a:p>
                      <a:pPr algn="ctr"/>
                      <a:r>
                        <a:rPr sz="750" b="1" i="0">
                          <a:solidFill>
                            <a:srgbClr val="1B7F3A"/>
                          </a:solidFill>
                          <a:latin typeface="Arial"/>
                        </a:rPr>
                        <a:t>1</a:t>
                      </a:r>
                    </a:p>
                  </a:txBody>
                  <a:tcPr>
                    <a:solidFill>
                      <a:srgbClr val="FFFFFF"/>
                    </a:solidFill>
                  </a:tcPr>
                </a:tc>
                <a:tc>
                  <a:txBody>
                    <a:bodyPr wrap="none"/>
                    <a:lstStyle/>
                    <a:p>
                      <a:pPr algn="ctr"/>
                      <a:r>
                        <a:rPr sz="750" b="1" i="0">
                          <a:solidFill>
                            <a:srgbClr val="C00000"/>
                          </a:solidFill>
                          <a:latin typeface="Arial"/>
                        </a:rPr>
                        <a:t>2</a:t>
                      </a:r>
                    </a:p>
                  </a:txBody>
                  <a:tcPr>
                    <a:solidFill>
                      <a:srgbClr val="FFFFFF"/>
                    </a:solidFill>
                  </a:tcPr>
                </a:tc>
                <a:tc>
                  <a:txBody>
                    <a:bodyPr wrap="none"/>
                    <a:lstStyle/>
                    <a:p>
                      <a:pPr algn="ctr"/>
                      <a:r>
                        <a:rPr sz="750" b="0" i="0">
                          <a:solidFill>
                            <a:srgbClr val="262626"/>
                          </a:solidFill>
                          <a:latin typeface="Arial"/>
                        </a:rPr>
                        <a:t>294</a:t>
                      </a:r>
                    </a:p>
                  </a:txBody>
                  <a:tcPr>
                    <a:solidFill>
                      <a:srgbClr val="FFFFFF"/>
                    </a:solidFill>
                  </a:tcPr>
                </a:tc>
                <a:tc>
                  <a:txBody>
                    <a:bodyPr wrap="none"/>
                    <a:lstStyle/>
                    <a:p>
                      <a:pPr algn="ctr"/>
                      <a:r>
                        <a:rPr sz="750" b="1" i="0">
                          <a:solidFill>
                            <a:srgbClr val="262626"/>
                          </a:solidFill>
                          <a:latin typeface="Arial"/>
                        </a:rPr>
                        <a:t>3,530</a:t>
                      </a:r>
                    </a:p>
                  </a:txBody>
                  <a:tcPr>
                    <a:solidFill>
                      <a:srgbClr val="FFFFFF"/>
                    </a:solidFill>
                  </a:tcPr>
                </a:tc>
              </a:tr>
              <a:tr h="201168">
                <a:tc>
                  <a:txBody>
                    <a:bodyPr wrap="none"/>
                    <a:lstStyle/>
                    <a:p>
                      <a:pPr algn="ctr"/>
                      <a:r>
                        <a:rPr sz="750" b="1" i="0">
                          <a:solidFill>
                            <a:srgbClr val="262626"/>
                          </a:solidFill>
                          <a:latin typeface="Arial"/>
                        </a:rPr>
                        <a:t>51</a:t>
                      </a:r>
                    </a:p>
                  </a:txBody>
                  <a:tcPr>
                    <a:solidFill>
                      <a:srgbClr val="F2F2F2"/>
                    </a:solidFill>
                  </a:tcPr>
                </a:tc>
                <a:tc>
                  <a:txBody>
                    <a:bodyPr wrap="none"/>
                    <a:lstStyle/>
                    <a:p>
                      <a:pPr algn="l"/>
                      <a:r>
                        <a:rPr sz="750" b="0" i="0">
                          <a:solidFill>
                            <a:srgbClr val="262626"/>
                          </a:solidFill>
                          <a:latin typeface="Arial"/>
                        </a:rPr>
                        <a:t>Erika Ackerlund</a:t>
                      </a:r>
                    </a:p>
                  </a:txBody>
                  <a:tcPr>
                    <a:solidFill>
                      <a:srgbClr val="F2F2F2"/>
                    </a:solidFill>
                  </a:tcPr>
                </a:tc>
                <a:tc>
                  <a:txBody>
                    <a:bodyPr wrap="none"/>
                    <a:lstStyle/>
                    <a:p>
                      <a:pPr algn="ctr"/>
                      <a:r>
                        <a:rPr sz="750" b="1" i="0">
                          <a:solidFill>
                            <a:srgbClr val="262626"/>
                          </a:solidFill>
                          <a:latin typeface="Arial"/>
                        </a:rPr>
                        <a:t>720</a:t>
                      </a:r>
                    </a:p>
                  </a:txBody>
                  <a:tcPr>
                    <a:solidFill>
                      <a:srgbClr val="F2F2F2"/>
                    </a:solidFill>
                  </a:tcPr>
                </a:tc>
                <a:tc>
                  <a:txBody>
                    <a:bodyPr wrap="none"/>
                    <a:lstStyle/>
                    <a:p>
                      <a:pPr algn="ctr"/>
                      <a:r>
                        <a:rPr sz="750" b="0" i="0">
                          <a:solidFill>
                            <a:srgbClr val="262626"/>
                          </a:solidFill>
                          <a:latin typeface="Arial"/>
                        </a:rPr>
                        <a:t>3</a:t>
                      </a:r>
                    </a:p>
                  </a:txBody>
                  <a:tcPr>
                    <a:solidFill>
                      <a:srgbClr val="F2F2F2"/>
                    </a:solidFill>
                  </a:tcPr>
                </a:tc>
                <a:tc>
                  <a:txBody>
                    <a:bodyPr wrap="none"/>
                    <a:lstStyle/>
                    <a:p>
                      <a:pPr algn="ctr"/>
                      <a:r>
                        <a:rPr sz="750" b="1" i="0">
                          <a:solidFill>
                            <a:srgbClr val="1B7F3A"/>
                          </a:solidFill>
                          <a:latin typeface="Arial"/>
                        </a:rPr>
                        <a:t>1</a:t>
                      </a:r>
                    </a:p>
                  </a:txBody>
                  <a:tcPr>
                    <a:solidFill>
                      <a:srgbClr val="F2F2F2"/>
                    </a:solidFill>
                  </a:tcPr>
                </a:tc>
                <a:tc>
                  <a:txBody>
                    <a:bodyPr wrap="none"/>
                    <a:lstStyle/>
                    <a:p>
                      <a:pPr algn="ctr"/>
                      <a:r>
                        <a:rPr sz="750" b="1" i="0">
                          <a:solidFill>
                            <a:srgbClr val="C00000"/>
                          </a:solidFill>
                          <a:latin typeface="Arial"/>
                        </a:rPr>
                        <a:t>2</a:t>
                      </a:r>
                    </a:p>
                  </a:txBody>
                  <a:tcPr>
                    <a:solidFill>
                      <a:srgbClr val="F2F2F2"/>
                    </a:solidFill>
                  </a:tcPr>
                </a:tc>
                <a:tc>
                  <a:txBody>
                    <a:bodyPr wrap="none"/>
                    <a:lstStyle/>
                    <a:p>
                      <a:pPr algn="ctr"/>
                      <a:r>
                        <a:rPr sz="750" b="0" i="0">
                          <a:solidFill>
                            <a:srgbClr val="262626"/>
                          </a:solidFill>
                          <a:latin typeface="Arial"/>
                        </a:rPr>
                        <a:t>240</a:t>
                      </a:r>
                    </a:p>
                  </a:txBody>
                  <a:tcPr>
                    <a:solidFill>
                      <a:srgbClr val="F2F2F2"/>
                    </a:solidFill>
                  </a:tcPr>
                </a:tc>
                <a:tc>
                  <a:txBody>
                    <a:bodyPr wrap="none"/>
                    <a:lstStyle/>
                    <a:p>
                      <a:pPr algn="ctr"/>
                      <a:r>
                        <a:rPr sz="750" b="1" i="0">
                          <a:solidFill>
                            <a:srgbClr val="262626"/>
                          </a:solidFill>
                          <a:latin typeface="Arial"/>
                        </a:rPr>
                        <a:t>2,882</a:t>
                      </a:r>
                    </a:p>
                  </a:txBody>
                  <a:tcPr>
                    <a:solidFill>
                      <a:srgbClr val="F2F2F2"/>
                    </a:solidFill>
                  </a:tcPr>
                </a:tc>
              </a:tr>
              <a:tr h="201168">
                <a:tc>
                  <a:txBody>
                    <a:bodyPr wrap="none"/>
                    <a:lstStyle/>
                    <a:p>
                      <a:pPr algn="ctr"/>
                      <a:r>
                        <a:rPr sz="750" b="1" i="0">
                          <a:solidFill>
                            <a:srgbClr val="262626"/>
                          </a:solidFill>
                          <a:latin typeface="Arial"/>
                        </a:rPr>
                        <a:t>62</a:t>
                      </a:r>
                    </a:p>
                  </a:txBody>
                  <a:tcPr>
                    <a:solidFill>
                      <a:srgbClr val="FFFFFF"/>
                    </a:solidFill>
                  </a:tcPr>
                </a:tc>
                <a:tc>
                  <a:txBody>
                    <a:bodyPr wrap="none"/>
                    <a:lstStyle/>
                    <a:p>
                      <a:pPr algn="l"/>
                      <a:r>
                        <a:rPr sz="750" b="0" i="0">
                          <a:solidFill>
                            <a:srgbClr val="262626"/>
                          </a:solidFill>
                          <a:latin typeface="Arial"/>
                        </a:rPr>
                        <a:t>Eleanor Beveridge</a:t>
                      </a:r>
                    </a:p>
                  </a:txBody>
                  <a:tcPr>
                    <a:solidFill>
                      <a:srgbClr val="FFFFFF"/>
                    </a:solidFill>
                  </a:tcPr>
                </a:tc>
                <a:tc>
                  <a:txBody>
                    <a:bodyPr wrap="none"/>
                    <a:lstStyle/>
                    <a:p>
                      <a:pPr algn="ctr"/>
                      <a:r>
                        <a:rPr sz="750" b="1" i="0">
                          <a:solidFill>
                            <a:srgbClr val="262626"/>
                          </a:solidFill>
                          <a:latin typeface="Arial"/>
                        </a:rPr>
                        <a:t>567</a:t>
                      </a:r>
                    </a:p>
                  </a:txBody>
                  <a:tcPr>
                    <a:solidFill>
                      <a:srgbClr val="FFFFFF"/>
                    </a:solidFill>
                  </a:tcPr>
                </a:tc>
                <a:tc>
                  <a:txBody>
                    <a:bodyPr wrap="none"/>
                    <a:lstStyle/>
                    <a:p>
                      <a:pPr algn="ctr"/>
                      <a:r>
                        <a:rPr sz="750" b="0" i="0">
                          <a:solidFill>
                            <a:srgbClr val="262626"/>
                          </a:solidFill>
                          <a:latin typeface="Arial"/>
                        </a:rPr>
                        <a:t>3</a:t>
                      </a:r>
                    </a:p>
                  </a:txBody>
                  <a:tcPr>
                    <a:solidFill>
                      <a:srgbClr val="FFFFFF"/>
                    </a:solidFill>
                  </a:tcPr>
                </a:tc>
                <a:tc>
                  <a:txBody>
                    <a:bodyPr wrap="none"/>
                    <a:lstStyle/>
                    <a:p>
                      <a:pPr algn="ctr"/>
                      <a:r>
                        <a:rPr sz="750" b="1" i="0">
                          <a:solidFill>
                            <a:srgbClr val="1B7F3A"/>
                          </a:solidFill>
                          <a:latin typeface="Arial"/>
                        </a:rPr>
                        <a:t>0</a:t>
                      </a:r>
                    </a:p>
                  </a:txBody>
                  <a:tcPr>
                    <a:solidFill>
                      <a:srgbClr val="FFFFFF"/>
                    </a:solidFill>
                  </a:tcPr>
                </a:tc>
                <a:tc>
                  <a:txBody>
                    <a:bodyPr wrap="none"/>
                    <a:lstStyle/>
                    <a:p>
                      <a:pPr algn="ctr"/>
                      <a:r>
                        <a:rPr sz="750" b="1" i="0">
                          <a:solidFill>
                            <a:srgbClr val="C00000"/>
                          </a:solidFill>
                          <a:latin typeface="Arial"/>
                        </a:rPr>
                        <a:t>3</a:t>
                      </a:r>
                    </a:p>
                  </a:txBody>
                  <a:tcPr>
                    <a:solidFill>
                      <a:srgbClr val="FFFFFF"/>
                    </a:solidFill>
                  </a:tcPr>
                </a:tc>
                <a:tc>
                  <a:txBody>
                    <a:bodyPr wrap="none"/>
                    <a:lstStyle/>
                    <a:p>
                      <a:pPr algn="ctr"/>
                      <a:r>
                        <a:rPr sz="750" b="0" i="0">
                          <a:solidFill>
                            <a:srgbClr val="262626"/>
                          </a:solidFill>
                          <a:latin typeface="Arial"/>
                        </a:rPr>
                        <a:t>189</a:t>
                      </a:r>
                    </a:p>
                  </a:txBody>
                  <a:tcPr>
                    <a:solidFill>
                      <a:srgbClr val="FFFFFF"/>
                    </a:solidFill>
                  </a:tcPr>
                </a:tc>
                <a:tc>
                  <a:txBody>
                    <a:bodyPr wrap="none"/>
                    <a:lstStyle/>
                    <a:p>
                      <a:pPr algn="ctr"/>
                      <a:r>
                        <a:rPr sz="750" b="1" i="0">
                          <a:solidFill>
                            <a:srgbClr val="262626"/>
                          </a:solidFill>
                          <a:latin typeface="Arial"/>
                        </a:rPr>
                        <a:t>2,269</a:t>
                      </a:r>
                    </a:p>
                  </a:txBody>
                  <a:tcPr>
                    <a:solidFill>
                      <a:srgbClr val="FFFFFF"/>
                    </a:solidFill>
                  </a:tcPr>
                </a:tc>
              </a:tr>
              <a:tr h="201168">
                <a:tc>
                  <a:txBody>
                    <a:bodyPr wrap="none"/>
                    <a:lstStyle/>
                    <a:p>
                      <a:pPr algn="ctr"/>
                      <a:r>
                        <a:rPr sz="750" b="1" i="0">
                          <a:solidFill>
                            <a:srgbClr val="262626"/>
                          </a:solidFill>
                          <a:latin typeface="Arial"/>
                        </a:rPr>
                        <a:t>75</a:t>
                      </a:r>
                    </a:p>
                  </a:txBody>
                  <a:tcPr>
                    <a:solidFill>
                      <a:srgbClr val="F2F2F2"/>
                    </a:solidFill>
                  </a:tcPr>
                </a:tc>
                <a:tc>
                  <a:txBody>
                    <a:bodyPr wrap="none"/>
                    <a:lstStyle/>
                    <a:p>
                      <a:pPr algn="l"/>
                      <a:r>
                        <a:rPr sz="750" b="0" i="0">
                          <a:solidFill>
                            <a:srgbClr val="262626"/>
                          </a:solidFill>
                          <a:latin typeface="Arial"/>
                        </a:rPr>
                        <a:t>Kirsten Kasper</a:t>
                      </a:r>
                    </a:p>
                  </a:txBody>
                  <a:tcPr>
                    <a:solidFill>
                      <a:srgbClr val="F2F2F2"/>
                    </a:solidFill>
                  </a:tcPr>
                </a:tc>
                <a:tc>
                  <a:txBody>
                    <a:bodyPr wrap="none"/>
                    <a:lstStyle/>
                    <a:p>
                      <a:pPr algn="ctr"/>
                      <a:r>
                        <a:rPr sz="750" b="1" i="0">
                          <a:solidFill>
                            <a:srgbClr val="262626"/>
                          </a:solidFill>
                          <a:latin typeface="Arial"/>
                        </a:rPr>
                        <a:t>475</a:t>
                      </a:r>
                    </a:p>
                  </a:txBody>
                  <a:tcPr>
                    <a:solidFill>
                      <a:srgbClr val="F2F2F2"/>
                    </a:solidFill>
                  </a:tcPr>
                </a:tc>
                <a:tc>
                  <a:txBody>
                    <a:bodyPr wrap="none"/>
                    <a:lstStyle/>
                    <a:p>
                      <a:pPr algn="ctr"/>
                      <a:r>
                        <a:rPr sz="750" b="0" i="0">
                          <a:solidFill>
                            <a:srgbClr val="262626"/>
                          </a:solidFill>
                          <a:latin typeface="Arial"/>
                        </a:rPr>
                        <a:t>2</a:t>
                      </a:r>
                    </a:p>
                  </a:txBody>
                  <a:tcPr>
                    <a:solidFill>
                      <a:srgbClr val="F2F2F2"/>
                    </a:solidFill>
                  </a:tcPr>
                </a:tc>
                <a:tc>
                  <a:txBody>
                    <a:bodyPr wrap="none"/>
                    <a:lstStyle/>
                    <a:p>
                      <a:pPr algn="ctr"/>
                      <a:r>
                        <a:rPr sz="750" b="1" i="0">
                          <a:solidFill>
                            <a:srgbClr val="1B7F3A"/>
                          </a:solidFill>
                          <a:latin typeface="Arial"/>
                        </a:rPr>
                        <a:t>1</a:t>
                      </a:r>
                    </a:p>
                  </a:txBody>
                  <a:tcPr>
                    <a:solidFill>
                      <a:srgbClr val="F2F2F2"/>
                    </a:solidFill>
                  </a:tcPr>
                </a:tc>
                <a:tc>
                  <a:txBody>
                    <a:bodyPr wrap="none"/>
                    <a:lstStyle/>
                    <a:p>
                      <a:pPr algn="ctr"/>
                      <a:r>
                        <a:rPr sz="750" b="1" i="0">
                          <a:solidFill>
                            <a:srgbClr val="C00000"/>
                          </a:solidFill>
                          <a:latin typeface="Arial"/>
                        </a:rPr>
                        <a:t>1</a:t>
                      </a:r>
                    </a:p>
                  </a:txBody>
                  <a:tcPr>
                    <a:solidFill>
                      <a:srgbClr val="F2F2F2"/>
                    </a:solidFill>
                  </a:tcPr>
                </a:tc>
                <a:tc>
                  <a:txBody>
                    <a:bodyPr wrap="none"/>
                    <a:lstStyle/>
                    <a:p>
                      <a:pPr algn="ctr"/>
                      <a:r>
                        <a:rPr sz="750" b="0" i="0">
                          <a:solidFill>
                            <a:srgbClr val="262626"/>
                          </a:solidFill>
                          <a:latin typeface="Arial"/>
                        </a:rPr>
                        <a:t>237</a:t>
                      </a:r>
                    </a:p>
                  </a:txBody>
                  <a:tcPr>
                    <a:solidFill>
                      <a:srgbClr val="F2F2F2"/>
                    </a:solidFill>
                  </a:tcPr>
                </a:tc>
                <a:tc>
                  <a:txBody>
                    <a:bodyPr wrap="none"/>
                    <a:lstStyle/>
                    <a:p>
                      <a:pPr algn="ctr"/>
                      <a:r>
                        <a:rPr sz="750" b="1" i="0">
                          <a:solidFill>
                            <a:srgbClr val="262626"/>
                          </a:solidFill>
                          <a:latin typeface="Arial"/>
                        </a:rPr>
                        <a:t>2,854</a:t>
                      </a:r>
                    </a:p>
                  </a:txBody>
                  <a:tcPr>
                    <a:solidFill>
                      <a:srgbClr val="F2F2F2"/>
                    </a:solidFill>
                  </a:tcPr>
                </a:tc>
              </a:tr>
              <a:tr h="201168">
                <a:tc>
                  <a:txBody>
                    <a:bodyPr wrap="none"/>
                    <a:lstStyle/>
                    <a:p>
                      <a:pPr algn="ctr"/>
                      <a:r>
                        <a:rPr sz="750" b="1" i="0">
                          <a:solidFill>
                            <a:srgbClr val="262626"/>
                          </a:solidFill>
                          <a:latin typeface="Arial"/>
                        </a:rPr>
                        <a:t>99</a:t>
                      </a:r>
                    </a:p>
                  </a:txBody>
                  <a:tcPr>
                    <a:solidFill>
                      <a:srgbClr val="FFFFFF"/>
                    </a:solidFill>
                  </a:tcPr>
                </a:tc>
                <a:tc>
                  <a:txBody>
                    <a:bodyPr wrap="none"/>
                    <a:lstStyle/>
                    <a:p>
                      <a:pPr algn="l"/>
                      <a:r>
                        <a:rPr sz="750" b="0" i="0">
                          <a:solidFill>
                            <a:srgbClr val="262626"/>
                          </a:solidFill>
                          <a:latin typeface="Arial"/>
                        </a:rPr>
                        <a:t>Rachel Werking</a:t>
                      </a:r>
                    </a:p>
                  </a:txBody>
                  <a:tcPr>
                    <a:solidFill>
                      <a:srgbClr val="FFFFFF"/>
                    </a:solidFill>
                  </a:tcPr>
                </a:tc>
                <a:tc>
                  <a:txBody>
                    <a:bodyPr wrap="none"/>
                    <a:lstStyle/>
                    <a:p>
                      <a:pPr algn="ctr"/>
                      <a:r>
                        <a:rPr sz="750" b="1" i="0">
                          <a:solidFill>
                            <a:srgbClr val="262626"/>
                          </a:solidFill>
                          <a:latin typeface="Arial"/>
                        </a:rPr>
                        <a:t>271</a:t>
                      </a:r>
                    </a:p>
                  </a:txBody>
                  <a:tcPr>
                    <a:solidFill>
                      <a:srgbClr val="FFFFFF"/>
                    </a:solidFill>
                  </a:tcPr>
                </a:tc>
                <a:tc>
                  <a:txBody>
                    <a:bodyPr wrap="none"/>
                    <a:lstStyle/>
                    <a:p>
                      <a:pPr algn="ctr"/>
                      <a:r>
                        <a:rPr sz="750" b="0" i="0">
                          <a:solidFill>
                            <a:srgbClr val="262626"/>
                          </a:solidFill>
                          <a:latin typeface="Arial"/>
                        </a:rPr>
                        <a:t>2</a:t>
                      </a:r>
                    </a:p>
                  </a:txBody>
                  <a:tcPr>
                    <a:solidFill>
                      <a:srgbClr val="FFFFFF"/>
                    </a:solidFill>
                  </a:tcPr>
                </a:tc>
                <a:tc>
                  <a:txBody>
                    <a:bodyPr wrap="none"/>
                    <a:lstStyle/>
                    <a:p>
                      <a:pPr algn="ctr"/>
                      <a:r>
                        <a:rPr sz="750" b="1" i="0">
                          <a:solidFill>
                            <a:srgbClr val="1B7F3A"/>
                          </a:solidFill>
                          <a:latin typeface="Arial"/>
                        </a:rPr>
                        <a:t>0</a:t>
                      </a:r>
                    </a:p>
                  </a:txBody>
                  <a:tcPr>
                    <a:solidFill>
                      <a:srgbClr val="FFFFFF"/>
                    </a:solidFill>
                  </a:tcPr>
                </a:tc>
                <a:tc>
                  <a:txBody>
                    <a:bodyPr wrap="none"/>
                    <a:lstStyle/>
                    <a:p>
                      <a:pPr algn="ctr"/>
                      <a:r>
                        <a:rPr sz="750" b="1" i="0">
                          <a:solidFill>
                            <a:srgbClr val="C00000"/>
                          </a:solidFill>
                          <a:latin typeface="Arial"/>
                        </a:rPr>
                        <a:t>2</a:t>
                      </a:r>
                    </a:p>
                  </a:txBody>
                  <a:tcPr>
                    <a:solidFill>
                      <a:srgbClr val="FFFFFF"/>
                    </a:solidFill>
                  </a:tcPr>
                </a:tc>
                <a:tc>
                  <a:txBody>
                    <a:bodyPr wrap="none"/>
                    <a:lstStyle/>
                    <a:p>
                      <a:pPr algn="ctr"/>
                      <a:r>
                        <a:rPr sz="750" b="0" i="0">
                          <a:solidFill>
                            <a:srgbClr val="262626"/>
                          </a:solidFill>
                          <a:latin typeface="Arial"/>
                        </a:rPr>
                        <a:t>135</a:t>
                      </a:r>
                    </a:p>
                  </a:txBody>
                  <a:tcPr>
                    <a:solidFill>
                      <a:srgbClr val="FFFFFF"/>
                    </a:solidFill>
                  </a:tcPr>
                </a:tc>
                <a:tc>
                  <a:txBody>
                    <a:bodyPr wrap="none"/>
                    <a:lstStyle/>
                    <a:p>
                      <a:pPr algn="ctr"/>
                      <a:r>
                        <a:rPr sz="750" b="1" i="0">
                          <a:solidFill>
                            <a:srgbClr val="262626"/>
                          </a:solidFill>
                          <a:latin typeface="Arial"/>
                        </a:rPr>
                        <a:t>1,629</a:t>
                      </a:r>
                    </a:p>
                  </a:txBody>
                  <a:tcPr>
                    <a:solidFill>
                      <a:srgbClr val="FFFFFF"/>
                    </a:solidFill>
                  </a:tcPr>
                </a:tc>
              </a:tr>
            </a:tbl>
          </a:graphicData>
        </a:graphic>
      </p:graphicFrame>
      <p:sp>
        <p:nvSpPr>
          <p:cNvPr id="20" name="TextBox 19"/>
          <p:cNvSpPr txBox="1"/>
          <p:nvPr/>
        </p:nvSpPr>
        <p:spPr>
          <a:xfrm>
            <a:off x="274320" y="6419088"/>
            <a:ext cx="11640312" cy="274320"/>
          </a:xfrm>
          <a:prstGeom prst="rect">
            <a:avLst/>
          </a:prstGeom>
          <a:noFill/>
        </p:spPr>
        <p:txBody>
          <a:bodyPr wrap="square">
            <a:spAutoFit/>
          </a:bodyPr>
          <a:lstStyle/>
          <a:p>
            <a:pPr algn="ctr"/>
            <a:r>
              <a:rPr sz="800" b="0" i="1">
                <a:solidFill>
                  <a:srgbClr val="BFBFBF"/>
                </a:solidFill>
                <a:latin typeface="Arial"/>
              </a:rPr>
              <a:t>On = events scoring ≥ pace.  Off = events &lt; pace.  Pace = total breakdown pts ÷ events raced.  Proj @12 = current total + (avg pts × remaining events to cap); green if ≥ Paris cutoff.  Cutoff estimate: Paris 2024 = 3,627 pts / 12 events = 302 pts/event.  Tier positions use a geometric 0.925 points model.  Source: World Triathlon rankings database.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USA Olympic Qualification Snapshot</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384048"/>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70432"/>
            <a:ext cx="11430000" cy="256032"/>
          </a:xfrm>
          <a:prstGeom prst="rect">
            <a:avLst/>
          </a:prstGeom>
          <a:noFill/>
        </p:spPr>
        <p:txBody>
          <a:bodyPr wrap="square">
            <a:spAutoFit/>
          </a:bodyPr>
          <a:lstStyle/>
          <a:p>
            <a:pPr algn="ctr"/>
            <a:r>
              <a:rPr sz="1200" b="1" i="0">
                <a:solidFill>
                  <a:srgbClr val="002060"/>
                </a:solidFill>
                <a:latin typeface="Arial"/>
              </a:rPr>
              <a:t>As of 2026-08-29   •   Olympic Qualification Rankings (LA 2028 cycle)   •   Heading into Weihai</a:t>
            </a:r>
          </a:p>
        </p:txBody>
      </p:sp>
      <p:sp>
        <p:nvSpPr>
          <p:cNvPr id="10" name="Rectangle 9"/>
          <p:cNvSpPr/>
          <p:nvPr/>
        </p:nvSpPr>
        <p:spPr>
          <a:xfrm>
            <a:off x="274320" y="16916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719072"/>
            <a:ext cx="5788152" cy="237744"/>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12" name="Table 11"/>
          <p:cNvGraphicFramePr>
            <a:graphicFrameLocks noGrp="1"/>
          </p:cNvGraphicFramePr>
          <p:nvPr/>
        </p:nvGraphicFramePr>
        <p:xfrm>
          <a:off x="274320" y="2020824"/>
          <a:ext cx="5787236" cy="2912364"/>
        </p:xfrm>
        <a:graphic>
          <a:graphicData uri="http://schemas.openxmlformats.org/drawingml/2006/table">
            <a:tbl>
              <a:tblPr firstRow="1" bandRow="1">
                <a:tableStyleId>{5C22544A-7EE6-4342-B048-85BDC9FD1C3A}</a:tableStyleId>
              </a:tblPr>
              <a:tblGrid>
                <a:gridCol w="783640"/>
                <a:gridCol w="2531973"/>
                <a:gridCol w="1136599"/>
                <a:gridCol w="672084"/>
                <a:gridCol w="662940"/>
              </a:tblGrid>
              <a:tr h="224028">
                <a:tc>
                  <a:txBody>
                    <a:bodyPr wrap="none"/>
                    <a:lstStyle/>
                    <a:p>
                      <a:pPr algn="ctr"/>
                      <a:r>
                        <a:rPr sz="900" b="1" i="0">
                          <a:solidFill>
                            <a:srgbClr val="FFFFFF"/>
                          </a:solidFill>
                          <a:latin typeface="Arial"/>
                        </a:rPr>
                        <a:t>Rank</a:t>
                      </a:r>
                    </a:p>
                  </a:txBody>
                  <a:tcPr>
                    <a:solidFill>
                      <a:srgbClr val="002060"/>
                    </a:solidFill>
                  </a:tcPr>
                </a:tc>
                <a:tc>
                  <a:txBody>
                    <a:bodyPr wrap="none"/>
                    <a:lstStyle/>
                    <a:p>
                      <a:pPr algn="l"/>
                      <a:r>
                        <a:rPr sz="900" b="1" i="0">
                          <a:solidFill>
                            <a:srgbClr val="FFFFFF"/>
                          </a:solidFill>
                          <a:latin typeface="Arial"/>
                        </a:rPr>
                        <a:t>Athlete</a:t>
                      </a:r>
                    </a:p>
                  </a:txBody>
                  <a:tcPr>
                    <a:solidFill>
                      <a:srgbClr val="002060"/>
                    </a:solidFill>
                  </a:tcPr>
                </a:tc>
                <a:tc>
                  <a:txBody>
                    <a:bodyPr wrap="none"/>
                    <a:lstStyle/>
                    <a:p>
                      <a:pPr algn="ctr"/>
                      <a:r>
                        <a:rPr sz="900" b="1" i="0">
                          <a:solidFill>
                            <a:srgbClr val="FFFFFF"/>
                          </a:solidFill>
                          <a:latin typeface="Arial"/>
                        </a:rPr>
                        <a:t>Points</a:t>
                      </a:r>
                    </a:p>
                  </a:txBody>
                  <a:tcPr>
                    <a:solidFill>
                      <a:srgbClr val="002060"/>
                    </a:solidFill>
                  </a:tcPr>
                </a:tc>
                <a:tc>
                  <a:txBody>
                    <a:bodyPr wrap="none"/>
                    <a:lstStyle/>
                    <a:p>
                      <a:pPr algn="ctr"/>
                      <a:r>
                        <a:rPr sz="900" b="1" i="0">
                          <a:solidFill>
                            <a:srgbClr val="FFFFFF"/>
                          </a:solidFill>
                          <a:latin typeface="Arial"/>
                        </a:rPr>
                        <a:t>Second</a:t>
                      </a:r>
                    </a:p>
                  </a:txBody>
                  <a:tcPr>
                    <a:solidFill>
                      <a:srgbClr val="002060"/>
                    </a:solidFill>
                  </a:tcPr>
                </a:tc>
                <a:tc>
                  <a:txBody>
                    <a:bodyPr wrap="none"/>
                    <a:lstStyle/>
                    <a:p>
                      <a:pPr algn="ctr"/>
                      <a:r>
                        <a:rPr sz="900" b="1" i="0">
                          <a:solidFill>
                            <a:srgbClr val="FFFFFF"/>
                          </a:solidFill>
                          <a:latin typeface="Arial"/>
                        </a:rPr>
                        <a:t>First</a:t>
                      </a:r>
                    </a:p>
                  </a:txBody>
                  <a:tcPr>
                    <a:solidFill>
                      <a:srgbClr val="002060"/>
                    </a:solidFill>
                  </a:tcPr>
                </a:tc>
              </a:tr>
              <a:tr h="224028">
                <a:tc>
                  <a:txBody>
                    <a:bodyPr wrap="none"/>
                    <a:lstStyle/>
                    <a:p>
                      <a:pPr algn="ctr"/>
                      <a:r>
                        <a:rPr sz="850" b="1" i="0">
                          <a:solidFill>
                            <a:srgbClr val="262626"/>
                          </a:solidFill>
                          <a:latin typeface="Arial"/>
                        </a:rPr>
                        <a:t>17</a:t>
                      </a:r>
                    </a:p>
                  </a:txBody>
                  <a:tcPr>
                    <a:solidFill>
                      <a:srgbClr val="FFFFFF"/>
                    </a:solidFill>
                  </a:tcPr>
                </a:tc>
                <a:tc>
                  <a:txBody>
                    <a:bodyPr wrap="none"/>
                    <a:lstStyle/>
                    <a:p>
                      <a:pPr algn="l"/>
                      <a:r>
                        <a:rPr sz="850" b="0" i="0">
                          <a:solidFill>
                            <a:srgbClr val="262626"/>
                          </a:solidFill>
                          <a:latin typeface="Arial"/>
                        </a:rPr>
                        <a:t>Sullivan Middaugh</a:t>
                      </a:r>
                    </a:p>
                  </a:txBody>
                  <a:tcPr>
                    <a:solidFill>
                      <a:srgbClr val="FFFFFF"/>
                    </a:solidFill>
                  </a:tcPr>
                </a:tc>
                <a:tc>
                  <a:txBody>
                    <a:bodyPr wrap="none"/>
                    <a:lstStyle/>
                    <a:p>
                      <a:pPr algn="ctr"/>
                      <a:r>
                        <a:rPr sz="850" b="0" i="0">
                          <a:solidFill>
                            <a:srgbClr val="262626"/>
                          </a:solidFill>
                          <a:latin typeface="Arial"/>
                        </a:rPr>
                        <a:t>1,573</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5</a:t>
                      </a:r>
                    </a:p>
                  </a:txBody>
                  <a:tcPr>
                    <a:solidFill>
                      <a:srgbClr val="FFFFFF"/>
                    </a:solidFill>
                  </a:tcPr>
                </a:tc>
              </a:tr>
              <a:tr h="224028">
                <a:tc>
                  <a:txBody>
                    <a:bodyPr wrap="none"/>
                    <a:lstStyle/>
                    <a:p>
                      <a:pPr algn="ctr"/>
                      <a:r>
                        <a:rPr sz="850" b="1" i="0">
                          <a:solidFill>
                            <a:srgbClr val="262626"/>
                          </a:solidFill>
                          <a:latin typeface="Arial"/>
                        </a:rPr>
                        <a:t>21</a:t>
                      </a:r>
                    </a:p>
                  </a:txBody>
                  <a:tcPr>
                    <a:solidFill>
                      <a:srgbClr val="F2F2F2"/>
                    </a:solidFill>
                  </a:tcPr>
                </a:tc>
                <a:tc>
                  <a:txBody>
                    <a:bodyPr wrap="none"/>
                    <a:lstStyle/>
                    <a:p>
                      <a:pPr algn="l"/>
                      <a:r>
                        <a:rPr sz="850" b="0" i="0">
                          <a:solidFill>
                            <a:srgbClr val="262626"/>
                          </a:solidFill>
                          <a:latin typeface="Arial"/>
                        </a:rPr>
                        <a:t>Reese Vannerson</a:t>
                      </a:r>
                    </a:p>
                  </a:txBody>
                  <a:tcPr>
                    <a:solidFill>
                      <a:srgbClr val="F2F2F2"/>
                    </a:solidFill>
                  </a:tcPr>
                </a:tc>
                <a:tc>
                  <a:txBody>
                    <a:bodyPr wrap="none"/>
                    <a:lstStyle/>
                    <a:p>
                      <a:pPr algn="ctr"/>
                      <a:r>
                        <a:rPr sz="850" b="0" i="0">
                          <a:solidFill>
                            <a:srgbClr val="262626"/>
                          </a:solidFill>
                          <a:latin typeface="Arial"/>
                        </a:rPr>
                        <a:t>1,479</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4</a:t>
                      </a:r>
                    </a:p>
                  </a:txBody>
                  <a:tcPr>
                    <a:solidFill>
                      <a:srgbClr val="F2F2F2"/>
                    </a:solidFill>
                  </a:tcPr>
                </a:tc>
              </a:tr>
              <a:tr h="224028">
                <a:tc>
                  <a:txBody>
                    <a:bodyPr wrap="none"/>
                    <a:lstStyle/>
                    <a:p>
                      <a:pPr algn="ctr"/>
                      <a:r>
                        <a:rPr sz="850" b="1" i="0">
                          <a:solidFill>
                            <a:srgbClr val="262626"/>
                          </a:solidFill>
                          <a:latin typeface="Arial"/>
                        </a:rPr>
                        <a:t>24</a:t>
                      </a:r>
                    </a:p>
                  </a:txBody>
                  <a:tcPr>
                    <a:solidFill>
                      <a:srgbClr val="FFFFFF"/>
                    </a:solidFill>
                  </a:tcPr>
                </a:tc>
                <a:tc>
                  <a:txBody>
                    <a:bodyPr wrap="none"/>
                    <a:lstStyle/>
                    <a:p>
                      <a:pPr algn="l"/>
                      <a:r>
                        <a:rPr sz="850" b="0" i="0">
                          <a:solidFill>
                            <a:srgbClr val="262626"/>
                          </a:solidFill>
                          <a:latin typeface="Arial"/>
                        </a:rPr>
                        <a:t>Seth Rider</a:t>
                      </a:r>
                    </a:p>
                  </a:txBody>
                  <a:tcPr>
                    <a:solidFill>
                      <a:srgbClr val="FFFFFF"/>
                    </a:solidFill>
                  </a:tcPr>
                </a:tc>
                <a:tc>
                  <a:txBody>
                    <a:bodyPr wrap="none"/>
                    <a:lstStyle/>
                    <a:p>
                      <a:pPr algn="ctr"/>
                      <a:r>
                        <a:rPr sz="850" b="0" i="0">
                          <a:solidFill>
                            <a:srgbClr val="262626"/>
                          </a:solidFill>
                          <a:latin typeface="Arial"/>
                        </a:rPr>
                        <a:t>1,341</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4</a:t>
                      </a:r>
                    </a:p>
                  </a:txBody>
                  <a:tcPr>
                    <a:solidFill>
                      <a:srgbClr val="FFFFFF"/>
                    </a:solidFill>
                  </a:tcPr>
                </a:tc>
              </a:tr>
              <a:tr h="224028">
                <a:tc>
                  <a:txBody>
                    <a:bodyPr wrap="none"/>
                    <a:lstStyle/>
                    <a:p>
                      <a:pPr algn="ctr"/>
                      <a:r>
                        <a:rPr sz="850" b="1" i="0">
                          <a:solidFill>
                            <a:srgbClr val="262626"/>
                          </a:solidFill>
                          <a:latin typeface="Arial"/>
                        </a:rPr>
                        <a:t>25</a:t>
                      </a:r>
                    </a:p>
                  </a:txBody>
                  <a:tcPr>
                    <a:solidFill>
                      <a:srgbClr val="F2F2F2"/>
                    </a:solidFill>
                  </a:tcPr>
                </a:tc>
                <a:tc>
                  <a:txBody>
                    <a:bodyPr wrap="none"/>
                    <a:lstStyle/>
                    <a:p>
                      <a:pPr algn="l"/>
                      <a:r>
                        <a:rPr sz="850" b="0" i="0">
                          <a:solidFill>
                            <a:srgbClr val="262626"/>
                          </a:solidFill>
                          <a:latin typeface="Arial"/>
                        </a:rPr>
                        <a:t>Braxton Legg</a:t>
                      </a:r>
                    </a:p>
                  </a:txBody>
                  <a:tcPr>
                    <a:solidFill>
                      <a:srgbClr val="F2F2F2"/>
                    </a:solidFill>
                  </a:tcPr>
                </a:tc>
                <a:tc>
                  <a:txBody>
                    <a:bodyPr wrap="none"/>
                    <a:lstStyle/>
                    <a:p>
                      <a:pPr algn="ctr"/>
                      <a:r>
                        <a:rPr sz="850" b="0" i="0">
                          <a:solidFill>
                            <a:srgbClr val="262626"/>
                          </a:solidFill>
                          <a:latin typeface="Arial"/>
                        </a:rPr>
                        <a:t>1,274</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4</a:t>
                      </a:r>
                    </a:p>
                  </a:txBody>
                  <a:tcPr>
                    <a:solidFill>
                      <a:srgbClr val="F2F2F2"/>
                    </a:solidFill>
                  </a:tcPr>
                </a:tc>
              </a:tr>
              <a:tr h="224028">
                <a:tc>
                  <a:txBody>
                    <a:bodyPr wrap="none"/>
                    <a:lstStyle/>
                    <a:p>
                      <a:pPr algn="ctr"/>
                      <a:r>
                        <a:rPr sz="850" b="1" i="0">
                          <a:solidFill>
                            <a:srgbClr val="262626"/>
                          </a:solidFill>
                          <a:latin typeface="Arial"/>
                        </a:rPr>
                        <a:t>26</a:t>
                      </a:r>
                    </a:p>
                  </a:txBody>
                  <a:tcPr>
                    <a:solidFill>
                      <a:srgbClr val="FFFFFF"/>
                    </a:solidFill>
                  </a:tcPr>
                </a:tc>
                <a:tc>
                  <a:txBody>
                    <a:bodyPr wrap="none"/>
                    <a:lstStyle/>
                    <a:p>
                      <a:pPr algn="l"/>
                      <a:r>
                        <a:rPr sz="850" b="0" i="0">
                          <a:solidFill>
                            <a:srgbClr val="262626"/>
                          </a:solidFill>
                          <a:latin typeface="Arial"/>
                        </a:rPr>
                        <a:t>John Reed</a:t>
                      </a:r>
                    </a:p>
                  </a:txBody>
                  <a:tcPr>
                    <a:solidFill>
                      <a:srgbClr val="FFFFFF"/>
                    </a:solidFill>
                  </a:tcPr>
                </a:tc>
                <a:tc>
                  <a:txBody>
                    <a:bodyPr wrap="none"/>
                    <a:lstStyle/>
                    <a:p>
                      <a:pPr algn="ctr"/>
                      <a:r>
                        <a:rPr sz="850" b="0" i="0">
                          <a:solidFill>
                            <a:srgbClr val="262626"/>
                          </a:solidFill>
                          <a:latin typeface="Arial"/>
                        </a:rPr>
                        <a:t>1,226</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3</a:t>
                      </a:r>
                    </a:p>
                  </a:txBody>
                  <a:tcPr>
                    <a:solidFill>
                      <a:srgbClr val="FFFFFF"/>
                    </a:solidFill>
                  </a:tcPr>
                </a:tc>
              </a:tr>
              <a:tr h="224028">
                <a:tc>
                  <a:txBody>
                    <a:bodyPr wrap="none"/>
                    <a:lstStyle/>
                    <a:p>
                      <a:pPr algn="ctr"/>
                      <a:r>
                        <a:rPr sz="850" b="1" i="0">
                          <a:solidFill>
                            <a:srgbClr val="262626"/>
                          </a:solidFill>
                          <a:latin typeface="Arial"/>
                        </a:rPr>
                        <a:t>30</a:t>
                      </a:r>
                    </a:p>
                  </a:txBody>
                  <a:tcPr>
                    <a:solidFill>
                      <a:srgbClr val="F2F2F2"/>
                    </a:solidFill>
                  </a:tcPr>
                </a:tc>
                <a:tc>
                  <a:txBody>
                    <a:bodyPr wrap="none"/>
                    <a:lstStyle/>
                    <a:p>
                      <a:pPr algn="l"/>
                      <a:r>
                        <a:rPr sz="850" b="0" i="0">
                          <a:solidFill>
                            <a:srgbClr val="262626"/>
                          </a:solidFill>
                          <a:latin typeface="Arial"/>
                        </a:rPr>
                        <a:t>Keller Norland</a:t>
                      </a:r>
                    </a:p>
                  </a:txBody>
                  <a:tcPr>
                    <a:solidFill>
                      <a:srgbClr val="F2F2F2"/>
                    </a:solidFill>
                  </a:tcPr>
                </a:tc>
                <a:tc>
                  <a:txBody>
                    <a:bodyPr wrap="none"/>
                    <a:lstStyle/>
                    <a:p>
                      <a:pPr algn="ctr"/>
                      <a:r>
                        <a:rPr sz="850" b="0" i="0">
                          <a:solidFill>
                            <a:srgbClr val="262626"/>
                          </a:solidFill>
                          <a:latin typeface="Arial"/>
                        </a:rPr>
                        <a:t>1,087</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3</a:t>
                      </a:r>
                    </a:p>
                  </a:txBody>
                  <a:tcPr>
                    <a:solidFill>
                      <a:srgbClr val="F2F2F2"/>
                    </a:solidFill>
                  </a:tcPr>
                </a:tc>
              </a:tr>
              <a:tr h="224028">
                <a:tc>
                  <a:txBody>
                    <a:bodyPr wrap="none"/>
                    <a:lstStyle/>
                    <a:p>
                      <a:pPr algn="ctr"/>
                      <a:r>
                        <a:rPr sz="850" b="1" i="0">
                          <a:solidFill>
                            <a:srgbClr val="262626"/>
                          </a:solidFill>
                          <a:latin typeface="Arial"/>
                        </a:rPr>
                        <a:t>42</a:t>
                      </a:r>
                    </a:p>
                  </a:txBody>
                  <a:tcPr>
                    <a:solidFill>
                      <a:srgbClr val="FFFFFF"/>
                    </a:solidFill>
                  </a:tcPr>
                </a:tc>
                <a:tc>
                  <a:txBody>
                    <a:bodyPr wrap="none"/>
                    <a:lstStyle/>
                    <a:p>
                      <a:pPr algn="l"/>
                      <a:r>
                        <a:rPr sz="850" b="0" i="0">
                          <a:solidFill>
                            <a:srgbClr val="262626"/>
                          </a:solidFill>
                          <a:latin typeface="Arial"/>
                        </a:rPr>
                        <a:t>Chase McQueen</a:t>
                      </a:r>
                    </a:p>
                  </a:txBody>
                  <a:tcPr>
                    <a:solidFill>
                      <a:srgbClr val="FFFFFF"/>
                    </a:solidFill>
                  </a:tcPr>
                </a:tc>
                <a:tc>
                  <a:txBody>
                    <a:bodyPr wrap="none"/>
                    <a:lstStyle/>
                    <a:p>
                      <a:pPr algn="ctr"/>
                      <a:r>
                        <a:rPr sz="850" b="0" i="0">
                          <a:solidFill>
                            <a:srgbClr val="262626"/>
                          </a:solidFill>
                          <a:latin typeface="Arial"/>
                        </a:rPr>
                        <a:t>929</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5</a:t>
                      </a:r>
                    </a:p>
                  </a:txBody>
                  <a:tcPr>
                    <a:solidFill>
                      <a:srgbClr val="FFFFFF"/>
                    </a:solidFill>
                  </a:tcPr>
                </a:tc>
              </a:tr>
              <a:tr h="224028">
                <a:tc>
                  <a:txBody>
                    <a:bodyPr wrap="none"/>
                    <a:lstStyle/>
                    <a:p>
                      <a:pPr algn="ctr"/>
                      <a:r>
                        <a:rPr sz="850" b="1" i="0">
                          <a:solidFill>
                            <a:srgbClr val="262626"/>
                          </a:solidFill>
                          <a:latin typeface="Arial"/>
                        </a:rPr>
                        <a:t>45</a:t>
                      </a:r>
                    </a:p>
                  </a:txBody>
                  <a:tcPr>
                    <a:solidFill>
                      <a:srgbClr val="F2F2F2"/>
                    </a:solidFill>
                  </a:tcPr>
                </a:tc>
                <a:tc>
                  <a:txBody>
                    <a:bodyPr wrap="none"/>
                    <a:lstStyle/>
                    <a:p>
                      <a:pPr algn="l"/>
                      <a:r>
                        <a:rPr sz="850" b="0" i="0">
                          <a:solidFill>
                            <a:srgbClr val="262626"/>
                          </a:solidFill>
                          <a:latin typeface="Arial"/>
                        </a:rPr>
                        <a:t>Morgan Pearson</a:t>
                      </a:r>
                    </a:p>
                  </a:txBody>
                  <a:tcPr>
                    <a:solidFill>
                      <a:srgbClr val="F2F2F2"/>
                    </a:solidFill>
                  </a:tcPr>
                </a:tc>
                <a:tc>
                  <a:txBody>
                    <a:bodyPr wrap="none"/>
                    <a:lstStyle/>
                    <a:p>
                      <a:pPr algn="ctr"/>
                      <a:r>
                        <a:rPr sz="850" b="0" i="0">
                          <a:solidFill>
                            <a:srgbClr val="262626"/>
                          </a:solidFill>
                          <a:latin typeface="Arial"/>
                        </a:rPr>
                        <a:t>904</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2</a:t>
                      </a:r>
                    </a:p>
                  </a:txBody>
                  <a:tcPr>
                    <a:solidFill>
                      <a:srgbClr val="F2F2F2"/>
                    </a:solidFill>
                  </a:tcPr>
                </a:tc>
              </a:tr>
              <a:tr h="224028">
                <a:tc>
                  <a:txBody>
                    <a:bodyPr wrap="none"/>
                    <a:lstStyle/>
                    <a:p>
                      <a:pPr algn="ctr"/>
                      <a:r>
                        <a:rPr sz="850" b="1" i="0">
                          <a:solidFill>
                            <a:srgbClr val="262626"/>
                          </a:solidFill>
                          <a:latin typeface="Arial"/>
                        </a:rPr>
                        <a:t>70</a:t>
                      </a:r>
                    </a:p>
                  </a:txBody>
                  <a:tcPr>
                    <a:solidFill>
                      <a:srgbClr val="FFFFFF"/>
                    </a:solidFill>
                  </a:tcPr>
                </a:tc>
                <a:tc>
                  <a:txBody>
                    <a:bodyPr wrap="none"/>
                    <a:lstStyle/>
                    <a:p>
                      <a:pPr algn="l"/>
                      <a:r>
                        <a:rPr sz="850" b="0" i="0">
                          <a:solidFill>
                            <a:srgbClr val="262626"/>
                          </a:solidFill>
                          <a:latin typeface="Arial"/>
                        </a:rPr>
                        <a:t>Blake Bullard</a:t>
                      </a:r>
                    </a:p>
                  </a:txBody>
                  <a:tcPr>
                    <a:solidFill>
                      <a:srgbClr val="FFFFFF"/>
                    </a:solidFill>
                  </a:tcPr>
                </a:tc>
                <a:tc>
                  <a:txBody>
                    <a:bodyPr wrap="none"/>
                    <a:lstStyle/>
                    <a:p>
                      <a:pPr algn="ctr"/>
                      <a:r>
                        <a:rPr sz="850" b="0" i="0">
                          <a:solidFill>
                            <a:srgbClr val="262626"/>
                          </a:solidFill>
                          <a:latin typeface="Arial"/>
                        </a:rPr>
                        <a:t>513</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3</a:t>
                      </a:r>
                    </a:p>
                  </a:txBody>
                  <a:tcPr>
                    <a:solidFill>
                      <a:srgbClr val="FFFFFF"/>
                    </a:solidFill>
                  </a:tcPr>
                </a:tc>
              </a:tr>
              <a:tr h="224028">
                <a:tc>
                  <a:txBody>
                    <a:bodyPr wrap="none"/>
                    <a:lstStyle/>
                    <a:p>
                      <a:pPr algn="ctr"/>
                      <a:r>
                        <a:rPr sz="850" b="1" i="0">
                          <a:solidFill>
                            <a:srgbClr val="262626"/>
                          </a:solidFill>
                          <a:latin typeface="Arial"/>
                        </a:rPr>
                        <a:t>73</a:t>
                      </a:r>
                    </a:p>
                  </a:txBody>
                  <a:tcPr>
                    <a:solidFill>
                      <a:srgbClr val="F2F2F2"/>
                    </a:solidFill>
                  </a:tcPr>
                </a:tc>
                <a:tc>
                  <a:txBody>
                    <a:bodyPr wrap="none"/>
                    <a:lstStyle/>
                    <a:p>
                      <a:pPr algn="l"/>
                      <a:r>
                        <a:rPr sz="850" b="0" i="0">
                          <a:solidFill>
                            <a:srgbClr val="262626"/>
                          </a:solidFill>
                          <a:latin typeface="Arial"/>
                        </a:rPr>
                        <a:t>Porter Middaugh</a:t>
                      </a:r>
                    </a:p>
                  </a:txBody>
                  <a:tcPr>
                    <a:solidFill>
                      <a:srgbClr val="F2F2F2"/>
                    </a:solidFill>
                  </a:tcPr>
                </a:tc>
                <a:tc>
                  <a:txBody>
                    <a:bodyPr wrap="none"/>
                    <a:lstStyle/>
                    <a:p>
                      <a:pPr algn="ctr"/>
                      <a:r>
                        <a:rPr sz="850" b="0" i="0">
                          <a:solidFill>
                            <a:srgbClr val="262626"/>
                          </a:solidFill>
                          <a:latin typeface="Arial"/>
                        </a:rPr>
                        <a:t>481</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3</a:t>
                      </a:r>
                    </a:p>
                  </a:txBody>
                  <a:tcPr>
                    <a:solidFill>
                      <a:srgbClr val="F2F2F2"/>
                    </a:solidFill>
                  </a:tcPr>
                </a:tc>
              </a:tr>
              <a:tr h="224028">
                <a:tc>
                  <a:txBody>
                    <a:bodyPr wrap="none"/>
                    <a:lstStyle/>
                    <a:p>
                      <a:pPr algn="ctr"/>
                      <a:r>
                        <a:rPr sz="850" b="1" i="0">
                          <a:solidFill>
                            <a:srgbClr val="262626"/>
                          </a:solidFill>
                          <a:latin typeface="Arial"/>
                        </a:rPr>
                        <a:t>100</a:t>
                      </a:r>
                    </a:p>
                  </a:txBody>
                  <a:tcPr>
                    <a:solidFill>
                      <a:srgbClr val="FFFFFF"/>
                    </a:solidFill>
                  </a:tcPr>
                </a:tc>
                <a:tc>
                  <a:txBody>
                    <a:bodyPr wrap="none"/>
                    <a:lstStyle/>
                    <a:p>
                      <a:pPr algn="l"/>
                      <a:r>
                        <a:rPr sz="850" b="0" i="0">
                          <a:solidFill>
                            <a:srgbClr val="262626"/>
                          </a:solidFill>
                          <a:latin typeface="Arial"/>
                        </a:rPr>
                        <a:t>Zach Leachman</a:t>
                      </a:r>
                    </a:p>
                  </a:txBody>
                  <a:tcPr>
                    <a:solidFill>
                      <a:srgbClr val="FFFFFF"/>
                    </a:solidFill>
                  </a:tcPr>
                </a:tc>
                <a:tc>
                  <a:txBody>
                    <a:bodyPr wrap="none"/>
                    <a:lstStyle/>
                    <a:p>
                      <a:pPr algn="ctr"/>
                      <a:r>
                        <a:rPr sz="850" b="0" i="0">
                          <a:solidFill>
                            <a:srgbClr val="262626"/>
                          </a:solidFill>
                          <a:latin typeface="Arial"/>
                        </a:rPr>
                        <a:t>282</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2</a:t>
                      </a:r>
                    </a:p>
                  </a:txBody>
                  <a:tcPr>
                    <a:solidFill>
                      <a:srgbClr val="FFFFFF"/>
                    </a:solidFill>
                  </a:tcPr>
                </a:tc>
              </a:tr>
              <a:tr h="224028">
                <a:tc>
                  <a:txBody>
                    <a:bodyPr wrap="none"/>
                    <a:lstStyle/>
                    <a:p>
                      <a:pPr algn="ctr"/>
                      <a:r>
                        <a:rPr sz="850" b="1" i="0">
                          <a:solidFill>
                            <a:srgbClr val="262626"/>
                          </a:solidFill>
                          <a:latin typeface="Arial"/>
                        </a:rPr>
                        <a:t>105</a:t>
                      </a:r>
                    </a:p>
                  </a:txBody>
                  <a:tcPr>
                    <a:solidFill>
                      <a:srgbClr val="F2F2F2"/>
                    </a:solidFill>
                  </a:tcPr>
                </a:tc>
                <a:tc>
                  <a:txBody>
                    <a:bodyPr wrap="none"/>
                    <a:lstStyle/>
                    <a:p>
                      <a:pPr algn="l"/>
                      <a:r>
                        <a:rPr sz="850" b="0" i="0">
                          <a:solidFill>
                            <a:srgbClr val="262626"/>
                          </a:solidFill>
                          <a:latin typeface="Arial"/>
                        </a:rPr>
                        <a:t>Darr Smith</a:t>
                      </a:r>
                    </a:p>
                  </a:txBody>
                  <a:tcPr>
                    <a:solidFill>
                      <a:srgbClr val="F2F2F2"/>
                    </a:solidFill>
                  </a:tcPr>
                </a:tc>
                <a:tc>
                  <a:txBody>
                    <a:bodyPr wrap="none"/>
                    <a:lstStyle/>
                    <a:p>
                      <a:pPr algn="ctr"/>
                      <a:r>
                        <a:rPr sz="850" b="0" i="0">
                          <a:solidFill>
                            <a:srgbClr val="262626"/>
                          </a:solidFill>
                          <a:latin typeface="Arial"/>
                        </a:rPr>
                        <a:t>265</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2</a:t>
                      </a:r>
                    </a:p>
                  </a:txBody>
                  <a:tcPr>
                    <a:solidFill>
                      <a:srgbClr val="F2F2F2"/>
                    </a:solidFill>
                  </a:tcPr>
                </a:tc>
              </a:tr>
            </a:tbl>
          </a:graphicData>
        </a:graphic>
      </p:graphicFrame>
      <p:sp>
        <p:nvSpPr>
          <p:cNvPr id="13" name="Rectangle 12"/>
          <p:cNvSpPr/>
          <p:nvPr/>
        </p:nvSpPr>
        <p:spPr>
          <a:xfrm>
            <a:off x="6126480" y="16916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1719072"/>
            <a:ext cx="5788152" cy="237744"/>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15" name="Table 14"/>
          <p:cNvGraphicFramePr>
            <a:graphicFrameLocks noGrp="1"/>
          </p:cNvGraphicFramePr>
          <p:nvPr/>
        </p:nvGraphicFramePr>
        <p:xfrm>
          <a:off x="6126480" y="2020824"/>
          <a:ext cx="5787236" cy="2912364"/>
        </p:xfrm>
        <a:graphic>
          <a:graphicData uri="http://schemas.openxmlformats.org/drawingml/2006/table">
            <a:tbl>
              <a:tblPr firstRow="1" bandRow="1">
                <a:tableStyleId>{5C22544A-7EE6-4342-B048-85BDC9FD1C3A}</a:tableStyleId>
              </a:tblPr>
              <a:tblGrid>
                <a:gridCol w="783640"/>
                <a:gridCol w="2531973"/>
                <a:gridCol w="1136599"/>
                <a:gridCol w="672084"/>
                <a:gridCol w="662940"/>
              </a:tblGrid>
              <a:tr h="224028">
                <a:tc>
                  <a:txBody>
                    <a:bodyPr wrap="none"/>
                    <a:lstStyle/>
                    <a:p>
                      <a:pPr algn="ctr"/>
                      <a:r>
                        <a:rPr sz="900" b="1" i="0">
                          <a:solidFill>
                            <a:srgbClr val="FFFFFF"/>
                          </a:solidFill>
                          <a:latin typeface="Arial"/>
                        </a:rPr>
                        <a:t>Rank</a:t>
                      </a:r>
                    </a:p>
                  </a:txBody>
                  <a:tcPr>
                    <a:solidFill>
                      <a:srgbClr val="002060"/>
                    </a:solidFill>
                  </a:tcPr>
                </a:tc>
                <a:tc>
                  <a:txBody>
                    <a:bodyPr wrap="none"/>
                    <a:lstStyle/>
                    <a:p>
                      <a:pPr algn="l"/>
                      <a:r>
                        <a:rPr sz="900" b="1" i="0">
                          <a:solidFill>
                            <a:srgbClr val="FFFFFF"/>
                          </a:solidFill>
                          <a:latin typeface="Arial"/>
                        </a:rPr>
                        <a:t>Athlete</a:t>
                      </a:r>
                    </a:p>
                  </a:txBody>
                  <a:tcPr>
                    <a:solidFill>
                      <a:srgbClr val="002060"/>
                    </a:solidFill>
                  </a:tcPr>
                </a:tc>
                <a:tc>
                  <a:txBody>
                    <a:bodyPr wrap="none"/>
                    <a:lstStyle/>
                    <a:p>
                      <a:pPr algn="ctr"/>
                      <a:r>
                        <a:rPr sz="900" b="1" i="0">
                          <a:solidFill>
                            <a:srgbClr val="FFFFFF"/>
                          </a:solidFill>
                          <a:latin typeface="Arial"/>
                        </a:rPr>
                        <a:t>Points</a:t>
                      </a:r>
                    </a:p>
                  </a:txBody>
                  <a:tcPr>
                    <a:solidFill>
                      <a:srgbClr val="002060"/>
                    </a:solidFill>
                  </a:tcPr>
                </a:tc>
                <a:tc>
                  <a:txBody>
                    <a:bodyPr wrap="none"/>
                    <a:lstStyle/>
                    <a:p>
                      <a:pPr algn="ctr"/>
                      <a:r>
                        <a:rPr sz="900" b="1" i="0">
                          <a:solidFill>
                            <a:srgbClr val="FFFFFF"/>
                          </a:solidFill>
                          <a:latin typeface="Arial"/>
                        </a:rPr>
                        <a:t>Second</a:t>
                      </a:r>
                    </a:p>
                  </a:txBody>
                  <a:tcPr>
                    <a:solidFill>
                      <a:srgbClr val="002060"/>
                    </a:solidFill>
                  </a:tcPr>
                </a:tc>
                <a:tc>
                  <a:txBody>
                    <a:bodyPr wrap="none"/>
                    <a:lstStyle/>
                    <a:p>
                      <a:pPr algn="ctr"/>
                      <a:r>
                        <a:rPr sz="900" b="1" i="0">
                          <a:solidFill>
                            <a:srgbClr val="FFFFFF"/>
                          </a:solidFill>
                          <a:latin typeface="Arial"/>
                        </a:rPr>
                        <a:t>First</a:t>
                      </a:r>
                    </a:p>
                  </a:txBody>
                  <a:tcPr>
                    <a:solidFill>
                      <a:srgbClr val="002060"/>
                    </a:solidFill>
                  </a:tcPr>
                </a:tc>
              </a:tr>
              <a:tr h="224028">
                <a:tc>
                  <a:txBody>
                    <a:bodyPr wrap="none"/>
                    <a:lstStyle/>
                    <a:p>
                      <a:pPr algn="ctr"/>
                      <a:r>
                        <a:rPr sz="850" b="1" i="0">
                          <a:solidFill>
                            <a:srgbClr val="262626"/>
                          </a:solidFill>
                          <a:latin typeface="Arial"/>
                        </a:rPr>
                        <a:t>10</a:t>
                      </a:r>
                    </a:p>
                  </a:txBody>
                  <a:tcPr>
                    <a:solidFill>
                      <a:srgbClr val="FFFFFF"/>
                    </a:solidFill>
                  </a:tcPr>
                </a:tc>
                <a:tc>
                  <a:txBody>
                    <a:bodyPr wrap="none"/>
                    <a:lstStyle/>
                    <a:p>
                      <a:pPr algn="l"/>
                      <a:r>
                        <a:rPr sz="850" b="0" i="0">
                          <a:solidFill>
                            <a:srgbClr val="262626"/>
                          </a:solidFill>
                          <a:latin typeface="Arial"/>
                        </a:rPr>
                        <a:t>Taylor Knibb</a:t>
                      </a:r>
                    </a:p>
                  </a:txBody>
                  <a:tcPr>
                    <a:solidFill>
                      <a:srgbClr val="FFFFFF"/>
                    </a:solidFill>
                  </a:tcPr>
                </a:tc>
                <a:tc>
                  <a:txBody>
                    <a:bodyPr wrap="none"/>
                    <a:lstStyle/>
                    <a:p>
                      <a:pPr algn="ctr"/>
                      <a:r>
                        <a:rPr sz="850" b="0" i="0">
                          <a:solidFill>
                            <a:srgbClr val="262626"/>
                          </a:solidFill>
                          <a:latin typeface="Arial"/>
                        </a:rPr>
                        <a:t>2,047</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4</a:t>
                      </a:r>
                    </a:p>
                  </a:txBody>
                  <a:tcPr>
                    <a:solidFill>
                      <a:srgbClr val="FFFFFF"/>
                    </a:solidFill>
                  </a:tcPr>
                </a:tc>
              </a:tr>
              <a:tr h="224028">
                <a:tc>
                  <a:txBody>
                    <a:bodyPr wrap="none"/>
                    <a:lstStyle/>
                    <a:p>
                      <a:pPr algn="ctr"/>
                      <a:r>
                        <a:rPr sz="850" b="1" i="0">
                          <a:solidFill>
                            <a:srgbClr val="262626"/>
                          </a:solidFill>
                          <a:latin typeface="Arial"/>
                        </a:rPr>
                        <a:t>15</a:t>
                      </a:r>
                    </a:p>
                  </a:txBody>
                  <a:tcPr>
                    <a:solidFill>
                      <a:srgbClr val="F2F2F2"/>
                    </a:solidFill>
                  </a:tcPr>
                </a:tc>
                <a:tc>
                  <a:txBody>
                    <a:bodyPr wrap="none"/>
                    <a:lstStyle/>
                    <a:p>
                      <a:pPr algn="l"/>
                      <a:r>
                        <a:rPr sz="850" b="0" i="0">
                          <a:solidFill>
                            <a:srgbClr val="262626"/>
                          </a:solidFill>
                          <a:latin typeface="Arial"/>
                        </a:rPr>
                        <a:t>Taylor Spivey</a:t>
                      </a:r>
                    </a:p>
                  </a:txBody>
                  <a:tcPr>
                    <a:solidFill>
                      <a:srgbClr val="F2F2F2"/>
                    </a:solidFill>
                  </a:tcPr>
                </a:tc>
                <a:tc>
                  <a:txBody>
                    <a:bodyPr wrap="none"/>
                    <a:lstStyle/>
                    <a:p>
                      <a:pPr algn="ctr"/>
                      <a:r>
                        <a:rPr sz="850" b="0" i="0">
                          <a:solidFill>
                            <a:srgbClr val="262626"/>
                          </a:solidFill>
                          <a:latin typeface="Arial"/>
                        </a:rPr>
                        <a:t>1,795</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3</a:t>
                      </a:r>
                    </a:p>
                  </a:txBody>
                  <a:tcPr>
                    <a:solidFill>
                      <a:srgbClr val="F2F2F2"/>
                    </a:solidFill>
                  </a:tcPr>
                </a:tc>
              </a:tr>
              <a:tr h="224028">
                <a:tc>
                  <a:txBody>
                    <a:bodyPr wrap="none"/>
                    <a:lstStyle/>
                    <a:p>
                      <a:pPr algn="ctr"/>
                      <a:r>
                        <a:rPr sz="850" b="1" i="0">
                          <a:solidFill>
                            <a:srgbClr val="262626"/>
                          </a:solidFill>
                          <a:latin typeface="Arial"/>
                        </a:rPr>
                        <a:t>16</a:t>
                      </a:r>
                    </a:p>
                  </a:txBody>
                  <a:tcPr>
                    <a:solidFill>
                      <a:srgbClr val="FFFFFF"/>
                    </a:solidFill>
                  </a:tcPr>
                </a:tc>
                <a:tc>
                  <a:txBody>
                    <a:bodyPr wrap="none"/>
                    <a:lstStyle/>
                    <a:p>
                      <a:pPr algn="l"/>
                      <a:r>
                        <a:rPr sz="850" b="0" i="0">
                          <a:solidFill>
                            <a:srgbClr val="262626"/>
                          </a:solidFill>
                          <a:latin typeface="Arial"/>
                        </a:rPr>
                        <a:t>Gina Sereno</a:t>
                      </a:r>
                    </a:p>
                  </a:txBody>
                  <a:tcPr>
                    <a:solidFill>
                      <a:srgbClr val="FFFFFF"/>
                    </a:solidFill>
                  </a:tcPr>
                </a:tc>
                <a:tc>
                  <a:txBody>
                    <a:bodyPr wrap="none"/>
                    <a:lstStyle/>
                    <a:p>
                      <a:pPr algn="ctr"/>
                      <a:r>
                        <a:rPr sz="850" b="0" i="0">
                          <a:solidFill>
                            <a:srgbClr val="262626"/>
                          </a:solidFill>
                          <a:latin typeface="Arial"/>
                        </a:rPr>
                        <a:t>1,785</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5</a:t>
                      </a:r>
                    </a:p>
                  </a:txBody>
                  <a:tcPr>
                    <a:solidFill>
                      <a:srgbClr val="FFFFFF"/>
                    </a:solidFill>
                  </a:tcPr>
                </a:tc>
              </a:tr>
              <a:tr h="224028">
                <a:tc>
                  <a:txBody>
                    <a:bodyPr wrap="none"/>
                    <a:lstStyle/>
                    <a:p>
                      <a:pPr algn="ctr"/>
                      <a:r>
                        <a:rPr sz="850" b="1" i="0">
                          <a:solidFill>
                            <a:srgbClr val="262626"/>
                          </a:solidFill>
                          <a:latin typeface="Arial"/>
                        </a:rPr>
                        <a:t>17</a:t>
                      </a:r>
                    </a:p>
                  </a:txBody>
                  <a:tcPr>
                    <a:solidFill>
                      <a:srgbClr val="F2F2F2"/>
                    </a:solidFill>
                  </a:tcPr>
                </a:tc>
                <a:tc>
                  <a:txBody>
                    <a:bodyPr wrap="none"/>
                    <a:lstStyle/>
                    <a:p>
                      <a:pPr algn="l"/>
                      <a:r>
                        <a:rPr sz="850" b="0" i="0">
                          <a:solidFill>
                            <a:srgbClr val="262626"/>
                          </a:solidFill>
                          <a:latin typeface="Arial"/>
                        </a:rPr>
                        <a:t>Danielle Orie</a:t>
                      </a:r>
                    </a:p>
                  </a:txBody>
                  <a:tcPr>
                    <a:solidFill>
                      <a:srgbClr val="F2F2F2"/>
                    </a:solidFill>
                  </a:tcPr>
                </a:tc>
                <a:tc>
                  <a:txBody>
                    <a:bodyPr wrap="none"/>
                    <a:lstStyle/>
                    <a:p>
                      <a:pPr algn="ctr"/>
                      <a:r>
                        <a:rPr sz="850" b="0" i="0">
                          <a:solidFill>
                            <a:srgbClr val="262626"/>
                          </a:solidFill>
                          <a:latin typeface="Arial"/>
                        </a:rPr>
                        <a:t>1,646</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5</a:t>
                      </a:r>
                    </a:p>
                  </a:txBody>
                  <a:tcPr>
                    <a:solidFill>
                      <a:srgbClr val="F2F2F2"/>
                    </a:solidFill>
                  </a:tcPr>
                </a:tc>
              </a:tr>
              <a:tr h="224028">
                <a:tc>
                  <a:txBody>
                    <a:bodyPr wrap="none"/>
                    <a:lstStyle/>
                    <a:p>
                      <a:pPr algn="ctr"/>
                      <a:r>
                        <a:rPr sz="850" b="1" i="0">
                          <a:solidFill>
                            <a:srgbClr val="262626"/>
                          </a:solidFill>
                          <a:latin typeface="Arial"/>
                        </a:rPr>
                        <a:t>23</a:t>
                      </a:r>
                    </a:p>
                  </a:txBody>
                  <a:tcPr>
                    <a:solidFill>
                      <a:srgbClr val="FFFFFF"/>
                    </a:solidFill>
                  </a:tcPr>
                </a:tc>
                <a:tc>
                  <a:txBody>
                    <a:bodyPr wrap="none"/>
                    <a:lstStyle/>
                    <a:p>
                      <a:pPr algn="l"/>
                      <a:r>
                        <a:rPr sz="850" b="0" i="0">
                          <a:solidFill>
                            <a:srgbClr val="262626"/>
                          </a:solidFill>
                          <a:latin typeface="Arial"/>
                        </a:rPr>
                        <a:t>Gwen Jorgensen</a:t>
                      </a:r>
                    </a:p>
                  </a:txBody>
                  <a:tcPr>
                    <a:solidFill>
                      <a:srgbClr val="FFFFFF"/>
                    </a:solidFill>
                  </a:tcPr>
                </a:tc>
                <a:tc>
                  <a:txBody>
                    <a:bodyPr wrap="none"/>
                    <a:lstStyle/>
                    <a:p>
                      <a:pPr algn="ctr"/>
                      <a:r>
                        <a:rPr sz="850" b="0" i="0">
                          <a:solidFill>
                            <a:srgbClr val="262626"/>
                          </a:solidFill>
                          <a:latin typeface="Arial"/>
                        </a:rPr>
                        <a:t>1,288</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3</a:t>
                      </a:r>
                    </a:p>
                  </a:txBody>
                  <a:tcPr>
                    <a:solidFill>
                      <a:srgbClr val="FFFFFF"/>
                    </a:solidFill>
                  </a:tcPr>
                </a:tc>
              </a:tr>
              <a:tr h="224028">
                <a:tc>
                  <a:txBody>
                    <a:bodyPr wrap="none"/>
                    <a:lstStyle/>
                    <a:p>
                      <a:pPr algn="ctr"/>
                      <a:r>
                        <a:rPr sz="850" b="1" i="0">
                          <a:solidFill>
                            <a:srgbClr val="262626"/>
                          </a:solidFill>
                          <a:latin typeface="Arial"/>
                        </a:rPr>
                        <a:t>34</a:t>
                      </a:r>
                    </a:p>
                  </a:txBody>
                  <a:tcPr>
                    <a:solidFill>
                      <a:srgbClr val="F2F2F2"/>
                    </a:solidFill>
                  </a:tcPr>
                </a:tc>
                <a:tc>
                  <a:txBody>
                    <a:bodyPr wrap="none"/>
                    <a:lstStyle/>
                    <a:p>
                      <a:pPr algn="l"/>
                      <a:r>
                        <a:rPr sz="850" b="0" i="0">
                          <a:solidFill>
                            <a:srgbClr val="262626"/>
                          </a:solidFill>
                          <a:latin typeface="Arial"/>
                        </a:rPr>
                        <a:t>Kelly Wetteland</a:t>
                      </a:r>
                    </a:p>
                  </a:txBody>
                  <a:tcPr>
                    <a:solidFill>
                      <a:srgbClr val="F2F2F2"/>
                    </a:solidFill>
                  </a:tcPr>
                </a:tc>
                <a:tc>
                  <a:txBody>
                    <a:bodyPr wrap="none"/>
                    <a:lstStyle/>
                    <a:p>
                      <a:pPr algn="ctr"/>
                      <a:r>
                        <a:rPr sz="850" b="0" i="0">
                          <a:solidFill>
                            <a:srgbClr val="262626"/>
                          </a:solidFill>
                          <a:latin typeface="Arial"/>
                        </a:rPr>
                        <a:t>925</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2</a:t>
                      </a:r>
                    </a:p>
                  </a:txBody>
                  <a:tcPr>
                    <a:solidFill>
                      <a:srgbClr val="F2F2F2"/>
                    </a:solidFill>
                  </a:tcPr>
                </a:tc>
              </a:tr>
              <a:tr h="224028">
                <a:tc>
                  <a:txBody>
                    <a:bodyPr wrap="none"/>
                    <a:lstStyle/>
                    <a:p>
                      <a:pPr algn="ctr"/>
                      <a:r>
                        <a:rPr sz="850" b="1" i="0">
                          <a:solidFill>
                            <a:srgbClr val="262626"/>
                          </a:solidFill>
                          <a:latin typeface="Arial"/>
                        </a:rPr>
                        <a:t>38</a:t>
                      </a:r>
                    </a:p>
                  </a:txBody>
                  <a:tcPr>
                    <a:solidFill>
                      <a:srgbClr val="FFFFFF"/>
                    </a:solidFill>
                  </a:tcPr>
                </a:tc>
                <a:tc>
                  <a:txBody>
                    <a:bodyPr wrap="none"/>
                    <a:lstStyle/>
                    <a:p>
                      <a:pPr algn="l"/>
                      <a:r>
                        <a:rPr sz="850" b="0" i="0">
                          <a:solidFill>
                            <a:srgbClr val="262626"/>
                          </a:solidFill>
                          <a:latin typeface="Arial"/>
                        </a:rPr>
                        <a:t>Naomi Ruff</a:t>
                      </a:r>
                    </a:p>
                  </a:txBody>
                  <a:tcPr>
                    <a:solidFill>
                      <a:srgbClr val="FFFFFF"/>
                    </a:solidFill>
                  </a:tcPr>
                </a:tc>
                <a:tc>
                  <a:txBody>
                    <a:bodyPr wrap="none"/>
                    <a:lstStyle/>
                    <a:p>
                      <a:pPr algn="ctr"/>
                      <a:r>
                        <a:rPr sz="850" b="0" i="0">
                          <a:solidFill>
                            <a:srgbClr val="262626"/>
                          </a:solidFill>
                          <a:latin typeface="Arial"/>
                        </a:rPr>
                        <a:t>882</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3</a:t>
                      </a:r>
                    </a:p>
                  </a:txBody>
                  <a:tcPr>
                    <a:solidFill>
                      <a:srgbClr val="FFFFFF"/>
                    </a:solidFill>
                  </a:tcPr>
                </a:tc>
              </a:tr>
              <a:tr h="224028">
                <a:tc>
                  <a:txBody>
                    <a:bodyPr wrap="none"/>
                    <a:lstStyle/>
                    <a:p>
                      <a:pPr algn="ctr"/>
                      <a:r>
                        <a:rPr sz="850" b="1" i="0">
                          <a:solidFill>
                            <a:srgbClr val="262626"/>
                          </a:solidFill>
                          <a:latin typeface="Arial"/>
                        </a:rPr>
                        <a:t>51</a:t>
                      </a:r>
                    </a:p>
                  </a:txBody>
                  <a:tcPr>
                    <a:solidFill>
                      <a:srgbClr val="F2F2F2"/>
                    </a:solidFill>
                  </a:tcPr>
                </a:tc>
                <a:tc>
                  <a:txBody>
                    <a:bodyPr wrap="none"/>
                    <a:lstStyle/>
                    <a:p>
                      <a:pPr algn="l"/>
                      <a:r>
                        <a:rPr sz="850" b="0" i="0">
                          <a:solidFill>
                            <a:srgbClr val="262626"/>
                          </a:solidFill>
                          <a:latin typeface="Arial"/>
                        </a:rPr>
                        <a:t>Erika Ackerlund</a:t>
                      </a:r>
                    </a:p>
                  </a:txBody>
                  <a:tcPr>
                    <a:solidFill>
                      <a:srgbClr val="F2F2F2"/>
                    </a:solidFill>
                  </a:tcPr>
                </a:tc>
                <a:tc>
                  <a:txBody>
                    <a:bodyPr wrap="none"/>
                    <a:lstStyle/>
                    <a:p>
                      <a:pPr algn="ctr"/>
                      <a:r>
                        <a:rPr sz="850" b="0" i="0">
                          <a:solidFill>
                            <a:srgbClr val="262626"/>
                          </a:solidFill>
                          <a:latin typeface="Arial"/>
                        </a:rPr>
                        <a:t>720</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3</a:t>
                      </a:r>
                    </a:p>
                  </a:txBody>
                  <a:tcPr>
                    <a:solidFill>
                      <a:srgbClr val="F2F2F2"/>
                    </a:solidFill>
                  </a:tcPr>
                </a:tc>
              </a:tr>
              <a:tr h="224028">
                <a:tc>
                  <a:txBody>
                    <a:bodyPr wrap="none"/>
                    <a:lstStyle/>
                    <a:p>
                      <a:pPr algn="ctr"/>
                      <a:r>
                        <a:rPr sz="850" b="1" i="0">
                          <a:solidFill>
                            <a:srgbClr val="262626"/>
                          </a:solidFill>
                          <a:latin typeface="Arial"/>
                        </a:rPr>
                        <a:t>62</a:t>
                      </a:r>
                    </a:p>
                  </a:txBody>
                  <a:tcPr>
                    <a:solidFill>
                      <a:srgbClr val="FFFFFF"/>
                    </a:solidFill>
                  </a:tcPr>
                </a:tc>
                <a:tc>
                  <a:txBody>
                    <a:bodyPr wrap="none"/>
                    <a:lstStyle/>
                    <a:p>
                      <a:pPr algn="l"/>
                      <a:r>
                        <a:rPr sz="850" b="0" i="0">
                          <a:solidFill>
                            <a:srgbClr val="262626"/>
                          </a:solidFill>
                          <a:latin typeface="Arial"/>
                        </a:rPr>
                        <a:t>Eleanor Beveridge</a:t>
                      </a:r>
                    </a:p>
                  </a:txBody>
                  <a:tcPr>
                    <a:solidFill>
                      <a:srgbClr val="FFFFFF"/>
                    </a:solidFill>
                  </a:tcPr>
                </a:tc>
                <a:tc>
                  <a:txBody>
                    <a:bodyPr wrap="none"/>
                    <a:lstStyle/>
                    <a:p>
                      <a:pPr algn="ctr"/>
                      <a:r>
                        <a:rPr sz="850" b="0" i="0">
                          <a:solidFill>
                            <a:srgbClr val="262626"/>
                          </a:solidFill>
                          <a:latin typeface="Arial"/>
                        </a:rPr>
                        <a:t>567</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3</a:t>
                      </a:r>
                    </a:p>
                  </a:txBody>
                  <a:tcPr>
                    <a:solidFill>
                      <a:srgbClr val="FFFFFF"/>
                    </a:solidFill>
                  </a:tcPr>
                </a:tc>
              </a:tr>
              <a:tr h="224028">
                <a:tc>
                  <a:txBody>
                    <a:bodyPr wrap="none"/>
                    <a:lstStyle/>
                    <a:p>
                      <a:pPr algn="ctr"/>
                      <a:r>
                        <a:rPr sz="850" b="1" i="0">
                          <a:solidFill>
                            <a:srgbClr val="262626"/>
                          </a:solidFill>
                          <a:latin typeface="Arial"/>
                        </a:rPr>
                        <a:t>75</a:t>
                      </a:r>
                    </a:p>
                  </a:txBody>
                  <a:tcPr>
                    <a:solidFill>
                      <a:srgbClr val="F2F2F2"/>
                    </a:solidFill>
                  </a:tcPr>
                </a:tc>
                <a:tc>
                  <a:txBody>
                    <a:bodyPr wrap="none"/>
                    <a:lstStyle/>
                    <a:p>
                      <a:pPr algn="l"/>
                      <a:r>
                        <a:rPr sz="850" b="0" i="0">
                          <a:solidFill>
                            <a:srgbClr val="262626"/>
                          </a:solidFill>
                          <a:latin typeface="Arial"/>
                        </a:rPr>
                        <a:t>Kirsten Kasper</a:t>
                      </a:r>
                    </a:p>
                  </a:txBody>
                  <a:tcPr>
                    <a:solidFill>
                      <a:srgbClr val="F2F2F2"/>
                    </a:solidFill>
                  </a:tcPr>
                </a:tc>
                <a:tc>
                  <a:txBody>
                    <a:bodyPr wrap="none"/>
                    <a:lstStyle/>
                    <a:p>
                      <a:pPr algn="ctr"/>
                      <a:r>
                        <a:rPr sz="850" b="0" i="0">
                          <a:solidFill>
                            <a:srgbClr val="262626"/>
                          </a:solidFill>
                          <a:latin typeface="Arial"/>
                        </a:rPr>
                        <a:t>475</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2</a:t>
                      </a:r>
                    </a:p>
                  </a:txBody>
                  <a:tcPr>
                    <a:solidFill>
                      <a:srgbClr val="F2F2F2"/>
                    </a:solidFill>
                  </a:tcPr>
                </a:tc>
              </a:tr>
              <a:tr h="224028">
                <a:tc>
                  <a:txBody>
                    <a:bodyPr wrap="none"/>
                    <a:lstStyle/>
                    <a:p>
                      <a:pPr algn="ctr"/>
                      <a:r>
                        <a:rPr sz="850" b="1" i="0">
                          <a:solidFill>
                            <a:srgbClr val="262626"/>
                          </a:solidFill>
                          <a:latin typeface="Arial"/>
                        </a:rPr>
                        <a:t>99</a:t>
                      </a:r>
                    </a:p>
                  </a:txBody>
                  <a:tcPr>
                    <a:solidFill>
                      <a:srgbClr val="FFFFFF"/>
                    </a:solidFill>
                  </a:tcPr>
                </a:tc>
                <a:tc>
                  <a:txBody>
                    <a:bodyPr wrap="none"/>
                    <a:lstStyle/>
                    <a:p>
                      <a:pPr algn="l"/>
                      <a:r>
                        <a:rPr sz="850" b="0" i="0">
                          <a:solidFill>
                            <a:srgbClr val="262626"/>
                          </a:solidFill>
                          <a:latin typeface="Arial"/>
                        </a:rPr>
                        <a:t>Rachel Werking</a:t>
                      </a:r>
                    </a:p>
                  </a:txBody>
                  <a:tcPr>
                    <a:solidFill>
                      <a:srgbClr val="FFFFFF"/>
                    </a:solidFill>
                  </a:tcPr>
                </a:tc>
                <a:tc>
                  <a:txBody>
                    <a:bodyPr wrap="none"/>
                    <a:lstStyle/>
                    <a:p>
                      <a:pPr algn="ctr"/>
                      <a:r>
                        <a:rPr sz="850" b="0" i="0">
                          <a:solidFill>
                            <a:srgbClr val="262626"/>
                          </a:solidFill>
                          <a:latin typeface="Arial"/>
                        </a:rPr>
                        <a:t>271</a:t>
                      </a:r>
                    </a:p>
                  </a:txBody>
                  <a:tcPr>
                    <a:solidFill>
                      <a:srgbClr val="FFFFFF"/>
                    </a:solidFill>
                  </a:tcPr>
                </a:tc>
                <a:tc>
                  <a:txBody>
                    <a:bodyPr wrap="none"/>
                    <a:lstStyle/>
                    <a:p>
                      <a:pPr algn="ctr"/>
                      <a:r>
                        <a:rPr sz="850" b="0" i="0">
                          <a:solidFill>
                            <a:srgbClr val="262626"/>
                          </a:solidFill>
                          <a:latin typeface="Arial"/>
                        </a:rPr>
                        <a:t>0</a:t>
                      </a:r>
                    </a:p>
                  </a:txBody>
                  <a:tcPr>
                    <a:solidFill>
                      <a:srgbClr val="FFFFFF"/>
                    </a:solidFill>
                  </a:tcPr>
                </a:tc>
                <a:tc>
                  <a:txBody>
                    <a:bodyPr wrap="none"/>
                    <a:lstStyle/>
                    <a:p>
                      <a:pPr algn="ctr"/>
                      <a:r>
                        <a:rPr sz="850" b="0" i="0">
                          <a:solidFill>
                            <a:srgbClr val="262626"/>
                          </a:solidFill>
                          <a:latin typeface="Arial"/>
                        </a:rPr>
                        <a:t>2</a:t>
                      </a:r>
                    </a:p>
                  </a:txBody>
                  <a:tcPr>
                    <a:solidFill>
                      <a:srgbClr val="FFFFFF"/>
                    </a:solidFill>
                  </a:tcPr>
                </a:tc>
              </a:tr>
              <a:tr h="224028">
                <a:tc>
                  <a:txBody>
                    <a:bodyPr wrap="none"/>
                    <a:lstStyle/>
                    <a:p>
                      <a:pPr algn="ctr"/>
                      <a:r>
                        <a:rPr sz="850" b="1" i="0">
                          <a:solidFill>
                            <a:srgbClr val="262626"/>
                          </a:solidFill>
                          <a:latin typeface="Arial"/>
                        </a:rPr>
                        <a:t>118</a:t>
                      </a:r>
                    </a:p>
                  </a:txBody>
                  <a:tcPr>
                    <a:solidFill>
                      <a:srgbClr val="F2F2F2"/>
                    </a:solidFill>
                  </a:tcPr>
                </a:tc>
                <a:tc>
                  <a:txBody>
                    <a:bodyPr wrap="none"/>
                    <a:lstStyle/>
                    <a:p>
                      <a:pPr algn="l"/>
                      <a:r>
                        <a:rPr sz="850" b="0" i="0">
                          <a:solidFill>
                            <a:srgbClr val="262626"/>
                          </a:solidFill>
                          <a:latin typeface="Arial"/>
                        </a:rPr>
                        <a:t>Joy Gill</a:t>
                      </a:r>
                    </a:p>
                  </a:txBody>
                  <a:tcPr>
                    <a:solidFill>
                      <a:srgbClr val="F2F2F2"/>
                    </a:solidFill>
                  </a:tcPr>
                </a:tc>
                <a:tc>
                  <a:txBody>
                    <a:bodyPr wrap="none"/>
                    <a:lstStyle/>
                    <a:p>
                      <a:pPr algn="ctr"/>
                      <a:r>
                        <a:rPr sz="850" b="0" i="0">
                          <a:solidFill>
                            <a:srgbClr val="262626"/>
                          </a:solidFill>
                          <a:latin typeface="Arial"/>
                        </a:rPr>
                        <a:t>200</a:t>
                      </a:r>
                    </a:p>
                  </a:txBody>
                  <a:tcPr>
                    <a:solidFill>
                      <a:srgbClr val="F2F2F2"/>
                    </a:solidFill>
                  </a:tcPr>
                </a:tc>
                <a:tc>
                  <a:txBody>
                    <a:bodyPr wrap="none"/>
                    <a:lstStyle/>
                    <a:p>
                      <a:pPr algn="ctr"/>
                      <a:r>
                        <a:rPr sz="850" b="0" i="0">
                          <a:solidFill>
                            <a:srgbClr val="262626"/>
                          </a:solidFill>
                          <a:latin typeface="Arial"/>
                        </a:rPr>
                        <a:t>0</a:t>
                      </a:r>
                    </a:p>
                  </a:txBody>
                  <a:tcPr>
                    <a:solidFill>
                      <a:srgbClr val="F2F2F2"/>
                    </a:solidFill>
                  </a:tcPr>
                </a:tc>
                <a:tc>
                  <a:txBody>
                    <a:bodyPr wrap="none"/>
                    <a:lstStyle/>
                    <a:p>
                      <a:pPr algn="ctr"/>
                      <a:r>
                        <a:rPr sz="850" b="0" i="0">
                          <a:solidFill>
                            <a:srgbClr val="262626"/>
                          </a:solidFill>
                          <a:latin typeface="Arial"/>
                        </a:rPr>
                        <a:t>2</a:t>
                      </a:r>
                    </a:p>
                  </a:txBody>
                  <a:tcPr>
                    <a:solidFill>
                      <a:srgbClr val="F2F2F2"/>
                    </a:solidFill>
                  </a:tcPr>
                </a:tc>
              </a:tr>
            </a:tbl>
          </a:graphicData>
        </a:graphic>
      </p:graphicFrame>
      <p:sp>
        <p:nvSpPr>
          <p:cNvPr id="16" name="TextBox 15"/>
          <p:cNvSpPr txBox="1"/>
          <p:nvPr/>
        </p:nvSpPr>
        <p:spPr>
          <a:xfrm>
            <a:off x="274320" y="6419088"/>
            <a:ext cx="11640312" cy="274320"/>
          </a:xfrm>
          <a:prstGeom prst="rect">
            <a:avLst/>
          </a:prstGeom>
          <a:noFill/>
        </p:spPr>
        <p:txBody>
          <a:bodyPr wrap="square">
            <a:spAutoFit/>
          </a:bodyPr>
          <a:lstStyle/>
          <a:p>
            <a:pPr algn="ctr"/>
            <a:r>
              <a:rPr sz="800" b="0" i="1">
                <a:solidFill>
                  <a:srgbClr val="BFBFBF"/>
                </a:solidFill>
                <a:latin typeface="Arial"/>
              </a:rPr>
              <a:t>Rankings: latest weekly snapshot.  Second / First = events counted in the second vs first scoring period of the LA 2028 OQR cycle.  Because the cycle is still in its first year, most results appear under First.  Source: World Triathlon rankings database.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WEIHAI</a:t>
            </a:r>
          </a:p>
        </p:txBody>
      </p:sp>
      <p:sp>
        <p:nvSpPr>
          <p:cNvPr id="10" name="TextBox 9"/>
          <p:cNvSpPr txBox="1"/>
          <p:nvPr/>
        </p:nvSpPr>
        <p:spPr>
          <a:xfrm>
            <a:off x="274320" y="1508760"/>
            <a:ext cx="6400800" cy="5074920"/>
          </a:xfrm>
          <a:prstGeom prst="rect">
            <a:avLst/>
          </a:prstGeom>
          <a:noFill/>
        </p:spPr>
        <p:txBody>
          <a:bodyPr wrap="square">
            <a:spAutoFit/>
          </a:bodyPr>
          <a:lstStyle/>
          <a:p>
            <a:pPr algn="l"/>
            <a:r>
              <a:rPr sz="1200" b="0" i="0">
                <a:solidFill>
                  <a:srgbClr val="262626"/>
                </a:solidFill>
                <a:latin typeface="Arial"/>
              </a:rPr>
              <a:t>The Elite Men race at Weihai has been held 6 times in this analysis window (2018–2026). Max Studer is the most successful athlete in this span with 2 victories. The event is staged as part of the World Cup / World Championship Series calendar.
[PLACEHOLDER: Add 1–2 sentences on notable storylines, competitive history, or what makes this event significant for Elite Men athletes. E.g. defending champions, record performances, dramatic finishes.]</a:t>
            </a: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1572768"/>
          </a:xfrm>
          <a:prstGeom prst="rect">
            <a:avLst/>
          </a:prstGeom>
          <a:noFill/>
        </p:spPr>
        <p:txBody>
          <a:bodyPr wrap="square">
            <a:spAutoFit/>
          </a:bodyPr>
          <a:lstStyle/>
          <a:p>
            <a:pPr algn="l"/>
            <a:r>
              <a:rPr sz="1100" b="0" i="0">
                <a:solidFill>
                  <a:srgbClr val="262626"/>
                </a:solidFill>
                <a:latin typeface="Arial"/>
              </a:rPr>
              <a:t>Swim positioning matters — an average of 17 athletes exit the water within 15 sec of the leader. Entering the bike in the front pack is critical; conserve energy with a disciplined swim line rather than sprinting alone.</a:t>
            </a: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1572768"/>
          </a:xfrm>
          <a:prstGeom prst="rect">
            <a:avLst/>
          </a:prstGeom>
          <a:noFill/>
        </p:spPr>
        <p:txBody>
          <a:bodyPr wrap="square">
            <a:spAutoFit/>
          </a:bodyPr>
          <a:lstStyle/>
          <a:p>
            <a:pPr algn="l"/>
            <a:r>
              <a:rPr sz="1100" b="0" i="0">
                <a:solidFill>
                  <a:srgbClr val="262626"/>
                </a:solidFill>
                <a:latin typeface="Arial"/>
              </a:rPr>
              <a:t>[PLACEHOLDER: Key 2 — Describe bike strategy: is this a pack race or do breakaways form? What power/tactics are needed to stay in the lead group?]</a:t>
            </a: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1572768"/>
          </a:xfrm>
          <a:prstGeom prst="rect">
            <a:avLst/>
          </a:prstGeom>
          <a:noFill/>
        </p:spPr>
        <p:txBody>
          <a:bodyPr wrap="square">
            <a:spAutoFit/>
          </a:bodyPr>
          <a:lstStyle/>
          <a:p>
            <a:pPr algn="l"/>
            <a:r>
              <a:rPr sz="1100" b="0" i="0">
                <a:solidFill>
                  <a:srgbClr val="262626"/>
                </a:solidFill>
                <a:latin typeface="Arial"/>
              </a:rPr>
              <a:t>Run speed separates the podium — the fastest run pace averages ~3:02/km with a ~152s spread between fastest and average finisher. Either a pre-built lead from the bike or exceptional run speed is required to win.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274320" y="1143000"/>
          <a:ext cx="11640307" cy="3584448"/>
        </p:xfrm>
        <a:graphic>
          <a:graphicData uri="http://schemas.openxmlformats.org/drawingml/2006/table">
            <a:tbl>
              <a:tblPr firstRow="1" bandRow="1">
                <a:tableStyleId>{5C22544A-7EE6-4342-B048-85BDC9FD1C3A}</a:tableStyleId>
              </a:tblPr>
              <a:tblGrid>
                <a:gridCol w="655082"/>
                <a:gridCol w="957428"/>
                <a:gridCol w="1914856"/>
                <a:gridCol w="554300"/>
                <a:gridCol w="755864"/>
                <a:gridCol w="2015638"/>
                <a:gridCol w="1007819"/>
                <a:gridCol w="806255"/>
                <a:gridCol w="856646"/>
                <a:gridCol w="705473"/>
                <a:gridCol w="705473"/>
                <a:gridCol w="705473"/>
              </a:tblGrid>
              <a:tr h="512064">
                <a:tc>
                  <a:txBody>
                    <a:bodyPr wrap="none"/>
                    <a:lstStyle/>
                    <a:p>
                      <a:pPr algn="ctr"/>
                      <a:r>
                        <a:rPr sz="1400" b="1" i="0">
                          <a:solidFill>
                            <a:srgbClr val="FFFFFF"/>
                          </a:solidFill>
                          <a:latin typeface="Arial"/>
                        </a:rPr>
                        <a:t>Year</a:t>
                      </a:r>
                    </a:p>
                  </a:txBody>
                  <a:tcPr>
                    <a:solidFill>
                      <a:srgbClr val="002060"/>
                    </a:solidFill>
                  </a:tcPr>
                </a:tc>
                <a:tc>
                  <a:txBody>
                    <a:bodyPr wrap="none"/>
                    <a:lstStyle/>
                    <a:p>
                      <a:pPr algn="ctr"/>
                      <a:r>
                        <a:rPr sz="1400" b="1" i="0">
                          <a:solidFill>
                            <a:srgbClr val="FFFFFF"/>
                          </a:solidFill>
                          <a:latin typeface="Arial"/>
                        </a:rPr>
                        <a:t>Date</a:t>
                      </a:r>
                    </a:p>
                  </a:txBody>
                  <a:tcPr>
                    <a:solidFill>
                      <a:srgbClr val="002060"/>
                    </a:solidFill>
                  </a:tcPr>
                </a:tc>
                <a:tc>
                  <a:txBody>
                    <a:bodyPr wrap="none"/>
                    <a:lstStyle/>
                    <a:p>
                      <a:pPr algn="ctr"/>
                      <a:r>
                        <a:rPr sz="1400" b="1" i="0">
                          <a:solidFill>
                            <a:srgbClr val="FFFFFF"/>
                          </a:solidFill>
                          <a:latin typeface="Arial"/>
                        </a:rPr>
                        <a:t>Category</a:t>
                      </a:r>
                    </a:p>
                  </a:txBody>
                  <a:tcPr>
                    <a:solidFill>
                      <a:srgbClr val="002060"/>
                    </a:solidFill>
                  </a:tcPr>
                </a:tc>
                <a:tc>
                  <a:txBody>
                    <a:bodyPr wrap="none"/>
                    <a:lstStyle/>
                    <a:p>
                      <a:pPr algn="ctr"/>
                      <a:r>
                        <a:rPr sz="1400" b="1" i="0">
                          <a:solidFill>
                            <a:srgbClr val="FFFFFF"/>
                          </a:solidFill>
                          <a:latin typeface="Arial"/>
                        </a:rPr>
                        <a:t>Field</a:t>
                      </a:r>
                    </a:p>
                  </a:txBody>
                  <a:tcPr>
                    <a:solidFill>
                      <a:srgbClr val="002060"/>
                    </a:solidFill>
                  </a:tcPr>
                </a:tc>
                <a:tc>
                  <a:txBody>
                    <a:bodyPr wrap="none"/>
                    <a:lstStyle/>
                    <a:p>
                      <a:pPr algn="ctr"/>
                      <a:r>
                        <a:rPr sz="1400" b="1" i="0">
                          <a:solidFill>
                            <a:srgbClr val="FFFFFF"/>
                          </a:solidFill>
                          <a:latin typeface="Arial"/>
                        </a:rPr>
                        <a:t>DNF/LAP/DNS</a:t>
                      </a:r>
                    </a:p>
                  </a:txBody>
                  <a:tcPr>
                    <a:solidFill>
                      <a:srgbClr val="002060"/>
                    </a:solidFill>
                  </a:tcPr>
                </a:tc>
                <a:tc>
                  <a:txBody>
                    <a:bodyPr wrap="none"/>
                    <a:lstStyle/>
                    <a:p>
                      <a:pPr algn="ctr"/>
                      <a:r>
                        <a:rPr sz="1400" b="1" i="0">
                          <a:solidFill>
                            <a:srgbClr val="FFFFFF"/>
                          </a:solidFill>
                          <a:latin typeface="Arial"/>
                        </a:rPr>
                        <a:t>Winner</a:t>
                      </a:r>
                    </a:p>
                  </a:txBody>
                  <a:tcPr>
                    <a:solidFill>
                      <a:srgbClr val="002060"/>
                    </a:solidFill>
                  </a:tcPr>
                </a:tc>
                <a:tc>
                  <a:txBody>
                    <a:bodyPr wrap="none"/>
                    <a:lstStyle/>
                    <a:p>
                      <a:pPr algn="ctr"/>
                      <a:r>
                        <a:rPr sz="1400" b="1" i="0">
                          <a:solidFill>
                            <a:srgbClr val="FFFFFF"/>
                          </a:solidFill>
                          <a:latin typeface="Arial"/>
                        </a:rPr>
                        <a:t>Winner Time</a:t>
                      </a:r>
                    </a:p>
                  </a:txBody>
                  <a:tcPr>
                    <a:solidFill>
                      <a:srgbClr val="002060"/>
                    </a:solidFill>
                  </a:tcPr>
                </a:tc>
                <a:tc>
                  <a:txBody>
                    <a:bodyPr wrap="none"/>
                    <a:lstStyle/>
                    <a:p>
                      <a:pPr algn="ctr"/>
                      <a:r>
                        <a:rPr sz="1400" b="1" i="0">
                          <a:solidFill>
                            <a:srgbClr val="FFFFFF"/>
                          </a:solidFill>
                          <a:latin typeface="Arial"/>
                        </a:rPr>
                        <a:t>Air Temp</a:t>
                      </a:r>
                    </a:p>
                  </a:txBody>
                  <a:tcPr>
                    <a:solidFill>
                      <a:srgbClr val="002060"/>
                    </a:solidFill>
                  </a:tcPr>
                </a:tc>
                <a:tc>
                  <a:txBody>
                    <a:bodyPr wrap="none"/>
                    <a:lstStyle/>
                    <a:p>
                      <a:pPr algn="ctr"/>
                      <a:r>
                        <a:rPr sz="1400" b="1" i="0">
                          <a:solidFill>
                            <a:srgbClr val="FFFFFF"/>
                          </a:solidFill>
                          <a:latin typeface="Arial"/>
                        </a:rPr>
                        <a:t>Water Temp</a:t>
                      </a:r>
                    </a:p>
                  </a:txBody>
                  <a:tcPr>
                    <a:solidFill>
                      <a:srgbClr val="002060"/>
                    </a:solidFill>
                  </a:tcPr>
                </a:tc>
                <a:tc>
                  <a:txBody>
                    <a:bodyPr wrap="none"/>
                    <a:lstStyle/>
                    <a:p>
                      <a:pPr algn="ctr"/>
                      <a:r>
                        <a:rPr sz="1400" b="1" i="0">
                          <a:solidFill>
                            <a:srgbClr val="FFFFFF"/>
                          </a:solidFill>
                          <a:latin typeface="Arial"/>
                        </a:rPr>
                        <a:t>Swim km</a:t>
                      </a:r>
                    </a:p>
                  </a:txBody>
                  <a:tcPr>
                    <a:solidFill>
                      <a:srgbClr val="002060"/>
                    </a:solidFill>
                  </a:tcPr>
                </a:tc>
                <a:tc>
                  <a:txBody>
                    <a:bodyPr wrap="none"/>
                    <a:lstStyle/>
                    <a:p>
                      <a:pPr algn="ctr"/>
                      <a:r>
                        <a:rPr sz="1400" b="1" i="0">
                          <a:solidFill>
                            <a:srgbClr val="FFFFFF"/>
                          </a:solidFill>
                          <a:latin typeface="Arial"/>
                        </a:rPr>
                        <a:t>Bike km</a:t>
                      </a:r>
                    </a:p>
                  </a:txBody>
                  <a:tcPr>
                    <a:solidFill>
                      <a:srgbClr val="002060"/>
                    </a:solidFill>
                  </a:tcPr>
                </a:tc>
                <a:tc>
                  <a:txBody>
                    <a:bodyPr wrap="none"/>
                    <a:lstStyle/>
                    <a:p>
                      <a:pPr algn="ctr"/>
                      <a:r>
                        <a:rPr sz="1400" b="1" i="0">
                          <a:solidFill>
                            <a:srgbClr val="FFFFFF"/>
                          </a:solidFill>
                          <a:latin typeface="Arial"/>
                        </a:rPr>
                        <a:t>Run km</a:t>
                      </a:r>
                    </a:p>
                  </a:txBody>
                  <a:tcPr>
                    <a:solidFill>
                      <a:srgbClr val="002060"/>
                    </a:solidFill>
                  </a:tcPr>
                </a:tc>
              </a:tr>
              <a:tr h="512064">
                <a:tc>
                  <a:txBody>
                    <a:bodyPr wrap="none"/>
                    <a:lstStyle/>
                    <a:p>
                      <a:pPr algn="ctr"/>
                      <a:r>
                        <a:rPr sz="1400" b="0" i="0">
                          <a:solidFill>
                            <a:srgbClr val="262626"/>
                          </a:solidFill>
                          <a:latin typeface="Arial"/>
                        </a:rPr>
                        <a:t>2018</a:t>
                      </a:r>
                    </a:p>
                  </a:txBody>
                  <a:tcPr>
                    <a:solidFill>
                      <a:srgbClr val="FFFFFF"/>
                    </a:solidFill>
                  </a:tcPr>
                </a:tc>
                <a:tc>
                  <a:txBody>
                    <a:bodyPr wrap="none"/>
                    <a:lstStyle/>
                    <a:p>
                      <a:pPr algn="ctr"/>
                      <a:r>
                        <a:rPr sz="1400" b="0" i="0">
                          <a:solidFill>
                            <a:srgbClr val="262626"/>
                          </a:solidFill>
                          <a:latin typeface="Arial"/>
                        </a:rPr>
                        <a:t>Sep 22</a:t>
                      </a:r>
                    </a:p>
                  </a:txBody>
                  <a:tcPr>
                    <a:solidFill>
                      <a:srgbClr val="FFFFFF"/>
                    </a:solidFill>
                  </a:tcPr>
                </a:tc>
                <a:tc>
                  <a:txBody>
                    <a:bodyPr wrap="none"/>
                    <a:lstStyle/>
                    <a:p>
                      <a:pPr algn="l"/>
                      <a:r>
                        <a:rPr sz="1200" b="0" i="0">
                          <a:solidFill>
                            <a:srgbClr val="262626"/>
                          </a:solidFill>
                          <a:latin typeface="Arial"/>
                        </a:rPr>
                        <a:t>World Cup</a:t>
                      </a:r>
                    </a:p>
                  </a:txBody>
                  <a:tcPr>
                    <a:solidFill>
                      <a:srgbClr val="FFFFFF"/>
                    </a:solidFill>
                  </a:tcPr>
                </a:tc>
                <a:tc>
                  <a:txBody>
                    <a:bodyPr wrap="none"/>
                    <a:lstStyle/>
                    <a:p>
                      <a:pPr algn="ctr"/>
                      <a:r>
                        <a:rPr sz="1400" b="0" i="0">
                          <a:solidFill>
                            <a:srgbClr val="262626"/>
                          </a:solidFill>
                          <a:latin typeface="Arial"/>
                        </a:rPr>
                        <a:t>57</a:t>
                      </a:r>
                    </a:p>
                  </a:txBody>
                  <a:tcPr>
                    <a:solidFill>
                      <a:srgbClr val="FFFFFF"/>
                    </a:solidFill>
                  </a:tcPr>
                </a:tc>
                <a:tc>
                  <a:txBody>
                    <a:bodyPr wrap="none"/>
                    <a:lstStyle/>
                    <a:p>
                      <a:pPr algn="ctr"/>
                      <a:r>
                        <a:rPr sz="1400" b="0" i="0">
                          <a:solidFill>
                            <a:srgbClr val="262626"/>
                          </a:solidFill>
                          <a:latin typeface="Arial"/>
                        </a:rPr>
                        <a:t>13</a:t>
                      </a:r>
                    </a:p>
                  </a:txBody>
                  <a:tcPr>
                    <a:solidFill>
                      <a:srgbClr val="FFFFFF"/>
                    </a:solidFill>
                  </a:tcPr>
                </a:tc>
                <a:tc>
                  <a:txBody>
                    <a:bodyPr wrap="none"/>
                    <a:lstStyle/>
                    <a:p>
                      <a:pPr algn="l"/>
                      <a:r>
                        <a:rPr sz="1400" b="0" i="0">
                          <a:solidFill>
                            <a:srgbClr val="262626"/>
                          </a:solidFill>
                          <a:latin typeface="Arial"/>
                        </a:rPr>
                        <a:t>Iden</a:t>
                      </a:r>
                    </a:p>
                  </a:txBody>
                  <a:tcPr>
                    <a:solidFill>
                      <a:srgbClr val="FFFFFF"/>
                    </a:solidFill>
                  </a:tcPr>
                </a:tc>
                <a:tc>
                  <a:txBody>
                    <a:bodyPr wrap="none"/>
                    <a:lstStyle/>
                    <a:p>
                      <a:pPr algn="ctr"/>
                      <a:r>
                        <a:rPr sz="1400" b="0" i="0">
                          <a:solidFill>
                            <a:srgbClr val="262626"/>
                          </a:solidFill>
                          <a:latin typeface="Arial"/>
                        </a:rPr>
                        <a:t>1:53:11</a:t>
                      </a:r>
                    </a:p>
                  </a:txBody>
                  <a:tcPr>
                    <a:solidFill>
                      <a:srgbClr val="FFFFFF"/>
                    </a:solidFill>
                  </a:tcPr>
                </a:tc>
                <a:tc>
                  <a:txBody>
                    <a:bodyPr wrap="none"/>
                    <a:lstStyle/>
                    <a:p>
                      <a:pPr algn="ctr"/>
                      <a:r>
                        <a:rPr sz="1400" b="0" i="0">
                          <a:solidFill>
                            <a:srgbClr val="262626"/>
                          </a:solidFill>
                          <a:latin typeface="Arial"/>
                        </a:rPr>
                        <a:t>23.5°*</a:t>
                      </a:r>
                    </a:p>
                  </a:txBody>
                  <a:tcPr>
                    <a:solidFill>
                      <a:srgbClr val="FFFFFF"/>
                    </a:solidFill>
                  </a:tcPr>
                </a:tc>
                <a:tc>
                  <a:txBody>
                    <a:bodyPr wrap="none"/>
                    <a:lstStyle/>
                    <a:p>
                      <a:pPr algn="ctr"/>
                      <a:r>
                        <a:rPr sz="1400" b="0" i="0">
                          <a:solidFill>
                            <a:srgbClr val="262626"/>
                          </a:solidFill>
                          <a:latin typeface="Arial"/>
                        </a:rPr>
                        <a:t>—</a:t>
                      </a:r>
                    </a:p>
                  </a:txBody>
                  <a:tcPr>
                    <a:solidFill>
                      <a:srgbClr val="FFFFFF"/>
                    </a:solidFill>
                  </a:tcPr>
                </a:tc>
                <a:tc>
                  <a:txBody>
                    <a:bodyPr wrap="none"/>
                    <a:lstStyle/>
                    <a:p>
                      <a:pPr algn="ctr"/>
                      <a:r>
                        <a:rPr sz="1400" b="0" i="0">
                          <a:solidFill>
                            <a:srgbClr val="262626"/>
                          </a:solidFill>
                          <a:latin typeface="Arial"/>
                        </a:rPr>
                        <a:t>—</a:t>
                      </a:r>
                    </a:p>
                  </a:txBody>
                  <a:tcPr>
                    <a:solidFill>
                      <a:srgbClr val="FFFFFF"/>
                    </a:solidFill>
                  </a:tcPr>
                </a:tc>
                <a:tc>
                  <a:txBody>
                    <a:bodyPr wrap="none"/>
                    <a:lstStyle/>
                    <a:p>
                      <a:pPr algn="ctr"/>
                      <a:r>
                        <a:rPr sz="1400" b="0" i="0">
                          <a:solidFill>
                            <a:srgbClr val="262626"/>
                          </a:solidFill>
                          <a:latin typeface="Arial"/>
                        </a:rPr>
                        <a:t>—</a:t>
                      </a:r>
                    </a:p>
                  </a:txBody>
                  <a:tcPr>
                    <a:solidFill>
                      <a:srgbClr val="FFFFFF"/>
                    </a:solidFill>
                  </a:tcPr>
                </a:tc>
                <a:tc>
                  <a:txBody>
                    <a:bodyPr wrap="none"/>
                    <a:lstStyle/>
                    <a:p>
                      <a:pPr algn="ctr"/>
                      <a:r>
                        <a:rPr sz="1400" b="0" i="0">
                          <a:solidFill>
                            <a:srgbClr val="262626"/>
                          </a:solidFill>
                          <a:latin typeface="Arial"/>
                        </a:rPr>
                        <a:t>—</a:t>
                      </a:r>
                    </a:p>
                  </a:txBody>
                  <a:tcPr>
                    <a:solidFill>
                      <a:srgbClr val="FFFFFF"/>
                    </a:solidFill>
                  </a:tcPr>
                </a:tc>
              </a:tr>
              <a:tr h="512064">
                <a:tc>
                  <a:txBody>
                    <a:bodyPr wrap="none"/>
                    <a:lstStyle/>
                    <a:p>
                      <a:pPr algn="ctr"/>
                      <a:r>
                        <a:rPr sz="1400" b="0" i="0">
                          <a:solidFill>
                            <a:srgbClr val="262626"/>
                          </a:solidFill>
                          <a:latin typeface="Arial"/>
                        </a:rPr>
                        <a:t>2019</a:t>
                      </a:r>
                    </a:p>
                  </a:txBody>
                  <a:tcPr>
                    <a:solidFill>
                      <a:srgbClr val="F2F2F2"/>
                    </a:solidFill>
                  </a:tcPr>
                </a:tc>
                <a:tc>
                  <a:txBody>
                    <a:bodyPr wrap="none"/>
                    <a:lstStyle/>
                    <a:p>
                      <a:pPr algn="ctr"/>
                      <a:r>
                        <a:rPr sz="1400" b="0" i="0">
                          <a:solidFill>
                            <a:srgbClr val="262626"/>
                          </a:solidFill>
                          <a:latin typeface="Arial"/>
                        </a:rPr>
                        <a:t>Sep 21</a:t>
                      </a:r>
                    </a:p>
                  </a:txBody>
                  <a:tcPr>
                    <a:solidFill>
                      <a:srgbClr val="F2F2F2"/>
                    </a:solidFill>
                  </a:tcPr>
                </a:tc>
                <a:tc>
                  <a:txBody>
                    <a:bodyPr wrap="none"/>
                    <a:lstStyle/>
                    <a:p>
                      <a:pPr algn="l"/>
                      <a:r>
                        <a:rPr sz="1200" b="0" i="0">
                          <a:solidFill>
                            <a:srgbClr val="262626"/>
                          </a:solidFill>
                          <a:latin typeface="Arial"/>
                        </a:rPr>
                        <a:t>World Cup</a:t>
                      </a:r>
                    </a:p>
                  </a:txBody>
                  <a:tcPr>
                    <a:solidFill>
                      <a:srgbClr val="F2F2F2"/>
                    </a:solidFill>
                  </a:tcPr>
                </a:tc>
                <a:tc>
                  <a:txBody>
                    <a:bodyPr wrap="none"/>
                    <a:lstStyle/>
                    <a:p>
                      <a:pPr algn="ctr"/>
                      <a:r>
                        <a:rPr sz="1400" b="0" i="0">
                          <a:solidFill>
                            <a:srgbClr val="262626"/>
                          </a:solidFill>
                          <a:latin typeface="Arial"/>
                        </a:rPr>
                        <a:t>48</a:t>
                      </a:r>
                    </a:p>
                  </a:txBody>
                  <a:tcPr>
                    <a:solidFill>
                      <a:srgbClr val="F2F2F2"/>
                    </a:solidFill>
                  </a:tcPr>
                </a:tc>
                <a:tc>
                  <a:txBody>
                    <a:bodyPr wrap="none"/>
                    <a:lstStyle/>
                    <a:p>
                      <a:pPr algn="ctr"/>
                      <a:r>
                        <a:rPr sz="1400" b="0" i="0">
                          <a:solidFill>
                            <a:srgbClr val="262626"/>
                          </a:solidFill>
                          <a:latin typeface="Arial"/>
                        </a:rPr>
                        <a:t>9</a:t>
                      </a:r>
                    </a:p>
                  </a:txBody>
                  <a:tcPr>
                    <a:solidFill>
                      <a:srgbClr val="F2F2F2"/>
                    </a:solidFill>
                  </a:tcPr>
                </a:tc>
                <a:tc>
                  <a:txBody>
                    <a:bodyPr wrap="none"/>
                    <a:lstStyle/>
                    <a:p>
                      <a:pPr algn="l"/>
                      <a:r>
                        <a:rPr sz="1400" b="0" i="0">
                          <a:solidFill>
                            <a:srgbClr val="262626"/>
                          </a:solidFill>
                          <a:latin typeface="Arial"/>
                        </a:rPr>
                        <a:t>Silva</a:t>
                      </a:r>
                    </a:p>
                  </a:txBody>
                  <a:tcPr>
                    <a:solidFill>
                      <a:srgbClr val="F2F2F2"/>
                    </a:solidFill>
                  </a:tcPr>
                </a:tc>
                <a:tc>
                  <a:txBody>
                    <a:bodyPr wrap="none"/>
                    <a:lstStyle/>
                    <a:p>
                      <a:pPr algn="ctr"/>
                      <a:r>
                        <a:rPr sz="1400" b="0" i="0">
                          <a:solidFill>
                            <a:srgbClr val="262626"/>
                          </a:solidFill>
                          <a:latin typeface="Arial"/>
                        </a:rPr>
                        <a:t>1:54:47</a:t>
                      </a:r>
                    </a:p>
                  </a:txBody>
                  <a:tcPr>
                    <a:solidFill>
                      <a:srgbClr val="F2F2F2"/>
                    </a:solidFill>
                  </a:tcPr>
                </a:tc>
                <a:tc>
                  <a:txBody>
                    <a:bodyPr wrap="none"/>
                    <a:lstStyle/>
                    <a:p>
                      <a:pPr algn="ctr"/>
                      <a:r>
                        <a:rPr sz="1400" b="0" i="0">
                          <a:solidFill>
                            <a:srgbClr val="262626"/>
                          </a:solidFill>
                          <a:latin typeface="Arial"/>
                        </a:rPr>
                        <a:t>23.3°*</a:t>
                      </a:r>
                    </a:p>
                  </a:txBody>
                  <a:tcPr>
                    <a:solidFill>
                      <a:srgbClr val="F2F2F2"/>
                    </a:solidFill>
                  </a:tcPr>
                </a:tc>
                <a:tc>
                  <a:txBody>
                    <a:bodyPr wrap="none"/>
                    <a:lstStyle/>
                    <a:p>
                      <a:pPr algn="ctr"/>
                      <a:r>
                        <a:rPr sz="1400" b="0" i="0">
                          <a:solidFill>
                            <a:srgbClr val="262626"/>
                          </a:solidFill>
                          <a:latin typeface="Arial"/>
                        </a:rPr>
                        <a:t>—</a:t>
                      </a:r>
                    </a:p>
                  </a:txBody>
                  <a:tcPr>
                    <a:solidFill>
                      <a:srgbClr val="F2F2F2"/>
                    </a:solidFill>
                  </a:tcPr>
                </a:tc>
                <a:tc>
                  <a:txBody>
                    <a:bodyPr wrap="none"/>
                    <a:lstStyle/>
                    <a:p>
                      <a:pPr algn="ctr"/>
                      <a:r>
                        <a:rPr sz="1400" b="0" i="0">
                          <a:solidFill>
                            <a:srgbClr val="262626"/>
                          </a:solidFill>
                          <a:latin typeface="Arial"/>
                        </a:rPr>
                        <a:t>—</a:t>
                      </a:r>
                    </a:p>
                  </a:txBody>
                  <a:tcPr>
                    <a:solidFill>
                      <a:srgbClr val="F2F2F2"/>
                    </a:solidFill>
                  </a:tcPr>
                </a:tc>
                <a:tc>
                  <a:txBody>
                    <a:bodyPr wrap="none"/>
                    <a:lstStyle/>
                    <a:p>
                      <a:pPr algn="ctr"/>
                      <a:r>
                        <a:rPr sz="1400" b="0" i="0">
                          <a:solidFill>
                            <a:srgbClr val="262626"/>
                          </a:solidFill>
                          <a:latin typeface="Arial"/>
                        </a:rPr>
                        <a:t>—</a:t>
                      </a:r>
                    </a:p>
                  </a:txBody>
                  <a:tcPr>
                    <a:solidFill>
                      <a:srgbClr val="F2F2F2"/>
                    </a:solidFill>
                  </a:tcPr>
                </a:tc>
                <a:tc>
                  <a:txBody>
                    <a:bodyPr wrap="none"/>
                    <a:lstStyle/>
                    <a:p>
                      <a:pPr algn="ctr"/>
                      <a:r>
                        <a:rPr sz="1400" b="0" i="0">
                          <a:solidFill>
                            <a:srgbClr val="262626"/>
                          </a:solidFill>
                          <a:latin typeface="Arial"/>
                        </a:rPr>
                        <a:t>—</a:t>
                      </a:r>
                    </a:p>
                  </a:txBody>
                  <a:tcPr>
                    <a:solidFill>
                      <a:srgbClr val="F2F2F2"/>
                    </a:solidFill>
                  </a:tcPr>
                </a:tc>
              </a:tr>
              <a:tr h="512064">
                <a:tc>
                  <a:txBody>
                    <a:bodyPr wrap="none"/>
                    <a:lstStyle/>
                    <a:p>
                      <a:pPr algn="ctr"/>
                      <a:r>
                        <a:rPr sz="1400" b="0" i="0">
                          <a:solidFill>
                            <a:srgbClr val="262626"/>
                          </a:solidFill>
                          <a:latin typeface="Arial"/>
                        </a:rPr>
                        <a:t>2023</a:t>
                      </a:r>
                    </a:p>
                  </a:txBody>
                  <a:tcPr>
                    <a:solidFill>
                      <a:srgbClr val="FFFFFF"/>
                    </a:solidFill>
                  </a:tcPr>
                </a:tc>
                <a:tc>
                  <a:txBody>
                    <a:bodyPr wrap="none"/>
                    <a:lstStyle/>
                    <a:p>
                      <a:pPr algn="ctr"/>
                      <a:r>
                        <a:rPr sz="1400" b="0" i="0">
                          <a:solidFill>
                            <a:srgbClr val="262626"/>
                          </a:solidFill>
                          <a:latin typeface="Arial"/>
                        </a:rPr>
                        <a:t>Aug 26</a:t>
                      </a:r>
                    </a:p>
                  </a:txBody>
                  <a:tcPr>
                    <a:solidFill>
                      <a:srgbClr val="FFFFFF"/>
                    </a:solidFill>
                  </a:tcPr>
                </a:tc>
                <a:tc>
                  <a:txBody>
                    <a:bodyPr wrap="none"/>
                    <a:lstStyle/>
                    <a:p>
                      <a:pPr algn="l"/>
                      <a:r>
                        <a:rPr sz="1200" b="0" i="0">
                          <a:solidFill>
                            <a:srgbClr val="262626"/>
                          </a:solidFill>
                          <a:latin typeface="Arial"/>
                        </a:rPr>
                        <a:t>World Cup *</a:t>
                      </a:r>
                    </a:p>
                  </a:txBody>
                  <a:tcPr>
                    <a:solidFill>
                      <a:srgbClr val="FFFFFF"/>
                    </a:solidFill>
                  </a:tcPr>
                </a:tc>
                <a:tc>
                  <a:txBody>
                    <a:bodyPr wrap="none"/>
                    <a:lstStyle/>
                    <a:p>
                      <a:pPr algn="ctr"/>
                      <a:r>
                        <a:rPr sz="1400" b="0" i="0">
                          <a:solidFill>
                            <a:srgbClr val="262626"/>
                          </a:solidFill>
                          <a:latin typeface="Arial"/>
                        </a:rPr>
                        <a:t>45</a:t>
                      </a:r>
                    </a:p>
                  </a:txBody>
                  <a:tcPr>
                    <a:solidFill>
                      <a:srgbClr val="FFFFFF"/>
                    </a:solidFill>
                  </a:tcPr>
                </a:tc>
                <a:tc>
                  <a:txBody>
                    <a:bodyPr wrap="none"/>
                    <a:lstStyle/>
                    <a:p>
                      <a:pPr algn="ctr"/>
                      <a:r>
                        <a:rPr sz="1400" b="0" i="0">
                          <a:solidFill>
                            <a:srgbClr val="262626"/>
                          </a:solidFill>
                          <a:latin typeface="Arial"/>
                        </a:rPr>
                        <a:t>11</a:t>
                      </a:r>
                    </a:p>
                  </a:txBody>
                  <a:tcPr>
                    <a:solidFill>
                      <a:srgbClr val="FFFFFF"/>
                    </a:solidFill>
                  </a:tcPr>
                </a:tc>
                <a:tc>
                  <a:txBody>
                    <a:bodyPr wrap="none"/>
                    <a:lstStyle/>
                    <a:p>
                      <a:pPr algn="l"/>
                      <a:r>
                        <a:rPr sz="1400" b="0" i="0">
                          <a:solidFill>
                            <a:srgbClr val="262626"/>
                          </a:solidFill>
                          <a:latin typeface="Arial"/>
                        </a:rPr>
                        <a:t>Valencia</a:t>
                      </a:r>
                    </a:p>
                  </a:txBody>
                  <a:tcPr>
                    <a:solidFill>
                      <a:srgbClr val="FFFFFF"/>
                    </a:solidFill>
                  </a:tcPr>
                </a:tc>
                <a:tc>
                  <a:txBody>
                    <a:bodyPr wrap="none"/>
                    <a:lstStyle/>
                    <a:p>
                      <a:pPr algn="ctr"/>
                      <a:r>
                        <a:rPr sz="1400" b="0" i="0">
                          <a:solidFill>
                            <a:srgbClr val="262626"/>
                          </a:solidFill>
                          <a:latin typeface="Arial"/>
                        </a:rPr>
                        <a:t>1:46:35</a:t>
                      </a:r>
                    </a:p>
                  </a:txBody>
                  <a:tcPr>
                    <a:solidFill>
                      <a:srgbClr val="FFFFFF"/>
                    </a:solidFill>
                  </a:tcPr>
                </a:tc>
                <a:tc>
                  <a:txBody>
                    <a:bodyPr wrap="none"/>
                    <a:lstStyle/>
                    <a:p>
                      <a:pPr algn="ctr"/>
                      <a:r>
                        <a:rPr sz="1400" b="0" i="0">
                          <a:solidFill>
                            <a:srgbClr val="262626"/>
                          </a:solidFill>
                          <a:latin typeface="Arial"/>
                        </a:rPr>
                        <a:t>27.2</a:t>
                      </a:r>
                    </a:p>
                  </a:txBody>
                  <a:tcPr>
                    <a:solidFill>
                      <a:srgbClr val="FFFFFF"/>
                    </a:solidFill>
                  </a:tcPr>
                </a:tc>
                <a:tc>
                  <a:txBody>
                    <a:bodyPr wrap="none"/>
                    <a:lstStyle/>
                    <a:p>
                      <a:pPr algn="ctr"/>
                      <a:r>
                        <a:rPr sz="1400" b="0" i="0">
                          <a:solidFill>
                            <a:srgbClr val="262626"/>
                          </a:solidFill>
                          <a:latin typeface="Arial"/>
                        </a:rPr>
                        <a:t>25.8</a:t>
                      </a:r>
                    </a:p>
                  </a:txBody>
                  <a:tcPr>
                    <a:solidFill>
                      <a:srgbClr val="FFFFFF"/>
                    </a:solidFill>
                  </a:tcPr>
                </a:tc>
                <a:tc>
                  <a:txBody>
                    <a:bodyPr wrap="none"/>
                    <a:lstStyle/>
                    <a:p>
                      <a:pPr algn="ctr"/>
                      <a:r>
                        <a:rPr sz="1400" b="0" i="0">
                          <a:solidFill>
                            <a:srgbClr val="262626"/>
                          </a:solidFill>
                          <a:latin typeface="Arial"/>
                        </a:rPr>
                        <a:t>1.50</a:t>
                      </a:r>
                    </a:p>
                  </a:txBody>
                  <a:tcPr>
                    <a:solidFill>
                      <a:srgbClr val="FFFFFF"/>
                    </a:solidFill>
                  </a:tcPr>
                </a:tc>
                <a:tc>
                  <a:txBody>
                    <a:bodyPr wrap="none"/>
                    <a:lstStyle/>
                    <a:p>
                      <a:pPr algn="ctr"/>
                      <a:r>
                        <a:rPr sz="1400" b="0" i="0">
                          <a:solidFill>
                            <a:srgbClr val="262626"/>
                          </a:solidFill>
                          <a:latin typeface="Arial"/>
                        </a:rPr>
                        <a:t>38.4</a:t>
                      </a:r>
                    </a:p>
                  </a:txBody>
                  <a:tcPr>
                    <a:solidFill>
                      <a:srgbClr val="FFFFFF"/>
                    </a:solidFill>
                  </a:tcPr>
                </a:tc>
                <a:tc>
                  <a:txBody>
                    <a:bodyPr wrap="none"/>
                    <a:lstStyle/>
                    <a:p>
                      <a:pPr algn="ctr"/>
                      <a:r>
                        <a:rPr sz="1400" b="0" i="0">
                          <a:solidFill>
                            <a:srgbClr val="262626"/>
                          </a:solidFill>
                          <a:latin typeface="Arial"/>
                        </a:rPr>
                        <a:t>10.0</a:t>
                      </a:r>
                    </a:p>
                  </a:txBody>
                  <a:tcPr>
                    <a:solidFill>
                      <a:srgbClr val="FFFFFF"/>
                    </a:solidFill>
                  </a:tcPr>
                </a:tc>
              </a:tr>
              <a:tr h="512064">
                <a:tc>
                  <a:txBody>
                    <a:bodyPr wrap="none"/>
                    <a:lstStyle/>
                    <a:p>
                      <a:pPr algn="ctr"/>
                      <a:r>
                        <a:rPr sz="1400" b="0" i="0">
                          <a:solidFill>
                            <a:srgbClr val="262626"/>
                          </a:solidFill>
                          <a:latin typeface="Arial"/>
                        </a:rPr>
                        <a:t>2024</a:t>
                      </a:r>
                    </a:p>
                  </a:txBody>
                  <a:tcPr>
                    <a:solidFill>
                      <a:srgbClr val="F2F2F2"/>
                    </a:solidFill>
                  </a:tcPr>
                </a:tc>
                <a:tc>
                  <a:txBody>
                    <a:bodyPr wrap="none"/>
                    <a:lstStyle/>
                    <a:p>
                      <a:pPr algn="ctr"/>
                      <a:r>
                        <a:rPr sz="1400" b="0" i="0">
                          <a:solidFill>
                            <a:srgbClr val="262626"/>
                          </a:solidFill>
                          <a:latin typeface="Arial"/>
                        </a:rPr>
                        <a:t>Sep 27</a:t>
                      </a:r>
                    </a:p>
                  </a:txBody>
                  <a:tcPr>
                    <a:solidFill>
                      <a:srgbClr val="F2F2F2"/>
                    </a:solidFill>
                  </a:tcPr>
                </a:tc>
                <a:tc>
                  <a:txBody>
                    <a:bodyPr wrap="none"/>
                    <a:lstStyle/>
                    <a:p>
                      <a:pPr algn="l"/>
                      <a:r>
                        <a:rPr sz="1200" b="0" i="0">
                          <a:solidFill>
                            <a:srgbClr val="262626"/>
                          </a:solidFill>
                          <a:latin typeface="Arial"/>
                        </a:rPr>
                        <a:t>World Championship Series *</a:t>
                      </a:r>
                    </a:p>
                  </a:txBody>
                  <a:tcPr>
                    <a:solidFill>
                      <a:srgbClr val="F2F2F2"/>
                    </a:solidFill>
                  </a:tcPr>
                </a:tc>
                <a:tc>
                  <a:txBody>
                    <a:bodyPr wrap="none"/>
                    <a:lstStyle/>
                    <a:p>
                      <a:pPr algn="ctr"/>
                      <a:r>
                        <a:rPr sz="1400" b="0" i="0">
                          <a:solidFill>
                            <a:srgbClr val="262626"/>
                          </a:solidFill>
                          <a:latin typeface="Arial"/>
                        </a:rPr>
                        <a:t>42</a:t>
                      </a:r>
                    </a:p>
                  </a:txBody>
                  <a:tcPr>
                    <a:solidFill>
                      <a:srgbClr val="F2F2F2"/>
                    </a:solidFill>
                  </a:tcPr>
                </a:tc>
                <a:tc>
                  <a:txBody>
                    <a:bodyPr wrap="none"/>
                    <a:lstStyle/>
                    <a:p>
                      <a:pPr algn="ctr"/>
                      <a:r>
                        <a:rPr sz="1400" b="0" i="0">
                          <a:solidFill>
                            <a:srgbClr val="262626"/>
                          </a:solidFill>
                          <a:latin typeface="Arial"/>
                        </a:rPr>
                        <a:t>7</a:t>
                      </a:r>
                    </a:p>
                  </a:txBody>
                  <a:tcPr>
                    <a:solidFill>
                      <a:srgbClr val="F2F2F2"/>
                    </a:solidFill>
                  </a:tcPr>
                </a:tc>
                <a:tc>
                  <a:txBody>
                    <a:bodyPr wrap="none"/>
                    <a:lstStyle/>
                    <a:p>
                      <a:pPr algn="l"/>
                      <a:r>
                        <a:rPr sz="1400" b="0" i="0">
                          <a:solidFill>
                            <a:srgbClr val="262626"/>
                          </a:solidFill>
                          <a:latin typeface="Arial"/>
                        </a:rPr>
                        <a:t>Yee</a:t>
                      </a:r>
                    </a:p>
                  </a:txBody>
                  <a:tcPr>
                    <a:solidFill>
                      <a:srgbClr val="F2F2F2"/>
                    </a:solidFill>
                  </a:tcPr>
                </a:tc>
                <a:tc>
                  <a:txBody>
                    <a:bodyPr wrap="none"/>
                    <a:lstStyle/>
                    <a:p>
                      <a:pPr algn="ctr"/>
                      <a:r>
                        <a:rPr sz="1400" b="0" i="0">
                          <a:solidFill>
                            <a:srgbClr val="262626"/>
                          </a:solidFill>
                          <a:latin typeface="Arial"/>
                        </a:rPr>
                        <a:t>1:48:21</a:t>
                      </a:r>
                    </a:p>
                  </a:txBody>
                  <a:tcPr>
                    <a:solidFill>
                      <a:srgbClr val="F2F2F2"/>
                    </a:solidFill>
                  </a:tcPr>
                </a:tc>
                <a:tc>
                  <a:txBody>
                    <a:bodyPr wrap="none"/>
                    <a:lstStyle/>
                    <a:p>
                      <a:pPr algn="ctr"/>
                      <a:r>
                        <a:rPr sz="1400" b="0" i="0">
                          <a:solidFill>
                            <a:srgbClr val="262626"/>
                          </a:solidFill>
                          <a:latin typeface="Arial"/>
                        </a:rPr>
                        <a:t>24.1</a:t>
                      </a:r>
                    </a:p>
                  </a:txBody>
                  <a:tcPr>
                    <a:solidFill>
                      <a:srgbClr val="F2F2F2"/>
                    </a:solidFill>
                  </a:tcPr>
                </a:tc>
                <a:tc>
                  <a:txBody>
                    <a:bodyPr wrap="none"/>
                    <a:lstStyle/>
                    <a:p>
                      <a:pPr algn="ctr"/>
                      <a:r>
                        <a:rPr sz="1400" b="0" i="0">
                          <a:solidFill>
                            <a:srgbClr val="262626"/>
                          </a:solidFill>
                          <a:latin typeface="Arial"/>
                        </a:rPr>
                        <a:t>24.4</a:t>
                      </a:r>
                    </a:p>
                  </a:txBody>
                  <a:tcPr>
                    <a:solidFill>
                      <a:srgbClr val="F2F2F2"/>
                    </a:solidFill>
                  </a:tcPr>
                </a:tc>
                <a:tc>
                  <a:txBody>
                    <a:bodyPr wrap="none"/>
                    <a:lstStyle/>
                    <a:p>
                      <a:pPr algn="ctr"/>
                      <a:r>
                        <a:rPr sz="1400" b="0" i="0">
                          <a:solidFill>
                            <a:srgbClr val="262626"/>
                          </a:solidFill>
                          <a:latin typeface="Arial"/>
                        </a:rPr>
                        <a:t>1.50</a:t>
                      </a:r>
                    </a:p>
                  </a:txBody>
                  <a:tcPr>
                    <a:solidFill>
                      <a:srgbClr val="F2F2F2"/>
                    </a:solidFill>
                  </a:tcPr>
                </a:tc>
                <a:tc>
                  <a:txBody>
                    <a:bodyPr wrap="none"/>
                    <a:lstStyle/>
                    <a:p>
                      <a:pPr algn="ctr"/>
                      <a:r>
                        <a:rPr sz="1400" b="0" i="0">
                          <a:solidFill>
                            <a:srgbClr val="262626"/>
                          </a:solidFill>
                          <a:latin typeface="Arial"/>
                        </a:rPr>
                        <a:t>40.0</a:t>
                      </a:r>
                    </a:p>
                  </a:txBody>
                  <a:tcPr>
                    <a:solidFill>
                      <a:srgbClr val="F2F2F2"/>
                    </a:solidFill>
                  </a:tcPr>
                </a:tc>
                <a:tc>
                  <a:txBody>
                    <a:bodyPr wrap="none"/>
                    <a:lstStyle/>
                    <a:p>
                      <a:pPr algn="ctr"/>
                      <a:r>
                        <a:rPr sz="1400" b="0" i="0">
                          <a:solidFill>
                            <a:srgbClr val="262626"/>
                          </a:solidFill>
                          <a:latin typeface="Arial"/>
                        </a:rPr>
                        <a:t>10.0</a:t>
                      </a:r>
                    </a:p>
                  </a:txBody>
                  <a:tcPr>
                    <a:solidFill>
                      <a:srgbClr val="F2F2F2"/>
                    </a:solidFill>
                  </a:tcPr>
                </a:tc>
              </a:tr>
              <a:tr h="512064">
                <a:tc>
                  <a:txBody>
                    <a:bodyPr wrap="none"/>
                    <a:lstStyle/>
                    <a:p>
                      <a:pPr algn="ctr"/>
                      <a:r>
                        <a:rPr sz="1400" b="0" i="0">
                          <a:solidFill>
                            <a:srgbClr val="262626"/>
                          </a:solidFill>
                          <a:latin typeface="Arial"/>
                        </a:rPr>
                        <a:t>2025</a:t>
                      </a:r>
                    </a:p>
                  </a:txBody>
                  <a:tcPr>
                    <a:solidFill>
                      <a:srgbClr val="FFFFFF"/>
                    </a:solidFill>
                  </a:tcPr>
                </a:tc>
                <a:tc>
                  <a:txBody>
                    <a:bodyPr wrap="none"/>
                    <a:lstStyle/>
                    <a:p>
                      <a:pPr algn="ctr"/>
                      <a:r>
                        <a:rPr sz="1400" b="0" i="0">
                          <a:solidFill>
                            <a:srgbClr val="262626"/>
                          </a:solidFill>
                          <a:latin typeface="Arial"/>
                        </a:rPr>
                        <a:t>Sep 26</a:t>
                      </a:r>
                    </a:p>
                  </a:txBody>
                  <a:tcPr>
                    <a:solidFill>
                      <a:srgbClr val="FFFFFF"/>
                    </a:solidFill>
                  </a:tcPr>
                </a:tc>
                <a:tc>
                  <a:txBody>
                    <a:bodyPr wrap="none"/>
                    <a:lstStyle/>
                    <a:p>
                      <a:pPr algn="l"/>
                      <a:r>
                        <a:rPr sz="1200" b="0" i="0">
                          <a:solidFill>
                            <a:srgbClr val="262626"/>
                          </a:solidFill>
                          <a:latin typeface="Arial"/>
                        </a:rPr>
                        <a:t>World Championship Series *</a:t>
                      </a:r>
                    </a:p>
                  </a:txBody>
                  <a:tcPr>
                    <a:solidFill>
                      <a:srgbClr val="FFFFFF"/>
                    </a:solidFill>
                  </a:tcPr>
                </a:tc>
                <a:tc>
                  <a:txBody>
                    <a:bodyPr wrap="none"/>
                    <a:lstStyle/>
                    <a:p>
                      <a:pPr algn="ctr"/>
                      <a:r>
                        <a:rPr sz="1400" b="0" i="0">
                          <a:solidFill>
                            <a:srgbClr val="262626"/>
                          </a:solidFill>
                          <a:latin typeface="Arial"/>
                        </a:rPr>
                        <a:t>37</a:t>
                      </a:r>
                    </a:p>
                  </a:txBody>
                  <a:tcPr>
                    <a:solidFill>
                      <a:srgbClr val="FFFFFF"/>
                    </a:solidFill>
                  </a:tcPr>
                </a:tc>
                <a:tc>
                  <a:txBody>
                    <a:bodyPr wrap="none"/>
                    <a:lstStyle/>
                    <a:p>
                      <a:pPr algn="ctr"/>
                      <a:r>
                        <a:rPr sz="1400" b="0" i="0">
                          <a:solidFill>
                            <a:srgbClr val="262626"/>
                          </a:solidFill>
                          <a:latin typeface="Arial"/>
                        </a:rPr>
                        <a:t>2</a:t>
                      </a:r>
                    </a:p>
                  </a:txBody>
                  <a:tcPr>
                    <a:solidFill>
                      <a:srgbClr val="FFFFFF"/>
                    </a:solidFill>
                  </a:tcPr>
                </a:tc>
                <a:tc>
                  <a:txBody>
                    <a:bodyPr wrap="none"/>
                    <a:lstStyle/>
                    <a:p>
                      <a:pPr algn="l"/>
                      <a:r>
                        <a:rPr sz="1400" b="0" i="0">
                          <a:solidFill>
                            <a:srgbClr val="262626"/>
                          </a:solidFill>
                          <a:latin typeface="Arial"/>
                        </a:rPr>
                        <a:t>Studer</a:t>
                      </a:r>
                    </a:p>
                  </a:txBody>
                  <a:tcPr>
                    <a:solidFill>
                      <a:srgbClr val="FFFFFF"/>
                    </a:solidFill>
                  </a:tcPr>
                </a:tc>
                <a:tc>
                  <a:txBody>
                    <a:bodyPr wrap="none"/>
                    <a:lstStyle/>
                    <a:p>
                      <a:pPr algn="ctr"/>
                      <a:r>
                        <a:rPr sz="1400" b="0" i="0">
                          <a:solidFill>
                            <a:srgbClr val="262626"/>
                          </a:solidFill>
                          <a:latin typeface="Arial"/>
                        </a:rPr>
                        <a:t>1:40:03</a:t>
                      </a:r>
                    </a:p>
                  </a:txBody>
                  <a:tcPr>
                    <a:solidFill>
                      <a:srgbClr val="FFFFFF"/>
                    </a:solidFill>
                  </a:tcPr>
                </a:tc>
                <a:tc>
                  <a:txBody>
                    <a:bodyPr wrap="none"/>
                    <a:lstStyle/>
                    <a:p>
                      <a:pPr algn="ctr"/>
                      <a:r>
                        <a:rPr sz="1400" b="0" i="0">
                          <a:solidFill>
                            <a:srgbClr val="262626"/>
                          </a:solidFill>
                          <a:latin typeface="Arial"/>
                        </a:rPr>
                        <a:t>24.9</a:t>
                      </a:r>
                    </a:p>
                  </a:txBody>
                  <a:tcPr>
                    <a:solidFill>
                      <a:srgbClr val="FFFFFF"/>
                    </a:solidFill>
                  </a:tcPr>
                </a:tc>
                <a:tc>
                  <a:txBody>
                    <a:bodyPr wrap="none"/>
                    <a:lstStyle/>
                    <a:p>
                      <a:pPr algn="ctr"/>
                      <a:r>
                        <a:rPr sz="1400" b="0" i="0">
                          <a:solidFill>
                            <a:srgbClr val="262626"/>
                          </a:solidFill>
                          <a:latin typeface="Arial"/>
                        </a:rPr>
                        <a:t>24.2</a:t>
                      </a:r>
                    </a:p>
                  </a:txBody>
                  <a:tcPr>
                    <a:solidFill>
                      <a:srgbClr val="FFFFFF"/>
                    </a:solidFill>
                  </a:tcPr>
                </a:tc>
                <a:tc>
                  <a:txBody>
                    <a:bodyPr wrap="none"/>
                    <a:lstStyle/>
                    <a:p>
                      <a:pPr algn="ctr"/>
                      <a:r>
                        <a:rPr sz="1400" b="0" i="0">
                          <a:solidFill>
                            <a:srgbClr val="262626"/>
                          </a:solidFill>
                          <a:latin typeface="Arial"/>
                        </a:rPr>
                        <a:t>1.50</a:t>
                      </a:r>
                    </a:p>
                  </a:txBody>
                  <a:tcPr>
                    <a:solidFill>
                      <a:srgbClr val="FFFFFF"/>
                    </a:solidFill>
                  </a:tcPr>
                </a:tc>
                <a:tc>
                  <a:txBody>
                    <a:bodyPr wrap="none"/>
                    <a:lstStyle/>
                    <a:p>
                      <a:pPr algn="ctr"/>
                      <a:r>
                        <a:rPr sz="1400" b="0" i="0">
                          <a:solidFill>
                            <a:srgbClr val="262626"/>
                          </a:solidFill>
                          <a:latin typeface="Arial"/>
                        </a:rPr>
                        <a:t>38.0</a:t>
                      </a:r>
                    </a:p>
                  </a:txBody>
                  <a:tcPr>
                    <a:solidFill>
                      <a:srgbClr val="FFFFFF"/>
                    </a:solidFill>
                  </a:tcPr>
                </a:tc>
                <a:tc>
                  <a:txBody>
                    <a:bodyPr wrap="none"/>
                    <a:lstStyle/>
                    <a:p>
                      <a:pPr algn="ctr"/>
                      <a:r>
                        <a:rPr sz="1400" b="0" i="0">
                          <a:solidFill>
                            <a:srgbClr val="262626"/>
                          </a:solidFill>
                          <a:latin typeface="Arial"/>
                        </a:rPr>
                        <a:t>10.0</a:t>
                      </a:r>
                    </a:p>
                  </a:txBody>
                  <a:tcPr>
                    <a:solidFill>
                      <a:srgbClr val="FFFFFF"/>
                    </a:solidFill>
                  </a:tcPr>
                </a:tc>
              </a:tr>
              <a:tr h="512064">
                <a:tc>
                  <a:txBody>
                    <a:bodyPr wrap="none"/>
                    <a:lstStyle/>
                    <a:p>
                      <a:pPr algn="ctr"/>
                      <a:r>
                        <a:rPr sz="1400" b="0" i="0">
                          <a:solidFill>
                            <a:srgbClr val="262626"/>
                          </a:solidFill>
                          <a:latin typeface="Arial"/>
                        </a:rPr>
                        <a:t>2026</a:t>
                      </a:r>
                    </a:p>
                  </a:txBody>
                  <a:tcPr>
                    <a:solidFill>
                      <a:srgbClr val="F2F2F2"/>
                    </a:solidFill>
                  </a:tcPr>
                </a:tc>
                <a:tc>
                  <a:txBody>
                    <a:bodyPr wrap="none"/>
                    <a:lstStyle/>
                    <a:p>
                      <a:pPr algn="ctr"/>
                      <a:r>
                        <a:rPr sz="1400" b="0" i="0">
                          <a:solidFill>
                            <a:srgbClr val="262626"/>
                          </a:solidFill>
                          <a:latin typeface="Arial"/>
                        </a:rPr>
                        <a:t>Aug 29</a:t>
                      </a:r>
                    </a:p>
                  </a:txBody>
                  <a:tcPr>
                    <a:solidFill>
                      <a:srgbClr val="F2F2F2"/>
                    </a:solidFill>
                  </a:tcPr>
                </a:tc>
                <a:tc>
                  <a:txBody>
                    <a:bodyPr wrap="none"/>
                    <a:lstStyle/>
                    <a:p>
                      <a:pPr algn="l"/>
                      <a:r>
                        <a:rPr sz="1200" b="0" i="0">
                          <a:solidFill>
                            <a:srgbClr val="262626"/>
                          </a:solidFill>
                          <a:latin typeface="Arial"/>
                        </a:rPr>
                        <a:t>World Championship Series *</a:t>
                      </a:r>
                    </a:p>
                  </a:txBody>
                  <a:tcPr>
                    <a:solidFill>
                      <a:srgbClr val="F2F2F2"/>
                    </a:solidFill>
                  </a:tcPr>
                </a:tc>
                <a:tc>
                  <a:txBody>
                    <a:bodyPr wrap="none"/>
                    <a:lstStyle/>
                    <a:p>
                      <a:pPr algn="ctr"/>
                      <a:r>
                        <a:rPr sz="1400" b="0" i="0">
                          <a:solidFill>
                            <a:srgbClr val="262626"/>
                          </a:solidFill>
                          <a:latin typeface="Arial"/>
                        </a:rPr>
                        <a:t>45</a:t>
                      </a:r>
                    </a:p>
                  </a:txBody>
                  <a:tcPr>
                    <a:solidFill>
                      <a:srgbClr val="F2F2F2"/>
                    </a:solidFill>
                  </a:tcPr>
                </a:tc>
                <a:tc>
                  <a:txBody>
                    <a:bodyPr wrap="none"/>
                    <a:lstStyle/>
                    <a:p>
                      <a:pPr algn="ctr"/>
                      <a:r>
                        <a:rPr sz="1400" b="0" i="0">
                          <a:solidFill>
                            <a:srgbClr val="262626"/>
                          </a:solidFill>
                          <a:latin typeface="Arial"/>
                        </a:rPr>
                        <a:t>7</a:t>
                      </a:r>
                    </a:p>
                  </a:txBody>
                  <a:tcPr>
                    <a:solidFill>
                      <a:srgbClr val="F2F2F2"/>
                    </a:solidFill>
                  </a:tcPr>
                </a:tc>
                <a:tc>
                  <a:txBody>
                    <a:bodyPr wrap="none"/>
                    <a:lstStyle/>
                    <a:p>
                      <a:pPr algn="l"/>
                      <a:r>
                        <a:rPr sz="1400" b="0" i="0">
                          <a:solidFill>
                            <a:srgbClr val="262626"/>
                          </a:solidFill>
                          <a:latin typeface="Arial"/>
                        </a:rPr>
                        <a:t>Studer</a:t>
                      </a:r>
                    </a:p>
                  </a:txBody>
                  <a:tcPr>
                    <a:solidFill>
                      <a:srgbClr val="F2F2F2"/>
                    </a:solidFill>
                  </a:tcPr>
                </a:tc>
                <a:tc>
                  <a:txBody>
                    <a:bodyPr wrap="none"/>
                    <a:lstStyle/>
                    <a:p>
                      <a:pPr algn="ctr"/>
                      <a:r>
                        <a:rPr sz="1400" b="0" i="0">
                          <a:solidFill>
                            <a:srgbClr val="262626"/>
                          </a:solidFill>
                          <a:latin typeface="Arial"/>
                        </a:rPr>
                        <a:t>1:41:08</a:t>
                      </a:r>
                    </a:p>
                  </a:txBody>
                  <a:tcPr>
                    <a:solidFill>
                      <a:srgbClr val="F2F2F2"/>
                    </a:solidFill>
                  </a:tcPr>
                </a:tc>
                <a:tc>
                  <a:txBody>
                    <a:bodyPr wrap="none"/>
                    <a:lstStyle/>
                    <a:p>
                      <a:pPr algn="ctr"/>
                      <a:r>
                        <a:rPr sz="1400" b="0" i="0">
                          <a:solidFill>
                            <a:srgbClr val="262626"/>
                          </a:solidFill>
                          <a:latin typeface="Arial"/>
                        </a:rPr>
                        <a:t>24.1</a:t>
                      </a:r>
                    </a:p>
                  </a:txBody>
                  <a:tcPr>
                    <a:solidFill>
                      <a:srgbClr val="F2F2F2"/>
                    </a:solidFill>
                  </a:tcPr>
                </a:tc>
                <a:tc>
                  <a:txBody>
                    <a:bodyPr wrap="none"/>
                    <a:lstStyle/>
                    <a:p>
                      <a:pPr algn="ctr"/>
                      <a:r>
                        <a:rPr sz="1400" b="0" i="0">
                          <a:solidFill>
                            <a:srgbClr val="262626"/>
                          </a:solidFill>
                          <a:latin typeface="Arial"/>
                        </a:rPr>
                        <a:t>26.3</a:t>
                      </a:r>
                    </a:p>
                  </a:txBody>
                  <a:tcPr>
                    <a:solidFill>
                      <a:srgbClr val="F2F2F2"/>
                    </a:solidFill>
                  </a:tcPr>
                </a:tc>
                <a:tc>
                  <a:txBody>
                    <a:bodyPr wrap="none"/>
                    <a:lstStyle/>
                    <a:p>
                      <a:pPr algn="ctr"/>
                      <a:r>
                        <a:rPr sz="1400" b="0" i="0">
                          <a:solidFill>
                            <a:srgbClr val="262626"/>
                          </a:solidFill>
                          <a:latin typeface="Arial"/>
                        </a:rPr>
                        <a:t>1.50</a:t>
                      </a:r>
                    </a:p>
                  </a:txBody>
                  <a:tcPr>
                    <a:solidFill>
                      <a:srgbClr val="F2F2F2"/>
                    </a:solidFill>
                  </a:tcPr>
                </a:tc>
                <a:tc>
                  <a:txBody>
                    <a:bodyPr wrap="none"/>
                    <a:lstStyle/>
                    <a:p>
                      <a:pPr algn="ctr"/>
                      <a:r>
                        <a:rPr sz="1400" b="0" i="0">
                          <a:solidFill>
                            <a:srgbClr val="262626"/>
                          </a:solidFill>
                          <a:latin typeface="Arial"/>
                        </a:rPr>
                        <a:t>38.6</a:t>
                      </a:r>
                    </a:p>
                  </a:txBody>
                  <a:tcPr>
                    <a:solidFill>
                      <a:srgbClr val="F2F2F2"/>
                    </a:solidFill>
                  </a:tcPr>
                </a:tc>
                <a:tc>
                  <a:txBody>
                    <a:bodyPr wrap="none"/>
                    <a:lstStyle/>
                    <a:p>
                      <a:pPr algn="ctr"/>
                      <a:r>
                        <a:rPr sz="1400" b="0" i="0">
                          <a:solidFill>
                            <a:srgbClr val="262626"/>
                          </a:solidFill>
                          <a:latin typeface="Arial"/>
                        </a:rPr>
                        <a:t>10.0</a:t>
                      </a:r>
                    </a:p>
                  </a:txBody>
                  <a:tcPr>
                    <a:solidFill>
                      <a:srgbClr val="F2F2F2"/>
                    </a:solidFill>
                  </a:tcPr>
                </a:tc>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274320" y="1481328"/>
            <a:ext cx="11640312" cy="3749039"/>
          </a:xfrm>
          <a:prstGeom prst="rect">
            <a:avLst/>
          </a:prstGeom>
        </p:spPr>
      </p:pic>
      <p:graphicFrame>
        <p:nvGraphicFramePr>
          <p:cNvPr id="10" name="Table 9"/>
          <p:cNvGraphicFramePr>
            <a:graphicFrameLocks noGrp="1"/>
          </p:cNvGraphicFramePr>
          <p:nvPr/>
        </p:nvGraphicFramePr>
        <p:xfrm>
          <a:off x="274320" y="5285232"/>
          <a:ext cx="11640311" cy="1417320"/>
        </p:xfrm>
        <a:graphic>
          <a:graphicData uri="http://schemas.openxmlformats.org/drawingml/2006/table">
            <a:tbl>
              <a:tblPr firstRow="1" bandRow="1">
                <a:tableStyleId>{5C22544A-7EE6-4342-B048-85BDC9FD1C3A}</a:tableStyleId>
              </a:tblPr>
              <a:tblGrid>
                <a:gridCol w="685800"/>
                <a:gridCol w="1828800"/>
                <a:gridCol w="1828800"/>
                <a:gridCol w="1188720"/>
                <a:gridCol w="2286000"/>
                <a:gridCol w="3822191"/>
              </a:tblGrid>
              <a:tr h="202474">
                <a:tc>
                  <a:txBody>
                    <a:bodyPr wrap="none"/>
                    <a:lstStyle/>
                    <a:p>
                      <a:pPr algn="ctr"/>
                      <a:r>
                        <a:rPr sz="1000" b="1" i="0">
                          <a:solidFill>
                            <a:srgbClr val="FFFFFF"/>
                          </a:solidFill>
                          <a:latin typeface="Arial"/>
                        </a:rPr>
                        <a:t>Year</a:t>
                      </a:r>
                    </a:p>
                  </a:txBody>
                  <a:tcPr>
                    <a:solidFill>
                      <a:srgbClr val="002060"/>
                    </a:solidFill>
                  </a:tcPr>
                </a:tc>
                <a:tc>
                  <a:txBody>
                    <a:bodyPr wrap="none"/>
                    <a:lstStyle/>
                    <a:p>
                      <a:pPr algn="ctr"/>
                      <a:r>
                        <a:rPr sz="1000" b="1" i="0">
                          <a:solidFill>
                            <a:srgbClr val="FFFFFF"/>
                          </a:solidFill>
                          <a:latin typeface="Arial"/>
                        </a:rPr>
                        <a:t>Lead Size @ T1</a:t>
                      </a:r>
                    </a:p>
                  </a:txBody>
                  <a:tcPr>
                    <a:solidFill>
                      <a:srgbClr val="002060"/>
                    </a:solidFill>
                  </a:tcPr>
                </a:tc>
                <a:tc>
                  <a:txBody>
                    <a:bodyPr wrap="none"/>
                    <a:lstStyle/>
                    <a:p>
                      <a:pPr algn="ctr"/>
                      <a:r>
                        <a:rPr sz="1000" b="1" i="0">
                          <a:solidFill>
                            <a:srgbClr val="FFFFFF"/>
                          </a:solidFill>
                          <a:latin typeface="Arial"/>
                        </a:rPr>
                        <a:t>Lead Size @ T2</a:t>
                      </a:r>
                    </a:p>
                  </a:txBody>
                  <a:tcPr>
                    <a:solidFill>
                      <a:srgbClr val="002060"/>
                    </a:solidFill>
                  </a:tcPr>
                </a:tc>
                <a:tc>
                  <a:txBody>
                    <a:bodyPr wrap="none"/>
                    <a:lstStyle/>
                    <a:p>
                      <a:pPr algn="ctr"/>
                      <a:r>
                        <a:rPr sz="1000" b="1" i="0">
                          <a:solidFill>
                            <a:srgbClr val="FFFFFF"/>
                          </a:solidFill>
                          <a:latin typeface="Arial"/>
                        </a:rPr>
                        <a:t>Change</a:t>
                      </a:r>
                    </a:p>
                  </a:txBody>
                  <a:tcPr>
                    <a:solidFill>
                      <a:srgbClr val="002060"/>
                    </a:solidFill>
                  </a:tcPr>
                </a:tc>
                <a:tc>
                  <a:txBody>
                    <a:bodyPr wrap="none"/>
                    <a:lstStyle/>
                    <a:p>
                      <a:pPr algn="ctr"/>
                      <a:r>
                        <a:rPr sz="1000" b="1" i="0">
                          <a:solidFill>
                            <a:srgbClr val="FFFFFF"/>
                          </a:solidFill>
                          <a:latin typeface="Arial"/>
                        </a:rPr>
                        <a:t>Chase Group @ T2</a:t>
                      </a:r>
                    </a:p>
                  </a:txBody>
                  <a:tcPr>
                    <a:solidFill>
                      <a:srgbClr val="002060"/>
                    </a:solidFill>
                  </a:tcPr>
                </a:tc>
                <a:tc>
                  <a:txBody>
                    <a:bodyPr wrap="none"/>
                    <a:lstStyle/>
                    <a:p>
                      <a:pPr algn="ctr"/>
                      <a:r>
                        <a:rPr sz="1000" b="1" i="0">
                          <a:solidFill>
                            <a:srgbClr val="FFFFFF"/>
                          </a:solidFill>
                          <a:latin typeface="Arial"/>
                        </a:rPr>
                        <a:t>Chase Gap*</a:t>
                      </a:r>
                    </a:p>
                  </a:txBody>
                  <a:tcPr>
                    <a:solidFill>
                      <a:srgbClr val="002060"/>
                    </a:solidFill>
                  </a:tcPr>
                </a:tc>
              </a:tr>
              <a:tr h="202474">
                <a:tc>
                  <a:txBody>
                    <a:bodyPr wrap="none"/>
                    <a:lstStyle/>
                    <a:p>
                      <a:pPr algn="ctr"/>
                      <a:r>
                        <a:rPr sz="950" b="0" i="0">
                          <a:solidFill>
                            <a:srgbClr val="262626"/>
                          </a:solidFill>
                          <a:latin typeface="Arial"/>
                        </a:rPr>
                        <a:t>2018</a:t>
                      </a:r>
                    </a:p>
                  </a:txBody>
                  <a:tcPr>
                    <a:solidFill>
                      <a:srgbClr val="FFFFFF"/>
                    </a:solidFill>
                  </a:tcPr>
                </a:tc>
                <a:tc>
                  <a:txBody>
                    <a:bodyPr wrap="none"/>
                    <a:lstStyle/>
                    <a:p>
                      <a:pPr algn="ctr"/>
                      <a:r>
                        <a:rPr sz="950" b="0" i="0">
                          <a:solidFill>
                            <a:srgbClr val="262626"/>
                          </a:solidFill>
                          <a:latin typeface="Arial"/>
                        </a:rPr>
                        <a:t>25</a:t>
                      </a:r>
                    </a:p>
                  </a:txBody>
                  <a:tcPr>
                    <a:solidFill>
                      <a:srgbClr val="FFFFFF"/>
                    </a:solidFill>
                  </a:tcPr>
                </a:tc>
                <a:tc>
                  <a:txBody>
                    <a:bodyPr wrap="none"/>
                    <a:lstStyle/>
                    <a:p>
                      <a:pPr algn="ctr"/>
                      <a:r>
                        <a:rPr sz="950" b="0" i="0">
                          <a:solidFill>
                            <a:srgbClr val="262626"/>
                          </a:solidFill>
                          <a:latin typeface="Arial"/>
                        </a:rPr>
                        <a:t>2</a:t>
                      </a:r>
                    </a:p>
                  </a:txBody>
                  <a:tcPr>
                    <a:solidFill>
                      <a:srgbClr val="FFFFFF"/>
                    </a:solidFill>
                  </a:tcPr>
                </a:tc>
                <a:tc>
                  <a:txBody>
                    <a:bodyPr wrap="none"/>
                    <a:lstStyle/>
                    <a:p>
                      <a:pPr algn="ctr"/>
                      <a:r>
                        <a:rPr sz="950" b="0" i="0">
                          <a:solidFill>
                            <a:srgbClr val="262626"/>
                          </a:solidFill>
                          <a:latin typeface="Arial"/>
                        </a:rPr>
                        <a:t>-23</a:t>
                      </a:r>
                    </a:p>
                  </a:txBody>
                  <a:tcPr>
                    <a:solidFill>
                      <a:srgbClr val="FFFFFF"/>
                    </a:solidFill>
                  </a:tcPr>
                </a:tc>
                <a:tc>
                  <a:txBody>
                    <a:bodyPr wrap="none"/>
                    <a:lstStyle/>
                    <a:p>
                      <a:pPr algn="ctr"/>
                      <a:r>
                        <a:rPr sz="950" b="0" i="0">
                          <a:solidFill>
                            <a:srgbClr val="262626"/>
                          </a:solidFill>
                          <a:latin typeface="Arial"/>
                        </a:rPr>
                        <a:t>24</a:t>
                      </a:r>
                    </a:p>
                  </a:txBody>
                  <a:tcPr>
                    <a:solidFill>
                      <a:srgbClr val="FFFFFF"/>
                    </a:solidFill>
                  </a:tcPr>
                </a:tc>
                <a:tc>
                  <a:txBody>
                    <a:bodyPr wrap="none"/>
                    <a:lstStyle/>
                    <a:p>
                      <a:pPr algn="ctr"/>
                      <a:r>
                        <a:rPr sz="950" b="0" i="0">
                          <a:solidFill>
                            <a:srgbClr val="262626"/>
                          </a:solidFill>
                          <a:latin typeface="Arial"/>
                        </a:rPr>
                        <a:t>26s</a:t>
                      </a:r>
                    </a:p>
                  </a:txBody>
                  <a:tcPr>
                    <a:solidFill>
                      <a:srgbClr val="FFFFFF"/>
                    </a:solidFill>
                  </a:tcPr>
                </a:tc>
              </a:tr>
              <a:tr h="202474">
                <a:tc>
                  <a:txBody>
                    <a:bodyPr wrap="none"/>
                    <a:lstStyle/>
                    <a:p>
                      <a:pPr algn="ctr"/>
                      <a:r>
                        <a:rPr sz="950" b="0" i="0">
                          <a:solidFill>
                            <a:srgbClr val="262626"/>
                          </a:solidFill>
                          <a:latin typeface="Arial"/>
                        </a:rPr>
                        <a:t>2019</a:t>
                      </a:r>
                    </a:p>
                  </a:txBody>
                  <a:tcPr>
                    <a:solidFill>
                      <a:srgbClr val="F2F2F2"/>
                    </a:solidFill>
                  </a:tcPr>
                </a:tc>
                <a:tc>
                  <a:txBody>
                    <a:bodyPr wrap="none"/>
                    <a:lstStyle/>
                    <a:p>
                      <a:pPr algn="ctr"/>
                      <a:r>
                        <a:rPr sz="950" b="0" i="0">
                          <a:solidFill>
                            <a:srgbClr val="262626"/>
                          </a:solidFill>
                          <a:latin typeface="Arial"/>
                        </a:rPr>
                        <a:t>13</a:t>
                      </a:r>
                    </a:p>
                  </a:txBody>
                  <a:tcPr>
                    <a:solidFill>
                      <a:srgbClr val="F2F2F2"/>
                    </a:solidFill>
                  </a:tcPr>
                </a:tc>
                <a:tc>
                  <a:txBody>
                    <a:bodyPr wrap="none"/>
                    <a:lstStyle/>
                    <a:p>
                      <a:pPr algn="ctr"/>
                      <a:r>
                        <a:rPr sz="950" b="0" i="0">
                          <a:solidFill>
                            <a:srgbClr val="262626"/>
                          </a:solidFill>
                          <a:latin typeface="Arial"/>
                        </a:rPr>
                        <a:t>26</a:t>
                      </a:r>
                    </a:p>
                  </a:txBody>
                  <a:tcPr>
                    <a:solidFill>
                      <a:srgbClr val="F2F2F2"/>
                    </a:solidFill>
                  </a:tcPr>
                </a:tc>
                <a:tc>
                  <a:txBody>
                    <a:bodyPr wrap="none"/>
                    <a:lstStyle/>
                    <a:p>
                      <a:pPr algn="ctr"/>
                      <a:r>
                        <a:rPr sz="950" b="0" i="0">
                          <a:solidFill>
                            <a:srgbClr val="262626"/>
                          </a:solidFill>
                          <a:latin typeface="Arial"/>
                        </a:rPr>
                        <a:t>+13</a:t>
                      </a:r>
                    </a:p>
                  </a:txBody>
                  <a:tcPr>
                    <a:solidFill>
                      <a:srgbClr val="F2F2F2"/>
                    </a:solidFill>
                  </a:tcPr>
                </a:tc>
                <a:tc>
                  <a:txBody>
                    <a:bodyPr wrap="none"/>
                    <a:lstStyle/>
                    <a:p>
                      <a:pPr algn="ctr"/>
                      <a:r>
                        <a:rPr sz="950" b="0" i="0">
                          <a:solidFill>
                            <a:srgbClr val="262626"/>
                          </a:solidFill>
                          <a:latin typeface="Arial"/>
                        </a:rPr>
                        <a:t>1</a:t>
                      </a:r>
                    </a:p>
                  </a:txBody>
                  <a:tcPr>
                    <a:solidFill>
                      <a:srgbClr val="F2F2F2"/>
                    </a:solidFill>
                  </a:tcPr>
                </a:tc>
                <a:tc>
                  <a:txBody>
                    <a:bodyPr wrap="none"/>
                    <a:lstStyle/>
                    <a:p>
                      <a:pPr algn="ctr"/>
                      <a:r>
                        <a:rPr sz="950" b="0" i="0">
                          <a:solidFill>
                            <a:srgbClr val="262626"/>
                          </a:solidFill>
                          <a:latin typeface="Arial"/>
                        </a:rPr>
                        <a:t>95s</a:t>
                      </a:r>
                    </a:p>
                  </a:txBody>
                  <a:tcPr>
                    <a:solidFill>
                      <a:srgbClr val="F2F2F2"/>
                    </a:solidFill>
                  </a:tcPr>
                </a:tc>
              </a:tr>
              <a:tr h="202474">
                <a:tc>
                  <a:txBody>
                    <a:bodyPr wrap="none"/>
                    <a:lstStyle/>
                    <a:p>
                      <a:pPr algn="ctr"/>
                      <a:r>
                        <a:rPr sz="950" b="0" i="0">
                          <a:solidFill>
                            <a:srgbClr val="262626"/>
                          </a:solidFill>
                          <a:latin typeface="Arial"/>
                        </a:rPr>
                        <a:t>2023</a:t>
                      </a:r>
                    </a:p>
                  </a:txBody>
                  <a:tcPr>
                    <a:solidFill>
                      <a:srgbClr val="FFFFFF"/>
                    </a:solidFill>
                  </a:tcPr>
                </a:tc>
                <a:tc>
                  <a:txBody>
                    <a:bodyPr wrap="none"/>
                    <a:lstStyle/>
                    <a:p>
                      <a:pPr algn="ctr"/>
                      <a:r>
                        <a:rPr sz="950" b="0" i="0">
                          <a:solidFill>
                            <a:srgbClr val="262626"/>
                          </a:solidFill>
                          <a:latin typeface="Arial"/>
                        </a:rPr>
                        <a:t>8</a:t>
                      </a:r>
                    </a:p>
                  </a:txBody>
                  <a:tcPr>
                    <a:solidFill>
                      <a:srgbClr val="FFFFFF"/>
                    </a:solidFill>
                  </a:tcPr>
                </a:tc>
                <a:tc>
                  <a:txBody>
                    <a:bodyPr wrap="none"/>
                    <a:lstStyle/>
                    <a:p>
                      <a:pPr algn="ctr"/>
                      <a:r>
                        <a:rPr sz="950" b="0" i="0">
                          <a:solidFill>
                            <a:srgbClr val="262626"/>
                          </a:solidFill>
                          <a:latin typeface="Arial"/>
                        </a:rPr>
                        <a:t>17</a:t>
                      </a:r>
                    </a:p>
                  </a:txBody>
                  <a:tcPr>
                    <a:solidFill>
                      <a:srgbClr val="FFFFFF"/>
                    </a:solidFill>
                  </a:tcPr>
                </a:tc>
                <a:tc>
                  <a:txBody>
                    <a:bodyPr wrap="none"/>
                    <a:lstStyle/>
                    <a:p>
                      <a:pPr algn="ctr"/>
                      <a:r>
                        <a:rPr sz="950" b="0" i="0">
                          <a:solidFill>
                            <a:srgbClr val="262626"/>
                          </a:solidFill>
                          <a:latin typeface="Arial"/>
                        </a:rPr>
                        <a:t>+9</a:t>
                      </a:r>
                    </a:p>
                  </a:txBody>
                  <a:tcPr>
                    <a:solidFill>
                      <a:srgbClr val="FFFFFF"/>
                    </a:solidFill>
                  </a:tcPr>
                </a:tc>
                <a:tc>
                  <a:txBody>
                    <a:bodyPr wrap="none"/>
                    <a:lstStyle/>
                    <a:p>
                      <a:pPr algn="ctr"/>
                      <a:r>
                        <a:rPr sz="950" b="0" i="0">
                          <a:solidFill>
                            <a:srgbClr val="262626"/>
                          </a:solidFill>
                          <a:latin typeface="Arial"/>
                        </a:rPr>
                        <a:t>5</a:t>
                      </a:r>
                    </a:p>
                  </a:txBody>
                  <a:tcPr>
                    <a:solidFill>
                      <a:srgbClr val="FFFFFF"/>
                    </a:solidFill>
                  </a:tcPr>
                </a:tc>
                <a:tc>
                  <a:txBody>
                    <a:bodyPr wrap="none"/>
                    <a:lstStyle/>
                    <a:p>
                      <a:pPr algn="ctr"/>
                      <a:r>
                        <a:rPr sz="950" b="0" i="0">
                          <a:solidFill>
                            <a:srgbClr val="262626"/>
                          </a:solidFill>
                          <a:latin typeface="Arial"/>
                        </a:rPr>
                        <a:t>155s</a:t>
                      </a:r>
                    </a:p>
                  </a:txBody>
                  <a:tcPr>
                    <a:solidFill>
                      <a:srgbClr val="FFFFFF"/>
                    </a:solidFill>
                  </a:tcPr>
                </a:tc>
              </a:tr>
              <a:tr h="202474">
                <a:tc>
                  <a:txBody>
                    <a:bodyPr wrap="none"/>
                    <a:lstStyle/>
                    <a:p>
                      <a:pPr algn="ctr"/>
                      <a:r>
                        <a:rPr sz="950" b="0" i="0">
                          <a:solidFill>
                            <a:srgbClr val="262626"/>
                          </a:solidFill>
                          <a:latin typeface="Arial"/>
                        </a:rPr>
                        <a:t>2024</a:t>
                      </a:r>
                    </a:p>
                  </a:txBody>
                  <a:tcPr>
                    <a:solidFill>
                      <a:srgbClr val="F2F2F2"/>
                    </a:solidFill>
                  </a:tcPr>
                </a:tc>
                <a:tc>
                  <a:txBody>
                    <a:bodyPr wrap="none"/>
                    <a:lstStyle/>
                    <a:p>
                      <a:pPr algn="ctr"/>
                      <a:r>
                        <a:rPr sz="950" b="0" i="0">
                          <a:solidFill>
                            <a:srgbClr val="262626"/>
                          </a:solidFill>
                          <a:latin typeface="Arial"/>
                        </a:rPr>
                        <a:t>20</a:t>
                      </a:r>
                    </a:p>
                  </a:txBody>
                  <a:tcPr>
                    <a:solidFill>
                      <a:srgbClr val="F2F2F2"/>
                    </a:solidFill>
                  </a:tcPr>
                </a:tc>
                <a:tc>
                  <a:txBody>
                    <a:bodyPr wrap="none"/>
                    <a:lstStyle/>
                    <a:p>
                      <a:pPr algn="ctr"/>
                      <a:r>
                        <a:rPr sz="950" b="0" i="0">
                          <a:solidFill>
                            <a:srgbClr val="262626"/>
                          </a:solidFill>
                          <a:latin typeface="Arial"/>
                        </a:rPr>
                        <a:t>10</a:t>
                      </a:r>
                    </a:p>
                  </a:txBody>
                  <a:tcPr>
                    <a:solidFill>
                      <a:srgbClr val="F2F2F2"/>
                    </a:solidFill>
                  </a:tcPr>
                </a:tc>
                <a:tc>
                  <a:txBody>
                    <a:bodyPr wrap="none"/>
                    <a:lstStyle/>
                    <a:p>
                      <a:pPr algn="ctr"/>
                      <a:r>
                        <a:rPr sz="950" b="0" i="0">
                          <a:solidFill>
                            <a:srgbClr val="262626"/>
                          </a:solidFill>
                          <a:latin typeface="Arial"/>
                        </a:rPr>
                        <a:t>-10</a:t>
                      </a:r>
                    </a:p>
                  </a:txBody>
                  <a:tcPr>
                    <a:solidFill>
                      <a:srgbClr val="F2F2F2"/>
                    </a:solidFill>
                  </a:tcPr>
                </a:tc>
                <a:tc>
                  <a:txBody>
                    <a:bodyPr wrap="none"/>
                    <a:lstStyle/>
                    <a:p>
                      <a:pPr algn="ctr"/>
                      <a:r>
                        <a:rPr sz="950" b="0" i="0">
                          <a:solidFill>
                            <a:srgbClr val="262626"/>
                          </a:solidFill>
                          <a:latin typeface="Arial"/>
                        </a:rPr>
                        <a:t>15</a:t>
                      </a:r>
                    </a:p>
                  </a:txBody>
                  <a:tcPr>
                    <a:solidFill>
                      <a:srgbClr val="F2F2F2"/>
                    </a:solidFill>
                  </a:tcPr>
                </a:tc>
                <a:tc>
                  <a:txBody>
                    <a:bodyPr wrap="none"/>
                    <a:lstStyle/>
                    <a:p>
                      <a:pPr algn="ctr"/>
                      <a:r>
                        <a:rPr sz="950" b="0" i="0">
                          <a:solidFill>
                            <a:srgbClr val="262626"/>
                          </a:solidFill>
                          <a:latin typeface="Arial"/>
                        </a:rPr>
                        <a:t>82s</a:t>
                      </a:r>
                    </a:p>
                  </a:txBody>
                  <a:tcPr>
                    <a:solidFill>
                      <a:srgbClr val="F2F2F2"/>
                    </a:solidFill>
                  </a:tcPr>
                </a:tc>
              </a:tr>
              <a:tr h="202474">
                <a:tc>
                  <a:txBody>
                    <a:bodyPr wrap="none"/>
                    <a:lstStyle/>
                    <a:p>
                      <a:pPr algn="ctr"/>
                      <a:r>
                        <a:rPr sz="950" b="0" i="0">
                          <a:solidFill>
                            <a:srgbClr val="262626"/>
                          </a:solidFill>
                          <a:latin typeface="Arial"/>
                        </a:rPr>
                        <a:t>2025</a:t>
                      </a:r>
                    </a:p>
                  </a:txBody>
                  <a:tcPr>
                    <a:solidFill>
                      <a:srgbClr val="FFFFFF"/>
                    </a:solidFill>
                  </a:tcPr>
                </a:tc>
                <a:tc>
                  <a:txBody>
                    <a:bodyPr wrap="none"/>
                    <a:lstStyle/>
                    <a:p>
                      <a:pPr algn="ctr"/>
                      <a:r>
                        <a:rPr sz="950" b="0" i="0">
                          <a:solidFill>
                            <a:srgbClr val="262626"/>
                          </a:solidFill>
                          <a:latin typeface="Arial"/>
                        </a:rPr>
                        <a:t>23</a:t>
                      </a:r>
                    </a:p>
                  </a:txBody>
                  <a:tcPr>
                    <a:solidFill>
                      <a:srgbClr val="FFFFFF"/>
                    </a:solidFill>
                  </a:tcPr>
                </a:tc>
                <a:tc>
                  <a:txBody>
                    <a:bodyPr wrap="none"/>
                    <a:lstStyle/>
                    <a:p>
                      <a:pPr algn="ctr"/>
                      <a:r>
                        <a:rPr sz="950" b="0" i="0">
                          <a:solidFill>
                            <a:srgbClr val="262626"/>
                          </a:solidFill>
                          <a:latin typeface="Arial"/>
                        </a:rPr>
                        <a:t>4</a:t>
                      </a:r>
                    </a:p>
                  </a:txBody>
                  <a:tcPr>
                    <a:solidFill>
                      <a:srgbClr val="FFFFFF"/>
                    </a:solidFill>
                  </a:tcPr>
                </a:tc>
                <a:tc>
                  <a:txBody>
                    <a:bodyPr wrap="none"/>
                    <a:lstStyle/>
                    <a:p>
                      <a:pPr algn="ctr"/>
                      <a:r>
                        <a:rPr sz="950" b="0" i="0">
                          <a:solidFill>
                            <a:srgbClr val="262626"/>
                          </a:solidFill>
                          <a:latin typeface="Arial"/>
                        </a:rPr>
                        <a:t>-19</a:t>
                      </a:r>
                    </a:p>
                  </a:txBody>
                  <a:tcPr>
                    <a:solidFill>
                      <a:srgbClr val="FFFFFF"/>
                    </a:solidFill>
                  </a:tcPr>
                </a:tc>
                <a:tc>
                  <a:txBody>
                    <a:bodyPr wrap="none"/>
                    <a:lstStyle/>
                    <a:p>
                      <a:pPr algn="ctr"/>
                      <a:r>
                        <a:rPr sz="950" b="0" i="0">
                          <a:solidFill>
                            <a:srgbClr val="262626"/>
                          </a:solidFill>
                          <a:latin typeface="Arial"/>
                        </a:rPr>
                        <a:t>14</a:t>
                      </a:r>
                    </a:p>
                  </a:txBody>
                  <a:tcPr>
                    <a:solidFill>
                      <a:srgbClr val="FFFFFF"/>
                    </a:solidFill>
                  </a:tcPr>
                </a:tc>
                <a:tc>
                  <a:txBody>
                    <a:bodyPr wrap="none"/>
                    <a:lstStyle/>
                    <a:p>
                      <a:pPr algn="ctr"/>
                      <a:r>
                        <a:rPr sz="950" b="0" i="0">
                          <a:solidFill>
                            <a:srgbClr val="262626"/>
                          </a:solidFill>
                          <a:latin typeface="Arial"/>
                        </a:rPr>
                        <a:t>19s</a:t>
                      </a:r>
                    </a:p>
                  </a:txBody>
                  <a:tcPr>
                    <a:solidFill>
                      <a:srgbClr val="FFFFFF"/>
                    </a:solidFill>
                  </a:tcPr>
                </a:tc>
              </a:tr>
              <a:tr h="202476">
                <a:tc>
                  <a:txBody>
                    <a:bodyPr wrap="none"/>
                    <a:lstStyle/>
                    <a:p>
                      <a:pPr algn="ctr"/>
                      <a:r>
                        <a:rPr sz="950" b="0" i="0">
                          <a:solidFill>
                            <a:srgbClr val="262626"/>
                          </a:solidFill>
                          <a:latin typeface="Arial"/>
                        </a:rPr>
                        <a:t>2026</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r>
            </a:tbl>
          </a:graphicData>
        </a:graphic>
      </p:graphicFrame>
      <p:sp>
        <p:nvSpPr>
          <p:cNvPr id="11" name="TextBox 10"/>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
        <p:nvSpPr>
          <p:cNvPr id="12" name="TextBox 11"/>
          <p:cNvSpPr txBox="1"/>
          <p:nvPr/>
        </p:nvSpPr>
        <p:spPr>
          <a:xfrm>
            <a:off x="274320" y="6720840"/>
            <a:ext cx="11640312" cy="164592"/>
          </a:xfrm>
          <a:prstGeom prst="rect">
            <a:avLst/>
          </a:prstGeom>
          <a:noFill/>
        </p:spPr>
        <p:txBody>
          <a:bodyPr wrap="square">
            <a:spAutoFit/>
          </a:bodyPr>
          <a:lstStyle/>
          <a:p>
            <a:pPr algn="l"/>
            <a:r>
              <a:rPr sz="750" b="0" i="1">
                <a:solidFill>
                  <a:srgbClr val="BFBFBF"/>
                </a:solidFill>
                <a:latin typeface="Arial"/>
              </a:rPr>
              <a:t>Dropouts: 2018: 13 DNF/LAP (1 in lead group at t1)  |  2019: 8 DNF/LAP (1 in lead group at t1)  |  2023: 11 DNF/LAP (2 in lead group at bike)  |  2024: 7 DNF/LAP (1 in lead group at bike)  |  2025: 2 DNF/LAP  |  2026: 7 DNF/LAP (3 in lead group at t1)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74320" y="1078992"/>
            <a:ext cx="11640312" cy="3017520"/>
          </a:xfrm>
          <a:prstGeom prst="rect">
            <a:avLst/>
          </a:prstGeom>
        </p:spPr>
      </p:pic>
      <p:graphicFrame>
        <p:nvGraphicFramePr>
          <p:cNvPr id="9" name="Table 8"/>
          <p:cNvGraphicFramePr>
            <a:graphicFrameLocks noGrp="1"/>
          </p:cNvGraphicFramePr>
          <p:nvPr/>
        </p:nvGraphicFramePr>
        <p:xfrm>
          <a:off x="274320" y="4187952"/>
          <a:ext cx="11640312" cy="2432304"/>
        </p:xfrm>
        <a:graphic>
          <a:graphicData uri="http://schemas.openxmlformats.org/drawingml/2006/table">
            <a:tbl>
              <a:tblPr firstRow="1" bandRow="1">
                <a:tableStyleId>{5C22544A-7EE6-4342-B048-85BDC9FD1C3A}</a:tableStyleId>
              </a:tblPr>
              <a:tblGrid>
                <a:gridCol w="640080"/>
                <a:gridCol w="1833372"/>
                <a:gridCol w="1833372"/>
                <a:gridCol w="1833372"/>
                <a:gridCol w="1833372"/>
                <a:gridCol w="1833372"/>
                <a:gridCol w="1833372"/>
              </a:tblGrid>
              <a:tr h="347472">
                <a:tc>
                  <a:txBody>
                    <a:bodyPr wrap="none"/>
                    <a:lstStyle/>
                    <a:p>
                      <a:pPr algn="ctr"/>
                      <a:r>
                        <a:rPr sz="1000" b="1" i="0">
                          <a:solidFill>
                            <a:srgbClr val="FFFFFF"/>
                          </a:solidFill>
                          <a:latin typeface="Arial"/>
                        </a:rPr>
                        <a:t>Year</a:t>
                      </a:r>
                    </a:p>
                  </a:txBody>
                  <a:tcPr>
                    <a:solidFill>
                      <a:srgbClr val="002060"/>
                    </a:solidFill>
                  </a:tcPr>
                </a:tc>
                <a:tc>
                  <a:txBody>
                    <a:bodyPr wrap="none"/>
                    <a:lstStyle/>
                    <a:p>
                      <a:pPr algn="ctr"/>
                      <a:r>
                        <a:rPr sz="1000" b="1" i="0">
                          <a:solidFill>
                            <a:srgbClr val="FFFFFF"/>
                          </a:solidFill>
                          <a:latin typeface="Arial"/>
                        </a:rPr>
                        <a:t>1st</a:t>
                      </a:r>
                    </a:p>
                  </a:txBody>
                  <a:tcPr>
                    <a:solidFill>
                      <a:srgbClr val="002060"/>
                    </a:solidFill>
                  </a:tcPr>
                </a:tc>
                <a:tc>
                  <a:txBody>
                    <a:bodyPr wrap="none"/>
                    <a:lstStyle/>
                    <a:p>
                      <a:pPr algn="ctr"/>
                      <a:r>
                        <a:rPr sz="1000" b="1" i="0">
                          <a:solidFill>
                            <a:srgbClr val="FFFFFF"/>
                          </a:solidFill>
                          <a:latin typeface="Arial"/>
                        </a:rPr>
                        <a:t>2nd</a:t>
                      </a:r>
                    </a:p>
                  </a:txBody>
                  <a:tcPr>
                    <a:solidFill>
                      <a:srgbClr val="002060"/>
                    </a:solidFill>
                  </a:tcPr>
                </a:tc>
                <a:tc>
                  <a:txBody>
                    <a:bodyPr wrap="none"/>
                    <a:lstStyle/>
                    <a:p>
                      <a:pPr algn="ctr"/>
                      <a:r>
                        <a:rPr sz="1000" b="1" i="0">
                          <a:solidFill>
                            <a:srgbClr val="FFFFFF"/>
                          </a:solidFill>
                          <a:latin typeface="Arial"/>
                        </a:rPr>
                        <a:t>3rd</a:t>
                      </a:r>
                    </a:p>
                  </a:txBody>
                  <a:tcPr>
                    <a:solidFill>
                      <a:srgbClr val="002060"/>
                    </a:solidFill>
                  </a:tcPr>
                </a:tc>
                <a:tc>
                  <a:txBody>
                    <a:bodyPr wrap="none"/>
                    <a:lstStyle/>
                    <a:p>
                      <a:pPr algn="ctr"/>
                      <a:r>
                        <a:rPr sz="1000" b="1" i="0">
                          <a:solidFill>
                            <a:srgbClr val="FFFFFF"/>
                          </a:solidFill>
                          <a:latin typeface="Arial"/>
                        </a:rPr>
                        <a:t>5th</a:t>
                      </a:r>
                    </a:p>
                  </a:txBody>
                  <a:tcPr>
                    <a:solidFill>
                      <a:srgbClr val="002060"/>
                    </a:solidFill>
                  </a:tcPr>
                </a:tc>
                <a:tc>
                  <a:txBody>
                    <a:bodyPr wrap="none"/>
                    <a:lstStyle/>
                    <a:p>
                      <a:pPr algn="ctr"/>
                      <a:r>
                        <a:rPr sz="1000" b="1" i="0">
                          <a:solidFill>
                            <a:srgbClr val="FFFFFF"/>
                          </a:solidFill>
                          <a:latin typeface="Arial"/>
                        </a:rPr>
                        <a:t>10th</a:t>
                      </a:r>
                    </a:p>
                  </a:txBody>
                  <a:tcPr>
                    <a:solidFill>
                      <a:srgbClr val="002060"/>
                    </a:solidFill>
                  </a:tcPr>
                </a:tc>
                <a:tc>
                  <a:txBody>
                    <a:bodyPr wrap="none"/>
                    <a:lstStyle/>
                    <a:p>
                      <a:pPr algn="ctr"/>
                      <a:r>
                        <a:rPr sz="1000" b="1" i="0">
                          <a:solidFill>
                            <a:srgbClr val="FFFFFF"/>
                          </a:solidFill>
                          <a:latin typeface="Arial"/>
                        </a:rPr>
                        <a:t>20th</a:t>
                      </a:r>
                    </a:p>
                  </a:txBody>
                  <a:tcPr>
                    <a:solidFill>
                      <a:srgbClr val="002060"/>
                    </a:solidFill>
                  </a:tcPr>
                </a:tc>
              </a:tr>
              <a:tr h="347472">
                <a:tc>
                  <a:txBody>
                    <a:bodyPr wrap="none"/>
                    <a:lstStyle/>
                    <a:p>
                      <a:pPr algn="ctr"/>
                      <a:r>
                        <a:rPr sz="1000" b="1" i="0">
                          <a:solidFill>
                            <a:srgbClr val="262626"/>
                          </a:solidFill>
                          <a:latin typeface="Arial"/>
                        </a:rPr>
                        <a:t>2018</a:t>
                      </a:r>
                    </a:p>
                  </a:txBody>
                  <a:tcPr>
                    <a:solidFill>
                      <a:srgbClr val="FFFFFF"/>
                    </a:solidFill>
                  </a:tcPr>
                </a:tc>
                <a:tc>
                  <a:txBody>
                    <a:bodyPr wrap="none"/>
                    <a:lstStyle/>
                    <a:p>
                      <a:pPr algn="ctr"/>
                      <a:r>
                        <a:rPr sz="850" b="0" i="0">
                          <a:solidFill>
                            <a:srgbClr val="262626"/>
                          </a:solidFill>
                          <a:latin typeface="Arial"/>
                        </a:rPr>
                        <a:t>1:53:11</a:t>
                      </a:r>
                    </a:p>
                  </a:txBody>
                  <a:tcPr>
                    <a:solidFill>
                      <a:srgbClr val="FFFFFF"/>
                    </a:solidFill>
                  </a:tcPr>
                </a:tc>
                <a:tc>
                  <a:txBody>
                    <a:bodyPr wrap="none"/>
                    <a:lstStyle/>
                    <a:p>
                      <a:pPr algn="ctr"/>
                      <a:r>
                        <a:rPr sz="850" b="0" i="0">
                          <a:solidFill>
                            <a:srgbClr val="262626"/>
                          </a:solidFill>
                          <a:latin typeface="Arial"/>
                        </a:rPr>
                        <a:t>1:53:26
+15s</a:t>
                      </a:r>
                    </a:p>
                  </a:txBody>
                  <a:tcPr>
                    <a:solidFill>
                      <a:srgbClr val="FFFFFF"/>
                    </a:solidFill>
                  </a:tcPr>
                </a:tc>
                <a:tc>
                  <a:txBody>
                    <a:bodyPr wrap="none"/>
                    <a:lstStyle/>
                    <a:p>
                      <a:pPr algn="ctr"/>
                      <a:r>
                        <a:rPr sz="850" b="0" i="0">
                          <a:solidFill>
                            <a:srgbClr val="262626"/>
                          </a:solidFill>
                          <a:latin typeface="Arial"/>
                        </a:rPr>
                        <a:t>1:53:30
+19s</a:t>
                      </a:r>
                    </a:p>
                  </a:txBody>
                  <a:tcPr>
                    <a:solidFill>
                      <a:srgbClr val="FFFFFF"/>
                    </a:solidFill>
                  </a:tcPr>
                </a:tc>
                <a:tc>
                  <a:txBody>
                    <a:bodyPr wrap="none"/>
                    <a:lstStyle/>
                    <a:p>
                      <a:pPr algn="ctr"/>
                      <a:r>
                        <a:rPr sz="850" b="0" i="0">
                          <a:solidFill>
                            <a:srgbClr val="262626"/>
                          </a:solidFill>
                          <a:latin typeface="Arial"/>
                        </a:rPr>
                        <a:t>1:54:11
+60s</a:t>
                      </a:r>
                    </a:p>
                  </a:txBody>
                  <a:tcPr>
                    <a:solidFill>
                      <a:srgbClr val="FFFFFF"/>
                    </a:solidFill>
                  </a:tcPr>
                </a:tc>
                <a:tc>
                  <a:txBody>
                    <a:bodyPr wrap="none"/>
                    <a:lstStyle/>
                    <a:p>
                      <a:pPr algn="ctr"/>
                      <a:r>
                        <a:rPr sz="850" b="0" i="0">
                          <a:solidFill>
                            <a:srgbClr val="262626"/>
                          </a:solidFill>
                          <a:latin typeface="Arial"/>
                        </a:rPr>
                        <a:t>1:55:12
+121s</a:t>
                      </a:r>
                    </a:p>
                  </a:txBody>
                  <a:tcPr>
                    <a:solidFill>
                      <a:srgbClr val="FFFFFF"/>
                    </a:solidFill>
                  </a:tcPr>
                </a:tc>
                <a:tc>
                  <a:txBody>
                    <a:bodyPr wrap="none"/>
                    <a:lstStyle/>
                    <a:p>
                      <a:pPr algn="ctr"/>
                      <a:r>
                        <a:rPr sz="850" b="0" i="0">
                          <a:solidFill>
                            <a:srgbClr val="262626"/>
                          </a:solidFill>
                          <a:latin typeface="Arial"/>
                        </a:rPr>
                        <a:t>1:56:12
+181s</a:t>
                      </a:r>
                    </a:p>
                  </a:txBody>
                  <a:tcPr>
                    <a:solidFill>
                      <a:srgbClr val="FFFFFF"/>
                    </a:solidFill>
                  </a:tcPr>
                </a:tc>
              </a:tr>
              <a:tr h="347472">
                <a:tc>
                  <a:txBody>
                    <a:bodyPr wrap="none"/>
                    <a:lstStyle/>
                    <a:p>
                      <a:pPr algn="ctr"/>
                      <a:r>
                        <a:rPr sz="1000" b="1" i="0">
                          <a:solidFill>
                            <a:srgbClr val="262626"/>
                          </a:solidFill>
                          <a:latin typeface="Arial"/>
                        </a:rPr>
                        <a:t>2019</a:t>
                      </a:r>
                    </a:p>
                  </a:txBody>
                  <a:tcPr>
                    <a:solidFill>
                      <a:srgbClr val="F2F2F2"/>
                    </a:solidFill>
                  </a:tcPr>
                </a:tc>
                <a:tc>
                  <a:txBody>
                    <a:bodyPr wrap="none"/>
                    <a:lstStyle/>
                    <a:p>
                      <a:pPr algn="ctr"/>
                      <a:r>
                        <a:rPr sz="850" b="0" i="0">
                          <a:solidFill>
                            <a:srgbClr val="262626"/>
                          </a:solidFill>
                          <a:latin typeface="Arial"/>
                        </a:rPr>
                        <a:t>1:54:47</a:t>
                      </a:r>
                    </a:p>
                  </a:txBody>
                  <a:tcPr>
                    <a:solidFill>
                      <a:srgbClr val="F2F2F2"/>
                    </a:solidFill>
                  </a:tcPr>
                </a:tc>
                <a:tc>
                  <a:txBody>
                    <a:bodyPr wrap="none"/>
                    <a:lstStyle/>
                    <a:p>
                      <a:pPr algn="ctr"/>
                      <a:r>
                        <a:rPr sz="850" b="0" i="0">
                          <a:solidFill>
                            <a:srgbClr val="262626"/>
                          </a:solidFill>
                          <a:latin typeface="Arial"/>
                        </a:rPr>
                        <a:t>1:54:49
+2s</a:t>
                      </a:r>
                    </a:p>
                  </a:txBody>
                  <a:tcPr>
                    <a:solidFill>
                      <a:srgbClr val="F2F2F2"/>
                    </a:solidFill>
                  </a:tcPr>
                </a:tc>
                <a:tc>
                  <a:txBody>
                    <a:bodyPr wrap="none"/>
                    <a:lstStyle/>
                    <a:p>
                      <a:pPr algn="ctr"/>
                      <a:r>
                        <a:rPr sz="850" b="0" i="0">
                          <a:solidFill>
                            <a:srgbClr val="262626"/>
                          </a:solidFill>
                          <a:latin typeface="Arial"/>
                        </a:rPr>
                        <a:t>1:54:53
+6s</a:t>
                      </a:r>
                    </a:p>
                  </a:txBody>
                  <a:tcPr>
                    <a:solidFill>
                      <a:srgbClr val="F2F2F2"/>
                    </a:solidFill>
                  </a:tcPr>
                </a:tc>
                <a:tc>
                  <a:txBody>
                    <a:bodyPr wrap="none"/>
                    <a:lstStyle/>
                    <a:p>
                      <a:pPr algn="ctr"/>
                      <a:r>
                        <a:rPr sz="850" b="0" i="0">
                          <a:solidFill>
                            <a:srgbClr val="262626"/>
                          </a:solidFill>
                          <a:latin typeface="Arial"/>
                        </a:rPr>
                        <a:t>1:55:21
+34s</a:t>
                      </a:r>
                    </a:p>
                  </a:txBody>
                  <a:tcPr>
                    <a:solidFill>
                      <a:srgbClr val="F2F2F2"/>
                    </a:solidFill>
                  </a:tcPr>
                </a:tc>
                <a:tc>
                  <a:txBody>
                    <a:bodyPr wrap="none"/>
                    <a:lstStyle/>
                    <a:p>
                      <a:pPr algn="ctr"/>
                      <a:r>
                        <a:rPr sz="850" b="0" i="0">
                          <a:solidFill>
                            <a:srgbClr val="262626"/>
                          </a:solidFill>
                          <a:latin typeface="Arial"/>
                        </a:rPr>
                        <a:t>1:55:53
+66s</a:t>
                      </a:r>
                    </a:p>
                  </a:txBody>
                  <a:tcPr>
                    <a:solidFill>
                      <a:srgbClr val="F2F2F2"/>
                    </a:solidFill>
                  </a:tcPr>
                </a:tc>
                <a:tc>
                  <a:txBody>
                    <a:bodyPr wrap="none"/>
                    <a:lstStyle/>
                    <a:p>
                      <a:pPr algn="ctr"/>
                      <a:r>
                        <a:rPr sz="850" b="0" i="0">
                          <a:solidFill>
                            <a:srgbClr val="262626"/>
                          </a:solidFill>
                          <a:latin typeface="Arial"/>
                        </a:rPr>
                        <a:t>1:57:42
+175s</a:t>
                      </a:r>
                    </a:p>
                  </a:txBody>
                  <a:tcPr>
                    <a:solidFill>
                      <a:srgbClr val="F2F2F2"/>
                    </a:solidFill>
                  </a:tcPr>
                </a:tc>
              </a:tr>
              <a:tr h="347472">
                <a:tc>
                  <a:txBody>
                    <a:bodyPr wrap="none"/>
                    <a:lstStyle/>
                    <a:p>
                      <a:pPr algn="ctr"/>
                      <a:r>
                        <a:rPr sz="1000" b="1" i="0">
                          <a:solidFill>
                            <a:srgbClr val="262626"/>
                          </a:solidFill>
                          <a:latin typeface="Arial"/>
                        </a:rPr>
                        <a:t>2023</a:t>
                      </a:r>
                    </a:p>
                  </a:txBody>
                  <a:tcPr>
                    <a:solidFill>
                      <a:srgbClr val="FFFFFF"/>
                    </a:solidFill>
                  </a:tcPr>
                </a:tc>
                <a:tc>
                  <a:txBody>
                    <a:bodyPr wrap="none"/>
                    <a:lstStyle/>
                    <a:p>
                      <a:pPr algn="ctr"/>
                      <a:r>
                        <a:rPr sz="850" b="0" i="0">
                          <a:solidFill>
                            <a:srgbClr val="262626"/>
                          </a:solidFill>
                          <a:latin typeface="Arial"/>
                        </a:rPr>
                        <a:t>1:46:35</a:t>
                      </a:r>
                    </a:p>
                  </a:txBody>
                  <a:tcPr>
                    <a:solidFill>
                      <a:srgbClr val="FFFFFF"/>
                    </a:solidFill>
                  </a:tcPr>
                </a:tc>
                <a:tc>
                  <a:txBody>
                    <a:bodyPr wrap="none"/>
                    <a:lstStyle/>
                    <a:p>
                      <a:pPr algn="ctr"/>
                      <a:r>
                        <a:rPr sz="850" b="0" i="0">
                          <a:solidFill>
                            <a:srgbClr val="262626"/>
                          </a:solidFill>
                          <a:latin typeface="Arial"/>
                        </a:rPr>
                        <a:t>1:46:50
+15s</a:t>
                      </a:r>
                    </a:p>
                  </a:txBody>
                  <a:tcPr>
                    <a:solidFill>
                      <a:srgbClr val="FFFFFF"/>
                    </a:solidFill>
                  </a:tcPr>
                </a:tc>
                <a:tc>
                  <a:txBody>
                    <a:bodyPr wrap="none"/>
                    <a:lstStyle/>
                    <a:p>
                      <a:pPr algn="ctr"/>
                      <a:r>
                        <a:rPr sz="850" b="0" i="0">
                          <a:solidFill>
                            <a:srgbClr val="262626"/>
                          </a:solidFill>
                          <a:latin typeface="Arial"/>
                        </a:rPr>
                        <a:t>1:46:57
+22s</a:t>
                      </a:r>
                    </a:p>
                  </a:txBody>
                  <a:tcPr>
                    <a:solidFill>
                      <a:srgbClr val="FFFFFF"/>
                    </a:solidFill>
                  </a:tcPr>
                </a:tc>
                <a:tc>
                  <a:txBody>
                    <a:bodyPr wrap="none"/>
                    <a:lstStyle/>
                    <a:p>
                      <a:pPr algn="ctr"/>
                      <a:r>
                        <a:rPr sz="850" b="0" i="0">
                          <a:solidFill>
                            <a:srgbClr val="262626"/>
                          </a:solidFill>
                          <a:latin typeface="Arial"/>
                        </a:rPr>
                        <a:t>1:47:07
+32s</a:t>
                      </a:r>
                    </a:p>
                  </a:txBody>
                  <a:tcPr>
                    <a:solidFill>
                      <a:srgbClr val="FFFFFF"/>
                    </a:solidFill>
                  </a:tcPr>
                </a:tc>
                <a:tc>
                  <a:txBody>
                    <a:bodyPr wrap="none"/>
                    <a:lstStyle/>
                    <a:p>
                      <a:pPr algn="ctr"/>
                      <a:r>
                        <a:rPr sz="850" b="0" i="0">
                          <a:solidFill>
                            <a:srgbClr val="262626"/>
                          </a:solidFill>
                          <a:latin typeface="Arial"/>
                        </a:rPr>
                        <a:t>1:47:48
+73s</a:t>
                      </a:r>
                    </a:p>
                  </a:txBody>
                  <a:tcPr>
                    <a:solidFill>
                      <a:srgbClr val="FFFFFF"/>
                    </a:solidFill>
                  </a:tcPr>
                </a:tc>
                <a:tc>
                  <a:txBody>
                    <a:bodyPr wrap="none"/>
                    <a:lstStyle/>
                    <a:p>
                      <a:pPr algn="ctr"/>
                      <a:r>
                        <a:rPr sz="850" b="0" i="0">
                          <a:solidFill>
                            <a:srgbClr val="262626"/>
                          </a:solidFill>
                          <a:latin typeface="Arial"/>
                        </a:rPr>
                        <a:t>1:52:01
+326s</a:t>
                      </a:r>
                    </a:p>
                  </a:txBody>
                  <a:tcPr>
                    <a:solidFill>
                      <a:srgbClr val="FFFFFF"/>
                    </a:solidFill>
                  </a:tcPr>
                </a:tc>
              </a:tr>
              <a:tr h="347472">
                <a:tc>
                  <a:txBody>
                    <a:bodyPr wrap="none"/>
                    <a:lstStyle/>
                    <a:p>
                      <a:pPr algn="ctr"/>
                      <a:r>
                        <a:rPr sz="1000" b="1" i="0">
                          <a:solidFill>
                            <a:srgbClr val="262626"/>
                          </a:solidFill>
                          <a:latin typeface="Arial"/>
                        </a:rPr>
                        <a:t>2024</a:t>
                      </a:r>
                    </a:p>
                  </a:txBody>
                  <a:tcPr>
                    <a:solidFill>
                      <a:srgbClr val="F2F2F2"/>
                    </a:solidFill>
                  </a:tcPr>
                </a:tc>
                <a:tc>
                  <a:txBody>
                    <a:bodyPr wrap="none"/>
                    <a:lstStyle/>
                    <a:p>
                      <a:pPr algn="ctr"/>
                      <a:r>
                        <a:rPr sz="850" b="0" i="0">
                          <a:solidFill>
                            <a:srgbClr val="262626"/>
                          </a:solidFill>
                          <a:latin typeface="Arial"/>
                        </a:rPr>
                        <a:t>1:48:21</a:t>
                      </a:r>
                    </a:p>
                  </a:txBody>
                  <a:tcPr>
                    <a:solidFill>
                      <a:srgbClr val="F2F2F2"/>
                    </a:solidFill>
                  </a:tcPr>
                </a:tc>
                <a:tc>
                  <a:txBody>
                    <a:bodyPr wrap="none"/>
                    <a:lstStyle/>
                    <a:p>
                      <a:pPr algn="ctr"/>
                      <a:r>
                        <a:rPr sz="850" b="0" i="0">
                          <a:solidFill>
                            <a:srgbClr val="262626"/>
                          </a:solidFill>
                          <a:latin typeface="Arial"/>
                        </a:rPr>
                        <a:t>1:49:07
+46s</a:t>
                      </a:r>
                    </a:p>
                  </a:txBody>
                  <a:tcPr>
                    <a:solidFill>
                      <a:srgbClr val="F2F2F2"/>
                    </a:solidFill>
                  </a:tcPr>
                </a:tc>
                <a:tc>
                  <a:txBody>
                    <a:bodyPr wrap="none"/>
                    <a:lstStyle/>
                    <a:p>
                      <a:pPr algn="ctr"/>
                      <a:r>
                        <a:rPr sz="850" b="0" i="0">
                          <a:solidFill>
                            <a:srgbClr val="262626"/>
                          </a:solidFill>
                          <a:latin typeface="Arial"/>
                        </a:rPr>
                        <a:t>1:49:18
+57s</a:t>
                      </a:r>
                    </a:p>
                  </a:txBody>
                  <a:tcPr>
                    <a:solidFill>
                      <a:srgbClr val="F2F2F2"/>
                    </a:solidFill>
                  </a:tcPr>
                </a:tc>
                <a:tc>
                  <a:txBody>
                    <a:bodyPr wrap="none"/>
                    <a:lstStyle/>
                    <a:p>
                      <a:pPr algn="ctr"/>
                      <a:r>
                        <a:rPr sz="850" b="0" i="0">
                          <a:solidFill>
                            <a:srgbClr val="262626"/>
                          </a:solidFill>
                          <a:latin typeface="Arial"/>
                        </a:rPr>
                        <a:t>1:49:52
+91s</a:t>
                      </a:r>
                    </a:p>
                  </a:txBody>
                  <a:tcPr>
                    <a:solidFill>
                      <a:srgbClr val="F2F2F2"/>
                    </a:solidFill>
                  </a:tcPr>
                </a:tc>
                <a:tc>
                  <a:txBody>
                    <a:bodyPr wrap="none"/>
                    <a:lstStyle/>
                    <a:p>
                      <a:pPr algn="ctr"/>
                      <a:r>
                        <a:rPr sz="850" b="0" i="0">
                          <a:solidFill>
                            <a:srgbClr val="262626"/>
                          </a:solidFill>
                          <a:latin typeface="Arial"/>
                        </a:rPr>
                        <a:t>1:50:42
+141s</a:t>
                      </a:r>
                    </a:p>
                  </a:txBody>
                  <a:tcPr>
                    <a:solidFill>
                      <a:srgbClr val="F2F2F2"/>
                    </a:solidFill>
                  </a:tcPr>
                </a:tc>
                <a:tc>
                  <a:txBody>
                    <a:bodyPr wrap="none"/>
                    <a:lstStyle/>
                    <a:p>
                      <a:pPr algn="ctr"/>
                      <a:r>
                        <a:rPr sz="850" b="0" i="0">
                          <a:solidFill>
                            <a:srgbClr val="262626"/>
                          </a:solidFill>
                          <a:latin typeface="Arial"/>
                        </a:rPr>
                        <a:t>1:52:07
+226s</a:t>
                      </a:r>
                    </a:p>
                  </a:txBody>
                  <a:tcPr>
                    <a:solidFill>
                      <a:srgbClr val="F2F2F2"/>
                    </a:solidFill>
                  </a:tcPr>
                </a:tc>
              </a:tr>
              <a:tr h="347472">
                <a:tc>
                  <a:txBody>
                    <a:bodyPr wrap="none"/>
                    <a:lstStyle/>
                    <a:p>
                      <a:pPr algn="ctr"/>
                      <a:r>
                        <a:rPr sz="1000" b="1" i="0">
                          <a:solidFill>
                            <a:srgbClr val="262626"/>
                          </a:solidFill>
                          <a:latin typeface="Arial"/>
                        </a:rPr>
                        <a:t>2025</a:t>
                      </a:r>
                    </a:p>
                  </a:txBody>
                  <a:tcPr>
                    <a:solidFill>
                      <a:srgbClr val="FFFFFF"/>
                    </a:solidFill>
                  </a:tcPr>
                </a:tc>
                <a:tc>
                  <a:txBody>
                    <a:bodyPr wrap="none"/>
                    <a:lstStyle/>
                    <a:p>
                      <a:pPr algn="ctr"/>
                      <a:r>
                        <a:rPr sz="850" b="0" i="0">
                          <a:solidFill>
                            <a:srgbClr val="262626"/>
                          </a:solidFill>
                          <a:latin typeface="Arial"/>
                        </a:rPr>
                        <a:t>1:40:03</a:t>
                      </a:r>
                    </a:p>
                  </a:txBody>
                  <a:tcPr>
                    <a:solidFill>
                      <a:srgbClr val="FFFFFF"/>
                    </a:solidFill>
                  </a:tcPr>
                </a:tc>
                <a:tc>
                  <a:txBody>
                    <a:bodyPr wrap="none"/>
                    <a:lstStyle/>
                    <a:p>
                      <a:pPr algn="ctr"/>
                      <a:r>
                        <a:rPr sz="850" b="0" i="0">
                          <a:solidFill>
                            <a:srgbClr val="262626"/>
                          </a:solidFill>
                          <a:latin typeface="Arial"/>
                        </a:rPr>
                        <a:t>1:40:27
+24s</a:t>
                      </a:r>
                    </a:p>
                  </a:txBody>
                  <a:tcPr>
                    <a:solidFill>
                      <a:srgbClr val="FFFFFF"/>
                    </a:solidFill>
                  </a:tcPr>
                </a:tc>
                <a:tc>
                  <a:txBody>
                    <a:bodyPr wrap="none"/>
                    <a:lstStyle/>
                    <a:p>
                      <a:pPr algn="ctr"/>
                      <a:r>
                        <a:rPr sz="850" b="0" i="0">
                          <a:solidFill>
                            <a:srgbClr val="262626"/>
                          </a:solidFill>
                          <a:latin typeface="Arial"/>
                        </a:rPr>
                        <a:t>1:40:35
+32s</a:t>
                      </a:r>
                    </a:p>
                  </a:txBody>
                  <a:tcPr>
                    <a:solidFill>
                      <a:srgbClr val="FFFFFF"/>
                    </a:solidFill>
                  </a:tcPr>
                </a:tc>
                <a:tc>
                  <a:txBody>
                    <a:bodyPr wrap="none"/>
                    <a:lstStyle/>
                    <a:p>
                      <a:pPr algn="ctr"/>
                      <a:r>
                        <a:rPr sz="850" b="0" i="0">
                          <a:solidFill>
                            <a:srgbClr val="262626"/>
                          </a:solidFill>
                          <a:latin typeface="Arial"/>
                        </a:rPr>
                        <a:t>1:41:05
+62s</a:t>
                      </a:r>
                    </a:p>
                  </a:txBody>
                  <a:tcPr>
                    <a:solidFill>
                      <a:srgbClr val="FFFFFF"/>
                    </a:solidFill>
                  </a:tcPr>
                </a:tc>
                <a:tc>
                  <a:txBody>
                    <a:bodyPr wrap="none"/>
                    <a:lstStyle/>
                    <a:p>
                      <a:pPr algn="ctr"/>
                      <a:r>
                        <a:rPr sz="850" b="0" i="0">
                          <a:solidFill>
                            <a:srgbClr val="262626"/>
                          </a:solidFill>
                          <a:latin typeface="Arial"/>
                        </a:rPr>
                        <a:t>1:41:28
+85s</a:t>
                      </a:r>
                    </a:p>
                  </a:txBody>
                  <a:tcPr>
                    <a:solidFill>
                      <a:srgbClr val="FFFFFF"/>
                    </a:solidFill>
                  </a:tcPr>
                </a:tc>
                <a:tc>
                  <a:txBody>
                    <a:bodyPr wrap="none"/>
                    <a:lstStyle/>
                    <a:p>
                      <a:pPr algn="ctr"/>
                      <a:r>
                        <a:rPr sz="850" b="0" i="0">
                          <a:solidFill>
                            <a:srgbClr val="262626"/>
                          </a:solidFill>
                          <a:latin typeface="Arial"/>
                        </a:rPr>
                        <a:t>1:42:37
+154s</a:t>
                      </a:r>
                    </a:p>
                  </a:txBody>
                  <a:tcPr>
                    <a:solidFill>
                      <a:srgbClr val="FFFFFF"/>
                    </a:solidFill>
                  </a:tcPr>
                </a:tc>
              </a:tr>
              <a:tr h="347472">
                <a:tc>
                  <a:txBody>
                    <a:bodyPr wrap="none"/>
                    <a:lstStyle/>
                    <a:p>
                      <a:pPr algn="ctr"/>
                      <a:r>
                        <a:rPr sz="1000" b="1" i="0">
                          <a:solidFill>
                            <a:srgbClr val="262626"/>
                          </a:solidFill>
                          <a:latin typeface="Arial"/>
                        </a:rPr>
                        <a:t>2026</a:t>
                      </a:r>
                    </a:p>
                  </a:txBody>
                  <a:tcPr>
                    <a:solidFill>
                      <a:srgbClr val="F2F2F2"/>
                    </a:solidFill>
                  </a:tcPr>
                </a:tc>
                <a:tc>
                  <a:txBody>
                    <a:bodyPr wrap="none"/>
                    <a:lstStyle/>
                    <a:p>
                      <a:pPr algn="ctr"/>
                      <a:r>
                        <a:rPr sz="850" b="0" i="0">
                          <a:solidFill>
                            <a:srgbClr val="262626"/>
                          </a:solidFill>
                          <a:latin typeface="Arial"/>
                        </a:rPr>
                        <a:t>1:41:08</a:t>
                      </a:r>
                    </a:p>
                  </a:txBody>
                  <a:tcPr>
                    <a:solidFill>
                      <a:srgbClr val="F2F2F2"/>
                    </a:solidFill>
                  </a:tcPr>
                </a:tc>
                <a:tc>
                  <a:txBody>
                    <a:bodyPr wrap="none"/>
                    <a:lstStyle/>
                    <a:p>
                      <a:pPr algn="ctr"/>
                      <a:r>
                        <a:rPr sz="850" b="0" i="0">
                          <a:solidFill>
                            <a:srgbClr val="262626"/>
                          </a:solidFill>
                          <a:latin typeface="Arial"/>
                        </a:rPr>
                        <a:t>1:41:18
+10s</a:t>
                      </a:r>
                    </a:p>
                  </a:txBody>
                  <a:tcPr>
                    <a:solidFill>
                      <a:srgbClr val="F2F2F2"/>
                    </a:solidFill>
                  </a:tcPr>
                </a:tc>
                <a:tc>
                  <a:txBody>
                    <a:bodyPr wrap="none"/>
                    <a:lstStyle/>
                    <a:p>
                      <a:pPr algn="ctr"/>
                      <a:r>
                        <a:rPr sz="850" b="0" i="0">
                          <a:solidFill>
                            <a:srgbClr val="262626"/>
                          </a:solidFill>
                          <a:latin typeface="Arial"/>
                        </a:rPr>
                        <a:t>1:41:25
+17s</a:t>
                      </a:r>
                    </a:p>
                  </a:txBody>
                  <a:tcPr>
                    <a:solidFill>
                      <a:srgbClr val="F2F2F2"/>
                    </a:solidFill>
                  </a:tcPr>
                </a:tc>
                <a:tc>
                  <a:txBody>
                    <a:bodyPr wrap="none"/>
                    <a:lstStyle/>
                    <a:p>
                      <a:pPr algn="ctr"/>
                      <a:r>
                        <a:rPr sz="850" b="0" i="0">
                          <a:solidFill>
                            <a:srgbClr val="262626"/>
                          </a:solidFill>
                          <a:latin typeface="Arial"/>
                        </a:rPr>
                        <a:t>1:41:54
+46s</a:t>
                      </a:r>
                    </a:p>
                  </a:txBody>
                  <a:tcPr>
                    <a:solidFill>
                      <a:srgbClr val="F2F2F2"/>
                    </a:solidFill>
                  </a:tcPr>
                </a:tc>
                <a:tc>
                  <a:txBody>
                    <a:bodyPr wrap="none"/>
                    <a:lstStyle/>
                    <a:p>
                      <a:pPr algn="ctr"/>
                      <a:r>
                        <a:rPr sz="850" b="0" i="0">
                          <a:solidFill>
                            <a:srgbClr val="262626"/>
                          </a:solidFill>
                          <a:latin typeface="Arial"/>
                        </a:rPr>
                        <a:t>1:42:10
+62s</a:t>
                      </a:r>
                    </a:p>
                  </a:txBody>
                  <a:tcPr>
                    <a:solidFill>
                      <a:srgbClr val="F2F2F2"/>
                    </a:solidFill>
                  </a:tcPr>
                </a:tc>
                <a:tc>
                  <a:txBody>
                    <a:bodyPr wrap="none"/>
                    <a:lstStyle/>
                    <a:p>
                      <a:pPr algn="ctr"/>
                      <a:r>
                        <a:rPr sz="850" b="0" i="0">
                          <a:solidFill>
                            <a:srgbClr val="262626"/>
                          </a:solidFill>
                          <a:latin typeface="Arial"/>
                        </a:rPr>
                        <a:t>1:43:18
+130s</a:t>
                      </a:r>
                    </a:p>
                  </a:txBody>
                  <a:tcPr>
                    <a:solidFill>
                      <a:srgbClr val="F2F2F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274320" y="1143000"/>
          <a:ext cx="11640307" cy="3200400"/>
        </p:xfrm>
        <a:graphic>
          <a:graphicData uri="http://schemas.openxmlformats.org/drawingml/2006/table">
            <a:tbl>
              <a:tblPr firstRow="1" bandRow="1">
                <a:tableStyleId>{5C22544A-7EE6-4342-B048-85BDC9FD1C3A}</a:tableStyleId>
              </a:tblPr>
              <a:tblGrid>
                <a:gridCol w="591571"/>
                <a:gridCol w="864604"/>
                <a:gridCol w="910110"/>
                <a:gridCol w="819099"/>
                <a:gridCol w="910110"/>
                <a:gridCol w="864604"/>
                <a:gridCol w="864604"/>
                <a:gridCol w="819099"/>
                <a:gridCol w="4996506"/>
              </a:tblGrid>
              <a:tr h="457200">
                <a:tc>
                  <a:txBody>
                    <a:bodyPr wrap="none"/>
                    <a:lstStyle/>
                    <a:p>
                      <a:pPr algn="ctr"/>
                      <a:r>
                        <a:rPr sz="1200" b="1" i="0">
                          <a:solidFill>
                            <a:srgbClr val="FFFFFF"/>
                          </a:solidFill>
                          <a:latin typeface="Arial"/>
                        </a:rPr>
                        <a:t>Year</a:t>
                      </a:r>
                    </a:p>
                  </a:txBody>
                  <a:tcPr>
                    <a:solidFill>
                      <a:srgbClr val="002060"/>
                    </a:solidFill>
                  </a:tcPr>
                </a:tc>
                <a:tc>
                  <a:txBody>
                    <a:bodyPr wrap="none"/>
                    <a:lstStyle/>
                    <a:p>
                      <a:pPr algn="ctr"/>
                      <a:r>
                        <a:rPr sz="1200" b="1" i="0">
                          <a:solidFill>
                            <a:srgbClr val="FFFFFF"/>
                          </a:solidFill>
                          <a:latin typeface="Arial"/>
                        </a:rPr>
                        <a:t>Date</a:t>
                      </a:r>
                    </a:p>
                  </a:txBody>
                  <a:tcPr>
                    <a:solidFill>
                      <a:srgbClr val="002060"/>
                    </a:solidFill>
                  </a:tcPr>
                </a:tc>
                <a:tc>
                  <a:txBody>
                    <a:bodyPr wrap="none"/>
                    <a:lstStyle/>
                    <a:p>
                      <a:pPr algn="ctr"/>
                      <a:r>
                        <a:rPr sz="1200" b="1" i="0">
                          <a:solidFill>
                            <a:srgbClr val="FFFFFF"/>
                          </a:solidFill>
                          <a:latin typeface="Arial"/>
                        </a:rPr>
                        <a:t>Air Temp</a:t>
                      </a:r>
                    </a:p>
                  </a:txBody>
                  <a:tcPr>
                    <a:solidFill>
                      <a:srgbClr val="002060"/>
                    </a:solidFill>
                  </a:tcPr>
                </a:tc>
                <a:tc>
                  <a:txBody>
                    <a:bodyPr wrap="none"/>
                    <a:lstStyle/>
                    <a:p>
                      <a:pPr algn="ctr"/>
                      <a:r>
                        <a:rPr sz="1200" b="1" i="0">
                          <a:solidFill>
                            <a:srgbClr val="FFFFFF"/>
                          </a:solidFill>
                          <a:latin typeface="Arial"/>
                        </a:rPr>
                        <a:t>Humidity</a:t>
                      </a:r>
                    </a:p>
                  </a:txBody>
                  <a:tcPr>
                    <a:solidFill>
                      <a:srgbClr val="002060"/>
                    </a:solidFill>
                  </a:tcPr>
                </a:tc>
                <a:tc>
                  <a:txBody>
                    <a:bodyPr wrap="none"/>
                    <a:lstStyle/>
                    <a:p>
                      <a:pPr algn="ctr"/>
                      <a:r>
                        <a:rPr sz="1200" b="1" i="0">
                          <a:solidFill>
                            <a:srgbClr val="FFFFFF"/>
                          </a:solidFill>
                          <a:latin typeface="Arial"/>
                        </a:rPr>
                        <a:t>Wind (km/h)</a:t>
                      </a:r>
                    </a:p>
                  </a:txBody>
                  <a:tcPr>
                    <a:solidFill>
                      <a:srgbClr val="002060"/>
                    </a:solidFill>
                  </a:tcPr>
                </a:tc>
                <a:tc>
                  <a:txBody>
                    <a:bodyPr wrap="none"/>
                    <a:lstStyle/>
                    <a:p>
                      <a:pPr algn="ctr"/>
                      <a:r>
                        <a:rPr sz="1200" b="1" i="0">
                          <a:solidFill>
                            <a:srgbClr val="FFFFFF"/>
                          </a:solidFill>
                          <a:latin typeface="Arial"/>
                        </a:rPr>
                        <a:t>Precip (mm)</a:t>
                      </a:r>
                    </a:p>
                  </a:txBody>
                  <a:tcPr>
                    <a:solidFill>
                      <a:srgbClr val="002060"/>
                    </a:solidFill>
                  </a:tcPr>
                </a:tc>
                <a:tc>
                  <a:txBody>
                    <a:bodyPr wrap="none"/>
                    <a:lstStyle/>
                    <a:p>
                      <a:pPr algn="ctr"/>
                      <a:r>
                        <a:rPr sz="1200" b="1" i="0">
                          <a:solidFill>
                            <a:srgbClr val="FFFFFF"/>
                          </a:solidFill>
                          <a:latin typeface="Arial"/>
                        </a:rPr>
                        <a:t>Water Temp</a:t>
                      </a:r>
                    </a:p>
                  </a:txBody>
                  <a:tcPr>
                    <a:solidFill>
                      <a:srgbClr val="002060"/>
                    </a:solidFill>
                  </a:tcPr>
                </a:tc>
                <a:tc>
                  <a:txBody>
                    <a:bodyPr wrap="none"/>
                    <a:lstStyle/>
                    <a:p>
                      <a:pPr algn="ctr"/>
                      <a:r>
                        <a:rPr sz="1200" b="1" i="0">
                          <a:solidFill>
                            <a:srgbClr val="FFFFFF"/>
                          </a:solidFill>
                          <a:latin typeface="Arial"/>
                        </a:rPr>
                        <a:t>Wetsuit</a:t>
                      </a:r>
                    </a:p>
                  </a:txBody>
                  <a:tcPr>
                    <a:solidFill>
                      <a:srgbClr val="002060"/>
                    </a:solidFill>
                  </a:tcPr>
                </a:tc>
                <a:tc>
                  <a:txBody>
                    <a:bodyPr wrap="none"/>
                    <a:lstStyle/>
                    <a:p>
                      <a:pPr algn="ctr"/>
                      <a:r>
                        <a:rPr sz="1200" b="1" i="0">
                          <a:solidFill>
                            <a:srgbClr val="FFFFFF"/>
                          </a:solidFill>
                          <a:latin typeface="Arial"/>
                        </a:rPr>
                        <a:t>Conditions</a:t>
                      </a:r>
                    </a:p>
                  </a:txBody>
                  <a:tcPr>
                    <a:solidFill>
                      <a:srgbClr val="002060"/>
                    </a:solidFill>
                  </a:tcPr>
                </a:tc>
              </a:tr>
              <a:tr h="457200">
                <a:tc>
                  <a:txBody>
                    <a:bodyPr wrap="none"/>
                    <a:lstStyle/>
                    <a:p>
                      <a:pPr algn="ctr"/>
                      <a:r>
                        <a:rPr sz="1000" b="0" i="0">
                          <a:solidFill>
                            <a:srgbClr val="262626"/>
                          </a:solidFill>
                          <a:latin typeface="Arial"/>
                        </a:rPr>
                        <a:t>2018</a:t>
                      </a:r>
                    </a:p>
                  </a:txBody>
                  <a:tcPr>
                    <a:solidFill>
                      <a:srgbClr val="FFFFFF"/>
                    </a:solidFill>
                  </a:tcPr>
                </a:tc>
                <a:tc>
                  <a:txBody>
                    <a:bodyPr wrap="none"/>
                    <a:lstStyle/>
                    <a:p>
                      <a:pPr algn="ctr"/>
                      <a:r>
                        <a:rPr sz="1000" b="0" i="0">
                          <a:solidFill>
                            <a:srgbClr val="262626"/>
                          </a:solidFill>
                          <a:latin typeface="Arial"/>
                        </a:rPr>
                        <a:t>Sep 22</a:t>
                      </a:r>
                    </a:p>
                  </a:txBody>
                  <a:tcPr>
                    <a:solidFill>
                      <a:srgbClr val="FFFFFF"/>
                    </a:solidFill>
                  </a:tcPr>
                </a:tc>
                <a:tc>
                  <a:txBody>
                    <a:bodyPr wrap="none"/>
                    <a:lstStyle/>
                    <a:p>
                      <a:pPr algn="ctr"/>
                      <a:r>
                        <a:rPr sz="1000" b="0" i="0">
                          <a:solidFill>
                            <a:srgbClr val="262626"/>
                          </a:solidFill>
                          <a:latin typeface="Arial"/>
                        </a:rPr>
                        <a:t>23.5°*</a:t>
                      </a:r>
                    </a:p>
                  </a:txBody>
                  <a:tcPr>
                    <a:solidFill>
                      <a:srgbClr val="FFFFFF"/>
                    </a:solidFill>
                  </a:tcPr>
                </a:tc>
                <a:tc>
                  <a:txBody>
                    <a:bodyPr wrap="none"/>
                    <a:lstStyle/>
                    <a:p>
                      <a:pPr algn="ctr"/>
                      <a:r>
                        <a:rPr sz="1000" b="0" i="0">
                          <a:solidFill>
                            <a:srgbClr val="262626"/>
                          </a:solidFill>
                          <a:latin typeface="Arial"/>
                        </a:rPr>
                        <a:t>39%</a:t>
                      </a:r>
                    </a:p>
                  </a:txBody>
                  <a:tcPr>
                    <a:solidFill>
                      <a:srgbClr val="FFFFFF"/>
                    </a:solidFill>
                  </a:tcPr>
                </a:tc>
                <a:tc>
                  <a:txBody>
                    <a:bodyPr wrap="none"/>
                    <a:lstStyle/>
                    <a:p>
                      <a:pPr algn="ctr"/>
                      <a:r>
                        <a:rPr sz="1000" b="0" i="0">
                          <a:solidFill>
                            <a:srgbClr val="262626"/>
                          </a:solidFill>
                          <a:latin typeface="Arial"/>
                        </a:rPr>
                        <a:t>9</a:t>
                      </a:r>
                    </a:p>
                  </a:txBody>
                  <a:tcPr>
                    <a:solidFill>
                      <a:srgbClr val="FFFFFF"/>
                    </a:solidFill>
                  </a:tcPr>
                </a:tc>
                <a:tc>
                  <a:txBody>
                    <a:bodyPr wrap="none"/>
                    <a:lstStyle/>
                    <a:p>
                      <a:pPr algn="ctr"/>
                      <a:r>
                        <a:rPr sz="1000" b="0" i="0">
                          <a:solidFill>
                            <a:srgbClr val="262626"/>
                          </a:solidFill>
                          <a:latin typeface="Arial"/>
                        </a:rPr>
                        <a:t>0.0</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l"/>
                      <a:r>
                        <a:rPr sz="1000" b="0" i="0">
                          <a:solidFill>
                            <a:srgbClr val="262626"/>
                          </a:solidFill>
                          <a:latin typeface="Arial"/>
                        </a:rPr>
                        <a:t>—</a:t>
                      </a:r>
                    </a:p>
                  </a:txBody>
                  <a:tcPr>
                    <a:solidFill>
                      <a:srgbClr val="FFFFFF"/>
                    </a:solidFill>
                  </a:tcPr>
                </a:tc>
              </a:tr>
              <a:tr h="457200">
                <a:tc>
                  <a:txBody>
                    <a:bodyPr wrap="none"/>
                    <a:lstStyle/>
                    <a:p>
                      <a:pPr algn="ctr"/>
                      <a:r>
                        <a:rPr sz="1000" b="0" i="0">
                          <a:solidFill>
                            <a:srgbClr val="262626"/>
                          </a:solidFill>
                          <a:latin typeface="Arial"/>
                        </a:rPr>
                        <a:t>2019</a:t>
                      </a:r>
                    </a:p>
                  </a:txBody>
                  <a:tcPr>
                    <a:solidFill>
                      <a:srgbClr val="F2F2F2"/>
                    </a:solidFill>
                  </a:tcPr>
                </a:tc>
                <a:tc>
                  <a:txBody>
                    <a:bodyPr wrap="none"/>
                    <a:lstStyle/>
                    <a:p>
                      <a:pPr algn="ctr"/>
                      <a:r>
                        <a:rPr sz="1000" b="0" i="0">
                          <a:solidFill>
                            <a:srgbClr val="262626"/>
                          </a:solidFill>
                          <a:latin typeface="Arial"/>
                        </a:rPr>
                        <a:t>Sep 21</a:t>
                      </a:r>
                    </a:p>
                  </a:txBody>
                  <a:tcPr>
                    <a:solidFill>
                      <a:srgbClr val="F2F2F2"/>
                    </a:solidFill>
                  </a:tcPr>
                </a:tc>
                <a:tc>
                  <a:txBody>
                    <a:bodyPr wrap="none"/>
                    <a:lstStyle/>
                    <a:p>
                      <a:pPr algn="ctr"/>
                      <a:r>
                        <a:rPr sz="1000" b="0" i="0">
                          <a:solidFill>
                            <a:srgbClr val="262626"/>
                          </a:solidFill>
                          <a:latin typeface="Arial"/>
                        </a:rPr>
                        <a:t>23.3°*</a:t>
                      </a:r>
                    </a:p>
                  </a:txBody>
                  <a:tcPr>
                    <a:solidFill>
                      <a:srgbClr val="F2F2F2"/>
                    </a:solidFill>
                  </a:tcPr>
                </a:tc>
                <a:tc>
                  <a:txBody>
                    <a:bodyPr wrap="none"/>
                    <a:lstStyle/>
                    <a:p>
                      <a:pPr algn="ctr"/>
                      <a:r>
                        <a:rPr sz="1000" b="0" i="0">
                          <a:solidFill>
                            <a:srgbClr val="262626"/>
                          </a:solidFill>
                          <a:latin typeface="Arial"/>
                        </a:rPr>
                        <a:t>66%</a:t>
                      </a:r>
                    </a:p>
                  </a:txBody>
                  <a:tcPr>
                    <a:solidFill>
                      <a:srgbClr val="F2F2F2"/>
                    </a:solidFill>
                  </a:tcPr>
                </a:tc>
                <a:tc>
                  <a:txBody>
                    <a:bodyPr wrap="none"/>
                    <a:lstStyle/>
                    <a:p>
                      <a:pPr algn="ctr"/>
                      <a:r>
                        <a:rPr sz="1000" b="0" i="0">
                          <a:solidFill>
                            <a:srgbClr val="262626"/>
                          </a:solidFill>
                          <a:latin typeface="Arial"/>
                        </a:rPr>
                        <a:t>20</a:t>
                      </a:r>
                    </a:p>
                  </a:txBody>
                  <a:tcPr>
                    <a:solidFill>
                      <a:srgbClr val="F2F2F2"/>
                    </a:solidFill>
                  </a:tcPr>
                </a:tc>
                <a:tc>
                  <a:txBody>
                    <a:bodyPr wrap="none"/>
                    <a:lstStyle/>
                    <a:p>
                      <a:pPr algn="ctr"/>
                      <a:r>
                        <a:rPr sz="1000" b="0" i="0">
                          <a:solidFill>
                            <a:srgbClr val="262626"/>
                          </a:solidFill>
                          <a:latin typeface="Arial"/>
                        </a:rPr>
                        <a:t>0.0</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l"/>
                      <a:r>
                        <a:rPr sz="1000" b="0" i="0">
                          <a:solidFill>
                            <a:srgbClr val="262626"/>
                          </a:solidFill>
                          <a:latin typeface="Arial"/>
                        </a:rPr>
                        <a:t>—</a:t>
                      </a:r>
                    </a:p>
                  </a:txBody>
                  <a:tcPr>
                    <a:solidFill>
                      <a:srgbClr val="F2F2F2"/>
                    </a:solidFill>
                  </a:tcPr>
                </a:tc>
              </a:tr>
              <a:tr h="457200">
                <a:tc>
                  <a:txBody>
                    <a:bodyPr wrap="none"/>
                    <a:lstStyle/>
                    <a:p>
                      <a:pPr algn="ctr"/>
                      <a:r>
                        <a:rPr sz="1000" b="0" i="0">
                          <a:solidFill>
                            <a:srgbClr val="262626"/>
                          </a:solidFill>
                          <a:latin typeface="Arial"/>
                        </a:rPr>
                        <a:t>2023</a:t>
                      </a:r>
                    </a:p>
                  </a:txBody>
                  <a:tcPr>
                    <a:solidFill>
                      <a:srgbClr val="FFFFFF"/>
                    </a:solidFill>
                  </a:tcPr>
                </a:tc>
                <a:tc>
                  <a:txBody>
                    <a:bodyPr wrap="none"/>
                    <a:lstStyle/>
                    <a:p>
                      <a:pPr algn="ctr"/>
                      <a:r>
                        <a:rPr sz="1000" b="0" i="0">
                          <a:solidFill>
                            <a:srgbClr val="262626"/>
                          </a:solidFill>
                          <a:latin typeface="Arial"/>
                        </a:rPr>
                        <a:t>Aug 26</a:t>
                      </a:r>
                    </a:p>
                  </a:txBody>
                  <a:tcPr>
                    <a:solidFill>
                      <a:srgbClr val="FFFFFF"/>
                    </a:solidFill>
                  </a:tcPr>
                </a:tc>
                <a:tc>
                  <a:txBody>
                    <a:bodyPr wrap="none"/>
                    <a:lstStyle/>
                    <a:p>
                      <a:pPr algn="ctr"/>
                      <a:r>
                        <a:rPr sz="1000" b="0" i="0">
                          <a:solidFill>
                            <a:srgbClr val="262626"/>
                          </a:solidFill>
                          <a:latin typeface="Arial"/>
                        </a:rPr>
                        <a:t>27.2</a:t>
                      </a:r>
                    </a:p>
                  </a:txBody>
                  <a:tcPr>
                    <a:solidFill>
                      <a:srgbClr val="FFFFFF"/>
                    </a:solidFill>
                  </a:tcPr>
                </a:tc>
                <a:tc>
                  <a:txBody>
                    <a:bodyPr wrap="none"/>
                    <a:lstStyle/>
                    <a:p>
                      <a:pPr algn="ctr"/>
                      <a:r>
                        <a:rPr sz="1000" b="0" i="0">
                          <a:solidFill>
                            <a:srgbClr val="262626"/>
                          </a:solidFill>
                          <a:latin typeface="Arial"/>
                        </a:rPr>
                        <a:t>60%</a:t>
                      </a:r>
                    </a:p>
                  </a:txBody>
                  <a:tcPr>
                    <a:solidFill>
                      <a:srgbClr val="FFFFFF"/>
                    </a:solidFill>
                  </a:tcPr>
                </a:tc>
                <a:tc>
                  <a:txBody>
                    <a:bodyPr wrap="none"/>
                    <a:lstStyle/>
                    <a:p>
                      <a:pPr algn="ctr"/>
                      <a:r>
                        <a:rPr sz="1000" b="0" i="0">
                          <a:solidFill>
                            <a:srgbClr val="262626"/>
                          </a:solidFill>
                          <a:latin typeface="Arial"/>
                        </a:rPr>
                        <a:t>16</a:t>
                      </a:r>
                    </a:p>
                  </a:txBody>
                  <a:tcPr>
                    <a:solidFill>
                      <a:srgbClr val="FFFFFF"/>
                    </a:solidFill>
                  </a:tcPr>
                </a:tc>
                <a:tc>
                  <a:txBody>
                    <a:bodyPr wrap="none"/>
                    <a:lstStyle/>
                    <a:p>
                      <a:pPr algn="ctr"/>
                      <a:r>
                        <a:rPr sz="1000" b="0" i="0">
                          <a:solidFill>
                            <a:srgbClr val="262626"/>
                          </a:solidFill>
                          <a:latin typeface="Arial"/>
                        </a:rPr>
                        <a:t>0.0</a:t>
                      </a:r>
                    </a:p>
                  </a:txBody>
                  <a:tcPr>
                    <a:solidFill>
                      <a:srgbClr val="FFFFFF"/>
                    </a:solidFill>
                  </a:tcPr>
                </a:tc>
                <a:tc>
                  <a:txBody>
                    <a:bodyPr wrap="none"/>
                    <a:lstStyle/>
                    <a:p>
                      <a:pPr algn="ctr"/>
                      <a:r>
                        <a:rPr sz="1000" b="0" i="0">
                          <a:solidFill>
                            <a:srgbClr val="262626"/>
                          </a:solidFill>
                          <a:latin typeface="Arial"/>
                        </a:rPr>
                        <a:t>25.8</a:t>
                      </a:r>
                    </a:p>
                  </a:txBody>
                  <a:tcPr>
                    <a:solidFill>
                      <a:srgbClr val="FFFFFF"/>
                    </a:solidFill>
                  </a:tcPr>
                </a:tc>
                <a:tc>
                  <a:txBody>
                    <a:bodyPr wrap="none"/>
                    <a:lstStyle/>
                    <a:p>
                      <a:pPr algn="ctr"/>
                      <a:r>
                        <a:rPr sz="1000" b="0" i="0">
                          <a:solidFill>
                            <a:srgbClr val="262626"/>
                          </a:solidFill>
                          <a:latin typeface="Arial"/>
                        </a:rPr>
                        <a:t>forbidden</a:t>
                      </a:r>
                    </a:p>
                  </a:txBody>
                  <a:tcPr>
                    <a:solidFill>
                      <a:srgbClr val="FFFFFF"/>
                    </a:solidFill>
                  </a:tcPr>
                </a:tc>
                <a:tc>
                  <a:txBody>
                    <a:bodyPr wrap="none"/>
                    <a:lstStyle/>
                    <a:p>
                      <a:pPr algn="l"/>
                      <a:r>
                        <a:rPr sz="1000" b="0" i="0">
                          <a:solidFill>
                            <a:srgbClr val="262626"/>
                          </a:solidFill>
                          <a:latin typeface="Arial"/>
                        </a:rPr>
                        <a:t>—</a:t>
                      </a:r>
                    </a:p>
                  </a:txBody>
                  <a:tcPr>
                    <a:solidFill>
                      <a:srgbClr val="FFFFFF"/>
                    </a:solidFill>
                  </a:tcPr>
                </a:tc>
              </a:tr>
              <a:tr h="457200">
                <a:tc>
                  <a:txBody>
                    <a:bodyPr wrap="none"/>
                    <a:lstStyle/>
                    <a:p>
                      <a:pPr algn="ctr"/>
                      <a:r>
                        <a:rPr sz="1000" b="0" i="0">
                          <a:solidFill>
                            <a:srgbClr val="262626"/>
                          </a:solidFill>
                          <a:latin typeface="Arial"/>
                        </a:rPr>
                        <a:t>2024</a:t>
                      </a:r>
                    </a:p>
                  </a:txBody>
                  <a:tcPr>
                    <a:solidFill>
                      <a:srgbClr val="F2F2F2"/>
                    </a:solidFill>
                  </a:tcPr>
                </a:tc>
                <a:tc>
                  <a:txBody>
                    <a:bodyPr wrap="none"/>
                    <a:lstStyle/>
                    <a:p>
                      <a:pPr algn="ctr"/>
                      <a:r>
                        <a:rPr sz="1000" b="0" i="0">
                          <a:solidFill>
                            <a:srgbClr val="262626"/>
                          </a:solidFill>
                          <a:latin typeface="Arial"/>
                        </a:rPr>
                        <a:t>Sep 27</a:t>
                      </a:r>
                    </a:p>
                  </a:txBody>
                  <a:tcPr>
                    <a:solidFill>
                      <a:srgbClr val="F2F2F2"/>
                    </a:solidFill>
                  </a:tcPr>
                </a:tc>
                <a:tc>
                  <a:txBody>
                    <a:bodyPr wrap="none"/>
                    <a:lstStyle/>
                    <a:p>
                      <a:pPr algn="ctr"/>
                      <a:r>
                        <a:rPr sz="1000" b="0" i="0">
                          <a:solidFill>
                            <a:srgbClr val="262626"/>
                          </a:solidFill>
                          <a:latin typeface="Arial"/>
                        </a:rPr>
                        <a:t>24.1</a:t>
                      </a:r>
                    </a:p>
                  </a:txBody>
                  <a:tcPr>
                    <a:solidFill>
                      <a:srgbClr val="F2F2F2"/>
                    </a:solidFill>
                  </a:tcPr>
                </a:tc>
                <a:tc>
                  <a:txBody>
                    <a:bodyPr wrap="none"/>
                    <a:lstStyle/>
                    <a:p>
                      <a:pPr algn="ctr"/>
                      <a:r>
                        <a:rPr sz="1000" b="0" i="0">
                          <a:solidFill>
                            <a:srgbClr val="262626"/>
                          </a:solidFill>
                          <a:latin typeface="Arial"/>
                        </a:rPr>
                        <a:t>62%</a:t>
                      </a:r>
                    </a:p>
                  </a:txBody>
                  <a:tcPr>
                    <a:solidFill>
                      <a:srgbClr val="F2F2F2"/>
                    </a:solidFill>
                  </a:tcPr>
                </a:tc>
                <a:tc>
                  <a:txBody>
                    <a:bodyPr wrap="none"/>
                    <a:lstStyle/>
                    <a:p>
                      <a:pPr algn="ctr"/>
                      <a:r>
                        <a:rPr sz="1000" b="0" i="0">
                          <a:solidFill>
                            <a:srgbClr val="262626"/>
                          </a:solidFill>
                          <a:latin typeface="Arial"/>
                        </a:rPr>
                        <a:t>14</a:t>
                      </a:r>
                    </a:p>
                  </a:txBody>
                  <a:tcPr>
                    <a:solidFill>
                      <a:srgbClr val="F2F2F2"/>
                    </a:solidFill>
                  </a:tcPr>
                </a:tc>
                <a:tc>
                  <a:txBody>
                    <a:bodyPr wrap="none"/>
                    <a:lstStyle/>
                    <a:p>
                      <a:pPr algn="ctr"/>
                      <a:r>
                        <a:rPr sz="1000" b="0" i="0">
                          <a:solidFill>
                            <a:srgbClr val="262626"/>
                          </a:solidFill>
                          <a:latin typeface="Arial"/>
                        </a:rPr>
                        <a:t>0.0</a:t>
                      </a:r>
                    </a:p>
                  </a:txBody>
                  <a:tcPr>
                    <a:solidFill>
                      <a:srgbClr val="F2F2F2"/>
                    </a:solidFill>
                  </a:tcPr>
                </a:tc>
                <a:tc>
                  <a:txBody>
                    <a:bodyPr wrap="none"/>
                    <a:lstStyle/>
                    <a:p>
                      <a:pPr algn="ctr"/>
                      <a:r>
                        <a:rPr sz="1000" b="0" i="0">
                          <a:solidFill>
                            <a:srgbClr val="262626"/>
                          </a:solidFill>
                          <a:latin typeface="Arial"/>
                        </a:rPr>
                        <a:t>24.4</a:t>
                      </a:r>
                    </a:p>
                  </a:txBody>
                  <a:tcPr>
                    <a:solidFill>
                      <a:srgbClr val="F2F2F2"/>
                    </a:solidFill>
                  </a:tcPr>
                </a:tc>
                <a:tc>
                  <a:txBody>
                    <a:bodyPr wrap="none"/>
                    <a:lstStyle/>
                    <a:p>
                      <a:pPr algn="ctr"/>
                      <a:r>
                        <a:rPr sz="1000" b="0" i="0">
                          <a:solidFill>
                            <a:srgbClr val="262626"/>
                          </a:solidFill>
                          <a:latin typeface="Arial"/>
                        </a:rPr>
                        <a:t>forbidden</a:t>
                      </a:r>
                    </a:p>
                  </a:txBody>
                  <a:tcPr>
                    <a:solidFill>
                      <a:srgbClr val="F2F2F2"/>
                    </a:solidFill>
                  </a:tcPr>
                </a:tc>
                <a:tc>
                  <a:txBody>
                    <a:bodyPr wrap="none"/>
                    <a:lstStyle/>
                    <a:p>
                      <a:pPr algn="l"/>
                      <a:r>
                        <a:rPr sz="1000" b="0" i="0">
                          <a:solidFill>
                            <a:srgbClr val="262626"/>
                          </a:solidFill>
                          <a:latin typeface="Arial"/>
                        </a:rPr>
                        <a:t>—</a:t>
                      </a:r>
                    </a:p>
                  </a:txBody>
                  <a:tcPr>
                    <a:solidFill>
                      <a:srgbClr val="F2F2F2"/>
                    </a:solidFill>
                  </a:tcPr>
                </a:tc>
              </a:tr>
              <a:tr h="457200">
                <a:tc>
                  <a:txBody>
                    <a:bodyPr wrap="none"/>
                    <a:lstStyle/>
                    <a:p>
                      <a:pPr algn="ctr"/>
                      <a:r>
                        <a:rPr sz="1000" b="0" i="0">
                          <a:solidFill>
                            <a:srgbClr val="262626"/>
                          </a:solidFill>
                          <a:latin typeface="Arial"/>
                        </a:rPr>
                        <a:t>2025</a:t>
                      </a:r>
                    </a:p>
                  </a:txBody>
                  <a:tcPr>
                    <a:solidFill>
                      <a:srgbClr val="FFFFFF"/>
                    </a:solidFill>
                  </a:tcPr>
                </a:tc>
                <a:tc>
                  <a:txBody>
                    <a:bodyPr wrap="none"/>
                    <a:lstStyle/>
                    <a:p>
                      <a:pPr algn="ctr"/>
                      <a:r>
                        <a:rPr sz="1000" b="0" i="0">
                          <a:solidFill>
                            <a:srgbClr val="262626"/>
                          </a:solidFill>
                          <a:latin typeface="Arial"/>
                        </a:rPr>
                        <a:t>Sep 26</a:t>
                      </a:r>
                    </a:p>
                  </a:txBody>
                  <a:tcPr>
                    <a:solidFill>
                      <a:srgbClr val="FFFFFF"/>
                    </a:solidFill>
                  </a:tcPr>
                </a:tc>
                <a:tc>
                  <a:txBody>
                    <a:bodyPr wrap="none"/>
                    <a:lstStyle/>
                    <a:p>
                      <a:pPr algn="ctr"/>
                      <a:r>
                        <a:rPr sz="1000" b="0" i="0">
                          <a:solidFill>
                            <a:srgbClr val="262626"/>
                          </a:solidFill>
                          <a:latin typeface="Arial"/>
                        </a:rPr>
                        <a:t>24.9</a:t>
                      </a:r>
                    </a:p>
                  </a:txBody>
                  <a:tcPr>
                    <a:solidFill>
                      <a:srgbClr val="FFFFFF"/>
                    </a:solidFill>
                  </a:tcPr>
                </a:tc>
                <a:tc>
                  <a:txBody>
                    <a:bodyPr wrap="none"/>
                    <a:lstStyle/>
                    <a:p>
                      <a:pPr algn="ctr"/>
                      <a:r>
                        <a:rPr sz="1000" b="0" i="0">
                          <a:solidFill>
                            <a:srgbClr val="262626"/>
                          </a:solidFill>
                          <a:latin typeface="Arial"/>
                        </a:rPr>
                        <a:t>78%</a:t>
                      </a:r>
                    </a:p>
                  </a:txBody>
                  <a:tcPr>
                    <a:solidFill>
                      <a:srgbClr val="FFFFFF"/>
                    </a:solidFill>
                  </a:tcPr>
                </a:tc>
                <a:tc>
                  <a:txBody>
                    <a:bodyPr wrap="none"/>
                    <a:lstStyle/>
                    <a:p>
                      <a:pPr algn="ctr"/>
                      <a:r>
                        <a:rPr sz="1000" b="0" i="0">
                          <a:solidFill>
                            <a:srgbClr val="262626"/>
                          </a:solidFill>
                          <a:latin typeface="Arial"/>
                        </a:rPr>
                        <a:t>8</a:t>
                      </a:r>
                    </a:p>
                  </a:txBody>
                  <a:tcPr>
                    <a:solidFill>
                      <a:srgbClr val="FFFFFF"/>
                    </a:solidFill>
                  </a:tcPr>
                </a:tc>
                <a:tc>
                  <a:txBody>
                    <a:bodyPr wrap="none"/>
                    <a:lstStyle/>
                    <a:p>
                      <a:pPr algn="ctr"/>
                      <a:r>
                        <a:rPr sz="1000" b="0" i="0">
                          <a:solidFill>
                            <a:srgbClr val="262626"/>
                          </a:solidFill>
                          <a:latin typeface="Arial"/>
                        </a:rPr>
                        <a:t>0.0</a:t>
                      </a:r>
                    </a:p>
                  </a:txBody>
                  <a:tcPr>
                    <a:solidFill>
                      <a:srgbClr val="FFFFFF"/>
                    </a:solidFill>
                  </a:tcPr>
                </a:tc>
                <a:tc>
                  <a:txBody>
                    <a:bodyPr wrap="none"/>
                    <a:lstStyle/>
                    <a:p>
                      <a:pPr algn="ctr"/>
                      <a:r>
                        <a:rPr sz="1000" b="0" i="0">
                          <a:solidFill>
                            <a:srgbClr val="262626"/>
                          </a:solidFill>
                          <a:latin typeface="Arial"/>
                        </a:rPr>
                        <a:t>24.2</a:t>
                      </a:r>
                    </a:p>
                  </a:txBody>
                  <a:tcPr>
                    <a:solidFill>
                      <a:srgbClr val="FFFFFF"/>
                    </a:solidFill>
                  </a:tcPr>
                </a:tc>
                <a:tc>
                  <a:txBody>
                    <a:bodyPr wrap="none"/>
                    <a:lstStyle/>
                    <a:p>
                      <a:pPr algn="ctr"/>
                      <a:r>
                        <a:rPr sz="1000" b="0" i="0">
                          <a:solidFill>
                            <a:srgbClr val="262626"/>
                          </a:solidFill>
                          <a:latin typeface="Arial"/>
                        </a:rPr>
                        <a:t>forbidden</a:t>
                      </a:r>
                    </a:p>
                  </a:txBody>
                  <a:tcPr>
                    <a:solidFill>
                      <a:srgbClr val="FFFFFF"/>
                    </a:solidFill>
                  </a:tcPr>
                </a:tc>
                <a:tc>
                  <a:txBody>
                    <a:bodyPr wrap="none"/>
                    <a:lstStyle/>
                    <a:p>
                      <a:pPr algn="l"/>
                      <a:r>
                        <a:rPr sz="1000" b="0" i="0">
                          <a:solidFill>
                            <a:srgbClr val="262626"/>
                          </a:solidFill>
                          <a:latin typeface="Arial"/>
                        </a:rPr>
                        <a:t>—</a:t>
                      </a:r>
                    </a:p>
                  </a:txBody>
                  <a:tcPr>
                    <a:solidFill>
                      <a:srgbClr val="FFFFFF"/>
                    </a:solidFill>
                  </a:tcPr>
                </a:tc>
              </a:tr>
              <a:tr h="457200">
                <a:tc>
                  <a:txBody>
                    <a:bodyPr wrap="none"/>
                    <a:lstStyle/>
                    <a:p>
                      <a:pPr algn="ctr"/>
                      <a:r>
                        <a:rPr sz="1000" b="0" i="0">
                          <a:solidFill>
                            <a:srgbClr val="262626"/>
                          </a:solidFill>
                          <a:latin typeface="Arial"/>
                        </a:rPr>
                        <a:t>2026</a:t>
                      </a:r>
                    </a:p>
                  </a:txBody>
                  <a:tcPr>
                    <a:solidFill>
                      <a:srgbClr val="F2F2F2"/>
                    </a:solidFill>
                  </a:tcPr>
                </a:tc>
                <a:tc>
                  <a:txBody>
                    <a:bodyPr wrap="none"/>
                    <a:lstStyle/>
                    <a:p>
                      <a:pPr algn="ctr"/>
                      <a:r>
                        <a:rPr sz="1000" b="0" i="0">
                          <a:solidFill>
                            <a:srgbClr val="262626"/>
                          </a:solidFill>
                          <a:latin typeface="Arial"/>
                        </a:rPr>
                        <a:t>Aug 29</a:t>
                      </a:r>
                    </a:p>
                  </a:txBody>
                  <a:tcPr>
                    <a:solidFill>
                      <a:srgbClr val="F2F2F2"/>
                    </a:solidFill>
                  </a:tcPr>
                </a:tc>
                <a:tc>
                  <a:txBody>
                    <a:bodyPr wrap="none"/>
                    <a:lstStyle/>
                    <a:p>
                      <a:pPr algn="ctr"/>
                      <a:r>
                        <a:rPr sz="1000" b="0" i="0">
                          <a:solidFill>
                            <a:srgbClr val="262626"/>
                          </a:solidFill>
                          <a:latin typeface="Arial"/>
                        </a:rPr>
                        <a:t>24.1</a:t>
                      </a:r>
                    </a:p>
                  </a:txBody>
                  <a:tcPr>
                    <a:solidFill>
                      <a:srgbClr val="F2F2F2"/>
                    </a:solidFill>
                  </a:tcPr>
                </a:tc>
                <a:tc>
                  <a:txBody>
                    <a:bodyPr wrap="none"/>
                    <a:lstStyle/>
                    <a:p>
                      <a:pPr algn="ctr"/>
                      <a:r>
                        <a:rPr sz="1000" b="0" i="0">
                          <a:solidFill>
                            <a:srgbClr val="262626"/>
                          </a:solidFill>
                          <a:latin typeface="Arial"/>
                        </a:rPr>
                        <a:t>84%</a:t>
                      </a:r>
                    </a:p>
                  </a:txBody>
                  <a:tcPr>
                    <a:solidFill>
                      <a:srgbClr val="F2F2F2"/>
                    </a:solidFill>
                  </a:tcPr>
                </a:tc>
                <a:tc>
                  <a:txBody>
                    <a:bodyPr wrap="none"/>
                    <a:lstStyle/>
                    <a:p>
                      <a:pPr algn="ctr"/>
                      <a:r>
                        <a:rPr sz="1000" b="0" i="0">
                          <a:solidFill>
                            <a:srgbClr val="262626"/>
                          </a:solidFill>
                          <a:latin typeface="Arial"/>
                        </a:rPr>
                        <a:t>9</a:t>
                      </a:r>
                    </a:p>
                  </a:txBody>
                  <a:tcPr>
                    <a:solidFill>
                      <a:srgbClr val="F2F2F2"/>
                    </a:solidFill>
                  </a:tcPr>
                </a:tc>
                <a:tc>
                  <a:txBody>
                    <a:bodyPr wrap="none"/>
                    <a:lstStyle/>
                    <a:p>
                      <a:pPr algn="ctr"/>
                      <a:r>
                        <a:rPr sz="1000" b="0" i="0">
                          <a:solidFill>
                            <a:srgbClr val="262626"/>
                          </a:solidFill>
                          <a:latin typeface="Arial"/>
                        </a:rPr>
                        <a:t>1.3</a:t>
                      </a:r>
                    </a:p>
                  </a:txBody>
                  <a:tcPr>
                    <a:solidFill>
                      <a:srgbClr val="F2F2F2"/>
                    </a:solidFill>
                  </a:tcPr>
                </a:tc>
                <a:tc>
                  <a:txBody>
                    <a:bodyPr wrap="none"/>
                    <a:lstStyle/>
                    <a:p>
                      <a:pPr algn="ctr"/>
                      <a:r>
                        <a:rPr sz="1000" b="0" i="0">
                          <a:solidFill>
                            <a:srgbClr val="262626"/>
                          </a:solidFill>
                          <a:latin typeface="Arial"/>
                        </a:rPr>
                        <a:t>26.3</a:t>
                      </a:r>
                    </a:p>
                  </a:txBody>
                  <a:tcPr>
                    <a:solidFill>
                      <a:srgbClr val="F2F2F2"/>
                    </a:solidFill>
                  </a:tcPr>
                </a:tc>
                <a:tc>
                  <a:txBody>
                    <a:bodyPr wrap="none"/>
                    <a:lstStyle/>
                    <a:p>
                      <a:pPr algn="ctr"/>
                      <a:r>
                        <a:rPr sz="1000" b="0" i="0">
                          <a:solidFill>
                            <a:srgbClr val="262626"/>
                          </a:solidFill>
                          <a:latin typeface="Arial"/>
                        </a:rPr>
                        <a:t>forbidden</a:t>
                      </a:r>
                    </a:p>
                  </a:txBody>
                  <a:tcPr>
                    <a:solidFill>
                      <a:srgbClr val="F2F2F2"/>
                    </a:solidFill>
                  </a:tcPr>
                </a:tc>
                <a:tc>
                  <a:txBody>
                    <a:bodyPr wrap="none"/>
                    <a:lstStyle/>
                    <a:p>
                      <a:pPr algn="l"/>
                      <a:r>
                        <a:rPr sz="1000" b="0" i="0">
                          <a:solidFill>
                            <a:srgbClr val="262626"/>
                          </a:solidFill>
                          <a:latin typeface="Arial"/>
                        </a:rPr>
                        <a:t>—</a:t>
                      </a:r>
                    </a:p>
                  </a:txBody>
                  <a:tcPr>
                    <a:solidFill>
                      <a:srgbClr val="F2F2F2"/>
                    </a:solidFill>
                  </a:tcPr>
                </a:tc>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09:00–14:00 local) where WT API data is absent. Values marked * are Open-Meteo estimates. Water temp and wetsuit ruling are from the World Triathlon API per program.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WOMEN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WEIHAI</a:t>
            </a:r>
          </a:p>
        </p:txBody>
      </p:sp>
      <p:sp>
        <p:nvSpPr>
          <p:cNvPr id="10" name="TextBox 9"/>
          <p:cNvSpPr txBox="1"/>
          <p:nvPr/>
        </p:nvSpPr>
        <p:spPr>
          <a:xfrm>
            <a:off x="274320" y="1508760"/>
            <a:ext cx="6400800" cy="5074920"/>
          </a:xfrm>
          <a:prstGeom prst="rect">
            <a:avLst/>
          </a:prstGeom>
          <a:noFill/>
        </p:spPr>
        <p:txBody>
          <a:bodyPr wrap="square">
            <a:spAutoFit/>
          </a:bodyPr>
          <a:lstStyle/>
          <a:p>
            <a:pPr algn="l"/>
            <a:r>
              <a:rPr sz="1200" b="0" i="0">
                <a:solidFill>
                  <a:srgbClr val="262626"/>
                </a:solidFill>
                <a:latin typeface="Arial"/>
              </a:rPr>
              <a:t>The Elite Women race at Weihai has been held 6 times in this analysis window (2018–2026). The event is staged as part of the World Cup / World Championship Series calendar.
[PLACEHOLDER: Add 1–2 sentences on notable storylines, competitive history, or what makes this event significant for Elite Women athletes. E.g. defending champions, record performances, dramatic finishes.]</a:t>
            </a: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1572768"/>
          </a:xfrm>
          <a:prstGeom prst="rect">
            <a:avLst/>
          </a:prstGeom>
          <a:noFill/>
        </p:spPr>
        <p:txBody>
          <a:bodyPr wrap="square">
            <a:spAutoFit/>
          </a:bodyPr>
          <a:lstStyle/>
          <a:p>
            <a:pPr algn="l"/>
            <a:r>
              <a:rPr sz="1100" b="0" i="0">
                <a:solidFill>
                  <a:srgbClr val="262626"/>
                </a:solidFill>
                <a:latin typeface="Arial"/>
              </a:rPr>
              <a:t>Fast swimming is decisive — only ~14 athletes typically leave the water together. A strong swim directly builds a race-winning gap before T1.</a:t>
            </a: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1572768"/>
          </a:xfrm>
          <a:prstGeom prst="rect">
            <a:avLst/>
          </a:prstGeom>
          <a:noFill/>
        </p:spPr>
        <p:txBody>
          <a:bodyPr wrap="square">
            <a:spAutoFit/>
          </a:bodyPr>
          <a:lstStyle/>
          <a:p>
            <a:pPr algn="l"/>
            <a:r>
              <a:rPr sz="1100" b="0" i="0">
                <a:solidFill>
                  <a:srgbClr val="262626"/>
                </a:solidFill>
                <a:latin typeface="Arial"/>
              </a:rPr>
              <a:t>[PLACEHOLDER: Key 2 — Describe bike strategy: is this a pack race or do breakaways form? What power/tactics are needed to stay in the lead group?]</a:t>
            </a: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1572768"/>
          </a:xfrm>
          <a:prstGeom prst="rect">
            <a:avLst/>
          </a:prstGeom>
          <a:noFill/>
        </p:spPr>
        <p:txBody>
          <a:bodyPr wrap="square">
            <a:spAutoFit/>
          </a:bodyPr>
          <a:lstStyle/>
          <a:p>
            <a:pPr algn="l"/>
            <a:r>
              <a:rPr sz="1100" b="0" i="0">
                <a:solidFill>
                  <a:srgbClr val="262626"/>
                </a:solidFill>
                <a:latin typeface="Arial"/>
              </a:rPr>
              <a:t>Run speed separates the podium — the fastest run pace averages ~3:26/km with a ~195s spread between fastest and average finisher. Either a pre-built lead from the bike or exceptional run speed is required to win.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274320" y="1143000"/>
          <a:ext cx="11640307" cy="3584448"/>
        </p:xfrm>
        <a:graphic>
          <a:graphicData uri="http://schemas.openxmlformats.org/drawingml/2006/table">
            <a:tbl>
              <a:tblPr firstRow="1" bandRow="1">
                <a:tableStyleId>{5C22544A-7EE6-4342-B048-85BDC9FD1C3A}</a:tableStyleId>
              </a:tblPr>
              <a:tblGrid>
                <a:gridCol w="655082"/>
                <a:gridCol w="957428"/>
                <a:gridCol w="1914856"/>
                <a:gridCol w="554300"/>
                <a:gridCol w="755864"/>
                <a:gridCol w="2015638"/>
                <a:gridCol w="1007819"/>
                <a:gridCol w="806255"/>
                <a:gridCol w="856646"/>
                <a:gridCol w="705473"/>
                <a:gridCol w="705473"/>
                <a:gridCol w="705473"/>
              </a:tblGrid>
              <a:tr h="512064">
                <a:tc>
                  <a:txBody>
                    <a:bodyPr wrap="none"/>
                    <a:lstStyle/>
                    <a:p>
                      <a:pPr algn="ctr"/>
                      <a:r>
                        <a:rPr sz="1400" b="1" i="0">
                          <a:solidFill>
                            <a:srgbClr val="FFFFFF"/>
                          </a:solidFill>
                          <a:latin typeface="Arial"/>
                        </a:rPr>
                        <a:t>Year</a:t>
                      </a:r>
                    </a:p>
                  </a:txBody>
                  <a:tcPr>
                    <a:solidFill>
                      <a:srgbClr val="002060"/>
                    </a:solidFill>
                  </a:tcPr>
                </a:tc>
                <a:tc>
                  <a:txBody>
                    <a:bodyPr wrap="none"/>
                    <a:lstStyle/>
                    <a:p>
                      <a:pPr algn="ctr"/>
                      <a:r>
                        <a:rPr sz="1400" b="1" i="0">
                          <a:solidFill>
                            <a:srgbClr val="FFFFFF"/>
                          </a:solidFill>
                          <a:latin typeface="Arial"/>
                        </a:rPr>
                        <a:t>Date</a:t>
                      </a:r>
                    </a:p>
                  </a:txBody>
                  <a:tcPr>
                    <a:solidFill>
                      <a:srgbClr val="002060"/>
                    </a:solidFill>
                  </a:tcPr>
                </a:tc>
                <a:tc>
                  <a:txBody>
                    <a:bodyPr wrap="none"/>
                    <a:lstStyle/>
                    <a:p>
                      <a:pPr algn="ctr"/>
                      <a:r>
                        <a:rPr sz="1400" b="1" i="0">
                          <a:solidFill>
                            <a:srgbClr val="FFFFFF"/>
                          </a:solidFill>
                          <a:latin typeface="Arial"/>
                        </a:rPr>
                        <a:t>Category</a:t>
                      </a:r>
                    </a:p>
                  </a:txBody>
                  <a:tcPr>
                    <a:solidFill>
                      <a:srgbClr val="002060"/>
                    </a:solidFill>
                  </a:tcPr>
                </a:tc>
                <a:tc>
                  <a:txBody>
                    <a:bodyPr wrap="none"/>
                    <a:lstStyle/>
                    <a:p>
                      <a:pPr algn="ctr"/>
                      <a:r>
                        <a:rPr sz="1400" b="1" i="0">
                          <a:solidFill>
                            <a:srgbClr val="FFFFFF"/>
                          </a:solidFill>
                          <a:latin typeface="Arial"/>
                        </a:rPr>
                        <a:t>Field</a:t>
                      </a:r>
                    </a:p>
                  </a:txBody>
                  <a:tcPr>
                    <a:solidFill>
                      <a:srgbClr val="002060"/>
                    </a:solidFill>
                  </a:tcPr>
                </a:tc>
                <a:tc>
                  <a:txBody>
                    <a:bodyPr wrap="none"/>
                    <a:lstStyle/>
                    <a:p>
                      <a:pPr algn="ctr"/>
                      <a:r>
                        <a:rPr sz="1400" b="1" i="0">
                          <a:solidFill>
                            <a:srgbClr val="FFFFFF"/>
                          </a:solidFill>
                          <a:latin typeface="Arial"/>
                        </a:rPr>
                        <a:t>DNF/LAP/DNS</a:t>
                      </a:r>
                    </a:p>
                  </a:txBody>
                  <a:tcPr>
                    <a:solidFill>
                      <a:srgbClr val="002060"/>
                    </a:solidFill>
                  </a:tcPr>
                </a:tc>
                <a:tc>
                  <a:txBody>
                    <a:bodyPr wrap="none"/>
                    <a:lstStyle/>
                    <a:p>
                      <a:pPr algn="ctr"/>
                      <a:r>
                        <a:rPr sz="1400" b="1" i="0">
                          <a:solidFill>
                            <a:srgbClr val="FFFFFF"/>
                          </a:solidFill>
                          <a:latin typeface="Arial"/>
                        </a:rPr>
                        <a:t>Winner</a:t>
                      </a:r>
                    </a:p>
                  </a:txBody>
                  <a:tcPr>
                    <a:solidFill>
                      <a:srgbClr val="002060"/>
                    </a:solidFill>
                  </a:tcPr>
                </a:tc>
                <a:tc>
                  <a:txBody>
                    <a:bodyPr wrap="none"/>
                    <a:lstStyle/>
                    <a:p>
                      <a:pPr algn="ctr"/>
                      <a:r>
                        <a:rPr sz="1400" b="1" i="0">
                          <a:solidFill>
                            <a:srgbClr val="FFFFFF"/>
                          </a:solidFill>
                          <a:latin typeface="Arial"/>
                        </a:rPr>
                        <a:t>Winner Time</a:t>
                      </a:r>
                    </a:p>
                  </a:txBody>
                  <a:tcPr>
                    <a:solidFill>
                      <a:srgbClr val="002060"/>
                    </a:solidFill>
                  </a:tcPr>
                </a:tc>
                <a:tc>
                  <a:txBody>
                    <a:bodyPr wrap="none"/>
                    <a:lstStyle/>
                    <a:p>
                      <a:pPr algn="ctr"/>
                      <a:r>
                        <a:rPr sz="1400" b="1" i="0">
                          <a:solidFill>
                            <a:srgbClr val="FFFFFF"/>
                          </a:solidFill>
                          <a:latin typeface="Arial"/>
                        </a:rPr>
                        <a:t>Air Temp</a:t>
                      </a:r>
                    </a:p>
                  </a:txBody>
                  <a:tcPr>
                    <a:solidFill>
                      <a:srgbClr val="002060"/>
                    </a:solidFill>
                  </a:tcPr>
                </a:tc>
                <a:tc>
                  <a:txBody>
                    <a:bodyPr wrap="none"/>
                    <a:lstStyle/>
                    <a:p>
                      <a:pPr algn="ctr"/>
                      <a:r>
                        <a:rPr sz="1400" b="1" i="0">
                          <a:solidFill>
                            <a:srgbClr val="FFFFFF"/>
                          </a:solidFill>
                          <a:latin typeface="Arial"/>
                        </a:rPr>
                        <a:t>Water Temp</a:t>
                      </a:r>
                    </a:p>
                  </a:txBody>
                  <a:tcPr>
                    <a:solidFill>
                      <a:srgbClr val="002060"/>
                    </a:solidFill>
                  </a:tcPr>
                </a:tc>
                <a:tc>
                  <a:txBody>
                    <a:bodyPr wrap="none"/>
                    <a:lstStyle/>
                    <a:p>
                      <a:pPr algn="ctr"/>
                      <a:r>
                        <a:rPr sz="1400" b="1" i="0">
                          <a:solidFill>
                            <a:srgbClr val="FFFFFF"/>
                          </a:solidFill>
                          <a:latin typeface="Arial"/>
                        </a:rPr>
                        <a:t>Swim km</a:t>
                      </a:r>
                    </a:p>
                  </a:txBody>
                  <a:tcPr>
                    <a:solidFill>
                      <a:srgbClr val="002060"/>
                    </a:solidFill>
                  </a:tcPr>
                </a:tc>
                <a:tc>
                  <a:txBody>
                    <a:bodyPr wrap="none"/>
                    <a:lstStyle/>
                    <a:p>
                      <a:pPr algn="ctr"/>
                      <a:r>
                        <a:rPr sz="1400" b="1" i="0">
                          <a:solidFill>
                            <a:srgbClr val="FFFFFF"/>
                          </a:solidFill>
                          <a:latin typeface="Arial"/>
                        </a:rPr>
                        <a:t>Bike km</a:t>
                      </a:r>
                    </a:p>
                  </a:txBody>
                  <a:tcPr>
                    <a:solidFill>
                      <a:srgbClr val="002060"/>
                    </a:solidFill>
                  </a:tcPr>
                </a:tc>
                <a:tc>
                  <a:txBody>
                    <a:bodyPr wrap="none"/>
                    <a:lstStyle/>
                    <a:p>
                      <a:pPr algn="ctr"/>
                      <a:r>
                        <a:rPr sz="1400" b="1" i="0">
                          <a:solidFill>
                            <a:srgbClr val="FFFFFF"/>
                          </a:solidFill>
                          <a:latin typeface="Arial"/>
                        </a:rPr>
                        <a:t>Run km</a:t>
                      </a:r>
                    </a:p>
                  </a:txBody>
                  <a:tcPr>
                    <a:solidFill>
                      <a:srgbClr val="002060"/>
                    </a:solidFill>
                  </a:tcPr>
                </a:tc>
              </a:tr>
              <a:tr h="512064">
                <a:tc>
                  <a:txBody>
                    <a:bodyPr wrap="none"/>
                    <a:lstStyle/>
                    <a:p>
                      <a:pPr algn="ctr"/>
                      <a:r>
                        <a:rPr sz="1400" b="0" i="0">
                          <a:solidFill>
                            <a:srgbClr val="262626"/>
                          </a:solidFill>
                          <a:latin typeface="Arial"/>
                        </a:rPr>
                        <a:t>2018</a:t>
                      </a:r>
                    </a:p>
                  </a:txBody>
                  <a:tcPr>
                    <a:solidFill>
                      <a:srgbClr val="FFFFFF"/>
                    </a:solidFill>
                  </a:tcPr>
                </a:tc>
                <a:tc>
                  <a:txBody>
                    <a:bodyPr wrap="none"/>
                    <a:lstStyle/>
                    <a:p>
                      <a:pPr algn="ctr"/>
                      <a:r>
                        <a:rPr sz="1400" b="0" i="0">
                          <a:solidFill>
                            <a:srgbClr val="262626"/>
                          </a:solidFill>
                          <a:latin typeface="Arial"/>
                        </a:rPr>
                        <a:t>Sep 22</a:t>
                      </a:r>
                    </a:p>
                  </a:txBody>
                  <a:tcPr>
                    <a:solidFill>
                      <a:srgbClr val="FFFFFF"/>
                    </a:solidFill>
                  </a:tcPr>
                </a:tc>
                <a:tc>
                  <a:txBody>
                    <a:bodyPr wrap="none"/>
                    <a:lstStyle/>
                    <a:p>
                      <a:pPr algn="l"/>
                      <a:r>
                        <a:rPr sz="1200" b="0" i="0">
                          <a:solidFill>
                            <a:srgbClr val="262626"/>
                          </a:solidFill>
                          <a:latin typeface="Arial"/>
                        </a:rPr>
                        <a:t>World Cup</a:t>
                      </a:r>
                    </a:p>
                  </a:txBody>
                  <a:tcPr>
                    <a:solidFill>
                      <a:srgbClr val="FFFFFF"/>
                    </a:solidFill>
                  </a:tcPr>
                </a:tc>
                <a:tc>
                  <a:txBody>
                    <a:bodyPr wrap="none"/>
                    <a:lstStyle/>
                    <a:p>
                      <a:pPr algn="ctr"/>
                      <a:r>
                        <a:rPr sz="1400" b="0" i="0">
                          <a:solidFill>
                            <a:srgbClr val="262626"/>
                          </a:solidFill>
                          <a:latin typeface="Arial"/>
                        </a:rPr>
                        <a:t>44</a:t>
                      </a:r>
                    </a:p>
                  </a:txBody>
                  <a:tcPr>
                    <a:solidFill>
                      <a:srgbClr val="FFFFFF"/>
                    </a:solidFill>
                  </a:tcPr>
                </a:tc>
                <a:tc>
                  <a:txBody>
                    <a:bodyPr wrap="none"/>
                    <a:lstStyle/>
                    <a:p>
                      <a:pPr algn="ctr"/>
                      <a:r>
                        <a:rPr sz="1400" b="0" i="0">
                          <a:solidFill>
                            <a:srgbClr val="262626"/>
                          </a:solidFill>
                          <a:latin typeface="Arial"/>
                        </a:rPr>
                        <a:t>9</a:t>
                      </a:r>
                    </a:p>
                  </a:txBody>
                  <a:tcPr>
                    <a:solidFill>
                      <a:srgbClr val="FFFFFF"/>
                    </a:solidFill>
                  </a:tcPr>
                </a:tc>
                <a:tc>
                  <a:txBody>
                    <a:bodyPr wrap="none"/>
                    <a:lstStyle/>
                    <a:p>
                      <a:pPr algn="l"/>
                      <a:r>
                        <a:rPr sz="1400" b="0" i="0">
                          <a:solidFill>
                            <a:srgbClr val="262626"/>
                          </a:solidFill>
                          <a:latin typeface="Arial"/>
                        </a:rPr>
                        <a:t>Spivey</a:t>
                      </a:r>
                    </a:p>
                  </a:txBody>
                  <a:tcPr>
                    <a:solidFill>
                      <a:srgbClr val="FFFFFF"/>
                    </a:solidFill>
                  </a:tcPr>
                </a:tc>
                <a:tc>
                  <a:txBody>
                    <a:bodyPr wrap="none"/>
                    <a:lstStyle/>
                    <a:p>
                      <a:pPr algn="ctr"/>
                      <a:r>
                        <a:rPr sz="1400" b="0" i="0">
                          <a:solidFill>
                            <a:srgbClr val="262626"/>
                          </a:solidFill>
                          <a:latin typeface="Arial"/>
                        </a:rPr>
                        <a:t>2:08:02</a:t>
                      </a:r>
                    </a:p>
                  </a:txBody>
                  <a:tcPr>
                    <a:solidFill>
                      <a:srgbClr val="FFFFFF"/>
                    </a:solidFill>
                  </a:tcPr>
                </a:tc>
                <a:tc>
                  <a:txBody>
                    <a:bodyPr wrap="none"/>
                    <a:lstStyle/>
                    <a:p>
                      <a:pPr algn="ctr"/>
                      <a:r>
                        <a:rPr sz="1400" b="0" i="0">
                          <a:solidFill>
                            <a:srgbClr val="262626"/>
                          </a:solidFill>
                          <a:latin typeface="Arial"/>
                        </a:rPr>
                        <a:t>23.5°*</a:t>
                      </a:r>
                    </a:p>
                  </a:txBody>
                  <a:tcPr>
                    <a:solidFill>
                      <a:srgbClr val="FFFFFF"/>
                    </a:solidFill>
                  </a:tcPr>
                </a:tc>
                <a:tc>
                  <a:txBody>
                    <a:bodyPr wrap="none"/>
                    <a:lstStyle/>
                    <a:p>
                      <a:pPr algn="ctr"/>
                      <a:r>
                        <a:rPr sz="1400" b="0" i="0">
                          <a:solidFill>
                            <a:srgbClr val="262626"/>
                          </a:solidFill>
                          <a:latin typeface="Arial"/>
                        </a:rPr>
                        <a:t>—</a:t>
                      </a:r>
                    </a:p>
                  </a:txBody>
                  <a:tcPr>
                    <a:solidFill>
                      <a:srgbClr val="FFFFFF"/>
                    </a:solidFill>
                  </a:tcPr>
                </a:tc>
                <a:tc>
                  <a:txBody>
                    <a:bodyPr wrap="none"/>
                    <a:lstStyle/>
                    <a:p>
                      <a:pPr algn="ctr"/>
                      <a:r>
                        <a:rPr sz="1400" b="0" i="0">
                          <a:solidFill>
                            <a:srgbClr val="262626"/>
                          </a:solidFill>
                          <a:latin typeface="Arial"/>
                        </a:rPr>
                        <a:t>—</a:t>
                      </a:r>
                    </a:p>
                  </a:txBody>
                  <a:tcPr>
                    <a:solidFill>
                      <a:srgbClr val="FFFFFF"/>
                    </a:solidFill>
                  </a:tcPr>
                </a:tc>
                <a:tc>
                  <a:txBody>
                    <a:bodyPr wrap="none"/>
                    <a:lstStyle/>
                    <a:p>
                      <a:pPr algn="ctr"/>
                      <a:r>
                        <a:rPr sz="1400" b="0" i="0">
                          <a:solidFill>
                            <a:srgbClr val="262626"/>
                          </a:solidFill>
                          <a:latin typeface="Arial"/>
                        </a:rPr>
                        <a:t>—</a:t>
                      </a:r>
                    </a:p>
                  </a:txBody>
                  <a:tcPr>
                    <a:solidFill>
                      <a:srgbClr val="FFFFFF"/>
                    </a:solidFill>
                  </a:tcPr>
                </a:tc>
                <a:tc>
                  <a:txBody>
                    <a:bodyPr wrap="none"/>
                    <a:lstStyle/>
                    <a:p>
                      <a:pPr algn="ctr"/>
                      <a:r>
                        <a:rPr sz="1400" b="0" i="0">
                          <a:solidFill>
                            <a:srgbClr val="262626"/>
                          </a:solidFill>
                          <a:latin typeface="Arial"/>
                        </a:rPr>
                        <a:t>—</a:t>
                      </a:r>
                    </a:p>
                  </a:txBody>
                  <a:tcPr>
                    <a:solidFill>
                      <a:srgbClr val="FFFFFF"/>
                    </a:solidFill>
                  </a:tcPr>
                </a:tc>
              </a:tr>
              <a:tr h="512064">
                <a:tc>
                  <a:txBody>
                    <a:bodyPr wrap="none"/>
                    <a:lstStyle/>
                    <a:p>
                      <a:pPr algn="ctr"/>
                      <a:r>
                        <a:rPr sz="1400" b="0" i="0">
                          <a:solidFill>
                            <a:srgbClr val="262626"/>
                          </a:solidFill>
                          <a:latin typeface="Arial"/>
                        </a:rPr>
                        <a:t>2019</a:t>
                      </a:r>
                    </a:p>
                  </a:txBody>
                  <a:tcPr>
                    <a:solidFill>
                      <a:srgbClr val="F2F2F2"/>
                    </a:solidFill>
                  </a:tcPr>
                </a:tc>
                <a:tc>
                  <a:txBody>
                    <a:bodyPr wrap="none"/>
                    <a:lstStyle/>
                    <a:p>
                      <a:pPr algn="ctr"/>
                      <a:r>
                        <a:rPr sz="1400" b="0" i="0">
                          <a:solidFill>
                            <a:srgbClr val="262626"/>
                          </a:solidFill>
                          <a:latin typeface="Arial"/>
                        </a:rPr>
                        <a:t>Sep 21</a:t>
                      </a:r>
                    </a:p>
                  </a:txBody>
                  <a:tcPr>
                    <a:solidFill>
                      <a:srgbClr val="F2F2F2"/>
                    </a:solidFill>
                  </a:tcPr>
                </a:tc>
                <a:tc>
                  <a:txBody>
                    <a:bodyPr wrap="none"/>
                    <a:lstStyle/>
                    <a:p>
                      <a:pPr algn="l"/>
                      <a:r>
                        <a:rPr sz="1200" b="0" i="0">
                          <a:solidFill>
                            <a:srgbClr val="262626"/>
                          </a:solidFill>
                          <a:latin typeface="Arial"/>
                        </a:rPr>
                        <a:t>World Cup</a:t>
                      </a:r>
                    </a:p>
                  </a:txBody>
                  <a:tcPr>
                    <a:solidFill>
                      <a:srgbClr val="F2F2F2"/>
                    </a:solidFill>
                  </a:tcPr>
                </a:tc>
                <a:tc>
                  <a:txBody>
                    <a:bodyPr wrap="none"/>
                    <a:lstStyle/>
                    <a:p>
                      <a:pPr algn="ctr"/>
                      <a:r>
                        <a:rPr sz="1400" b="0" i="0">
                          <a:solidFill>
                            <a:srgbClr val="262626"/>
                          </a:solidFill>
                          <a:latin typeface="Arial"/>
                        </a:rPr>
                        <a:t>32</a:t>
                      </a:r>
                    </a:p>
                  </a:txBody>
                  <a:tcPr>
                    <a:solidFill>
                      <a:srgbClr val="F2F2F2"/>
                    </a:solidFill>
                  </a:tcPr>
                </a:tc>
                <a:tc>
                  <a:txBody>
                    <a:bodyPr wrap="none"/>
                    <a:lstStyle/>
                    <a:p>
                      <a:pPr algn="ctr"/>
                      <a:r>
                        <a:rPr sz="1400" b="0" i="0">
                          <a:solidFill>
                            <a:srgbClr val="262626"/>
                          </a:solidFill>
                          <a:latin typeface="Arial"/>
                        </a:rPr>
                        <a:t>5</a:t>
                      </a:r>
                    </a:p>
                  </a:txBody>
                  <a:tcPr>
                    <a:solidFill>
                      <a:srgbClr val="F2F2F2"/>
                    </a:solidFill>
                  </a:tcPr>
                </a:tc>
                <a:tc>
                  <a:txBody>
                    <a:bodyPr wrap="none"/>
                    <a:lstStyle/>
                    <a:p>
                      <a:pPr algn="l"/>
                      <a:r>
                        <a:rPr sz="1400" b="0" i="0">
                          <a:solidFill>
                            <a:srgbClr val="262626"/>
                          </a:solidFill>
                          <a:latin typeface="Arial"/>
                        </a:rPr>
                        <a:t>Derron</a:t>
                      </a:r>
                    </a:p>
                  </a:txBody>
                  <a:tcPr>
                    <a:solidFill>
                      <a:srgbClr val="F2F2F2"/>
                    </a:solidFill>
                  </a:tcPr>
                </a:tc>
                <a:tc>
                  <a:txBody>
                    <a:bodyPr wrap="none"/>
                    <a:lstStyle/>
                    <a:p>
                      <a:pPr algn="ctr"/>
                      <a:r>
                        <a:rPr sz="1400" b="0" i="0">
                          <a:solidFill>
                            <a:srgbClr val="262626"/>
                          </a:solidFill>
                          <a:latin typeface="Arial"/>
                        </a:rPr>
                        <a:t>2:08:03</a:t>
                      </a:r>
                    </a:p>
                  </a:txBody>
                  <a:tcPr>
                    <a:solidFill>
                      <a:srgbClr val="F2F2F2"/>
                    </a:solidFill>
                  </a:tcPr>
                </a:tc>
                <a:tc>
                  <a:txBody>
                    <a:bodyPr wrap="none"/>
                    <a:lstStyle/>
                    <a:p>
                      <a:pPr algn="ctr"/>
                      <a:r>
                        <a:rPr sz="1400" b="0" i="0">
                          <a:solidFill>
                            <a:srgbClr val="262626"/>
                          </a:solidFill>
                          <a:latin typeface="Arial"/>
                        </a:rPr>
                        <a:t>23.3°*</a:t>
                      </a:r>
                    </a:p>
                  </a:txBody>
                  <a:tcPr>
                    <a:solidFill>
                      <a:srgbClr val="F2F2F2"/>
                    </a:solidFill>
                  </a:tcPr>
                </a:tc>
                <a:tc>
                  <a:txBody>
                    <a:bodyPr wrap="none"/>
                    <a:lstStyle/>
                    <a:p>
                      <a:pPr algn="ctr"/>
                      <a:r>
                        <a:rPr sz="1400" b="0" i="0">
                          <a:solidFill>
                            <a:srgbClr val="262626"/>
                          </a:solidFill>
                          <a:latin typeface="Arial"/>
                        </a:rPr>
                        <a:t>—</a:t>
                      </a:r>
                    </a:p>
                  </a:txBody>
                  <a:tcPr>
                    <a:solidFill>
                      <a:srgbClr val="F2F2F2"/>
                    </a:solidFill>
                  </a:tcPr>
                </a:tc>
                <a:tc>
                  <a:txBody>
                    <a:bodyPr wrap="none"/>
                    <a:lstStyle/>
                    <a:p>
                      <a:pPr algn="ctr"/>
                      <a:r>
                        <a:rPr sz="1400" b="0" i="0">
                          <a:solidFill>
                            <a:srgbClr val="262626"/>
                          </a:solidFill>
                          <a:latin typeface="Arial"/>
                        </a:rPr>
                        <a:t>—</a:t>
                      </a:r>
                    </a:p>
                  </a:txBody>
                  <a:tcPr>
                    <a:solidFill>
                      <a:srgbClr val="F2F2F2"/>
                    </a:solidFill>
                  </a:tcPr>
                </a:tc>
                <a:tc>
                  <a:txBody>
                    <a:bodyPr wrap="none"/>
                    <a:lstStyle/>
                    <a:p>
                      <a:pPr algn="ctr"/>
                      <a:r>
                        <a:rPr sz="1400" b="0" i="0">
                          <a:solidFill>
                            <a:srgbClr val="262626"/>
                          </a:solidFill>
                          <a:latin typeface="Arial"/>
                        </a:rPr>
                        <a:t>—</a:t>
                      </a:r>
                    </a:p>
                  </a:txBody>
                  <a:tcPr>
                    <a:solidFill>
                      <a:srgbClr val="F2F2F2"/>
                    </a:solidFill>
                  </a:tcPr>
                </a:tc>
                <a:tc>
                  <a:txBody>
                    <a:bodyPr wrap="none"/>
                    <a:lstStyle/>
                    <a:p>
                      <a:pPr algn="ctr"/>
                      <a:r>
                        <a:rPr sz="1400" b="0" i="0">
                          <a:solidFill>
                            <a:srgbClr val="262626"/>
                          </a:solidFill>
                          <a:latin typeface="Arial"/>
                        </a:rPr>
                        <a:t>—</a:t>
                      </a:r>
                    </a:p>
                  </a:txBody>
                  <a:tcPr>
                    <a:solidFill>
                      <a:srgbClr val="F2F2F2"/>
                    </a:solidFill>
                  </a:tcPr>
                </a:tc>
              </a:tr>
              <a:tr h="512064">
                <a:tc>
                  <a:txBody>
                    <a:bodyPr wrap="none"/>
                    <a:lstStyle/>
                    <a:p>
                      <a:pPr algn="ctr"/>
                      <a:r>
                        <a:rPr sz="1400" b="0" i="0">
                          <a:solidFill>
                            <a:srgbClr val="262626"/>
                          </a:solidFill>
                          <a:latin typeface="Arial"/>
                        </a:rPr>
                        <a:t>2023</a:t>
                      </a:r>
                    </a:p>
                  </a:txBody>
                  <a:tcPr>
                    <a:solidFill>
                      <a:srgbClr val="FFFFFF"/>
                    </a:solidFill>
                  </a:tcPr>
                </a:tc>
                <a:tc>
                  <a:txBody>
                    <a:bodyPr wrap="none"/>
                    <a:lstStyle/>
                    <a:p>
                      <a:pPr algn="ctr"/>
                      <a:r>
                        <a:rPr sz="1400" b="0" i="0">
                          <a:solidFill>
                            <a:srgbClr val="262626"/>
                          </a:solidFill>
                          <a:latin typeface="Arial"/>
                        </a:rPr>
                        <a:t>Aug 26</a:t>
                      </a:r>
                    </a:p>
                  </a:txBody>
                  <a:tcPr>
                    <a:solidFill>
                      <a:srgbClr val="FFFFFF"/>
                    </a:solidFill>
                  </a:tcPr>
                </a:tc>
                <a:tc>
                  <a:txBody>
                    <a:bodyPr wrap="none"/>
                    <a:lstStyle/>
                    <a:p>
                      <a:pPr algn="l"/>
                      <a:r>
                        <a:rPr sz="1200" b="0" i="0">
                          <a:solidFill>
                            <a:srgbClr val="262626"/>
                          </a:solidFill>
                          <a:latin typeface="Arial"/>
                        </a:rPr>
                        <a:t>World Cup *</a:t>
                      </a:r>
                    </a:p>
                  </a:txBody>
                  <a:tcPr>
                    <a:solidFill>
                      <a:srgbClr val="FFFFFF"/>
                    </a:solidFill>
                  </a:tcPr>
                </a:tc>
                <a:tc>
                  <a:txBody>
                    <a:bodyPr wrap="none"/>
                    <a:lstStyle/>
                    <a:p>
                      <a:pPr algn="ctr"/>
                      <a:r>
                        <a:rPr sz="1400" b="0" i="0">
                          <a:solidFill>
                            <a:srgbClr val="262626"/>
                          </a:solidFill>
                          <a:latin typeface="Arial"/>
                        </a:rPr>
                        <a:t>34</a:t>
                      </a:r>
                    </a:p>
                  </a:txBody>
                  <a:tcPr>
                    <a:solidFill>
                      <a:srgbClr val="FFFFFF"/>
                    </a:solidFill>
                  </a:tcPr>
                </a:tc>
                <a:tc>
                  <a:txBody>
                    <a:bodyPr wrap="none"/>
                    <a:lstStyle/>
                    <a:p>
                      <a:pPr algn="ctr"/>
                      <a:r>
                        <a:rPr sz="1400" b="0" i="0">
                          <a:solidFill>
                            <a:srgbClr val="262626"/>
                          </a:solidFill>
                          <a:latin typeface="Arial"/>
                        </a:rPr>
                        <a:t>7</a:t>
                      </a:r>
                    </a:p>
                  </a:txBody>
                  <a:tcPr>
                    <a:solidFill>
                      <a:srgbClr val="FFFFFF"/>
                    </a:solidFill>
                  </a:tcPr>
                </a:tc>
                <a:tc>
                  <a:txBody>
                    <a:bodyPr wrap="none"/>
                    <a:lstStyle/>
                    <a:p>
                      <a:pPr algn="l"/>
                      <a:r>
                        <a:rPr sz="1400" b="0" i="0">
                          <a:solidFill>
                            <a:srgbClr val="262626"/>
                          </a:solidFill>
                          <a:latin typeface="Arial"/>
                        </a:rPr>
                        <a:t>Seregni</a:t>
                      </a:r>
                    </a:p>
                  </a:txBody>
                  <a:tcPr>
                    <a:solidFill>
                      <a:srgbClr val="FFFFFF"/>
                    </a:solidFill>
                  </a:tcPr>
                </a:tc>
                <a:tc>
                  <a:txBody>
                    <a:bodyPr wrap="none"/>
                    <a:lstStyle/>
                    <a:p>
                      <a:pPr algn="ctr"/>
                      <a:r>
                        <a:rPr sz="1400" b="0" i="0">
                          <a:solidFill>
                            <a:srgbClr val="262626"/>
                          </a:solidFill>
                          <a:latin typeface="Arial"/>
                        </a:rPr>
                        <a:t>1:58:42</a:t>
                      </a:r>
                    </a:p>
                  </a:txBody>
                  <a:tcPr>
                    <a:solidFill>
                      <a:srgbClr val="FFFFFF"/>
                    </a:solidFill>
                  </a:tcPr>
                </a:tc>
                <a:tc>
                  <a:txBody>
                    <a:bodyPr wrap="none"/>
                    <a:lstStyle/>
                    <a:p>
                      <a:pPr algn="ctr"/>
                      <a:r>
                        <a:rPr sz="1400" b="0" i="0">
                          <a:solidFill>
                            <a:srgbClr val="262626"/>
                          </a:solidFill>
                          <a:latin typeface="Arial"/>
                        </a:rPr>
                        <a:t>31.9</a:t>
                      </a:r>
                    </a:p>
                  </a:txBody>
                  <a:tcPr>
                    <a:solidFill>
                      <a:srgbClr val="FFFFFF"/>
                    </a:solidFill>
                  </a:tcPr>
                </a:tc>
                <a:tc>
                  <a:txBody>
                    <a:bodyPr wrap="none"/>
                    <a:lstStyle/>
                    <a:p>
                      <a:pPr algn="ctr"/>
                      <a:r>
                        <a:rPr sz="1400" b="0" i="0">
                          <a:solidFill>
                            <a:srgbClr val="262626"/>
                          </a:solidFill>
                          <a:latin typeface="Arial"/>
                        </a:rPr>
                        <a:t>25.9</a:t>
                      </a:r>
                    </a:p>
                  </a:txBody>
                  <a:tcPr>
                    <a:solidFill>
                      <a:srgbClr val="FFFFFF"/>
                    </a:solidFill>
                  </a:tcPr>
                </a:tc>
                <a:tc>
                  <a:txBody>
                    <a:bodyPr wrap="none"/>
                    <a:lstStyle/>
                    <a:p>
                      <a:pPr algn="ctr"/>
                      <a:r>
                        <a:rPr sz="1400" b="0" i="0">
                          <a:solidFill>
                            <a:srgbClr val="262626"/>
                          </a:solidFill>
                          <a:latin typeface="Arial"/>
                        </a:rPr>
                        <a:t>1.50</a:t>
                      </a:r>
                    </a:p>
                  </a:txBody>
                  <a:tcPr>
                    <a:solidFill>
                      <a:srgbClr val="FFFFFF"/>
                    </a:solidFill>
                  </a:tcPr>
                </a:tc>
                <a:tc>
                  <a:txBody>
                    <a:bodyPr wrap="none"/>
                    <a:lstStyle/>
                    <a:p>
                      <a:pPr algn="ctr"/>
                      <a:r>
                        <a:rPr sz="1400" b="0" i="0">
                          <a:solidFill>
                            <a:srgbClr val="262626"/>
                          </a:solidFill>
                          <a:latin typeface="Arial"/>
                        </a:rPr>
                        <a:t>38.4</a:t>
                      </a:r>
                    </a:p>
                  </a:txBody>
                  <a:tcPr>
                    <a:solidFill>
                      <a:srgbClr val="FFFFFF"/>
                    </a:solidFill>
                  </a:tcPr>
                </a:tc>
                <a:tc>
                  <a:txBody>
                    <a:bodyPr wrap="none"/>
                    <a:lstStyle/>
                    <a:p>
                      <a:pPr algn="ctr"/>
                      <a:r>
                        <a:rPr sz="1400" b="0" i="0">
                          <a:solidFill>
                            <a:srgbClr val="262626"/>
                          </a:solidFill>
                          <a:latin typeface="Arial"/>
                        </a:rPr>
                        <a:t>10.0</a:t>
                      </a:r>
                    </a:p>
                  </a:txBody>
                  <a:tcPr>
                    <a:solidFill>
                      <a:srgbClr val="FFFFFF"/>
                    </a:solidFill>
                  </a:tcPr>
                </a:tc>
              </a:tr>
              <a:tr h="512064">
                <a:tc>
                  <a:txBody>
                    <a:bodyPr wrap="none"/>
                    <a:lstStyle/>
                    <a:p>
                      <a:pPr algn="ctr"/>
                      <a:r>
                        <a:rPr sz="1400" b="0" i="0">
                          <a:solidFill>
                            <a:srgbClr val="262626"/>
                          </a:solidFill>
                          <a:latin typeface="Arial"/>
                        </a:rPr>
                        <a:t>2024</a:t>
                      </a:r>
                    </a:p>
                  </a:txBody>
                  <a:tcPr>
                    <a:solidFill>
                      <a:srgbClr val="F2F2F2"/>
                    </a:solidFill>
                  </a:tcPr>
                </a:tc>
                <a:tc>
                  <a:txBody>
                    <a:bodyPr wrap="none"/>
                    <a:lstStyle/>
                    <a:p>
                      <a:pPr algn="ctr"/>
                      <a:r>
                        <a:rPr sz="1400" b="0" i="0">
                          <a:solidFill>
                            <a:srgbClr val="262626"/>
                          </a:solidFill>
                          <a:latin typeface="Arial"/>
                        </a:rPr>
                        <a:t>Sep 27</a:t>
                      </a:r>
                    </a:p>
                  </a:txBody>
                  <a:tcPr>
                    <a:solidFill>
                      <a:srgbClr val="F2F2F2"/>
                    </a:solidFill>
                  </a:tcPr>
                </a:tc>
                <a:tc>
                  <a:txBody>
                    <a:bodyPr wrap="none"/>
                    <a:lstStyle/>
                    <a:p>
                      <a:pPr algn="l"/>
                      <a:r>
                        <a:rPr sz="1200" b="0" i="0">
                          <a:solidFill>
                            <a:srgbClr val="262626"/>
                          </a:solidFill>
                          <a:latin typeface="Arial"/>
                        </a:rPr>
                        <a:t>World Championship Series *</a:t>
                      </a:r>
                    </a:p>
                  </a:txBody>
                  <a:tcPr>
                    <a:solidFill>
                      <a:srgbClr val="F2F2F2"/>
                    </a:solidFill>
                  </a:tcPr>
                </a:tc>
                <a:tc>
                  <a:txBody>
                    <a:bodyPr wrap="none"/>
                    <a:lstStyle/>
                    <a:p>
                      <a:pPr algn="ctr"/>
                      <a:r>
                        <a:rPr sz="1400" b="0" i="0">
                          <a:solidFill>
                            <a:srgbClr val="262626"/>
                          </a:solidFill>
                          <a:latin typeface="Arial"/>
                        </a:rPr>
                        <a:t>28</a:t>
                      </a:r>
                    </a:p>
                  </a:txBody>
                  <a:tcPr>
                    <a:solidFill>
                      <a:srgbClr val="F2F2F2"/>
                    </a:solidFill>
                  </a:tcPr>
                </a:tc>
                <a:tc>
                  <a:txBody>
                    <a:bodyPr wrap="none"/>
                    <a:lstStyle/>
                    <a:p>
                      <a:pPr algn="ctr"/>
                      <a:r>
                        <a:rPr sz="1400" b="0" i="0">
                          <a:solidFill>
                            <a:srgbClr val="262626"/>
                          </a:solidFill>
                          <a:latin typeface="Arial"/>
                        </a:rPr>
                        <a:t>2</a:t>
                      </a:r>
                    </a:p>
                  </a:txBody>
                  <a:tcPr>
                    <a:solidFill>
                      <a:srgbClr val="F2F2F2"/>
                    </a:solidFill>
                  </a:tcPr>
                </a:tc>
                <a:tc>
                  <a:txBody>
                    <a:bodyPr wrap="none"/>
                    <a:lstStyle/>
                    <a:p>
                      <a:pPr algn="l"/>
                      <a:r>
                        <a:rPr sz="1400" b="0" i="0">
                          <a:solidFill>
                            <a:srgbClr val="262626"/>
                          </a:solidFill>
                          <a:latin typeface="Arial"/>
                        </a:rPr>
                        <a:t>Tertsch</a:t>
                      </a:r>
                    </a:p>
                  </a:txBody>
                  <a:tcPr>
                    <a:solidFill>
                      <a:srgbClr val="F2F2F2"/>
                    </a:solidFill>
                  </a:tcPr>
                </a:tc>
                <a:tc>
                  <a:txBody>
                    <a:bodyPr wrap="none"/>
                    <a:lstStyle/>
                    <a:p>
                      <a:pPr algn="ctr"/>
                      <a:r>
                        <a:rPr sz="1400" b="0" i="0">
                          <a:solidFill>
                            <a:srgbClr val="262626"/>
                          </a:solidFill>
                          <a:latin typeface="Arial"/>
                        </a:rPr>
                        <a:t>2:04:42</a:t>
                      </a:r>
                    </a:p>
                  </a:txBody>
                  <a:tcPr>
                    <a:solidFill>
                      <a:srgbClr val="F2F2F2"/>
                    </a:solidFill>
                  </a:tcPr>
                </a:tc>
                <a:tc>
                  <a:txBody>
                    <a:bodyPr wrap="none"/>
                    <a:lstStyle/>
                    <a:p>
                      <a:pPr algn="ctr"/>
                      <a:r>
                        <a:rPr sz="1400" b="0" i="0">
                          <a:solidFill>
                            <a:srgbClr val="262626"/>
                          </a:solidFill>
                          <a:latin typeface="Arial"/>
                        </a:rPr>
                        <a:t>28</a:t>
                      </a:r>
                    </a:p>
                  </a:txBody>
                  <a:tcPr>
                    <a:solidFill>
                      <a:srgbClr val="F2F2F2"/>
                    </a:solidFill>
                  </a:tcPr>
                </a:tc>
                <a:tc>
                  <a:txBody>
                    <a:bodyPr wrap="none"/>
                    <a:lstStyle/>
                    <a:p>
                      <a:pPr algn="ctr"/>
                      <a:r>
                        <a:rPr sz="1400" b="0" i="0">
                          <a:solidFill>
                            <a:srgbClr val="262626"/>
                          </a:solidFill>
                          <a:latin typeface="Arial"/>
                        </a:rPr>
                        <a:t>24.8</a:t>
                      </a:r>
                    </a:p>
                  </a:txBody>
                  <a:tcPr>
                    <a:solidFill>
                      <a:srgbClr val="F2F2F2"/>
                    </a:solidFill>
                  </a:tcPr>
                </a:tc>
                <a:tc>
                  <a:txBody>
                    <a:bodyPr wrap="none"/>
                    <a:lstStyle/>
                    <a:p>
                      <a:pPr algn="ctr"/>
                      <a:r>
                        <a:rPr sz="1400" b="0" i="0">
                          <a:solidFill>
                            <a:srgbClr val="262626"/>
                          </a:solidFill>
                          <a:latin typeface="Arial"/>
                        </a:rPr>
                        <a:t>1.50</a:t>
                      </a:r>
                    </a:p>
                  </a:txBody>
                  <a:tcPr>
                    <a:solidFill>
                      <a:srgbClr val="F2F2F2"/>
                    </a:solidFill>
                  </a:tcPr>
                </a:tc>
                <a:tc>
                  <a:txBody>
                    <a:bodyPr wrap="none"/>
                    <a:lstStyle/>
                    <a:p>
                      <a:pPr algn="ctr"/>
                      <a:r>
                        <a:rPr sz="1400" b="0" i="0">
                          <a:solidFill>
                            <a:srgbClr val="262626"/>
                          </a:solidFill>
                          <a:latin typeface="Arial"/>
                        </a:rPr>
                        <a:t>40.0</a:t>
                      </a:r>
                    </a:p>
                  </a:txBody>
                  <a:tcPr>
                    <a:solidFill>
                      <a:srgbClr val="F2F2F2"/>
                    </a:solidFill>
                  </a:tcPr>
                </a:tc>
                <a:tc>
                  <a:txBody>
                    <a:bodyPr wrap="none"/>
                    <a:lstStyle/>
                    <a:p>
                      <a:pPr algn="ctr"/>
                      <a:r>
                        <a:rPr sz="1400" b="0" i="0">
                          <a:solidFill>
                            <a:srgbClr val="262626"/>
                          </a:solidFill>
                          <a:latin typeface="Arial"/>
                        </a:rPr>
                        <a:t>10.0</a:t>
                      </a:r>
                    </a:p>
                  </a:txBody>
                  <a:tcPr>
                    <a:solidFill>
                      <a:srgbClr val="F2F2F2"/>
                    </a:solidFill>
                  </a:tcPr>
                </a:tc>
              </a:tr>
              <a:tr h="512064">
                <a:tc>
                  <a:txBody>
                    <a:bodyPr wrap="none"/>
                    <a:lstStyle/>
                    <a:p>
                      <a:pPr algn="ctr"/>
                      <a:r>
                        <a:rPr sz="1400" b="0" i="0">
                          <a:solidFill>
                            <a:srgbClr val="262626"/>
                          </a:solidFill>
                          <a:latin typeface="Arial"/>
                        </a:rPr>
                        <a:t>2025</a:t>
                      </a:r>
                    </a:p>
                  </a:txBody>
                  <a:tcPr>
                    <a:solidFill>
                      <a:srgbClr val="FFFFFF"/>
                    </a:solidFill>
                  </a:tcPr>
                </a:tc>
                <a:tc>
                  <a:txBody>
                    <a:bodyPr wrap="none"/>
                    <a:lstStyle/>
                    <a:p>
                      <a:pPr algn="ctr"/>
                      <a:r>
                        <a:rPr sz="1400" b="0" i="0">
                          <a:solidFill>
                            <a:srgbClr val="262626"/>
                          </a:solidFill>
                          <a:latin typeface="Arial"/>
                        </a:rPr>
                        <a:t>Sep 26</a:t>
                      </a:r>
                    </a:p>
                  </a:txBody>
                  <a:tcPr>
                    <a:solidFill>
                      <a:srgbClr val="FFFFFF"/>
                    </a:solidFill>
                  </a:tcPr>
                </a:tc>
                <a:tc>
                  <a:txBody>
                    <a:bodyPr wrap="none"/>
                    <a:lstStyle/>
                    <a:p>
                      <a:pPr algn="l"/>
                      <a:r>
                        <a:rPr sz="1200" b="0" i="0">
                          <a:solidFill>
                            <a:srgbClr val="262626"/>
                          </a:solidFill>
                          <a:latin typeface="Arial"/>
                        </a:rPr>
                        <a:t>World Championship Series *</a:t>
                      </a:r>
                    </a:p>
                  </a:txBody>
                  <a:tcPr>
                    <a:solidFill>
                      <a:srgbClr val="FFFFFF"/>
                    </a:solidFill>
                  </a:tcPr>
                </a:tc>
                <a:tc>
                  <a:txBody>
                    <a:bodyPr wrap="none"/>
                    <a:lstStyle/>
                    <a:p>
                      <a:pPr algn="ctr"/>
                      <a:r>
                        <a:rPr sz="1400" b="0" i="0">
                          <a:solidFill>
                            <a:srgbClr val="262626"/>
                          </a:solidFill>
                          <a:latin typeface="Arial"/>
                        </a:rPr>
                        <a:t>28</a:t>
                      </a:r>
                    </a:p>
                  </a:txBody>
                  <a:tcPr>
                    <a:solidFill>
                      <a:srgbClr val="FFFFFF"/>
                    </a:solidFill>
                  </a:tcPr>
                </a:tc>
                <a:tc>
                  <a:txBody>
                    <a:bodyPr wrap="none"/>
                    <a:lstStyle/>
                    <a:p>
                      <a:pPr algn="ctr"/>
                      <a:r>
                        <a:rPr sz="1400" b="0" i="0">
                          <a:solidFill>
                            <a:srgbClr val="262626"/>
                          </a:solidFill>
                          <a:latin typeface="Arial"/>
                        </a:rPr>
                        <a:t>1</a:t>
                      </a:r>
                    </a:p>
                  </a:txBody>
                  <a:tcPr>
                    <a:solidFill>
                      <a:srgbClr val="FFFFFF"/>
                    </a:solidFill>
                  </a:tcPr>
                </a:tc>
                <a:tc>
                  <a:txBody>
                    <a:bodyPr wrap="none"/>
                    <a:lstStyle/>
                    <a:p>
                      <a:pPr algn="l"/>
                      <a:r>
                        <a:rPr sz="1400" b="0" i="0">
                          <a:solidFill>
                            <a:srgbClr val="262626"/>
                          </a:solidFill>
                          <a:latin typeface="Arial"/>
                        </a:rPr>
                        <a:t>Potter</a:t>
                      </a:r>
                    </a:p>
                  </a:txBody>
                  <a:tcPr>
                    <a:solidFill>
                      <a:srgbClr val="FFFFFF"/>
                    </a:solidFill>
                  </a:tcPr>
                </a:tc>
                <a:tc>
                  <a:txBody>
                    <a:bodyPr wrap="none"/>
                    <a:lstStyle/>
                    <a:p>
                      <a:pPr algn="ctr"/>
                      <a:r>
                        <a:rPr sz="1400" b="0" i="0">
                          <a:solidFill>
                            <a:srgbClr val="262626"/>
                          </a:solidFill>
                          <a:latin typeface="Arial"/>
                        </a:rPr>
                        <a:t>1:51:58</a:t>
                      </a:r>
                    </a:p>
                  </a:txBody>
                  <a:tcPr>
                    <a:solidFill>
                      <a:srgbClr val="FFFFFF"/>
                    </a:solidFill>
                  </a:tcPr>
                </a:tc>
                <a:tc>
                  <a:txBody>
                    <a:bodyPr wrap="none"/>
                    <a:lstStyle/>
                    <a:p>
                      <a:pPr algn="ctr"/>
                      <a:r>
                        <a:rPr sz="1400" b="0" i="0">
                          <a:solidFill>
                            <a:srgbClr val="262626"/>
                          </a:solidFill>
                          <a:latin typeface="Arial"/>
                        </a:rPr>
                        <a:t>28.9</a:t>
                      </a:r>
                    </a:p>
                  </a:txBody>
                  <a:tcPr>
                    <a:solidFill>
                      <a:srgbClr val="FFFFFF"/>
                    </a:solidFill>
                  </a:tcPr>
                </a:tc>
                <a:tc>
                  <a:txBody>
                    <a:bodyPr wrap="none"/>
                    <a:lstStyle/>
                    <a:p>
                      <a:pPr algn="ctr"/>
                      <a:r>
                        <a:rPr sz="1400" b="0" i="0">
                          <a:solidFill>
                            <a:srgbClr val="262626"/>
                          </a:solidFill>
                          <a:latin typeface="Arial"/>
                        </a:rPr>
                        <a:t>24.3</a:t>
                      </a:r>
                    </a:p>
                  </a:txBody>
                  <a:tcPr>
                    <a:solidFill>
                      <a:srgbClr val="FFFFFF"/>
                    </a:solidFill>
                  </a:tcPr>
                </a:tc>
                <a:tc>
                  <a:txBody>
                    <a:bodyPr wrap="none"/>
                    <a:lstStyle/>
                    <a:p>
                      <a:pPr algn="ctr"/>
                      <a:r>
                        <a:rPr sz="1400" b="0" i="0">
                          <a:solidFill>
                            <a:srgbClr val="262626"/>
                          </a:solidFill>
                          <a:latin typeface="Arial"/>
                        </a:rPr>
                        <a:t>1.50</a:t>
                      </a:r>
                    </a:p>
                  </a:txBody>
                  <a:tcPr>
                    <a:solidFill>
                      <a:srgbClr val="FFFFFF"/>
                    </a:solidFill>
                  </a:tcPr>
                </a:tc>
                <a:tc>
                  <a:txBody>
                    <a:bodyPr wrap="none"/>
                    <a:lstStyle/>
                    <a:p>
                      <a:pPr algn="ctr"/>
                      <a:r>
                        <a:rPr sz="1400" b="0" i="0">
                          <a:solidFill>
                            <a:srgbClr val="262626"/>
                          </a:solidFill>
                          <a:latin typeface="Arial"/>
                        </a:rPr>
                        <a:t>38.0</a:t>
                      </a:r>
                    </a:p>
                  </a:txBody>
                  <a:tcPr>
                    <a:solidFill>
                      <a:srgbClr val="FFFFFF"/>
                    </a:solidFill>
                  </a:tcPr>
                </a:tc>
                <a:tc>
                  <a:txBody>
                    <a:bodyPr wrap="none"/>
                    <a:lstStyle/>
                    <a:p>
                      <a:pPr algn="ctr"/>
                      <a:r>
                        <a:rPr sz="1400" b="0" i="0">
                          <a:solidFill>
                            <a:srgbClr val="262626"/>
                          </a:solidFill>
                          <a:latin typeface="Arial"/>
                        </a:rPr>
                        <a:t>10.0</a:t>
                      </a:r>
                    </a:p>
                  </a:txBody>
                  <a:tcPr>
                    <a:solidFill>
                      <a:srgbClr val="FFFFFF"/>
                    </a:solidFill>
                  </a:tcPr>
                </a:tc>
              </a:tr>
              <a:tr h="512064">
                <a:tc>
                  <a:txBody>
                    <a:bodyPr wrap="none"/>
                    <a:lstStyle/>
                    <a:p>
                      <a:pPr algn="ctr"/>
                      <a:r>
                        <a:rPr sz="1400" b="0" i="0">
                          <a:solidFill>
                            <a:srgbClr val="262626"/>
                          </a:solidFill>
                          <a:latin typeface="Arial"/>
                        </a:rPr>
                        <a:t>2026</a:t>
                      </a:r>
                    </a:p>
                  </a:txBody>
                  <a:tcPr>
                    <a:solidFill>
                      <a:srgbClr val="F2F2F2"/>
                    </a:solidFill>
                  </a:tcPr>
                </a:tc>
                <a:tc>
                  <a:txBody>
                    <a:bodyPr wrap="none"/>
                    <a:lstStyle/>
                    <a:p>
                      <a:pPr algn="ctr"/>
                      <a:r>
                        <a:rPr sz="1400" b="0" i="0">
                          <a:solidFill>
                            <a:srgbClr val="262626"/>
                          </a:solidFill>
                          <a:latin typeface="Arial"/>
                        </a:rPr>
                        <a:t>Aug 29</a:t>
                      </a:r>
                    </a:p>
                  </a:txBody>
                  <a:tcPr>
                    <a:solidFill>
                      <a:srgbClr val="F2F2F2"/>
                    </a:solidFill>
                  </a:tcPr>
                </a:tc>
                <a:tc>
                  <a:txBody>
                    <a:bodyPr wrap="none"/>
                    <a:lstStyle/>
                    <a:p>
                      <a:pPr algn="l"/>
                      <a:r>
                        <a:rPr sz="1200" b="0" i="0">
                          <a:solidFill>
                            <a:srgbClr val="262626"/>
                          </a:solidFill>
                          <a:latin typeface="Arial"/>
                        </a:rPr>
                        <a:t>World Championship Series *</a:t>
                      </a:r>
                    </a:p>
                  </a:txBody>
                  <a:tcPr>
                    <a:solidFill>
                      <a:srgbClr val="F2F2F2"/>
                    </a:solidFill>
                  </a:tcPr>
                </a:tc>
                <a:tc>
                  <a:txBody>
                    <a:bodyPr wrap="none"/>
                    <a:lstStyle/>
                    <a:p>
                      <a:pPr algn="ctr"/>
                      <a:r>
                        <a:rPr sz="1400" b="0" i="0">
                          <a:solidFill>
                            <a:srgbClr val="262626"/>
                          </a:solidFill>
                          <a:latin typeface="Arial"/>
                        </a:rPr>
                        <a:t>41</a:t>
                      </a:r>
                    </a:p>
                  </a:txBody>
                  <a:tcPr>
                    <a:solidFill>
                      <a:srgbClr val="F2F2F2"/>
                    </a:solidFill>
                  </a:tcPr>
                </a:tc>
                <a:tc>
                  <a:txBody>
                    <a:bodyPr wrap="none"/>
                    <a:lstStyle/>
                    <a:p>
                      <a:pPr algn="ctr"/>
                      <a:r>
                        <a:rPr sz="1400" b="0" i="0">
                          <a:solidFill>
                            <a:srgbClr val="262626"/>
                          </a:solidFill>
                          <a:latin typeface="Arial"/>
                        </a:rPr>
                        <a:t>3</a:t>
                      </a:r>
                    </a:p>
                  </a:txBody>
                  <a:tcPr>
                    <a:solidFill>
                      <a:srgbClr val="F2F2F2"/>
                    </a:solidFill>
                  </a:tcPr>
                </a:tc>
                <a:tc>
                  <a:txBody>
                    <a:bodyPr wrap="none"/>
                    <a:lstStyle/>
                    <a:p>
                      <a:pPr algn="l"/>
                      <a:r>
                        <a:rPr sz="1400" b="0" i="0">
                          <a:solidFill>
                            <a:srgbClr val="262626"/>
                          </a:solidFill>
                          <a:latin typeface="Arial"/>
                        </a:rPr>
                        <a:t>Beaugrand</a:t>
                      </a:r>
                    </a:p>
                  </a:txBody>
                  <a:tcPr>
                    <a:solidFill>
                      <a:srgbClr val="F2F2F2"/>
                    </a:solidFill>
                  </a:tcPr>
                </a:tc>
                <a:tc>
                  <a:txBody>
                    <a:bodyPr wrap="none"/>
                    <a:lstStyle/>
                    <a:p>
                      <a:pPr algn="ctr"/>
                      <a:r>
                        <a:rPr sz="1400" b="0" i="0">
                          <a:solidFill>
                            <a:srgbClr val="262626"/>
                          </a:solidFill>
                          <a:latin typeface="Arial"/>
                        </a:rPr>
                        <a:t>1:49:20</a:t>
                      </a:r>
                    </a:p>
                  </a:txBody>
                  <a:tcPr>
                    <a:solidFill>
                      <a:srgbClr val="F2F2F2"/>
                    </a:solidFill>
                  </a:tcPr>
                </a:tc>
                <a:tc>
                  <a:txBody>
                    <a:bodyPr wrap="none"/>
                    <a:lstStyle/>
                    <a:p>
                      <a:pPr algn="ctr"/>
                      <a:r>
                        <a:rPr sz="1400" b="0" i="0">
                          <a:solidFill>
                            <a:srgbClr val="262626"/>
                          </a:solidFill>
                          <a:latin typeface="Arial"/>
                        </a:rPr>
                        <a:t>24.7</a:t>
                      </a:r>
                    </a:p>
                  </a:txBody>
                  <a:tcPr>
                    <a:solidFill>
                      <a:srgbClr val="F2F2F2"/>
                    </a:solidFill>
                  </a:tcPr>
                </a:tc>
                <a:tc>
                  <a:txBody>
                    <a:bodyPr wrap="none"/>
                    <a:lstStyle/>
                    <a:p>
                      <a:pPr algn="ctr"/>
                      <a:r>
                        <a:rPr sz="1400" b="0" i="0">
                          <a:solidFill>
                            <a:srgbClr val="262626"/>
                          </a:solidFill>
                          <a:latin typeface="Arial"/>
                        </a:rPr>
                        <a:t>26.3</a:t>
                      </a:r>
                    </a:p>
                  </a:txBody>
                  <a:tcPr>
                    <a:solidFill>
                      <a:srgbClr val="F2F2F2"/>
                    </a:solidFill>
                  </a:tcPr>
                </a:tc>
                <a:tc>
                  <a:txBody>
                    <a:bodyPr wrap="none"/>
                    <a:lstStyle/>
                    <a:p>
                      <a:pPr algn="ctr"/>
                      <a:r>
                        <a:rPr sz="1400" b="0" i="0">
                          <a:solidFill>
                            <a:srgbClr val="262626"/>
                          </a:solidFill>
                          <a:latin typeface="Arial"/>
                        </a:rPr>
                        <a:t>1.50</a:t>
                      </a:r>
                    </a:p>
                  </a:txBody>
                  <a:tcPr>
                    <a:solidFill>
                      <a:srgbClr val="F2F2F2"/>
                    </a:solidFill>
                  </a:tcPr>
                </a:tc>
                <a:tc>
                  <a:txBody>
                    <a:bodyPr wrap="none"/>
                    <a:lstStyle/>
                    <a:p>
                      <a:pPr algn="ctr"/>
                      <a:r>
                        <a:rPr sz="1400" b="0" i="0">
                          <a:solidFill>
                            <a:srgbClr val="262626"/>
                          </a:solidFill>
                          <a:latin typeface="Arial"/>
                        </a:rPr>
                        <a:t>38.6</a:t>
                      </a:r>
                    </a:p>
                  </a:txBody>
                  <a:tcPr>
                    <a:solidFill>
                      <a:srgbClr val="F2F2F2"/>
                    </a:solidFill>
                  </a:tcPr>
                </a:tc>
                <a:tc>
                  <a:txBody>
                    <a:bodyPr wrap="none"/>
                    <a:lstStyle/>
                    <a:p>
                      <a:pPr algn="ctr"/>
                      <a:r>
                        <a:rPr sz="1400" b="0" i="0">
                          <a:solidFill>
                            <a:srgbClr val="262626"/>
                          </a:solidFill>
                          <a:latin typeface="Arial"/>
                        </a:rPr>
                        <a:t>10.0</a:t>
                      </a:r>
                    </a:p>
                  </a:txBody>
                  <a:tcPr>
                    <a:solidFill>
                      <a:srgbClr val="F2F2F2"/>
                    </a:solidFill>
                  </a:tcPr>
                </a:tc>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274320" y="1481328"/>
            <a:ext cx="11640312" cy="3749039"/>
          </a:xfrm>
          <a:prstGeom prst="rect">
            <a:avLst/>
          </a:prstGeom>
        </p:spPr>
      </p:pic>
      <p:graphicFrame>
        <p:nvGraphicFramePr>
          <p:cNvPr id="10" name="Table 9"/>
          <p:cNvGraphicFramePr>
            <a:graphicFrameLocks noGrp="1"/>
          </p:cNvGraphicFramePr>
          <p:nvPr/>
        </p:nvGraphicFramePr>
        <p:xfrm>
          <a:off x="274320" y="5285232"/>
          <a:ext cx="11640311" cy="1417320"/>
        </p:xfrm>
        <a:graphic>
          <a:graphicData uri="http://schemas.openxmlformats.org/drawingml/2006/table">
            <a:tbl>
              <a:tblPr firstRow="1" bandRow="1">
                <a:tableStyleId>{5C22544A-7EE6-4342-B048-85BDC9FD1C3A}</a:tableStyleId>
              </a:tblPr>
              <a:tblGrid>
                <a:gridCol w="685800"/>
                <a:gridCol w="1828800"/>
                <a:gridCol w="1828800"/>
                <a:gridCol w="1188720"/>
                <a:gridCol w="2286000"/>
                <a:gridCol w="3822191"/>
              </a:tblGrid>
              <a:tr h="202474">
                <a:tc>
                  <a:txBody>
                    <a:bodyPr wrap="none"/>
                    <a:lstStyle/>
                    <a:p>
                      <a:pPr algn="ctr"/>
                      <a:r>
                        <a:rPr sz="1000" b="1" i="0">
                          <a:solidFill>
                            <a:srgbClr val="FFFFFF"/>
                          </a:solidFill>
                          <a:latin typeface="Arial"/>
                        </a:rPr>
                        <a:t>Year</a:t>
                      </a:r>
                    </a:p>
                  </a:txBody>
                  <a:tcPr>
                    <a:solidFill>
                      <a:srgbClr val="002060"/>
                    </a:solidFill>
                  </a:tcPr>
                </a:tc>
                <a:tc>
                  <a:txBody>
                    <a:bodyPr wrap="none"/>
                    <a:lstStyle/>
                    <a:p>
                      <a:pPr algn="ctr"/>
                      <a:r>
                        <a:rPr sz="1000" b="1" i="0">
                          <a:solidFill>
                            <a:srgbClr val="FFFFFF"/>
                          </a:solidFill>
                          <a:latin typeface="Arial"/>
                        </a:rPr>
                        <a:t>Lead Size @ T1</a:t>
                      </a:r>
                    </a:p>
                  </a:txBody>
                  <a:tcPr>
                    <a:solidFill>
                      <a:srgbClr val="002060"/>
                    </a:solidFill>
                  </a:tcPr>
                </a:tc>
                <a:tc>
                  <a:txBody>
                    <a:bodyPr wrap="none"/>
                    <a:lstStyle/>
                    <a:p>
                      <a:pPr algn="ctr"/>
                      <a:r>
                        <a:rPr sz="1000" b="1" i="0">
                          <a:solidFill>
                            <a:srgbClr val="FFFFFF"/>
                          </a:solidFill>
                          <a:latin typeface="Arial"/>
                        </a:rPr>
                        <a:t>Lead Size @ T2</a:t>
                      </a:r>
                    </a:p>
                  </a:txBody>
                  <a:tcPr>
                    <a:solidFill>
                      <a:srgbClr val="002060"/>
                    </a:solidFill>
                  </a:tcPr>
                </a:tc>
                <a:tc>
                  <a:txBody>
                    <a:bodyPr wrap="none"/>
                    <a:lstStyle/>
                    <a:p>
                      <a:pPr algn="ctr"/>
                      <a:r>
                        <a:rPr sz="1000" b="1" i="0">
                          <a:solidFill>
                            <a:srgbClr val="FFFFFF"/>
                          </a:solidFill>
                          <a:latin typeface="Arial"/>
                        </a:rPr>
                        <a:t>Change</a:t>
                      </a:r>
                    </a:p>
                  </a:txBody>
                  <a:tcPr>
                    <a:solidFill>
                      <a:srgbClr val="002060"/>
                    </a:solidFill>
                  </a:tcPr>
                </a:tc>
                <a:tc>
                  <a:txBody>
                    <a:bodyPr wrap="none"/>
                    <a:lstStyle/>
                    <a:p>
                      <a:pPr algn="ctr"/>
                      <a:r>
                        <a:rPr sz="1000" b="1" i="0">
                          <a:solidFill>
                            <a:srgbClr val="FFFFFF"/>
                          </a:solidFill>
                          <a:latin typeface="Arial"/>
                        </a:rPr>
                        <a:t>Chase Group @ T2</a:t>
                      </a:r>
                    </a:p>
                  </a:txBody>
                  <a:tcPr>
                    <a:solidFill>
                      <a:srgbClr val="002060"/>
                    </a:solidFill>
                  </a:tcPr>
                </a:tc>
                <a:tc>
                  <a:txBody>
                    <a:bodyPr wrap="none"/>
                    <a:lstStyle/>
                    <a:p>
                      <a:pPr algn="ctr"/>
                      <a:r>
                        <a:rPr sz="1000" b="1" i="0">
                          <a:solidFill>
                            <a:srgbClr val="FFFFFF"/>
                          </a:solidFill>
                          <a:latin typeface="Arial"/>
                        </a:rPr>
                        <a:t>Chase Gap*</a:t>
                      </a:r>
                    </a:p>
                  </a:txBody>
                  <a:tcPr>
                    <a:solidFill>
                      <a:srgbClr val="002060"/>
                    </a:solidFill>
                  </a:tcPr>
                </a:tc>
              </a:tr>
              <a:tr h="202474">
                <a:tc>
                  <a:txBody>
                    <a:bodyPr wrap="none"/>
                    <a:lstStyle/>
                    <a:p>
                      <a:pPr algn="ctr"/>
                      <a:r>
                        <a:rPr sz="950" b="0" i="0">
                          <a:solidFill>
                            <a:srgbClr val="262626"/>
                          </a:solidFill>
                          <a:latin typeface="Arial"/>
                        </a:rPr>
                        <a:t>2018</a:t>
                      </a:r>
                    </a:p>
                  </a:txBody>
                  <a:tcPr>
                    <a:solidFill>
                      <a:srgbClr val="FFFFFF"/>
                    </a:solidFill>
                  </a:tcPr>
                </a:tc>
                <a:tc>
                  <a:txBody>
                    <a:bodyPr wrap="none"/>
                    <a:lstStyle/>
                    <a:p>
                      <a:pPr algn="ctr"/>
                      <a:r>
                        <a:rPr sz="950" b="0" i="0">
                          <a:solidFill>
                            <a:srgbClr val="262626"/>
                          </a:solidFill>
                          <a:latin typeface="Arial"/>
                        </a:rPr>
                        <a:t>16</a:t>
                      </a:r>
                    </a:p>
                  </a:txBody>
                  <a:tcPr>
                    <a:solidFill>
                      <a:srgbClr val="FFFFFF"/>
                    </a:solidFill>
                  </a:tcPr>
                </a:tc>
                <a:tc>
                  <a:txBody>
                    <a:bodyPr wrap="none"/>
                    <a:lstStyle/>
                    <a:p>
                      <a:pPr algn="ctr"/>
                      <a:r>
                        <a:rPr sz="950" b="0" i="0">
                          <a:solidFill>
                            <a:srgbClr val="262626"/>
                          </a:solidFill>
                          <a:latin typeface="Arial"/>
                        </a:rPr>
                        <a:t>6</a:t>
                      </a:r>
                    </a:p>
                  </a:txBody>
                  <a:tcPr>
                    <a:solidFill>
                      <a:srgbClr val="FFFFFF"/>
                    </a:solidFill>
                  </a:tcPr>
                </a:tc>
                <a:tc>
                  <a:txBody>
                    <a:bodyPr wrap="none"/>
                    <a:lstStyle/>
                    <a:p>
                      <a:pPr algn="ctr"/>
                      <a:r>
                        <a:rPr sz="950" b="0" i="0">
                          <a:solidFill>
                            <a:srgbClr val="262626"/>
                          </a:solidFill>
                          <a:latin typeface="Arial"/>
                        </a:rPr>
                        <a:t>-10</a:t>
                      </a:r>
                    </a:p>
                  </a:txBody>
                  <a:tcPr>
                    <a:solidFill>
                      <a:srgbClr val="FFFFFF"/>
                    </a:solidFill>
                  </a:tcPr>
                </a:tc>
                <a:tc>
                  <a:txBody>
                    <a:bodyPr wrap="none"/>
                    <a:lstStyle/>
                    <a:p>
                      <a:pPr algn="ctr"/>
                      <a:r>
                        <a:rPr sz="950" b="0" i="0">
                          <a:solidFill>
                            <a:srgbClr val="262626"/>
                          </a:solidFill>
                          <a:latin typeface="Arial"/>
                        </a:rPr>
                        <a:t>1</a:t>
                      </a:r>
                    </a:p>
                  </a:txBody>
                  <a:tcPr>
                    <a:solidFill>
                      <a:srgbClr val="FFFFFF"/>
                    </a:solidFill>
                  </a:tcPr>
                </a:tc>
                <a:tc>
                  <a:txBody>
                    <a:bodyPr wrap="none"/>
                    <a:lstStyle/>
                    <a:p>
                      <a:pPr algn="ctr"/>
                      <a:r>
                        <a:rPr sz="950" b="0" i="0">
                          <a:solidFill>
                            <a:srgbClr val="262626"/>
                          </a:solidFill>
                          <a:latin typeface="Arial"/>
                        </a:rPr>
                        <a:t>87s</a:t>
                      </a:r>
                    </a:p>
                  </a:txBody>
                  <a:tcPr>
                    <a:solidFill>
                      <a:srgbClr val="FFFFFF"/>
                    </a:solidFill>
                  </a:tcPr>
                </a:tc>
              </a:tr>
              <a:tr h="202474">
                <a:tc>
                  <a:txBody>
                    <a:bodyPr wrap="none"/>
                    <a:lstStyle/>
                    <a:p>
                      <a:pPr algn="ctr"/>
                      <a:r>
                        <a:rPr sz="950" b="0" i="0">
                          <a:solidFill>
                            <a:srgbClr val="262626"/>
                          </a:solidFill>
                          <a:latin typeface="Arial"/>
                        </a:rPr>
                        <a:t>2019</a:t>
                      </a:r>
                    </a:p>
                  </a:txBody>
                  <a:tcPr>
                    <a:solidFill>
                      <a:srgbClr val="F2F2F2"/>
                    </a:solidFill>
                  </a:tcPr>
                </a:tc>
                <a:tc>
                  <a:txBody>
                    <a:bodyPr wrap="none"/>
                    <a:lstStyle/>
                    <a:p>
                      <a:pPr algn="ctr"/>
                      <a:r>
                        <a:rPr sz="950" b="0" i="0">
                          <a:solidFill>
                            <a:srgbClr val="262626"/>
                          </a:solidFill>
                          <a:latin typeface="Arial"/>
                        </a:rPr>
                        <a:t>7</a:t>
                      </a:r>
                    </a:p>
                  </a:txBody>
                  <a:tcPr>
                    <a:solidFill>
                      <a:srgbClr val="F2F2F2"/>
                    </a:solidFill>
                  </a:tcPr>
                </a:tc>
                <a:tc>
                  <a:txBody>
                    <a:bodyPr wrap="none"/>
                    <a:lstStyle/>
                    <a:p>
                      <a:pPr algn="ctr"/>
                      <a:r>
                        <a:rPr sz="950" b="0" i="0">
                          <a:solidFill>
                            <a:srgbClr val="262626"/>
                          </a:solidFill>
                          <a:latin typeface="Arial"/>
                        </a:rPr>
                        <a:t>3</a:t>
                      </a:r>
                    </a:p>
                  </a:txBody>
                  <a:tcPr>
                    <a:solidFill>
                      <a:srgbClr val="F2F2F2"/>
                    </a:solidFill>
                  </a:tcPr>
                </a:tc>
                <a:tc>
                  <a:txBody>
                    <a:bodyPr wrap="none"/>
                    <a:lstStyle/>
                    <a:p>
                      <a:pPr algn="ctr"/>
                      <a:r>
                        <a:rPr sz="950" b="0" i="0">
                          <a:solidFill>
                            <a:srgbClr val="262626"/>
                          </a:solidFill>
                          <a:latin typeface="Arial"/>
                        </a:rPr>
                        <a:t>-4</a:t>
                      </a:r>
                    </a:p>
                  </a:txBody>
                  <a:tcPr>
                    <a:solidFill>
                      <a:srgbClr val="F2F2F2"/>
                    </a:solidFill>
                  </a:tcPr>
                </a:tc>
                <a:tc>
                  <a:txBody>
                    <a:bodyPr wrap="none"/>
                    <a:lstStyle/>
                    <a:p>
                      <a:pPr algn="ctr"/>
                      <a:r>
                        <a:rPr sz="950" b="0" i="0">
                          <a:solidFill>
                            <a:srgbClr val="262626"/>
                          </a:solidFill>
                          <a:latin typeface="Arial"/>
                        </a:rPr>
                        <a:t>8</a:t>
                      </a:r>
                    </a:p>
                  </a:txBody>
                  <a:tcPr>
                    <a:solidFill>
                      <a:srgbClr val="F2F2F2"/>
                    </a:solidFill>
                  </a:tcPr>
                </a:tc>
                <a:tc>
                  <a:txBody>
                    <a:bodyPr wrap="none"/>
                    <a:lstStyle/>
                    <a:p>
                      <a:pPr algn="ctr"/>
                      <a:r>
                        <a:rPr sz="950" b="0" i="0">
                          <a:solidFill>
                            <a:srgbClr val="262626"/>
                          </a:solidFill>
                          <a:latin typeface="Arial"/>
                        </a:rPr>
                        <a:t>171s</a:t>
                      </a:r>
                    </a:p>
                  </a:txBody>
                  <a:tcPr>
                    <a:solidFill>
                      <a:srgbClr val="F2F2F2"/>
                    </a:solidFill>
                  </a:tcPr>
                </a:tc>
              </a:tr>
              <a:tr h="202474">
                <a:tc>
                  <a:txBody>
                    <a:bodyPr wrap="none"/>
                    <a:lstStyle/>
                    <a:p>
                      <a:pPr algn="ctr"/>
                      <a:r>
                        <a:rPr sz="950" b="0" i="0">
                          <a:solidFill>
                            <a:srgbClr val="262626"/>
                          </a:solidFill>
                          <a:latin typeface="Arial"/>
                        </a:rPr>
                        <a:t>2023</a:t>
                      </a:r>
                    </a:p>
                  </a:txBody>
                  <a:tcPr>
                    <a:solidFill>
                      <a:srgbClr val="FFFFFF"/>
                    </a:solidFill>
                  </a:tcPr>
                </a:tc>
                <a:tc>
                  <a:txBody>
                    <a:bodyPr wrap="none"/>
                    <a:lstStyle/>
                    <a:p>
                      <a:pPr algn="ctr"/>
                      <a:r>
                        <a:rPr sz="950" b="0" i="0">
                          <a:solidFill>
                            <a:srgbClr val="262626"/>
                          </a:solidFill>
                          <a:latin typeface="Arial"/>
                        </a:rPr>
                        <a:t>1</a:t>
                      </a:r>
                    </a:p>
                  </a:txBody>
                  <a:tcPr>
                    <a:solidFill>
                      <a:srgbClr val="FFFFFF"/>
                    </a:solidFill>
                  </a:tcPr>
                </a:tc>
                <a:tc>
                  <a:txBody>
                    <a:bodyPr wrap="none"/>
                    <a:lstStyle/>
                    <a:p>
                      <a:pPr algn="ctr"/>
                      <a:r>
                        <a:rPr sz="950" b="0" i="0">
                          <a:solidFill>
                            <a:srgbClr val="262626"/>
                          </a:solidFill>
                          <a:latin typeface="Arial"/>
                        </a:rPr>
                        <a:t>1</a:t>
                      </a:r>
                    </a:p>
                  </a:txBody>
                  <a:tcPr>
                    <a:solidFill>
                      <a:srgbClr val="FFFFFF"/>
                    </a:solidFill>
                  </a:tcPr>
                </a:tc>
                <a:tc>
                  <a:txBody>
                    <a:bodyPr wrap="none"/>
                    <a:lstStyle/>
                    <a:p>
                      <a:pPr algn="ctr"/>
                      <a:r>
                        <a:rPr sz="950" b="0" i="0">
                          <a:solidFill>
                            <a:srgbClr val="262626"/>
                          </a:solidFill>
                          <a:latin typeface="Arial"/>
                        </a:rPr>
                        <a:t>0</a:t>
                      </a:r>
                    </a:p>
                  </a:txBody>
                  <a:tcPr>
                    <a:solidFill>
                      <a:srgbClr val="FFFFFF"/>
                    </a:solidFill>
                  </a:tcPr>
                </a:tc>
                <a:tc>
                  <a:txBody>
                    <a:bodyPr wrap="none"/>
                    <a:lstStyle/>
                    <a:p>
                      <a:pPr algn="ctr"/>
                      <a:r>
                        <a:rPr sz="950" b="0" i="0">
                          <a:solidFill>
                            <a:srgbClr val="262626"/>
                          </a:solidFill>
                          <a:latin typeface="Arial"/>
                        </a:rPr>
                        <a:t>14</a:t>
                      </a:r>
                    </a:p>
                  </a:txBody>
                  <a:tcPr>
                    <a:solidFill>
                      <a:srgbClr val="FFFFFF"/>
                    </a:solidFill>
                  </a:tcPr>
                </a:tc>
                <a:tc>
                  <a:txBody>
                    <a:bodyPr wrap="none"/>
                    <a:lstStyle/>
                    <a:p>
                      <a:pPr algn="ctr"/>
                      <a:r>
                        <a:rPr sz="950" b="0" i="0">
                          <a:solidFill>
                            <a:srgbClr val="262626"/>
                          </a:solidFill>
                          <a:latin typeface="Arial"/>
                        </a:rPr>
                        <a:t>460s</a:t>
                      </a:r>
                    </a:p>
                  </a:txBody>
                  <a:tcPr>
                    <a:solidFill>
                      <a:srgbClr val="FFFFFF"/>
                    </a:solidFill>
                  </a:tcPr>
                </a:tc>
              </a:tr>
              <a:tr h="202474">
                <a:tc>
                  <a:txBody>
                    <a:bodyPr wrap="none"/>
                    <a:lstStyle/>
                    <a:p>
                      <a:pPr algn="ctr"/>
                      <a:r>
                        <a:rPr sz="950" b="0" i="0">
                          <a:solidFill>
                            <a:srgbClr val="262626"/>
                          </a:solidFill>
                          <a:latin typeface="Arial"/>
                        </a:rPr>
                        <a:t>2024</a:t>
                      </a:r>
                    </a:p>
                  </a:txBody>
                  <a:tcPr>
                    <a:solidFill>
                      <a:srgbClr val="F2F2F2"/>
                    </a:solidFill>
                  </a:tcPr>
                </a:tc>
                <a:tc>
                  <a:txBody>
                    <a:bodyPr wrap="none"/>
                    <a:lstStyle/>
                    <a:p>
                      <a:pPr algn="ctr"/>
                      <a:r>
                        <a:rPr sz="950" b="0" i="0">
                          <a:solidFill>
                            <a:srgbClr val="262626"/>
                          </a:solidFill>
                          <a:latin typeface="Arial"/>
                        </a:rPr>
                        <a:t>8</a:t>
                      </a:r>
                    </a:p>
                  </a:txBody>
                  <a:tcPr>
                    <a:solidFill>
                      <a:srgbClr val="F2F2F2"/>
                    </a:solidFill>
                  </a:tcPr>
                </a:tc>
                <a:tc>
                  <a:txBody>
                    <a:bodyPr wrap="none"/>
                    <a:lstStyle/>
                    <a:p>
                      <a:pPr algn="ctr"/>
                      <a:r>
                        <a:rPr sz="950" b="0" i="0">
                          <a:solidFill>
                            <a:srgbClr val="262626"/>
                          </a:solidFill>
                          <a:latin typeface="Arial"/>
                        </a:rPr>
                        <a:t>17</a:t>
                      </a:r>
                    </a:p>
                  </a:txBody>
                  <a:tcPr>
                    <a:solidFill>
                      <a:srgbClr val="F2F2F2"/>
                    </a:solidFill>
                  </a:tcPr>
                </a:tc>
                <a:tc>
                  <a:txBody>
                    <a:bodyPr wrap="none"/>
                    <a:lstStyle/>
                    <a:p>
                      <a:pPr algn="ctr"/>
                      <a:r>
                        <a:rPr sz="950" b="0" i="0">
                          <a:solidFill>
                            <a:srgbClr val="262626"/>
                          </a:solidFill>
                          <a:latin typeface="Arial"/>
                        </a:rPr>
                        <a:t>+9</a:t>
                      </a:r>
                    </a:p>
                  </a:txBody>
                  <a:tcPr>
                    <a:solidFill>
                      <a:srgbClr val="F2F2F2"/>
                    </a:solidFill>
                  </a:tcPr>
                </a:tc>
                <a:tc>
                  <a:txBody>
                    <a:bodyPr wrap="none"/>
                    <a:lstStyle/>
                    <a:p>
                      <a:pPr algn="ctr"/>
                      <a:r>
                        <a:rPr sz="950" b="0" i="0">
                          <a:solidFill>
                            <a:srgbClr val="262626"/>
                          </a:solidFill>
                          <a:latin typeface="Arial"/>
                        </a:rPr>
                        <a:t>1</a:t>
                      </a:r>
                    </a:p>
                  </a:txBody>
                  <a:tcPr>
                    <a:solidFill>
                      <a:srgbClr val="F2F2F2"/>
                    </a:solidFill>
                  </a:tcPr>
                </a:tc>
                <a:tc>
                  <a:txBody>
                    <a:bodyPr wrap="none"/>
                    <a:lstStyle/>
                    <a:p>
                      <a:pPr algn="ctr"/>
                      <a:r>
                        <a:rPr sz="950" b="0" i="0">
                          <a:solidFill>
                            <a:srgbClr val="262626"/>
                          </a:solidFill>
                          <a:latin typeface="Arial"/>
                        </a:rPr>
                        <a:t>124s</a:t>
                      </a:r>
                    </a:p>
                  </a:txBody>
                  <a:tcPr>
                    <a:solidFill>
                      <a:srgbClr val="F2F2F2"/>
                    </a:solidFill>
                  </a:tcPr>
                </a:tc>
              </a:tr>
              <a:tr h="202474">
                <a:tc>
                  <a:txBody>
                    <a:bodyPr wrap="none"/>
                    <a:lstStyle/>
                    <a:p>
                      <a:pPr algn="ctr"/>
                      <a:r>
                        <a:rPr sz="950" b="0" i="0">
                          <a:solidFill>
                            <a:srgbClr val="262626"/>
                          </a:solidFill>
                          <a:latin typeface="Arial"/>
                        </a:rPr>
                        <a:t>2025</a:t>
                      </a:r>
                    </a:p>
                  </a:txBody>
                  <a:tcPr>
                    <a:solidFill>
                      <a:srgbClr val="FFFFFF"/>
                    </a:solidFill>
                  </a:tcPr>
                </a:tc>
                <a:tc>
                  <a:txBody>
                    <a:bodyPr wrap="none"/>
                    <a:lstStyle/>
                    <a:p>
                      <a:pPr algn="ctr"/>
                      <a:r>
                        <a:rPr sz="950" b="0" i="0">
                          <a:solidFill>
                            <a:srgbClr val="262626"/>
                          </a:solidFill>
                          <a:latin typeface="Arial"/>
                        </a:rPr>
                        <a:t>14</a:t>
                      </a:r>
                    </a:p>
                  </a:txBody>
                  <a:tcPr>
                    <a:solidFill>
                      <a:srgbClr val="FFFFFF"/>
                    </a:solidFill>
                  </a:tcPr>
                </a:tc>
                <a:tc>
                  <a:txBody>
                    <a:bodyPr wrap="none"/>
                    <a:lstStyle/>
                    <a:p>
                      <a:pPr algn="ctr"/>
                      <a:r>
                        <a:rPr sz="950" b="0" i="0">
                          <a:solidFill>
                            <a:srgbClr val="262626"/>
                          </a:solidFill>
                          <a:latin typeface="Arial"/>
                        </a:rPr>
                        <a:t>23</a:t>
                      </a:r>
                    </a:p>
                  </a:txBody>
                  <a:tcPr>
                    <a:solidFill>
                      <a:srgbClr val="FFFFFF"/>
                    </a:solidFill>
                  </a:tcPr>
                </a:tc>
                <a:tc>
                  <a:txBody>
                    <a:bodyPr wrap="none"/>
                    <a:lstStyle/>
                    <a:p>
                      <a:pPr algn="ctr"/>
                      <a:r>
                        <a:rPr sz="950" b="0" i="0">
                          <a:solidFill>
                            <a:srgbClr val="262626"/>
                          </a:solidFill>
                          <a:latin typeface="Arial"/>
                        </a:rPr>
                        <a:t>+9</a:t>
                      </a:r>
                    </a:p>
                  </a:txBody>
                  <a:tcPr>
                    <a:solidFill>
                      <a:srgbClr val="FFFFFF"/>
                    </a:solidFill>
                  </a:tcPr>
                </a:tc>
                <a:tc>
                  <a:txBody>
                    <a:bodyPr wrap="none"/>
                    <a:lstStyle/>
                    <a:p>
                      <a:pPr algn="ctr"/>
                      <a:r>
                        <a:rPr sz="950" b="0" i="0">
                          <a:solidFill>
                            <a:srgbClr val="262626"/>
                          </a:solidFill>
                          <a:latin typeface="Arial"/>
                        </a:rPr>
                        <a:t>4</a:t>
                      </a:r>
                    </a:p>
                  </a:txBody>
                  <a:tcPr>
                    <a:solidFill>
                      <a:srgbClr val="FFFFFF"/>
                    </a:solidFill>
                  </a:tcPr>
                </a:tc>
                <a:tc>
                  <a:txBody>
                    <a:bodyPr wrap="none"/>
                    <a:lstStyle/>
                    <a:p>
                      <a:pPr algn="ctr"/>
                      <a:r>
                        <a:rPr sz="950" b="0" i="0">
                          <a:solidFill>
                            <a:srgbClr val="262626"/>
                          </a:solidFill>
                          <a:latin typeface="Arial"/>
                        </a:rPr>
                        <a:t>204s</a:t>
                      </a:r>
                    </a:p>
                  </a:txBody>
                  <a:tcPr>
                    <a:solidFill>
                      <a:srgbClr val="FFFFFF"/>
                    </a:solidFill>
                  </a:tcPr>
                </a:tc>
              </a:tr>
              <a:tr h="202476">
                <a:tc>
                  <a:txBody>
                    <a:bodyPr wrap="none"/>
                    <a:lstStyle/>
                    <a:p>
                      <a:pPr algn="ctr"/>
                      <a:r>
                        <a:rPr sz="950" b="0" i="0">
                          <a:solidFill>
                            <a:srgbClr val="262626"/>
                          </a:solidFill>
                          <a:latin typeface="Arial"/>
                        </a:rPr>
                        <a:t>2026</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c>
                  <a:txBody>
                    <a:bodyPr wrap="none"/>
                    <a:lstStyle/>
                    <a:p>
                      <a:pPr algn="ctr"/>
                      <a:r>
                        <a:rPr sz="950" b="0" i="0">
                          <a:solidFill>
                            <a:srgbClr val="262626"/>
                          </a:solidFill>
                          <a:latin typeface="Arial"/>
                        </a:rPr>
                        <a:t>—</a:t>
                      </a:r>
                    </a:p>
                  </a:txBody>
                  <a:tcPr>
                    <a:solidFill>
                      <a:srgbClr val="F2F2F2"/>
                    </a:solidFill>
                  </a:tcPr>
                </a:tc>
              </a:tr>
            </a:tbl>
          </a:graphicData>
        </a:graphic>
      </p:graphicFrame>
      <p:sp>
        <p:nvSpPr>
          <p:cNvPr id="11" name="TextBox 10"/>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
        <p:nvSpPr>
          <p:cNvPr id="12" name="TextBox 11"/>
          <p:cNvSpPr txBox="1"/>
          <p:nvPr/>
        </p:nvSpPr>
        <p:spPr>
          <a:xfrm>
            <a:off x="274320" y="6720840"/>
            <a:ext cx="11640312" cy="164592"/>
          </a:xfrm>
          <a:prstGeom prst="rect">
            <a:avLst/>
          </a:prstGeom>
          <a:noFill/>
        </p:spPr>
        <p:txBody>
          <a:bodyPr wrap="square">
            <a:spAutoFit/>
          </a:bodyPr>
          <a:lstStyle/>
          <a:p>
            <a:pPr algn="l"/>
            <a:r>
              <a:rPr sz="750" b="0" i="1">
                <a:solidFill>
                  <a:srgbClr val="BFBFBF"/>
                </a:solidFill>
                <a:latin typeface="Arial"/>
              </a:rPr>
              <a:t>Dropouts: 2018: 9 DNF/LAP  |  2019: 4 DNF/LAP  |  2023: 7 DNF/LAP  |  2024: 1 DNF/LAP  |  2025: 1 DNF/LAP (1 in lead group at bike)  |  2026: 3 DNF/LAP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74320" y="1078992"/>
            <a:ext cx="11640312" cy="3017520"/>
          </a:xfrm>
          <a:prstGeom prst="rect">
            <a:avLst/>
          </a:prstGeom>
        </p:spPr>
      </p:pic>
      <p:graphicFrame>
        <p:nvGraphicFramePr>
          <p:cNvPr id="9" name="Table 8"/>
          <p:cNvGraphicFramePr>
            <a:graphicFrameLocks noGrp="1"/>
          </p:cNvGraphicFramePr>
          <p:nvPr/>
        </p:nvGraphicFramePr>
        <p:xfrm>
          <a:off x="274320" y="4187952"/>
          <a:ext cx="11640312" cy="2432304"/>
        </p:xfrm>
        <a:graphic>
          <a:graphicData uri="http://schemas.openxmlformats.org/drawingml/2006/table">
            <a:tbl>
              <a:tblPr firstRow="1" bandRow="1">
                <a:tableStyleId>{5C22544A-7EE6-4342-B048-85BDC9FD1C3A}</a:tableStyleId>
              </a:tblPr>
              <a:tblGrid>
                <a:gridCol w="640080"/>
                <a:gridCol w="1833372"/>
                <a:gridCol w="1833372"/>
                <a:gridCol w="1833372"/>
                <a:gridCol w="1833372"/>
                <a:gridCol w="1833372"/>
                <a:gridCol w="1833372"/>
              </a:tblGrid>
              <a:tr h="347472">
                <a:tc>
                  <a:txBody>
                    <a:bodyPr wrap="none"/>
                    <a:lstStyle/>
                    <a:p>
                      <a:pPr algn="ctr"/>
                      <a:r>
                        <a:rPr sz="1000" b="1" i="0">
                          <a:solidFill>
                            <a:srgbClr val="FFFFFF"/>
                          </a:solidFill>
                          <a:latin typeface="Arial"/>
                        </a:rPr>
                        <a:t>Year</a:t>
                      </a:r>
                    </a:p>
                  </a:txBody>
                  <a:tcPr>
                    <a:solidFill>
                      <a:srgbClr val="002060"/>
                    </a:solidFill>
                  </a:tcPr>
                </a:tc>
                <a:tc>
                  <a:txBody>
                    <a:bodyPr wrap="none"/>
                    <a:lstStyle/>
                    <a:p>
                      <a:pPr algn="ctr"/>
                      <a:r>
                        <a:rPr sz="1000" b="1" i="0">
                          <a:solidFill>
                            <a:srgbClr val="FFFFFF"/>
                          </a:solidFill>
                          <a:latin typeface="Arial"/>
                        </a:rPr>
                        <a:t>1st</a:t>
                      </a:r>
                    </a:p>
                  </a:txBody>
                  <a:tcPr>
                    <a:solidFill>
                      <a:srgbClr val="002060"/>
                    </a:solidFill>
                  </a:tcPr>
                </a:tc>
                <a:tc>
                  <a:txBody>
                    <a:bodyPr wrap="none"/>
                    <a:lstStyle/>
                    <a:p>
                      <a:pPr algn="ctr"/>
                      <a:r>
                        <a:rPr sz="1000" b="1" i="0">
                          <a:solidFill>
                            <a:srgbClr val="FFFFFF"/>
                          </a:solidFill>
                          <a:latin typeface="Arial"/>
                        </a:rPr>
                        <a:t>2nd</a:t>
                      </a:r>
                    </a:p>
                  </a:txBody>
                  <a:tcPr>
                    <a:solidFill>
                      <a:srgbClr val="002060"/>
                    </a:solidFill>
                  </a:tcPr>
                </a:tc>
                <a:tc>
                  <a:txBody>
                    <a:bodyPr wrap="none"/>
                    <a:lstStyle/>
                    <a:p>
                      <a:pPr algn="ctr"/>
                      <a:r>
                        <a:rPr sz="1000" b="1" i="0">
                          <a:solidFill>
                            <a:srgbClr val="FFFFFF"/>
                          </a:solidFill>
                          <a:latin typeface="Arial"/>
                        </a:rPr>
                        <a:t>3rd</a:t>
                      </a:r>
                    </a:p>
                  </a:txBody>
                  <a:tcPr>
                    <a:solidFill>
                      <a:srgbClr val="002060"/>
                    </a:solidFill>
                  </a:tcPr>
                </a:tc>
                <a:tc>
                  <a:txBody>
                    <a:bodyPr wrap="none"/>
                    <a:lstStyle/>
                    <a:p>
                      <a:pPr algn="ctr"/>
                      <a:r>
                        <a:rPr sz="1000" b="1" i="0">
                          <a:solidFill>
                            <a:srgbClr val="FFFFFF"/>
                          </a:solidFill>
                          <a:latin typeface="Arial"/>
                        </a:rPr>
                        <a:t>5th</a:t>
                      </a:r>
                    </a:p>
                  </a:txBody>
                  <a:tcPr>
                    <a:solidFill>
                      <a:srgbClr val="002060"/>
                    </a:solidFill>
                  </a:tcPr>
                </a:tc>
                <a:tc>
                  <a:txBody>
                    <a:bodyPr wrap="none"/>
                    <a:lstStyle/>
                    <a:p>
                      <a:pPr algn="ctr"/>
                      <a:r>
                        <a:rPr sz="1000" b="1" i="0">
                          <a:solidFill>
                            <a:srgbClr val="FFFFFF"/>
                          </a:solidFill>
                          <a:latin typeface="Arial"/>
                        </a:rPr>
                        <a:t>10th</a:t>
                      </a:r>
                    </a:p>
                  </a:txBody>
                  <a:tcPr>
                    <a:solidFill>
                      <a:srgbClr val="002060"/>
                    </a:solidFill>
                  </a:tcPr>
                </a:tc>
                <a:tc>
                  <a:txBody>
                    <a:bodyPr wrap="none"/>
                    <a:lstStyle/>
                    <a:p>
                      <a:pPr algn="ctr"/>
                      <a:r>
                        <a:rPr sz="1000" b="1" i="0">
                          <a:solidFill>
                            <a:srgbClr val="FFFFFF"/>
                          </a:solidFill>
                          <a:latin typeface="Arial"/>
                        </a:rPr>
                        <a:t>20th</a:t>
                      </a:r>
                    </a:p>
                  </a:txBody>
                  <a:tcPr>
                    <a:solidFill>
                      <a:srgbClr val="002060"/>
                    </a:solidFill>
                  </a:tcPr>
                </a:tc>
              </a:tr>
              <a:tr h="347472">
                <a:tc>
                  <a:txBody>
                    <a:bodyPr wrap="none"/>
                    <a:lstStyle/>
                    <a:p>
                      <a:pPr algn="ctr"/>
                      <a:r>
                        <a:rPr sz="1000" b="1" i="0">
                          <a:solidFill>
                            <a:srgbClr val="262626"/>
                          </a:solidFill>
                          <a:latin typeface="Arial"/>
                        </a:rPr>
                        <a:t>2018</a:t>
                      </a:r>
                    </a:p>
                  </a:txBody>
                  <a:tcPr>
                    <a:solidFill>
                      <a:srgbClr val="FFFFFF"/>
                    </a:solidFill>
                  </a:tcPr>
                </a:tc>
                <a:tc>
                  <a:txBody>
                    <a:bodyPr wrap="none"/>
                    <a:lstStyle/>
                    <a:p>
                      <a:pPr algn="ctr"/>
                      <a:r>
                        <a:rPr sz="850" b="0" i="0">
                          <a:solidFill>
                            <a:srgbClr val="262626"/>
                          </a:solidFill>
                          <a:latin typeface="Arial"/>
                        </a:rPr>
                        <a:t>2:08:02</a:t>
                      </a:r>
                    </a:p>
                  </a:txBody>
                  <a:tcPr>
                    <a:solidFill>
                      <a:srgbClr val="FFFFFF"/>
                    </a:solidFill>
                  </a:tcPr>
                </a:tc>
                <a:tc>
                  <a:txBody>
                    <a:bodyPr wrap="none"/>
                    <a:lstStyle/>
                    <a:p>
                      <a:pPr algn="ctr"/>
                      <a:r>
                        <a:rPr sz="850" b="0" i="0">
                          <a:solidFill>
                            <a:srgbClr val="262626"/>
                          </a:solidFill>
                          <a:latin typeface="Arial"/>
                        </a:rPr>
                        <a:t>2:08:13
+11s</a:t>
                      </a:r>
                    </a:p>
                  </a:txBody>
                  <a:tcPr>
                    <a:solidFill>
                      <a:srgbClr val="FFFFFF"/>
                    </a:solidFill>
                  </a:tcPr>
                </a:tc>
                <a:tc>
                  <a:txBody>
                    <a:bodyPr wrap="none"/>
                    <a:lstStyle/>
                    <a:p>
                      <a:pPr algn="ctr"/>
                      <a:r>
                        <a:rPr sz="850" b="0" i="0">
                          <a:solidFill>
                            <a:srgbClr val="262626"/>
                          </a:solidFill>
                          <a:latin typeface="Arial"/>
                        </a:rPr>
                        <a:t>2:09:07
+65s</a:t>
                      </a:r>
                    </a:p>
                  </a:txBody>
                  <a:tcPr>
                    <a:solidFill>
                      <a:srgbClr val="FFFFFF"/>
                    </a:solidFill>
                  </a:tcPr>
                </a:tc>
                <a:tc>
                  <a:txBody>
                    <a:bodyPr wrap="none"/>
                    <a:lstStyle/>
                    <a:p>
                      <a:pPr algn="ctr"/>
                      <a:r>
                        <a:rPr sz="850" b="0" i="0">
                          <a:solidFill>
                            <a:srgbClr val="262626"/>
                          </a:solidFill>
                          <a:latin typeface="Arial"/>
                        </a:rPr>
                        <a:t>2:09:35
+93s</a:t>
                      </a:r>
                    </a:p>
                  </a:txBody>
                  <a:tcPr>
                    <a:solidFill>
                      <a:srgbClr val="FFFFFF"/>
                    </a:solidFill>
                  </a:tcPr>
                </a:tc>
                <a:tc>
                  <a:txBody>
                    <a:bodyPr wrap="none"/>
                    <a:lstStyle/>
                    <a:p>
                      <a:pPr algn="ctr"/>
                      <a:r>
                        <a:rPr sz="850" b="0" i="0">
                          <a:solidFill>
                            <a:srgbClr val="262626"/>
                          </a:solidFill>
                          <a:latin typeface="Arial"/>
                        </a:rPr>
                        <a:t>2:10:44
+162s</a:t>
                      </a:r>
                    </a:p>
                  </a:txBody>
                  <a:tcPr>
                    <a:solidFill>
                      <a:srgbClr val="FFFFFF"/>
                    </a:solidFill>
                  </a:tcPr>
                </a:tc>
                <a:tc>
                  <a:txBody>
                    <a:bodyPr wrap="none"/>
                    <a:lstStyle/>
                    <a:p>
                      <a:pPr algn="ctr"/>
                      <a:r>
                        <a:rPr sz="850" b="0" i="0">
                          <a:solidFill>
                            <a:srgbClr val="262626"/>
                          </a:solidFill>
                          <a:latin typeface="Arial"/>
                        </a:rPr>
                        <a:t>2:12:37
+275s</a:t>
                      </a:r>
                    </a:p>
                  </a:txBody>
                  <a:tcPr>
                    <a:solidFill>
                      <a:srgbClr val="FFFFFF"/>
                    </a:solidFill>
                  </a:tcPr>
                </a:tc>
              </a:tr>
              <a:tr h="347472">
                <a:tc>
                  <a:txBody>
                    <a:bodyPr wrap="none"/>
                    <a:lstStyle/>
                    <a:p>
                      <a:pPr algn="ctr"/>
                      <a:r>
                        <a:rPr sz="1000" b="1" i="0">
                          <a:solidFill>
                            <a:srgbClr val="262626"/>
                          </a:solidFill>
                          <a:latin typeface="Arial"/>
                        </a:rPr>
                        <a:t>2019</a:t>
                      </a:r>
                    </a:p>
                  </a:txBody>
                  <a:tcPr>
                    <a:solidFill>
                      <a:srgbClr val="F2F2F2"/>
                    </a:solidFill>
                  </a:tcPr>
                </a:tc>
                <a:tc>
                  <a:txBody>
                    <a:bodyPr wrap="none"/>
                    <a:lstStyle/>
                    <a:p>
                      <a:pPr algn="ctr"/>
                      <a:r>
                        <a:rPr sz="850" b="0" i="0">
                          <a:solidFill>
                            <a:srgbClr val="262626"/>
                          </a:solidFill>
                          <a:latin typeface="Arial"/>
                        </a:rPr>
                        <a:t>2:08:03</a:t>
                      </a:r>
                    </a:p>
                  </a:txBody>
                  <a:tcPr>
                    <a:solidFill>
                      <a:srgbClr val="F2F2F2"/>
                    </a:solidFill>
                  </a:tcPr>
                </a:tc>
                <a:tc>
                  <a:txBody>
                    <a:bodyPr wrap="none"/>
                    <a:lstStyle/>
                    <a:p>
                      <a:pPr algn="ctr"/>
                      <a:r>
                        <a:rPr sz="850" b="0" i="0">
                          <a:solidFill>
                            <a:srgbClr val="262626"/>
                          </a:solidFill>
                          <a:latin typeface="Arial"/>
                        </a:rPr>
                        <a:t>2:09:48
+105s</a:t>
                      </a:r>
                    </a:p>
                  </a:txBody>
                  <a:tcPr>
                    <a:solidFill>
                      <a:srgbClr val="F2F2F2"/>
                    </a:solidFill>
                  </a:tcPr>
                </a:tc>
                <a:tc>
                  <a:txBody>
                    <a:bodyPr wrap="none"/>
                    <a:lstStyle/>
                    <a:p>
                      <a:pPr algn="ctr"/>
                      <a:r>
                        <a:rPr sz="850" b="0" i="0">
                          <a:solidFill>
                            <a:srgbClr val="262626"/>
                          </a:solidFill>
                          <a:latin typeface="Arial"/>
                        </a:rPr>
                        <a:t>2:10:11
+128s</a:t>
                      </a:r>
                    </a:p>
                  </a:txBody>
                  <a:tcPr>
                    <a:solidFill>
                      <a:srgbClr val="F2F2F2"/>
                    </a:solidFill>
                  </a:tcPr>
                </a:tc>
                <a:tc>
                  <a:txBody>
                    <a:bodyPr wrap="none"/>
                    <a:lstStyle/>
                    <a:p>
                      <a:pPr algn="ctr"/>
                      <a:r>
                        <a:rPr sz="850" b="0" i="0">
                          <a:solidFill>
                            <a:srgbClr val="262626"/>
                          </a:solidFill>
                          <a:latin typeface="Arial"/>
                        </a:rPr>
                        <a:t>2:11:47
+224s</a:t>
                      </a:r>
                    </a:p>
                  </a:txBody>
                  <a:tcPr>
                    <a:solidFill>
                      <a:srgbClr val="F2F2F2"/>
                    </a:solidFill>
                  </a:tcPr>
                </a:tc>
                <a:tc>
                  <a:txBody>
                    <a:bodyPr wrap="none"/>
                    <a:lstStyle/>
                    <a:p>
                      <a:pPr algn="ctr"/>
                      <a:r>
                        <a:rPr sz="850" b="0" i="0">
                          <a:solidFill>
                            <a:srgbClr val="262626"/>
                          </a:solidFill>
                          <a:latin typeface="Arial"/>
                        </a:rPr>
                        <a:t>2:12:51
+288s</a:t>
                      </a:r>
                    </a:p>
                  </a:txBody>
                  <a:tcPr>
                    <a:solidFill>
                      <a:srgbClr val="F2F2F2"/>
                    </a:solidFill>
                  </a:tcPr>
                </a:tc>
                <a:tc>
                  <a:txBody>
                    <a:bodyPr wrap="none"/>
                    <a:lstStyle/>
                    <a:p>
                      <a:pPr algn="ctr"/>
                      <a:r>
                        <a:rPr sz="850" b="0" i="0">
                          <a:solidFill>
                            <a:srgbClr val="262626"/>
                          </a:solidFill>
                          <a:latin typeface="Arial"/>
                        </a:rPr>
                        <a:t>2:15:30
+447s</a:t>
                      </a:r>
                    </a:p>
                  </a:txBody>
                  <a:tcPr>
                    <a:solidFill>
                      <a:srgbClr val="F2F2F2"/>
                    </a:solidFill>
                  </a:tcPr>
                </a:tc>
              </a:tr>
              <a:tr h="347472">
                <a:tc>
                  <a:txBody>
                    <a:bodyPr wrap="none"/>
                    <a:lstStyle/>
                    <a:p>
                      <a:pPr algn="ctr"/>
                      <a:r>
                        <a:rPr sz="1000" b="1" i="0">
                          <a:solidFill>
                            <a:srgbClr val="262626"/>
                          </a:solidFill>
                          <a:latin typeface="Arial"/>
                        </a:rPr>
                        <a:t>2023</a:t>
                      </a:r>
                    </a:p>
                  </a:txBody>
                  <a:tcPr>
                    <a:solidFill>
                      <a:srgbClr val="FFFFFF"/>
                    </a:solidFill>
                  </a:tcPr>
                </a:tc>
                <a:tc>
                  <a:txBody>
                    <a:bodyPr wrap="none"/>
                    <a:lstStyle/>
                    <a:p>
                      <a:pPr algn="ctr"/>
                      <a:r>
                        <a:rPr sz="850" b="0" i="0">
                          <a:solidFill>
                            <a:srgbClr val="262626"/>
                          </a:solidFill>
                          <a:latin typeface="Arial"/>
                        </a:rPr>
                        <a:t>1:58:42</a:t>
                      </a:r>
                    </a:p>
                  </a:txBody>
                  <a:tcPr>
                    <a:solidFill>
                      <a:srgbClr val="FFFFFF"/>
                    </a:solidFill>
                  </a:tcPr>
                </a:tc>
                <a:tc>
                  <a:txBody>
                    <a:bodyPr wrap="none"/>
                    <a:lstStyle/>
                    <a:p>
                      <a:pPr algn="ctr"/>
                      <a:r>
                        <a:rPr sz="850" b="0" i="0">
                          <a:solidFill>
                            <a:srgbClr val="262626"/>
                          </a:solidFill>
                          <a:latin typeface="Arial"/>
                        </a:rPr>
                        <a:t>1:58:59
+17s</a:t>
                      </a:r>
                    </a:p>
                  </a:txBody>
                  <a:tcPr>
                    <a:solidFill>
                      <a:srgbClr val="FFFFFF"/>
                    </a:solidFill>
                  </a:tcPr>
                </a:tc>
                <a:tc>
                  <a:txBody>
                    <a:bodyPr wrap="none"/>
                    <a:lstStyle/>
                    <a:p>
                      <a:pPr algn="ctr"/>
                      <a:r>
                        <a:rPr sz="850" b="0" i="0">
                          <a:solidFill>
                            <a:srgbClr val="262626"/>
                          </a:solidFill>
                          <a:latin typeface="Arial"/>
                        </a:rPr>
                        <a:t>1:59:04
+22s</a:t>
                      </a:r>
                    </a:p>
                  </a:txBody>
                  <a:tcPr>
                    <a:solidFill>
                      <a:srgbClr val="FFFFFF"/>
                    </a:solidFill>
                  </a:tcPr>
                </a:tc>
                <a:tc>
                  <a:txBody>
                    <a:bodyPr wrap="none"/>
                    <a:lstStyle/>
                    <a:p>
                      <a:pPr algn="ctr"/>
                      <a:r>
                        <a:rPr sz="850" b="0" i="0">
                          <a:solidFill>
                            <a:srgbClr val="262626"/>
                          </a:solidFill>
                          <a:latin typeface="Arial"/>
                        </a:rPr>
                        <a:t>1:59:42
+60s</a:t>
                      </a:r>
                    </a:p>
                  </a:txBody>
                  <a:tcPr>
                    <a:solidFill>
                      <a:srgbClr val="FFFFFF"/>
                    </a:solidFill>
                  </a:tcPr>
                </a:tc>
                <a:tc>
                  <a:txBody>
                    <a:bodyPr wrap="none"/>
                    <a:lstStyle/>
                    <a:p>
                      <a:pPr algn="ctr"/>
                      <a:r>
                        <a:rPr sz="850" b="0" i="0">
                          <a:solidFill>
                            <a:srgbClr val="262626"/>
                          </a:solidFill>
                          <a:latin typeface="Arial"/>
                        </a:rPr>
                        <a:t>2:00:51
+129s</a:t>
                      </a:r>
                    </a:p>
                  </a:txBody>
                  <a:tcPr>
                    <a:solidFill>
                      <a:srgbClr val="FFFFFF"/>
                    </a:solidFill>
                  </a:tcPr>
                </a:tc>
                <a:tc>
                  <a:txBody>
                    <a:bodyPr wrap="none"/>
                    <a:lstStyle/>
                    <a:p>
                      <a:pPr algn="ctr"/>
                      <a:r>
                        <a:rPr sz="850" b="0" i="0">
                          <a:solidFill>
                            <a:srgbClr val="262626"/>
                          </a:solidFill>
                          <a:latin typeface="Arial"/>
                        </a:rPr>
                        <a:t>2:08:51
+609s</a:t>
                      </a:r>
                    </a:p>
                  </a:txBody>
                  <a:tcPr>
                    <a:solidFill>
                      <a:srgbClr val="FFFFFF"/>
                    </a:solidFill>
                  </a:tcPr>
                </a:tc>
              </a:tr>
              <a:tr h="347472">
                <a:tc>
                  <a:txBody>
                    <a:bodyPr wrap="none"/>
                    <a:lstStyle/>
                    <a:p>
                      <a:pPr algn="ctr"/>
                      <a:r>
                        <a:rPr sz="1000" b="1" i="0">
                          <a:solidFill>
                            <a:srgbClr val="262626"/>
                          </a:solidFill>
                          <a:latin typeface="Arial"/>
                        </a:rPr>
                        <a:t>2024</a:t>
                      </a:r>
                    </a:p>
                  </a:txBody>
                  <a:tcPr>
                    <a:solidFill>
                      <a:srgbClr val="F2F2F2"/>
                    </a:solidFill>
                  </a:tcPr>
                </a:tc>
                <a:tc>
                  <a:txBody>
                    <a:bodyPr wrap="none"/>
                    <a:lstStyle/>
                    <a:p>
                      <a:pPr algn="ctr"/>
                      <a:r>
                        <a:rPr sz="850" b="0" i="0">
                          <a:solidFill>
                            <a:srgbClr val="262626"/>
                          </a:solidFill>
                          <a:latin typeface="Arial"/>
                        </a:rPr>
                        <a:t>2:04:42</a:t>
                      </a:r>
                    </a:p>
                  </a:txBody>
                  <a:tcPr>
                    <a:solidFill>
                      <a:srgbClr val="F2F2F2"/>
                    </a:solidFill>
                  </a:tcPr>
                </a:tc>
                <a:tc>
                  <a:txBody>
                    <a:bodyPr wrap="none"/>
                    <a:lstStyle/>
                    <a:p>
                      <a:pPr algn="ctr"/>
                      <a:r>
                        <a:rPr sz="850" b="0" i="0">
                          <a:solidFill>
                            <a:srgbClr val="262626"/>
                          </a:solidFill>
                          <a:latin typeface="Arial"/>
                        </a:rPr>
                        <a:t>2:04:59
+17s</a:t>
                      </a:r>
                    </a:p>
                  </a:txBody>
                  <a:tcPr>
                    <a:solidFill>
                      <a:srgbClr val="F2F2F2"/>
                    </a:solidFill>
                  </a:tcPr>
                </a:tc>
                <a:tc>
                  <a:txBody>
                    <a:bodyPr wrap="none"/>
                    <a:lstStyle/>
                    <a:p>
                      <a:pPr algn="ctr"/>
                      <a:r>
                        <a:rPr sz="850" b="0" i="0">
                          <a:solidFill>
                            <a:srgbClr val="262626"/>
                          </a:solidFill>
                          <a:latin typeface="Arial"/>
                        </a:rPr>
                        <a:t>2:05:40
+58s</a:t>
                      </a:r>
                    </a:p>
                  </a:txBody>
                  <a:tcPr>
                    <a:solidFill>
                      <a:srgbClr val="F2F2F2"/>
                    </a:solidFill>
                  </a:tcPr>
                </a:tc>
                <a:tc>
                  <a:txBody>
                    <a:bodyPr wrap="none"/>
                    <a:lstStyle/>
                    <a:p>
                      <a:pPr algn="ctr"/>
                      <a:r>
                        <a:rPr sz="850" b="0" i="0">
                          <a:solidFill>
                            <a:srgbClr val="262626"/>
                          </a:solidFill>
                          <a:latin typeface="Arial"/>
                        </a:rPr>
                        <a:t>2:06:00
+78s</a:t>
                      </a:r>
                    </a:p>
                  </a:txBody>
                  <a:tcPr>
                    <a:solidFill>
                      <a:srgbClr val="F2F2F2"/>
                    </a:solidFill>
                  </a:tcPr>
                </a:tc>
                <a:tc>
                  <a:txBody>
                    <a:bodyPr wrap="none"/>
                    <a:lstStyle/>
                    <a:p>
                      <a:pPr algn="ctr"/>
                      <a:r>
                        <a:rPr sz="850" b="0" i="0">
                          <a:solidFill>
                            <a:srgbClr val="262626"/>
                          </a:solidFill>
                          <a:latin typeface="Arial"/>
                        </a:rPr>
                        <a:t>2:06:46
+124s</a:t>
                      </a:r>
                    </a:p>
                  </a:txBody>
                  <a:tcPr>
                    <a:solidFill>
                      <a:srgbClr val="F2F2F2"/>
                    </a:solidFill>
                  </a:tcPr>
                </a:tc>
                <a:tc>
                  <a:txBody>
                    <a:bodyPr wrap="none"/>
                    <a:lstStyle/>
                    <a:p>
                      <a:pPr algn="ctr"/>
                      <a:r>
                        <a:rPr sz="850" b="0" i="0">
                          <a:solidFill>
                            <a:srgbClr val="262626"/>
                          </a:solidFill>
                          <a:latin typeface="Arial"/>
                        </a:rPr>
                        <a:t>2:12:31
+469s</a:t>
                      </a:r>
                    </a:p>
                  </a:txBody>
                  <a:tcPr>
                    <a:solidFill>
                      <a:srgbClr val="F2F2F2"/>
                    </a:solidFill>
                  </a:tcPr>
                </a:tc>
              </a:tr>
              <a:tr h="347472">
                <a:tc>
                  <a:txBody>
                    <a:bodyPr wrap="none"/>
                    <a:lstStyle/>
                    <a:p>
                      <a:pPr algn="ctr"/>
                      <a:r>
                        <a:rPr sz="1000" b="1" i="0">
                          <a:solidFill>
                            <a:srgbClr val="262626"/>
                          </a:solidFill>
                          <a:latin typeface="Arial"/>
                        </a:rPr>
                        <a:t>2025</a:t>
                      </a:r>
                    </a:p>
                  </a:txBody>
                  <a:tcPr>
                    <a:solidFill>
                      <a:srgbClr val="FFFFFF"/>
                    </a:solidFill>
                  </a:tcPr>
                </a:tc>
                <a:tc>
                  <a:txBody>
                    <a:bodyPr wrap="none"/>
                    <a:lstStyle/>
                    <a:p>
                      <a:pPr algn="ctr"/>
                      <a:r>
                        <a:rPr sz="850" b="0" i="0">
                          <a:solidFill>
                            <a:srgbClr val="262626"/>
                          </a:solidFill>
                          <a:latin typeface="Arial"/>
                        </a:rPr>
                        <a:t>1:51:58</a:t>
                      </a:r>
                    </a:p>
                  </a:txBody>
                  <a:tcPr>
                    <a:solidFill>
                      <a:srgbClr val="FFFFFF"/>
                    </a:solidFill>
                  </a:tcPr>
                </a:tc>
                <a:tc>
                  <a:txBody>
                    <a:bodyPr wrap="none"/>
                    <a:lstStyle/>
                    <a:p>
                      <a:pPr algn="ctr"/>
                      <a:r>
                        <a:rPr sz="850" b="0" i="0">
                          <a:solidFill>
                            <a:srgbClr val="262626"/>
                          </a:solidFill>
                          <a:latin typeface="Arial"/>
                        </a:rPr>
                        <a:t>1:52:15
+17s</a:t>
                      </a:r>
                    </a:p>
                  </a:txBody>
                  <a:tcPr>
                    <a:solidFill>
                      <a:srgbClr val="FFFFFF"/>
                    </a:solidFill>
                  </a:tcPr>
                </a:tc>
                <a:tc>
                  <a:txBody>
                    <a:bodyPr wrap="none"/>
                    <a:lstStyle/>
                    <a:p>
                      <a:pPr algn="ctr"/>
                      <a:r>
                        <a:rPr sz="850" b="0" i="0">
                          <a:solidFill>
                            <a:srgbClr val="262626"/>
                          </a:solidFill>
                          <a:latin typeface="Arial"/>
                        </a:rPr>
                        <a:t>1:52:19
+21s</a:t>
                      </a:r>
                    </a:p>
                  </a:txBody>
                  <a:tcPr>
                    <a:solidFill>
                      <a:srgbClr val="FFFFFF"/>
                    </a:solidFill>
                  </a:tcPr>
                </a:tc>
                <a:tc>
                  <a:txBody>
                    <a:bodyPr wrap="none"/>
                    <a:lstStyle/>
                    <a:p>
                      <a:pPr algn="ctr"/>
                      <a:r>
                        <a:rPr sz="850" b="0" i="0">
                          <a:solidFill>
                            <a:srgbClr val="262626"/>
                          </a:solidFill>
                          <a:latin typeface="Arial"/>
                        </a:rPr>
                        <a:t>1:53:00
+62s</a:t>
                      </a:r>
                    </a:p>
                  </a:txBody>
                  <a:tcPr>
                    <a:solidFill>
                      <a:srgbClr val="FFFFFF"/>
                    </a:solidFill>
                  </a:tcPr>
                </a:tc>
                <a:tc>
                  <a:txBody>
                    <a:bodyPr wrap="none"/>
                    <a:lstStyle/>
                    <a:p>
                      <a:pPr algn="ctr"/>
                      <a:r>
                        <a:rPr sz="850" b="0" i="0">
                          <a:solidFill>
                            <a:srgbClr val="262626"/>
                          </a:solidFill>
                          <a:latin typeface="Arial"/>
                        </a:rPr>
                        <a:t>1:53:52
+114s</a:t>
                      </a:r>
                    </a:p>
                  </a:txBody>
                  <a:tcPr>
                    <a:solidFill>
                      <a:srgbClr val="FFFFFF"/>
                    </a:solidFill>
                  </a:tcPr>
                </a:tc>
                <a:tc>
                  <a:txBody>
                    <a:bodyPr wrap="none"/>
                    <a:lstStyle/>
                    <a:p>
                      <a:pPr algn="ctr"/>
                      <a:r>
                        <a:rPr sz="850" b="0" i="0">
                          <a:solidFill>
                            <a:srgbClr val="262626"/>
                          </a:solidFill>
                          <a:latin typeface="Arial"/>
                        </a:rPr>
                        <a:t>1:56:45
+287s</a:t>
                      </a:r>
                    </a:p>
                  </a:txBody>
                  <a:tcPr>
                    <a:solidFill>
                      <a:srgbClr val="FFFFFF"/>
                    </a:solidFill>
                  </a:tcPr>
                </a:tc>
              </a:tr>
              <a:tr h="347472">
                <a:tc>
                  <a:txBody>
                    <a:bodyPr wrap="none"/>
                    <a:lstStyle/>
                    <a:p>
                      <a:pPr algn="ctr"/>
                      <a:r>
                        <a:rPr sz="1000" b="1" i="0">
                          <a:solidFill>
                            <a:srgbClr val="262626"/>
                          </a:solidFill>
                          <a:latin typeface="Arial"/>
                        </a:rPr>
                        <a:t>2026</a:t>
                      </a:r>
                    </a:p>
                  </a:txBody>
                  <a:tcPr>
                    <a:solidFill>
                      <a:srgbClr val="F2F2F2"/>
                    </a:solidFill>
                  </a:tcPr>
                </a:tc>
                <a:tc>
                  <a:txBody>
                    <a:bodyPr wrap="none"/>
                    <a:lstStyle/>
                    <a:p>
                      <a:pPr algn="ctr"/>
                      <a:r>
                        <a:rPr sz="850" b="0" i="0">
                          <a:solidFill>
                            <a:srgbClr val="262626"/>
                          </a:solidFill>
                          <a:latin typeface="Arial"/>
                        </a:rPr>
                        <a:t>1:49:20</a:t>
                      </a:r>
                    </a:p>
                  </a:txBody>
                  <a:tcPr>
                    <a:solidFill>
                      <a:srgbClr val="F2F2F2"/>
                    </a:solidFill>
                  </a:tcPr>
                </a:tc>
                <a:tc>
                  <a:txBody>
                    <a:bodyPr wrap="none"/>
                    <a:lstStyle/>
                    <a:p>
                      <a:pPr algn="ctr"/>
                      <a:r>
                        <a:rPr sz="850" b="0" i="0">
                          <a:solidFill>
                            <a:srgbClr val="262626"/>
                          </a:solidFill>
                          <a:latin typeface="Arial"/>
                        </a:rPr>
                        <a:t>1:49:26
+6s</a:t>
                      </a:r>
                    </a:p>
                  </a:txBody>
                  <a:tcPr>
                    <a:solidFill>
                      <a:srgbClr val="F2F2F2"/>
                    </a:solidFill>
                  </a:tcPr>
                </a:tc>
                <a:tc>
                  <a:txBody>
                    <a:bodyPr wrap="none"/>
                    <a:lstStyle/>
                    <a:p>
                      <a:pPr algn="ctr"/>
                      <a:r>
                        <a:rPr sz="850" b="0" i="0">
                          <a:solidFill>
                            <a:srgbClr val="262626"/>
                          </a:solidFill>
                          <a:latin typeface="Arial"/>
                        </a:rPr>
                        <a:t>1:49:44
+24s</a:t>
                      </a:r>
                    </a:p>
                  </a:txBody>
                  <a:tcPr>
                    <a:solidFill>
                      <a:srgbClr val="F2F2F2"/>
                    </a:solidFill>
                  </a:tcPr>
                </a:tc>
                <a:tc>
                  <a:txBody>
                    <a:bodyPr wrap="none"/>
                    <a:lstStyle/>
                    <a:p>
                      <a:pPr algn="ctr"/>
                      <a:r>
                        <a:rPr sz="850" b="0" i="0">
                          <a:solidFill>
                            <a:srgbClr val="262626"/>
                          </a:solidFill>
                          <a:latin typeface="Arial"/>
                        </a:rPr>
                        <a:t>1:50:36
+76s</a:t>
                      </a:r>
                    </a:p>
                  </a:txBody>
                  <a:tcPr>
                    <a:solidFill>
                      <a:srgbClr val="F2F2F2"/>
                    </a:solidFill>
                  </a:tcPr>
                </a:tc>
                <a:tc>
                  <a:txBody>
                    <a:bodyPr wrap="none"/>
                    <a:lstStyle/>
                    <a:p>
                      <a:pPr algn="ctr"/>
                      <a:r>
                        <a:rPr sz="850" b="0" i="0">
                          <a:solidFill>
                            <a:srgbClr val="262626"/>
                          </a:solidFill>
                          <a:latin typeface="Arial"/>
                        </a:rPr>
                        <a:t>1:51:25
+125s</a:t>
                      </a:r>
                    </a:p>
                  </a:txBody>
                  <a:tcPr>
                    <a:solidFill>
                      <a:srgbClr val="F2F2F2"/>
                    </a:solidFill>
                  </a:tcPr>
                </a:tc>
                <a:tc>
                  <a:txBody>
                    <a:bodyPr wrap="none"/>
                    <a:lstStyle/>
                    <a:p>
                      <a:pPr algn="ctr"/>
                      <a:r>
                        <a:rPr sz="850" b="0" i="0">
                          <a:solidFill>
                            <a:srgbClr val="262626"/>
                          </a:solidFill>
                          <a:latin typeface="Arial"/>
                        </a:rPr>
                        <a:t>1:53:06
+226s</a:t>
                      </a:r>
                    </a:p>
                  </a:txBody>
                  <a:tcPr>
                    <a:solidFill>
                      <a:srgbClr val="F2F2F2"/>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274320" y="1143000"/>
          <a:ext cx="11640307" cy="3200400"/>
        </p:xfrm>
        <a:graphic>
          <a:graphicData uri="http://schemas.openxmlformats.org/drawingml/2006/table">
            <a:tbl>
              <a:tblPr firstRow="1" bandRow="1">
                <a:tableStyleId>{5C22544A-7EE6-4342-B048-85BDC9FD1C3A}</a:tableStyleId>
              </a:tblPr>
              <a:tblGrid>
                <a:gridCol w="591571"/>
                <a:gridCol w="864604"/>
                <a:gridCol w="910110"/>
                <a:gridCol w="819099"/>
                <a:gridCol w="910110"/>
                <a:gridCol w="864604"/>
                <a:gridCol w="864604"/>
                <a:gridCol w="819099"/>
                <a:gridCol w="4996506"/>
              </a:tblGrid>
              <a:tr h="457200">
                <a:tc>
                  <a:txBody>
                    <a:bodyPr wrap="none"/>
                    <a:lstStyle/>
                    <a:p>
                      <a:pPr algn="ctr"/>
                      <a:r>
                        <a:rPr sz="1200" b="1" i="0">
                          <a:solidFill>
                            <a:srgbClr val="FFFFFF"/>
                          </a:solidFill>
                          <a:latin typeface="Arial"/>
                        </a:rPr>
                        <a:t>Year</a:t>
                      </a:r>
                    </a:p>
                  </a:txBody>
                  <a:tcPr>
                    <a:solidFill>
                      <a:srgbClr val="002060"/>
                    </a:solidFill>
                  </a:tcPr>
                </a:tc>
                <a:tc>
                  <a:txBody>
                    <a:bodyPr wrap="none"/>
                    <a:lstStyle/>
                    <a:p>
                      <a:pPr algn="ctr"/>
                      <a:r>
                        <a:rPr sz="1200" b="1" i="0">
                          <a:solidFill>
                            <a:srgbClr val="FFFFFF"/>
                          </a:solidFill>
                          <a:latin typeface="Arial"/>
                        </a:rPr>
                        <a:t>Date</a:t>
                      </a:r>
                    </a:p>
                  </a:txBody>
                  <a:tcPr>
                    <a:solidFill>
                      <a:srgbClr val="002060"/>
                    </a:solidFill>
                  </a:tcPr>
                </a:tc>
                <a:tc>
                  <a:txBody>
                    <a:bodyPr wrap="none"/>
                    <a:lstStyle/>
                    <a:p>
                      <a:pPr algn="ctr"/>
                      <a:r>
                        <a:rPr sz="1200" b="1" i="0">
                          <a:solidFill>
                            <a:srgbClr val="FFFFFF"/>
                          </a:solidFill>
                          <a:latin typeface="Arial"/>
                        </a:rPr>
                        <a:t>Air Temp</a:t>
                      </a:r>
                    </a:p>
                  </a:txBody>
                  <a:tcPr>
                    <a:solidFill>
                      <a:srgbClr val="002060"/>
                    </a:solidFill>
                  </a:tcPr>
                </a:tc>
                <a:tc>
                  <a:txBody>
                    <a:bodyPr wrap="none"/>
                    <a:lstStyle/>
                    <a:p>
                      <a:pPr algn="ctr"/>
                      <a:r>
                        <a:rPr sz="1200" b="1" i="0">
                          <a:solidFill>
                            <a:srgbClr val="FFFFFF"/>
                          </a:solidFill>
                          <a:latin typeface="Arial"/>
                        </a:rPr>
                        <a:t>Humidity</a:t>
                      </a:r>
                    </a:p>
                  </a:txBody>
                  <a:tcPr>
                    <a:solidFill>
                      <a:srgbClr val="002060"/>
                    </a:solidFill>
                  </a:tcPr>
                </a:tc>
                <a:tc>
                  <a:txBody>
                    <a:bodyPr wrap="none"/>
                    <a:lstStyle/>
                    <a:p>
                      <a:pPr algn="ctr"/>
                      <a:r>
                        <a:rPr sz="1200" b="1" i="0">
                          <a:solidFill>
                            <a:srgbClr val="FFFFFF"/>
                          </a:solidFill>
                          <a:latin typeface="Arial"/>
                        </a:rPr>
                        <a:t>Wind (km/h)</a:t>
                      </a:r>
                    </a:p>
                  </a:txBody>
                  <a:tcPr>
                    <a:solidFill>
                      <a:srgbClr val="002060"/>
                    </a:solidFill>
                  </a:tcPr>
                </a:tc>
                <a:tc>
                  <a:txBody>
                    <a:bodyPr wrap="none"/>
                    <a:lstStyle/>
                    <a:p>
                      <a:pPr algn="ctr"/>
                      <a:r>
                        <a:rPr sz="1200" b="1" i="0">
                          <a:solidFill>
                            <a:srgbClr val="FFFFFF"/>
                          </a:solidFill>
                          <a:latin typeface="Arial"/>
                        </a:rPr>
                        <a:t>Precip (mm)</a:t>
                      </a:r>
                    </a:p>
                  </a:txBody>
                  <a:tcPr>
                    <a:solidFill>
                      <a:srgbClr val="002060"/>
                    </a:solidFill>
                  </a:tcPr>
                </a:tc>
                <a:tc>
                  <a:txBody>
                    <a:bodyPr wrap="none"/>
                    <a:lstStyle/>
                    <a:p>
                      <a:pPr algn="ctr"/>
                      <a:r>
                        <a:rPr sz="1200" b="1" i="0">
                          <a:solidFill>
                            <a:srgbClr val="FFFFFF"/>
                          </a:solidFill>
                          <a:latin typeface="Arial"/>
                        </a:rPr>
                        <a:t>Water Temp</a:t>
                      </a:r>
                    </a:p>
                  </a:txBody>
                  <a:tcPr>
                    <a:solidFill>
                      <a:srgbClr val="002060"/>
                    </a:solidFill>
                  </a:tcPr>
                </a:tc>
                <a:tc>
                  <a:txBody>
                    <a:bodyPr wrap="none"/>
                    <a:lstStyle/>
                    <a:p>
                      <a:pPr algn="ctr"/>
                      <a:r>
                        <a:rPr sz="1200" b="1" i="0">
                          <a:solidFill>
                            <a:srgbClr val="FFFFFF"/>
                          </a:solidFill>
                          <a:latin typeface="Arial"/>
                        </a:rPr>
                        <a:t>Wetsuit</a:t>
                      </a:r>
                    </a:p>
                  </a:txBody>
                  <a:tcPr>
                    <a:solidFill>
                      <a:srgbClr val="002060"/>
                    </a:solidFill>
                  </a:tcPr>
                </a:tc>
                <a:tc>
                  <a:txBody>
                    <a:bodyPr wrap="none"/>
                    <a:lstStyle/>
                    <a:p>
                      <a:pPr algn="ctr"/>
                      <a:r>
                        <a:rPr sz="1200" b="1" i="0">
                          <a:solidFill>
                            <a:srgbClr val="FFFFFF"/>
                          </a:solidFill>
                          <a:latin typeface="Arial"/>
                        </a:rPr>
                        <a:t>Conditions</a:t>
                      </a:r>
                    </a:p>
                  </a:txBody>
                  <a:tcPr>
                    <a:solidFill>
                      <a:srgbClr val="002060"/>
                    </a:solidFill>
                  </a:tcPr>
                </a:tc>
              </a:tr>
              <a:tr h="457200">
                <a:tc>
                  <a:txBody>
                    <a:bodyPr wrap="none"/>
                    <a:lstStyle/>
                    <a:p>
                      <a:pPr algn="ctr"/>
                      <a:r>
                        <a:rPr sz="1000" b="0" i="0">
                          <a:solidFill>
                            <a:srgbClr val="262626"/>
                          </a:solidFill>
                          <a:latin typeface="Arial"/>
                        </a:rPr>
                        <a:t>2018</a:t>
                      </a:r>
                    </a:p>
                  </a:txBody>
                  <a:tcPr>
                    <a:solidFill>
                      <a:srgbClr val="FFFFFF"/>
                    </a:solidFill>
                  </a:tcPr>
                </a:tc>
                <a:tc>
                  <a:txBody>
                    <a:bodyPr wrap="none"/>
                    <a:lstStyle/>
                    <a:p>
                      <a:pPr algn="ctr"/>
                      <a:r>
                        <a:rPr sz="1000" b="0" i="0">
                          <a:solidFill>
                            <a:srgbClr val="262626"/>
                          </a:solidFill>
                          <a:latin typeface="Arial"/>
                        </a:rPr>
                        <a:t>Sep 22</a:t>
                      </a:r>
                    </a:p>
                  </a:txBody>
                  <a:tcPr>
                    <a:solidFill>
                      <a:srgbClr val="FFFFFF"/>
                    </a:solidFill>
                  </a:tcPr>
                </a:tc>
                <a:tc>
                  <a:txBody>
                    <a:bodyPr wrap="none"/>
                    <a:lstStyle/>
                    <a:p>
                      <a:pPr algn="ctr"/>
                      <a:r>
                        <a:rPr sz="1000" b="0" i="0">
                          <a:solidFill>
                            <a:srgbClr val="262626"/>
                          </a:solidFill>
                          <a:latin typeface="Arial"/>
                        </a:rPr>
                        <a:t>23.5°*</a:t>
                      </a:r>
                    </a:p>
                  </a:txBody>
                  <a:tcPr>
                    <a:solidFill>
                      <a:srgbClr val="FFFFFF"/>
                    </a:solidFill>
                  </a:tcPr>
                </a:tc>
                <a:tc>
                  <a:txBody>
                    <a:bodyPr wrap="none"/>
                    <a:lstStyle/>
                    <a:p>
                      <a:pPr algn="ctr"/>
                      <a:r>
                        <a:rPr sz="1000" b="0" i="0">
                          <a:solidFill>
                            <a:srgbClr val="262626"/>
                          </a:solidFill>
                          <a:latin typeface="Arial"/>
                        </a:rPr>
                        <a:t>39%</a:t>
                      </a:r>
                    </a:p>
                  </a:txBody>
                  <a:tcPr>
                    <a:solidFill>
                      <a:srgbClr val="FFFFFF"/>
                    </a:solidFill>
                  </a:tcPr>
                </a:tc>
                <a:tc>
                  <a:txBody>
                    <a:bodyPr wrap="none"/>
                    <a:lstStyle/>
                    <a:p>
                      <a:pPr algn="ctr"/>
                      <a:r>
                        <a:rPr sz="1000" b="0" i="0">
                          <a:solidFill>
                            <a:srgbClr val="262626"/>
                          </a:solidFill>
                          <a:latin typeface="Arial"/>
                        </a:rPr>
                        <a:t>9</a:t>
                      </a:r>
                    </a:p>
                  </a:txBody>
                  <a:tcPr>
                    <a:solidFill>
                      <a:srgbClr val="FFFFFF"/>
                    </a:solidFill>
                  </a:tcPr>
                </a:tc>
                <a:tc>
                  <a:txBody>
                    <a:bodyPr wrap="none"/>
                    <a:lstStyle/>
                    <a:p>
                      <a:pPr algn="ctr"/>
                      <a:r>
                        <a:rPr sz="1000" b="0" i="0">
                          <a:solidFill>
                            <a:srgbClr val="262626"/>
                          </a:solidFill>
                          <a:latin typeface="Arial"/>
                        </a:rPr>
                        <a:t>0.0</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l"/>
                      <a:r>
                        <a:rPr sz="1000" b="0" i="0">
                          <a:solidFill>
                            <a:srgbClr val="262626"/>
                          </a:solidFill>
                          <a:latin typeface="Arial"/>
                        </a:rPr>
                        <a:t>—</a:t>
                      </a:r>
                    </a:p>
                  </a:txBody>
                  <a:tcPr>
                    <a:solidFill>
                      <a:srgbClr val="FFFFFF"/>
                    </a:solidFill>
                  </a:tcPr>
                </a:tc>
              </a:tr>
              <a:tr h="457200">
                <a:tc>
                  <a:txBody>
                    <a:bodyPr wrap="none"/>
                    <a:lstStyle/>
                    <a:p>
                      <a:pPr algn="ctr"/>
                      <a:r>
                        <a:rPr sz="1000" b="0" i="0">
                          <a:solidFill>
                            <a:srgbClr val="262626"/>
                          </a:solidFill>
                          <a:latin typeface="Arial"/>
                        </a:rPr>
                        <a:t>2019</a:t>
                      </a:r>
                    </a:p>
                  </a:txBody>
                  <a:tcPr>
                    <a:solidFill>
                      <a:srgbClr val="F2F2F2"/>
                    </a:solidFill>
                  </a:tcPr>
                </a:tc>
                <a:tc>
                  <a:txBody>
                    <a:bodyPr wrap="none"/>
                    <a:lstStyle/>
                    <a:p>
                      <a:pPr algn="ctr"/>
                      <a:r>
                        <a:rPr sz="1000" b="0" i="0">
                          <a:solidFill>
                            <a:srgbClr val="262626"/>
                          </a:solidFill>
                          <a:latin typeface="Arial"/>
                        </a:rPr>
                        <a:t>Sep 21</a:t>
                      </a:r>
                    </a:p>
                  </a:txBody>
                  <a:tcPr>
                    <a:solidFill>
                      <a:srgbClr val="F2F2F2"/>
                    </a:solidFill>
                  </a:tcPr>
                </a:tc>
                <a:tc>
                  <a:txBody>
                    <a:bodyPr wrap="none"/>
                    <a:lstStyle/>
                    <a:p>
                      <a:pPr algn="ctr"/>
                      <a:r>
                        <a:rPr sz="1000" b="0" i="0">
                          <a:solidFill>
                            <a:srgbClr val="262626"/>
                          </a:solidFill>
                          <a:latin typeface="Arial"/>
                        </a:rPr>
                        <a:t>23.3°*</a:t>
                      </a:r>
                    </a:p>
                  </a:txBody>
                  <a:tcPr>
                    <a:solidFill>
                      <a:srgbClr val="F2F2F2"/>
                    </a:solidFill>
                  </a:tcPr>
                </a:tc>
                <a:tc>
                  <a:txBody>
                    <a:bodyPr wrap="none"/>
                    <a:lstStyle/>
                    <a:p>
                      <a:pPr algn="ctr"/>
                      <a:r>
                        <a:rPr sz="1000" b="0" i="0">
                          <a:solidFill>
                            <a:srgbClr val="262626"/>
                          </a:solidFill>
                          <a:latin typeface="Arial"/>
                        </a:rPr>
                        <a:t>66%</a:t>
                      </a:r>
                    </a:p>
                  </a:txBody>
                  <a:tcPr>
                    <a:solidFill>
                      <a:srgbClr val="F2F2F2"/>
                    </a:solidFill>
                  </a:tcPr>
                </a:tc>
                <a:tc>
                  <a:txBody>
                    <a:bodyPr wrap="none"/>
                    <a:lstStyle/>
                    <a:p>
                      <a:pPr algn="ctr"/>
                      <a:r>
                        <a:rPr sz="1000" b="0" i="0">
                          <a:solidFill>
                            <a:srgbClr val="262626"/>
                          </a:solidFill>
                          <a:latin typeface="Arial"/>
                        </a:rPr>
                        <a:t>20</a:t>
                      </a:r>
                    </a:p>
                  </a:txBody>
                  <a:tcPr>
                    <a:solidFill>
                      <a:srgbClr val="F2F2F2"/>
                    </a:solidFill>
                  </a:tcPr>
                </a:tc>
                <a:tc>
                  <a:txBody>
                    <a:bodyPr wrap="none"/>
                    <a:lstStyle/>
                    <a:p>
                      <a:pPr algn="ctr"/>
                      <a:r>
                        <a:rPr sz="1000" b="0" i="0">
                          <a:solidFill>
                            <a:srgbClr val="262626"/>
                          </a:solidFill>
                          <a:latin typeface="Arial"/>
                        </a:rPr>
                        <a:t>0.0</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l"/>
                      <a:r>
                        <a:rPr sz="1000" b="0" i="0">
                          <a:solidFill>
                            <a:srgbClr val="262626"/>
                          </a:solidFill>
                          <a:latin typeface="Arial"/>
                        </a:rPr>
                        <a:t>—</a:t>
                      </a:r>
                    </a:p>
                  </a:txBody>
                  <a:tcPr>
                    <a:solidFill>
                      <a:srgbClr val="F2F2F2"/>
                    </a:solidFill>
                  </a:tcPr>
                </a:tc>
              </a:tr>
              <a:tr h="457200">
                <a:tc>
                  <a:txBody>
                    <a:bodyPr wrap="none"/>
                    <a:lstStyle/>
                    <a:p>
                      <a:pPr algn="ctr"/>
                      <a:r>
                        <a:rPr sz="1000" b="0" i="0">
                          <a:solidFill>
                            <a:srgbClr val="262626"/>
                          </a:solidFill>
                          <a:latin typeface="Arial"/>
                        </a:rPr>
                        <a:t>2023</a:t>
                      </a:r>
                    </a:p>
                  </a:txBody>
                  <a:tcPr>
                    <a:solidFill>
                      <a:srgbClr val="FFFFFF"/>
                    </a:solidFill>
                  </a:tcPr>
                </a:tc>
                <a:tc>
                  <a:txBody>
                    <a:bodyPr wrap="none"/>
                    <a:lstStyle/>
                    <a:p>
                      <a:pPr algn="ctr"/>
                      <a:r>
                        <a:rPr sz="1000" b="0" i="0">
                          <a:solidFill>
                            <a:srgbClr val="262626"/>
                          </a:solidFill>
                          <a:latin typeface="Arial"/>
                        </a:rPr>
                        <a:t>Aug 26</a:t>
                      </a:r>
                    </a:p>
                  </a:txBody>
                  <a:tcPr>
                    <a:solidFill>
                      <a:srgbClr val="FFFFFF"/>
                    </a:solidFill>
                  </a:tcPr>
                </a:tc>
                <a:tc>
                  <a:txBody>
                    <a:bodyPr wrap="none"/>
                    <a:lstStyle/>
                    <a:p>
                      <a:pPr algn="ctr"/>
                      <a:r>
                        <a:rPr sz="1000" b="0" i="0">
                          <a:solidFill>
                            <a:srgbClr val="262626"/>
                          </a:solidFill>
                          <a:latin typeface="Arial"/>
                        </a:rPr>
                        <a:t>31.9</a:t>
                      </a:r>
                    </a:p>
                  </a:txBody>
                  <a:tcPr>
                    <a:solidFill>
                      <a:srgbClr val="FFFFFF"/>
                    </a:solidFill>
                  </a:tcPr>
                </a:tc>
                <a:tc>
                  <a:txBody>
                    <a:bodyPr wrap="none"/>
                    <a:lstStyle/>
                    <a:p>
                      <a:pPr algn="ctr"/>
                      <a:r>
                        <a:rPr sz="1000" b="0" i="0">
                          <a:solidFill>
                            <a:srgbClr val="262626"/>
                          </a:solidFill>
                          <a:latin typeface="Arial"/>
                        </a:rPr>
                        <a:t>60%</a:t>
                      </a:r>
                    </a:p>
                  </a:txBody>
                  <a:tcPr>
                    <a:solidFill>
                      <a:srgbClr val="FFFFFF"/>
                    </a:solidFill>
                  </a:tcPr>
                </a:tc>
                <a:tc>
                  <a:txBody>
                    <a:bodyPr wrap="none"/>
                    <a:lstStyle/>
                    <a:p>
                      <a:pPr algn="ctr"/>
                      <a:r>
                        <a:rPr sz="1000" b="0" i="0">
                          <a:solidFill>
                            <a:srgbClr val="262626"/>
                          </a:solidFill>
                          <a:latin typeface="Arial"/>
                        </a:rPr>
                        <a:t>16</a:t>
                      </a:r>
                    </a:p>
                  </a:txBody>
                  <a:tcPr>
                    <a:solidFill>
                      <a:srgbClr val="FFFFFF"/>
                    </a:solidFill>
                  </a:tcPr>
                </a:tc>
                <a:tc>
                  <a:txBody>
                    <a:bodyPr wrap="none"/>
                    <a:lstStyle/>
                    <a:p>
                      <a:pPr algn="ctr"/>
                      <a:r>
                        <a:rPr sz="1000" b="0" i="0">
                          <a:solidFill>
                            <a:srgbClr val="262626"/>
                          </a:solidFill>
                          <a:latin typeface="Arial"/>
                        </a:rPr>
                        <a:t>0.0</a:t>
                      </a:r>
                    </a:p>
                  </a:txBody>
                  <a:tcPr>
                    <a:solidFill>
                      <a:srgbClr val="FFFFFF"/>
                    </a:solidFill>
                  </a:tcPr>
                </a:tc>
                <a:tc>
                  <a:txBody>
                    <a:bodyPr wrap="none"/>
                    <a:lstStyle/>
                    <a:p>
                      <a:pPr algn="ctr"/>
                      <a:r>
                        <a:rPr sz="1000" b="0" i="0">
                          <a:solidFill>
                            <a:srgbClr val="262626"/>
                          </a:solidFill>
                          <a:latin typeface="Arial"/>
                        </a:rPr>
                        <a:t>25.9</a:t>
                      </a:r>
                    </a:p>
                  </a:txBody>
                  <a:tcPr>
                    <a:solidFill>
                      <a:srgbClr val="FFFFFF"/>
                    </a:solidFill>
                  </a:tcPr>
                </a:tc>
                <a:tc>
                  <a:txBody>
                    <a:bodyPr wrap="none"/>
                    <a:lstStyle/>
                    <a:p>
                      <a:pPr algn="ctr"/>
                      <a:r>
                        <a:rPr sz="1000" b="0" i="0">
                          <a:solidFill>
                            <a:srgbClr val="262626"/>
                          </a:solidFill>
                          <a:latin typeface="Arial"/>
                        </a:rPr>
                        <a:t>forbidden</a:t>
                      </a:r>
                    </a:p>
                  </a:txBody>
                  <a:tcPr>
                    <a:solidFill>
                      <a:srgbClr val="FFFFFF"/>
                    </a:solidFill>
                  </a:tcPr>
                </a:tc>
                <a:tc>
                  <a:txBody>
                    <a:bodyPr wrap="none"/>
                    <a:lstStyle/>
                    <a:p>
                      <a:pPr algn="l"/>
                      <a:r>
                        <a:rPr sz="1000" b="0" i="0">
                          <a:solidFill>
                            <a:srgbClr val="262626"/>
                          </a:solidFill>
                          <a:latin typeface="Arial"/>
                        </a:rPr>
                        <a:t>—</a:t>
                      </a:r>
                    </a:p>
                  </a:txBody>
                  <a:tcPr>
                    <a:solidFill>
                      <a:srgbClr val="FFFFFF"/>
                    </a:solidFill>
                  </a:tcPr>
                </a:tc>
              </a:tr>
              <a:tr h="457200">
                <a:tc>
                  <a:txBody>
                    <a:bodyPr wrap="none"/>
                    <a:lstStyle/>
                    <a:p>
                      <a:pPr algn="ctr"/>
                      <a:r>
                        <a:rPr sz="1000" b="0" i="0">
                          <a:solidFill>
                            <a:srgbClr val="262626"/>
                          </a:solidFill>
                          <a:latin typeface="Arial"/>
                        </a:rPr>
                        <a:t>2024</a:t>
                      </a:r>
                    </a:p>
                  </a:txBody>
                  <a:tcPr>
                    <a:solidFill>
                      <a:srgbClr val="F2F2F2"/>
                    </a:solidFill>
                  </a:tcPr>
                </a:tc>
                <a:tc>
                  <a:txBody>
                    <a:bodyPr wrap="none"/>
                    <a:lstStyle/>
                    <a:p>
                      <a:pPr algn="ctr"/>
                      <a:r>
                        <a:rPr sz="1000" b="0" i="0">
                          <a:solidFill>
                            <a:srgbClr val="262626"/>
                          </a:solidFill>
                          <a:latin typeface="Arial"/>
                        </a:rPr>
                        <a:t>Sep 27</a:t>
                      </a:r>
                    </a:p>
                  </a:txBody>
                  <a:tcPr>
                    <a:solidFill>
                      <a:srgbClr val="F2F2F2"/>
                    </a:solidFill>
                  </a:tcPr>
                </a:tc>
                <a:tc>
                  <a:txBody>
                    <a:bodyPr wrap="none"/>
                    <a:lstStyle/>
                    <a:p>
                      <a:pPr algn="ctr"/>
                      <a:r>
                        <a:rPr sz="1000" b="0" i="0">
                          <a:solidFill>
                            <a:srgbClr val="262626"/>
                          </a:solidFill>
                          <a:latin typeface="Arial"/>
                        </a:rPr>
                        <a:t>28</a:t>
                      </a:r>
                    </a:p>
                  </a:txBody>
                  <a:tcPr>
                    <a:solidFill>
                      <a:srgbClr val="F2F2F2"/>
                    </a:solidFill>
                  </a:tcPr>
                </a:tc>
                <a:tc>
                  <a:txBody>
                    <a:bodyPr wrap="none"/>
                    <a:lstStyle/>
                    <a:p>
                      <a:pPr algn="ctr"/>
                      <a:r>
                        <a:rPr sz="1000" b="0" i="0">
                          <a:solidFill>
                            <a:srgbClr val="262626"/>
                          </a:solidFill>
                          <a:latin typeface="Arial"/>
                        </a:rPr>
                        <a:t>62%</a:t>
                      </a:r>
                    </a:p>
                  </a:txBody>
                  <a:tcPr>
                    <a:solidFill>
                      <a:srgbClr val="F2F2F2"/>
                    </a:solidFill>
                  </a:tcPr>
                </a:tc>
                <a:tc>
                  <a:txBody>
                    <a:bodyPr wrap="none"/>
                    <a:lstStyle/>
                    <a:p>
                      <a:pPr algn="ctr"/>
                      <a:r>
                        <a:rPr sz="1000" b="0" i="0">
                          <a:solidFill>
                            <a:srgbClr val="262626"/>
                          </a:solidFill>
                          <a:latin typeface="Arial"/>
                        </a:rPr>
                        <a:t>14</a:t>
                      </a:r>
                    </a:p>
                  </a:txBody>
                  <a:tcPr>
                    <a:solidFill>
                      <a:srgbClr val="F2F2F2"/>
                    </a:solidFill>
                  </a:tcPr>
                </a:tc>
                <a:tc>
                  <a:txBody>
                    <a:bodyPr wrap="none"/>
                    <a:lstStyle/>
                    <a:p>
                      <a:pPr algn="ctr"/>
                      <a:r>
                        <a:rPr sz="1000" b="0" i="0">
                          <a:solidFill>
                            <a:srgbClr val="262626"/>
                          </a:solidFill>
                          <a:latin typeface="Arial"/>
                        </a:rPr>
                        <a:t>0.0</a:t>
                      </a:r>
                    </a:p>
                  </a:txBody>
                  <a:tcPr>
                    <a:solidFill>
                      <a:srgbClr val="F2F2F2"/>
                    </a:solidFill>
                  </a:tcPr>
                </a:tc>
                <a:tc>
                  <a:txBody>
                    <a:bodyPr wrap="none"/>
                    <a:lstStyle/>
                    <a:p>
                      <a:pPr algn="ctr"/>
                      <a:r>
                        <a:rPr sz="1000" b="0" i="0">
                          <a:solidFill>
                            <a:srgbClr val="262626"/>
                          </a:solidFill>
                          <a:latin typeface="Arial"/>
                        </a:rPr>
                        <a:t>24.8</a:t>
                      </a:r>
                    </a:p>
                  </a:txBody>
                  <a:tcPr>
                    <a:solidFill>
                      <a:srgbClr val="F2F2F2"/>
                    </a:solidFill>
                  </a:tcPr>
                </a:tc>
                <a:tc>
                  <a:txBody>
                    <a:bodyPr wrap="none"/>
                    <a:lstStyle/>
                    <a:p>
                      <a:pPr algn="ctr"/>
                      <a:r>
                        <a:rPr sz="1000" b="0" i="0">
                          <a:solidFill>
                            <a:srgbClr val="262626"/>
                          </a:solidFill>
                          <a:latin typeface="Arial"/>
                        </a:rPr>
                        <a:t>forbidden</a:t>
                      </a:r>
                    </a:p>
                  </a:txBody>
                  <a:tcPr>
                    <a:solidFill>
                      <a:srgbClr val="F2F2F2"/>
                    </a:solidFill>
                  </a:tcPr>
                </a:tc>
                <a:tc>
                  <a:txBody>
                    <a:bodyPr wrap="none"/>
                    <a:lstStyle/>
                    <a:p>
                      <a:pPr algn="l"/>
                      <a:r>
                        <a:rPr sz="1000" b="0" i="0">
                          <a:solidFill>
                            <a:srgbClr val="262626"/>
                          </a:solidFill>
                          <a:latin typeface="Arial"/>
                        </a:rPr>
                        <a:t>—</a:t>
                      </a:r>
                    </a:p>
                  </a:txBody>
                  <a:tcPr>
                    <a:solidFill>
                      <a:srgbClr val="F2F2F2"/>
                    </a:solidFill>
                  </a:tcPr>
                </a:tc>
              </a:tr>
              <a:tr h="457200">
                <a:tc>
                  <a:txBody>
                    <a:bodyPr wrap="none"/>
                    <a:lstStyle/>
                    <a:p>
                      <a:pPr algn="ctr"/>
                      <a:r>
                        <a:rPr sz="1000" b="0" i="0">
                          <a:solidFill>
                            <a:srgbClr val="262626"/>
                          </a:solidFill>
                          <a:latin typeface="Arial"/>
                        </a:rPr>
                        <a:t>2025</a:t>
                      </a:r>
                    </a:p>
                  </a:txBody>
                  <a:tcPr>
                    <a:solidFill>
                      <a:srgbClr val="FFFFFF"/>
                    </a:solidFill>
                  </a:tcPr>
                </a:tc>
                <a:tc>
                  <a:txBody>
                    <a:bodyPr wrap="none"/>
                    <a:lstStyle/>
                    <a:p>
                      <a:pPr algn="ctr"/>
                      <a:r>
                        <a:rPr sz="1000" b="0" i="0">
                          <a:solidFill>
                            <a:srgbClr val="262626"/>
                          </a:solidFill>
                          <a:latin typeface="Arial"/>
                        </a:rPr>
                        <a:t>Sep 26</a:t>
                      </a:r>
                    </a:p>
                  </a:txBody>
                  <a:tcPr>
                    <a:solidFill>
                      <a:srgbClr val="FFFFFF"/>
                    </a:solidFill>
                  </a:tcPr>
                </a:tc>
                <a:tc>
                  <a:txBody>
                    <a:bodyPr wrap="none"/>
                    <a:lstStyle/>
                    <a:p>
                      <a:pPr algn="ctr"/>
                      <a:r>
                        <a:rPr sz="1000" b="0" i="0">
                          <a:solidFill>
                            <a:srgbClr val="262626"/>
                          </a:solidFill>
                          <a:latin typeface="Arial"/>
                        </a:rPr>
                        <a:t>28.9</a:t>
                      </a:r>
                    </a:p>
                  </a:txBody>
                  <a:tcPr>
                    <a:solidFill>
                      <a:srgbClr val="FFFFFF"/>
                    </a:solidFill>
                  </a:tcPr>
                </a:tc>
                <a:tc>
                  <a:txBody>
                    <a:bodyPr wrap="none"/>
                    <a:lstStyle/>
                    <a:p>
                      <a:pPr algn="ctr"/>
                      <a:r>
                        <a:rPr sz="1000" b="0" i="0">
                          <a:solidFill>
                            <a:srgbClr val="262626"/>
                          </a:solidFill>
                          <a:latin typeface="Arial"/>
                        </a:rPr>
                        <a:t>78%</a:t>
                      </a:r>
                    </a:p>
                  </a:txBody>
                  <a:tcPr>
                    <a:solidFill>
                      <a:srgbClr val="FFFFFF"/>
                    </a:solidFill>
                  </a:tcPr>
                </a:tc>
                <a:tc>
                  <a:txBody>
                    <a:bodyPr wrap="none"/>
                    <a:lstStyle/>
                    <a:p>
                      <a:pPr algn="ctr"/>
                      <a:r>
                        <a:rPr sz="1000" b="0" i="0">
                          <a:solidFill>
                            <a:srgbClr val="262626"/>
                          </a:solidFill>
                          <a:latin typeface="Arial"/>
                        </a:rPr>
                        <a:t>8</a:t>
                      </a:r>
                    </a:p>
                  </a:txBody>
                  <a:tcPr>
                    <a:solidFill>
                      <a:srgbClr val="FFFFFF"/>
                    </a:solidFill>
                  </a:tcPr>
                </a:tc>
                <a:tc>
                  <a:txBody>
                    <a:bodyPr wrap="none"/>
                    <a:lstStyle/>
                    <a:p>
                      <a:pPr algn="ctr"/>
                      <a:r>
                        <a:rPr sz="1000" b="0" i="0">
                          <a:solidFill>
                            <a:srgbClr val="262626"/>
                          </a:solidFill>
                          <a:latin typeface="Arial"/>
                        </a:rPr>
                        <a:t>0.0</a:t>
                      </a:r>
                    </a:p>
                  </a:txBody>
                  <a:tcPr>
                    <a:solidFill>
                      <a:srgbClr val="FFFFFF"/>
                    </a:solidFill>
                  </a:tcPr>
                </a:tc>
                <a:tc>
                  <a:txBody>
                    <a:bodyPr wrap="none"/>
                    <a:lstStyle/>
                    <a:p>
                      <a:pPr algn="ctr"/>
                      <a:r>
                        <a:rPr sz="1000" b="0" i="0">
                          <a:solidFill>
                            <a:srgbClr val="262626"/>
                          </a:solidFill>
                          <a:latin typeface="Arial"/>
                        </a:rPr>
                        <a:t>24.3</a:t>
                      </a:r>
                    </a:p>
                  </a:txBody>
                  <a:tcPr>
                    <a:solidFill>
                      <a:srgbClr val="FFFFFF"/>
                    </a:solidFill>
                  </a:tcPr>
                </a:tc>
                <a:tc>
                  <a:txBody>
                    <a:bodyPr wrap="none"/>
                    <a:lstStyle/>
                    <a:p>
                      <a:pPr algn="ctr"/>
                      <a:r>
                        <a:rPr sz="1000" b="0" i="0">
                          <a:solidFill>
                            <a:srgbClr val="262626"/>
                          </a:solidFill>
                          <a:latin typeface="Arial"/>
                        </a:rPr>
                        <a:t>forbidden</a:t>
                      </a:r>
                    </a:p>
                  </a:txBody>
                  <a:tcPr>
                    <a:solidFill>
                      <a:srgbClr val="FFFFFF"/>
                    </a:solidFill>
                  </a:tcPr>
                </a:tc>
                <a:tc>
                  <a:txBody>
                    <a:bodyPr wrap="none"/>
                    <a:lstStyle/>
                    <a:p>
                      <a:pPr algn="l"/>
                      <a:r>
                        <a:rPr sz="1000" b="0" i="0">
                          <a:solidFill>
                            <a:srgbClr val="262626"/>
                          </a:solidFill>
                          <a:latin typeface="Arial"/>
                        </a:rPr>
                        <a:t>—</a:t>
                      </a:r>
                    </a:p>
                  </a:txBody>
                  <a:tcPr>
                    <a:solidFill>
                      <a:srgbClr val="FFFFFF"/>
                    </a:solidFill>
                  </a:tcPr>
                </a:tc>
              </a:tr>
              <a:tr h="457200">
                <a:tc>
                  <a:txBody>
                    <a:bodyPr wrap="none"/>
                    <a:lstStyle/>
                    <a:p>
                      <a:pPr algn="ctr"/>
                      <a:r>
                        <a:rPr sz="1000" b="0" i="0">
                          <a:solidFill>
                            <a:srgbClr val="262626"/>
                          </a:solidFill>
                          <a:latin typeface="Arial"/>
                        </a:rPr>
                        <a:t>2026</a:t>
                      </a:r>
                    </a:p>
                  </a:txBody>
                  <a:tcPr>
                    <a:solidFill>
                      <a:srgbClr val="F2F2F2"/>
                    </a:solidFill>
                  </a:tcPr>
                </a:tc>
                <a:tc>
                  <a:txBody>
                    <a:bodyPr wrap="none"/>
                    <a:lstStyle/>
                    <a:p>
                      <a:pPr algn="ctr"/>
                      <a:r>
                        <a:rPr sz="1000" b="0" i="0">
                          <a:solidFill>
                            <a:srgbClr val="262626"/>
                          </a:solidFill>
                          <a:latin typeface="Arial"/>
                        </a:rPr>
                        <a:t>Aug 29</a:t>
                      </a:r>
                    </a:p>
                  </a:txBody>
                  <a:tcPr>
                    <a:solidFill>
                      <a:srgbClr val="F2F2F2"/>
                    </a:solidFill>
                  </a:tcPr>
                </a:tc>
                <a:tc>
                  <a:txBody>
                    <a:bodyPr wrap="none"/>
                    <a:lstStyle/>
                    <a:p>
                      <a:pPr algn="ctr"/>
                      <a:r>
                        <a:rPr sz="1000" b="0" i="0">
                          <a:solidFill>
                            <a:srgbClr val="262626"/>
                          </a:solidFill>
                          <a:latin typeface="Arial"/>
                        </a:rPr>
                        <a:t>24.7</a:t>
                      </a:r>
                    </a:p>
                  </a:txBody>
                  <a:tcPr>
                    <a:solidFill>
                      <a:srgbClr val="F2F2F2"/>
                    </a:solidFill>
                  </a:tcPr>
                </a:tc>
                <a:tc>
                  <a:txBody>
                    <a:bodyPr wrap="none"/>
                    <a:lstStyle/>
                    <a:p>
                      <a:pPr algn="ctr"/>
                      <a:r>
                        <a:rPr sz="1000" b="0" i="0">
                          <a:solidFill>
                            <a:srgbClr val="262626"/>
                          </a:solidFill>
                          <a:latin typeface="Arial"/>
                        </a:rPr>
                        <a:t>84%</a:t>
                      </a:r>
                    </a:p>
                  </a:txBody>
                  <a:tcPr>
                    <a:solidFill>
                      <a:srgbClr val="F2F2F2"/>
                    </a:solidFill>
                  </a:tcPr>
                </a:tc>
                <a:tc>
                  <a:txBody>
                    <a:bodyPr wrap="none"/>
                    <a:lstStyle/>
                    <a:p>
                      <a:pPr algn="ctr"/>
                      <a:r>
                        <a:rPr sz="1000" b="0" i="0">
                          <a:solidFill>
                            <a:srgbClr val="262626"/>
                          </a:solidFill>
                          <a:latin typeface="Arial"/>
                        </a:rPr>
                        <a:t>9</a:t>
                      </a:r>
                    </a:p>
                  </a:txBody>
                  <a:tcPr>
                    <a:solidFill>
                      <a:srgbClr val="F2F2F2"/>
                    </a:solidFill>
                  </a:tcPr>
                </a:tc>
                <a:tc>
                  <a:txBody>
                    <a:bodyPr wrap="none"/>
                    <a:lstStyle/>
                    <a:p>
                      <a:pPr algn="ctr"/>
                      <a:r>
                        <a:rPr sz="1000" b="0" i="0">
                          <a:solidFill>
                            <a:srgbClr val="262626"/>
                          </a:solidFill>
                          <a:latin typeface="Arial"/>
                        </a:rPr>
                        <a:t>1.3</a:t>
                      </a:r>
                    </a:p>
                  </a:txBody>
                  <a:tcPr>
                    <a:solidFill>
                      <a:srgbClr val="F2F2F2"/>
                    </a:solidFill>
                  </a:tcPr>
                </a:tc>
                <a:tc>
                  <a:txBody>
                    <a:bodyPr wrap="none"/>
                    <a:lstStyle/>
                    <a:p>
                      <a:pPr algn="ctr"/>
                      <a:r>
                        <a:rPr sz="1000" b="0" i="0">
                          <a:solidFill>
                            <a:srgbClr val="262626"/>
                          </a:solidFill>
                          <a:latin typeface="Arial"/>
                        </a:rPr>
                        <a:t>26.3</a:t>
                      </a:r>
                    </a:p>
                  </a:txBody>
                  <a:tcPr>
                    <a:solidFill>
                      <a:srgbClr val="F2F2F2"/>
                    </a:solidFill>
                  </a:tcPr>
                </a:tc>
                <a:tc>
                  <a:txBody>
                    <a:bodyPr wrap="none"/>
                    <a:lstStyle/>
                    <a:p>
                      <a:pPr algn="ctr"/>
                      <a:r>
                        <a:rPr sz="1000" b="0" i="0">
                          <a:solidFill>
                            <a:srgbClr val="262626"/>
                          </a:solidFill>
                          <a:latin typeface="Arial"/>
                        </a:rPr>
                        <a:t>forbidden</a:t>
                      </a:r>
                    </a:p>
                  </a:txBody>
                  <a:tcPr>
                    <a:solidFill>
                      <a:srgbClr val="F2F2F2"/>
                    </a:solidFill>
                  </a:tcPr>
                </a:tc>
                <a:tc>
                  <a:txBody>
                    <a:bodyPr wrap="none"/>
                    <a:lstStyle/>
                    <a:p>
                      <a:pPr algn="l"/>
                      <a:r>
                        <a:rPr sz="1000" b="0" i="0">
                          <a:solidFill>
                            <a:srgbClr val="262626"/>
                          </a:solidFill>
                          <a:latin typeface="Arial"/>
                        </a:rPr>
                        <a:t>—</a:t>
                      </a:r>
                    </a:p>
                  </a:txBody>
                  <a:tcPr>
                    <a:solidFill>
                      <a:srgbClr val="F2F2F2"/>
                    </a:solidFill>
                  </a:tcPr>
                </a:tc>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09:00–14:00 local) where WT API data is absent. Values marked * are Open-Meteo estimates. Water temp and wetsuit ruling are from the World Triathlon API per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