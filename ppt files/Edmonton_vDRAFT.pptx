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12188825"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p:scale>
          <a:sx n="83" d="100"/>
          <a:sy n="83" d="100"/>
        </p:scale>
        <p:origin x="408" y="45"/>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7/13/2026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7/13/2026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7/13/2026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7/13/2026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7/13/2026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7/13/2026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pg"/><Relationship Id="rId1" Type="http://schemas.openxmlformats.org/officeDocument/2006/relationships/slideLayout" Target="../slideLayouts/slideLayout7.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p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11430000" y="0"/>
            <a:ext cx="758952"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457200" y="3749039"/>
            <a:ext cx="1078992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USA_Triathlon_Logo.jpg"/>
          <p:cNvPicPr>
            <a:picLocks noChangeAspect="1"/>
          </p:cNvPicPr>
          <p:nvPr/>
        </p:nvPicPr>
        <p:blipFill>
          <a:blip r:embed="rId2"/>
          <a:stretch>
            <a:fillRect/>
          </a:stretch>
        </p:blipFill>
        <p:spPr>
          <a:xfrm>
            <a:off x="548640" y="365760"/>
            <a:ext cx="1920240" cy="1463040"/>
          </a:xfrm>
          <a:prstGeom prst="rect">
            <a:avLst/>
          </a:prstGeom>
        </p:spPr>
      </p:pic>
      <p:sp>
        <p:nvSpPr>
          <p:cNvPr id="6" name="TextBox 5"/>
          <p:cNvSpPr txBox="1"/>
          <p:nvPr/>
        </p:nvSpPr>
        <p:spPr>
          <a:xfrm>
            <a:off x="457200" y="1828800"/>
            <a:ext cx="10789920" cy="1280160"/>
          </a:xfrm>
          <a:prstGeom prst="rect">
            <a:avLst/>
          </a:prstGeom>
          <a:noFill/>
        </p:spPr>
        <p:txBody>
          <a:bodyPr wrap="square">
            <a:spAutoFit/>
          </a:bodyPr>
          <a:lstStyle/>
          <a:p>
            <a:pPr algn="ctr"/>
            <a:r>
              <a:rPr sz="5400" b="1" i="0">
                <a:solidFill>
                  <a:srgbClr val="FFFFFF"/>
                </a:solidFill>
                <a:latin typeface="Arial"/>
              </a:rPr>
              <a:t>EDMONTON RACE PREVIEW</a:t>
            </a:r>
          </a:p>
        </p:txBody>
      </p:sp>
      <p:sp>
        <p:nvSpPr>
          <p:cNvPr id="7" name="TextBox 6"/>
          <p:cNvSpPr txBox="1"/>
          <p:nvPr/>
        </p:nvSpPr>
        <p:spPr>
          <a:xfrm>
            <a:off x="457200" y="3931920"/>
            <a:ext cx="10789920" cy="548640"/>
          </a:xfrm>
          <a:prstGeom prst="rect">
            <a:avLst/>
          </a:prstGeom>
          <a:noFill/>
        </p:spPr>
        <p:txBody>
          <a:bodyPr wrap="square">
            <a:spAutoFit/>
          </a:bodyPr>
          <a:lstStyle/>
          <a:p>
            <a:pPr algn="ctr"/>
            <a:r>
              <a:rPr sz="1800" b="0" i="0">
                <a:solidFill>
                  <a:srgbClr val="AABBDD"/>
                </a:solidFill>
                <a:latin typeface="Arial"/>
              </a:rPr>
              <a:t>Elite Analysis  ·  July 15 – 19, 2026</a:t>
            </a:r>
          </a:p>
        </p:txBody>
      </p:sp>
      <p:sp>
        <p:nvSpPr>
          <p:cNvPr id="8" name="TextBox 7"/>
          <p:cNvSpPr txBox="1"/>
          <p:nvPr/>
        </p:nvSpPr>
        <p:spPr>
          <a:xfrm>
            <a:off x="457200" y="4572000"/>
            <a:ext cx="10789920" cy="457200"/>
          </a:xfrm>
          <a:prstGeom prst="rect">
            <a:avLst/>
          </a:prstGeom>
          <a:noFill/>
        </p:spPr>
        <p:txBody>
          <a:bodyPr wrap="square">
            <a:spAutoFit/>
          </a:bodyPr>
          <a:lstStyle/>
          <a:p>
            <a:pPr algn="ctr"/>
            <a:r>
              <a:rPr sz="1400" b="0" i="0">
                <a:solidFill>
                  <a:srgbClr val="8090B0"/>
                </a:solidFill>
                <a:latin typeface="Arial"/>
              </a:rPr>
              <a:t>USA Triathlon High Performance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Week Schedule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300" b="1" i="0">
                <a:solidFill>
                  <a:srgbClr val="002060"/>
                </a:solidFill>
                <a:latin typeface="Arial"/>
              </a:rPr>
              <a:t>July 15 – 19, 2026   •   William Hawrelak Park, 9330 Groat Rd NW, Edmonton, AB (MDT, UTC-6)</a:t>
            </a:r>
          </a:p>
        </p:txBody>
      </p:sp>
      <p:sp>
        <p:nvSpPr>
          <p:cNvPr id="10" name="Rectangle 9"/>
          <p:cNvSpPr/>
          <p:nvPr/>
        </p:nvSpPr>
        <p:spPr>
          <a:xfrm>
            <a:off x="274320"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728216"/>
            <a:ext cx="2555748" cy="201168"/>
          </a:xfrm>
          <a:prstGeom prst="rect">
            <a:avLst/>
          </a:prstGeom>
          <a:noFill/>
        </p:spPr>
        <p:txBody>
          <a:bodyPr wrap="square">
            <a:spAutoFit/>
          </a:bodyPr>
          <a:lstStyle/>
          <a:p>
            <a:pPr algn="ctr"/>
            <a:r>
              <a:rPr sz="1200" b="1" i="0">
                <a:solidFill>
                  <a:srgbClr val="FFFFFF"/>
                </a:solidFill>
                <a:latin typeface="Arial"/>
              </a:rPr>
              <a:t>Wed-Thu • July 15-16</a:t>
            </a:r>
          </a:p>
        </p:txBody>
      </p:sp>
      <p:sp>
        <p:nvSpPr>
          <p:cNvPr id="12" name="TextBox 11"/>
          <p:cNvSpPr txBox="1"/>
          <p:nvPr/>
        </p:nvSpPr>
        <p:spPr>
          <a:xfrm>
            <a:off x="365760" y="1929384"/>
            <a:ext cx="2555748" cy="201168"/>
          </a:xfrm>
          <a:prstGeom prst="rect">
            <a:avLst/>
          </a:prstGeom>
          <a:noFill/>
        </p:spPr>
        <p:txBody>
          <a:bodyPr wrap="square">
            <a:spAutoFit/>
          </a:bodyPr>
          <a:lstStyle/>
          <a:p>
            <a:pPr algn="ctr"/>
            <a:r>
              <a:rPr sz="950" b="0" i="1">
                <a:solidFill>
                  <a:srgbClr val="AABBDD"/>
                </a:solidFill>
                <a:latin typeface="Arial"/>
              </a:rPr>
              <a:t>Open Swim Training</a:t>
            </a:r>
          </a:p>
        </p:txBody>
      </p:sp>
      <p:graphicFrame>
        <p:nvGraphicFramePr>
          <p:cNvPr id="13" name="Table 12"/>
          <p:cNvGraphicFramePr>
            <a:graphicFrameLocks noGrp="1"/>
          </p:cNvGraphicFramePr>
          <p:nvPr/>
        </p:nvGraphicFramePr>
        <p:xfrm>
          <a:off x="274320" y="2240280"/>
          <a:ext cx="2738627" cy="201168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10:30 – 12:30</a:t>
                      </a:r>
                    </a:p>
                  </a:txBody>
                  <a:tcPr>
                    <a:solidFill>
                      <a:srgbClr val="F2F2F2"/>
                    </a:solidFill>
                  </a:tcPr>
                </a:tc>
                <a:tc>
                  <a:txBody>
                    <a:bodyPr/>
                    <a:lstStyle/>
                    <a:p>
                      <a:pPr algn="l"/>
                      <a:r>
                        <a:rPr sz="1000" b="0" i="0">
                          <a:solidFill>
                            <a:srgbClr val="262626"/>
                          </a:solidFill>
                          <a:latin typeface="Arial"/>
                        </a:rPr>
                        <a:t>Swim Training — Kinsmen Sport Centre (Wed)</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18:00 – 20:00</a:t>
                      </a:r>
                    </a:p>
                  </a:txBody>
                  <a:tcPr>
                    <a:solidFill>
                      <a:srgbClr val="FFFFFF"/>
                    </a:solidFill>
                  </a:tcPr>
                </a:tc>
                <a:tc>
                  <a:txBody>
                    <a:bodyPr/>
                    <a:lstStyle/>
                    <a:p>
                      <a:pPr algn="l"/>
                      <a:r>
                        <a:rPr sz="1000" b="0" i="0">
                          <a:solidFill>
                            <a:srgbClr val="262626"/>
                          </a:solidFill>
                          <a:latin typeface="Arial"/>
                        </a:rPr>
                        <a:t>Swim Training — Kinsmen Sport Centre (Wed)</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11:45 – 13:45</a:t>
                      </a:r>
                    </a:p>
                  </a:txBody>
                  <a:tcPr>
                    <a:solidFill>
                      <a:srgbClr val="F2F2F2"/>
                    </a:solidFill>
                  </a:tcPr>
                </a:tc>
                <a:tc>
                  <a:txBody>
                    <a:bodyPr/>
                    <a:lstStyle/>
                    <a:p>
                      <a:pPr algn="l"/>
                      <a:r>
                        <a:rPr sz="1000" b="0" i="0">
                          <a:solidFill>
                            <a:srgbClr val="262626"/>
                          </a:solidFill>
                          <a:latin typeface="Arial"/>
                        </a:rPr>
                        <a:t>Swim Training — Kinsmen Sport Centre (Thu)</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18:00 – 20:00</a:t>
                      </a:r>
                    </a:p>
                  </a:txBody>
                  <a:tcPr>
                    <a:solidFill>
                      <a:srgbClr val="FFFFFF"/>
                    </a:solidFill>
                  </a:tcPr>
                </a:tc>
                <a:tc>
                  <a:txBody>
                    <a:bodyPr/>
                    <a:lstStyle/>
                    <a:p>
                      <a:pPr algn="l"/>
                      <a:r>
                        <a:rPr sz="1000" b="0" i="0">
                          <a:solidFill>
                            <a:srgbClr val="262626"/>
                          </a:solidFill>
                          <a:latin typeface="Arial"/>
                        </a:rPr>
                        <a:t>Swim Training — Kinsmen Sport Centre (Thu)</a:t>
                      </a:r>
                    </a:p>
                  </a:txBody>
                  <a:tcPr>
                    <a:solidFill>
                      <a:srgbClr val="FFFFFF"/>
                    </a:solidFill>
                  </a:tcPr>
                </a:tc>
                <a:extLst>
                  <a:ext uri="{0D108BD9-81ED-4DB2-BD59-A6C34878D82A}">
                    <a16:rowId xmlns:a16="http://schemas.microsoft.com/office/drawing/2014/main" val="10003"/>
                  </a:ext>
                </a:extLst>
              </a:tr>
            </a:tbl>
          </a:graphicData>
        </a:graphic>
      </p:graphicFrame>
      <p:sp>
        <p:nvSpPr>
          <p:cNvPr id="14" name="Rectangle 13"/>
          <p:cNvSpPr/>
          <p:nvPr/>
        </p:nvSpPr>
        <p:spPr>
          <a:xfrm>
            <a:off x="3241548"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3332988" y="1728216"/>
            <a:ext cx="2555748" cy="201168"/>
          </a:xfrm>
          <a:prstGeom prst="rect">
            <a:avLst/>
          </a:prstGeom>
          <a:noFill/>
        </p:spPr>
        <p:txBody>
          <a:bodyPr wrap="square">
            <a:spAutoFit/>
          </a:bodyPr>
          <a:lstStyle/>
          <a:p>
            <a:pPr algn="ctr"/>
            <a:r>
              <a:rPr sz="1200" b="1" i="0">
                <a:solidFill>
                  <a:srgbClr val="FFFFFF"/>
                </a:solidFill>
                <a:latin typeface="Arial"/>
              </a:rPr>
              <a:t>Fri • July 17</a:t>
            </a:r>
          </a:p>
        </p:txBody>
      </p:sp>
      <p:sp>
        <p:nvSpPr>
          <p:cNvPr id="16" name="TextBox 15"/>
          <p:cNvSpPr txBox="1"/>
          <p:nvPr/>
        </p:nvSpPr>
        <p:spPr>
          <a:xfrm>
            <a:off x="3332988" y="1929384"/>
            <a:ext cx="2555748" cy="201168"/>
          </a:xfrm>
          <a:prstGeom prst="rect">
            <a:avLst/>
          </a:prstGeom>
          <a:noFill/>
        </p:spPr>
        <p:txBody>
          <a:bodyPr wrap="square">
            <a:spAutoFit/>
          </a:bodyPr>
          <a:lstStyle/>
          <a:p>
            <a:pPr algn="ctr"/>
            <a:r>
              <a:rPr sz="950" b="0" i="1">
                <a:solidFill>
                  <a:srgbClr val="AABBDD"/>
                </a:solidFill>
                <a:latin typeface="Arial"/>
              </a:rPr>
              <a:t>Familiarization &amp; Briefing</a:t>
            </a:r>
          </a:p>
        </p:txBody>
      </p:sp>
      <p:graphicFrame>
        <p:nvGraphicFramePr>
          <p:cNvPr id="17" name="Table 16"/>
          <p:cNvGraphicFramePr>
            <a:graphicFrameLocks noGrp="1"/>
          </p:cNvGraphicFramePr>
          <p:nvPr/>
        </p:nvGraphicFramePr>
        <p:xfrm>
          <a:off x="3241548" y="2240280"/>
          <a:ext cx="2738627" cy="265176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7:45 – 9:45</a:t>
                      </a:r>
                    </a:p>
                  </a:txBody>
                  <a:tcPr>
                    <a:solidFill>
                      <a:srgbClr val="F2F2F2"/>
                    </a:solidFill>
                  </a:tcPr>
                </a:tc>
                <a:tc>
                  <a:txBody>
                    <a:bodyPr/>
                    <a:lstStyle/>
                    <a:p>
                      <a:pPr algn="l"/>
                      <a:r>
                        <a:rPr sz="1000" b="0" i="0">
                          <a:solidFill>
                            <a:srgbClr val="262626"/>
                          </a:solidFill>
                          <a:latin typeface="Arial"/>
                        </a:rPr>
                        <a:t>Swim Training — Kinsmen Sport Centre</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13:00 – 14:00</a:t>
                      </a:r>
                    </a:p>
                  </a:txBody>
                  <a:tcPr>
                    <a:solidFill>
                      <a:srgbClr val="FFFFFF"/>
                    </a:solidFill>
                  </a:tcPr>
                </a:tc>
                <a:tc>
                  <a:txBody>
                    <a:bodyPr/>
                    <a:lstStyle/>
                    <a:p>
                      <a:pPr algn="l"/>
                      <a:r>
                        <a:rPr sz="1000" b="0" i="0">
                          <a:solidFill>
                            <a:srgbClr val="262626"/>
                          </a:solidFill>
                          <a:latin typeface="Arial"/>
                        </a:rPr>
                        <a:t>Bike Familiarization — Hawrelak Park (police-escorted)</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14:00 – 15:00</a:t>
                      </a:r>
                    </a:p>
                  </a:txBody>
                  <a:tcPr>
                    <a:solidFill>
                      <a:srgbClr val="F2F2F2"/>
                    </a:solidFill>
                  </a:tcPr>
                </a:tc>
                <a:tc>
                  <a:txBody>
                    <a:bodyPr/>
                    <a:lstStyle/>
                    <a:p>
                      <a:pPr algn="l"/>
                      <a:r>
                        <a:rPr sz="1000" b="0" i="0">
                          <a:solidFill>
                            <a:srgbClr val="262626"/>
                          </a:solidFill>
                          <a:latin typeface="Arial"/>
                        </a:rPr>
                        <a:t>Swim Familiarization — Hawrelak Park lake</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1" i="0">
                          <a:solidFill>
                            <a:srgbClr val="C00000"/>
                          </a:solidFill>
                          <a:latin typeface="Arial"/>
                        </a:rPr>
                        <a:t>16:00 – 16:45</a:t>
                      </a:r>
                    </a:p>
                  </a:txBody>
                  <a:tcPr>
                    <a:solidFill>
                      <a:srgbClr val="FDECEC"/>
                    </a:solidFill>
                  </a:tcPr>
                </a:tc>
                <a:tc>
                  <a:txBody>
                    <a:bodyPr/>
                    <a:lstStyle/>
                    <a:p>
                      <a:pPr algn="l"/>
                      <a:r>
                        <a:rPr sz="1000" b="1" i="0">
                          <a:solidFill>
                            <a:srgbClr val="C00000"/>
                          </a:solidFill>
                          <a:latin typeface="Arial"/>
                        </a:rPr>
                        <a:t>★ Elite &amp; Mixed Relay Athletes' Briefing — Heritage Amphitheatre</a:t>
                      </a:r>
                    </a:p>
                  </a:txBody>
                  <a:tcPr>
                    <a:solidFill>
                      <a:srgbClr val="FDECEC"/>
                    </a:solidFill>
                  </a:tcPr>
                </a:tc>
                <a:extLst>
                  <a:ext uri="{0D108BD9-81ED-4DB2-BD59-A6C34878D82A}">
                    <a16:rowId xmlns:a16="http://schemas.microsoft.com/office/drawing/2014/main" val="10003"/>
                  </a:ext>
                </a:extLst>
              </a:tr>
              <a:tr h="502920">
                <a:tc>
                  <a:txBody>
                    <a:bodyPr/>
                    <a:lstStyle/>
                    <a:p>
                      <a:pPr algn="ctr"/>
                      <a:r>
                        <a:rPr sz="1000" b="0" i="0">
                          <a:solidFill>
                            <a:srgbClr val="262626"/>
                          </a:solidFill>
                          <a:latin typeface="Arial"/>
                        </a:rPr>
                        <a:t>16:45 – 17:15</a:t>
                      </a:r>
                    </a:p>
                  </a:txBody>
                  <a:tcPr>
                    <a:solidFill>
                      <a:srgbClr val="F2F2F2"/>
                    </a:solidFill>
                  </a:tcPr>
                </a:tc>
                <a:tc>
                  <a:txBody>
                    <a:bodyPr/>
                    <a:lstStyle/>
                    <a:p>
                      <a:pPr algn="l"/>
                      <a:r>
                        <a:rPr sz="1000" b="0" i="0">
                          <a:solidFill>
                            <a:srgbClr val="262626"/>
                          </a:solidFill>
                          <a:latin typeface="Arial"/>
                        </a:rPr>
                        <a:t>Elite Race Package Distribution — Heritage Amphitheatre</a:t>
                      </a:r>
                    </a:p>
                  </a:txBody>
                  <a:tcPr>
                    <a:solidFill>
                      <a:srgbClr val="F2F2F2"/>
                    </a:solidFill>
                  </a:tcPr>
                </a:tc>
                <a:extLst>
                  <a:ext uri="{0D108BD9-81ED-4DB2-BD59-A6C34878D82A}">
                    <a16:rowId xmlns:a16="http://schemas.microsoft.com/office/drawing/2014/main" val="10004"/>
                  </a:ext>
                </a:extLst>
              </a:tr>
            </a:tbl>
          </a:graphicData>
        </a:graphic>
      </p:graphicFrame>
      <p:sp>
        <p:nvSpPr>
          <p:cNvPr id="18" name="Rectangle 17"/>
          <p:cNvSpPr/>
          <p:nvPr/>
        </p:nvSpPr>
        <p:spPr>
          <a:xfrm>
            <a:off x="6208776"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6300216" y="1728216"/>
            <a:ext cx="2555748" cy="201168"/>
          </a:xfrm>
          <a:prstGeom prst="rect">
            <a:avLst/>
          </a:prstGeom>
          <a:noFill/>
        </p:spPr>
        <p:txBody>
          <a:bodyPr wrap="square">
            <a:spAutoFit/>
          </a:bodyPr>
          <a:lstStyle/>
          <a:p>
            <a:pPr algn="ctr"/>
            <a:r>
              <a:rPr sz="1200" b="1" i="0">
                <a:solidFill>
                  <a:srgbClr val="FFFFFF"/>
                </a:solidFill>
                <a:latin typeface="Arial"/>
              </a:rPr>
              <a:t>Sat • July 18</a:t>
            </a:r>
          </a:p>
        </p:txBody>
      </p:sp>
      <p:sp>
        <p:nvSpPr>
          <p:cNvPr id="20" name="TextBox 19"/>
          <p:cNvSpPr txBox="1"/>
          <p:nvPr/>
        </p:nvSpPr>
        <p:spPr>
          <a:xfrm>
            <a:off x="6300216" y="1929384"/>
            <a:ext cx="2555748" cy="201168"/>
          </a:xfrm>
          <a:prstGeom prst="rect">
            <a:avLst/>
          </a:prstGeom>
          <a:noFill/>
        </p:spPr>
        <p:txBody>
          <a:bodyPr wrap="square">
            <a:spAutoFit/>
          </a:bodyPr>
          <a:lstStyle/>
          <a:p>
            <a:pPr algn="ctr"/>
            <a:r>
              <a:rPr sz="950" b="0" i="1">
                <a:solidFill>
                  <a:srgbClr val="AABBDD"/>
                </a:solidFill>
                <a:latin typeface="Arial"/>
              </a:rPr>
              <a:t>ELITE SPRINT RACE DAY</a:t>
            </a:r>
          </a:p>
        </p:txBody>
      </p:sp>
      <p:graphicFrame>
        <p:nvGraphicFramePr>
          <p:cNvPr id="21" name="Table 20"/>
          <p:cNvGraphicFramePr>
            <a:graphicFrameLocks noGrp="1"/>
          </p:cNvGraphicFramePr>
          <p:nvPr/>
        </p:nvGraphicFramePr>
        <p:xfrm>
          <a:off x="6208776" y="2240280"/>
          <a:ext cx="2738627" cy="612648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12:30 – 13:30</a:t>
                      </a:r>
                    </a:p>
                  </a:txBody>
                  <a:tcPr>
                    <a:solidFill>
                      <a:srgbClr val="F2F2F2"/>
                    </a:solidFill>
                  </a:tcPr>
                </a:tc>
                <a:tc>
                  <a:txBody>
                    <a:bodyPr/>
                    <a:lstStyle/>
                    <a:p>
                      <a:pPr algn="l"/>
                      <a:r>
                        <a:rPr sz="1000" b="0" i="0">
                          <a:solidFill>
                            <a:srgbClr val="262626"/>
                          </a:solidFill>
                          <a:latin typeface="Arial"/>
                        </a:rPr>
                        <a:t>Elite Athlete Lounge open — Men</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13:00 – 13:45</a:t>
                      </a:r>
                    </a:p>
                  </a:txBody>
                  <a:tcPr>
                    <a:solidFill>
                      <a:srgbClr val="FFFFFF"/>
                    </a:solidFill>
                  </a:tcPr>
                </a:tc>
                <a:tc>
                  <a:txBody>
                    <a:bodyPr/>
                    <a:lstStyle/>
                    <a:p>
                      <a:pPr algn="l"/>
                      <a:r>
                        <a:rPr sz="1000" b="0" i="0">
                          <a:solidFill>
                            <a:srgbClr val="262626"/>
                          </a:solidFill>
                          <a:latin typeface="Arial"/>
                        </a:rPr>
                        <a:t>Transition check-in + swim warm-up — Men</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13:50 – 13:58</a:t>
                      </a:r>
                    </a:p>
                  </a:txBody>
                  <a:tcPr>
                    <a:solidFill>
                      <a:srgbClr val="F2F2F2"/>
                    </a:solidFill>
                  </a:tcPr>
                </a:tc>
                <a:tc>
                  <a:txBody>
                    <a:bodyPr/>
                    <a:lstStyle/>
                    <a:p>
                      <a:pPr algn="l"/>
                      <a:r>
                        <a:rPr sz="1000" b="0" i="0">
                          <a:solidFill>
                            <a:srgbClr val="262626"/>
                          </a:solidFill>
                          <a:latin typeface="Arial"/>
                        </a:rPr>
                        <a:t>Elite Men introductions</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1" i="0">
                          <a:solidFill>
                            <a:srgbClr val="C00000"/>
                          </a:solidFill>
                          <a:latin typeface="Arial"/>
                        </a:rPr>
                        <a:t>14:00</a:t>
                      </a:r>
                    </a:p>
                  </a:txBody>
                  <a:tcPr>
                    <a:solidFill>
                      <a:srgbClr val="FDECEC"/>
                    </a:solidFill>
                  </a:tcPr>
                </a:tc>
                <a:tc>
                  <a:txBody>
                    <a:bodyPr/>
                    <a:lstStyle/>
                    <a:p>
                      <a:pPr algn="l"/>
                      <a:r>
                        <a:rPr sz="1000" b="1" i="0">
                          <a:solidFill>
                            <a:srgbClr val="C00000"/>
                          </a:solidFill>
                          <a:latin typeface="Arial"/>
                        </a:rPr>
                        <a:t>★ ELITE MEN — SPRINT TRIATHLON START</a:t>
                      </a:r>
                    </a:p>
                  </a:txBody>
                  <a:tcPr>
                    <a:solidFill>
                      <a:srgbClr val="FDECEC"/>
                    </a:solidFill>
                  </a:tcPr>
                </a:tc>
                <a:extLst>
                  <a:ext uri="{0D108BD9-81ED-4DB2-BD59-A6C34878D82A}">
                    <a16:rowId xmlns:a16="http://schemas.microsoft.com/office/drawing/2014/main" val="10003"/>
                  </a:ext>
                </a:extLst>
              </a:tr>
              <a:tr h="502920">
                <a:tc>
                  <a:txBody>
                    <a:bodyPr/>
                    <a:lstStyle/>
                    <a:p>
                      <a:pPr algn="ctr"/>
                      <a:r>
                        <a:rPr sz="1000" b="0" i="0">
                          <a:solidFill>
                            <a:srgbClr val="262626"/>
                          </a:solidFill>
                          <a:latin typeface="Arial"/>
                        </a:rPr>
                        <a:t>15:15</a:t>
                      </a:r>
                    </a:p>
                  </a:txBody>
                  <a:tcPr>
                    <a:solidFill>
                      <a:srgbClr val="F2F2F2"/>
                    </a:solidFill>
                  </a:tcPr>
                </a:tc>
                <a:tc>
                  <a:txBody>
                    <a:bodyPr/>
                    <a:lstStyle/>
                    <a:p>
                      <a:pPr algn="l"/>
                      <a:r>
                        <a:rPr sz="1000" b="0" i="0">
                          <a:solidFill>
                            <a:srgbClr val="262626"/>
                          </a:solidFill>
                          <a:latin typeface="Arial"/>
                        </a:rPr>
                        <a:t>Elite Men medals ceremony</a:t>
                      </a:r>
                    </a:p>
                  </a:txBody>
                  <a:tcPr>
                    <a:solidFill>
                      <a:srgbClr val="F2F2F2"/>
                    </a:solidFill>
                  </a:tcPr>
                </a:tc>
                <a:extLst>
                  <a:ext uri="{0D108BD9-81ED-4DB2-BD59-A6C34878D82A}">
                    <a16:rowId xmlns:a16="http://schemas.microsoft.com/office/drawing/2014/main" val="10004"/>
                  </a:ext>
                </a:extLst>
              </a:tr>
              <a:tr h="502920">
                <a:tc>
                  <a:txBody>
                    <a:bodyPr/>
                    <a:lstStyle/>
                    <a:p>
                      <a:pPr algn="ctr"/>
                      <a:r>
                        <a:rPr sz="1000" b="0" i="0">
                          <a:solidFill>
                            <a:srgbClr val="262626"/>
                          </a:solidFill>
                          <a:latin typeface="Arial"/>
                        </a:rPr>
                        <a:t>14:30 – 15:30</a:t>
                      </a:r>
                    </a:p>
                  </a:txBody>
                  <a:tcPr>
                    <a:solidFill>
                      <a:srgbClr val="FFFFFF"/>
                    </a:solidFill>
                  </a:tcPr>
                </a:tc>
                <a:tc>
                  <a:txBody>
                    <a:bodyPr/>
                    <a:lstStyle/>
                    <a:p>
                      <a:pPr algn="l"/>
                      <a:r>
                        <a:rPr sz="1000" b="0" i="0">
                          <a:solidFill>
                            <a:srgbClr val="262626"/>
                          </a:solidFill>
                          <a:latin typeface="Arial"/>
                        </a:rPr>
                        <a:t>Elite Athlete Lounge open — Women</a:t>
                      </a:r>
                    </a:p>
                  </a:txBody>
                  <a:tcPr>
                    <a:solidFill>
                      <a:srgbClr val="FFFFFF"/>
                    </a:solidFill>
                  </a:tcPr>
                </a:tc>
                <a:extLst>
                  <a:ext uri="{0D108BD9-81ED-4DB2-BD59-A6C34878D82A}">
                    <a16:rowId xmlns:a16="http://schemas.microsoft.com/office/drawing/2014/main" val="10005"/>
                  </a:ext>
                </a:extLst>
              </a:tr>
              <a:tr h="502920">
                <a:tc>
                  <a:txBody>
                    <a:bodyPr/>
                    <a:lstStyle/>
                    <a:p>
                      <a:pPr algn="ctr"/>
                      <a:r>
                        <a:rPr sz="1000" b="0" i="0">
                          <a:solidFill>
                            <a:srgbClr val="262626"/>
                          </a:solidFill>
                          <a:latin typeface="Arial"/>
                        </a:rPr>
                        <a:t>15:00 – 15:45</a:t>
                      </a:r>
                    </a:p>
                  </a:txBody>
                  <a:tcPr>
                    <a:solidFill>
                      <a:srgbClr val="F2F2F2"/>
                    </a:solidFill>
                  </a:tcPr>
                </a:tc>
                <a:tc>
                  <a:txBody>
                    <a:bodyPr/>
                    <a:lstStyle/>
                    <a:p>
                      <a:pPr algn="l"/>
                      <a:r>
                        <a:rPr sz="1000" b="0" i="0">
                          <a:solidFill>
                            <a:srgbClr val="262626"/>
                          </a:solidFill>
                          <a:latin typeface="Arial"/>
                        </a:rPr>
                        <a:t>Transition check-in + swim warm-up — Women</a:t>
                      </a:r>
                    </a:p>
                  </a:txBody>
                  <a:tcPr>
                    <a:solidFill>
                      <a:srgbClr val="F2F2F2"/>
                    </a:solidFill>
                  </a:tcPr>
                </a:tc>
                <a:extLst>
                  <a:ext uri="{0D108BD9-81ED-4DB2-BD59-A6C34878D82A}">
                    <a16:rowId xmlns:a16="http://schemas.microsoft.com/office/drawing/2014/main" val="10006"/>
                  </a:ext>
                </a:extLst>
              </a:tr>
              <a:tr h="502920">
                <a:tc>
                  <a:txBody>
                    <a:bodyPr/>
                    <a:lstStyle/>
                    <a:p>
                      <a:pPr algn="ctr"/>
                      <a:r>
                        <a:rPr sz="1000" b="0" i="0">
                          <a:solidFill>
                            <a:srgbClr val="262626"/>
                          </a:solidFill>
                          <a:latin typeface="Arial"/>
                        </a:rPr>
                        <a:t>15:30</a:t>
                      </a:r>
                    </a:p>
                  </a:txBody>
                  <a:tcPr>
                    <a:solidFill>
                      <a:srgbClr val="FFFFFF"/>
                    </a:solidFill>
                  </a:tcPr>
                </a:tc>
                <a:tc>
                  <a:txBody>
                    <a:bodyPr/>
                    <a:lstStyle/>
                    <a:p>
                      <a:pPr algn="l"/>
                      <a:r>
                        <a:rPr sz="1000" b="0" i="0">
                          <a:solidFill>
                            <a:srgbClr val="262626"/>
                          </a:solidFill>
                          <a:latin typeface="Arial"/>
                        </a:rPr>
                        <a:t>Mixed Relay — online team declaration</a:t>
                      </a:r>
                    </a:p>
                  </a:txBody>
                  <a:tcPr>
                    <a:solidFill>
                      <a:srgbClr val="FFFFFF"/>
                    </a:solidFill>
                  </a:tcPr>
                </a:tc>
                <a:extLst>
                  <a:ext uri="{0D108BD9-81ED-4DB2-BD59-A6C34878D82A}">
                    <a16:rowId xmlns:a16="http://schemas.microsoft.com/office/drawing/2014/main" val="10007"/>
                  </a:ext>
                </a:extLst>
              </a:tr>
              <a:tr h="502920">
                <a:tc>
                  <a:txBody>
                    <a:bodyPr/>
                    <a:lstStyle/>
                    <a:p>
                      <a:pPr algn="ctr"/>
                      <a:r>
                        <a:rPr sz="1000" b="0" i="0">
                          <a:solidFill>
                            <a:srgbClr val="262626"/>
                          </a:solidFill>
                          <a:latin typeface="Arial"/>
                        </a:rPr>
                        <a:t>15:50 – 15:58</a:t>
                      </a:r>
                    </a:p>
                  </a:txBody>
                  <a:tcPr>
                    <a:solidFill>
                      <a:srgbClr val="F2F2F2"/>
                    </a:solidFill>
                  </a:tcPr>
                </a:tc>
                <a:tc>
                  <a:txBody>
                    <a:bodyPr/>
                    <a:lstStyle/>
                    <a:p>
                      <a:pPr algn="l"/>
                      <a:r>
                        <a:rPr sz="1000" b="0" i="0">
                          <a:solidFill>
                            <a:srgbClr val="262626"/>
                          </a:solidFill>
                          <a:latin typeface="Arial"/>
                        </a:rPr>
                        <a:t>Elite Women introductions</a:t>
                      </a:r>
                    </a:p>
                  </a:txBody>
                  <a:tcPr>
                    <a:solidFill>
                      <a:srgbClr val="F2F2F2"/>
                    </a:solidFill>
                  </a:tcPr>
                </a:tc>
                <a:extLst>
                  <a:ext uri="{0D108BD9-81ED-4DB2-BD59-A6C34878D82A}">
                    <a16:rowId xmlns:a16="http://schemas.microsoft.com/office/drawing/2014/main" val="10008"/>
                  </a:ext>
                </a:extLst>
              </a:tr>
              <a:tr h="502920">
                <a:tc>
                  <a:txBody>
                    <a:bodyPr/>
                    <a:lstStyle/>
                    <a:p>
                      <a:pPr algn="ctr"/>
                      <a:r>
                        <a:rPr sz="1000" b="1" i="0">
                          <a:solidFill>
                            <a:srgbClr val="C00000"/>
                          </a:solidFill>
                          <a:latin typeface="Arial"/>
                        </a:rPr>
                        <a:t>16:00</a:t>
                      </a:r>
                    </a:p>
                  </a:txBody>
                  <a:tcPr>
                    <a:solidFill>
                      <a:srgbClr val="FDECEC"/>
                    </a:solidFill>
                  </a:tcPr>
                </a:tc>
                <a:tc>
                  <a:txBody>
                    <a:bodyPr/>
                    <a:lstStyle/>
                    <a:p>
                      <a:pPr algn="l"/>
                      <a:r>
                        <a:rPr sz="1000" b="1" i="0">
                          <a:solidFill>
                            <a:srgbClr val="C00000"/>
                          </a:solidFill>
                          <a:latin typeface="Arial"/>
                        </a:rPr>
                        <a:t>★ ELITE WOMEN — SPRINT TRIATHLON START</a:t>
                      </a:r>
                    </a:p>
                  </a:txBody>
                  <a:tcPr>
                    <a:solidFill>
                      <a:srgbClr val="FDECEC"/>
                    </a:solidFill>
                  </a:tcPr>
                </a:tc>
                <a:extLst>
                  <a:ext uri="{0D108BD9-81ED-4DB2-BD59-A6C34878D82A}">
                    <a16:rowId xmlns:a16="http://schemas.microsoft.com/office/drawing/2014/main" val="10009"/>
                  </a:ext>
                </a:extLst>
              </a:tr>
              <a:tr h="502920">
                <a:tc>
                  <a:txBody>
                    <a:bodyPr/>
                    <a:lstStyle/>
                    <a:p>
                      <a:pPr algn="ctr"/>
                      <a:r>
                        <a:rPr sz="1000" b="0" i="0">
                          <a:solidFill>
                            <a:srgbClr val="262626"/>
                          </a:solidFill>
                          <a:latin typeface="Arial"/>
                        </a:rPr>
                        <a:t>17:15</a:t>
                      </a:r>
                    </a:p>
                  </a:txBody>
                  <a:tcPr>
                    <a:solidFill>
                      <a:srgbClr val="F2F2F2"/>
                    </a:solidFill>
                  </a:tcPr>
                </a:tc>
                <a:tc>
                  <a:txBody>
                    <a:bodyPr/>
                    <a:lstStyle/>
                    <a:p>
                      <a:pPr algn="l"/>
                      <a:r>
                        <a:rPr sz="1000" b="0" i="0">
                          <a:solidFill>
                            <a:srgbClr val="262626"/>
                          </a:solidFill>
                          <a:latin typeface="Arial"/>
                        </a:rPr>
                        <a:t>Elite Women medals ceremony</a:t>
                      </a:r>
                    </a:p>
                  </a:txBody>
                  <a:tcPr>
                    <a:solidFill>
                      <a:srgbClr val="F2F2F2"/>
                    </a:solidFill>
                  </a:tcPr>
                </a:tc>
                <a:extLst>
                  <a:ext uri="{0D108BD9-81ED-4DB2-BD59-A6C34878D82A}">
                    <a16:rowId xmlns:a16="http://schemas.microsoft.com/office/drawing/2014/main" val="10010"/>
                  </a:ext>
                </a:extLst>
              </a:tr>
              <a:tr h="502920">
                <a:tc>
                  <a:txBody>
                    <a:bodyPr/>
                    <a:lstStyle/>
                    <a:p>
                      <a:pPr algn="ctr"/>
                      <a:r>
                        <a:rPr sz="1000" b="0" i="0">
                          <a:solidFill>
                            <a:srgbClr val="262626"/>
                          </a:solidFill>
                          <a:latin typeface="Arial"/>
                        </a:rPr>
                        <a:t>17:30 – 18:00</a:t>
                      </a:r>
                    </a:p>
                  </a:txBody>
                  <a:tcPr>
                    <a:solidFill>
                      <a:srgbClr val="FFFFFF"/>
                    </a:solidFill>
                  </a:tcPr>
                </a:tc>
                <a:tc>
                  <a:txBody>
                    <a:bodyPr/>
                    <a:lstStyle/>
                    <a:p>
                      <a:pPr algn="l"/>
                      <a:r>
                        <a:rPr sz="1000" b="0" i="0">
                          <a:solidFill>
                            <a:srgbClr val="262626"/>
                          </a:solidFill>
                          <a:latin typeface="Arial"/>
                        </a:rPr>
                        <a:t>Mixed Relay — team declaration (Athletes' Lounge)</a:t>
                      </a:r>
                    </a:p>
                  </a:txBody>
                  <a:tcPr>
                    <a:solidFill>
                      <a:srgbClr val="FFFFFF"/>
                    </a:solidFill>
                  </a:tcPr>
                </a:tc>
                <a:extLst>
                  <a:ext uri="{0D108BD9-81ED-4DB2-BD59-A6C34878D82A}">
                    <a16:rowId xmlns:a16="http://schemas.microsoft.com/office/drawing/2014/main" val="10011"/>
                  </a:ext>
                </a:extLst>
              </a:tr>
            </a:tbl>
          </a:graphicData>
        </a:graphic>
      </p:graphicFrame>
      <p:sp>
        <p:nvSpPr>
          <p:cNvPr id="22" name="Rectangle 21"/>
          <p:cNvSpPr/>
          <p:nvPr/>
        </p:nvSpPr>
        <p:spPr>
          <a:xfrm>
            <a:off x="9176004" y="1691640"/>
            <a:ext cx="2738628" cy="4572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9267444" y="1728216"/>
            <a:ext cx="2555748" cy="201168"/>
          </a:xfrm>
          <a:prstGeom prst="rect">
            <a:avLst/>
          </a:prstGeom>
          <a:noFill/>
        </p:spPr>
        <p:txBody>
          <a:bodyPr wrap="square">
            <a:spAutoFit/>
          </a:bodyPr>
          <a:lstStyle/>
          <a:p>
            <a:pPr algn="ctr"/>
            <a:r>
              <a:rPr sz="1200" b="1" i="0">
                <a:solidFill>
                  <a:srgbClr val="FFFFFF"/>
                </a:solidFill>
                <a:latin typeface="Arial"/>
              </a:rPr>
              <a:t>Sun • July 19</a:t>
            </a:r>
          </a:p>
        </p:txBody>
      </p:sp>
      <p:sp>
        <p:nvSpPr>
          <p:cNvPr id="24" name="TextBox 23"/>
          <p:cNvSpPr txBox="1"/>
          <p:nvPr/>
        </p:nvSpPr>
        <p:spPr>
          <a:xfrm>
            <a:off x="9267444" y="1929384"/>
            <a:ext cx="2555748" cy="201168"/>
          </a:xfrm>
          <a:prstGeom prst="rect">
            <a:avLst/>
          </a:prstGeom>
          <a:noFill/>
        </p:spPr>
        <p:txBody>
          <a:bodyPr wrap="square">
            <a:spAutoFit/>
          </a:bodyPr>
          <a:lstStyle/>
          <a:p>
            <a:pPr algn="ctr"/>
            <a:r>
              <a:rPr sz="950" b="0" i="1">
                <a:solidFill>
                  <a:srgbClr val="AABBDD"/>
                </a:solidFill>
                <a:latin typeface="Arial"/>
              </a:rPr>
              <a:t>Mixed Relay Day</a:t>
            </a:r>
          </a:p>
        </p:txBody>
      </p:sp>
      <p:graphicFrame>
        <p:nvGraphicFramePr>
          <p:cNvPr id="25" name="Table 24"/>
          <p:cNvGraphicFramePr>
            <a:graphicFrameLocks noGrp="1"/>
          </p:cNvGraphicFramePr>
          <p:nvPr/>
        </p:nvGraphicFramePr>
        <p:xfrm>
          <a:off x="9176004" y="2240280"/>
          <a:ext cx="2738627" cy="3017520"/>
        </p:xfrm>
        <a:graphic>
          <a:graphicData uri="http://schemas.openxmlformats.org/drawingml/2006/table">
            <a:tbl>
              <a:tblPr firstRow="1" bandRow="1">
                <a:tableStyleId>{5C22544A-7EE6-4342-B048-85BDC9FD1C3A}</a:tableStyleId>
              </a:tblPr>
              <a:tblGrid>
                <a:gridCol w="985906">
                  <a:extLst>
                    <a:ext uri="{9D8B030D-6E8A-4147-A177-3AD203B41FA5}">
                      <a16:colId xmlns:a16="http://schemas.microsoft.com/office/drawing/2014/main" val="20000"/>
                    </a:ext>
                  </a:extLst>
                </a:gridCol>
                <a:gridCol w="1752721">
                  <a:extLst>
                    <a:ext uri="{9D8B030D-6E8A-4147-A177-3AD203B41FA5}">
                      <a16:colId xmlns:a16="http://schemas.microsoft.com/office/drawing/2014/main" val="20001"/>
                    </a:ext>
                  </a:extLst>
                </a:gridCol>
              </a:tblGrid>
              <a:tr h="502920">
                <a:tc>
                  <a:txBody>
                    <a:bodyPr/>
                    <a:lstStyle/>
                    <a:p>
                      <a:pPr algn="ctr"/>
                      <a:r>
                        <a:rPr sz="1000" b="0" i="0">
                          <a:solidFill>
                            <a:srgbClr val="262626"/>
                          </a:solidFill>
                          <a:latin typeface="Arial"/>
                        </a:rPr>
                        <a:t>12:30 – 12:45</a:t>
                      </a:r>
                    </a:p>
                  </a:txBody>
                  <a:tcPr>
                    <a:solidFill>
                      <a:srgbClr val="F2F2F2"/>
                    </a:solidFill>
                  </a:tcPr>
                </a:tc>
                <a:tc>
                  <a:txBody>
                    <a:bodyPr/>
                    <a:lstStyle/>
                    <a:p>
                      <a:pPr algn="l"/>
                      <a:r>
                        <a:rPr sz="1000" b="0" i="0">
                          <a:solidFill>
                            <a:srgbClr val="262626"/>
                          </a:solidFill>
                          <a:latin typeface="Arial"/>
                        </a:rPr>
                        <a:t>Mixed Relay final team declaration</a:t>
                      </a:r>
                    </a:p>
                  </a:txBody>
                  <a:tcPr>
                    <a:solidFill>
                      <a:srgbClr val="F2F2F2"/>
                    </a:solidFill>
                  </a:tcPr>
                </a:tc>
                <a:extLst>
                  <a:ext uri="{0D108BD9-81ED-4DB2-BD59-A6C34878D82A}">
                    <a16:rowId xmlns:a16="http://schemas.microsoft.com/office/drawing/2014/main" val="10000"/>
                  </a:ext>
                </a:extLst>
              </a:tr>
              <a:tr h="502920">
                <a:tc>
                  <a:txBody>
                    <a:bodyPr/>
                    <a:lstStyle/>
                    <a:p>
                      <a:pPr algn="ctr"/>
                      <a:r>
                        <a:rPr sz="1000" b="0" i="0">
                          <a:solidFill>
                            <a:srgbClr val="262626"/>
                          </a:solidFill>
                          <a:latin typeface="Arial"/>
                        </a:rPr>
                        <a:t>13:00 – 14:00</a:t>
                      </a:r>
                    </a:p>
                  </a:txBody>
                  <a:tcPr>
                    <a:solidFill>
                      <a:srgbClr val="FFFFFF"/>
                    </a:solidFill>
                  </a:tcPr>
                </a:tc>
                <a:tc>
                  <a:txBody>
                    <a:bodyPr/>
                    <a:lstStyle/>
                    <a:p>
                      <a:pPr algn="l"/>
                      <a:r>
                        <a:rPr sz="1000" b="0" i="0">
                          <a:solidFill>
                            <a:srgbClr val="262626"/>
                          </a:solidFill>
                          <a:latin typeface="Arial"/>
                        </a:rPr>
                        <a:t>Elite Mixed Relay athlete lounge open</a:t>
                      </a:r>
                    </a:p>
                  </a:txBody>
                  <a:tcPr>
                    <a:solidFill>
                      <a:srgbClr val="FFFFFF"/>
                    </a:solidFill>
                  </a:tcPr>
                </a:tc>
                <a:extLst>
                  <a:ext uri="{0D108BD9-81ED-4DB2-BD59-A6C34878D82A}">
                    <a16:rowId xmlns:a16="http://schemas.microsoft.com/office/drawing/2014/main" val="10001"/>
                  </a:ext>
                </a:extLst>
              </a:tr>
              <a:tr h="502920">
                <a:tc>
                  <a:txBody>
                    <a:bodyPr/>
                    <a:lstStyle/>
                    <a:p>
                      <a:pPr algn="ctr"/>
                      <a:r>
                        <a:rPr sz="1000" b="0" i="0">
                          <a:solidFill>
                            <a:srgbClr val="262626"/>
                          </a:solidFill>
                          <a:latin typeface="Arial"/>
                        </a:rPr>
                        <a:t>13:30 – 14:15</a:t>
                      </a:r>
                    </a:p>
                  </a:txBody>
                  <a:tcPr>
                    <a:solidFill>
                      <a:srgbClr val="F2F2F2"/>
                    </a:solidFill>
                  </a:tcPr>
                </a:tc>
                <a:tc>
                  <a:txBody>
                    <a:bodyPr/>
                    <a:lstStyle/>
                    <a:p>
                      <a:pPr algn="l"/>
                      <a:r>
                        <a:rPr sz="1000" b="0" i="0">
                          <a:solidFill>
                            <a:srgbClr val="262626"/>
                          </a:solidFill>
                          <a:latin typeface="Arial"/>
                        </a:rPr>
                        <a:t>Transition check-in + swim warm-up</a:t>
                      </a:r>
                    </a:p>
                  </a:txBody>
                  <a:tcPr>
                    <a:solidFill>
                      <a:srgbClr val="F2F2F2"/>
                    </a:solidFill>
                  </a:tcPr>
                </a:tc>
                <a:extLst>
                  <a:ext uri="{0D108BD9-81ED-4DB2-BD59-A6C34878D82A}">
                    <a16:rowId xmlns:a16="http://schemas.microsoft.com/office/drawing/2014/main" val="10002"/>
                  </a:ext>
                </a:extLst>
              </a:tr>
              <a:tr h="502920">
                <a:tc>
                  <a:txBody>
                    <a:bodyPr/>
                    <a:lstStyle/>
                    <a:p>
                      <a:pPr algn="ctr"/>
                      <a:r>
                        <a:rPr sz="1000" b="0" i="0">
                          <a:solidFill>
                            <a:srgbClr val="262626"/>
                          </a:solidFill>
                          <a:latin typeface="Arial"/>
                        </a:rPr>
                        <a:t>14:20 – 14:28</a:t>
                      </a:r>
                    </a:p>
                  </a:txBody>
                  <a:tcPr>
                    <a:solidFill>
                      <a:srgbClr val="FFFFFF"/>
                    </a:solidFill>
                  </a:tcPr>
                </a:tc>
                <a:tc>
                  <a:txBody>
                    <a:bodyPr/>
                    <a:lstStyle/>
                    <a:p>
                      <a:pPr algn="l"/>
                      <a:r>
                        <a:rPr sz="1000" b="0" i="0">
                          <a:solidFill>
                            <a:srgbClr val="262626"/>
                          </a:solidFill>
                          <a:latin typeface="Arial"/>
                        </a:rPr>
                        <a:t>Mixed Relay team introductions</a:t>
                      </a:r>
                    </a:p>
                  </a:txBody>
                  <a:tcPr>
                    <a:solidFill>
                      <a:srgbClr val="FFFFFF"/>
                    </a:solidFill>
                  </a:tcPr>
                </a:tc>
                <a:extLst>
                  <a:ext uri="{0D108BD9-81ED-4DB2-BD59-A6C34878D82A}">
                    <a16:rowId xmlns:a16="http://schemas.microsoft.com/office/drawing/2014/main" val="10003"/>
                  </a:ext>
                </a:extLst>
              </a:tr>
              <a:tr h="502920">
                <a:tc>
                  <a:txBody>
                    <a:bodyPr/>
                    <a:lstStyle/>
                    <a:p>
                      <a:pPr algn="ctr"/>
                      <a:r>
                        <a:rPr sz="1000" b="1" i="0">
                          <a:solidFill>
                            <a:srgbClr val="C00000"/>
                          </a:solidFill>
                          <a:latin typeface="Arial"/>
                        </a:rPr>
                        <a:t>14:30</a:t>
                      </a:r>
                    </a:p>
                  </a:txBody>
                  <a:tcPr>
                    <a:solidFill>
                      <a:srgbClr val="FDECEC"/>
                    </a:solidFill>
                  </a:tcPr>
                </a:tc>
                <a:tc>
                  <a:txBody>
                    <a:bodyPr/>
                    <a:lstStyle/>
                    <a:p>
                      <a:pPr algn="l"/>
                      <a:r>
                        <a:rPr sz="1000" b="1" i="0">
                          <a:solidFill>
                            <a:srgbClr val="C00000"/>
                          </a:solidFill>
                          <a:latin typeface="Arial"/>
                        </a:rPr>
                        <a:t>★ ELITE MIXED RELAY START</a:t>
                      </a:r>
                    </a:p>
                  </a:txBody>
                  <a:tcPr>
                    <a:solidFill>
                      <a:srgbClr val="FDECEC"/>
                    </a:solidFill>
                  </a:tcPr>
                </a:tc>
                <a:extLst>
                  <a:ext uri="{0D108BD9-81ED-4DB2-BD59-A6C34878D82A}">
                    <a16:rowId xmlns:a16="http://schemas.microsoft.com/office/drawing/2014/main" val="10004"/>
                  </a:ext>
                </a:extLst>
              </a:tr>
              <a:tr h="502920">
                <a:tc>
                  <a:txBody>
                    <a:bodyPr/>
                    <a:lstStyle/>
                    <a:p>
                      <a:pPr algn="ctr"/>
                      <a:r>
                        <a:rPr sz="1000" b="0" i="0">
                          <a:solidFill>
                            <a:srgbClr val="262626"/>
                          </a:solidFill>
                          <a:latin typeface="Arial"/>
                        </a:rPr>
                        <a:t>16:00</a:t>
                      </a:r>
                    </a:p>
                  </a:txBody>
                  <a:tcPr>
                    <a:solidFill>
                      <a:srgbClr val="FFFFFF"/>
                    </a:solidFill>
                  </a:tcPr>
                </a:tc>
                <a:tc>
                  <a:txBody>
                    <a:bodyPr/>
                    <a:lstStyle/>
                    <a:p>
                      <a:pPr algn="l"/>
                      <a:r>
                        <a:rPr sz="1000" b="0" i="0">
                          <a:solidFill>
                            <a:srgbClr val="262626"/>
                          </a:solidFill>
                          <a:latin typeface="Arial"/>
                        </a:rPr>
                        <a:t>Elite Mixed Relay medals ceremony</a:t>
                      </a:r>
                    </a:p>
                  </a:txBody>
                  <a:tcPr>
                    <a:solidFill>
                      <a:srgbClr val="FFFFFF"/>
                    </a:solidFill>
                  </a:tcPr>
                </a:tc>
                <a:extLst>
                  <a:ext uri="{0D108BD9-81ED-4DB2-BD59-A6C34878D82A}">
                    <a16:rowId xmlns:a16="http://schemas.microsoft.com/office/drawing/2014/main" val="10005"/>
                  </a:ext>
                </a:extLst>
              </a:tr>
            </a:tbl>
          </a:graphicData>
        </a:graphic>
      </p:graphicFrame>
      <p:sp>
        <p:nvSpPr>
          <p:cNvPr id="26" name="TextBox 25"/>
          <p:cNvSpPr txBox="1"/>
          <p:nvPr/>
        </p:nvSpPr>
        <p:spPr>
          <a:xfrm>
            <a:off x="274320" y="6355080"/>
            <a:ext cx="11640312" cy="274320"/>
          </a:xfrm>
          <a:prstGeom prst="rect">
            <a:avLst/>
          </a:prstGeom>
          <a:noFill/>
        </p:spPr>
        <p:txBody>
          <a:bodyPr wrap="square">
            <a:spAutoFit/>
          </a:bodyPr>
          <a:lstStyle/>
          <a:p>
            <a:pPr algn="ctr"/>
            <a:r>
              <a:rPr sz="900" b="0" i="1">
                <a:solidFill>
                  <a:srgbClr val="BFBFBF"/>
                </a:solidFill>
                <a:latin typeface="Arial"/>
              </a:rPr>
              <a:t>Times William Hawrelak Park, 9330 Groat Rd NW, Edmonton, AB (MDT, UTC-6). Schedule confirmed from World Triathlon race-info page / athlete guide; subject to organiser updates.</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Course Differentiators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97280"/>
            <a:ext cx="6035040" cy="502920"/>
          </a:xfrm>
          <a:prstGeom prst="rect">
            <a:avLst/>
          </a:prstGeom>
          <a:noFill/>
        </p:spPr>
        <p:txBody>
          <a:bodyPr wrap="square">
            <a:spAutoFit/>
          </a:bodyPr>
          <a:lstStyle/>
          <a:p>
            <a:pPr algn="l"/>
            <a:r>
              <a:rPr sz="2000" b="1" i="0">
                <a:solidFill>
                  <a:srgbClr val="002060"/>
                </a:solidFill>
                <a:latin typeface="Arial"/>
              </a:rPr>
              <a:t>EDMONTON</a:t>
            </a:r>
          </a:p>
        </p:txBody>
      </p:sp>
      <p:sp>
        <p:nvSpPr>
          <p:cNvPr id="9" name="TextBox 8"/>
          <p:cNvSpPr txBox="1"/>
          <p:nvPr/>
        </p:nvSpPr>
        <p:spPr>
          <a:xfrm>
            <a:off x="274320" y="1627632"/>
            <a:ext cx="6035040" cy="1234440"/>
          </a:xfrm>
          <a:prstGeom prst="rect">
            <a:avLst/>
          </a:prstGeom>
          <a:noFill/>
        </p:spPr>
        <p:txBody>
          <a:bodyPr wrap="square">
            <a:spAutoFit/>
          </a:bodyPr>
          <a:lstStyle/>
          <a:p>
            <a:pPr algn="l"/>
            <a:r>
              <a:rPr sz="1100" b="0" i="0">
                <a:solidFill>
                  <a:srgbClr val="262626"/>
                </a:solidFill>
                <a:latin typeface="Arial"/>
              </a:rPr>
              <a:t>The 2026 World Triathlon Cup Edmonton returns elite racing to William Hawrelak Park, newly renovated ahead of the 2027 World Triathlon Multisport Championships — this race is the first elite test of the rebuilt course. Edmonton has a long elite history at this tier and above: WTS races in 2018 and 2019, and the 2021 World Triathlon Championship Finals, where Kristian Blummenfelt and Flora Duffy clinched world titles on this same lake. The last two editions (2023-24) stepped down to Americas Triathlon Cup level, so this World Cup marks a return to a stronger international field. Format is standard sprint: 750 m lake swim, 20.4 km bike (3 laps, valley climb each lap), 5 km run (3 laps). Elite Men go off at 14:00 and Elite Women at 16:00 on Saturday July 18; Mixed Relay follows Sunday July 19.</a:t>
            </a:r>
          </a:p>
        </p:txBody>
      </p:sp>
      <p:sp>
        <p:nvSpPr>
          <p:cNvPr id="10" name="Rectangle 9"/>
          <p:cNvSpPr/>
          <p:nvPr/>
        </p:nvSpPr>
        <p:spPr>
          <a:xfrm>
            <a:off x="274320" y="2971800"/>
            <a:ext cx="603504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20040" y="2990088"/>
            <a:ext cx="5669280" cy="274320"/>
          </a:xfrm>
          <a:prstGeom prst="rect">
            <a:avLst/>
          </a:prstGeom>
          <a:noFill/>
        </p:spPr>
        <p:txBody>
          <a:bodyPr wrap="square">
            <a:spAutoFit/>
          </a:bodyPr>
          <a:lstStyle/>
          <a:p>
            <a:pPr algn="l"/>
            <a:r>
              <a:rPr sz="1200" b="1" i="0">
                <a:solidFill>
                  <a:srgbClr val="FFFFFF"/>
                </a:solidFill>
                <a:latin typeface="Arial"/>
              </a:rPr>
              <a:t>COURSE FEATURES</a:t>
            </a:r>
          </a:p>
        </p:txBody>
      </p:sp>
      <p:sp>
        <p:nvSpPr>
          <p:cNvPr id="12" name="TextBox 11"/>
          <p:cNvSpPr txBox="1"/>
          <p:nvPr/>
        </p:nvSpPr>
        <p:spPr>
          <a:xfrm>
            <a:off x="365760" y="3383280"/>
            <a:ext cx="5852160" cy="640080"/>
          </a:xfrm>
          <a:prstGeom prst="rect">
            <a:avLst/>
          </a:prstGeom>
          <a:noFill/>
        </p:spPr>
        <p:txBody>
          <a:bodyPr wrap="square">
            <a:spAutoFit/>
          </a:bodyPr>
          <a:lstStyle/>
          <a:p>
            <a:pPr algn="l"/>
            <a:r>
              <a:rPr sz="1100" b="0" i="0">
                <a:solidFill>
                  <a:srgbClr val="262626"/>
                </a:solidFill>
                <a:latin typeface="Arial"/>
              </a:rPr>
              <a:t>•  750 m Hawrelak Park lake swim — sheltered fresh water, single clockwise loop, ~19 °C (optional wetsuit).</a:t>
            </a:r>
          </a:p>
        </p:txBody>
      </p:sp>
      <p:sp>
        <p:nvSpPr>
          <p:cNvPr id="13" name="TextBox 12"/>
          <p:cNvSpPr txBox="1"/>
          <p:nvPr/>
        </p:nvSpPr>
        <p:spPr>
          <a:xfrm>
            <a:off x="365760" y="4041648"/>
            <a:ext cx="5852160" cy="640080"/>
          </a:xfrm>
          <a:prstGeom prst="rect">
            <a:avLst/>
          </a:prstGeom>
          <a:noFill/>
        </p:spPr>
        <p:txBody>
          <a:bodyPr wrap="square">
            <a:spAutoFit/>
          </a:bodyPr>
          <a:lstStyle/>
          <a:p>
            <a:pPr algn="l"/>
            <a:r>
              <a:rPr sz="1100" b="0" i="0">
                <a:solidFill>
                  <a:srgbClr val="262626"/>
                </a:solidFill>
                <a:latin typeface="Arial"/>
              </a:rPr>
              <a:t>•  20.4 km bike — 3 × 6.8 km laps with a repeated river-valley climb/descent (+85 m/-87 m per lap).</a:t>
            </a:r>
          </a:p>
        </p:txBody>
      </p:sp>
      <p:sp>
        <p:nvSpPr>
          <p:cNvPr id="14" name="TextBox 13"/>
          <p:cNvSpPr txBox="1"/>
          <p:nvPr/>
        </p:nvSpPr>
        <p:spPr>
          <a:xfrm>
            <a:off x="365760" y="4700016"/>
            <a:ext cx="5852160" cy="640080"/>
          </a:xfrm>
          <a:prstGeom prst="rect">
            <a:avLst/>
          </a:prstGeom>
          <a:noFill/>
        </p:spPr>
        <p:txBody>
          <a:bodyPr wrap="square">
            <a:spAutoFit/>
          </a:bodyPr>
          <a:lstStyle/>
          <a:p>
            <a:pPr algn="l"/>
            <a:r>
              <a:rPr sz="1100" b="0" i="0">
                <a:solidFill>
                  <a:srgbClr val="262626"/>
                </a:solidFill>
                <a:latin typeface="Arial"/>
              </a:rPr>
              <a:t>•  5 km run — 3 × 1.66 km laps on paved park paths, moderate heat risk (July highs ~23 °C).</a:t>
            </a:r>
          </a:p>
        </p:txBody>
      </p:sp>
      <p:sp>
        <p:nvSpPr>
          <p:cNvPr id="15" name="TextBox 14"/>
          <p:cNvSpPr txBox="1"/>
          <p:nvPr/>
        </p:nvSpPr>
        <p:spPr>
          <a:xfrm>
            <a:off x="365760" y="5358384"/>
            <a:ext cx="5852160" cy="640080"/>
          </a:xfrm>
          <a:prstGeom prst="rect">
            <a:avLst/>
          </a:prstGeom>
          <a:noFill/>
        </p:spPr>
        <p:txBody>
          <a:bodyPr wrap="square">
            <a:spAutoFit/>
          </a:bodyPr>
          <a:lstStyle/>
          <a:p>
            <a:pPr algn="l"/>
            <a:r>
              <a:rPr sz="1100" b="0" i="0">
                <a:solidFill>
                  <a:srgbClr val="262626"/>
                </a:solidFill>
                <a:latin typeface="Arial"/>
              </a:rPr>
              <a:t>•  Elite Men 14:00 / Elite Women 16:00, Saturday July 18. Mixed Relay 14:30, Sunday July 19.</a:t>
            </a:r>
          </a:p>
        </p:txBody>
      </p:sp>
      <p:sp>
        <p:nvSpPr>
          <p:cNvPr id="16" name="Rectangle 15"/>
          <p:cNvSpPr/>
          <p:nvPr/>
        </p:nvSpPr>
        <p:spPr>
          <a:xfrm>
            <a:off x="6583680" y="109728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6629400" y="1115568"/>
            <a:ext cx="4937760" cy="274320"/>
          </a:xfrm>
          <a:prstGeom prst="rect">
            <a:avLst/>
          </a:prstGeom>
          <a:noFill/>
        </p:spPr>
        <p:txBody>
          <a:bodyPr wrap="square">
            <a:spAutoFit/>
          </a:bodyPr>
          <a:lstStyle/>
          <a:p>
            <a:pPr algn="l"/>
            <a:r>
              <a:rPr sz="1200" b="1" i="0">
                <a:solidFill>
                  <a:srgbClr val="FFFFFF"/>
                </a:solidFill>
                <a:latin typeface="Arial"/>
              </a:rPr>
              <a:t>COURSE AT A GLANCE</a:t>
            </a:r>
          </a:p>
        </p:txBody>
      </p:sp>
      <p:sp>
        <p:nvSpPr>
          <p:cNvPr id="18" name="TextBox 17"/>
          <p:cNvSpPr txBox="1"/>
          <p:nvPr/>
        </p:nvSpPr>
        <p:spPr>
          <a:xfrm>
            <a:off x="6675120" y="1508760"/>
            <a:ext cx="1828800" cy="320040"/>
          </a:xfrm>
          <a:prstGeom prst="rect">
            <a:avLst/>
          </a:prstGeom>
          <a:noFill/>
        </p:spPr>
        <p:txBody>
          <a:bodyPr wrap="square">
            <a:spAutoFit/>
          </a:bodyPr>
          <a:lstStyle/>
          <a:p>
            <a:pPr algn="l"/>
            <a:r>
              <a:rPr sz="1200" b="1" i="0">
                <a:solidFill>
                  <a:srgbClr val="002060"/>
                </a:solidFill>
                <a:latin typeface="Arial"/>
              </a:rPr>
              <a:t>Swim:</a:t>
            </a:r>
          </a:p>
        </p:txBody>
      </p:sp>
      <p:sp>
        <p:nvSpPr>
          <p:cNvPr id="19" name="TextBox 18"/>
          <p:cNvSpPr txBox="1"/>
          <p:nvPr/>
        </p:nvSpPr>
        <p:spPr>
          <a:xfrm>
            <a:off x="8229600" y="1508760"/>
            <a:ext cx="3657600" cy="320040"/>
          </a:xfrm>
          <a:prstGeom prst="rect">
            <a:avLst/>
          </a:prstGeom>
          <a:noFill/>
        </p:spPr>
        <p:txBody>
          <a:bodyPr wrap="square">
            <a:spAutoFit/>
          </a:bodyPr>
          <a:lstStyle/>
          <a:p>
            <a:pPr algn="l"/>
            <a:r>
              <a:rPr sz="1200" b="0" i="0">
                <a:solidFill>
                  <a:srgbClr val="262626"/>
                </a:solidFill>
                <a:latin typeface="Arial"/>
              </a:rPr>
              <a:t>750 m – 1 lap</a:t>
            </a:r>
          </a:p>
        </p:txBody>
      </p:sp>
      <p:sp>
        <p:nvSpPr>
          <p:cNvPr id="20" name="TextBox 19"/>
          <p:cNvSpPr txBox="1"/>
          <p:nvPr/>
        </p:nvSpPr>
        <p:spPr>
          <a:xfrm>
            <a:off x="6675120" y="1847088"/>
            <a:ext cx="1828800" cy="320040"/>
          </a:xfrm>
          <a:prstGeom prst="rect">
            <a:avLst/>
          </a:prstGeom>
          <a:noFill/>
        </p:spPr>
        <p:txBody>
          <a:bodyPr wrap="square">
            <a:spAutoFit/>
          </a:bodyPr>
          <a:lstStyle/>
          <a:p>
            <a:pPr algn="l"/>
            <a:r>
              <a:rPr sz="1200" b="1" i="0">
                <a:solidFill>
                  <a:srgbClr val="002060"/>
                </a:solidFill>
                <a:latin typeface="Arial"/>
              </a:rPr>
              <a:t>Bike:</a:t>
            </a:r>
          </a:p>
        </p:txBody>
      </p:sp>
      <p:sp>
        <p:nvSpPr>
          <p:cNvPr id="21" name="TextBox 20"/>
          <p:cNvSpPr txBox="1"/>
          <p:nvPr/>
        </p:nvSpPr>
        <p:spPr>
          <a:xfrm>
            <a:off x="8229600" y="1847088"/>
            <a:ext cx="3657600" cy="320040"/>
          </a:xfrm>
          <a:prstGeom prst="rect">
            <a:avLst/>
          </a:prstGeom>
          <a:noFill/>
        </p:spPr>
        <p:txBody>
          <a:bodyPr wrap="square">
            <a:spAutoFit/>
          </a:bodyPr>
          <a:lstStyle/>
          <a:p>
            <a:pPr algn="l"/>
            <a:r>
              <a:rPr sz="1200" b="0" i="0">
                <a:solidFill>
                  <a:srgbClr val="262626"/>
                </a:solidFill>
                <a:latin typeface="Arial"/>
              </a:rPr>
              <a:t>20.4 km – 3 laps × 6.8 km</a:t>
            </a:r>
          </a:p>
        </p:txBody>
      </p:sp>
      <p:sp>
        <p:nvSpPr>
          <p:cNvPr id="22" name="TextBox 21"/>
          <p:cNvSpPr txBox="1"/>
          <p:nvPr/>
        </p:nvSpPr>
        <p:spPr>
          <a:xfrm>
            <a:off x="6675120" y="2185415"/>
            <a:ext cx="1828800" cy="320040"/>
          </a:xfrm>
          <a:prstGeom prst="rect">
            <a:avLst/>
          </a:prstGeom>
          <a:noFill/>
        </p:spPr>
        <p:txBody>
          <a:bodyPr wrap="square">
            <a:spAutoFit/>
          </a:bodyPr>
          <a:lstStyle/>
          <a:p>
            <a:pPr algn="l"/>
            <a:r>
              <a:rPr sz="1200" b="1" i="0">
                <a:solidFill>
                  <a:srgbClr val="002060"/>
                </a:solidFill>
                <a:latin typeface="Arial"/>
              </a:rPr>
              <a:t>Run:</a:t>
            </a:r>
          </a:p>
        </p:txBody>
      </p:sp>
      <p:sp>
        <p:nvSpPr>
          <p:cNvPr id="23" name="TextBox 22"/>
          <p:cNvSpPr txBox="1"/>
          <p:nvPr/>
        </p:nvSpPr>
        <p:spPr>
          <a:xfrm>
            <a:off x="8229600" y="2185415"/>
            <a:ext cx="3657600" cy="320040"/>
          </a:xfrm>
          <a:prstGeom prst="rect">
            <a:avLst/>
          </a:prstGeom>
          <a:noFill/>
        </p:spPr>
        <p:txBody>
          <a:bodyPr wrap="square">
            <a:spAutoFit/>
          </a:bodyPr>
          <a:lstStyle/>
          <a:p>
            <a:pPr algn="l"/>
            <a:r>
              <a:rPr sz="1200" b="0" i="0">
                <a:solidFill>
                  <a:srgbClr val="262626"/>
                </a:solidFill>
                <a:latin typeface="Arial"/>
              </a:rPr>
              <a:t>5 km – 3 laps × 1.66 km</a:t>
            </a:r>
          </a:p>
        </p:txBody>
      </p:sp>
      <p:sp>
        <p:nvSpPr>
          <p:cNvPr id="24" name="TextBox 23"/>
          <p:cNvSpPr txBox="1"/>
          <p:nvPr/>
        </p:nvSpPr>
        <p:spPr>
          <a:xfrm>
            <a:off x="6675120" y="2523744"/>
            <a:ext cx="1828800" cy="320040"/>
          </a:xfrm>
          <a:prstGeom prst="rect">
            <a:avLst/>
          </a:prstGeom>
          <a:noFill/>
        </p:spPr>
        <p:txBody>
          <a:bodyPr wrap="square">
            <a:spAutoFit/>
          </a:bodyPr>
          <a:lstStyle/>
          <a:p>
            <a:pPr algn="l"/>
            <a:r>
              <a:rPr sz="1200" b="1" i="0">
                <a:solidFill>
                  <a:srgbClr val="002060"/>
                </a:solidFill>
                <a:latin typeface="Arial"/>
              </a:rPr>
              <a:t>Format:</a:t>
            </a:r>
          </a:p>
        </p:txBody>
      </p:sp>
      <p:sp>
        <p:nvSpPr>
          <p:cNvPr id="25" name="TextBox 24"/>
          <p:cNvSpPr txBox="1"/>
          <p:nvPr/>
        </p:nvSpPr>
        <p:spPr>
          <a:xfrm>
            <a:off x="8229600" y="2523744"/>
            <a:ext cx="3657600" cy="320040"/>
          </a:xfrm>
          <a:prstGeom prst="rect">
            <a:avLst/>
          </a:prstGeom>
          <a:noFill/>
        </p:spPr>
        <p:txBody>
          <a:bodyPr wrap="square">
            <a:spAutoFit/>
          </a:bodyPr>
          <a:lstStyle/>
          <a:p>
            <a:pPr algn="l"/>
            <a:r>
              <a:rPr sz="1200" b="0" i="0">
                <a:solidFill>
                  <a:srgbClr val="262626"/>
                </a:solidFill>
                <a:latin typeface="Arial"/>
              </a:rPr>
              <a:t>Sprint Triathlon (World Cup)</a:t>
            </a:r>
          </a:p>
        </p:txBody>
      </p:sp>
      <p:sp>
        <p:nvSpPr>
          <p:cNvPr id="26" name="TextBox 25"/>
          <p:cNvSpPr txBox="1"/>
          <p:nvPr/>
        </p:nvSpPr>
        <p:spPr>
          <a:xfrm>
            <a:off x="6675120" y="2862072"/>
            <a:ext cx="1828800" cy="320040"/>
          </a:xfrm>
          <a:prstGeom prst="rect">
            <a:avLst/>
          </a:prstGeom>
          <a:noFill/>
        </p:spPr>
        <p:txBody>
          <a:bodyPr wrap="square">
            <a:spAutoFit/>
          </a:bodyPr>
          <a:lstStyle/>
          <a:p>
            <a:pPr algn="l"/>
            <a:r>
              <a:rPr sz="1200" b="1" i="0">
                <a:solidFill>
                  <a:srgbClr val="002060"/>
                </a:solidFill>
                <a:latin typeface="Arial"/>
              </a:rPr>
              <a:t>Bike Laps:</a:t>
            </a:r>
          </a:p>
        </p:txBody>
      </p:sp>
      <p:sp>
        <p:nvSpPr>
          <p:cNvPr id="27" name="TextBox 26"/>
          <p:cNvSpPr txBox="1"/>
          <p:nvPr/>
        </p:nvSpPr>
        <p:spPr>
          <a:xfrm>
            <a:off x="8229600" y="2862072"/>
            <a:ext cx="3657600" cy="320040"/>
          </a:xfrm>
          <a:prstGeom prst="rect">
            <a:avLst/>
          </a:prstGeom>
          <a:noFill/>
        </p:spPr>
        <p:txBody>
          <a:bodyPr wrap="square">
            <a:spAutoFit/>
          </a:bodyPr>
          <a:lstStyle/>
          <a:p>
            <a:pPr algn="l"/>
            <a:r>
              <a:rPr sz="1200" b="0" i="0">
                <a:solidFill>
                  <a:srgbClr val="262626"/>
                </a:solidFill>
                <a:latin typeface="Arial"/>
              </a:rPr>
              <a:t>3</a:t>
            </a:r>
          </a:p>
        </p:txBody>
      </p:sp>
      <p:sp>
        <p:nvSpPr>
          <p:cNvPr id="28" name="TextBox 27"/>
          <p:cNvSpPr txBox="1"/>
          <p:nvPr/>
        </p:nvSpPr>
        <p:spPr>
          <a:xfrm>
            <a:off x="6675120" y="3200400"/>
            <a:ext cx="1828800" cy="320040"/>
          </a:xfrm>
          <a:prstGeom prst="rect">
            <a:avLst/>
          </a:prstGeom>
          <a:noFill/>
        </p:spPr>
        <p:txBody>
          <a:bodyPr wrap="square">
            <a:spAutoFit/>
          </a:bodyPr>
          <a:lstStyle/>
          <a:p>
            <a:pPr algn="l"/>
            <a:r>
              <a:rPr sz="1200" b="1" i="0">
                <a:solidFill>
                  <a:srgbClr val="002060"/>
                </a:solidFill>
                <a:latin typeface="Arial"/>
              </a:rPr>
              <a:t>Run Laps:</a:t>
            </a:r>
          </a:p>
        </p:txBody>
      </p:sp>
      <p:sp>
        <p:nvSpPr>
          <p:cNvPr id="29" name="TextBox 28"/>
          <p:cNvSpPr txBox="1"/>
          <p:nvPr/>
        </p:nvSpPr>
        <p:spPr>
          <a:xfrm>
            <a:off x="8229600" y="3200400"/>
            <a:ext cx="3657600" cy="320040"/>
          </a:xfrm>
          <a:prstGeom prst="rect">
            <a:avLst/>
          </a:prstGeom>
          <a:noFill/>
        </p:spPr>
        <p:txBody>
          <a:bodyPr wrap="square">
            <a:spAutoFit/>
          </a:bodyPr>
          <a:lstStyle/>
          <a:p>
            <a:pPr algn="l"/>
            <a:r>
              <a:rPr sz="1200" b="0" i="0">
                <a:solidFill>
                  <a:srgbClr val="262626"/>
                </a:solidFill>
                <a:latin typeface="Arial"/>
              </a:rPr>
              <a:t>3</a:t>
            </a:r>
          </a:p>
        </p:txBody>
      </p:sp>
      <p:sp>
        <p:nvSpPr>
          <p:cNvPr id="30" name="Rectangle 29"/>
          <p:cNvSpPr/>
          <p:nvPr/>
        </p:nvSpPr>
        <p:spPr>
          <a:xfrm>
            <a:off x="6583680" y="3657600"/>
            <a:ext cx="530352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6629400" y="3675887"/>
            <a:ext cx="4937760" cy="274320"/>
          </a:xfrm>
          <a:prstGeom prst="rect">
            <a:avLst/>
          </a:prstGeom>
          <a:noFill/>
        </p:spPr>
        <p:txBody>
          <a:bodyPr wrap="square">
            <a:spAutoFit/>
          </a:bodyPr>
          <a:lstStyle/>
          <a:p>
            <a:pPr algn="l"/>
            <a:r>
              <a:rPr sz="1200" b="1" i="0">
                <a:solidFill>
                  <a:srgbClr val="FFFFFF"/>
                </a:solidFill>
                <a:latin typeface="Arial"/>
              </a:rPr>
              <a:t>QUICK LINKS</a:t>
            </a:r>
          </a:p>
        </p:txBody>
      </p:sp>
      <p:sp>
        <p:nvSpPr>
          <p:cNvPr id="32" name="TextBox 31"/>
          <p:cNvSpPr txBox="1"/>
          <p:nvPr/>
        </p:nvSpPr>
        <p:spPr>
          <a:xfrm>
            <a:off x="6675120" y="4069080"/>
            <a:ext cx="5120640" cy="274320"/>
          </a:xfrm>
          <a:prstGeom prst="rect">
            <a:avLst/>
          </a:prstGeom>
          <a:noFill/>
        </p:spPr>
        <p:txBody>
          <a:bodyPr wrap="square">
            <a:spAutoFit/>
          </a:bodyPr>
          <a:lstStyle/>
          <a:p>
            <a:pPr algn="l"/>
            <a:r>
              <a:rPr sz="1100" b="1" i="0">
                <a:solidFill>
                  <a:srgbClr val="002060"/>
                </a:solidFill>
                <a:latin typeface="Arial"/>
              </a:rPr>
              <a:t>Current Race Info:</a:t>
            </a:r>
          </a:p>
        </p:txBody>
      </p:sp>
      <p:sp>
        <p:nvSpPr>
          <p:cNvPr id="33" name="TextBox 32"/>
          <p:cNvSpPr txBox="1"/>
          <p:nvPr/>
        </p:nvSpPr>
        <p:spPr>
          <a:xfrm>
            <a:off x="6675120" y="4370832"/>
            <a:ext cx="5120640" cy="384048"/>
          </a:xfrm>
          <a:prstGeom prst="rect">
            <a:avLst/>
          </a:prstGeom>
          <a:noFill/>
        </p:spPr>
        <p:txBody>
          <a:bodyPr wrap="square">
            <a:spAutoFit/>
          </a:bodyPr>
          <a:lstStyle/>
          <a:p>
            <a:pPr algn="l"/>
            <a:r>
              <a:rPr sz="1000" b="0" i="1">
                <a:solidFill>
                  <a:srgbClr val="262626"/>
                </a:solidFill>
                <a:latin typeface="Arial"/>
              </a:rPr>
              <a:t>Race Info | 2026 World Triathlon Cup Edmonton</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Course Profile &amp; Map</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457200" y="2148840"/>
            <a:ext cx="5303520" cy="914400"/>
          </a:xfrm>
          <a:prstGeom prst="rect">
            <a:avLst/>
          </a:prstGeom>
          <a:noFill/>
        </p:spPr>
        <p:txBody>
          <a:bodyPr wrap="square">
            <a:spAutoFit/>
          </a:bodyPr>
          <a:lstStyle/>
          <a:p>
            <a:pPr algn="ctr"/>
            <a:r>
              <a:rPr sz="1000" b="0" i="1">
                <a:solidFill>
                  <a:srgbClr val="BFBFBF"/>
                </a:solidFill>
                <a:latin typeface="Arial"/>
              </a:rPr>
              <a:t>[PLACEHOLDER: Insert upcoming course map or race photo here]
Right-click → Replace Image, or paste screenshot
of the World Triathlon course map PDF.</a:t>
            </a:r>
          </a:p>
        </p:txBody>
      </p:sp>
      <p:sp>
        <p:nvSpPr>
          <p:cNvPr id="10" name="TextBox 9"/>
          <p:cNvSpPr txBox="1"/>
          <p:nvPr/>
        </p:nvSpPr>
        <p:spPr>
          <a:xfrm>
            <a:off x="274320" y="4507992"/>
            <a:ext cx="5669280" cy="274320"/>
          </a:xfrm>
          <a:prstGeom prst="rect">
            <a:avLst/>
          </a:prstGeom>
          <a:noFill/>
        </p:spPr>
        <p:txBody>
          <a:bodyPr wrap="square">
            <a:spAutoFit/>
          </a:bodyPr>
          <a:lstStyle/>
          <a:p>
            <a:pPr algn="ctr"/>
            <a:r>
              <a:rPr sz="1200" b="1" i="0">
                <a:solidFill>
                  <a:srgbClr val="002060"/>
                </a:solidFill>
                <a:latin typeface="Arial"/>
              </a:rPr>
              <a:t>2026 Course</a:t>
            </a:r>
          </a:p>
        </p:txBody>
      </p:sp>
      <p:sp>
        <p:nvSpPr>
          <p:cNvPr id="11" name="TextBox 10"/>
          <p:cNvSpPr txBox="1"/>
          <p:nvPr/>
        </p:nvSpPr>
        <p:spPr>
          <a:xfrm>
            <a:off x="274320" y="4773168"/>
            <a:ext cx="5669280" cy="246888"/>
          </a:xfrm>
          <a:prstGeom prst="rect">
            <a:avLst/>
          </a:prstGeom>
          <a:noFill/>
        </p:spPr>
        <p:txBody>
          <a:bodyPr wrap="square">
            <a:spAutoFit/>
          </a:bodyPr>
          <a:lstStyle/>
          <a:p>
            <a:pPr algn="ctr"/>
            <a:r>
              <a:rPr sz="900" b="0" i="1">
                <a:solidFill>
                  <a:srgbClr val="BFBFBF"/>
                </a:solidFill>
                <a:latin typeface="Arial"/>
              </a:rPr>
              <a:t>Source: [PLACEHOLDER: World Triathlon event page URL]</a:t>
            </a:r>
          </a:p>
        </p:txBody>
      </p:sp>
      <p:sp>
        <p:nvSpPr>
          <p:cNvPr id="12" name="Rectangle 11"/>
          <p:cNvSpPr/>
          <p:nvPr/>
        </p:nvSpPr>
        <p:spPr>
          <a:xfrm>
            <a:off x="6263640" y="1115568"/>
            <a:ext cx="5669280" cy="333756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446520" y="2148840"/>
            <a:ext cx="5303520" cy="914400"/>
          </a:xfrm>
          <a:prstGeom prst="rect">
            <a:avLst/>
          </a:prstGeom>
          <a:noFill/>
        </p:spPr>
        <p:txBody>
          <a:bodyPr wrap="square">
            <a:spAutoFit/>
          </a:bodyPr>
          <a:lstStyle/>
          <a:p>
            <a:pPr algn="ctr"/>
            <a:r>
              <a:rPr sz="1000" b="0" i="1">
                <a:solidFill>
                  <a:srgbClr val="BFBFBF"/>
                </a:solidFill>
                <a:latin typeface="Arial"/>
              </a:rPr>
              <a:t>[PLACEHOLDER: Insert previous year course map or race photo here]
Right-click → Replace Image, or paste screenshot
of the World Triathlon course map PDF.</a:t>
            </a:r>
          </a:p>
        </p:txBody>
      </p:sp>
      <p:sp>
        <p:nvSpPr>
          <p:cNvPr id="14" name="TextBox 13"/>
          <p:cNvSpPr txBox="1"/>
          <p:nvPr/>
        </p:nvSpPr>
        <p:spPr>
          <a:xfrm>
            <a:off x="6263640" y="4507992"/>
            <a:ext cx="5669280" cy="274320"/>
          </a:xfrm>
          <a:prstGeom prst="rect">
            <a:avLst/>
          </a:prstGeom>
          <a:noFill/>
        </p:spPr>
        <p:txBody>
          <a:bodyPr wrap="square">
            <a:spAutoFit/>
          </a:bodyPr>
          <a:lstStyle/>
          <a:p>
            <a:pPr algn="ctr"/>
            <a:r>
              <a:rPr sz="1200" b="1" i="0">
                <a:solidFill>
                  <a:srgbClr val="002060"/>
                </a:solidFill>
                <a:latin typeface="Arial"/>
              </a:rPr>
              <a:t>2025 Course</a:t>
            </a:r>
          </a:p>
        </p:txBody>
      </p:sp>
      <p:sp>
        <p:nvSpPr>
          <p:cNvPr id="15" name="TextBox 14"/>
          <p:cNvSpPr txBox="1"/>
          <p:nvPr/>
        </p:nvSpPr>
        <p:spPr>
          <a:xfrm>
            <a:off x="6263640" y="4773168"/>
            <a:ext cx="5669280" cy="246888"/>
          </a:xfrm>
          <a:prstGeom prst="rect">
            <a:avLst/>
          </a:prstGeom>
          <a:noFill/>
        </p:spPr>
        <p:txBody>
          <a:bodyPr wrap="square">
            <a:spAutoFit/>
          </a:bodyPr>
          <a:lstStyle/>
          <a:p>
            <a:pPr algn="ctr"/>
            <a:r>
              <a:rPr sz="900" b="0" i="1">
                <a:solidFill>
                  <a:srgbClr val="BFBFBF"/>
                </a:solidFill>
                <a:latin typeface="Arial"/>
              </a:rPr>
              <a:t>Source: https://www.triathlon.org/events/event/2024_americas_triathlon_cup_edmonton</a:t>
            </a:r>
          </a:p>
        </p:txBody>
      </p:sp>
      <p:graphicFrame>
        <p:nvGraphicFramePr>
          <p:cNvPr id="16" name="Table 15"/>
          <p:cNvGraphicFramePr>
            <a:graphicFrameLocks noGrp="1"/>
          </p:cNvGraphicFramePr>
          <p:nvPr/>
        </p:nvGraphicFramePr>
        <p:xfrm>
          <a:off x="274320" y="4956048"/>
          <a:ext cx="11640312" cy="1645920"/>
        </p:xfrm>
        <a:graphic>
          <a:graphicData uri="http://schemas.openxmlformats.org/drawingml/2006/table">
            <a:tbl>
              <a:tblPr firstRow="1" bandRow="1">
                <a:tableStyleId>{5C22544A-7EE6-4342-B048-85BDC9FD1C3A}</a:tableStyleId>
              </a:tblPr>
              <a:tblGrid>
                <a:gridCol w="14630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914400">
                  <a:extLst>
                    <a:ext uri="{9D8B030D-6E8A-4147-A177-3AD203B41FA5}">
                      <a16:colId xmlns:a16="http://schemas.microsoft.com/office/drawing/2014/main" val="20002"/>
                    </a:ext>
                  </a:extLst>
                </a:gridCol>
                <a:gridCol w="7708392">
                  <a:extLst>
                    <a:ext uri="{9D8B030D-6E8A-4147-A177-3AD203B41FA5}">
                      <a16:colId xmlns:a16="http://schemas.microsoft.com/office/drawing/2014/main" val="20003"/>
                    </a:ext>
                  </a:extLst>
                </a:gridCol>
              </a:tblGrid>
              <a:tr h="411480">
                <a:tc>
                  <a:txBody>
                    <a:bodyPr/>
                    <a:lstStyle/>
                    <a:p>
                      <a:pPr algn="ctr"/>
                      <a:r>
                        <a:rPr sz="1100" b="1" i="0">
                          <a:solidFill>
                            <a:srgbClr val="FFFFFF"/>
                          </a:solidFill>
                          <a:latin typeface="Arial"/>
                        </a:rPr>
                        <a:t>Discipline</a:t>
                      </a:r>
                    </a:p>
                  </a:txBody>
                  <a:tcPr>
                    <a:solidFill>
                      <a:srgbClr val="002060"/>
                    </a:solidFill>
                  </a:tcPr>
                </a:tc>
                <a:tc>
                  <a:txBody>
                    <a:bodyPr/>
                    <a:lstStyle/>
                    <a:p>
                      <a:pPr algn="ctr"/>
                      <a:r>
                        <a:rPr sz="1100" b="1" i="0">
                          <a:solidFill>
                            <a:srgbClr val="FFFFFF"/>
                          </a:solidFill>
                          <a:latin typeface="Arial"/>
                        </a:rPr>
                        <a:t>Distance</a:t>
                      </a:r>
                    </a:p>
                  </a:txBody>
                  <a:tcPr>
                    <a:solidFill>
                      <a:srgbClr val="002060"/>
                    </a:solidFill>
                  </a:tcPr>
                </a:tc>
                <a:tc>
                  <a:txBody>
                    <a:bodyPr/>
                    <a:lstStyle/>
                    <a:p>
                      <a:pPr algn="ctr"/>
                      <a:r>
                        <a:rPr sz="1100" b="1" i="0">
                          <a:solidFill>
                            <a:srgbClr val="FFFFFF"/>
                          </a:solidFill>
                          <a:latin typeface="Arial"/>
                        </a:rPr>
                        <a:t>Laps</a:t>
                      </a:r>
                    </a:p>
                  </a:txBody>
                  <a:tcPr>
                    <a:solidFill>
                      <a:srgbClr val="002060"/>
                    </a:solidFill>
                  </a:tcPr>
                </a:tc>
                <a:tc>
                  <a:txBody>
                    <a:bodyPr/>
                    <a:lstStyle/>
                    <a:p>
                      <a:pPr algn="l"/>
                      <a:r>
                        <a:rPr sz="1100" b="1" i="0">
                          <a:solidFill>
                            <a:srgbClr val="FFFFFF"/>
                          </a:solidFill>
                          <a:latin typeface="Arial"/>
                        </a:rPr>
                        <a:t>Terrain / Notes</a:t>
                      </a:r>
                    </a:p>
                  </a:txBody>
                  <a:tcPr>
                    <a:solidFill>
                      <a:srgbClr val="002060"/>
                    </a:solidFill>
                  </a:tcPr>
                </a:tc>
                <a:extLst>
                  <a:ext uri="{0D108BD9-81ED-4DB2-BD59-A6C34878D82A}">
                    <a16:rowId xmlns:a16="http://schemas.microsoft.com/office/drawing/2014/main" val="10000"/>
                  </a:ext>
                </a:extLst>
              </a:tr>
              <a:tr h="411480">
                <a:tc>
                  <a:txBody>
                    <a:bodyPr/>
                    <a:lstStyle/>
                    <a:p>
                      <a:pPr algn="ctr"/>
                      <a:r>
                        <a:rPr sz="1000" b="0" i="0">
                          <a:solidFill>
                            <a:srgbClr val="262626"/>
                          </a:solidFill>
                          <a:latin typeface="Arial"/>
                        </a:rPr>
                        <a:t>Swim</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[PLACEHOLDER: e.g. Open-water, Bay of Edmonton]</a:t>
                      </a:r>
                    </a:p>
                  </a:txBody>
                  <a:tcPr>
                    <a:solidFill>
                      <a:srgbClr val="FFFFFF"/>
                    </a:solidFill>
                  </a:tcPr>
                </a:tc>
                <a:extLst>
                  <a:ext uri="{0D108BD9-81ED-4DB2-BD59-A6C34878D82A}">
                    <a16:rowId xmlns:a16="http://schemas.microsoft.com/office/drawing/2014/main" val="10001"/>
                  </a:ext>
                </a:extLst>
              </a:tr>
              <a:tr h="411480">
                <a:tc>
                  <a:txBody>
                    <a:bodyPr/>
                    <a:lstStyle/>
                    <a:p>
                      <a:pPr algn="ctr"/>
                      <a:r>
                        <a:rPr sz="1000" b="0" i="0">
                          <a:solidFill>
                            <a:srgbClr val="262626"/>
                          </a:solidFill>
                          <a:latin typeface="Arial"/>
                        </a:rPr>
                        <a:t>Bike</a:t>
                      </a:r>
                    </a:p>
                  </a:txBody>
                  <a:tcPr>
                    <a:solidFill>
                      <a:srgbClr val="F2F2F2"/>
                    </a:solidFill>
                  </a:tcPr>
                </a:tc>
                <a:tc>
                  <a:txBody>
                    <a:bodyPr/>
                    <a:lstStyle/>
                    <a:p>
                      <a:pPr algn="ctr"/>
                      <a:r>
                        <a:rPr sz="1000" b="0" i="0">
                          <a:solidFill>
                            <a:srgbClr val="262626"/>
                          </a:solidFill>
                          <a:latin typeface="Arial"/>
                        </a:rPr>
                        <a:t>20.0 km</a:t>
                      </a:r>
                    </a:p>
                  </a:txBody>
                  <a:tcPr>
                    <a:solidFill>
                      <a:srgbClr val="F2F2F2"/>
                    </a:solidFill>
                  </a:tcPr>
                </a:tc>
                <a:tc>
                  <a:txBody>
                    <a:bodyPr/>
                    <a:lstStyle/>
                    <a:p>
                      <a:pPr algn="ctr"/>
                      <a:r>
                        <a:rPr sz="1000" b="0" i="0">
                          <a:solidFill>
                            <a:srgbClr val="262626"/>
                          </a:solidFill>
                          <a:latin typeface="Arial"/>
                        </a:rPr>
                        <a:t>2</a:t>
                      </a:r>
                    </a:p>
                  </a:txBody>
                  <a:tcPr>
                    <a:solidFill>
                      <a:srgbClr val="F2F2F2"/>
                    </a:solidFill>
                  </a:tcPr>
                </a:tc>
                <a:tc>
                  <a:txBody>
                    <a:bodyPr/>
                    <a:lstStyle/>
                    <a:p>
                      <a:pPr algn="l"/>
                      <a:r>
                        <a:rPr sz="1000" b="0" i="0">
                          <a:solidFill>
                            <a:srgbClr val="262626"/>
                          </a:solidFill>
                          <a:latin typeface="Arial"/>
                        </a:rPr>
                        <a:t>[PLACEHOLDER: e.g. Flat coastal road circuit, closed course]</a:t>
                      </a:r>
                    </a:p>
                  </a:txBody>
                  <a:tcPr>
                    <a:solidFill>
                      <a:srgbClr val="F2F2F2"/>
                    </a:solidFill>
                  </a:tcPr>
                </a:tc>
                <a:extLst>
                  <a:ext uri="{0D108BD9-81ED-4DB2-BD59-A6C34878D82A}">
                    <a16:rowId xmlns:a16="http://schemas.microsoft.com/office/drawing/2014/main" val="10002"/>
                  </a:ext>
                </a:extLst>
              </a:tr>
              <a:tr h="411480">
                <a:tc>
                  <a:txBody>
                    <a:bodyPr/>
                    <a:lstStyle/>
                    <a:p>
                      <a:pPr algn="ctr"/>
                      <a:r>
                        <a:rPr sz="1000" b="0" i="0">
                          <a:solidFill>
                            <a:srgbClr val="262626"/>
                          </a:solidFill>
                          <a:latin typeface="Arial"/>
                        </a:rPr>
                        <a:t>Run</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[PLACEHOLDER: e.g. Flat multi-lap, cobblestone city-centre finish]</a:t>
                      </a:r>
                    </a:p>
                  </a:txBody>
                  <a:tcP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edmonton_swim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World Triathlon Cup Edmonton Athlete Guide v2 (Do North Events) — July 18-19,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750 m   •   single lap</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Sheltered park lake — fresh water, calm conditions</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750 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Layout</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Hawrelak Park Lake</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Start</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In-water start off the swim start platform</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Water Temp</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19.0 °C</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Wetsuit</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Wetsuit optional (19 °C)</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Lap Count</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1</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Single 750 m clockwise loop on Hawrelak Park's lake — calm, sheltered, no current or chop</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First (yellow) buoy passed on the left shoulder at 200 m; all subsequent orange buoys passed on the right shoulder</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Run to T1 is 220 m from the swim exit — longer transition run than most sprint venues</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Swim familiarization Friday July 17, 14:00-15:00 only — no other in-water access permitted for safety</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Elite Men warm-up 13:00-13:45, Elite Women warm-up 15:00-15:45 on race day</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edmonton_bike_course.png"/>
          <p:cNvPicPr>
            <a:picLocks noChangeAspect="1"/>
          </p:cNvPicPr>
          <p:nvPr/>
        </p:nvPicPr>
        <p:blipFill>
          <a:blip r:embed="rId3"/>
          <a:stretch>
            <a:fillRect/>
          </a:stretch>
        </p:blipFill>
        <p:spPr>
          <a:xfrm>
            <a:off x="274320" y="1143000"/>
            <a:ext cx="5120640" cy="3291840"/>
          </a:xfrm>
          <a:prstGeom prst="rect">
            <a:avLst/>
          </a:prstGeom>
        </p:spPr>
      </p:pic>
      <p:sp>
        <p:nvSpPr>
          <p:cNvPr id="9" name="TextBox 8"/>
          <p:cNvSpPr txBox="1"/>
          <p:nvPr/>
        </p:nvSpPr>
        <p:spPr>
          <a:xfrm>
            <a:off x="274320" y="4480560"/>
            <a:ext cx="5120640" cy="228600"/>
          </a:xfrm>
          <a:prstGeom prst="rect">
            <a:avLst/>
          </a:prstGeom>
          <a:noFill/>
        </p:spPr>
        <p:txBody>
          <a:bodyPr wrap="square">
            <a:spAutoFit/>
          </a:bodyPr>
          <a:lstStyle/>
          <a:p>
            <a:pPr algn="ctr"/>
            <a:r>
              <a:rPr sz="900" b="0" i="1">
                <a:solidFill>
                  <a:srgbClr val="BFBFBF"/>
                </a:solidFill>
                <a:latin typeface="Arial"/>
              </a:rPr>
              <a:t>Source: 2026 World Triathlon Cup Edmonton Athlete Guide v2 (Do North Events) — July 18-19,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20.4 km   •   3 × 6.8 km loops</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Closed road circuit — Groat Rd, Saskatchewan Dr NW, William Hawrelak Park Rd</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Elevation / Lap</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500" b="1" i="0">
                <a:solidFill>
                  <a:srgbClr val="262626"/>
                </a:solidFill>
                <a:latin typeface="Arial"/>
              </a:rPr>
              <a:t>+85.0 m / 87.0 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500" b="1" i="0">
                <a:solidFill>
                  <a:srgbClr val="262626"/>
                </a:solidFill>
                <a:latin typeface="Arial"/>
              </a:rPr>
              <a:t>~255 m</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Max Climb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5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Wind</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500" b="1" i="0">
                <a:solidFill>
                  <a:srgbClr val="262626"/>
                </a:solidFill>
                <a:latin typeface="Arial"/>
              </a:rPr>
              <a:t>River valley setting — generally sheltered, variable on the Saskatchewan Dr exposure</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Loops</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500" b="1" i="0">
                <a:solidFill>
                  <a:srgbClr val="262626"/>
                </a:solidFill>
                <a:latin typeface="Arial"/>
              </a:rPr>
              <a:t>3 × 6.8 km</a:t>
            </a:r>
          </a:p>
        </p:txBody>
      </p:sp>
      <p:sp>
        <p:nvSpPr>
          <p:cNvPr id="31" name="Rectangle 30"/>
          <p:cNvSpPr/>
          <p:nvPr/>
        </p:nvSpPr>
        <p:spPr>
          <a:xfrm>
            <a:off x="5577840" y="370332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730752"/>
            <a:ext cx="6126480" cy="237744"/>
          </a:xfrm>
          <a:prstGeom prst="rect">
            <a:avLst/>
          </a:prstGeom>
          <a:noFill/>
        </p:spPr>
        <p:txBody>
          <a:bodyPr wrap="square">
            <a:spAutoFit/>
          </a:bodyPr>
          <a:lstStyle/>
          <a:p>
            <a:pPr algn="l"/>
            <a:r>
              <a:rPr sz="1200" b="1" i="0">
                <a:solidFill>
                  <a:srgbClr val="FFFFFF"/>
                </a:solidFill>
                <a:latin typeface="Arial"/>
              </a:rPr>
              <a:t>Tactical Implications</a:t>
            </a:r>
          </a:p>
        </p:txBody>
      </p:sp>
      <p:sp>
        <p:nvSpPr>
          <p:cNvPr id="33" name="TextBox 32"/>
          <p:cNvSpPr txBox="1"/>
          <p:nvPr/>
        </p:nvSpPr>
        <p:spPr>
          <a:xfrm>
            <a:off x="5669280" y="4069080"/>
            <a:ext cx="6126480" cy="310896"/>
          </a:xfrm>
          <a:prstGeom prst="rect">
            <a:avLst/>
          </a:prstGeom>
          <a:noFill/>
        </p:spPr>
        <p:txBody>
          <a:bodyPr wrap="square">
            <a:spAutoFit/>
          </a:bodyPr>
          <a:lstStyle/>
          <a:p>
            <a:pPr algn="l"/>
            <a:r>
              <a:rPr sz="1050" b="0" i="0">
                <a:solidFill>
                  <a:srgbClr val="262626"/>
                </a:solidFill>
                <a:latin typeface="Arial"/>
              </a:rPr>
              <a:t>•  3 × 6.8 km laps (20.4 km total) out of Hawrelak Park up Groat Rd and along Saskatchewan Dr NW</a:t>
            </a:r>
          </a:p>
        </p:txBody>
      </p:sp>
      <p:sp>
        <p:nvSpPr>
          <p:cNvPr id="34" name="TextBox 33"/>
          <p:cNvSpPr txBox="1"/>
          <p:nvPr/>
        </p:nvSpPr>
        <p:spPr>
          <a:xfrm>
            <a:off x="5669280" y="4361688"/>
            <a:ext cx="6126480" cy="310896"/>
          </a:xfrm>
          <a:prstGeom prst="rect">
            <a:avLst/>
          </a:prstGeom>
          <a:noFill/>
        </p:spPr>
        <p:txBody>
          <a:bodyPr wrap="square">
            <a:spAutoFit/>
          </a:bodyPr>
          <a:lstStyle/>
          <a:p>
            <a:pPr algn="l"/>
            <a:r>
              <a:rPr sz="1050" b="0" i="0">
                <a:solidFill>
                  <a:srgbClr val="262626"/>
                </a:solidFill>
                <a:latin typeface="Arial"/>
              </a:rPr>
              <a:t>•  One sustained climb/descent per lap out of the river valley (+85 m / -87 m per lap per the athlete guide profile) — first true elevation test on this venue since 2021</a:t>
            </a:r>
          </a:p>
        </p:txBody>
      </p:sp>
      <p:sp>
        <p:nvSpPr>
          <p:cNvPr id="35" name="TextBox 34"/>
          <p:cNvSpPr txBox="1"/>
          <p:nvPr/>
        </p:nvSpPr>
        <p:spPr>
          <a:xfrm>
            <a:off x="5669280" y="4654296"/>
            <a:ext cx="6126480" cy="310896"/>
          </a:xfrm>
          <a:prstGeom prst="rect">
            <a:avLst/>
          </a:prstGeom>
          <a:noFill/>
        </p:spPr>
        <p:txBody>
          <a:bodyPr wrap="square">
            <a:spAutoFit/>
          </a:bodyPr>
          <a:lstStyle/>
          <a:p>
            <a:pPr algn="l"/>
            <a:r>
              <a:rPr sz="1050" b="0" i="0">
                <a:solidFill>
                  <a:srgbClr val="262626"/>
                </a:solidFill>
                <a:latin typeface="Arial"/>
              </a:rPr>
              <a:t>•  Course map lists overall elevation gain as 76.5 m — legs will feel the repeated valley climb across all 3 laps</a:t>
            </a:r>
          </a:p>
        </p:txBody>
      </p:sp>
      <p:sp>
        <p:nvSpPr>
          <p:cNvPr id="36" name="TextBox 35"/>
          <p:cNvSpPr txBox="1"/>
          <p:nvPr/>
        </p:nvSpPr>
        <p:spPr>
          <a:xfrm>
            <a:off x="5669280" y="4946904"/>
            <a:ext cx="6126480" cy="310896"/>
          </a:xfrm>
          <a:prstGeom prst="rect">
            <a:avLst/>
          </a:prstGeom>
          <a:noFill/>
        </p:spPr>
        <p:txBody>
          <a:bodyPr wrap="square">
            <a:spAutoFit/>
          </a:bodyPr>
          <a:lstStyle/>
          <a:p>
            <a:pPr algn="l"/>
            <a:r>
              <a:rPr sz="1050" b="0" i="0">
                <a:solidFill>
                  <a:srgbClr val="262626"/>
                </a:solidFill>
                <a:latin typeface="Arial"/>
              </a:rPr>
              <a:t>•  Team Wheel station just outside transition (both-side access); Neutral Wheel station at the loop's south end on Saskatchewan Dr, before the right turn back toward the park</a:t>
            </a:r>
          </a:p>
        </p:txBody>
      </p:sp>
      <p:sp>
        <p:nvSpPr>
          <p:cNvPr id="37" name="TextBox 36"/>
          <p:cNvSpPr txBox="1"/>
          <p:nvPr/>
        </p:nvSpPr>
        <p:spPr>
          <a:xfrm>
            <a:off x="5669280" y="5239512"/>
            <a:ext cx="6126480" cy="310896"/>
          </a:xfrm>
          <a:prstGeom prst="rect">
            <a:avLst/>
          </a:prstGeom>
          <a:noFill/>
        </p:spPr>
        <p:txBody>
          <a:bodyPr wrap="square">
            <a:spAutoFit/>
          </a:bodyPr>
          <a:lstStyle/>
          <a:p>
            <a:pPr algn="l"/>
            <a:r>
              <a:rPr sz="1050" b="0" i="0">
                <a:solidFill>
                  <a:srgbClr val="262626"/>
                </a:solidFill>
                <a:latin typeface="Arial"/>
              </a:rPr>
              <a:t>•  Neutral wheels: 700c front/rear, 11/12-speed, 140/160mm rotor options, 28mm tires at 65/70 psi (front/rear)</a:t>
            </a:r>
          </a:p>
        </p:txBody>
      </p:sp>
      <p:sp>
        <p:nvSpPr>
          <p:cNvPr id="38" name="TextBox 37"/>
          <p:cNvSpPr txBox="1"/>
          <p:nvPr/>
        </p:nvSpPr>
        <p:spPr>
          <a:xfrm>
            <a:off x="5669280" y="5532120"/>
            <a:ext cx="6126480" cy="310896"/>
          </a:xfrm>
          <a:prstGeom prst="rect">
            <a:avLst/>
          </a:prstGeom>
          <a:noFill/>
        </p:spPr>
        <p:txBody>
          <a:bodyPr wrap="square">
            <a:spAutoFit/>
          </a:bodyPr>
          <a:lstStyle/>
          <a:p>
            <a:pPr algn="l"/>
            <a:r>
              <a:rPr sz="1050" b="0" i="0">
                <a:solidFill>
                  <a:srgbClr val="262626"/>
                </a:solidFill>
                <a:latin typeface="Arial"/>
              </a:rPr>
              <a:t>•  Newly renovated venue ahead of the 2027 World Triathlon Multisport Championships — this is the first elite race on the rebuilt course</a:t>
            </a:r>
          </a:p>
        </p:txBody>
      </p:sp>
      <p:pic>
        <p:nvPicPr>
          <p:cNvPr id="39" name="Picture 38" descr="image.png"/>
          <p:cNvPicPr>
            <a:picLocks noChangeAspect="1"/>
          </p:cNvPicPr>
          <p:nvPr/>
        </p:nvPicPr>
        <p:blipFill>
          <a:blip r:embed="rId4"/>
          <a:stretch>
            <a:fillRect/>
          </a:stretch>
        </p:blipFill>
        <p:spPr>
          <a:xfrm>
            <a:off x="274320" y="4983480"/>
            <a:ext cx="11640312" cy="1691640"/>
          </a:xfrm>
          <a:prstGeom prst="rect">
            <a:avLst/>
          </a:prstGeom>
        </p:spPr>
      </p:pic>
      <p:sp>
        <p:nvSpPr>
          <p:cNvPr id="40" name="TextBox 39"/>
          <p:cNvSpPr txBox="1"/>
          <p:nvPr/>
        </p:nvSpPr>
        <p:spPr>
          <a:xfrm>
            <a:off x="274320" y="6629400"/>
            <a:ext cx="11640312" cy="201168"/>
          </a:xfrm>
          <a:prstGeom prst="rect">
            <a:avLst/>
          </a:prstGeom>
          <a:noFill/>
        </p:spPr>
        <p:txBody>
          <a:bodyPr wrap="square">
            <a:spAutoFit/>
          </a:bodyPr>
          <a:lstStyle/>
          <a:p>
            <a:pPr algn="ctr"/>
            <a:r>
              <a:rPr sz="850" b="0" i="1">
                <a:solidFill>
                  <a:srgbClr val="BFBFBF"/>
                </a:solidFill>
                <a:latin typeface="Arial"/>
              </a:rPr>
              <a:t>Stylised — exact contours from a GPS-recorded race FIT would refine this.</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Course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edmonton_run_course.png"/>
          <p:cNvPicPr>
            <a:picLocks noChangeAspect="1"/>
          </p:cNvPicPr>
          <p:nvPr/>
        </p:nvPicPr>
        <p:blipFill>
          <a:blip r:embed="rId3"/>
          <a:stretch>
            <a:fillRect/>
          </a:stretch>
        </p:blipFill>
        <p:spPr>
          <a:xfrm>
            <a:off x="274320" y="1143000"/>
            <a:ext cx="5120640" cy="3840480"/>
          </a:xfrm>
          <a:prstGeom prst="rect">
            <a:avLst/>
          </a:prstGeom>
        </p:spPr>
      </p:pic>
      <p:sp>
        <p:nvSpPr>
          <p:cNvPr id="9" name="TextBox 8"/>
          <p:cNvSpPr txBox="1"/>
          <p:nvPr/>
        </p:nvSpPr>
        <p:spPr>
          <a:xfrm>
            <a:off x="274320" y="5029200"/>
            <a:ext cx="5120640" cy="228600"/>
          </a:xfrm>
          <a:prstGeom prst="rect">
            <a:avLst/>
          </a:prstGeom>
          <a:noFill/>
        </p:spPr>
        <p:txBody>
          <a:bodyPr wrap="square">
            <a:spAutoFit/>
          </a:bodyPr>
          <a:lstStyle/>
          <a:p>
            <a:pPr algn="ctr"/>
            <a:r>
              <a:rPr sz="900" b="0" i="1">
                <a:solidFill>
                  <a:srgbClr val="BFBFBF"/>
                </a:solidFill>
                <a:latin typeface="Arial"/>
              </a:rPr>
              <a:t>Source: 2026 World Triathlon Cup Edmonton Athlete Guide v2 (Do North Events) — July 18-19, 2026</a:t>
            </a:r>
          </a:p>
        </p:txBody>
      </p:sp>
      <p:sp>
        <p:nvSpPr>
          <p:cNvPr id="10" name="Rectangle 9"/>
          <p:cNvSpPr/>
          <p:nvPr/>
        </p:nvSpPr>
        <p:spPr>
          <a:xfrm>
            <a:off x="5577840" y="1143000"/>
            <a:ext cx="6309360" cy="8229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5577840" y="1252728"/>
            <a:ext cx="6309360" cy="365760"/>
          </a:xfrm>
          <a:prstGeom prst="rect">
            <a:avLst/>
          </a:prstGeom>
          <a:noFill/>
        </p:spPr>
        <p:txBody>
          <a:bodyPr wrap="square">
            <a:spAutoFit/>
          </a:bodyPr>
          <a:lstStyle/>
          <a:p>
            <a:pPr algn="ctr"/>
            <a:r>
              <a:rPr sz="2200" b="1" i="0">
                <a:solidFill>
                  <a:srgbClr val="FFFFFF"/>
                </a:solidFill>
                <a:latin typeface="Arial"/>
              </a:rPr>
              <a:t>5.0 km   •   3 × 1.7 km</a:t>
            </a:r>
          </a:p>
        </p:txBody>
      </p:sp>
      <p:sp>
        <p:nvSpPr>
          <p:cNvPr id="12" name="TextBox 11"/>
          <p:cNvSpPr txBox="1"/>
          <p:nvPr/>
        </p:nvSpPr>
        <p:spPr>
          <a:xfrm>
            <a:off x="5577840" y="1636776"/>
            <a:ext cx="6309360" cy="292608"/>
          </a:xfrm>
          <a:prstGeom prst="rect">
            <a:avLst/>
          </a:prstGeom>
          <a:noFill/>
        </p:spPr>
        <p:txBody>
          <a:bodyPr wrap="square">
            <a:spAutoFit/>
          </a:bodyPr>
          <a:lstStyle/>
          <a:p>
            <a:pPr algn="ctr"/>
            <a:r>
              <a:rPr sz="1100" b="0" i="1">
                <a:solidFill>
                  <a:srgbClr val="AABBDD"/>
                </a:solidFill>
                <a:latin typeface="Arial"/>
              </a:rPr>
              <a:t>Paved park paths — loop sits next to the transition area</a:t>
            </a:r>
          </a:p>
        </p:txBody>
      </p:sp>
      <p:sp>
        <p:nvSpPr>
          <p:cNvPr id="13" name="Rectangle 12"/>
          <p:cNvSpPr/>
          <p:nvPr/>
        </p:nvSpPr>
        <p:spPr>
          <a:xfrm>
            <a:off x="562356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669280" y="2139696"/>
            <a:ext cx="1920240" cy="201168"/>
          </a:xfrm>
          <a:prstGeom prst="rect">
            <a:avLst/>
          </a:prstGeom>
          <a:noFill/>
        </p:spPr>
        <p:txBody>
          <a:bodyPr wrap="square">
            <a:spAutoFit/>
          </a:bodyPr>
          <a:lstStyle/>
          <a:p>
            <a:pPr algn="ctr"/>
            <a:r>
              <a:rPr sz="900" b="1" i="0">
                <a:solidFill>
                  <a:srgbClr val="002060"/>
                </a:solidFill>
                <a:latin typeface="Arial"/>
              </a:rPr>
              <a:t>Distance</a:t>
            </a:r>
          </a:p>
        </p:txBody>
      </p:sp>
      <p:sp>
        <p:nvSpPr>
          <p:cNvPr id="15" name="TextBox 14"/>
          <p:cNvSpPr txBox="1"/>
          <p:nvPr/>
        </p:nvSpPr>
        <p:spPr>
          <a:xfrm>
            <a:off x="5669280" y="2340864"/>
            <a:ext cx="1920240" cy="347472"/>
          </a:xfrm>
          <a:prstGeom prst="rect">
            <a:avLst/>
          </a:prstGeom>
          <a:noFill/>
        </p:spPr>
        <p:txBody>
          <a:bodyPr wrap="square">
            <a:spAutoFit/>
          </a:bodyPr>
          <a:lstStyle/>
          <a:p>
            <a:pPr algn="ctr"/>
            <a:r>
              <a:rPr sz="1400" b="1" i="0">
                <a:solidFill>
                  <a:srgbClr val="262626"/>
                </a:solidFill>
                <a:latin typeface="Arial"/>
              </a:rPr>
              <a:t>5.0 km</a:t>
            </a:r>
          </a:p>
        </p:txBody>
      </p:sp>
      <p:sp>
        <p:nvSpPr>
          <p:cNvPr id="16" name="Rectangle 15"/>
          <p:cNvSpPr/>
          <p:nvPr/>
        </p:nvSpPr>
        <p:spPr>
          <a:xfrm>
            <a:off x="772668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7772400" y="2139696"/>
            <a:ext cx="1920240" cy="201168"/>
          </a:xfrm>
          <a:prstGeom prst="rect">
            <a:avLst/>
          </a:prstGeom>
          <a:noFill/>
        </p:spPr>
        <p:txBody>
          <a:bodyPr wrap="square">
            <a:spAutoFit/>
          </a:bodyPr>
          <a:lstStyle/>
          <a:p>
            <a:pPr algn="ctr"/>
            <a:r>
              <a:rPr sz="900" b="1" i="0">
                <a:solidFill>
                  <a:srgbClr val="002060"/>
                </a:solidFill>
                <a:latin typeface="Arial"/>
              </a:rPr>
              <a:t>Lap Structure</a:t>
            </a:r>
          </a:p>
        </p:txBody>
      </p:sp>
      <p:sp>
        <p:nvSpPr>
          <p:cNvPr id="18" name="TextBox 17"/>
          <p:cNvSpPr txBox="1"/>
          <p:nvPr/>
        </p:nvSpPr>
        <p:spPr>
          <a:xfrm>
            <a:off x="7772400" y="2340864"/>
            <a:ext cx="1920240" cy="347472"/>
          </a:xfrm>
          <a:prstGeom prst="rect">
            <a:avLst/>
          </a:prstGeom>
          <a:noFill/>
        </p:spPr>
        <p:txBody>
          <a:bodyPr wrap="square">
            <a:spAutoFit/>
          </a:bodyPr>
          <a:lstStyle/>
          <a:p>
            <a:pPr algn="ctr"/>
            <a:r>
              <a:rPr sz="1400" b="1" i="0">
                <a:solidFill>
                  <a:srgbClr val="262626"/>
                </a:solidFill>
                <a:latin typeface="Arial"/>
              </a:rPr>
              <a:t>3 × 1.7 km</a:t>
            </a:r>
          </a:p>
        </p:txBody>
      </p:sp>
      <p:sp>
        <p:nvSpPr>
          <p:cNvPr id="19" name="Rectangle 18"/>
          <p:cNvSpPr/>
          <p:nvPr/>
        </p:nvSpPr>
        <p:spPr>
          <a:xfrm>
            <a:off x="9829800" y="2103120"/>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9875520" y="2139696"/>
            <a:ext cx="1920240" cy="201168"/>
          </a:xfrm>
          <a:prstGeom prst="rect">
            <a:avLst/>
          </a:prstGeom>
          <a:noFill/>
        </p:spPr>
        <p:txBody>
          <a:bodyPr wrap="square">
            <a:spAutoFit/>
          </a:bodyPr>
          <a:lstStyle/>
          <a:p>
            <a:pPr algn="ctr"/>
            <a:r>
              <a:rPr sz="900" b="1" i="0">
                <a:solidFill>
                  <a:srgbClr val="002060"/>
                </a:solidFill>
                <a:latin typeface="Arial"/>
              </a:rPr>
              <a:t>Total Climb</a:t>
            </a:r>
          </a:p>
        </p:txBody>
      </p:sp>
      <p:sp>
        <p:nvSpPr>
          <p:cNvPr id="21" name="TextBox 20"/>
          <p:cNvSpPr txBox="1"/>
          <p:nvPr/>
        </p:nvSpPr>
        <p:spPr>
          <a:xfrm>
            <a:off x="9875520" y="2340864"/>
            <a:ext cx="1920240" cy="347472"/>
          </a:xfrm>
          <a:prstGeom prst="rect">
            <a:avLst/>
          </a:prstGeom>
          <a:noFill/>
        </p:spPr>
        <p:txBody>
          <a:bodyPr wrap="square">
            <a:spAutoFit/>
          </a:bodyPr>
          <a:lstStyle/>
          <a:p>
            <a:pPr algn="ctr"/>
            <a:r>
              <a:rPr sz="1400" b="1" i="0">
                <a:solidFill>
                  <a:srgbClr val="262626"/>
                </a:solidFill>
                <a:latin typeface="Arial"/>
              </a:rPr>
              <a:t>~51 m</a:t>
            </a:r>
          </a:p>
        </p:txBody>
      </p:sp>
      <p:sp>
        <p:nvSpPr>
          <p:cNvPr id="22" name="Rectangle 21"/>
          <p:cNvSpPr/>
          <p:nvPr/>
        </p:nvSpPr>
        <p:spPr>
          <a:xfrm>
            <a:off x="562356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5669280" y="2852928"/>
            <a:ext cx="1920240" cy="201168"/>
          </a:xfrm>
          <a:prstGeom prst="rect">
            <a:avLst/>
          </a:prstGeom>
          <a:noFill/>
        </p:spPr>
        <p:txBody>
          <a:bodyPr wrap="square">
            <a:spAutoFit/>
          </a:bodyPr>
          <a:lstStyle/>
          <a:p>
            <a:pPr algn="ctr"/>
            <a:r>
              <a:rPr sz="900" b="1" i="0">
                <a:solidFill>
                  <a:srgbClr val="002060"/>
                </a:solidFill>
                <a:latin typeface="Arial"/>
              </a:rPr>
              <a:t>Avg Grade</a:t>
            </a:r>
          </a:p>
        </p:txBody>
      </p:sp>
      <p:sp>
        <p:nvSpPr>
          <p:cNvPr id="24" name="TextBox 23"/>
          <p:cNvSpPr txBox="1"/>
          <p:nvPr/>
        </p:nvSpPr>
        <p:spPr>
          <a:xfrm>
            <a:off x="5669280" y="3054096"/>
            <a:ext cx="1920240" cy="347472"/>
          </a:xfrm>
          <a:prstGeom prst="rect">
            <a:avLst/>
          </a:prstGeom>
          <a:noFill/>
        </p:spPr>
        <p:txBody>
          <a:bodyPr wrap="square">
            <a:spAutoFit/>
          </a:bodyPr>
          <a:lstStyle/>
          <a:p>
            <a:pPr algn="ctr"/>
            <a:r>
              <a:rPr sz="1400" b="1" i="0">
                <a:solidFill>
                  <a:srgbClr val="262626"/>
                </a:solidFill>
                <a:latin typeface="Arial"/>
              </a:rPr>
              <a:t>—</a:t>
            </a:r>
          </a:p>
        </p:txBody>
      </p:sp>
      <p:sp>
        <p:nvSpPr>
          <p:cNvPr id="25" name="Rectangle 24"/>
          <p:cNvSpPr/>
          <p:nvPr/>
        </p:nvSpPr>
        <p:spPr>
          <a:xfrm>
            <a:off x="772668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772400" y="2852928"/>
            <a:ext cx="1920240" cy="201168"/>
          </a:xfrm>
          <a:prstGeom prst="rect">
            <a:avLst/>
          </a:prstGeom>
          <a:noFill/>
        </p:spPr>
        <p:txBody>
          <a:bodyPr wrap="square">
            <a:spAutoFit/>
          </a:bodyPr>
          <a:lstStyle/>
          <a:p>
            <a:pPr algn="ctr"/>
            <a:r>
              <a:rPr sz="900" b="1" i="0">
                <a:solidFill>
                  <a:srgbClr val="002060"/>
                </a:solidFill>
                <a:latin typeface="Arial"/>
              </a:rPr>
              <a:t>Max ▲ / ▼</a:t>
            </a:r>
          </a:p>
        </p:txBody>
      </p:sp>
      <p:sp>
        <p:nvSpPr>
          <p:cNvPr id="27" name="TextBox 26"/>
          <p:cNvSpPr txBox="1"/>
          <p:nvPr/>
        </p:nvSpPr>
        <p:spPr>
          <a:xfrm>
            <a:off x="7772400" y="3054096"/>
            <a:ext cx="1920240" cy="347472"/>
          </a:xfrm>
          <a:prstGeom prst="rect">
            <a:avLst/>
          </a:prstGeom>
          <a:noFill/>
        </p:spPr>
        <p:txBody>
          <a:bodyPr wrap="square">
            <a:spAutoFit/>
          </a:bodyPr>
          <a:lstStyle/>
          <a:p>
            <a:pPr algn="ctr"/>
            <a:r>
              <a:rPr sz="1400" b="1" i="0">
                <a:solidFill>
                  <a:srgbClr val="262626"/>
                </a:solidFill>
                <a:latin typeface="Arial"/>
              </a:rPr>
              <a:t>Not published</a:t>
            </a:r>
          </a:p>
        </p:txBody>
      </p:sp>
      <p:sp>
        <p:nvSpPr>
          <p:cNvPr id="28" name="Rectangle 27"/>
          <p:cNvSpPr/>
          <p:nvPr/>
        </p:nvSpPr>
        <p:spPr>
          <a:xfrm>
            <a:off x="9829800" y="2816352"/>
            <a:ext cx="2011680" cy="640080"/>
          </a:xfrm>
          <a:prstGeom prst="rect">
            <a:avLst/>
          </a:prstGeom>
          <a:solidFill>
            <a:srgbClr val="F2F2F2"/>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9875520" y="2852928"/>
            <a:ext cx="1920240" cy="201168"/>
          </a:xfrm>
          <a:prstGeom prst="rect">
            <a:avLst/>
          </a:prstGeom>
          <a:noFill/>
        </p:spPr>
        <p:txBody>
          <a:bodyPr wrap="square">
            <a:spAutoFit/>
          </a:bodyPr>
          <a:lstStyle/>
          <a:p>
            <a:pPr algn="ctr"/>
            <a:r>
              <a:rPr sz="900" b="1" i="0">
                <a:solidFill>
                  <a:srgbClr val="002060"/>
                </a:solidFill>
                <a:latin typeface="Arial"/>
              </a:rPr>
              <a:t>Heat Risk</a:t>
            </a:r>
          </a:p>
        </p:txBody>
      </p:sp>
      <p:sp>
        <p:nvSpPr>
          <p:cNvPr id="30" name="TextBox 29"/>
          <p:cNvSpPr txBox="1"/>
          <p:nvPr/>
        </p:nvSpPr>
        <p:spPr>
          <a:xfrm>
            <a:off x="9875520" y="3054096"/>
            <a:ext cx="1920240" cy="347472"/>
          </a:xfrm>
          <a:prstGeom prst="rect">
            <a:avLst/>
          </a:prstGeom>
          <a:noFill/>
        </p:spPr>
        <p:txBody>
          <a:bodyPr wrap="square">
            <a:spAutoFit/>
          </a:bodyPr>
          <a:lstStyle/>
          <a:p>
            <a:pPr algn="ctr"/>
            <a:r>
              <a:rPr sz="1400" b="1" i="0">
                <a:solidFill>
                  <a:srgbClr val="262626"/>
                </a:solidFill>
                <a:latin typeface="Arial"/>
              </a:rPr>
              <a:t>LOW–MODERATE</a:t>
            </a:r>
          </a:p>
        </p:txBody>
      </p:sp>
      <p:sp>
        <p:nvSpPr>
          <p:cNvPr id="31" name="Rectangle 30"/>
          <p:cNvSpPr/>
          <p:nvPr/>
        </p:nvSpPr>
        <p:spPr>
          <a:xfrm>
            <a:off x="5577840" y="3611880"/>
            <a:ext cx="6309360" cy="2926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5669280" y="3639312"/>
            <a:ext cx="6126480" cy="237744"/>
          </a:xfrm>
          <a:prstGeom prst="rect">
            <a:avLst/>
          </a:prstGeom>
          <a:noFill/>
        </p:spPr>
        <p:txBody>
          <a:bodyPr wrap="square">
            <a:spAutoFit/>
          </a:bodyPr>
          <a:lstStyle/>
          <a:p>
            <a:pPr algn="l"/>
            <a:r>
              <a:rPr sz="1200" b="1" i="0">
                <a:solidFill>
                  <a:srgbClr val="FFFFFF"/>
                </a:solidFill>
                <a:latin typeface="Arial"/>
              </a:rPr>
              <a:t>Tactical Notes</a:t>
            </a:r>
          </a:p>
        </p:txBody>
      </p:sp>
      <p:sp>
        <p:nvSpPr>
          <p:cNvPr id="33" name="TextBox 32"/>
          <p:cNvSpPr txBox="1"/>
          <p:nvPr/>
        </p:nvSpPr>
        <p:spPr>
          <a:xfrm>
            <a:off x="5669280" y="3977640"/>
            <a:ext cx="6126480" cy="310896"/>
          </a:xfrm>
          <a:prstGeom prst="rect">
            <a:avLst/>
          </a:prstGeom>
          <a:noFill/>
        </p:spPr>
        <p:txBody>
          <a:bodyPr wrap="square">
            <a:spAutoFit/>
          </a:bodyPr>
          <a:lstStyle/>
          <a:p>
            <a:pPr algn="l"/>
            <a:r>
              <a:rPr sz="1050" b="0" i="0">
                <a:solidFill>
                  <a:srgbClr val="262626"/>
                </a:solidFill>
                <a:latin typeface="Arial"/>
              </a:rPr>
              <a:t>•  3 × 1.66 km laps (5 km total), counter-clockwise, run next to the transition area by design to avoid a first-runner/last-biker clash</a:t>
            </a:r>
          </a:p>
        </p:txBody>
      </p:sp>
      <p:sp>
        <p:nvSpPr>
          <p:cNvPr id="34" name="TextBox 33"/>
          <p:cNvSpPr txBox="1"/>
          <p:nvPr/>
        </p:nvSpPr>
        <p:spPr>
          <a:xfrm>
            <a:off x="5669280" y="4270248"/>
            <a:ext cx="6126480" cy="310896"/>
          </a:xfrm>
          <a:prstGeom prst="rect">
            <a:avLst/>
          </a:prstGeom>
          <a:noFill/>
        </p:spPr>
        <p:txBody>
          <a:bodyPr wrap="square">
            <a:spAutoFit/>
          </a:bodyPr>
          <a:lstStyle/>
          <a:p>
            <a:pPr algn="l"/>
            <a:r>
              <a:rPr sz="1050" b="0" i="0">
                <a:solidFill>
                  <a:srgbClr val="262626"/>
                </a:solidFill>
                <a:latin typeface="Arial"/>
              </a:rPr>
              <a:t>•  Aid station passed 6 times total (out and back per lap) — sealed water bottles at 400 m, 850 m, 2000 m, 2450 m, 3600 m, 4050 m, served on the athlete's right</a:t>
            </a:r>
          </a:p>
        </p:txBody>
      </p:sp>
      <p:sp>
        <p:nvSpPr>
          <p:cNvPr id="35" name="TextBox 34"/>
          <p:cNvSpPr txBox="1"/>
          <p:nvPr/>
        </p:nvSpPr>
        <p:spPr>
          <a:xfrm>
            <a:off x="5669280" y="4562856"/>
            <a:ext cx="6126480" cy="310896"/>
          </a:xfrm>
          <a:prstGeom prst="rect">
            <a:avLst/>
          </a:prstGeom>
          <a:noFill/>
        </p:spPr>
        <p:txBody>
          <a:bodyPr wrap="square">
            <a:spAutoFit/>
          </a:bodyPr>
          <a:lstStyle/>
          <a:p>
            <a:pPr algn="l"/>
            <a:r>
              <a:rPr sz="1050" b="0" i="0">
                <a:solidFill>
                  <a:srgbClr val="262626"/>
                </a:solidFill>
                <a:latin typeface="Arial"/>
              </a:rPr>
              <a:t>•  Littering zones marked green (start) / red (end) at each aid and wheel station — time penalties apply outside them</a:t>
            </a:r>
          </a:p>
        </p:txBody>
      </p:sp>
      <p:sp>
        <p:nvSpPr>
          <p:cNvPr id="36" name="TextBox 35"/>
          <p:cNvSpPr txBox="1"/>
          <p:nvPr/>
        </p:nvSpPr>
        <p:spPr>
          <a:xfrm>
            <a:off x="5669280" y="4855464"/>
            <a:ext cx="6126480" cy="310896"/>
          </a:xfrm>
          <a:prstGeom prst="rect">
            <a:avLst/>
          </a:prstGeom>
          <a:noFill/>
        </p:spPr>
        <p:txBody>
          <a:bodyPr wrap="square">
            <a:spAutoFit/>
          </a:bodyPr>
          <a:lstStyle/>
          <a:p>
            <a:pPr algn="l"/>
            <a:r>
              <a:rPr sz="1050" b="0" i="0">
                <a:solidFill>
                  <a:srgbClr val="262626"/>
                </a:solidFill>
                <a:latin typeface="Arial"/>
              </a:rPr>
              <a:t>•  Run penalty box on the left side of the road, 200 m before the finish — passed every lap</a:t>
            </a:r>
          </a:p>
        </p:txBody>
      </p:sp>
      <p:sp>
        <p:nvSpPr>
          <p:cNvPr id="37" name="TextBox 36"/>
          <p:cNvSpPr txBox="1"/>
          <p:nvPr/>
        </p:nvSpPr>
        <p:spPr>
          <a:xfrm>
            <a:off x="5669280" y="5148072"/>
            <a:ext cx="6126480" cy="310896"/>
          </a:xfrm>
          <a:prstGeom prst="rect">
            <a:avLst/>
          </a:prstGeom>
          <a:noFill/>
        </p:spPr>
        <p:txBody>
          <a:bodyPr wrap="square">
            <a:spAutoFit/>
          </a:bodyPr>
          <a:lstStyle/>
          <a:p>
            <a:pPr algn="l"/>
            <a:r>
              <a:rPr sz="1050" b="0" i="0">
                <a:solidFill>
                  <a:srgbClr val="262626"/>
                </a:solidFill>
                <a:latin typeface="Arial"/>
              </a:rPr>
              <a:t>•  July averages a 23 °C high / 12 °C low with a late sunset (21:32) — moderate heat risk for the 14:00/16:00 Elite starts, well short of Huatulco-level heat stress</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Travel &amp; Arrival Load</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Denver, CO → Edmonton race week</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960120"/>
          </a:xfrm>
          <a:prstGeom prst="rect">
            <a:avLst/>
          </a:prstGeom>
          <a:solidFill>
            <a:srgbClr val="E9EFF9"/>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61288"/>
            <a:ext cx="11430000" cy="274320"/>
          </a:xfrm>
          <a:prstGeom prst="rect">
            <a:avLst/>
          </a:prstGeom>
          <a:noFill/>
        </p:spPr>
        <p:txBody>
          <a:bodyPr wrap="square">
            <a:spAutoFit/>
          </a:bodyPr>
          <a:lstStyle/>
          <a:p>
            <a:pPr algn="ctr"/>
            <a:r>
              <a:rPr sz="1200" b="1" i="0">
                <a:solidFill>
                  <a:srgbClr val="002060"/>
                </a:solidFill>
                <a:latin typeface="Arial"/>
              </a:rPr>
              <a:t>Core travel read</a:t>
            </a:r>
          </a:p>
        </p:txBody>
      </p:sp>
      <p:sp>
        <p:nvSpPr>
          <p:cNvPr id="10" name="TextBox 9"/>
          <p:cNvSpPr txBox="1"/>
          <p:nvPr/>
        </p:nvSpPr>
        <p:spPr>
          <a:xfrm>
            <a:off x="457200" y="1444752"/>
            <a:ext cx="11247120" cy="566928"/>
          </a:xfrm>
          <a:prstGeom prst="rect">
            <a:avLst/>
          </a:prstGeom>
          <a:noFill/>
        </p:spPr>
        <p:txBody>
          <a:bodyPr wrap="square">
            <a:spAutoFit/>
          </a:bodyPr>
          <a:lstStyle/>
          <a:p>
            <a:pPr algn="ctr"/>
            <a:r>
              <a:rPr sz="1050" b="0" i="0">
                <a:solidFill>
                  <a:srgbClr val="262626"/>
                </a:solidFill>
                <a:latin typeface="Arial"/>
              </a:rPr>
              <a:t>Denver → Edmonton is a same-zone trip — both cities run Mountain Time (MDT in July), so there is zero jet-lag adjustment. No historical nonstop DEN-YEG service; typical itineraries connect through Calgary (YYC), Vancouver (YVR), or Seattle (SEA) on WestJet, Air Canada, Alaska, or United. LOC-provided shuttles run Wednesday July 15 through Monday July 20 between the airport and the Westin Hotel only — submit arrival/departure details by July 5, 2026 or transportation is not guaranteed. A visitor visa or eTA is required for most nationalities entering Canada; contact Triathlon Canada for a visa support letter.</a:t>
            </a:r>
          </a:p>
        </p:txBody>
      </p:sp>
      <p:sp>
        <p:nvSpPr>
          <p:cNvPr id="11" name="Rectangle 10"/>
          <p:cNvSpPr/>
          <p:nvPr/>
        </p:nvSpPr>
        <p:spPr>
          <a:xfrm>
            <a:off x="274320"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47472" y="2286000"/>
            <a:ext cx="2072030" cy="201168"/>
          </a:xfrm>
          <a:prstGeom prst="rect">
            <a:avLst/>
          </a:prstGeom>
          <a:noFill/>
        </p:spPr>
        <p:txBody>
          <a:bodyPr wrap="square">
            <a:spAutoFit/>
          </a:bodyPr>
          <a:lstStyle/>
          <a:p>
            <a:pPr algn="ctr"/>
            <a:r>
              <a:rPr sz="1000" b="1" i="0">
                <a:solidFill>
                  <a:srgbClr val="002060"/>
                </a:solidFill>
                <a:latin typeface="Arial"/>
              </a:rPr>
              <a:t>Primary route</a:t>
            </a:r>
          </a:p>
        </p:txBody>
      </p:sp>
      <p:sp>
        <p:nvSpPr>
          <p:cNvPr id="13" name="TextBox 12"/>
          <p:cNvSpPr txBox="1"/>
          <p:nvPr/>
        </p:nvSpPr>
        <p:spPr>
          <a:xfrm>
            <a:off x="347472" y="2496312"/>
            <a:ext cx="2072030" cy="292608"/>
          </a:xfrm>
          <a:prstGeom prst="rect">
            <a:avLst/>
          </a:prstGeom>
          <a:noFill/>
        </p:spPr>
        <p:txBody>
          <a:bodyPr wrap="square">
            <a:spAutoFit/>
          </a:bodyPr>
          <a:lstStyle/>
          <a:p>
            <a:pPr algn="ctr"/>
            <a:r>
              <a:rPr sz="1400" b="1" i="0">
                <a:solidFill>
                  <a:srgbClr val="262626"/>
                </a:solidFill>
                <a:latin typeface="Arial"/>
              </a:rPr>
              <a:t>DEN → YEG</a:t>
            </a:r>
          </a:p>
        </p:txBody>
      </p:sp>
      <p:sp>
        <p:nvSpPr>
          <p:cNvPr id="14" name="TextBox 13"/>
          <p:cNvSpPr txBox="1"/>
          <p:nvPr/>
        </p:nvSpPr>
        <p:spPr>
          <a:xfrm>
            <a:off x="347472" y="2807208"/>
            <a:ext cx="2072030" cy="256032"/>
          </a:xfrm>
          <a:prstGeom prst="rect">
            <a:avLst/>
          </a:prstGeom>
          <a:noFill/>
        </p:spPr>
        <p:txBody>
          <a:bodyPr wrap="square">
            <a:spAutoFit/>
          </a:bodyPr>
          <a:lstStyle/>
          <a:p>
            <a:pPr algn="ctr"/>
            <a:r>
              <a:rPr sz="900" b="0" i="1">
                <a:solidFill>
                  <a:srgbClr val="BFBFBF"/>
                </a:solidFill>
                <a:latin typeface="Arial"/>
              </a:rPr>
              <a:t>1 stop typical (YYC/YVR/SEA)</a:t>
            </a:r>
          </a:p>
        </p:txBody>
      </p:sp>
      <p:sp>
        <p:nvSpPr>
          <p:cNvPr id="15" name="Rectangle 14"/>
          <p:cNvSpPr/>
          <p:nvPr/>
        </p:nvSpPr>
        <p:spPr>
          <a:xfrm>
            <a:off x="2629814"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702966" y="2286000"/>
            <a:ext cx="2072030" cy="201168"/>
          </a:xfrm>
          <a:prstGeom prst="rect">
            <a:avLst/>
          </a:prstGeom>
          <a:noFill/>
        </p:spPr>
        <p:txBody>
          <a:bodyPr wrap="square">
            <a:spAutoFit/>
          </a:bodyPr>
          <a:lstStyle/>
          <a:p>
            <a:pPr algn="ctr"/>
            <a:r>
              <a:rPr sz="1000" b="1" i="0">
                <a:solidFill>
                  <a:srgbClr val="002060"/>
                </a:solidFill>
                <a:latin typeface="Arial"/>
              </a:rPr>
              <a:t>Time zones</a:t>
            </a:r>
          </a:p>
        </p:txBody>
      </p:sp>
      <p:sp>
        <p:nvSpPr>
          <p:cNvPr id="17" name="TextBox 16"/>
          <p:cNvSpPr txBox="1"/>
          <p:nvPr/>
        </p:nvSpPr>
        <p:spPr>
          <a:xfrm>
            <a:off x="2702966" y="2496312"/>
            <a:ext cx="2072030" cy="292608"/>
          </a:xfrm>
          <a:prstGeom prst="rect">
            <a:avLst/>
          </a:prstGeom>
          <a:noFill/>
        </p:spPr>
        <p:txBody>
          <a:bodyPr wrap="square">
            <a:spAutoFit/>
          </a:bodyPr>
          <a:lstStyle/>
          <a:p>
            <a:pPr algn="ctr"/>
            <a:r>
              <a:rPr sz="1400" b="1" i="0">
                <a:solidFill>
                  <a:srgbClr val="262626"/>
                </a:solidFill>
                <a:latin typeface="Arial"/>
              </a:rPr>
              <a:t>+0h</a:t>
            </a:r>
          </a:p>
        </p:txBody>
      </p:sp>
      <p:sp>
        <p:nvSpPr>
          <p:cNvPr id="18" name="TextBox 17"/>
          <p:cNvSpPr txBox="1"/>
          <p:nvPr/>
        </p:nvSpPr>
        <p:spPr>
          <a:xfrm>
            <a:off x="2702966" y="2807208"/>
            <a:ext cx="2072030" cy="256032"/>
          </a:xfrm>
          <a:prstGeom prst="rect">
            <a:avLst/>
          </a:prstGeom>
          <a:noFill/>
        </p:spPr>
        <p:txBody>
          <a:bodyPr wrap="square">
            <a:spAutoFit/>
          </a:bodyPr>
          <a:lstStyle/>
          <a:p>
            <a:pPr algn="ctr"/>
            <a:r>
              <a:rPr sz="900" b="0" i="1">
                <a:solidFill>
                  <a:srgbClr val="BFBFBF"/>
                </a:solidFill>
                <a:latin typeface="Arial"/>
              </a:rPr>
              <a:t>Both Mountain Time (MDT)</a:t>
            </a:r>
          </a:p>
        </p:txBody>
      </p:sp>
      <p:sp>
        <p:nvSpPr>
          <p:cNvPr id="19" name="Rectangle 18"/>
          <p:cNvSpPr/>
          <p:nvPr/>
        </p:nvSpPr>
        <p:spPr>
          <a:xfrm>
            <a:off x="4985308"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5058460" y="2286000"/>
            <a:ext cx="2072030" cy="201168"/>
          </a:xfrm>
          <a:prstGeom prst="rect">
            <a:avLst/>
          </a:prstGeom>
          <a:noFill/>
        </p:spPr>
        <p:txBody>
          <a:bodyPr wrap="square">
            <a:spAutoFit/>
          </a:bodyPr>
          <a:lstStyle/>
          <a:p>
            <a:pPr algn="ctr"/>
            <a:r>
              <a:rPr sz="1000" b="1" i="0">
                <a:solidFill>
                  <a:srgbClr val="002060"/>
                </a:solidFill>
                <a:latin typeface="Arial"/>
              </a:rPr>
              <a:t>Airport Transfer</a:t>
            </a:r>
          </a:p>
        </p:txBody>
      </p:sp>
      <p:sp>
        <p:nvSpPr>
          <p:cNvPr id="21" name="TextBox 20"/>
          <p:cNvSpPr txBox="1"/>
          <p:nvPr/>
        </p:nvSpPr>
        <p:spPr>
          <a:xfrm>
            <a:off x="5058460" y="2496312"/>
            <a:ext cx="2072030" cy="292608"/>
          </a:xfrm>
          <a:prstGeom prst="rect">
            <a:avLst/>
          </a:prstGeom>
          <a:noFill/>
        </p:spPr>
        <p:txBody>
          <a:bodyPr wrap="square">
            <a:spAutoFit/>
          </a:bodyPr>
          <a:lstStyle/>
          <a:p>
            <a:pPr algn="ctr"/>
            <a:r>
              <a:rPr sz="1400" b="1" i="0">
                <a:solidFill>
                  <a:srgbClr val="262626"/>
                </a:solidFill>
                <a:latin typeface="Arial"/>
              </a:rPr>
              <a:t>YEG → The Westin</a:t>
            </a:r>
          </a:p>
        </p:txBody>
      </p:sp>
      <p:sp>
        <p:nvSpPr>
          <p:cNvPr id="22" name="TextBox 21"/>
          <p:cNvSpPr txBox="1"/>
          <p:nvPr/>
        </p:nvSpPr>
        <p:spPr>
          <a:xfrm>
            <a:off x="5058460" y="2807208"/>
            <a:ext cx="2072030" cy="256032"/>
          </a:xfrm>
          <a:prstGeom prst="rect">
            <a:avLst/>
          </a:prstGeom>
          <a:noFill/>
        </p:spPr>
        <p:txBody>
          <a:bodyPr wrap="square">
            <a:spAutoFit/>
          </a:bodyPr>
          <a:lstStyle/>
          <a:p>
            <a:pPr algn="ctr"/>
            <a:r>
              <a:rPr sz="900" b="0" i="1">
                <a:solidFill>
                  <a:srgbClr val="BFBFBF"/>
                </a:solidFill>
                <a:latin typeface="Arial"/>
              </a:rPr>
              <a:t>LOC shuttle, ~30 km / 40 min</a:t>
            </a:r>
          </a:p>
        </p:txBody>
      </p:sp>
      <p:sp>
        <p:nvSpPr>
          <p:cNvPr id="23" name="Rectangle 22"/>
          <p:cNvSpPr/>
          <p:nvPr/>
        </p:nvSpPr>
        <p:spPr>
          <a:xfrm>
            <a:off x="7340803"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7413955" y="2286000"/>
            <a:ext cx="2072030" cy="201168"/>
          </a:xfrm>
          <a:prstGeom prst="rect">
            <a:avLst/>
          </a:prstGeom>
          <a:noFill/>
        </p:spPr>
        <p:txBody>
          <a:bodyPr wrap="square">
            <a:spAutoFit/>
          </a:bodyPr>
          <a:lstStyle/>
          <a:p>
            <a:pPr algn="ctr"/>
            <a:r>
              <a:rPr sz="1000" b="1" i="0">
                <a:solidFill>
                  <a:srgbClr val="002060"/>
                </a:solidFill>
                <a:latin typeface="Arial"/>
              </a:rPr>
              <a:t>Venue Transfer</a:t>
            </a:r>
          </a:p>
        </p:txBody>
      </p:sp>
      <p:sp>
        <p:nvSpPr>
          <p:cNvPr id="25" name="TextBox 24"/>
          <p:cNvSpPr txBox="1"/>
          <p:nvPr/>
        </p:nvSpPr>
        <p:spPr>
          <a:xfrm>
            <a:off x="7413955" y="2496312"/>
            <a:ext cx="2072030" cy="292608"/>
          </a:xfrm>
          <a:prstGeom prst="rect">
            <a:avLst/>
          </a:prstGeom>
          <a:noFill/>
        </p:spPr>
        <p:txBody>
          <a:bodyPr wrap="square">
            <a:spAutoFit/>
          </a:bodyPr>
          <a:lstStyle/>
          <a:p>
            <a:pPr algn="ctr"/>
            <a:r>
              <a:rPr sz="1400" b="1" i="0">
                <a:solidFill>
                  <a:srgbClr val="262626"/>
                </a:solidFill>
                <a:latin typeface="Arial"/>
              </a:rPr>
              <a:t>Westin → Hawrelak Park</a:t>
            </a:r>
          </a:p>
        </p:txBody>
      </p:sp>
      <p:sp>
        <p:nvSpPr>
          <p:cNvPr id="26" name="TextBox 25"/>
          <p:cNvSpPr txBox="1"/>
          <p:nvPr/>
        </p:nvSpPr>
        <p:spPr>
          <a:xfrm>
            <a:off x="7413955" y="2807208"/>
            <a:ext cx="2072030" cy="256032"/>
          </a:xfrm>
          <a:prstGeom prst="rect">
            <a:avLst/>
          </a:prstGeom>
          <a:noFill/>
        </p:spPr>
        <p:txBody>
          <a:bodyPr wrap="square">
            <a:spAutoFit/>
          </a:bodyPr>
          <a:lstStyle/>
          <a:p>
            <a:pPr algn="ctr"/>
            <a:r>
              <a:rPr sz="900" b="0" i="1">
                <a:solidFill>
                  <a:srgbClr val="BFBFBF"/>
                </a:solidFill>
                <a:latin typeface="Arial"/>
              </a:rPr>
              <a:t>LOC shuttle, 4.5 km / 7-10 min</a:t>
            </a:r>
          </a:p>
        </p:txBody>
      </p:sp>
      <p:sp>
        <p:nvSpPr>
          <p:cNvPr id="27" name="Rectangle 26"/>
          <p:cNvSpPr/>
          <p:nvPr/>
        </p:nvSpPr>
        <p:spPr>
          <a:xfrm>
            <a:off x="9696297" y="2240280"/>
            <a:ext cx="2218334" cy="86868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9769449" y="2286000"/>
            <a:ext cx="2072030" cy="201168"/>
          </a:xfrm>
          <a:prstGeom prst="rect">
            <a:avLst/>
          </a:prstGeom>
          <a:noFill/>
        </p:spPr>
        <p:txBody>
          <a:bodyPr wrap="square">
            <a:spAutoFit/>
          </a:bodyPr>
          <a:lstStyle/>
          <a:p>
            <a:pPr algn="ctr"/>
            <a:r>
              <a:rPr sz="1000" b="1" i="0">
                <a:solidFill>
                  <a:srgbClr val="002060"/>
                </a:solidFill>
                <a:latin typeface="Arial"/>
              </a:rPr>
              <a:t>Arrival deadline</a:t>
            </a:r>
          </a:p>
        </p:txBody>
      </p:sp>
      <p:sp>
        <p:nvSpPr>
          <p:cNvPr id="29" name="TextBox 28"/>
          <p:cNvSpPr txBox="1"/>
          <p:nvPr/>
        </p:nvSpPr>
        <p:spPr>
          <a:xfrm>
            <a:off x="9769449" y="2496312"/>
            <a:ext cx="2072030" cy="292608"/>
          </a:xfrm>
          <a:prstGeom prst="rect">
            <a:avLst/>
          </a:prstGeom>
          <a:noFill/>
        </p:spPr>
        <p:txBody>
          <a:bodyPr wrap="square">
            <a:spAutoFit/>
          </a:bodyPr>
          <a:lstStyle/>
          <a:p>
            <a:pPr algn="ctr"/>
            <a:r>
              <a:rPr sz="1400" b="1" i="0">
                <a:solidFill>
                  <a:srgbClr val="262626"/>
                </a:solidFill>
                <a:latin typeface="Arial"/>
              </a:rPr>
              <a:t>July 5, 2026</a:t>
            </a:r>
          </a:p>
        </p:txBody>
      </p:sp>
      <p:sp>
        <p:nvSpPr>
          <p:cNvPr id="30" name="TextBox 29"/>
          <p:cNvSpPr txBox="1"/>
          <p:nvPr/>
        </p:nvSpPr>
        <p:spPr>
          <a:xfrm>
            <a:off x="9769449" y="2807208"/>
            <a:ext cx="2072030" cy="256032"/>
          </a:xfrm>
          <a:prstGeom prst="rect">
            <a:avLst/>
          </a:prstGeom>
          <a:noFill/>
        </p:spPr>
        <p:txBody>
          <a:bodyPr wrap="square">
            <a:spAutoFit/>
          </a:bodyPr>
          <a:lstStyle/>
          <a:p>
            <a:pPr algn="ctr"/>
            <a:r>
              <a:rPr sz="900" b="0" i="1">
                <a:solidFill>
                  <a:srgbClr val="BFBFBF"/>
                </a:solidFill>
                <a:latin typeface="Arial"/>
              </a:rPr>
              <a:t>Submit itinerary form or fees may apply</a:t>
            </a:r>
          </a:p>
        </p:txBody>
      </p:sp>
      <p:sp>
        <p:nvSpPr>
          <p:cNvPr id="31" name="Rectangle 30"/>
          <p:cNvSpPr/>
          <p:nvPr/>
        </p:nvSpPr>
        <p:spPr>
          <a:xfrm>
            <a:off x="2743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411480" y="3401568"/>
            <a:ext cx="5394960" cy="292608"/>
          </a:xfrm>
          <a:prstGeom prst="rect">
            <a:avLst/>
          </a:prstGeom>
          <a:noFill/>
        </p:spPr>
        <p:txBody>
          <a:bodyPr wrap="square">
            <a:spAutoFit/>
          </a:bodyPr>
          <a:lstStyle/>
          <a:p>
            <a:pPr algn="ctr"/>
            <a:r>
              <a:rPr sz="1300" b="1" i="0">
                <a:solidFill>
                  <a:srgbClr val="002060"/>
                </a:solidFill>
                <a:latin typeface="Arial"/>
              </a:rPr>
              <a:t>Host Hotel / Official Accommodation</a:t>
            </a:r>
          </a:p>
        </p:txBody>
      </p:sp>
      <p:sp>
        <p:nvSpPr>
          <p:cNvPr id="33" name="TextBox 32"/>
          <p:cNvSpPr txBox="1"/>
          <p:nvPr/>
        </p:nvSpPr>
        <p:spPr>
          <a:xfrm>
            <a:off x="438912" y="3749040"/>
            <a:ext cx="5340096" cy="329184"/>
          </a:xfrm>
          <a:prstGeom prst="rect">
            <a:avLst/>
          </a:prstGeom>
          <a:noFill/>
        </p:spPr>
        <p:txBody>
          <a:bodyPr wrap="square">
            <a:spAutoFit/>
          </a:bodyPr>
          <a:lstStyle/>
          <a:p>
            <a:pPr algn="l"/>
            <a:r>
              <a:rPr sz="1000" b="0" i="0">
                <a:solidFill>
                  <a:srgbClr val="262626"/>
                </a:solidFill>
                <a:latin typeface="Arial"/>
              </a:rPr>
              <a:t>•  Official host hotel: The Westin Edmonton, 10135 100 St NW, Edmonton, AB T5J 0N7 — 4.5 km / 7-10 min from the venue by car or bike.</a:t>
            </a:r>
          </a:p>
        </p:txBody>
      </p:sp>
      <p:sp>
        <p:nvSpPr>
          <p:cNvPr id="34" name="TextBox 33"/>
          <p:cNvSpPr txBox="1"/>
          <p:nvPr/>
        </p:nvSpPr>
        <p:spPr>
          <a:xfrm>
            <a:off x="438912" y="4059936"/>
            <a:ext cx="5340096" cy="329184"/>
          </a:xfrm>
          <a:prstGeom prst="rect">
            <a:avLst/>
          </a:prstGeom>
          <a:noFill/>
        </p:spPr>
        <p:txBody>
          <a:bodyPr wrap="square">
            <a:spAutoFit/>
          </a:bodyPr>
          <a:lstStyle/>
          <a:p>
            <a:pPr algn="l"/>
            <a:r>
              <a:rPr sz="1000" b="0" i="0">
                <a:solidFill>
                  <a:srgbClr val="262626"/>
                </a:solidFill>
                <a:latin typeface="Arial"/>
              </a:rPr>
              <a:t>•  Alternative discounted block: Lister Hall, 11613 87 Ave NW — 2.0 km / 5 min from the venue; book via front desk 780-492-6056, reference "2026 World Triathlon Cup."</a:t>
            </a:r>
          </a:p>
        </p:txBody>
      </p:sp>
      <p:sp>
        <p:nvSpPr>
          <p:cNvPr id="35" name="TextBox 34"/>
          <p:cNvSpPr txBox="1"/>
          <p:nvPr/>
        </p:nvSpPr>
        <p:spPr>
          <a:xfrm>
            <a:off x="438912" y="4370832"/>
            <a:ext cx="5340096" cy="329184"/>
          </a:xfrm>
          <a:prstGeom prst="rect">
            <a:avLst/>
          </a:prstGeom>
          <a:noFill/>
        </p:spPr>
        <p:txBody>
          <a:bodyPr wrap="square">
            <a:spAutoFit/>
          </a:bodyPr>
          <a:lstStyle/>
          <a:p>
            <a:pPr algn="l"/>
            <a:r>
              <a:rPr sz="1000" b="0" i="0">
                <a:solidFill>
                  <a:srgbClr val="262626"/>
                </a:solidFill>
                <a:latin typeface="Arial"/>
              </a:rPr>
              <a:t>•  LOC free shuttle covers Westin ↔ Hawrelak Park for familiarization and race day only — athletes staying elsewhere arrange their own transport.</a:t>
            </a:r>
          </a:p>
        </p:txBody>
      </p:sp>
      <p:sp>
        <p:nvSpPr>
          <p:cNvPr id="36" name="TextBox 35"/>
          <p:cNvSpPr txBox="1"/>
          <p:nvPr/>
        </p:nvSpPr>
        <p:spPr>
          <a:xfrm>
            <a:off x="438912" y="4681728"/>
            <a:ext cx="5340096" cy="329184"/>
          </a:xfrm>
          <a:prstGeom prst="rect">
            <a:avLst/>
          </a:prstGeom>
          <a:noFill/>
        </p:spPr>
        <p:txBody>
          <a:bodyPr wrap="square">
            <a:spAutoFit/>
          </a:bodyPr>
          <a:lstStyle/>
          <a:p>
            <a:pPr algn="l"/>
            <a:r>
              <a:rPr sz="1000" b="0" i="0">
                <a:solidFill>
                  <a:srgbClr val="262626"/>
                </a:solidFill>
                <a:latin typeface="Arial"/>
              </a:rPr>
              <a:t>•  Underground parking available at the Westin for a fee, managed directly by the hotel.</a:t>
            </a:r>
          </a:p>
        </p:txBody>
      </p:sp>
      <p:sp>
        <p:nvSpPr>
          <p:cNvPr id="37" name="Rectangle 36"/>
          <p:cNvSpPr/>
          <p:nvPr/>
        </p:nvSpPr>
        <p:spPr>
          <a:xfrm>
            <a:off x="6217920" y="3291840"/>
            <a:ext cx="5669280" cy="2377440"/>
          </a:xfrm>
          <a:prstGeom prst="rect">
            <a:avLst/>
          </a:prstGeom>
          <a:solidFill>
            <a:srgbClr val="FFFFFF"/>
          </a:solidFill>
          <a:ln>
            <a:solidFill>
              <a:srgbClr val="BFBFBF"/>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TextBox 37"/>
          <p:cNvSpPr txBox="1"/>
          <p:nvPr/>
        </p:nvSpPr>
        <p:spPr>
          <a:xfrm>
            <a:off x="6355080" y="3401568"/>
            <a:ext cx="5394960" cy="292608"/>
          </a:xfrm>
          <a:prstGeom prst="rect">
            <a:avLst/>
          </a:prstGeom>
          <a:noFill/>
        </p:spPr>
        <p:txBody>
          <a:bodyPr wrap="square">
            <a:spAutoFit/>
          </a:bodyPr>
          <a:lstStyle/>
          <a:p>
            <a:pPr algn="ctr"/>
            <a:r>
              <a:rPr sz="1300" b="1" i="0">
                <a:solidFill>
                  <a:srgbClr val="002060"/>
                </a:solidFill>
                <a:latin typeface="Arial"/>
              </a:rPr>
              <a:t>Food / Grocery Options Near Hotel + Venue</a:t>
            </a:r>
          </a:p>
        </p:txBody>
      </p:sp>
      <p:sp>
        <p:nvSpPr>
          <p:cNvPr id="39" name="TextBox 38"/>
          <p:cNvSpPr txBox="1"/>
          <p:nvPr/>
        </p:nvSpPr>
        <p:spPr>
          <a:xfrm>
            <a:off x="6382512" y="3749040"/>
            <a:ext cx="5340096" cy="329184"/>
          </a:xfrm>
          <a:prstGeom prst="rect">
            <a:avLst/>
          </a:prstGeom>
          <a:noFill/>
        </p:spPr>
        <p:txBody>
          <a:bodyPr wrap="square">
            <a:spAutoFit/>
          </a:bodyPr>
          <a:lstStyle/>
          <a:p>
            <a:pPr algn="l"/>
            <a:r>
              <a:rPr sz="1000" b="0" i="0">
                <a:solidFill>
                  <a:srgbClr val="262626"/>
                </a:solidFill>
                <a:latin typeface="Arial"/>
              </a:rPr>
              <a:t>•  Not itemized in the athlete guide — the Westin sits downtown with typical hotel-district dining and grocery access within a few blocks.</a:t>
            </a:r>
          </a:p>
        </p:txBody>
      </p:sp>
      <p:sp>
        <p:nvSpPr>
          <p:cNvPr id="40" name="TextBox 39"/>
          <p:cNvSpPr txBox="1"/>
          <p:nvPr/>
        </p:nvSpPr>
        <p:spPr>
          <a:xfrm>
            <a:off x="6382512" y="4059936"/>
            <a:ext cx="5340096" cy="329184"/>
          </a:xfrm>
          <a:prstGeom prst="rect">
            <a:avLst/>
          </a:prstGeom>
          <a:noFill/>
        </p:spPr>
        <p:txBody>
          <a:bodyPr wrap="square">
            <a:spAutoFit/>
          </a:bodyPr>
          <a:lstStyle/>
          <a:p>
            <a:pPr algn="l"/>
            <a:r>
              <a:rPr sz="1000" b="0" i="0">
                <a:solidFill>
                  <a:srgbClr val="262626"/>
                </a:solidFill>
                <a:latin typeface="Arial"/>
              </a:rPr>
              <a:t>•  Lister Hall option is on the University of Alberta campus — Whyte Ave (109 St / 82 Ave) strip is a short ride away for groceries and casual dining.</a:t>
            </a:r>
          </a:p>
        </p:txBody>
      </p:sp>
      <p:sp>
        <p:nvSpPr>
          <p:cNvPr id="41" name="TextBox 40"/>
          <p:cNvSpPr txBox="1"/>
          <p:nvPr/>
        </p:nvSpPr>
        <p:spPr>
          <a:xfrm>
            <a:off x="6382512" y="4370832"/>
            <a:ext cx="5340096" cy="329184"/>
          </a:xfrm>
          <a:prstGeom prst="rect">
            <a:avLst/>
          </a:prstGeom>
          <a:noFill/>
        </p:spPr>
        <p:txBody>
          <a:bodyPr wrap="square">
            <a:spAutoFit/>
          </a:bodyPr>
          <a:lstStyle/>
          <a:p>
            <a:pPr algn="l"/>
            <a:r>
              <a:rPr sz="1000" b="0" i="0">
                <a:solidFill>
                  <a:srgbClr val="262626"/>
                </a:solidFill>
                <a:latin typeface="Arial"/>
              </a:rPr>
              <a:t>•  Kinsmen Sports Centre (swim training venue) and Hawrelak Park both sit along the river valley bike path connecting the Westin, Lister Hall, and the U of A.</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Environmental Risk Profile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70432"/>
          <a:ext cx="4709158" cy="2414016"/>
        </p:xfrm>
        <a:graphic>
          <a:graphicData uri="http://schemas.openxmlformats.org/drawingml/2006/table">
            <a:tbl>
              <a:tblPr firstRow="1" bandRow="1">
                <a:tableStyleId>{5C22544A-7EE6-4342-B048-85BDC9FD1C3A}</a:tableStyleId>
              </a:tblPr>
              <a:tblGrid>
                <a:gridCol w="612190">
                  <a:extLst>
                    <a:ext uri="{9D8B030D-6E8A-4147-A177-3AD203B41FA5}">
                      <a16:colId xmlns:a16="http://schemas.microsoft.com/office/drawing/2014/main" val="20000"/>
                    </a:ext>
                  </a:extLst>
                </a:gridCol>
                <a:gridCol w="800557">
                  <a:extLst>
                    <a:ext uri="{9D8B030D-6E8A-4147-A177-3AD203B41FA5}">
                      <a16:colId xmlns:a16="http://schemas.microsoft.com/office/drawing/2014/main" val="20001"/>
                    </a:ext>
                  </a:extLst>
                </a:gridCol>
                <a:gridCol w="894740">
                  <a:extLst>
                    <a:ext uri="{9D8B030D-6E8A-4147-A177-3AD203B41FA5}">
                      <a16:colId xmlns:a16="http://schemas.microsoft.com/office/drawing/2014/main" val="20002"/>
                    </a:ext>
                  </a:extLst>
                </a:gridCol>
                <a:gridCol w="800557">
                  <a:extLst>
                    <a:ext uri="{9D8B030D-6E8A-4147-A177-3AD203B41FA5}">
                      <a16:colId xmlns:a16="http://schemas.microsoft.com/office/drawing/2014/main" val="20003"/>
                    </a:ext>
                  </a:extLst>
                </a:gridCol>
                <a:gridCol w="800557">
                  <a:extLst>
                    <a:ext uri="{9D8B030D-6E8A-4147-A177-3AD203B41FA5}">
                      <a16:colId xmlns:a16="http://schemas.microsoft.com/office/drawing/2014/main" val="20004"/>
                    </a:ext>
                  </a:extLst>
                </a:gridCol>
                <a:gridCol w="800557">
                  <a:extLst>
                    <a:ext uri="{9D8B030D-6E8A-4147-A177-3AD203B41FA5}">
                      <a16:colId xmlns:a16="http://schemas.microsoft.com/office/drawing/2014/main" val="20005"/>
                    </a:ext>
                  </a:extLst>
                </a:gridCol>
              </a:tblGrid>
              <a:tr h="402336">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Date</a:t>
                      </a:r>
                    </a:p>
                  </a:txBody>
                  <a:tcPr>
                    <a:solidFill>
                      <a:srgbClr val="002060"/>
                    </a:solidFill>
                  </a:tcPr>
                </a:tc>
                <a:tc>
                  <a:txBody>
                    <a:bodyPr/>
                    <a:lstStyle/>
                    <a:p>
                      <a:pPr algn="ctr"/>
                      <a:r>
                        <a:rPr sz="1000" b="1" i="0">
                          <a:solidFill>
                            <a:srgbClr val="FFFFFF"/>
                          </a:solidFill>
                          <a:latin typeface="Arial"/>
                        </a:rPr>
                        <a:t>Air Temp</a:t>
                      </a:r>
                    </a:p>
                  </a:txBody>
                  <a:tcPr>
                    <a:solidFill>
                      <a:srgbClr val="002060"/>
                    </a:solidFill>
                  </a:tcPr>
                </a:tc>
                <a:tc>
                  <a:txBody>
                    <a:bodyPr/>
                    <a:lstStyle/>
                    <a:p>
                      <a:pPr algn="ctr"/>
                      <a:r>
                        <a:rPr sz="1000" b="1" i="0">
                          <a:solidFill>
                            <a:srgbClr val="FFFFFF"/>
                          </a:solidFill>
                          <a:latin typeface="Arial"/>
                        </a:rPr>
                        <a:t>Humidity</a:t>
                      </a:r>
                    </a:p>
                  </a:txBody>
                  <a:tcPr>
                    <a:solidFill>
                      <a:srgbClr val="002060"/>
                    </a:solidFill>
                  </a:tcPr>
                </a:tc>
                <a:tc>
                  <a:txBody>
                    <a:bodyPr/>
                    <a:lstStyle/>
                    <a:p>
                      <a:pPr algn="ctr"/>
                      <a:r>
                        <a:rPr sz="1000" b="1" i="0">
                          <a:solidFill>
                            <a:srgbClr val="FFFFFF"/>
                          </a:solidFill>
                          <a:latin typeface="Arial"/>
                        </a:rPr>
                        <a:t>Wind km/h</a:t>
                      </a:r>
                    </a:p>
                  </a:txBody>
                  <a:tcPr>
                    <a:solidFill>
                      <a:srgbClr val="002060"/>
                    </a:solidFill>
                  </a:tcPr>
                </a:tc>
                <a:tc>
                  <a:txBody>
                    <a:bodyPr/>
                    <a:lstStyle/>
                    <a:p>
                      <a:pPr algn="ctr"/>
                      <a:r>
                        <a:rPr sz="1000" b="1" i="0">
                          <a:solidFill>
                            <a:srgbClr val="FFFFFF"/>
                          </a:solidFill>
                          <a:latin typeface="Arial"/>
                        </a:rPr>
                        <a:t>Precip mm</a:t>
                      </a:r>
                    </a:p>
                  </a:txBody>
                  <a:tcPr>
                    <a:solidFill>
                      <a:srgbClr val="002060"/>
                    </a:solidFill>
                  </a:tcPr>
                </a:tc>
                <a:extLst>
                  <a:ext uri="{0D108BD9-81ED-4DB2-BD59-A6C34878D82A}">
                    <a16:rowId xmlns:a16="http://schemas.microsoft.com/office/drawing/2014/main" val="10000"/>
                  </a:ext>
                </a:extLst>
              </a:tr>
              <a:tr h="402336">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Jul 27</a:t>
                      </a:r>
                    </a:p>
                  </a:txBody>
                  <a:tcPr>
                    <a:solidFill>
                      <a:srgbClr val="FFFFFF"/>
                    </a:solidFill>
                  </a:tcPr>
                </a:tc>
                <a:tc>
                  <a:txBody>
                    <a:bodyPr/>
                    <a:lstStyle/>
                    <a:p>
                      <a:pPr algn="ctr"/>
                      <a:r>
                        <a:rPr sz="1000" b="0" i="0">
                          <a:solidFill>
                            <a:srgbClr val="262626"/>
                          </a:solidFill>
                          <a:latin typeface="Arial"/>
                        </a:rPr>
                        <a:t>17.7°*</a:t>
                      </a:r>
                    </a:p>
                  </a:txBody>
                  <a:tcPr>
                    <a:solidFill>
                      <a:srgbClr val="FFFFFF"/>
                    </a:solidFill>
                  </a:tcPr>
                </a:tc>
                <a:tc>
                  <a:txBody>
                    <a:bodyPr/>
                    <a:lstStyle/>
                    <a:p>
                      <a:pPr algn="ctr"/>
                      <a:r>
                        <a:rPr sz="1000" b="0" i="0">
                          <a:solidFill>
                            <a:srgbClr val="262626"/>
                          </a:solidFill>
                          <a:latin typeface="Arial"/>
                        </a:rPr>
                        <a:t>69%</a:t>
                      </a:r>
                    </a:p>
                  </a:txBody>
                  <a:tcPr>
                    <a:solidFill>
                      <a:srgbClr val="FFFFFF"/>
                    </a:solidFill>
                  </a:tcPr>
                </a:tc>
                <a:tc>
                  <a:txBody>
                    <a:bodyPr/>
                    <a:lstStyle/>
                    <a:p>
                      <a:pPr algn="ctr"/>
                      <a:r>
                        <a:rPr sz="1000" b="0" i="0">
                          <a:solidFill>
                            <a:srgbClr val="262626"/>
                          </a:solidFill>
                          <a:latin typeface="Arial"/>
                        </a:rPr>
                        <a:t>4</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extLst>
                  <a:ext uri="{0D108BD9-81ED-4DB2-BD59-A6C34878D82A}">
                    <a16:rowId xmlns:a16="http://schemas.microsoft.com/office/drawing/2014/main" val="10001"/>
                  </a:ext>
                </a:extLst>
              </a:tr>
              <a:tr h="402336">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Jul 20</a:t>
                      </a:r>
                    </a:p>
                  </a:txBody>
                  <a:tcPr>
                    <a:solidFill>
                      <a:srgbClr val="F2F2F2"/>
                    </a:solidFill>
                  </a:tcPr>
                </a:tc>
                <a:tc>
                  <a:txBody>
                    <a:bodyPr/>
                    <a:lstStyle/>
                    <a:p>
                      <a:pPr algn="ctr"/>
                      <a:r>
                        <a:rPr sz="1000" b="0" i="0">
                          <a:solidFill>
                            <a:srgbClr val="262626"/>
                          </a:solidFill>
                          <a:latin typeface="Arial"/>
                        </a:rPr>
                        <a:t>16.0°*</a:t>
                      </a:r>
                    </a:p>
                  </a:txBody>
                  <a:tcPr>
                    <a:solidFill>
                      <a:srgbClr val="F2F2F2"/>
                    </a:solidFill>
                  </a:tcPr>
                </a:tc>
                <a:tc>
                  <a:txBody>
                    <a:bodyPr/>
                    <a:lstStyle/>
                    <a:p>
                      <a:pPr algn="ctr"/>
                      <a:r>
                        <a:rPr sz="1000" b="0" i="0">
                          <a:solidFill>
                            <a:srgbClr val="262626"/>
                          </a:solidFill>
                          <a:latin typeface="Arial"/>
                        </a:rPr>
                        <a:t>83%</a:t>
                      </a:r>
                    </a:p>
                  </a:txBody>
                  <a:tcPr>
                    <a:solidFill>
                      <a:srgbClr val="F2F2F2"/>
                    </a:solidFill>
                  </a:tcPr>
                </a:tc>
                <a:tc>
                  <a:txBody>
                    <a:bodyPr/>
                    <a:lstStyle/>
                    <a:p>
                      <a:pPr algn="ctr"/>
                      <a:r>
                        <a:rPr sz="1000" b="0" i="0">
                          <a:solidFill>
                            <a:srgbClr val="262626"/>
                          </a:solidFill>
                          <a:latin typeface="Arial"/>
                        </a:rPr>
                        <a:t>10</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extLst>
                  <a:ext uri="{0D108BD9-81ED-4DB2-BD59-A6C34878D82A}">
                    <a16:rowId xmlns:a16="http://schemas.microsoft.com/office/drawing/2014/main" val="10002"/>
                  </a:ext>
                </a:extLst>
              </a:tr>
              <a:tr h="402336">
                <a:tc>
                  <a:txBody>
                    <a:bodyPr/>
                    <a:lstStyle/>
                    <a:p>
                      <a:pPr algn="ctr"/>
                      <a:r>
                        <a:rPr sz="1000" b="0" i="0">
                          <a:solidFill>
                            <a:srgbClr val="262626"/>
                          </a:solidFill>
                          <a:latin typeface="Arial"/>
                        </a:rPr>
                        <a:t>2021</a:t>
                      </a:r>
                    </a:p>
                  </a:txBody>
                  <a:tcPr>
                    <a:solidFill>
                      <a:srgbClr val="FFFFFF"/>
                    </a:solidFill>
                  </a:tcPr>
                </a:tc>
                <a:tc>
                  <a:txBody>
                    <a:bodyPr/>
                    <a:lstStyle/>
                    <a:p>
                      <a:pPr algn="ctr"/>
                      <a:r>
                        <a:rPr sz="1000" b="0" i="0">
                          <a:solidFill>
                            <a:srgbClr val="262626"/>
                          </a:solidFill>
                          <a:latin typeface="Arial"/>
                        </a:rPr>
                        <a:t>Aug 21</a:t>
                      </a:r>
                    </a:p>
                  </a:txBody>
                  <a:tcPr>
                    <a:solidFill>
                      <a:srgbClr val="FFFFFF"/>
                    </a:solidFill>
                  </a:tcPr>
                </a:tc>
                <a:tc>
                  <a:txBody>
                    <a:bodyPr/>
                    <a:lstStyle/>
                    <a:p>
                      <a:pPr algn="ctr"/>
                      <a:r>
                        <a:rPr sz="1000" b="0" i="0">
                          <a:solidFill>
                            <a:srgbClr val="262626"/>
                          </a:solidFill>
                          <a:latin typeface="Arial"/>
                        </a:rPr>
                        <a:t>12.5°*</a:t>
                      </a:r>
                    </a:p>
                  </a:txBody>
                  <a:tcPr>
                    <a:solidFill>
                      <a:srgbClr val="FFFFFF"/>
                    </a:solidFill>
                  </a:tcPr>
                </a:tc>
                <a:tc>
                  <a:txBody>
                    <a:bodyPr/>
                    <a:lstStyle/>
                    <a:p>
                      <a:pPr algn="ctr"/>
                      <a:r>
                        <a:rPr sz="1000" b="0" i="0">
                          <a:solidFill>
                            <a:srgbClr val="262626"/>
                          </a:solidFill>
                          <a:latin typeface="Arial"/>
                        </a:rPr>
                        <a:t>80%</a:t>
                      </a:r>
                    </a:p>
                  </a:txBody>
                  <a:tcPr>
                    <a:solidFill>
                      <a:srgbClr val="FFFFFF"/>
                    </a:solidFill>
                  </a:tcPr>
                </a:tc>
                <a:tc>
                  <a:txBody>
                    <a:bodyPr/>
                    <a:lstStyle/>
                    <a:p>
                      <a:pPr algn="ctr"/>
                      <a:r>
                        <a:rPr sz="1000" b="0" i="0">
                          <a:solidFill>
                            <a:srgbClr val="262626"/>
                          </a:solidFill>
                          <a:latin typeface="Arial"/>
                        </a:rPr>
                        <a:t>8</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extLst>
                  <a:ext uri="{0D108BD9-81ED-4DB2-BD59-A6C34878D82A}">
                    <a16:rowId xmlns:a16="http://schemas.microsoft.com/office/drawing/2014/main" val="10003"/>
                  </a:ext>
                </a:extLst>
              </a:tr>
              <a:tr h="402336">
                <a:tc>
                  <a:txBody>
                    <a:bodyPr/>
                    <a:lstStyle/>
                    <a:p>
                      <a:pPr algn="ctr"/>
                      <a:r>
                        <a:rPr sz="1000" b="0" i="0">
                          <a:solidFill>
                            <a:srgbClr val="262626"/>
                          </a:solidFill>
                          <a:latin typeface="Arial"/>
                        </a:rPr>
                        <a:t>2023</a:t>
                      </a:r>
                    </a:p>
                  </a:txBody>
                  <a:tcPr>
                    <a:solidFill>
                      <a:srgbClr val="F2F2F2"/>
                    </a:solidFill>
                  </a:tcPr>
                </a:tc>
                <a:tc>
                  <a:txBody>
                    <a:bodyPr/>
                    <a:lstStyle/>
                    <a:p>
                      <a:pPr algn="ctr"/>
                      <a:r>
                        <a:rPr sz="1000" b="0" i="0">
                          <a:solidFill>
                            <a:srgbClr val="262626"/>
                          </a:solidFill>
                          <a:latin typeface="Arial"/>
                        </a:rPr>
                        <a:t>Aug 26</a:t>
                      </a:r>
                    </a:p>
                  </a:txBody>
                  <a:tcPr>
                    <a:solidFill>
                      <a:srgbClr val="F2F2F2"/>
                    </a:solidFill>
                  </a:tcPr>
                </a:tc>
                <a:tc>
                  <a:txBody>
                    <a:bodyPr/>
                    <a:lstStyle/>
                    <a:p>
                      <a:pPr algn="ctr"/>
                      <a:r>
                        <a:rPr sz="1000" b="0" i="0">
                          <a:solidFill>
                            <a:srgbClr val="262626"/>
                          </a:solidFill>
                          <a:latin typeface="Arial"/>
                        </a:rPr>
                        <a:t>20</a:t>
                      </a:r>
                    </a:p>
                  </a:txBody>
                  <a:tcPr>
                    <a:solidFill>
                      <a:srgbClr val="F2F2F2"/>
                    </a:solidFill>
                  </a:tcPr>
                </a:tc>
                <a:tc>
                  <a:txBody>
                    <a:bodyPr/>
                    <a:lstStyle/>
                    <a:p>
                      <a:pPr algn="ctr"/>
                      <a:r>
                        <a:rPr sz="1000" b="0" i="0">
                          <a:solidFill>
                            <a:srgbClr val="262626"/>
                          </a:solidFill>
                          <a:latin typeface="Arial"/>
                        </a:rPr>
                        <a:t>82%</a:t>
                      </a:r>
                    </a:p>
                  </a:txBody>
                  <a:tcPr>
                    <a:solidFill>
                      <a:srgbClr val="F2F2F2"/>
                    </a:solidFill>
                  </a:tcPr>
                </a:tc>
                <a:tc>
                  <a:txBody>
                    <a:bodyPr/>
                    <a:lstStyle/>
                    <a:p>
                      <a:pPr algn="ctr"/>
                      <a:r>
                        <a:rPr sz="1000" b="0" i="0">
                          <a:solidFill>
                            <a:srgbClr val="262626"/>
                          </a:solidFill>
                          <a:latin typeface="Arial"/>
                        </a:rPr>
                        <a:t>9</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extLst>
                  <a:ext uri="{0D108BD9-81ED-4DB2-BD59-A6C34878D82A}">
                    <a16:rowId xmlns:a16="http://schemas.microsoft.com/office/drawing/2014/main" val="10004"/>
                  </a:ext>
                </a:extLst>
              </a:tr>
              <a:tr h="402336">
                <a:tc>
                  <a:txBody>
                    <a:bodyPr/>
                    <a:lstStyle/>
                    <a:p>
                      <a:pPr algn="ctr"/>
                      <a:r>
                        <a:rPr sz="1000" b="0" i="0">
                          <a:solidFill>
                            <a:srgbClr val="262626"/>
                          </a:solidFill>
                          <a:latin typeface="Arial"/>
                        </a:rPr>
                        <a:t>2024</a:t>
                      </a:r>
                    </a:p>
                  </a:txBody>
                  <a:tcPr>
                    <a:solidFill>
                      <a:srgbClr val="FFFFFF"/>
                    </a:solidFill>
                  </a:tcPr>
                </a:tc>
                <a:tc>
                  <a:txBody>
                    <a:bodyPr/>
                    <a:lstStyle/>
                    <a:p>
                      <a:pPr algn="ctr"/>
                      <a:r>
                        <a:rPr sz="1000" b="0" i="0">
                          <a:solidFill>
                            <a:srgbClr val="262626"/>
                          </a:solidFill>
                          <a:latin typeface="Arial"/>
                        </a:rPr>
                        <a:t>Aug 24</a:t>
                      </a:r>
                    </a:p>
                  </a:txBody>
                  <a:tcPr>
                    <a:solidFill>
                      <a:srgbClr val="FFFFFF"/>
                    </a:solidFill>
                  </a:tcPr>
                </a:tc>
                <a:tc>
                  <a:txBody>
                    <a:bodyPr/>
                    <a:lstStyle/>
                    <a:p>
                      <a:pPr algn="ctr"/>
                      <a:r>
                        <a:rPr sz="1000" b="0" i="0">
                          <a:solidFill>
                            <a:srgbClr val="262626"/>
                          </a:solidFill>
                          <a:latin typeface="Arial"/>
                        </a:rPr>
                        <a:t>18.2°*</a:t>
                      </a:r>
                    </a:p>
                  </a:txBody>
                  <a:tcPr>
                    <a:solidFill>
                      <a:srgbClr val="FFFFFF"/>
                    </a:solidFill>
                  </a:tcPr>
                </a:tc>
                <a:tc>
                  <a:txBody>
                    <a:bodyPr/>
                    <a:lstStyle/>
                    <a:p>
                      <a:pPr algn="ctr"/>
                      <a:r>
                        <a:rPr sz="1000" b="0" i="0">
                          <a:solidFill>
                            <a:srgbClr val="262626"/>
                          </a:solidFill>
                          <a:latin typeface="Arial"/>
                        </a:rPr>
                        <a:t>81%</a:t>
                      </a:r>
                    </a:p>
                  </a:txBody>
                  <a:tcPr>
                    <a:solidFill>
                      <a:srgbClr val="FFFFFF"/>
                    </a:solidFill>
                  </a:tcPr>
                </a:tc>
                <a:tc>
                  <a:txBody>
                    <a:bodyPr/>
                    <a:lstStyle/>
                    <a:p>
                      <a:pPr algn="ctr"/>
                      <a:r>
                        <a:rPr sz="1000" b="0" i="0">
                          <a:solidFill>
                            <a:srgbClr val="262626"/>
                          </a:solidFill>
                          <a:latin typeface="Arial"/>
                        </a:rPr>
                        <a:t>20</a:t>
                      </a:r>
                    </a:p>
                  </a:txBody>
                  <a:tcPr>
                    <a:solidFill>
                      <a:srgbClr val="FFFFFF"/>
                    </a:solidFill>
                  </a:tcPr>
                </a:tc>
                <a:tc>
                  <a:txBody>
                    <a:bodyPr/>
                    <a:lstStyle/>
                    <a:p>
                      <a:pPr algn="ctr"/>
                      <a:r>
                        <a:rPr sz="1000" b="0" i="0">
                          <a:solidFill>
                            <a:srgbClr val="262626"/>
                          </a:solidFill>
                          <a:latin typeface="Arial"/>
                        </a:rPr>
                        <a:t>0.1</a:t>
                      </a:r>
                    </a:p>
                  </a:txBody>
                  <a:tcPr>
                    <a:solidFill>
                      <a:srgbClr val="FFFFFF"/>
                    </a:solidFill>
                  </a:tcPr>
                </a:tc>
                <a:extLst>
                  <a:ext uri="{0D108BD9-81ED-4DB2-BD59-A6C34878D82A}">
                    <a16:rowId xmlns:a16="http://schemas.microsoft.com/office/drawing/2014/main" val="10005"/>
                  </a:ext>
                </a:extLst>
              </a:tr>
            </a:tbl>
          </a:graphicData>
        </a:graphic>
      </p:graphicFrame>
      <p:sp>
        <p:nvSpPr>
          <p:cNvPr id="9" name="Rectangle 8"/>
          <p:cNvSpPr/>
          <p:nvPr/>
        </p:nvSpPr>
        <p:spPr>
          <a:xfrm>
            <a:off x="274320" y="1078992"/>
            <a:ext cx="4709160" cy="914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20040" y="1088136"/>
            <a:ext cx="4572000" cy="91440"/>
          </a:xfrm>
          <a:prstGeom prst="rect">
            <a:avLst/>
          </a:prstGeom>
          <a:noFill/>
        </p:spPr>
        <p:txBody>
          <a:bodyPr wrap="square">
            <a:spAutoFit/>
          </a:bodyPr>
          <a:lstStyle/>
          <a:p>
            <a:pPr algn="l"/>
            <a:r>
              <a:rPr sz="950" b="1" i="0">
                <a:solidFill>
                  <a:srgbClr val="002060"/>
                </a:solidFill>
                <a:latin typeface="Arial"/>
              </a:rPr>
              <a:t>RACE-DAY WEATHER (08:00–11:00 local)</a:t>
            </a:r>
          </a:p>
        </p:txBody>
      </p:sp>
      <p:graphicFrame>
        <p:nvGraphicFramePr>
          <p:cNvPr id="11" name="Table 10"/>
          <p:cNvGraphicFramePr>
            <a:graphicFrameLocks noGrp="1"/>
          </p:cNvGraphicFramePr>
          <p:nvPr/>
        </p:nvGraphicFramePr>
        <p:xfrm>
          <a:off x="5166360" y="1170432"/>
          <a:ext cx="4069078" cy="2414016"/>
        </p:xfrm>
        <a:graphic>
          <a:graphicData uri="http://schemas.openxmlformats.org/drawingml/2006/table">
            <a:tbl>
              <a:tblPr firstRow="1" bandRow="1">
                <a:tableStyleId>{5C22544A-7EE6-4342-B048-85BDC9FD1C3A}</a:tableStyleId>
              </a:tblPr>
              <a:tblGrid>
                <a:gridCol w="629738">
                  <a:extLst>
                    <a:ext uri="{9D8B030D-6E8A-4147-A177-3AD203B41FA5}">
                      <a16:colId xmlns:a16="http://schemas.microsoft.com/office/drawing/2014/main" val="20000"/>
                    </a:ext>
                  </a:extLst>
                </a:gridCol>
                <a:gridCol w="823504">
                  <a:extLst>
                    <a:ext uri="{9D8B030D-6E8A-4147-A177-3AD203B41FA5}">
                      <a16:colId xmlns:a16="http://schemas.microsoft.com/office/drawing/2014/main" val="20001"/>
                    </a:ext>
                  </a:extLst>
                </a:gridCol>
                <a:gridCol w="726621">
                  <a:extLst>
                    <a:ext uri="{9D8B030D-6E8A-4147-A177-3AD203B41FA5}">
                      <a16:colId xmlns:a16="http://schemas.microsoft.com/office/drawing/2014/main" val="20002"/>
                    </a:ext>
                  </a:extLst>
                </a:gridCol>
                <a:gridCol w="823504">
                  <a:extLst>
                    <a:ext uri="{9D8B030D-6E8A-4147-A177-3AD203B41FA5}">
                      <a16:colId xmlns:a16="http://schemas.microsoft.com/office/drawing/2014/main" val="20003"/>
                    </a:ext>
                  </a:extLst>
                </a:gridCol>
                <a:gridCol w="1065711">
                  <a:extLst>
                    <a:ext uri="{9D8B030D-6E8A-4147-A177-3AD203B41FA5}">
                      <a16:colId xmlns:a16="http://schemas.microsoft.com/office/drawing/2014/main" val="20004"/>
                    </a:ext>
                  </a:extLst>
                </a:gridCol>
              </a:tblGrid>
              <a:tr h="402336">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PM2.5</a:t>
                      </a:r>
                    </a:p>
                  </a:txBody>
                  <a:tcPr>
                    <a:solidFill>
                      <a:srgbClr val="002060"/>
                    </a:solidFill>
                  </a:tcPr>
                </a:tc>
                <a:tc>
                  <a:txBody>
                    <a:bodyPr/>
                    <a:lstStyle/>
                    <a:p>
                      <a:pPr algn="ctr"/>
                      <a:r>
                        <a:rPr sz="1000" b="1" i="0">
                          <a:solidFill>
                            <a:srgbClr val="FFFFFF"/>
                          </a:solidFill>
                          <a:latin typeface="Arial"/>
                        </a:rPr>
                        <a:t>EU AQI</a:t>
                      </a:r>
                    </a:p>
                  </a:txBody>
                  <a:tcPr>
                    <a:solidFill>
                      <a:srgbClr val="002060"/>
                    </a:solidFill>
                  </a:tcPr>
                </a:tc>
                <a:tc>
                  <a:txBody>
                    <a:bodyPr/>
                    <a:lstStyle/>
                    <a:p>
                      <a:pPr algn="ctr"/>
                      <a:r>
                        <a:rPr sz="1000" b="1" i="0">
                          <a:solidFill>
                            <a:srgbClr val="FFFFFF"/>
                          </a:solidFill>
                          <a:latin typeface="Arial"/>
                        </a:rPr>
                        <a:t>UV Index</a:t>
                      </a:r>
                    </a:p>
                  </a:txBody>
                  <a:tcPr>
                    <a:solidFill>
                      <a:srgbClr val="002060"/>
                    </a:solidFill>
                  </a:tcPr>
                </a:tc>
                <a:tc>
                  <a:txBody>
                    <a:bodyPr/>
                    <a:lstStyle/>
                    <a:p>
                      <a:pPr algn="ctr"/>
                      <a:r>
                        <a:rPr sz="1000" b="1" i="0">
                          <a:solidFill>
                            <a:srgbClr val="FFFFFF"/>
                          </a:solidFill>
                          <a:latin typeface="Arial"/>
                        </a:rPr>
                        <a:t>Risk</a:t>
                      </a:r>
                    </a:p>
                  </a:txBody>
                  <a:tcPr>
                    <a:solidFill>
                      <a:srgbClr val="002060"/>
                    </a:solidFill>
                  </a:tcPr>
                </a:tc>
                <a:extLst>
                  <a:ext uri="{0D108BD9-81ED-4DB2-BD59-A6C34878D82A}">
                    <a16:rowId xmlns:a16="http://schemas.microsoft.com/office/drawing/2014/main" val="10000"/>
                  </a:ext>
                </a:extLst>
              </a:tr>
              <a:tr h="402336">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402336">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402336">
                <a:tc>
                  <a:txBody>
                    <a:bodyPr/>
                    <a:lstStyle/>
                    <a:p>
                      <a:pPr algn="ctr"/>
                      <a:r>
                        <a:rPr sz="1000" b="0" i="0">
                          <a:solidFill>
                            <a:srgbClr val="262626"/>
                          </a:solidFill>
                          <a:latin typeface="Arial"/>
                        </a:rPr>
                        <a:t>2021</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402336">
                <a:tc>
                  <a:txBody>
                    <a:bodyPr/>
                    <a:lstStyle/>
                    <a:p>
                      <a:pPr algn="ctr"/>
                      <a:r>
                        <a:rPr sz="1000" b="0" i="0">
                          <a:solidFill>
                            <a:srgbClr val="262626"/>
                          </a:solidFill>
                          <a:latin typeface="Arial"/>
                        </a:rPr>
                        <a:t>2023</a:t>
                      </a:r>
                    </a:p>
                  </a:txBody>
                  <a:tcPr>
                    <a:solidFill>
                      <a:srgbClr val="F2F2F2"/>
                    </a:solidFill>
                  </a:tcPr>
                </a:tc>
                <a:tc>
                  <a:txBody>
                    <a:bodyPr/>
                    <a:lstStyle/>
                    <a:p>
                      <a:pPr algn="ctr"/>
                      <a:r>
                        <a:rPr sz="1000" b="0" i="0">
                          <a:solidFill>
                            <a:srgbClr val="262626"/>
                          </a:solidFill>
                          <a:latin typeface="Arial"/>
                        </a:rPr>
                        <a:t>15.4</a:t>
                      </a:r>
                    </a:p>
                  </a:txBody>
                  <a:tcPr>
                    <a:solidFill>
                      <a:srgbClr val="F2F2F2"/>
                    </a:solidFill>
                  </a:tcPr>
                </a:tc>
                <a:tc>
                  <a:txBody>
                    <a:bodyPr/>
                    <a:lstStyle/>
                    <a:p>
                      <a:pPr algn="ctr"/>
                      <a:r>
                        <a:rPr sz="1000" b="0" i="0">
                          <a:solidFill>
                            <a:srgbClr val="262626"/>
                          </a:solidFill>
                          <a:latin typeface="Arial"/>
                        </a:rPr>
                        <a:t>46</a:t>
                      </a:r>
                    </a:p>
                  </a:txBody>
                  <a:tcPr>
                    <a:solidFill>
                      <a:srgbClr val="F2F2F2"/>
                    </a:solidFill>
                  </a:tcPr>
                </a:tc>
                <a:tc>
                  <a:txBody>
                    <a:bodyPr/>
                    <a:lstStyle/>
                    <a:p>
                      <a:pPr algn="ctr"/>
                      <a:r>
                        <a:rPr sz="1000" b="0" i="0">
                          <a:solidFill>
                            <a:srgbClr val="262626"/>
                          </a:solidFill>
                          <a:latin typeface="Arial"/>
                        </a:rPr>
                        <a:t>1.7</a:t>
                      </a:r>
                    </a:p>
                  </a:txBody>
                  <a:tcPr>
                    <a:solidFill>
                      <a:srgbClr val="F2F2F2"/>
                    </a:solidFill>
                  </a:tcPr>
                </a:tc>
                <a:tc>
                  <a:txBody>
                    <a:bodyPr/>
                    <a:lstStyle/>
                    <a:p>
                      <a:pPr algn="ctr"/>
                      <a:r>
                        <a:rPr sz="1000" b="0" i="0">
                          <a:solidFill>
                            <a:srgbClr val="262626"/>
                          </a:solidFill>
                          <a:latin typeface="Arial"/>
                        </a:rPr>
                        <a:t>Moderate</a:t>
                      </a:r>
                    </a:p>
                  </a:txBody>
                  <a:tcPr>
                    <a:solidFill>
                      <a:srgbClr val="F2F2F2"/>
                    </a:solidFill>
                  </a:tcPr>
                </a:tc>
                <a:extLst>
                  <a:ext uri="{0D108BD9-81ED-4DB2-BD59-A6C34878D82A}">
                    <a16:rowId xmlns:a16="http://schemas.microsoft.com/office/drawing/2014/main" val="10004"/>
                  </a:ext>
                </a:extLst>
              </a:tr>
              <a:tr h="402336">
                <a:tc>
                  <a:txBody>
                    <a:bodyPr/>
                    <a:lstStyle/>
                    <a:p>
                      <a:pPr algn="ctr"/>
                      <a:r>
                        <a:rPr sz="1000" b="0" i="0">
                          <a:solidFill>
                            <a:srgbClr val="262626"/>
                          </a:solidFill>
                          <a:latin typeface="Arial"/>
                        </a:rPr>
                        <a:t>2024</a:t>
                      </a:r>
                    </a:p>
                  </a:txBody>
                  <a:tcPr>
                    <a:solidFill>
                      <a:srgbClr val="FFFFFF"/>
                    </a:solidFill>
                  </a:tcPr>
                </a:tc>
                <a:tc>
                  <a:txBody>
                    <a:bodyPr/>
                    <a:lstStyle/>
                    <a:p>
                      <a:pPr algn="ctr"/>
                      <a:r>
                        <a:rPr sz="1000" b="0" i="0">
                          <a:solidFill>
                            <a:srgbClr val="262626"/>
                          </a:solidFill>
                          <a:latin typeface="Arial"/>
                        </a:rPr>
                        <a:t>12.5</a:t>
                      </a:r>
                    </a:p>
                  </a:txBody>
                  <a:tcPr>
                    <a:solidFill>
                      <a:srgbClr val="FFFFFF"/>
                    </a:solidFill>
                  </a:tcPr>
                </a:tc>
                <a:tc>
                  <a:txBody>
                    <a:bodyPr/>
                    <a:lstStyle/>
                    <a:p>
                      <a:pPr algn="ctr"/>
                      <a:r>
                        <a:rPr sz="1000" b="0" i="0">
                          <a:solidFill>
                            <a:srgbClr val="262626"/>
                          </a:solidFill>
                          <a:latin typeface="Arial"/>
                        </a:rPr>
                        <a:t>31</a:t>
                      </a:r>
                    </a:p>
                  </a:txBody>
                  <a:tcPr>
                    <a:solidFill>
                      <a:srgbClr val="FFFFFF"/>
                    </a:solidFill>
                  </a:tcPr>
                </a:tc>
                <a:tc>
                  <a:txBody>
                    <a:bodyPr/>
                    <a:lstStyle/>
                    <a:p>
                      <a:pPr algn="ctr"/>
                      <a:r>
                        <a:rPr sz="1000" b="0" i="0">
                          <a:solidFill>
                            <a:srgbClr val="262626"/>
                          </a:solidFill>
                          <a:latin typeface="Arial"/>
                        </a:rPr>
                        <a:t>1.3</a:t>
                      </a:r>
                    </a:p>
                  </a:txBody>
                  <a:tcPr>
                    <a:solidFill>
                      <a:srgbClr val="FFFFFF"/>
                    </a:solidFill>
                  </a:tcPr>
                </a:tc>
                <a:tc>
                  <a:txBody>
                    <a:bodyPr/>
                    <a:lstStyle/>
                    <a:p>
                      <a:pPr algn="ctr"/>
                      <a:r>
                        <a:rPr sz="1000" b="0" i="0">
                          <a:solidFill>
                            <a:srgbClr val="262626"/>
                          </a:solidFill>
                          <a:latin typeface="Arial"/>
                        </a:rPr>
                        <a:t>Fair</a:t>
                      </a:r>
                    </a:p>
                  </a:txBody>
                  <a:tcPr>
                    <a:solidFill>
                      <a:srgbClr val="FFFFFF"/>
                    </a:solidFill>
                  </a:tcPr>
                </a:tc>
                <a:extLst>
                  <a:ext uri="{0D108BD9-81ED-4DB2-BD59-A6C34878D82A}">
                    <a16:rowId xmlns:a16="http://schemas.microsoft.com/office/drawing/2014/main" val="10005"/>
                  </a:ext>
                </a:extLst>
              </a:tr>
            </a:tbl>
          </a:graphicData>
        </a:graphic>
      </p:graphicFrame>
      <p:sp>
        <p:nvSpPr>
          <p:cNvPr id="12" name="TextBox 11"/>
          <p:cNvSpPr txBox="1"/>
          <p:nvPr/>
        </p:nvSpPr>
        <p:spPr>
          <a:xfrm>
            <a:off x="5212080" y="1088136"/>
            <a:ext cx="3931920" cy="91440"/>
          </a:xfrm>
          <a:prstGeom prst="rect">
            <a:avLst/>
          </a:prstGeom>
          <a:noFill/>
        </p:spPr>
        <p:txBody>
          <a:bodyPr wrap="square">
            <a:spAutoFit/>
          </a:bodyPr>
          <a:lstStyle/>
          <a:p>
            <a:pPr algn="l"/>
            <a:r>
              <a:rPr sz="950" b="1" i="0">
                <a:solidFill>
                  <a:srgbClr val="002060"/>
                </a:solidFill>
                <a:latin typeface="Arial"/>
              </a:rPr>
              <a:t>AIR QUALITY (Open-Meteo archive)</a:t>
            </a:r>
          </a:p>
        </p:txBody>
      </p:sp>
      <p:sp>
        <p:nvSpPr>
          <p:cNvPr id="13" name="Rectangle 12"/>
          <p:cNvSpPr/>
          <p:nvPr/>
        </p:nvSpPr>
        <p:spPr>
          <a:xfrm>
            <a:off x="274320" y="3813048"/>
            <a:ext cx="11640312"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320040" y="3831336"/>
            <a:ext cx="11155680" cy="274320"/>
          </a:xfrm>
          <a:prstGeom prst="rect">
            <a:avLst/>
          </a:prstGeom>
          <a:noFill/>
        </p:spPr>
        <p:txBody>
          <a:bodyPr wrap="square">
            <a:spAutoFit/>
          </a:bodyPr>
          <a:lstStyle/>
          <a:p>
            <a:pPr algn="l"/>
            <a:r>
              <a:rPr sz="1200" b="1" i="0">
                <a:solidFill>
                  <a:srgbClr val="FFFFFF"/>
                </a:solidFill>
                <a:latin typeface="Arial"/>
              </a:rPr>
              <a:t>HEALTH &amp; WATER QUALITY RISK FACTORS</a:t>
            </a:r>
          </a:p>
        </p:txBody>
      </p:sp>
      <p:sp>
        <p:nvSpPr>
          <p:cNvPr id="15" name="TextBox 14"/>
          <p:cNvSpPr txBox="1"/>
          <p:nvPr/>
        </p:nvSpPr>
        <p:spPr>
          <a:xfrm>
            <a:off x="365760" y="4197096"/>
            <a:ext cx="11430000" cy="619506"/>
          </a:xfrm>
          <a:prstGeom prst="rect">
            <a:avLst/>
          </a:prstGeom>
          <a:noFill/>
        </p:spPr>
        <p:txBody>
          <a:bodyPr wrap="square">
            <a:spAutoFit/>
          </a:bodyPr>
          <a:lstStyle/>
          <a:p>
            <a:pPr algn="l"/>
            <a:r>
              <a:rPr sz="1000" b="0" i="0">
                <a:solidFill>
                  <a:srgbClr val="262626"/>
                </a:solidFill>
                <a:latin typeface="Arial"/>
              </a:rPr>
              <a:t>• Water Quality: [PLACEHOLDER: Historical water quality data for Edmonton — e.g. bacterial counts, EU Bathing Water Directive status, known algae / pollution events. Check local environmental agency reports for May race window.]</a:t>
            </a:r>
          </a:p>
        </p:txBody>
      </p:sp>
      <p:sp>
        <p:nvSpPr>
          <p:cNvPr id="16" name="TextBox 15"/>
          <p:cNvSpPr txBox="1"/>
          <p:nvPr/>
        </p:nvSpPr>
        <p:spPr>
          <a:xfrm>
            <a:off x="365760" y="4816602"/>
            <a:ext cx="11430000" cy="619506"/>
          </a:xfrm>
          <a:prstGeom prst="rect">
            <a:avLst/>
          </a:prstGeom>
          <a:noFill/>
        </p:spPr>
        <p:txBody>
          <a:bodyPr wrap="square">
            <a:spAutoFit/>
          </a:bodyPr>
          <a:lstStyle/>
          <a:p>
            <a:pPr algn="l"/>
            <a:r>
              <a:rPr sz="1000" b="0" i="0">
                <a:solidFill>
                  <a:srgbClr val="262626"/>
                </a:solidFill>
                <a:latin typeface="Arial"/>
              </a:rPr>
              <a:t>• Athlete Health Incidents: [PLACEHOLDER: Any known GI illness, respiratory, or heat-related incidents at this or comparable venues. E.g. Sunderland 2023 — reported GI illness post-swim for multiple athletes.]</a:t>
            </a:r>
          </a:p>
        </p:txBody>
      </p:sp>
      <p:sp>
        <p:nvSpPr>
          <p:cNvPr id="17" name="TextBox 16"/>
          <p:cNvSpPr txBox="1"/>
          <p:nvPr/>
        </p:nvSpPr>
        <p:spPr>
          <a:xfrm>
            <a:off x="365760" y="5436108"/>
            <a:ext cx="11430000" cy="619506"/>
          </a:xfrm>
          <a:prstGeom prst="rect">
            <a:avLst/>
          </a:prstGeom>
          <a:noFill/>
        </p:spPr>
        <p:txBody>
          <a:bodyPr wrap="square">
            <a:spAutoFit/>
          </a:bodyPr>
          <a:lstStyle/>
          <a:p>
            <a:pPr algn="l"/>
            <a:r>
              <a:rPr sz="1000" b="0" i="0">
                <a:solidFill>
                  <a:srgbClr val="262626"/>
                </a:solidFill>
                <a:latin typeface="Arial"/>
              </a:rPr>
              <a:t>• Water Temperature: [PLACEHOLDER: Historical open-water temperature for Edmonton in May (not available from Open-Meteo; check Copernicus Marine / NOAA or WT historical results).]</a:t>
            </a:r>
          </a:p>
        </p:txBody>
      </p:sp>
      <p:sp>
        <p:nvSpPr>
          <p:cNvPr id="18" name="TextBox 17"/>
          <p:cNvSpPr txBox="1"/>
          <p:nvPr/>
        </p:nvSpPr>
        <p:spPr>
          <a:xfrm>
            <a:off x="365760" y="6055614"/>
            <a:ext cx="11430000" cy="619506"/>
          </a:xfrm>
          <a:prstGeom prst="rect">
            <a:avLst/>
          </a:prstGeom>
          <a:noFill/>
        </p:spPr>
        <p:txBody>
          <a:bodyPr wrap="square">
            <a:spAutoFit/>
          </a:bodyPr>
          <a:lstStyle/>
          <a:p>
            <a:pPr algn="l"/>
            <a:r>
              <a:rPr sz="1000" b="0" i="0">
                <a:solidFill>
                  <a:srgbClr val="262626"/>
                </a:solidFill>
                <a:latin typeface="Arial"/>
              </a:rPr>
              <a:t>• Heat / Humidity Risk: Auto-derived from above table — flag if humidity &gt;70% or air temp &gt;25°C at race time.</a:t>
            </a:r>
          </a:p>
        </p:txBody>
      </p:sp>
      <p:sp>
        <p:nvSpPr>
          <p:cNvPr id="19" name="TextBox 18"/>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Weather and AQ data: Open-Meteo historical archive (archive-api.open-meteo.com). EU AQI: Good ≤20, Fair ≤40, Moderate ≤60, Poor ≤80, Very Poor &gt;80.</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Who to Watch — Edmonton Race Week</a:t>
            </a:r>
          </a:p>
        </p:txBody>
      </p:sp>
      <p:sp>
        <p:nvSpPr>
          <p:cNvPr id="4" name="Rectangle 3"/>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5" name="Picture 4"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6" name="Rectangle 5"/>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Rectangle 6"/>
          <p:cNvSpPr/>
          <p:nvPr/>
        </p:nvSpPr>
        <p:spPr>
          <a:xfrm>
            <a:off x="2743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65760" y="1234440"/>
            <a:ext cx="5486400" cy="292608"/>
          </a:xfrm>
          <a:prstGeom prst="rect">
            <a:avLst/>
          </a:prstGeom>
          <a:noFill/>
        </p:spPr>
        <p:txBody>
          <a:bodyPr wrap="square">
            <a:spAutoFit/>
          </a:bodyPr>
          <a:lstStyle/>
          <a:p>
            <a:pPr algn="ctr"/>
            <a:r>
              <a:rPr sz="1400" b="1" i="0">
                <a:solidFill>
                  <a:srgbClr val="FFFFFF"/>
                </a:solidFill>
                <a:latin typeface="Arial"/>
              </a:rPr>
              <a:t>ELITE MEN</a:t>
            </a:r>
          </a:p>
        </p:txBody>
      </p:sp>
      <p:sp>
        <p:nvSpPr>
          <p:cNvPr id="9" name="Rectangle 8"/>
          <p:cNvSpPr/>
          <p:nvPr/>
        </p:nvSpPr>
        <p:spPr>
          <a:xfrm>
            <a:off x="2743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365760" y="1664208"/>
            <a:ext cx="5486400" cy="237744"/>
          </a:xfrm>
          <a:prstGeom prst="rect">
            <a:avLst/>
          </a:prstGeom>
          <a:noFill/>
        </p:spPr>
        <p:txBody>
          <a:bodyPr wrap="square">
            <a:spAutoFit/>
          </a:bodyPr>
          <a:lstStyle/>
          <a:p>
            <a:pPr algn="l"/>
            <a:r>
              <a:rPr sz="1100" b="1" i="0">
                <a:solidFill>
                  <a:srgbClr val="FFFFFF"/>
                </a:solidFill>
                <a:latin typeface="Arial"/>
              </a:rPr>
              <a:t>Top 10 by World Ranking</a:t>
            </a:r>
          </a:p>
        </p:txBody>
      </p:sp>
      <p:graphicFrame>
        <p:nvGraphicFramePr>
          <p:cNvPr id="11" name="Table 10"/>
          <p:cNvGraphicFramePr>
            <a:graphicFrameLocks noGrp="1"/>
          </p:cNvGraphicFramePr>
          <p:nvPr/>
        </p:nvGraphicFramePr>
        <p:xfrm>
          <a:off x="274320" y="1965960"/>
          <a:ext cx="5486400" cy="2907792"/>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64344">
                <a:tc>
                  <a:txBody>
                    <a:bodyPr/>
                    <a:lstStyle/>
                    <a:p>
                      <a:pPr algn="ctr"/>
                      <a:r>
                        <a:rPr sz="1000" b="1" i="0">
                          <a:solidFill>
                            <a:srgbClr val="FFFFFF"/>
                          </a:solidFill>
                          <a:latin typeface="Arial"/>
                        </a:rPr>
                        <a:t>Rank</a:t>
                      </a:r>
                    </a:p>
                  </a:txBody>
                  <a:tcPr>
                    <a:solidFill>
                      <a:srgbClr val="002060"/>
                    </a:solidFill>
                  </a:tcPr>
                </a:tc>
                <a:tc>
                  <a:txBody>
                    <a:bodyPr/>
                    <a:lstStyle/>
                    <a:p>
                      <a:pPr algn="ctr"/>
                      <a:r>
                        <a:rPr sz="1000" b="1" i="0">
                          <a:solidFill>
                            <a:srgbClr val="FFFFFF"/>
                          </a:solidFill>
                          <a:latin typeface="Arial"/>
                        </a:rPr>
                        <a:t>Athlete</a:t>
                      </a:r>
                    </a:p>
                  </a:txBody>
                  <a:tcPr>
                    <a:solidFill>
                      <a:srgbClr val="002060"/>
                    </a:solidFill>
                  </a:tcPr>
                </a:tc>
                <a:tc>
                  <a:txBody>
                    <a:bodyPr/>
                    <a:lstStyle/>
                    <a:p>
                      <a:pPr algn="ctr"/>
                      <a:r>
                        <a:rPr sz="1000" b="1" i="0">
                          <a:solidFill>
                            <a:srgbClr val="FFFFFF"/>
                          </a:solidFill>
                          <a:latin typeface="Arial"/>
                        </a:rPr>
                        <a:t>Points</a:t>
                      </a:r>
                    </a:p>
                  </a:txBody>
                  <a:tcPr>
                    <a:solidFill>
                      <a:srgbClr val="002060"/>
                    </a:solidFill>
                  </a:tcPr>
                </a:tc>
                <a:extLst>
                  <a:ext uri="{0D108BD9-81ED-4DB2-BD59-A6C34878D82A}">
                    <a16:rowId xmlns:a16="http://schemas.microsoft.com/office/drawing/2014/main" val="10000"/>
                  </a:ext>
                </a:extLst>
              </a:tr>
              <a:tr h="264344">
                <a:tc>
                  <a:txBody>
                    <a:bodyPr/>
                    <a:lstStyle/>
                    <a:p>
                      <a:pPr algn="ctr"/>
                      <a:r>
                        <a:rPr sz="1000" b="1" i="0">
                          <a:solidFill>
                            <a:srgbClr val="262626"/>
                          </a:solidFill>
                          <a:latin typeface="Arial"/>
                        </a:rPr>
                        <a:t>1</a:t>
                      </a:r>
                    </a:p>
                  </a:txBody>
                  <a:tcPr>
                    <a:solidFill>
                      <a:srgbClr val="FFFFFF"/>
                    </a:solidFill>
                  </a:tcPr>
                </a:tc>
                <a:tc>
                  <a:txBody>
                    <a:bodyPr/>
                    <a:lstStyle/>
                    <a:p>
                      <a:pPr algn="l"/>
                      <a:r>
                        <a:rPr sz="1000" b="0" i="0">
                          <a:solidFill>
                            <a:srgbClr val="262626"/>
                          </a:solidFill>
                          <a:latin typeface="Arial"/>
                        </a:rPr>
                        <a:t>Vasco Vilaca</a:t>
                      </a:r>
                    </a:p>
                  </a:txBody>
                  <a:tcPr>
                    <a:solidFill>
                      <a:srgbClr val="FFFFFF"/>
                    </a:solidFill>
                  </a:tcPr>
                </a:tc>
                <a:tc>
                  <a:txBody>
                    <a:bodyPr/>
                    <a:lstStyle/>
                    <a:p>
                      <a:pPr algn="ctr"/>
                      <a:r>
                        <a:rPr sz="1000" b="0" i="0">
                          <a:solidFill>
                            <a:srgbClr val="262626"/>
                          </a:solidFill>
                          <a:latin typeface="Arial"/>
                        </a:rPr>
                        <a:t>6,866</a:t>
                      </a:r>
                    </a:p>
                  </a:txBody>
                  <a:tcPr>
                    <a:solidFill>
                      <a:srgbClr val="FFFFFF"/>
                    </a:solidFill>
                  </a:tcPr>
                </a:tc>
                <a:extLst>
                  <a:ext uri="{0D108BD9-81ED-4DB2-BD59-A6C34878D82A}">
                    <a16:rowId xmlns:a16="http://schemas.microsoft.com/office/drawing/2014/main" val="10001"/>
                  </a:ext>
                </a:extLst>
              </a:tr>
              <a:tr h="264344">
                <a:tc>
                  <a:txBody>
                    <a:bodyPr/>
                    <a:lstStyle/>
                    <a:p>
                      <a:pPr algn="ctr"/>
                      <a:r>
                        <a:rPr sz="1000" b="1" i="0">
                          <a:solidFill>
                            <a:srgbClr val="262626"/>
                          </a:solidFill>
                          <a:latin typeface="Arial"/>
                        </a:rPr>
                        <a:t>2</a:t>
                      </a:r>
                    </a:p>
                  </a:txBody>
                  <a:tcPr>
                    <a:solidFill>
                      <a:srgbClr val="F2F2F2"/>
                    </a:solidFill>
                  </a:tcPr>
                </a:tc>
                <a:tc>
                  <a:txBody>
                    <a:bodyPr/>
                    <a:lstStyle/>
                    <a:p>
                      <a:pPr algn="l"/>
                      <a:r>
                        <a:rPr sz="1000" b="0" i="0">
                          <a:solidFill>
                            <a:srgbClr val="262626"/>
                          </a:solidFill>
                          <a:latin typeface="Arial"/>
                        </a:rPr>
                        <a:t>Miguel Hidalgo</a:t>
                      </a:r>
                    </a:p>
                  </a:txBody>
                  <a:tcPr>
                    <a:solidFill>
                      <a:srgbClr val="F2F2F2"/>
                    </a:solidFill>
                  </a:tcPr>
                </a:tc>
                <a:tc>
                  <a:txBody>
                    <a:bodyPr/>
                    <a:lstStyle/>
                    <a:p>
                      <a:pPr algn="ctr"/>
                      <a:r>
                        <a:rPr sz="1000" b="0" i="0">
                          <a:solidFill>
                            <a:srgbClr val="262626"/>
                          </a:solidFill>
                          <a:latin typeface="Arial"/>
                        </a:rPr>
                        <a:t>6,808</a:t>
                      </a:r>
                    </a:p>
                  </a:txBody>
                  <a:tcPr>
                    <a:solidFill>
                      <a:srgbClr val="F2F2F2"/>
                    </a:solidFill>
                  </a:tcPr>
                </a:tc>
                <a:extLst>
                  <a:ext uri="{0D108BD9-81ED-4DB2-BD59-A6C34878D82A}">
                    <a16:rowId xmlns:a16="http://schemas.microsoft.com/office/drawing/2014/main" val="10002"/>
                  </a:ext>
                </a:extLst>
              </a:tr>
              <a:tr h="264344">
                <a:tc>
                  <a:txBody>
                    <a:bodyPr/>
                    <a:lstStyle/>
                    <a:p>
                      <a:pPr algn="ctr"/>
                      <a:r>
                        <a:rPr sz="1000" b="1" i="0">
                          <a:solidFill>
                            <a:srgbClr val="262626"/>
                          </a:solidFill>
                          <a:latin typeface="Arial"/>
                        </a:rPr>
                        <a:t>3</a:t>
                      </a:r>
                    </a:p>
                  </a:txBody>
                  <a:tcPr>
                    <a:solidFill>
                      <a:srgbClr val="FFFFFF"/>
                    </a:solidFill>
                  </a:tcPr>
                </a:tc>
                <a:tc>
                  <a:txBody>
                    <a:bodyPr/>
                    <a:lstStyle/>
                    <a:p>
                      <a:pPr algn="l"/>
                      <a:r>
                        <a:rPr sz="1000" b="0" i="0">
                          <a:solidFill>
                            <a:srgbClr val="262626"/>
                          </a:solidFill>
                          <a:latin typeface="Arial"/>
                        </a:rPr>
                        <a:t>Matthew Hauser</a:t>
                      </a:r>
                    </a:p>
                  </a:txBody>
                  <a:tcPr>
                    <a:solidFill>
                      <a:srgbClr val="FFFFFF"/>
                    </a:solidFill>
                  </a:tcPr>
                </a:tc>
                <a:tc>
                  <a:txBody>
                    <a:bodyPr/>
                    <a:lstStyle/>
                    <a:p>
                      <a:pPr algn="ctr"/>
                      <a:r>
                        <a:rPr sz="1000" b="0" i="0">
                          <a:solidFill>
                            <a:srgbClr val="262626"/>
                          </a:solidFill>
                          <a:latin typeface="Arial"/>
                        </a:rPr>
                        <a:t>6,424</a:t>
                      </a:r>
                    </a:p>
                  </a:txBody>
                  <a:tcPr>
                    <a:solidFill>
                      <a:srgbClr val="FFFFFF"/>
                    </a:solidFill>
                  </a:tcPr>
                </a:tc>
                <a:extLst>
                  <a:ext uri="{0D108BD9-81ED-4DB2-BD59-A6C34878D82A}">
                    <a16:rowId xmlns:a16="http://schemas.microsoft.com/office/drawing/2014/main" val="10003"/>
                  </a:ext>
                </a:extLst>
              </a:tr>
              <a:tr h="264344">
                <a:tc>
                  <a:txBody>
                    <a:bodyPr/>
                    <a:lstStyle/>
                    <a:p>
                      <a:pPr algn="ctr"/>
                      <a:r>
                        <a:rPr sz="1000" b="1" i="0">
                          <a:solidFill>
                            <a:srgbClr val="262626"/>
                          </a:solidFill>
                          <a:latin typeface="Arial"/>
                        </a:rPr>
                        <a:t>4</a:t>
                      </a:r>
                    </a:p>
                  </a:txBody>
                  <a:tcPr>
                    <a:solidFill>
                      <a:srgbClr val="F2F2F2"/>
                    </a:solidFill>
                  </a:tcPr>
                </a:tc>
                <a:tc>
                  <a:txBody>
                    <a:bodyPr/>
                    <a:lstStyle/>
                    <a:p>
                      <a:pPr algn="l"/>
                      <a:r>
                        <a:rPr sz="1000" b="0" i="0">
                          <a:solidFill>
                            <a:srgbClr val="262626"/>
                          </a:solidFill>
                          <a:latin typeface="Arial"/>
                        </a:rPr>
                        <a:t>Henry Graf</a:t>
                      </a:r>
                    </a:p>
                  </a:txBody>
                  <a:tcPr>
                    <a:solidFill>
                      <a:srgbClr val="F2F2F2"/>
                    </a:solidFill>
                  </a:tcPr>
                </a:tc>
                <a:tc>
                  <a:txBody>
                    <a:bodyPr/>
                    <a:lstStyle/>
                    <a:p>
                      <a:pPr algn="ctr"/>
                      <a:r>
                        <a:rPr sz="1000" b="0" i="0">
                          <a:solidFill>
                            <a:srgbClr val="262626"/>
                          </a:solidFill>
                          <a:latin typeface="Arial"/>
                        </a:rPr>
                        <a:t>6,009</a:t>
                      </a:r>
                    </a:p>
                  </a:txBody>
                  <a:tcPr>
                    <a:solidFill>
                      <a:srgbClr val="F2F2F2"/>
                    </a:solidFill>
                  </a:tcPr>
                </a:tc>
                <a:extLst>
                  <a:ext uri="{0D108BD9-81ED-4DB2-BD59-A6C34878D82A}">
                    <a16:rowId xmlns:a16="http://schemas.microsoft.com/office/drawing/2014/main" val="10004"/>
                  </a:ext>
                </a:extLst>
              </a:tr>
              <a:tr h="264344">
                <a:tc>
                  <a:txBody>
                    <a:bodyPr/>
                    <a:lstStyle/>
                    <a:p>
                      <a:pPr algn="ctr"/>
                      <a:r>
                        <a:rPr sz="1000" b="1" i="0">
                          <a:solidFill>
                            <a:srgbClr val="262626"/>
                          </a:solidFill>
                          <a:latin typeface="Arial"/>
                        </a:rPr>
                        <a:t>5</a:t>
                      </a:r>
                    </a:p>
                  </a:txBody>
                  <a:tcPr>
                    <a:solidFill>
                      <a:srgbClr val="FFFFFF"/>
                    </a:solidFill>
                  </a:tcPr>
                </a:tc>
                <a:tc>
                  <a:txBody>
                    <a:bodyPr/>
                    <a:lstStyle/>
                    <a:p>
                      <a:pPr algn="l"/>
                      <a:r>
                        <a:rPr sz="1000" b="0" i="0">
                          <a:solidFill>
                            <a:srgbClr val="262626"/>
                          </a:solidFill>
                          <a:latin typeface="Arial"/>
                        </a:rPr>
                        <a:t>David Cantero Del Campo</a:t>
                      </a:r>
                    </a:p>
                  </a:txBody>
                  <a:tcPr>
                    <a:solidFill>
                      <a:srgbClr val="FFFFFF"/>
                    </a:solidFill>
                  </a:tcPr>
                </a:tc>
                <a:tc>
                  <a:txBody>
                    <a:bodyPr/>
                    <a:lstStyle/>
                    <a:p>
                      <a:pPr algn="ctr"/>
                      <a:r>
                        <a:rPr sz="1000" b="0" i="0">
                          <a:solidFill>
                            <a:srgbClr val="262626"/>
                          </a:solidFill>
                          <a:latin typeface="Arial"/>
                        </a:rPr>
                        <a:t>5,092</a:t>
                      </a:r>
                    </a:p>
                  </a:txBody>
                  <a:tcPr>
                    <a:solidFill>
                      <a:srgbClr val="FFFFFF"/>
                    </a:solidFill>
                  </a:tcPr>
                </a:tc>
                <a:extLst>
                  <a:ext uri="{0D108BD9-81ED-4DB2-BD59-A6C34878D82A}">
                    <a16:rowId xmlns:a16="http://schemas.microsoft.com/office/drawing/2014/main" val="10005"/>
                  </a:ext>
                </a:extLst>
              </a:tr>
              <a:tr h="264344">
                <a:tc>
                  <a:txBody>
                    <a:bodyPr/>
                    <a:lstStyle/>
                    <a:p>
                      <a:pPr algn="ctr"/>
                      <a:r>
                        <a:rPr sz="1000" b="1" i="0">
                          <a:solidFill>
                            <a:srgbClr val="262626"/>
                          </a:solidFill>
                          <a:latin typeface="Arial"/>
                        </a:rPr>
                        <a:t>6</a:t>
                      </a:r>
                    </a:p>
                  </a:txBody>
                  <a:tcPr>
                    <a:solidFill>
                      <a:srgbClr val="F2F2F2"/>
                    </a:solidFill>
                  </a:tcPr>
                </a:tc>
                <a:tc>
                  <a:txBody>
                    <a:bodyPr/>
                    <a:lstStyle/>
                    <a:p>
                      <a:pPr algn="l"/>
                      <a:r>
                        <a:rPr sz="1000" b="0" i="0">
                          <a:solidFill>
                            <a:srgbClr val="262626"/>
                          </a:solidFill>
                          <a:latin typeface="Arial"/>
                        </a:rPr>
                        <a:t>Csongor Lehmann</a:t>
                      </a:r>
                    </a:p>
                  </a:txBody>
                  <a:tcPr>
                    <a:solidFill>
                      <a:srgbClr val="F2F2F2"/>
                    </a:solidFill>
                  </a:tcPr>
                </a:tc>
                <a:tc>
                  <a:txBody>
                    <a:bodyPr/>
                    <a:lstStyle/>
                    <a:p>
                      <a:pPr algn="ctr"/>
                      <a:r>
                        <a:rPr sz="1000" b="0" i="0">
                          <a:solidFill>
                            <a:srgbClr val="262626"/>
                          </a:solidFill>
                          <a:latin typeface="Arial"/>
                        </a:rPr>
                        <a:t>4,789</a:t>
                      </a:r>
                    </a:p>
                  </a:txBody>
                  <a:tcPr>
                    <a:solidFill>
                      <a:srgbClr val="F2F2F2"/>
                    </a:solidFill>
                  </a:tcPr>
                </a:tc>
                <a:extLst>
                  <a:ext uri="{0D108BD9-81ED-4DB2-BD59-A6C34878D82A}">
                    <a16:rowId xmlns:a16="http://schemas.microsoft.com/office/drawing/2014/main" val="10006"/>
                  </a:ext>
                </a:extLst>
              </a:tr>
              <a:tr h="264344">
                <a:tc>
                  <a:txBody>
                    <a:bodyPr/>
                    <a:lstStyle/>
                    <a:p>
                      <a:pPr algn="ctr"/>
                      <a:r>
                        <a:rPr sz="1000" b="1" i="0">
                          <a:solidFill>
                            <a:srgbClr val="262626"/>
                          </a:solidFill>
                          <a:latin typeface="Arial"/>
                        </a:rPr>
                        <a:t>7</a:t>
                      </a:r>
                    </a:p>
                  </a:txBody>
                  <a:tcPr>
                    <a:solidFill>
                      <a:srgbClr val="FFFFFF"/>
                    </a:solidFill>
                  </a:tcPr>
                </a:tc>
                <a:tc>
                  <a:txBody>
                    <a:bodyPr/>
                    <a:lstStyle/>
                    <a:p>
                      <a:pPr algn="l"/>
                      <a:r>
                        <a:rPr sz="1000" b="0" i="0">
                          <a:solidFill>
                            <a:srgbClr val="262626"/>
                          </a:solidFill>
                          <a:latin typeface="Arial"/>
                        </a:rPr>
                        <a:t>Luke Willian</a:t>
                      </a:r>
                    </a:p>
                  </a:txBody>
                  <a:tcPr>
                    <a:solidFill>
                      <a:srgbClr val="FFFFFF"/>
                    </a:solidFill>
                  </a:tcPr>
                </a:tc>
                <a:tc>
                  <a:txBody>
                    <a:bodyPr/>
                    <a:lstStyle/>
                    <a:p>
                      <a:pPr algn="ctr"/>
                      <a:r>
                        <a:rPr sz="1000" b="0" i="0">
                          <a:solidFill>
                            <a:srgbClr val="262626"/>
                          </a:solidFill>
                          <a:latin typeface="Arial"/>
                        </a:rPr>
                        <a:t>4,496</a:t>
                      </a:r>
                    </a:p>
                  </a:txBody>
                  <a:tcPr>
                    <a:solidFill>
                      <a:srgbClr val="FFFFFF"/>
                    </a:solidFill>
                  </a:tcPr>
                </a:tc>
                <a:extLst>
                  <a:ext uri="{0D108BD9-81ED-4DB2-BD59-A6C34878D82A}">
                    <a16:rowId xmlns:a16="http://schemas.microsoft.com/office/drawing/2014/main" val="10007"/>
                  </a:ext>
                </a:extLst>
              </a:tr>
              <a:tr h="264344">
                <a:tc>
                  <a:txBody>
                    <a:bodyPr/>
                    <a:lstStyle/>
                    <a:p>
                      <a:pPr algn="ctr"/>
                      <a:r>
                        <a:rPr sz="1000" b="1" i="0">
                          <a:solidFill>
                            <a:srgbClr val="262626"/>
                          </a:solidFill>
                          <a:latin typeface="Arial"/>
                        </a:rPr>
                        <a:t>8</a:t>
                      </a:r>
                    </a:p>
                  </a:txBody>
                  <a:tcPr>
                    <a:solidFill>
                      <a:srgbClr val="F2F2F2"/>
                    </a:solidFill>
                  </a:tcPr>
                </a:tc>
                <a:tc>
                  <a:txBody>
                    <a:bodyPr/>
                    <a:lstStyle/>
                    <a:p>
                      <a:pPr algn="l"/>
                      <a:r>
                        <a:rPr sz="1000" b="0" i="0">
                          <a:solidFill>
                            <a:srgbClr val="262626"/>
                          </a:solidFill>
                          <a:latin typeface="Arial"/>
                        </a:rPr>
                        <a:t>Dorian Coninx</a:t>
                      </a:r>
                    </a:p>
                  </a:txBody>
                  <a:tcPr>
                    <a:solidFill>
                      <a:srgbClr val="F2F2F2"/>
                    </a:solidFill>
                  </a:tcPr>
                </a:tc>
                <a:tc>
                  <a:txBody>
                    <a:bodyPr/>
                    <a:lstStyle/>
                    <a:p>
                      <a:pPr algn="ctr"/>
                      <a:r>
                        <a:rPr sz="1000" b="0" i="0">
                          <a:solidFill>
                            <a:srgbClr val="262626"/>
                          </a:solidFill>
                          <a:latin typeface="Arial"/>
                        </a:rPr>
                        <a:t>4,467</a:t>
                      </a:r>
                    </a:p>
                  </a:txBody>
                  <a:tcPr>
                    <a:solidFill>
                      <a:srgbClr val="F2F2F2"/>
                    </a:solidFill>
                  </a:tcPr>
                </a:tc>
                <a:extLst>
                  <a:ext uri="{0D108BD9-81ED-4DB2-BD59-A6C34878D82A}">
                    <a16:rowId xmlns:a16="http://schemas.microsoft.com/office/drawing/2014/main" val="10008"/>
                  </a:ext>
                </a:extLst>
              </a:tr>
              <a:tr h="264344">
                <a:tc>
                  <a:txBody>
                    <a:bodyPr/>
                    <a:lstStyle/>
                    <a:p>
                      <a:pPr algn="ctr"/>
                      <a:r>
                        <a:rPr sz="1000" b="1" i="0">
                          <a:solidFill>
                            <a:srgbClr val="262626"/>
                          </a:solidFill>
                          <a:latin typeface="Arial"/>
                        </a:rPr>
                        <a:t>9</a:t>
                      </a:r>
                    </a:p>
                  </a:txBody>
                  <a:tcPr>
                    <a:solidFill>
                      <a:srgbClr val="FFFFFF"/>
                    </a:solidFill>
                  </a:tcPr>
                </a:tc>
                <a:tc>
                  <a:txBody>
                    <a:bodyPr/>
                    <a:lstStyle/>
                    <a:p>
                      <a:pPr algn="l"/>
                      <a:r>
                        <a:rPr sz="1000" b="0" i="0">
                          <a:solidFill>
                            <a:srgbClr val="262626"/>
                          </a:solidFill>
                          <a:latin typeface="Arial"/>
                        </a:rPr>
                        <a:t>Ricardo Batista</a:t>
                      </a:r>
                    </a:p>
                  </a:txBody>
                  <a:tcPr>
                    <a:solidFill>
                      <a:srgbClr val="FFFFFF"/>
                    </a:solidFill>
                  </a:tcPr>
                </a:tc>
                <a:tc>
                  <a:txBody>
                    <a:bodyPr/>
                    <a:lstStyle/>
                    <a:p>
                      <a:pPr algn="ctr"/>
                      <a:r>
                        <a:rPr sz="1000" b="0" i="0">
                          <a:solidFill>
                            <a:srgbClr val="262626"/>
                          </a:solidFill>
                          <a:latin typeface="Arial"/>
                        </a:rPr>
                        <a:t>4,280</a:t>
                      </a:r>
                    </a:p>
                  </a:txBody>
                  <a:tcPr>
                    <a:solidFill>
                      <a:srgbClr val="FFFFFF"/>
                    </a:solidFill>
                  </a:tcPr>
                </a:tc>
                <a:extLst>
                  <a:ext uri="{0D108BD9-81ED-4DB2-BD59-A6C34878D82A}">
                    <a16:rowId xmlns:a16="http://schemas.microsoft.com/office/drawing/2014/main" val="10009"/>
                  </a:ext>
                </a:extLst>
              </a:tr>
              <a:tr h="264352">
                <a:tc>
                  <a:txBody>
                    <a:bodyPr/>
                    <a:lstStyle/>
                    <a:p>
                      <a:pPr algn="ctr"/>
                      <a:r>
                        <a:rPr sz="1000" b="1" i="0">
                          <a:solidFill>
                            <a:srgbClr val="262626"/>
                          </a:solidFill>
                          <a:latin typeface="Arial"/>
                        </a:rPr>
                        <a:t>10</a:t>
                      </a:r>
                    </a:p>
                  </a:txBody>
                  <a:tcPr>
                    <a:solidFill>
                      <a:srgbClr val="F2F2F2"/>
                    </a:solidFill>
                  </a:tcPr>
                </a:tc>
                <a:tc>
                  <a:txBody>
                    <a:bodyPr/>
                    <a:lstStyle/>
                    <a:p>
                      <a:pPr algn="l"/>
                      <a:r>
                        <a:rPr sz="1000" b="0" i="0">
                          <a:solidFill>
                            <a:srgbClr val="262626"/>
                          </a:solidFill>
                          <a:latin typeface="Arial"/>
                        </a:rPr>
                        <a:t>Charles Paquet</a:t>
                      </a:r>
                    </a:p>
                  </a:txBody>
                  <a:tcPr>
                    <a:solidFill>
                      <a:srgbClr val="F2F2F2"/>
                    </a:solidFill>
                  </a:tcPr>
                </a:tc>
                <a:tc>
                  <a:txBody>
                    <a:bodyPr/>
                    <a:lstStyle/>
                    <a:p>
                      <a:pPr algn="ctr"/>
                      <a:r>
                        <a:rPr sz="1000" b="0" i="0">
                          <a:solidFill>
                            <a:srgbClr val="262626"/>
                          </a:solidFill>
                          <a:latin typeface="Arial"/>
                        </a:rPr>
                        <a:t>4,128</a:t>
                      </a:r>
                    </a:p>
                  </a:txBody>
                  <a:tcPr>
                    <a:solidFill>
                      <a:srgbClr val="F2F2F2"/>
                    </a:solidFill>
                  </a:tcPr>
                </a:tc>
                <a:extLst>
                  <a:ext uri="{0D108BD9-81ED-4DB2-BD59-A6C34878D82A}">
                    <a16:rowId xmlns:a16="http://schemas.microsoft.com/office/drawing/2014/main" val="10010"/>
                  </a:ext>
                </a:extLst>
              </a:tr>
            </a:tbl>
          </a:graphicData>
        </a:graphic>
      </p:graphicFrame>
      <p:sp>
        <p:nvSpPr>
          <p:cNvPr id="12" name="Rectangle 11"/>
          <p:cNvSpPr/>
          <p:nvPr/>
        </p:nvSpPr>
        <p:spPr>
          <a:xfrm>
            <a:off x="2743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65760" y="5074920"/>
            <a:ext cx="5486400" cy="237744"/>
          </a:xfrm>
          <a:prstGeom prst="rect">
            <a:avLst/>
          </a:prstGeom>
          <a:noFill/>
        </p:spPr>
        <p:txBody>
          <a:bodyPr wrap="square">
            <a:spAutoFit/>
          </a:bodyPr>
          <a:lstStyle/>
          <a:p>
            <a:pPr algn="l"/>
            <a:r>
              <a:rPr sz="1100" b="1" i="0">
                <a:solidFill>
                  <a:srgbClr val="FFFFFF"/>
                </a:solidFill>
                <a:latin typeface="Arial"/>
              </a:rPr>
              <a:t>Last Year's Podium at Edmonton</a:t>
            </a:r>
          </a:p>
        </p:txBody>
      </p:sp>
      <p:sp>
        <p:nvSpPr>
          <p:cNvPr id="14" name="TextBox 13"/>
          <p:cNvSpPr txBox="1"/>
          <p:nvPr/>
        </p:nvSpPr>
        <p:spPr>
          <a:xfrm>
            <a:off x="411480" y="5422392"/>
            <a:ext cx="5394960" cy="292608"/>
          </a:xfrm>
          <a:prstGeom prst="rect">
            <a:avLst/>
          </a:prstGeom>
          <a:noFill/>
        </p:spPr>
        <p:txBody>
          <a:bodyPr wrap="square">
            <a:spAutoFit/>
          </a:bodyPr>
          <a:lstStyle/>
          <a:p>
            <a:pPr algn="l"/>
            <a:r>
              <a:rPr sz="1100" b="1" i="0">
                <a:solidFill>
                  <a:srgbClr val="262626"/>
                </a:solidFill>
                <a:latin typeface="Arial"/>
              </a:rPr>
              <a:t>1.  Daniel Damian   (00:50:06)</a:t>
            </a:r>
          </a:p>
        </p:txBody>
      </p:sp>
      <p:sp>
        <p:nvSpPr>
          <p:cNvPr id="15" name="TextBox 14"/>
          <p:cNvSpPr txBox="1"/>
          <p:nvPr/>
        </p:nvSpPr>
        <p:spPr>
          <a:xfrm>
            <a:off x="411480" y="5715000"/>
            <a:ext cx="5394960" cy="292608"/>
          </a:xfrm>
          <a:prstGeom prst="rect">
            <a:avLst/>
          </a:prstGeom>
          <a:noFill/>
        </p:spPr>
        <p:txBody>
          <a:bodyPr wrap="square">
            <a:spAutoFit/>
          </a:bodyPr>
          <a:lstStyle/>
          <a:p>
            <a:pPr algn="l"/>
            <a:r>
              <a:rPr sz="1100" b="0" i="0">
                <a:solidFill>
                  <a:srgbClr val="262626"/>
                </a:solidFill>
                <a:latin typeface="Arial"/>
              </a:rPr>
              <a:t>2.  Sullivan Middaugh   (00:50:08)</a:t>
            </a:r>
          </a:p>
        </p:txBody>
      </p:sp>
      <p:sp>
        <p:nvSpPr>
          <p:cNvPr id="16" name="TextBox 15"/>
          <p:cNvSpPr txBox="1"/>
          <p:nvPr/>
        </p:nvSpPr>
        <p:spPr>
          <a:xfrm>
            <a:off x="411480" y="6007608"/>
            <a:ext cx="5394960" cy="292608"/>
          </a:xfrm>
          <a:prstGeom prst="rect">
            <a:avLst/>
          </a:prstGeom>
          <a:noFill/>
        </p:spPr>
        <p:txBody>
          <a:bodyPr wrap="square">
            <a:spAutoFit/>
          </a:bodyPr>
          <a:lstStyle/>
          <a:p>
            <a:pPr algn="l"/>
            <a:r>
              <a:rPr sz="1100" b="0" i="0">
                <a:solidFill>
                  <a:srgbClr val="262626"/>
                </a:solidFill>
                <a:latin typeface="Arial"/>
              </a:rPr>
              <a:t>3.  Nicholas Holmes   (00:50:10)</a:t>
            </a:r>
          </a:p>
        </p:txBody>
      </p:sp>
      <p:sp>
        <p:nvSpPr>
          <p:cNvPr id="17" name="Rectangle 16"/>
          <p:cNvSpPr/>
          <p:nvPr/>
        </p:nvSpPr>
        <p:spPr>
          <a:xfrm>
            <a:off x="6217920" y="1188720"/>
            <a:ext cx="5669280" cy="3657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309360" y="1234440"/>
            <a:ext cx="5486400" cy="292608"/>
          </a:xfrm>
          <a:prstGeom prst="rect">
            <a:avLst/>
          </a:prstGeom>
          <a:noFill/>
        </p:spPr>
        <p:txBody>
          <a:bodyPr wrap="square">
            <a:spAutoFit/>
          </a:bodyPr>
          <a:lstStyle/>
          <a:p>
            <a:pPr algn="ctr"/>
            <a:r>
              <a:rPr sz="1400" b="1" i="0">
                <a:solidFill>
                  <a:srgbClr val="FFFFFF"/>
                </a:solidFill>
                <a:latin typeface="Arial"/>
              </a:rPr>
              <a:t>ELITE WOMEN</a:t>
            </a:r>
          </a:p>
        </p:txBody>
      </p:sp>
      <p:sp>
        <p:nvSpPr>
          <p:cNvPr id="19" name="Rectangle 18"/>
          <p:cNvSpPr/>
          <p:nvPr/>
        </p:nvSpPr>
        <p:spPr>
          <a:xfrm>
            <a:off x="6217920" y="1645920"/>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309360" y="1664208"/>
            <a:ext cx="5486400" cy="237744"/>
          </a:xfrm>
          <a:prstGeom prst="rect">
            <a:avLst/>
          </a:prstGeom>
          <a:noFill/>
        </p:spPr>
        <p:txBody>
          <a:bodyPr wrap="square">
            <a:spAutoFit/>
          </a:bodyPr>
          <a:lstStyle/>
          <a:p>
            <a:pPr algn="l"/>
            <a:r>
              <a:rPr sz="1100" b="1" i="0">
                <a:solidFill>
                  <a:srgbClr val="FFFFFF"/>
                </a:solidFill>
                <a:latin typeface="Arial"/>
              </a:rPr>
              <a:t>Top 10 by World Ranking</a:t>
            </a:r>
          </a:p>
        </p:txBody>
      </p:sp>
      <p:graphicFrame>
        <p:nvGraphicFramePr>
          <p:cNvPr id="21" name="Table 20"/>
          <p:cNvGraphicFramePr>
            <a:graphicFrameLocks noGrp="1"/>
          </p:cNvGraphicFramePr>
          <p:nvPr/>
        </p:nvGraphicFramePr>
        <p:xfrm>
          <a:off x="6217920" y="1965960"/>
          <a:ext cx="5486400" cy="2907792"/>
        </p:xfrm>
        <a:graphic>
          <a:graphicData uri="http://schemas.openxmlformats.org/drawingml/2006/table">
            <a:tbl>
              <a:tblPr firstRow="1" bandRow="1">
                <a:tableStyleId>{5C22544A-7EE6-4342-B048-85BDC9FD1C3A}</a:tableStyleId>
              </a:tblPr>
              <a:tblGrid>
                <a:gridCol w="731520">
                  <a:extLst>
                    <a:ext uri="{9D8B030D-6E8A-4147-A177-3AD203B41FA5}">
                      <a16:colId xmlns:a16="http://schemas.microsoft.com/office/drawing/2014/main" val="20000"/>
                    </a:ext>
                  </a:extLst>
                </a:gridCol>
                <a:gridCol w="3291840">
                  <a:extLst>
                    <a:ext uri="{9D8B030D-6E8A-4147-A177-3AD203B41FA5}">
                      <a16:colId xmlns:a16="http://schemas.microsoft.com/office/drawing/2014/main" val="20001"/>
                    </a:ext>
                  </a:extLst>
                </a:gridCol>
                <a:gridCol w="1463040">
                  <a:extLst>
                    <a:ext uri="{9D8B030D-6E8A-4147-A177-3AD203B41FA5}">
                      <a16:colId xmlns:a16="http://schemas.microsoft.com/office/drawing/2014/main" val="20002"/>
                    </a:ext>
                  </a:extLst>
                </a:gridCol>
              </a:tblGrid>
              <a:tr h="264344">
                <a:tc>
                  <a:txBody>
                    <a:bodyPr/>
                    <a:lstStyle/>
                    <a:p>
                      <a:pPr algn="ctr"/>
                      <a:r>
                        <a:rPr sz="1000" b="1" i="0">
                          <a:solidFill>
                            <a:srgbClr val="FFFFFF"/>
                          </a:solidFill>
                          <a:latin typeface="Arial"/>
                        </a:rPr>
                        <a:t>Rank</a:t>
                      </a:r>
                    </a:p>
                  </a:txBody>
                  <a:tcPr>
                    <a:solidFill>
                      <a:srgbClr val="002060"/>
                    </a:solidFill>
                  </a:tcPr>
                </a:tc>
                <a:tc>
                  <a:txBody>
                    <a:bodyPr/>
                    <a:lstStyle/>
                    <a:p>
                      <a:pPr algn="ctr"/>
                      <a:r>
                        <a:rPr sz="1000" b="1" i="0">
                          <a:solidFill>
                            <a:srgbClr val="FFFFFF"/>
                          </a:solidFill>
                          <a:latin typeface="Arial"/>
                        </a:rPr>
                        <a:t>Athlete</a:t>
                      </a:r>
                    </a:p>
                  </a:txBody>
                  <a:tcPr>
                    <a:solidFill>
                      <a:srgbClr val="002060"/>
                    </a:solidFill>
                  </a:tcPr>
                </a:tc>
                <a:tc>
                  <a:txBody>
                    <a:bodyPr/>
                    <a:lstStyle/>
                    <a:p>
                      <a:pPr algn="ctr"/>
                      <a:r>
                        <a:rPr sz="1000" b="1" i="0">
                          <a:solidFill>
                            <a:srgbClr val="FFFFFF"/>
                          </a:solidFill>
                          <a:latin typeface="Arial"/>
                        </a:rPr>
                        <a:t>Points</a:t>
                      </a:r>
                    </a:p>
                  </a:txBody>
                  <a:tcPr>
                    <a:solidFill>
                      <a:srgbClr val="002060"/>
                    </a:solidFill>
                  </a:tcPr>
                </a:tc>
                <a:extLst>
                  <a:ext uri="{0D108BD9-81ED-4DB2-BD59-A6C34878D82A}">
                    <a16:rowId xmlns:a16="http://schemas.microsoft.com/office/drawing/2014/main" val="10000"/>
                  </a:ext>
                </a:extLst>
              </a:tr>
              <a:tr h="264344">
                <a:tc>
                  <a:txBody>
                    <a:bodyPr/>
                    <a:lstStyle/>
                    <a:p>
                      <a:pPr algn="ctr"/>
                      <a:r>
                        <a:rPr sz="1000" b="1" i="0">
                          <a:solidFill>
                            <a:srgbClr val="262626"/>
                          </a:solidFill>
                          <a:latin typeface="Arial"/>
                        </a:rPr>
                        <a:t>1</a:t>
                      </a:r>
                    </a:p>
                  </a:txBody>
                  <a:tcPr>
                    <a:solidFill>
                      <a:srgbClr val="FFFFFF"/>
                    </a:solidFill>
                  </a:tcPr>
                </a:tc>
                <a:tc>
                  <a:txBody>
                    <a:bodyPr/>
                    <a:lstStyle/>
                    <a:p>
                      <a:pPr algn="l"/>
                      <a:r>
                        <a:rPr sz="1000" b="0" i="0">
                          <a:solidFill>
                            <a:srgbClr val="262626"/>
                          </a:solidFill>
                          <a:latin typeface="Arial"/>
                        </a:rPr>
                        <a:t>Beth Potter</a:t>
                      </a:r>
                    </a:p>
                  </a:txBody>
                  <a:tcPr>
                    <a:solidFill>
                      <a:srgbClr val="FFFFFF"/>
                    </a:solidFill>
                  </a:tcPr>
                </a:tc>
                <a:tc>
                  <a:txBody>
                    <a:bodyPr/>
                    <a:lstStyle/>
                    <a:p>
                      <a:pPr algn="ctr"/>
                      <a:r>
                        <a:rPr sz="1000" b="0" i="0">
                          <a:solidFill>
                            <a:srgbClr val="262626"/>
                          </a:solidFill>
                          <a:latin typeface="Arial"/>
                        </a:rPr>
                        <a:t>7,347</a:t>
                      </a:r>
                    </a:p>
                  </a:txBody>
                  <a:tcPr>
                    <a:solidFill>
                      <a:srgbClr val="FFFFFF"/>
                    </a:solidFill>
                  </a:tcPr>
                </a:tc>
                <a:extLst>
                  <a:ext uri="{0D108BD9-81ED-4DB2-BD59-A6C34878D82A}">
                    <a16:rowId xmlns:a16="http://schemas.microsoft.com/office/drawing/2014/main" val="10001"/>
                  </a:ext>
                </a:extLst>
              </a:tr>
              <a:tr h="264344">
                <a:tc>
                  <a:txBody>
                    <a:bodyPr/>
                    <a:lstStyle/>
                    <a:p>
                      <a:pPr algn="ctr"/>
                      <a:r>
                        <a:rPr sz="1000" b="1" i="0">
                          <a:solidFill>
                            <a:srgbClr val="262626"/>
                          </a:solidFill>
                          <a:latin typeface="Arial"/>
                        </a:rPr>
                        <a:t>2</a:t>
                      </a:r>
                    </a:p>
                  </a:txBody>
                  <a:tcPr>
                    <a:solidFill>
                      <a:srgbClr val="F2F2F2"/>
                    </a:solidFill>
                  </a:tcPr>
                </a:tc>
                <a:tc>
                  <a:txBody>
                    <a:bodyPr/>
                    <a:lstStyle/>
                    <a:p>
                      <a:pPr algn="l"/>
                      <a:r>
                        <a:rPr sz="1000" b="0" i="0">
                          <a:solidFill>
                            <a:srgbClr val="262626"/>
                          </a:solidFill>
                          <a:latin typeface="Arial"/>
                        </a:rPr>
                        <a:t>Lisa Tertsch</a:t>
                      </a:r>
                    </a:p>
                  </a:txBody>
                  <a:tcPr>
                    <a:solidFill>
                      <a:srgbClr val="F2F2F2"/>
                    </a:solidFill>
                  </a:tcPr>
                </a:tc>
                <a:tc>
                  <a:txBody>
                    <a:bodyPr/>
                    <a:lstStyle/>
                    <a:p>
                      <a:pPr algn="ctr"/>
                      <a:r>
                        <a:rPr sz="1000" b="0" i="0">
                          <a:solidFill>
                            <a:srgbClr val="262626"/>
                          </a:solidFill>
                          <a:latin typeface="Arial"/>
                        </a:rPr>
                        <a:t>7,136</a:t>
                      </a:r>
                    </a:p>
                  </a:txBody>
                  <a:tcPr>
                    <a:solidFill>
                      <a:srgbClr val="F2F2F2"/>
                    </a:solidFill>
                  </a:tcPr>
                </a:tc>
                <a:extLst>
                  <a:ext uri="{0D108BD9-81ED-4DB2-BD59-A6C34878D82A}">
                    <a16:rowId xmlns:a16="http://schemas.microsoft.com/office/drawing/2014/main" val="10002"/>
                  </a:ext>
                </a:extLst>
              </a:tr>
              <a:tr h="264344">
                <a:tc>
                  <a:txBody>
                    <a:bodyPr/>
                    <a:lstStyle/>
                    <a:p>
                      <a:pPr algn="ctr"/>
                      <a:r>
                        <a:rPr sz="1000" b="1" i="0">
                          <a:solidFill>
                            <a:srgbClr val="262626"/>
                          </a:solidFill>
                          <a:latin typeface="Arial"/>
                        </a:rPr>
                        <a:t>3</a:t>
                      </a:r>
                    </a:p>
                  </a:txBody>
                  <a:tcPr>
                    <a:solidFill>
                      <a:srgbClr val="FFFFFF"/>
                    </a:solidFill>
                  </a:tcPr>
                </a:tc>
                <a:tc>
                  <a:txBody>
                    <a:bodyPr/>
                    <a:lstStyle/>
                    <a:p>
                      <a:pPr algn="l"/>
                      <a:r>
                        <a:rPr sz="1000" b="0" i="0">
                          <a:solidFill>
                            <a:srgbClr val="262626"/>
                          </a:solidFill>
                          <a:latin typeface="Arial"/>
                        </a:rPr>
                        <a:t>Leonie Periault</a:t>
                      </a:r>
                    </a:p>
                  </a:txBody>
                  <a:tcPr>
                    <a:solidFill>
                      <a:srgbClr val="FFFFFF"/>
                    </a:solidFill>
                  </a:tcPr>
                </a:tc>
                <a:tc>
                  <a:txBody>
                    <a:bodyPr/>
                    <a:lstStyle/>
                    <a:p>
                      <a:pPr algn="ctr"/>
                      <a:r>
                        <a:rPr sz="1000" b="0" i="0">
                          <a:solidFill>
                            <a:srgbClr val="262626"/>
                          </a:solidFill>
                          <a:latin typeface="Arial"/>
                        </a:rPr>
                        <a:t>6,468</a:t>
                      </a:r>
                    </a:p>
                  </a:txBody>
                  <a:tcPr>
                    <a:solidFill>
                      <a:srgbClr val="FFFFFF"/>
                    </a:solidFill>
                  </a:tcPr>
                </a:tc>
                <a:extLst>
                  <a:ext uri="{0D108BD9-81ED-4DB2-BD59-A6C34878D82A}">
                    <a16:rowId xmlns:a16="http://schemas.microsoft.com/office/drawing/2014/main" val="10003"/>
                  </a:ext>
                </a:extLst>
              </a:tr>
              <a:tr h="264344">
                <a:tc>
                  <a:txBody>
                    <a:bodyPr/>
                    <a:lstStyle/>
                    <a:p>
                      <a:pPr algn="ctr"/>
                      <a:r>
                        <a:rPr sz="1000" b="1" i="0">
                          <a:solidFill>
                            <a:srgbClr val="262626"/>
                          </a:solidFill>
                          <a:latin typeface="Arial"/>
                        </a:rPr>
                        <a:t>4</a:t>
                      </a:r>
                    </a:p>
                  </a:txBody>
                  <a:tcPr>
                    <a:solidFill>
                      <a:srgbClr val="F2F2F2"/>
                    </a:solidFill>
                  </a:tcPr>
                </a:tc>
                <a:tc>
                  <a:txBody>
                    <a:bodyPr/>
                    <a:lstStyle/>
                    <a:p>
                      <a:pPr algn="l"/>
                      <a:r>
                        <a:rPr sz="1000" b="0" i="0">
                          <a:solidFill>
                            <a:srgbClr val="262626"/>
                          </a:solidFill>
                          <a:latin typeface="Arial"/>
                        </a:rPr>
                        <a:t>Jeanne Lehair</a:t>
                      </a:r>
                    </a:p>
                  </a:txBody>
                  <a:tcPr>
                    <a:solidFill>
                      <a:srgbClr val="F2F2F2"/>
                    </a:solidFill>
                  </a:tcPr>
                </a:tc>
                <a:tc>
                  <a:txBody>
                    <a:bodyPr/>
                    <a:lstStyle/>
                    <a:p>
                      <a:pPr algn="ctr"/>
                      <a:r>
                        <a:rPr sz="1000" b="0" i="0">
                          <a:solidFill>
                            <a:srgbClr val="262626"/>
                          </a:solidFill>
                          <a:latin typeface="Arial"/>
                        </a:rPr>
                        <a:t>6,306</a:t>
                      </a:r>
                    </a:p>
                  </a:txBody>
                  <a:tcPr>
                    <a:solidFill>
                      <a:srgbClr val="F2F2F2"/>
                    </a:solidFill>
                  </a:tcPr>
                </a:tc>
                <a:extLst>
                  <a:ext uri="{0D108BD9-81ED-4DB2-BD59-A6C34878D82A}">
                    <a16:rowId xmlns:a16="http://schemas.microsoft.com/office/drawing/2014/main" val="10004"/>
                  </a:ext>
                </a:extLst>
              </a:tr>
              <a:tr h="264344">
                <a:tc>
                  <a:txBody>
                    <a:bodyPr/>
                    <a:lstStyle/>
                    <a:p>
                      <a:pPr algn="ctr"/>
                      <a:r>
                        <a:rPr sz="1000" b="1" i="0">
                          <a:solidFill>
                            <a:srgbClr val="262626"/>
                          </a:solidFill>
                          <a:latin typeface="Arial"/>
                        </a:rPr>
                        <a:t>5</a:t>
                      </a:r>
                    </a:p>
                  </a:txBody>
                  <a:tcPr>
                    <a:solidFill>
                      <a:srgbClr val="FFFFFF"/>
                    </a:solidFill>
                  </a:tcPr>
                </a:tc>
                <a:tc>
                  <a:txBody>
                    <a:bodyPr/>
                    <a:lstStyle/>
                    <a:p>
                      <a:pPr algn="l"/>
                      <a:r>
                        <a:rPr sz="1000" b="0" i="0">
                          <a:solidFill>
                            <a:srgbClr val="262626"/>
                          </a:solidFill>
                          <a:latin typeface="Arial"/>
                        </a:rPr>
                        <a:t>Taylor Spivey</a:t>
                      </a:r>
                    </a:p>
                  </a:txBody>
                  <a:tcPr>
                    <a:solidFill>
                      <a:srgbClr val="FFFFFF"/>
                    </a:solidFill>
                  </a:tcPr>
                </a:tc>
                <a:tc>
                  <a:txBody>
                    <a:bodyPr/>
                    <a:lstStyle/>
                    <a:p>
                      <a:pPr algn="ctr"/>
                      <a:r>
                        <a:rPr sz="1000" b="0" i="0">
                          <a:solidFill>
                            <a:srgbClr val="262626"/>
                          </a:solidFill>
                          <a:latin typeface="Arial"/>
                        </a:rPr>
                        <a:t>5,256</a:t>
                      </a:r>
                    </a:p>
                  </a:txBody>
                  <a:tcPr>
                    <a:solidFill>
                      <a:srgbClr val="FFFFFF"/>
                    </a:solidFill>
                  </a:tcPr>
                </a:tc>
                <a:extLst>
                  <a:ext uri="{0D108BD9-81ED-4DB2-BD59-A6C34878D82A}">
                    <a16:rowId xmlns:a16="http://schemas.microsoft.com/office/drawing/2014/main" val="10005"/>
                  </a:ext>
                </a:extLst>
              </a:tr>
              <a:tr h="264344">
                <a:tc>
                  <a:txBody>
                    <a:bodyPr/>
                    <a:lstStyle/>
                    <a:p>
                      <a:pPr algn="ctr"/>
                      <a:r>
                        <a:rPr sz="1000" b="1" i="0">
                          <a:solidFill>
                            <a:srgbClr val="262626"/>
                          </a:solidFill>
                          <a:latin typeface="Arial"/>
                        </a:rPr>
                        <a:t>6</a:t>
                      </a:r>
                    </a:p>
                  </a:txBody>
                  <a:tcPr>
                    <a:solidFill>
                      <a:srgbClr val="F2F2F2"/>
                    </a:solidFill>
                  </a:tcPr>
                </a:tc>
                <a:tc>
                  <a:txBody>
                    <a:bodyPr/>
                    <a:lstStyle/>
                    <a:p>
                      <a:pPr algn="l"/>
                      <a:r>
                        <a:rPr sz="1000" b="0" i="0">
                          <a:solidFill>
                            <a:srgbClr val="262626"/>
                          </a:solidFill>
                          <a:latin typeface="Arial"/>
                        </a:rPr>
                        <a:t>Jolien Vermeylen</a:t>
                      </a:r>
                    </a:p>
                  </a:txBody>
                  <a:tcPr>
                    <a:solidFill>
                      <a:srgbClr val="F2F2F2"/>
                    </a:solidFill>
                  </a:tcPr>
                </a:tc>
                <a:tc>
                  <a:txBody>
                    <a:bodyPr/>
                    <a:lstStyle/>
                    <a:p>
                      <a:pPr algn="ctr"/>
                      <a:r>
                        <a:rPr sz="1000" b="0" i="0">
                          <a:solidFill>
                            <a:srgbClr val="262626"/>
                          </a:solidFill>
                          <a:latin typeface="Arial"/>
                        </a:rPr>
                        <a:t>5,095</a:t>
                      </a:r>
                    </a:p>
                  </a:txBody>
                  <a:tcPr>
                    <a:solidFill>
                      <a:srgbClr val="F2F2F2"/>
                    </a:solidFill>
                  </a:tcPr>
                </a:tc>
                <a:extLst>
                  <a:ext uri="{0D108BD9-81ED-4DB2-BD59-A6C34878D82A}">
                    <a16:rowId xmlns:a16="http://schemas.microsoft.com/office/drawing/2014/main" val="10006"/>
                  </a:ext>
                </a:extLst>
              </a:tr>
              <a:tr h="264344">
                <a:tc>
                  <a:txBody>
                    <a:bodyPr/>
                    <a:lstStyle/>
                    <a:p>
                      <a:pPr algn="ctr"/>
                      <a:r>
                        <a:rPr sz="1000" b="1" i="0">
                          <a:solidFill>
                            <a:srgbClr val="262626"/>
                          </a:solidFill>
                          <a:latin typeface="Arial"/>
                        </a:rPr>
                        <a:t>7</a:t>
                      </a:r>
                    </a:p>
                  </a:txBody>
                  <a:tcPr>
                    <a:solidFill>
                      <a:srgbClr val="FFFFFF"/>
                    </a:solidFill>
                  </a:tcPr>
                </a:tc>
                <a:tc>
                  <a:txBody>
                    <a:bodyPr/>
                    <a:lstStyle/>
                    <a:p>
                      <a:pPr algn="l"/>
                      <a:r>
                        <a:rPr sz="1000" b="0" i="0">
                          <a:solidFill>
                            <a:srgbClr val="262626"/>
                          </a:solidFill>
                          <a:latin typeface="Arial"/>
                        </a:rPr>
                        <a:t>Emma Lombardi</a:t>
                      </a:r>
                    </a:p>
                  </a:txBody>
                  <a:tcPr>
                    <a:solidFill>
                      <a:srgbClr val="FFFFFF"/>
                    </a:solidFill>
                  </a:tcPr>
                </a:tc>
                <a:tc>
                  <a:txBody>
                    <a:bodyPr/>
                    <a:lstStyle/>
                    <a:p>
                      <a:pPr algn="ctr"/>
                      <a:r>
                        <a:rPr sz="1000" b="0" i="0">
                          <a:solidFill>
                            <a:srgbClr val="262626"/>
                          </a:solidFill>
                          <a:latin typeface="Arial"/>
                        </a:rPr>
                        <a:t>4,930</a:t>
                      </a:r>
                    </a:p>
                  </a:txBody>
                  <a:tcPr>
                    <a:solidFill>
                      <a:srgbClr val="FFFFFF"/>
                    </a:solidFill>
                  </a:tcPr>
                </a:tc>
                <a:extLst>
                  <a:ext uri="{0D108BD9-81ED-4DB2-BD59-A6C34878D82A}">
                    <a16:rowId xmlns:a16="http://schemas.microsoft.com/office/drawing/2014/main" val="10007"/>
                  </a:ext>
                </a:extLst>
              </a:tr>
              <a:tr h="264344">
                <a:tc>
                  <a:txBody>
                    <a:bodyPr/>
                    <a:lstStyle/>
                    <a:p>
                      <a:pPr algn="ctr"/>
                      <a:r>
                        <a:rPr sz="1000" b="1" i="0">
                          <a:solidFill>
                            <a:srgbClr val="262626"/>
                          </a:solidFill>
                          <a:latin typeface="Arial"/>
                        </a:rPr>
                        <a:t>8</a:t>
                      </a:r>
                    </a:p>
                  </a:txBody>
                  <a:tcPr>
                    <a:solidFill>
                      <a:srgbClr val="F2F2F2"/>
                    </a:solidFill>
                  </a:tcPr>
                </a:tc>
                <a:tc>
                  <a:txBody>
                    <a:bodyPr/>
                    <a:lstStyle/>
                    <a:p>
                      <a:pPr algn="l"/>
                      <a:r>
                        <a:rPr sz="1000" b="0" i="0">
                          <a:solidFill>
                            <a:srgbClr val="262626"/>
                          </a:solidFill>
                          <a:latin typeface="Arial"/>
                        </a:rPr>
                        <a:t>Cassandre Beaugrand</a:t>
                      </a:r>
                    </a:p>
                  </a:txBody>
                  <a:tcPr>
                    <a:solidFill>
                      <a:srgbClr val="F2F2F2"/>
                    </a:solidFill>
                  </a:tcPr>
                </a:tc>
                <a:tc>
                  <a:txBody>
                    <a:bodyPr/>
                    <a:lstStyle/>
                    <a:p>
                      <a:pPr algn="ctr"/>
                      <a:r>
                        <a:rPr sz="1000" b="0" i="0">
                          <a:solidFill>
                            <a:srgbClr val="262626"/>
                          </a:solidFill>
                          <a:latin typeface="Arial"/>
                        </a:rPr>
                        <a:t>4,725</a:t>
                      </a:r>
                    </a:p>
                  </a:txBody>
                  <a:tcPr>
                    <a:solidFill>
                      <a:srgbClr val="F2F2F2"/>
                    </a:solidFill>
                  </a:tcPr>
                </a:tc>
                <a:extLst>
                  <a:ext uri="{0D108BD9-81ED-4DB2-BD59-A6C34878D82A}">
                    <a16:rowId xmlns:a16="http://schemas.microsoft.com/office/drawing/2014/main" val="10008"/>
                  </a:ext>
                </a:extLst>
              </a:tr>
              <a:tr h="264344">
                <a:tc>
                  <a:txBody>
                    <a:bodyPr/>
                    <a:lstStyle/>
                    <a:p>
                      <a:pPr algn="ctr"/>
                      <a:r>
                        <a:rPr sz="1000" b="1" i="0">
                          <a:solidFill>
                            <a:srgbClr val="262626"/>
                          </a:solidFill>
                          <a:latin typeface="Arial"/>
                        </a:rPr>
                        <a:t>9</a:t>
                      </a:r>
                    </a:p>
                  </a:txBody>
                  <a:tcPr>
                    <a:solidFill>
                      <a:srgbClr val="FFFFFF"/>
                    </a:solidFill>
                  </a:tcPr>
                </a:tc>
                <a:tc>
                  <a:txBody>
                    <a:bodyPr/>
                    <a:lstStyle/>
                    <a:p>
                      <a:pPr algn="l"/>
                      <a:r>
                        <a:rPr sz="1000" b="0" i="0">
                          <a:solidFill>
                            <a:srgbClr val="262626"/>
                          </a:solidFill>
                          <a:latin typeface="Arial"/>
                        </a:rPr>
                        <a:t>Diana Isakova</a:t>
                      </a:r>
                    </a:p>
                  </a:txBody>
                  <a:tcPr>
                    <a:solidFill>
                      <a:srgbClr val="FFFFFF"/>
                    </a:solidFill>
                  </a:tcPr>
                </a:tc>
                <a:tc>
                  <a:txBody>
                    <a:bodyPr/>
                    <a:lstStyle/>
                    <a:p>
                      <a:pPr algn="ctr"/>
                      <a:r>
                        <a:rPr sz="1000" b="0" i="0">
                          <a:solidFill>
                            <a:srgbClr val="262626"/>
                          </a:solidFill>
                          <a:latin typeface="Arial"/>
                        </a:rPr>
                        <a:t>4,710</a:t>
                      </a:r>
                    </a:p>
                  </a:txBody>
                  <a:tcPr>
                    <a:solidFill>
                      <a:srgbClr val="FFFFFF"/>
                    </a:solidFill>
                  </a:tcPr>
                </a:tc>
                <a:extLst>
                  <a:ext uri="{0D108BD9-81ED-4DB2-BD59-A6C34878D82A}">
                    <a16:rowId xmlns:a16="http://schemas.microsoft.com/office/drawing/2014/main" val="10009"/>
                  </a:ext>
                </a:extLst>
              </a:tr>
              <a:tr h="264352">
                <a:tc>
                  <a:txBody>
                    <a:bodyPr/>
                    <a:lstStyle/>
                    <a:p>
                      <a:pPr algn="ctr"/>
                      <a:r>
                        <a:rPr sz="1000" b="1" i="0">
                          <a:solidFill>
                            <a:srgbClr val="262626"/>
                          </a:solidFill>
                          <a:latin typeface="Arial"/>
                        </a:rPr>
                        <a:t>10</a:t>
                      </a:r>
                    </a:p>
                  </a:txBody>
                  <a:tcPr>
                    <a:solidFill>
                      <a:srgbClr val="F2F2F2"/>
                    </a:solidFill>
                  </a:tcPr>
                </a:tc>
                <a:tc>
                  <a:txBody>
                    <a:bodyPr/>
                    <a:lstStyle/>
                    <a:p>
                      <a:pPr algn="l"/>
                      <a:r>
                        <a:rPr sz="1000" b="0" i="0">
                          <a:solidFill>
                            <a:srgbClr val="262626"/>
                          </a:solidFill>
                          <a:latin typeface="Arial"/>
                        </a:rPr>
                        <a:t>Bianca Seregni</a:t>
                      </a:r>
                    </a:p>
                  </a:txBody>
                  <a:tcPr>
                    <a:solidFill>
                      <a:srgbClr val="F2F2F2"/>
                    </a:solidFill>
                  </a:tcPr>
                </a:tc>
                <a:tc>
                  <a:txBody>
                    <a:bodyPr/>
                    <a:lstStyle/>
                    <a:p>
                      <a:pPr algn="ctr"/>
                      <a:r>
                        <a:rPr sz="1000" b="0" i="0">
                          <a:solidFill>
                            <a:srgbClr val="262626"/>
                          </a:solidFill>
                          <a:latin typeface="Arial"/>
                        </a:rPr>
                        <a:t>4,659</a:t>
                      </a:r>
                    </a:p>
                  </a:txBody>
                  <a:tcPr>
                    <a:solidFill>
                      <a:srgbClr val="F2F2F2"/>
                    </a:solidFill>
                  </a:tcPr>
                </a:tc>
                <a:extLst>
                  <a:ext uri="{0D108BD9-81ED-4DB2-BD59-A6C34878D82A}">
                    <a16:rowId xmlns:a16="http://schemas.microsoft.com/office/drawing/2014/main" val="10010"/>
                  </a:ext>
                </a:extLst>
              </a:tr>
            </a:tbl>
          </a:graphicData>
        </a:graphic>
      </p:graphicFrame>
      <p:sp>
        <p:nvSpPr>
          <p:cNvPr id="22" name="Rectangle 21"/>
          <p:cNvSpPr/>
          <p:nvPr/>
        </p:nvSpPr>
        <p:spPr>
          <a:xfrm>
            <a:off x="6217920" y="5056632"/>
            <a:ext cx="5669280" cy="27432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TextBox 22"/>
          <p:cNvSpPr txBox="1"/>
          <p:nvPr/>
        </p:nvSpPr>
        <p:spPr>
          <a:xfrm>
            <a:off x="6309360" y="5074920"/>
            <a:ext cx="5486400" cy="237744"/>
          </a:xfrm>
          <a:prstGeom prst="rect">
            <a:avLst/>
          </a:prstGeom>
          <a:noFill/>
        </p:spPr>
        <p:txBody>
          <a:bodyPr wrap="square">
            <a:spAutoFit/>
          </a:bodyPr>
          <a:lstStyle/>
          <a:p>
            <a:pPr algn="l"/>
            <a:r>
              <a:rPr sz="1100" b="1" i="0">
                <a:solidFill>
                  <a:srgbClr val="FFFFFF"/>
                </a:solidFill>
                <a:latin typeface="Arial"/>
              </a:rPr>
              <a:t>Last Year's Podium at Edmonton</a:t>
            </a:r>
          </a:p>
        </p:txBody>
      </p:sp>
      <p:sp>
        <p:nvSpPr>
          <p:cNvPr id="24" name="TextBox 23"/>
          <p:cNvSpPr txBox="1"/>
          <p:nvPr/>
        </p:nvSpPr>
        <p:spPr>
          <a:xfrm>
            <a:off x="6355080" y="5422392"/>
            <a:ext cx="5394960" cy="292608"/>
          </a:xfrm>
          <a:prstGeom prst="rect">
            <a:avLst/>
          </a:prstGeom>
          <a:noFill/>
        </p:spPr>
        <p:txBody>
          <a:bodyPr wrap="square">
            <a:spAutoFit/>
          </a:bodyPr>
          <a:lstStyle/>
          <a:p>
            <a:pPr algn="l"/>
            <a:r>
              <a:rPr sz="1100" b="1" i="0">
                <a:solidFill>
                  <a:srgbClr val="262626"/>
                </a:solidFill>
                <a:latin typeface="Arial"/>
              </a:rPr>
              <a:t>1.  Lydia Russell   (00:56:04)</a:t>
            </a:r>
          </a:p>
        </p:txBody>
      </p:sp>
      <p:sp>
        <p:nvSpPr>
          <p:cNvPr id="25" name="TextBox 24"/>
          <p:cNvSpPr txBox="1"/>
          <p:nvPr/>
        </p:nvSpPr>
        <p:spPr>
          <a:xfrm>
            <a:off x="6355080" y="5715000"/>
            <a:ext cx="5394960" cy="292608"/>
          </a:xfrm>
          <a:prstGeom prst="rect">
            <a:avLst/>
          </a:prstGeom>
          <a:noFill/>
        </p:spPr>
        <p:txBody>
          <a:bodyPr wrap="square">
            <a:spAutoFit/>
          </a:bodyPr>
          <a:lstStyle/>
          <a:p>
            <a:pPr algn="l"/>
            <a:r>
              <a:rPr sz="1100" b="0" i="0">
                <a:solidFill>
                  <a:srgbClr val="262626"/>
                </a:solidFill>
                <a:latin typeface="Arial"/>
              </a:rPr>
              <a:t>2.  Danielle Orie   (00:56:14)</a:t>
            </a:r>
          </a:p>
        </p:txBody>
      </p:sp>
      <p:sp>
        <p:nvSpPr>
          <p:cNvPr id="26" name="TextBox 25"/>
          <p:cNvSpPr txBox="1"/>
          <p:nvPr/>
        </p:nvSpPr>
        <p:spPr>
          <a:xfrm>
            <a:off x="6355080" y="6007608"/>
            <a:ext cx="5394960" cy="292608"/>
          </a:xfrm>
          <a:prstGeom prst="rect">
            <a:avLst/>
          </a:prstGeom>
          <a:noFill/>
        </p:spPr>
        <p:txBody>
          <a:bodyPr wrap="square">
            <a:spAutoFit/>
          </a:bodyPr>
          <a:lstStyle/>
          <a:p>
            <a:pPr algn="l"/>
            <a:r>
              <a:rPr sz="1100" b="0" i="0">
                <a:solidFill>
                  <a:srgbClr val="262626"/>
                </a:solidFill>
                <a:latin typeface="Arial"/>
              </a:rPr>
              <a:t>3.  Desirae Ridenour   (00:56:31)</a:t>
            </a:r>
          </a:p>
        </p:txBody>
      </p:sp>
      <p:sp>
        <p:nvSpPr>
          <p:cNvPr id="27" name="TextBox 26"/>
          <p:cNvSpPr txBox="1"/>
          <p:nvPr/>
        </p:nvSpPr>
        <p:spPr>
          <a:xfrm>
            <a:off x="274320" y="6446520"/>
            <a:ext cx="11640312" cy="228600"/>
          </a:xfrm>
          <a:prstGeom prst="rect">
            <a:avLst/>
          </a:prstGeom>
          <a:noFill/>
        </p:spPr>
        <p:txBody>
          <a:bodyPr wrap="square">
            <a:spAutoFit/>
          </a:bodyPr>
          <a:lstStyle/>
          <a:p>
            <a:pPr algn="ctr"/>
            <a:r>
              <a:rPr sz="900" b="0" i="1">
                <a:solidFill>
                  <a:srgbClr val="BFBFBF"/>
                </a:solidFill>
                <a:latin typeface="Arial"/>
              </a:rPr>
              <a:t>Rankings = current World Triathlon rankings snapshot; startlist intersect uses program_entries when available.</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Top Swim Threats</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78992"/>
            <a:ext cx="11640312" cy="320040"/>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15568"/>
            <a:ext cx="11430000" cy="246888"/>
          </a:xfrm>
          <a:prstGeom prst="rect">
            <a:avLst/>
          </a:prstGeom>
          <a:noFill/>
        </p:spPr>
        <p:txBody>
          <a:bodyPr wrap="square">
            <a:spAutoFit/>
          </a:bodyPr>
          <a:lstStyle/>
          <a:p>
            <a:pPr algn="ctr"/>
            <a:r>
              <a:rPr sz="1050" b="1" i="0">
                <a:solidFill>
                  <a:srgbClr val="002060"/>
                </a:solidFill>
                <a:latin typeface="Arial"/>
              </a:rPr>
              <a:t>Ranked by EWMA swim split (span-5, most recent)   •   Lead Pack % = within 15 s of swim leader   •   WTCS / Championship Finals</a:t>
            </a:r>
          </a:p>
        </p:txBody>
      </p:sp>
      <p:sp>
        <p:nvSpPr>
          <p:cNvPr id="10" name="Rectangle 9"/>
          <p:cNvSpPr/>
          <p:nvPr/>
        </p:nvSpPr>
        <p:spPr>
          <a:xfrm>
            <a:off x="27432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1536192"/>
            <a:ext cx="5806440" cy="219456"/>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1828800"/>
          <a:ext cx="5807351" cy="2048256"/>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902866">
                  <a:extLst>
                    <a:ext uri="{9D8B030D-6E8A-4147-A177-3AD203B41FA5}">
                      <a16:colId xmlns:a16="http://schemas.microsoft.com/office/drawing/2014/main" val="20001"/>
                    </a:ext>
                  </a:extLst>
                </a:gridCol>
                <a:gridCol w="1025042">
                  <a:extLst>
                    <a:ext uri="{9D8B030D-6E8A-4147-A177-3AD203B41FA5}">
                      <a16:colId xmlns:a16="http://schemas.microsoft.com/office/drawing/2014/main" val="20002"/>
                    </a:ext>
                  </a:extLst>
                </a:gridCol>
                <a:gridCol w="1025042">
                  <a:extLst>
                    <a:ext uri="{9D8B030D-6E8A-4147-A177-3AD203B41FA5}">
                      <a16:colId xmlns:a16="http://schemas.microsoft.com/office/drawing/2014/main" val="20003"/>
                    </a:ext>
                  </a:extLst>
                </a:gridCol>
                <a:gridCol w="975664">
                  <a:extLst>
                    <a:ext uri="{9D8B030D-6E8A-4147-A177-3AD203B41FA5}">
                      <a16:colId xmlns:a16="http://schemas.microsoft.com/office/drawing/2014/main" val="20004"/>
                    </a:ext>
                  </a:extLst>
                </a:gridCol>
                <a:gridCol w="536752">
                  <a:extLst>
                    <a:ext uri="{9D8B030D-6E8A-4147-A177-3AD203B41FA5}">
                      <a16:colId xmlns:a16="http://schemas.microsoft.com/office/drawing/2014/main" val="20005"/>
                    </a:ext>
                  </a:extLst>
                </a:gridCol>
              </a:tblGrid>
              <a:tr h="256032">
                <a:tc>
                  <a:txBody>
                    <a:bodyPr/>
                    <a:lstStyle/>
                    <a:p>
                      <a:pPr algn="ctr"/>
                      <a:r>
                        <a:rPr sz="900" b="1" i="0">
                          <a:solidFill>
                            <a:srgbClr val="FFFFFF"/>
                          </a:solidFill>
                          <a:latin typeface="Arial"/>
                        </a:rPr>
                        <a:t>#</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Lead Pack %</a:t>
                      </a:r>
                    </a:p>
                  </a:txBody>
                  <a:tcPr>
                    <a:solidFill>
                      <a:srgbClr val="002060"/>
                    </a:solidFill>
                  </a:tcPr>
                </a:tc>
                <a:tc>
                  <a:txBody>
                    <a:bodyPr/>
                    <a:lstStyle/>
                    <a:p>
                      <a:pPr algn="ctr"/>
                      <a:r>
                        <a:rPr sz="900" b="1" i="0">
                          <a:solidFill>
                            <a:srgbClr val="FFFFFF"/>
                          </a:solidFill>
                          <a:latin typeface="Arial"/>
                        </a:rPr>
                        <a:t>Avg Gap (s)</a:t>
                      </a:r>
                    </a:p>
                  </a:txBody>
                  <a:tcPr>
                    <a:solidFill>
                      <a:srgbClr val="002060"/>
                    </a:solidFill>
                  </a:tcPr>
                </a:tc>
                <a:tc>
                  <a:txBody>
                    <a:bodyPr/>
                    <a:lstStyle/>
                    <a:p>
                      <a:pPr algn="ctr"/>
                      <a:r>
                        <a:rPr sz="900" b="1" i="0">
                          <a:solidFill>
                            <a:srgbClr val="FFFFFF"/>
                          </a:solidFill>
                          <a:latin typeface="Arial"/>
                        </a:rPr>
                        <a:t>EWMA Swim</a:t>
                      </a:r>
                    </a:p>
                  </a:txBody>
                  <a:tcPr>
                    <a:solidFill>
                      <a:srgbClr val="002060"/>
                    </a:solidFill>
                  </a:tcPr>
                </a:tc>
                <a:tc>
                  <a:txBody>
                    <a:bodyPr/>
                    <a:lstStyle/>
                    <a:p>
                      <a:pPr algn="ctr"/>
                      <a:r>
                        <a:rPr sz="900" b="1" i="0">
                          <a:solidFill>
                            <a:srgbClr val="FFFFFF"/>
                          </a:solidFill>
                          <a:latin typeface="Arial"/>
                        </a:rPr>
                        <a:t>Races</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Jan Diener</a:t>
                      </a:r>
                    </a:p>
                  </a:txBody>
                  <a:tcPr>
                    <a:solidFill>
                      <a:srgbClr val="FFFFFF"/>
                    </a:solidFill>
                  </a:tcPr>
                </a:tc>
                <a:tc>
                  <a:txBody>
                    <a:bodyPr/>
                    <a:lstStyle/>
                    <a:p>
                      <a:pPr algn="ctr"/>
                      <a:r>
                        <a:rPr sz="850" b="1" i="0">
                          <a:solidFill>
                            <a:srgbClr val="262626"/>
                          </a:solidFill>
                          <a:latin typeface="Arial"/>
                        </a:rPr>
                        <a:t>50%</a:t>
                      </a:r>
                    </a:p>
                  </a:txBody>
                  <a:tcPr>
                    <a:solidFill>
                      <a:srgbClr val="FFFFFF"/>
                    </a:solidFill>
                  </a:tcPr>
                </a:tc>
                <a:tc>
                  <a:txBody>
                    <a:bodyPr/>
                    <a:lstStyle/>
                    <a:p>
                      <a:pPr algn="ctr"/>
                      <a:r>
                        <a:rPr sz="850" b="0" i="0">
                          <a:solidFill>
                            <a:srgbClr val="262626"/>
                          </a:solidFill>
                          <a:latin typeface="Arial"/>
                        </a:rPr>
                        <a:t>+13.5</a:t>
                      </a:r>
                    </a:p>
                  </a:txBody>
                  <a:tcPr>
                    <a:solidFill>
                      <a:srgbClr val="FFFFFF"/>
                    </a:solidFill>
                  </a:tcPr>
                </a:tc>
                <a:tc>
                  <a:txBody>
                    <a:bodyPr/>
                    <a:lstStyle/>
                    <a:p>
                      <a:pPr algn="ctr"/>
                      <a:r>
                        <a:rPr sz="850" b="0" i="0">
                          <a:solidFill>
                            <a:srgbClr val="262626"/>
                          </a:solidFill>
                          <a:latin typeface="Arial"/>
                        </a:rPr>
                        <a:t>8:38</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0" i="0">
                          <a:solidFill>
                            <a:srgbClr val="262626"/>
                          </a:solidFill>
                          <a:latin typeface="Arial"/>
                        </a:rPr>
                        <a:t>Kauê Willy</a:t>
                      </a:r>
                    </a:p>
                  </a:txBody>
                  <a:tcPr>
                    <a:solidFill>
                      <a:srgbClr val="F2F2F2"/>
                    </a:solidFill>
                  </a:tcPr>
                </a:tc>
                <a:tc>
                  <a:txBody>
                    <a:bodyPr/>
                    <a:lstStyle/>
                    <a:p>
                      <a:pPr algn="ctr"/>
                      <a:r>
                        <a:rPr sz="850" b="1" i="0">
                          <a:solidFill>
                            <a:srgbClr val="262626"/>
                          </a:solidFill>
                          <a:latin typeface="Arial"/>
                        </a:rPr>
                        <a:t>50%</a:t>
                      </a:r>
                    </a:p>
                  </a:txBody>
                  <a:tcPr>
                    <a:solidFill>
                      <a:srgbClr val="F2F2F2"/>
                    </a:solidFill>
                  </a:tcPr>
                </a:tc>
                <a:tc>
                  <a:txBody>
                    <a:bodyPr/>
                    <a:lstStyle/>
                    <a:p>
                      <a:pPr algn="ctr"/>
                      <a:r>
                        <a:rPr sz="850" b="0" i="0">
                          <a:solidFill>
                            <a:srgbClr val="262626"/>
                          </a:solidFill>
                          <a:latin typeface="Arial"/>
                        </a:rPr>
                        <a:t>+21.5</a:t>
                      </a:r>
                    </a:p>
                  </a:txBody>
                  <a:tcPr>
                    <a:solidFill>
                      <a:srgbClr val="F2F2F2"/>
                    </a:solidFill>
                  </a:tcPr>
                </a:tc>
                <a:tc>
                  <a:txBody>
                    <a:bodyPr/>
                    <a:lstStyle/>
                    <a:p>
                      <a:pPr algn="ctr"/>
                      <a:r>
                        <a:rPr sz="850" b="0" i="0">
                          <a:solidFill>
                            <a:srgbClr val="262626"/>
                          </a:solidFill>
                          <a:latin typeface="Arial"/>
                        </a:rPr>
                        <a:t>8:43</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0" i="0">
                          <a:solidFill>
                            <a:srgbClr val="262626"/>
                          </a:solidFill>
                          <a:latin typeface="Arial"/>
                        </a:rPr>
                        <a:t>Gjalt Panjer</a:t>
                      </a:r>
                    </a:p>
                  </a:txBody>
                  <a:tcPr>
                    <a:solidFill>
                      <a:srgbClr val="FFFFFF"/>
                    </a:solidFill>
                  </a:tcPr>
                </a:tc>
                <a:tc>
                  <a:txBody>
                    <a:bodyPr/>
                    <a:lstStyle/>
                    <a:p>
                      <a:pPr algn="ctr"/>
                      <a:r>
                        <a:rPr sz="850" b="1" i="0">
                          <a:solidFill>
                            <a:srgbClr val="262626"/>
                          </a:solidFill>
                          <a:latin typeface="Arial"/>
                        </a:rPr>
                        <a:t>50%</a:t>
                      </a:r>
                    </a:p>
                  </a:txBody>
                  <a:tcPr>
                    <a:solidFill>
                      <a:srgbClr val="FFFFFF"/>
                    </a:solidFill>
                  </a:tcPr>
                </a:tc>
                <a:tc>
                  <a:txBody>
                    <a:bodyPr/>
                    <a:lstStyle/>
                    <a:p>
                      <a:pPr algn="ctr"/>
                      <a:r>
                        <a:rPr sz="850" b="0" i="0">
                          <a:solidFill>
                            <a:srgbClr val="262626"/>
                          </a:solidFill>
                          <a:latin typeface="Arial"/>
                        </a:rPr>
                        <a:t>+14.0</a:t>
                      </a:r>
                    </a:p>
                  </a:txBody>
                  <a:tcPr>
                    <a:solidFill>
                      <a:srgbClr val="FFFFFF"/>
                    </a:solidFill>
                  </a:tcPr>
                </a:tc>
                <a:tc>
                  <a:txBody>
                    <a:bodyPr/>
                    <a:lstStyle/>
                    <a:p>
                      <a:pPr algn="ctr"/>
                      <a:r>
                        <a:rPr sz="850" b="0" i="0">
                          <a:solidFill>
                            <a:srgbClr val="262626"/>
                          </a:solidFill>
                          <a:latin typeface="Arial"/>
                        </a:rPr>
                        <a:t>8:51</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Kyle Smith</a:t>
                      </a:r>
                    </a:p>
                  </a:txBody>
                  <a:tcPr>
                    <a:solidFill>
                      <a:srgbClr val="F2F2F2"/>
                    </a:solidFill>
                  </a:tcPr>
                </a:tc>
                <a:tc>
                  <a:txBody>
                    <a:bodyPr/>
                    <a:lstStyle/>
                    <a:p>
                      <a:pPr algn="ctr"/>
                      <a:r>
                        <a:rPr sz="850" b="1"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+28.0</a:t>
                      </a:r>
                    </a:p>
                  </a:txBody>
                  <a:tcPr>
                    <a:solidFill>
                      <a:srgbClr val="F2F2F2"/>
                    </a:solidFill>
                  </a:tcPr>
                </a:tc>
                <a:tc>
                  <a:txBody>
                    <a:bodyPr/>
                    <a:lstStyle/>
                    <a:p>
                      <a:pPr algn="ctr"/>
                      <a:r>
                        <a:rPr sz="850" b="0" i="0">
                          <a:solidFill>
                            <a:srgbClr val="262626"/>
                          </a:solidFill>
                          <a:latin typeface="Arial"/>
                        </a:rPr>
                        <a:t>8:53</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Jannik Schaufler</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+19.7</a:t>
                      </a:r>
                    </a:p>
                  </a:txBody>
                  <a:tcPr>
                    <a:solidFill>
                      <a:srgbClr val="FFFFFF"/>
                    </a:solidFill>
                  </a:tcPr>
                </a:tc>
                <a:tc>
                  <a:txBody>
                    <a:bodyPr/>
                    <a:lstStyle/>
                    <a:p>
                      <a:pPr algn="ctr"/>
                      <a:r>
                        <a:rPr sz="850" b="0" i="0">
                          <a:solidFill>
                            <a:srgbClr val="262626"/>
                          </a:solidFill>
                          <a:latin typeface="Arial"/>
                        </a:rPr>
                        <a:t>9:01</a:t>
                      </a:r>
                    </a:p>
                  </a:txBody>
                  <a:tcPr>
                    <a:solidFill>
                      <a:srgbClr val="FFFFFF"/>
                    </a:solidFill>
                  </a:tcPr>
                </a:tc>
                <a:tc>
                  <a:txBody>
                    <a:bodyPr/>
                    <a:lstStyle/>
                    <a:p>
                      <a:pPr algn="ctr"/>
                      <a:r>
                        <a:rPr sz="850" b="0" i="0">
                          <a:solidFill>
                            <a:srgbClr val="BFBFBF"/>
                          </a:solidFill>
                          <a:latin typeface="Arial"/>
                        </a:rPr>
                        <a:t>3</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0" i="0">
                          <a:solidFill>
                            <a:srgbClr val="262626"/>
                          </a:solidFill>
                          <a:latin typeface="Arial"/>
                        </a:rPr>
                        <a:t>Brayden Mercer</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0" i="0">
                          <a:solidFill>
                            <a:srgbClr val="262626"/>
                          </a:solidFill>
                          <a:latin typeface="Arial"/>
                        </a:rPr>
                        <a:t>+10.5</a:t>
                      </a:r>
                    </a:p>
                  </a:txBody>
                  <a:tcPr>
                    <a:solidFill>
                      <a:srgbClr val="F2F2F2"/>
                    </a:solidFill>
                  </a:tcPr>
                </a:tc>
                <a:tc>
                  <a:txBody>
                    <a:bodyPr/>
                    <a:lstStyle/>
                    <a:p>
                      <a:pPr algn="ctr"/>
                      <a:r>
                        <a:rPr sz="850" b="0" i="0">
                          <a:solidFill>
                            <a:srgbClr val="262626"/>
                          </a:solidFill>
                          <a:latin typeface="Arial"/>
                        </a:rPr>
                        <a:t>9:01</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James Edgar</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+27.5</a:t>
                      </a:r>
                    </a:p>
                  </a:txBody>
                  <a:tcPr>
                    <a:solidFill>
                      <a:srgbClr val="FFFFFF"/>
                    </a:solidFill>
                  </a:tcPr>
                </a:tc>
                <a:tc>
                  <a:txBody>
                    <a:bodyPr/>
                    <a:lstStyle/>
                    <a:p>
                      <a:pPr algn="ctr"/>
                      <a:r>
                        <a:rPr sz="850" b="0" i="0">
                          <a:solidFill>
                            <a:srgbClr val="262626"/>
                          </a:solidFill>
                          <a:latin typeface="Arial"/>
                        </a:rPr>
                        <a:t>9:10</a:t>
                      </a:r>
                    </a:p>
                  </a:txBody>
                  <a:tcPr>
                    <a:solidFill>
                      <a:srgbClr val="FFFFFF"/>
                    </a:solidFill>
                  </a:tcPr>
                </a:tc>
                <a:tc>
                  <a:txBody>
                    <a:bodyPr/>
                    <a:lstStyle/>
                    <a:p>
                      <a:pPr algn="ctr"/>
                      <a:r>
                        <a:rPr sz="850" b="0" i="0">
                          <a:solidFill>
                            <a:srgbClr val="BFBFBF"/>
                          </a:solidFill>
                          <a:latin typeface="Arial"/>
                        </a:rPr>
                        <a:t>4</a:t>
                      </a:r>
                    </a:p>
                  </a:txBody>
                  <a:tcPr>
                    <a:solidFill>
                      <a:srgbClr val="FFFFFF"/>
                    </a:solidFill>
                  </a:tcPr>
                </a:tc>
                <a:extLst>
                  <a:ext uri="{0D108BD9-81ED-4DB2-BD59-A6C34878D82A}">
                    <a16:rowId xmlns:a16="http://schemas.microsoft.com/office/drawing/2014/main" val="10007"/>
                  </a:ext>
                </a:extLst>
              </a:tr>
            </a:tbl>
          </a:graphicData>
        </a:graphic>
      </p:graphicFrame>
      <p:sp>
        <p:nvSpPr>
          <p:cNvPr id="13" name="Rectangle 12"/>
          <p:cNvSpPr/>
          <p:nvPr/>
        </p:nvSpPr>
        <p:spPr>
          <a:xfrm>
            <a:off x="6126480" y="150876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536192"/>
            <a:ext cx="5806440" cy="219456"/>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1828800"/>
          <a:ext cx="5807351" cy="2048256"/>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902866">
                  <a:extLst>
                    <a:ext uri="{9D8B030D-6E8A-4147-A177-3AD203B41FA5}">
                      <a16:colId xmlns:a16="http://schemas.microsoft.com/office/drawing/2014/main" val="20001"/>
                    </a:ext>
                  </a:extLst>
                </a:gridCol>
                <a:gridCol w="1025042">
                  <a:extLst>
                    <a:ext uri="{9D8B030D-6E8A-4147-A177-3AD203B41FA5}">
                      <a16:colId xmlns:a16="http://schemas.microsoft.com/office/drawing/2014/main" val="20002"/>
                    </a:ext>
                  </a:extLst>
                </a:gridCol>
                <a:gridCol w="1025042">
                  <a:extLst>
                    <a:ext uri="{9D8B030D-6E8A-4147-A177-3AD203B41FA5}">
                      <a16:colId xmlns:a16="http://schemas.microsoft.com/office/drawing/2014/main" val="20003"/>
                    </a:ext>
                  </a:extLst>
                </a:gridCol>
                <a:gridCol w="975664">
                  <a:extLst>
                    <a:ext uri="{9D8B030D-6E8A-4147-A177-3AD203B41FA5}">
                      <a16:colId xmlns:a16="http://schemas.microsoft.com/office/drawing/2014/main" val="20004"/>
                    </a:ext>
                  </a:extLst>
                </a:gridCol>
                <a:gridCol w="536752">
                  <a:extLst>
                    <a:ext uri="{9D8B030D-6E8A-4147-A177-3AD203B41FA5}">
                      <a16:colId xmlns:a16="http://schemas.microsoft.com/office/drawing/2014/main" val="20005"/>
                    </a:ext>
                  </a:extLst>
                </a:gridCol>
              </a:tblGrid>
              <a:tr h="256032">
                <a:tc>
                  <a:txBody>
                    <a:bodyPr/>
                    <a:lstStyle/>
                    <a:p>
                      <a:pPr algn="ctr"/>
                      <a:r>
                        <a:rPr sz="900" b="1" i="0">
                          <a:solidFill>
                            <a:srgbClr val="FFFFFF"/>
                          </a:solidFill>
                          <a:latin typeface="Arial"/>
                        </a:rPr>
                        <a:t>#</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Lead Pack %</a:t>
                      </a:r>
                    </a:p>
                  </a:txBody>
                  <a:tcPr>
                    <a:solidFill>
                      <a:srgbClr val="002060"/>
                    </a:solidFill>
                  </a:tcPr>
                </a:tc>
                <a:tc>
                  <a:txBody>
                    <a:bodyPr/>
                    <a:lstStyle/>
                    <a:p>
                      <a:pPr algn="ctr"/>
                      <a:r>
                        <a:rPr sz="900" b="1" i="0">
                          <a:solidFill>
                            <a:srgbClr val="FFFFFF"/>
                          </a:solidFill>
                          <a:latin typeface="Arial"/>
                        </a:rPr>
                        <a:t>Avg Gap (s)</a:t>
                      </a:r>
                    </a:p>
                  </a:txBody>
                  <a:tcPr>
                    <a:solidFill>
                      <a:srgbClr val="002060"/>
                    </a:solidFill>
                  </a:tcPr>
                </a:tc>
                <a:tc>
                  <a:txBody>
                    <a:bodyPr/>
                    <a:lstStyle/>
                    <a:p>
                      <a:pPr algn="ctr"/>
                      <a:r>
                        <a:rPr sz="900" b="1" i="0">
                          <a:solidFill>
                            <a:srgbClr val="FFFFFF"/>
                          </a:solidFill>
                          <a:latin typeface="Arial"/>
                        </a:rPr>
                        <a:t>EWMA Swim</a:t>
                      </a:r>
                    </a:p>
                  </a:txBody>
                  <a:tcPr>
                    <a:solidFill>
                      <a:srgbClr val="002060"/>
                    </a:solidFill>
                  </a:tcPr>
                </a:tc>
                <a:tc>
                  <a:txBody>
                    <a:bodyPr/>
                    <a:lstStyle/>
                    <a:p>
                      <a:pPr algn="ctr"/>
                      <a:r>
                        <a:rPr sz="900" b="1" i="0">
                          <a:solidFill>
                            <a:srgbClr val="FFFFFF"/>
                          </a:solidFill>
                          <a:latin typeface="Arial"/>
                        </a:rPr>
                        <a:t>Races</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Cecilia Perez</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+33.0</a:t>
                      </a:r>
                    </a:p>
                  </a:txBody>
                  <a:tcPr>
                    <a:solidFill>
                      <a:srgbClr val="FFFFFF"/>
                    </a:solidFill>
                  </a:tcPr>
                </a:tc>
                <a:tc>
                  <a:txBody>
                    <a:bodyPr/>
                    <a:lstStyle/>
                    <a:p>
                      <a:pPr algn="ctr"/>
                      <a:r>
                        <a:rPr sz="850" b="0" i="0">
                          <a:solidFill>
                            <a:srgbClr val="262626"/>
                          </a:solidFill>
                          <a:latin typeface="Arial"/>
                        </a:rPr>
                        <a:t>9:36</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0" i="0">
                          <a:solidFill>
                            <a:srgbClr val="262626"/>
                          </a:solidFill>
                          <a:latin typeface="Arial"/>
                        </a:rPr>
                        <a:t>Carlotta Missaglia</a:t>
                      </a:r>
                    </a:p>
                  </a:txBody>
                  <a:tcPr>
                    <a:solidFill>
                      <a:srgbClr val="F2F2F2"/>
                    </a:solidFill>
                  </a:tcPr>
                </a:tc>
                <a:tc>
                  <a:txBody>
                    <a:bodyPr/>
                    <a:lstStyle/>
                    <a:p>
                      <a:pPr algn="ctr"/>
                      <a:r>
                        <a:rPr sz="850" b="1"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+44.0</a:t>
                      </a:r>
                    </a:p>
                  </a:txBody>
                  <a:tcPr>
                    <a:solidFill>
                      <a:srgbClr val="F2F2F2"/>
                    </a:solidFill>
                  </a:tcPr>
                </a:tc>
                <a:tc>
                  <a:txBody>
                    <a:bodyPr/>
                    <a:lstStyle/>
                    <a:p>
                      <a:pPr algn="ctr"/>
                      <a:r>
                        <a:rPr sz="850" b="0" i="0">
                          <a:solidFill>
                            <a:srgbClr val="262626"/>
                          </a:solidFill>
                          <a:latin typeface="Arial"/>
                        </a:rPr>
                        <a:t>9:49</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0" i="0">
                          <a:solidFill>
                            <a:srgbClr val="262626"/>
                          </a:solidFill>
                          <a:latin typeface="Arial"/>
                        </a:rPr>
                        <a:t>Karolina Helga Horváth</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+23.5</a:t>
                      </a:r>
                    </a:p>
                  </a:txBody>
                  <a:tcPr>
                    <a:solidFill>
                      <a:srgbClr val="FFFFFF"/>
                    </a:solidFill>
                  </a:tcPr>
                </a:tc>
                <a:tc>
                  <a:txBody>
                    <a:bodyPr/>
                    <a:lstStyle/>
                    <a:p>
                      <a:pPr algn="ctr"/>
                      <a:r>
                        <a:rPr sz="850" b="0" i="0">
                          <a:solidFill>
                            <a:srgbClr val="262626"/>
                          </a:solidFill>
                          <a:latin typeface="Arial"/>
                        </a:rPr>
                        <a:t>9:50</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Sandra Dodet</a:t>
                      </a:r>
                    </a:p>
                  </a:txBody>
                  <a:tcPr>
                    <a:solidFill>
                      <a:srgbClr val="F2F2F2"/>
                    </a:solidFill>
                  </a:tcPr>
                </a:tc>
                <a:tc>
                  <a:txBody>
                    <a:bodyPr/>
                    <a:lstStyle/>
                    <a:p>
                      <a:pPr algn="ctr"/>
                      <a:r>
                        <a:rPr sz="850" b="1"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+40.5</a:t>
                      </a:r>
                    </a:p>
                  </a:txBody>
                  <a:tcPr>
                    <a:solidFill>
                      <a:srgbClr val="F2F2F2"/>
                    </a:solidFill>
                  </a:tcPr>
                </a:tc>
                <a:tc>
                  <a:txBody>
                    <a:bodyPr/>
                    <a:lstStyle/>
                    <a:p>
                      <a:pPr algn="ctr"/>
                      <a:r>
                        <a:rPr sz="850" b="0" i="0">
                          <a:solidFill>
                            <a:srgbClr val="262626"/>
                          </a:solidFill>
                          <a:latin typeface="Arial"/>
                        </a:rPr>
                        <a:t>9:50</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Nele Dequae</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+50.0</a:t>
                      </a:r>
                    </a:p>
                  </a:txBody>
                  <a:tcPr>
                    <a:solidFill>
                      <a:srgbClr val="FFFFFF"/>
                    </a:solidFill>
                  </a:tcPr>
                </a:tc>
                <a:tc>
                  <a:txBody>
                    <a:bodyPr/>
                    <a:lstStyle/>
                    <a:p>
                      <a:pPr algn="ctr"/>
                      <a:r>
                        <a:rPr sz="850" b="0" i="0">
                          <a:solidFill>
                            <a:srgbClr val="262626"/>
                          </a:solidFill>
                          <a:latin typeface="Arial"/>
                        </a:rPr>
                        <a:t>9:56</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0" i="0">
                          <a:solidFill>
                            <a:srgbClr val="262626"/>
                          </a:solidFill>
                          <a:latin typeface="Arial"/>
                        </a:rPr>
                        <a:t>Margot Garabedian</a:t>
                      </a:r>
                    </a:p>
                  </a:txBody>
                  <a:tcPr>
                    <a:solidFill>
                      <a:srgbClr val="F2F2F2"/>
                    </a:solidFill>
                  </a:tcPr>
                </a:tc>
                <a:tc>
                  <a:txBody>
                    <a:bodyPr/>
                    <a:lstStyle/>
                    <a:p>
                      <a:pPr algn="ctr"/>
                      <a:r>
                        <a:rPr sz="850" b="1"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+25.5</a:t>
                      </a:r>
                    </a:p>
                  </a:txBody>
                  <a:tcPr>
                    <a:solidFill>
                      <a:srgbClr val="F2F2F2"/>
                    </a:solidFill>
                  </a:tcPr>
                </a:tc>
                <a:tc>
                  <a:txBody>
                    <a:bodyPr/>
                    <a:lstStyle/>
                    <a:p>
                      <a:pPr algn="ctr"/>
                      <a:r>
                        <a:rPr sz="850" b="0" i="0">
                          <a:solidFill>
                            <a:srgbClr val="262626"/>
                          </a:solidFill>
                          <a:latin typeface="Arial"/>
                        </a:rPr>
                        <a:t>10:01</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Julia Bröcker</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+34.7</a:t>
                      </a:r>
                    </a:p>
                  </a:txBody>
                  <a:tcPr>
                    <a:solidFill>
                      <a:srgbClr val="FFFFFF"/>
                    </a:solidFill>
                  </a:tcPr>
                </a:tc>
                <a:tc>
                  <a:txBody>
                    <a:bodyPr/>
                    <a:lstStyle/>
                    <a:p>
                      <a:pPr algn="ctr"/>
                      <a:r>
                        <a:rPr sz="850" b="0" i="0">
                          <a:solidFill>
                            <a:srgbClr val="262626"/>
                          </a:solidFill>
                          <a:latin typeface="Arial"/>
                        </a:rPr>
                        <a:t>10:09</a:t>
                      </a:r>
                    </a:p>
                  </a:txBody>
                  <a:tcPr>
                    <a:solidFill>
                      <a:srgbClr val="FFFFFF"/>
                    </a:solidFill>
                  </a:tcPr>
                </a:tc>
                <a:tc>
                  <a:txBody>
                    <a:bodyPr/>
                    <a:lstStyle/>
                    <a:p>
                      <a:pPr algn="ctr"/>
                      <a:r>
                        <a:rPr sz="850" b="0" i="0">
                          <a:solidFill>
                            <a:srgbClr val="BFBFBF"/>
                          </a:solidFill>
                          <a:latin typeface="Arial"/>
                        </a:rPr>
                        <a:t>3</a:t>
                      </a:r>
                    </a:p>
                  </a:txBody>
                  <a:tcPr>
                    <a:solidFill>
                      <a:srgbClr val="FFFFFF"/>
                    </a:solidFill>
                  </a:tcPr>
                </a:tc>
                <a:extLst>
                  <a:ext uri="{0D108BD9-81ED-4DB2-BD59-A6C34878D82A}">
                    <a16:rowId xmlns:a16="http://schemas.microsoft.com/office/drawing/2014/main" val="10007"/>
                  </a:ext>
                </a:extLst>
              </a:tr>
            </a:tbl>
          </a:graphicData>
        </a:graphic>
      </p:graphicFrame>
      <p:sp>
        <p:nvSpPr>
          <p:cNvPr id="16" name="Rectangle 15"/>
          <p:cNvSpPr/>
          <p:nvPr/>
        </p:nvSpPr>
        <p:spPr>
          <a:xfrm>
            <a:off x="274320" y="40690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274320" y="4096512"/>
            <a:ext cx="5806440" cy="219456"/>
          </a:xfrm>
          <a:prstGeom prst="rect">
            <a:avLst/>
          </a:prstGeom>
          <a:noFill/>
        </p:spPr>
        <p:txBody>
          <a:bodyPr wrap="square">
            <a:spAutoFit/>
          </a:bodyPr>
          <a:lstStyle/>
          <a:p>
            <a:pPr algn="ctr"/>
            <a:r>
              <a:rPr sz="1100" b="1" i="0">
                <a:solidFill>
                  <a:srgbClr val="FFFFFF"/>
                </a:solidFill>
                <a:latin typeface="Arial"/>
              </a:rPr>
              <a:t>U23 MEN</a:t>
            </a:r>
          </a:p>
        </p:txBody>
      </p:sp>
      <p:graphicFrame>
        <p:nvGraphicFramePr>
          <p:cNvPr id="18" name="Table 17"/>
          <p:cNvGraphicFramePr>
            <a:graphicFrameLocks noGrp="1"/>
          </p:cNvGraphicFramePr>
          <p:nvPr/>
        </p:nvGraphicFramePr>
        <p:xfrm>
          <a:off x="274320" y="4389120"/>
          <a:ext cx="5807351" cy="2048256"/>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902866">
                  <a:extLst>
                    <a:ext uri="{9D8B030D-6E8A-4147-A177-3AD203B41FA5}">
                      <a16:colId xmlns:a16="http://schemas.microsoft.com/office/drawing/2014/main" val="20001"/>
                    </a:ext>
                  </a:extLst>
                </a:gridCol>
                <a:gridCol w="1025042">
                  <a:extLst>
                    <a:ext uri="{9D8B030D-6E8A-4147-A177-3AD203B41FA5}">
                      <a16:colId xmlns:a16="http://schemas.microsoft.com/office/drawing/2014/main" val="20002"/>
                    </a:ext>
                  </a:extLst>
                </a:gridCol>
                <a:gridCol w="1025042">
                  <a:extLst>
                    <a:ext uri="{9D8B030D-6E8A-4147-A177-3AD203B41FA5}">
                      <a16:colId xmlns:a16="http://schemas.microsoft.com/office/drawing/2014/main" val="20003"/>
                    </a:ext>
                  </a:extLst>
                </a:gridCol>
                <a:gridCol w="975664">
                  <a:extLst>
                    <a:ext uri="{9D8B030D-6E8A-4147-A177-3AD203B41FA5}">
                      <a16:colId xmlns:a16="http://schemas.microsoft.com/office/drawing/2014/main" val="20004"/>
                    </a:ext>
                  </a:extLst>
                </a:gridCol>
                <a:gridCol w="536752">
                  <a:extLst>
                    <a:ext uri="{9D8B030D-6E8A-4147-A177-3AD203B41FA5}">
                      <a16:colId xmlns:a16="http://schemas.microsoft.com/office/drawing/2014/main" val="20005"/>
                    </a:ext>
                  </a:extLst>
                </a:gridCol>
              </a:tblGrid>
              <a:tr h="256032">
                <a:tc>
                  <a:txBody>
                    <a:bodyPr/>
                    <a:lstStyle/>
                    <a:p>
                      <a:pPr algn="ctr"/>
                      <a:r>
                        <a:rPr sz="900" b="1" i="0">
                          <a:solidFill>
                            <a:srgbClr val="FFFFFF"/>
                          </a:solidFill>
                          <a:latin typeface="Arial"/>
                        </a:rPr>
                        <a:t>#</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Lead Pack %</a:t>
                      </a:r>
                    </a:p>
                  </a:txBody>
                  <a:tcPr>
                    <a:solidFill>
                      <a:srgbClr val="002060"/>
                    </a:solidFill>
                  </a:tcPr>
                </a:tc>
                <a:tc>
                  <a:txBody>
                    <a:bodyPr/>
                    <a:lstStyle/>
                    <a:p>
                      <a:pPr algn="ctr"/>
                      <a:r>
                        <a:rPr sz="900" b="1" i="0">
                          <a:solidFill>
                            <a:srgbClr val="FFFFFF"/>
                          </a:solidFill>
                          <a:latin typeface="Arial"/>
                        </a:rPr>
                        <a:t>Avg Gap (s)</a:t>
                      </a:r>
                    </a:p>
                  </a:txBody>
                  <a:tcPr>
                    <a:solidFill>
                      <a:srgbClr val="002060"/>
                    </a:solidFill>
                  </a:tcPr>
                </a:tc>
                <a:tc>
                  <a:txBody>
                    <a:bodyPr/>
                    <a:lstStyle/>
                    <a:p>
                      <a:pPr algn="ctr"/>
                      <a:r>
                        <a:rPr sz="900" b="1" i="0">
                          <a:solidFill>
                            <a:srgbClr val="FFFFFF"/>
                          </a:solidFill>
                          <a:latin typeface="Arial"/>
                        </a:rPr>
                        <a:t>EWMA Swim</a:t>
                      </a:r>
                    </a:p>
                  </a:txBody>
                  <a:tcPr>
                    <a:solidFill>
                      <a:srgbClr val="002060"/>
                    </a:solidFill>
                  </a:tcPr>
                </a:tc>
                <a:tc>
                  <a:txBody>
                    <a:bodyPr/>
                    <a:lstStyle/>
                    <a:p>
                      <a:pPr algn="ctr"/>
                      <a:r>
                        <a:rPr sz="900" b="1" i="0">
                          <a:solidFill>
                            <a:srgbClr val="FFFFFF"/>
                          </a:solidFill>
                          <a:latin typeface="Arial"/>
                        </a:rPr>
                        <a:t>Races</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Pavel Sorokin</a:t>
                      </a:r>
                    </a:p>
                  </a:txBody>
                  <a:tcPr>
                    <a:solidFill>
                      <a:srgbClr val="FFFFFF"/>
                    </a:solidFill>
                  </a:tcPr>
                </a:tc>
                <a:tc>
                  <a:txBody>
                    <a:bodyPr/>
                    <a:lstStyle/>
                    <a:p>
                      <a:pPr algn="ctr"/>
                      <a:r>
                        <a:rPr sz="850" b="1" i="0">
                          <a:solidFill>
                            <a:srgbClr val="262626"/>
                          </a:solidFill>
                          <a:latin typeface="Arial"/>
                        </a:rPr>
                        <a:t>100%</a:t>
                      </a:r>
                    </a:p>
                  </a:txBody>
                  <a:tcPr>
                    <a:solidFill>
                      <a:srgbClr val="FFFFFF"/>
                    </a:solidFill>
                  </a:tcPr>
                </a:tc>
                <a:tc>
                  <a:txBody>
                    <a:bodyPr/>
                    <a:lstStyle/>
                    <a:p>
                      <a:pPr algn="ctr"/>
                      <a:r>
                        <a:rPr sz="850" b="0" i="0">
                          <a:solidFill>
                            <a:srgbClr val="262626"/>
                          </a:solidFill>
                          <a:latin typeface="Arial"/>
                        </a:rPr>
                        <a:t>+11.0</a:t>
                      </a:r>
                    </a:p>
                  </a:txBody>
                  <a:tcPr>
                    <a:solidFill>
                      <a:srgbClr val="FFFFFF"/>
                    </a:solidFill>
                  </a:tcPr>
                </a:tc>
                <a:tc>
                  <a:txBody>
                    <a:bodyPr/>
                    <a:lstStyle/>
                    <a:p>
                      <a:pPr algn="ctr"/>
                      <a:r>
                        <a:rPr sz="850" b="0" i="0">
                          <a:solidFill>
                            <a:srgbClr val="262626"/>
                          </a:solidFill>
                          <a:latin typeface="Arial"/>
                        </a:rPr>
                        <a:t>17:41</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0" i="0">
                          <a:solidFill>
                            <a:srgbClr val="262626"/>
                          </a:solidFill>
                          <a:latin typeface="Arial"/>
                        </a:rPr>
                        <a:t>Jules Rethoret</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0" i="0">
                          <a:solidFill>
                            <a:srgbClr val="262626"/>
                          </a:solidFill>
                          <a:latin typeface="Arial"/>
                        </a:rPr>
                        <a:t>+11.5</a:t>
                      </a:r>
                    </a:p>
                  </a:txBody>
                  <a:tcPr>
                    <a:solidFill>
                      <a:srgbClr val="F2F2F2"/>
                    </a:solidFill>
                  </a:tcPr>
                </a:tc>
                <a:tc>
                  <a:txBody>
                    <a:bodyPr/>
                    <a:lstStyle/>
                    <a:p>
                      <a:pPr algn="ctr"/>
                      <a:r>
                        <a:rPr sz="850" b="0" i="0">
                          <a:solidFill>
                            <a:srgbClr val="262626"/>
                          </a:solidFill>
                          <a:latin typeface="Arial"/>
                        </a:rPr>
                        <a:t>17:41</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0" i="0">
                          <a:solidFill>
                            <a:srgbClr val="262626"/>
                          </a:solidFill>
                          <a:latin typeface="Arial"/>
                        </a:rPr>
                        <a:t>Esteban Basanta Fouz</a:t>
                      </a:r>
                    </a:p>
                  </a:txBody>
                  <a:tcPr>
                    <a:solidFill>
                      <a:srgbClr val="FFFFFF"/>
                    </a:solidFill>
                  </a:tcPr>
                </a:tc>
                <a:tc>
                  <a:txBody>
                    <a:bodyPr/>
                    <a:lstStyle/>
                    <a:p>
                      <a:pPr algn="ctr"/>
                      <a:r>
                        <a:rPr sz="850" b="1" i="0">
                          <a:solidFill>
                            <a:srgbClr val="262626"/>
                          </a:solidFill>
                          <a:latin typeface="Arial"/>
                        </a:rPr>
                        <a:t>50%</a:t>
                      </a:r>
                    </a:p>
                  </a:txBody>
                  <a:tcPr>
                    <a:solidFill>
                      <a:srgbClr val="FFFFFF"/>
                    </a:solidFill>
                  </a:tcPr>
                </a:tc>
                <a:tc>
                  <a:txBody>
                    <a:bodyPr/>
                    <a:lstStyle/>
                    <a:p>
                      <a:pPr algn="ctr"/>
                      <a:r>
                        <a:rPr sz="850" b="0" i="0">
                          <a:solidFill>
                            <a:srgbClr val="262626"/>
                          </a:solidFill>
                          <a:latin typeface="Arial"/>
                        </a:rPr>
                        <a:t>+14.0</a:t>
                      </a:r>
                    </a:p>
                  </a:txBody>
                  <a:tcPr>
                    <a:solidFill>
                      <a:srgbClr val="FFFFFF"/>
                    </a:solidFill>
                  </a:tcPr>
                </a:tc>
                <a:tc>
                  <a:txBody>
                    <a:bodyPr/>
                    <a:lstStyle/>
                    <a:p>
                      <a:pPr algn="ctr"/>
                      <a:r>
                        <a:rPr sz="850" b="0" i="0">
                          <a:solidFill>
                            <a:srgbClr val="262626"/>
                          </a:solidFill>
                          <a:latin typeface="Arial"/>
                        </a:rPr>
                        <a:t>17:43</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Mitch Kolkman</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0" i="0">
                          <a:solidFill>
                            <a:srgbClr val="262626"/>
                          </a:solidFill>
                          <a:latin typeface="Arial"/>
                        </a:rPr>
                        <a:t>+10.8</a:t>
                      </a:r>
                    </a:p>
                  </a:txBody>
                  <a:tcPr>
                    <a:solidFill>
                      <a:srgbClr val="F2F2F2"/>
                    </a:solidFill>
                  </a:tcPr>
                </a:tc>
                <a:tc>
                  <a:txBody>
                    <a:bodyPr/>
                    <a:lstStyle/>
                    <a:p>
                      <a:pPr algn="ctr"/>
                      <a:r>
                        <a:rPr sz="850" b="0" i="0">
                          <a:solidFill>
                            <a:srgbClr val="262626"/>
                          </a:solidFill>
                          <a:latin typeface="Arial"/>
                        </a:rPr>
                        <a:t>17:50</a:t>
                      </a:r>
                    </a:p>
                  </a:txBody>
                  <a:tcPr>
                    <a:solidFill>
                      <a:srgbClr val="F2F2F2"/>
                    </a:solidFill>
                  </a:tcPr>
                </a:tc>
                <a:tc>
                  <a:txBody>
                    <a:bodyPr/>
                    <a:lstStyle/>
                    <a:p>
                      <a:pPr algn="ctr"/>
                      <a:r>
                        <a:rPr sz="850" b="0" i="0">
                          <a:solidFill>
                            <a:srgbClr val="BFBFBF"/>
                          </a:solidFill>
                          <a:latin typeface="Arial"/>
                        </a:rPr>
                        <a:t>4</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Nicolas Probert Vargas</a:t>
                      </a:r>
                    </a:p>
                  </a:txBody>
                  <a:tcPr>
                    <a:solidFill>
                      <a:srgbClr val="FFFFFF"/>
                    </a:solidFill>
                  </a:tcPr>
                </a:tc>
                <a:tc>
                  <a:txBody>
                    <a:bodyPr/>
                    <a:lstStyle/>
                    <a:p>
                      <a:pPr algn="ctr"/>
                      <a:r>
                        <a:rPr sz="850" b="1" i="0">
                          <a:solidFill>
                            <a:srgbClr val="262626"/>
                          </a:solidFill>
                          <a:latin typeface="Arial"/>
                        </a:rPr>
                        <a:t>50%</a:t>
                      </a:r>
                    </a:p>
                  </a:txBody>
                  <a:tcPr>
                    <a:solidFill>
                      <a:srgbClr val="FFFFFF"/>
                    </a:solidFill>
                  </a:tcPr>
                </a:tc>
                <a:tc>
                  <a:txBody>
                    <a:bodyPr/>
                    <a:lstStyle/>
                    <a:p>
                      <a:pPr algn="ctr"/>
                      <a:r>
                        <a:rPr sz="850" b="0" i="0">
                          <a:solidFill>
                            <a:srgbClr val="262626"/>
                          </a:solidFill>
                          <a:latin typeface="Arial"/>
                        </a:rPr>
                        <a:t>+27.5</a:t>
                      </a:r>
                    </a:p>
                  </a:txBody>
                  <a:tcPr>
                    <a:solidFill>
                      <a:srgbClr val="FFFFFF"/>
                    </a:solidFill>
                  </a:tcPr>
                </a:tc>
                <a:tc>
                  <a:txBody>
                    <a:bodyPr/>
                    <a:lstStyle/>
                    <a:p>
                      <a:pPr algn="ctr"/>
                      <a:r>
                        <a:rPr sz="850" b="0" i="0">
                          <a:solidFill>
                            <a:srgbClr val="262626"/>
                          </a:solidFill>
                          <a:latin typeface="Arial"/>
                        </a:rPr>
                        <a:t>17:54</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0" i="0">
                          <a:solidFill>
                            <a:srgbClr val="262626"/>
                          </a:solidFill>
                          <a:latin typeface="Arial"/>
                        </a:rPr>
                        <a:t>Sebastian Wernersen</a:t>
                      </a:r>
                    </a:p>
                  </a:txBody>
                  <a:tcPr>
                    <a:solidFill>
                      <a:srgbClr val="F2F2F2"/>
                    </a:solidFill>
                  </a:tcPr>
                </a:tc>
                <a:tc>
                  <a:txBody>
                    <a:bodyPr/>
                    <a:lstStyle/>
                    <a:p>
                      <a:pPr algn="ctr"/>
                      <a:r>
                        <a:rPr sz="850" b="1" i="0">
                          <a:solidFill>
                            <a:srgbClr val="262626"/>
                          </a:solidFill>
                          <a:latin typeface="Arial"/>
                        </a:rPr>
                        <a:t>25%</a:t>
                      </a:r>
                    </a:p>
                  </a:txBody>
                  <a:tcPr>
                    <a:solidFill>
                      <a:srgbClr val="F2F2F2"/>
                    </a:solidFill>
                  </a:tcPr>
                </a:tc>
                <a:tc>
                  <a:txBody>
                    <a:bodyPr/>
                    <a:lstStyle/>
                    <a:p>
                      <a:pPr algn="ctr"/>
                      <a:r>
                        <a:rPr sz="850" b="0" i="0">
                          <a:solidFill>
                            <a:srgbClr val="262626"/>
                          </a:solidFill>
                          <a:latin typeface="Arial"/>
                        </a:rPr>
                        <a:t>+22.0</a:t>
                      </a:r>
                    </a:p>
                  </a:txBody>
                  <a:tcPr>
                    <a:solidFill>
                      <a:srgbClr val="F2F2F2"/>
                    </a:solidFill>
                  </a:tcPr>
                </a:tc>
                <a:tc>
                  <a:txBody>
                    <a:bodyPr/>
                    <a:lstStyle/>
                    <a:p>
                      <a:pPr algn="ctr"/>
                      <a:r>
                        <a:rPr sz="850" b="0" i="0">
                          <a:solidFill>
                            <a:srgbClr val="262626"/>
                          </a:solidFill>
                          <a:latin typeface="Arial"/>
                        </a:rPr>
                        <a:t>18:00</a:t>
                      </a:r>
                    </a:p>
                  </a:txBody>
                  <a:tcPr>
                    <a:solidFill>
                      <a:srgbClr val="F2F2F2"/>
                    </a:solidFill>
                  </a:tcPr>
                </a:tc>
                <a:tc>
                  <a:txBody>
                    <a:bodyPr/>
                    <a:lstStyle/>
                    <a:p>
                      <a:pPr algn="ctr"/>
                      <a:r>
                        <a:rPr sz="850" b="0" i="0">
                          <a:solidFill>
                            <a:srgbClr val="BFBFBF"/>
                          </a:solidFill>
                          <a:latin typeface="Arial"/>
                        </a:rPr>
                        <a:t>4</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Alessio Crociani</a:t>
                      </a:r>
                    </a:p>
                  </a:txBody>
                  <a:tcPr>
                    <a:solidFill>
                      <a:srgbClr val="FFFFFF"/>
                    </a:solidFill>
                  </a:tcPr>
                </a:tc>
                <a:tc>
                  <a:txBody>
                    <a:bodyPr/>
                    <a:lstStyle/>
                    <a:p>
                      <a:pPr algn="ctr"/>
                      <a:r>
                        <a:rPr sz="850" b="1" i="0">
                          <a:solidFill>
                            <a:srgbClr val="262626"/>
                          </a:solidFill>
                          <a:latin typeface="Arial"/>
                        </a:rPr>
                        <a:t>100%</a:t>
                      </a:r>
                    </a:p>
                  </a:txBody>
                  <a:tcPr>
                    <a:solidFill>
                      <a:srgbClr val="FFFFFF"/>
                    </a:solidFill>
                  </a:tcPr>
                </a:tc>
                <a:tc>
                  <a:txBody>
                    <a:bodyPr/>
                    <a:lstStyle/>
                    <a:p>
                      <a:pPr algn="ctr"/>
                      <a:r>
                        <a:rPr sz="850" b="0" i="0">
                          <a:solidFill>
                            <a:srgbClr val="262626"/>
                          </a:solidFill>
                          <a:latin typeface="Arial"/>
                        </a:rPr>
                        <a:t>+0.0</a:t>
                      </a:r>
                    </a:p>
                  </a:txBody>
                  <a:tcPr>
                    <a:solidFill>
                      <a:srgbClr val="FFFFFF"/>
                    </a:solidFill>
                  </a:tcPr>
                </a:tc>
                <a:tc>
                  <a:txBody>
                    <a:bodyPr/>
                    <a:lstStyle/>
                    <a:p>
                      <a:pPr algn="ctr"/>
                      <a:r>
                        <a:rPr sz="850" b="0" i="0">
                          <a:solidFill>
                            <a:srgbClr val="262626"/>
                          </a:solidFill>
                          <a:latin typeface="Arial"/>
                        </a:rPr>
                        <a:t>18:06</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7"/>
                  </a:ext>
                </a:extLst>
              </a:tr>
            </a:tbl>
          </a:graphicData>
        </a:graphic>
      </p:graphicFrame>
      <p:sp>
        <p:nvSpPr>
          <p:cNvPr id="19" name="Rectangle 18"/>
          <p:cNvSpPr/>
          <p:nvPr/>
        </p:nvSpPr>
        <p:spPr>
          <a:xfrm>
            <a:off x="6126480" y="40690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6126480" y="4096512"/>
            <a:ext cx="5806440" cy="219456"/>
          </a:xfrm>
          <a:prstGeom prst="rect">
            <a:avLst/>
          </a:prstGeom>
          <a:noFill/>
        </p:spPr>
        <p:txBody>
          <a:bodyPr wrap="square">
            <a:spAutoFit/>
          </a:bodyPr>
          <a:lstStyle/>
          <a:p>
            <a:pPr algn="ctr"/>
            <a:r>
              <a:rPr sz="1100" b="1" i="0">
                <a:solidFill>
                  <a:srgbClr val="FFFFFF"/>
                </a:solidFill>
                <a:latin typeface="Arial"/>
              </a:rPr>
              <a:t>U23 WOMEN</a:t>
            </a:r>
          </a:p>
        </p:txBody>
      </p:sp>
      <p:graphicFrame>
        <p:nvGraphicFramePr>
          <p:cNvPr id="21" name="Table 20"/>
          <p:cNvGraphicFramePr>
            <a:graphicFrameLocks noGrp="1"/>
          </p:cNvGraphicFramePr>
          <p:nvPr/>
        </p:nvGraphicFramePr>
        <p:xfrm>
          <a:off x="6126480" y="4389120"/>
          <a:ext cx="5807351" cy="2048256"/>
        </p:xfrm>
        <a:graphic>
          <a:graphicData uri="http://schemas.openxmlformats.org/drawingml/2006/table">
            <a:tbl>
              <a:tblPr firstRow="1" bandRow="1">
                <a:tableStyleId>{5C22544A-7EE6-4342-B048-85BDC9FD1C3A}</a:tableStyleId>
              </a:tblPr>
              <a:tblGrid>
                <a:gridCol w="341985">
                  <a:extLst>
                    <a:ext uri="{9D8B030D-6E8A-4147-A177-3AD203B41FA5}">
                      <a16:colId xmlns:a16="http://schemas.microsoft.com/office/drawing/2014/main" val="20000"/>
                    </a:ext>
                  </a:extLst>
                </a:gridCol>
                <a:gridCol w="1902866">
                  <a:extLst>
                    <a:ext uri="{9D8B030D-6E8A-4147-A177-3AD203B41FA5}">
                      <a16:colId xmlns:a16="http://schemas.microsoft.com/office/drawing/2014/main" val="20001"/>
                    </a:ext>
                  </a:extLst>
                </a:gridCol>
                <a:gridCol w="1025042">
                  <a:extLst>
                    <a:ext uri="{9D8B030D-6E8A-4147-A177-3AD203B41FA5}">
                      <a16:colId xmlns:a16="http://schemas.microsoft.com/office/drawing/2014/main" val="20002"/>
                    </a:ext>
                  </a:extLst>
                </a:gridCol>
                <a:gridCol w="1025042">
                  <a:extLst>
                    <a:ext uri="{9D8B030D-6E8A-4147-A177-3AD203B41FA5}">
                      <a16:colId xmlns:a16="http://schemas.microsoft.com/office/drawing/2014/main" val="20003"/>
                    </a:ext>
                  </a:extLst>
                </a:gridCol>
                <a:gridCol w="975664">
                  <a:extLst>
                    <a:ext uri="{9D8B030D-6E8A-4147-A177-3AD203B41FA5}">
                      <a16:colId xmlns:a16="http://schemas.microsoft.com/office/drawing/2014/main" val="20004"/>
                    </a:ext>
                  </a:extLst>
                </a:gridCol>
                <a:gridCol w="536752">
                  <a:extLst>
                    <a:ext uri="{9D8B030D-6E8A-4147-A177-3AD203B41FA5}">
                      <a16:colId xmlns:a16="http://schemas.microsoft.com/office/drawing/2014/main" val="20005"/>
                    </a:ext>
                  </a:extLst>
                </a:gridCol>
              </a:tblGrid>
              <a:tr h="256032">
                <a:tc>
                  <a:txBody>
                    <a:bodyPr/>
                    <a:lstStyle/>
                    <a:p>
                      <a:pPr algn="ctr"/>
                      <a:r>
                        <a:rPr sz="900" b="1" i="0">
                          <a:solidFill>
                            <a:srgbClr val="FFFFFF"/>
                          </a:solidFill>
                          <a:latin typeface="Arial"/>
                        </a:rPr>
                        <a:t>#</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Lead Pack %</a:t>
                      </a:r>
                    </a:p>
                  </a:txBody>
                  <a:tcPr>
                    <a:solidFill>
                      <a:srgbClr val="002060"/>
                    </a:solidFill>
                  </a:tcPr>
                </a:tc>
                <a:tc>
                  <a:txBody>
                    <a:bodyPr/>
                    <a:lstStyle/>
                    <a:p>
                      <a:pPr algn="ctr"/>
                      <a:r>
                        <a:rPr sz="900" b="1" i="0">
                          <a:solidFill>
                            <a:srgbClr val="FFFFFF"/>
                          </a:solidFill>
                          <a:latin typeface="Arial"/>
                        </a:rPr>
                        <a:t>Avg Gap (s)</a:t>
                      </a:r>
                    </a:p>
                  </a:txBody>
                  <a:tcPr>
                    <a:solidFill>
                      <a:srgbClr val="002060"/>
                    </a:solidFill>
                  </a:tcPr>
                </a:tc>
                <a:tc>
                  <a:txBody>
                    <a:bodyPr/>
                    <a:lstStyle/>
                    <a:p>
                      <a:pPr algn="ctr"/>
                      <a:r>
                        <a:rPr sz="900" b="1" i="0">
                          <a:solidFill>
                            <a:srgbClr val="FFFFFF"/>
                          </a:solidFill>
                          <a:latin typeface="Arial"/>
                        </a:rPr>
                        <a:t>EWMA Swim</a:t>
                      </a:r>
                    </a:p>
                  </a:txBody>
                  <a:tcPr>
                    <a:solidFill>
                      <a:srgbClr val="002060"/>
                    </a:solidFill>
                  </a:tcPr>
                </a:tc>
                <a:tc>
                  <a:txBody>
                    <a:bodyPr/>
                    <a:lstStyle/>
                    <a:p>
                      <a:pPr algn="ctr"/>
                      <a:r>
                        <a:rPr sz="900" b="1" i="0">
                          <a:solidFill>
                            <a:srgbClr val="FFFFFF"/>
                          </a:solidFill>
                          <a:latin typeface="Arial"/>
                        </a:rPr>
                        <a:t>Races</a:t>
                      </a:r>
                    </a:p>
                  </a:txBody>
                  <a:tcPr>
                    <a:solidFill>
                      <a:srgbClr val="002060"/>
                    </a:solidFill>
                  </a:tcPr>
                </a:tc>
                <a:extLst>
                  <a:ext uri="{0D108BD9-81ED-4DB2-BD59-A6C34878D82A}">
                    <a16:rowId xmlns:a16="http://schemas.microsoft.com/office/drawing/2014/main" val="10000"/>
                  </a:ext>
                </a:extLst>
              </a:tr>
              <a:tr h="256032">
                <a:tc>
                  <a:txBody>
                    <a:bodyPr/>
                    <a:lstStyle/>
                    <a:p>
                      <a:pPr algn="ctr"/>
                      <a:r>
                        <a:rPr sz="850" b="1" i="0">
                          <a:solidFill>
                            <a:srgbClr val="002060"/>
                          </a:solidFill>
                          <a:latin typeface="Arial"/>
                        </a:rPr>
                        <a:t>1</a:t>
                      </a:r>
                    </a:p>
                  </a:txBody>
                  <a:tcPr>
                    <a:solidFill>
                      <a:srgbClr val="FFFFFF"/>
                    </a:solidFill>
                  </a:tcPr>
                </a:tc>
                <a:tc>
                  <a:txBody>
                    <a:bodyPr/>
                    <a:lstStyle/>
                    <a:p>
                      <a:pPr algn="l"/>
                      <a:r>
                        <a:rPr sz="850" b="0" i="0">
                          <a:solidFill>
                            <a:srgbClr val="262626"/>
                          </a:solidFill>
                          <a:latin typeface="Arial"/>
                        </a:rPr>
                        <a:t>Tara Sosinski</a:t>
                      </a:r>
                    </a:p>
                  </a:txBody>
                  <a:tcPr>
                    <a:solidFill>
                      <a:srgbClr val="FFFFFF"/>
                    </a:solidFill>
                  </a:tcPr>
                </a:tc>
                <a:tc>
                  <a:txBody>
                    <a:bodyPr/>
                    <a:lstStyle/>
                    <a:p>
                      <a:pPr algn="ctr"/>
                      <a:r>
                        <a:rPr sz="850" b="1" i="0">
                          <a:solidFill>
                            <a:srgbClr val="262626"/>
                          </a:solidFill>
                          <a:latin typeface="Arial"/>
                        </a:rPr>
                        <a:t>100%</a:t>
                      </a:r>
                    </a:p>
                  </a:txBody>
                  <a:tcPr>
                    <a:solidFill>
                      <a:srgbClr val="FFFFFF"/>
                    </a:solidFill>
                  </a:tcPr>
                </a:tc>
                <a:tc>
                  <a:txBody>
                    <a:bodyPr/>
                    <a:lstStyle/>
                    <a:p>
                      <a:pPr algn="ctr"/>
                      <a:r>
                        <a:rPr sz="850" b="0" i="0">
                          <a:solidFill>
                            <a:srgbClr val="262626"/>
                          </a:solidFill>
                          <a:latin typeface="Arial"/>
                        </a:rPr>
                        <a:t>+6.5</a:t>
                      </a:r>
                    </a:p>
                  </a:txBody>
                  <a:tcPr>
                    <a:solidFill>
                      <a:srgbClr val="FFFFFF"/>
                    </a:solidFill>
                  </a:tcPr>
                </a:tc>
                <a:tc>
                  <a:txBody>
                    <a:bodyPr/>
                    <a:lstStyle/>
                    <a:p>
                      <a:pPr algn="ctr"/>
                      <a:r>
                        <a:rPr sz="850" b="0" i="0">
                          <a:solidFill>
                            <a:srgbClr val="262626"/>
                          </a:solidFill>
                          <a:latin typeface="Arial"/>
                        </a:rPr>
                        <a:t>18:45</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1"/>
                  </a:ext>
                </a:extLst>
              </a:tr>
              <a:tr h="256032">
                <a:tc>
                  <a:txBody>
                    <a:bodyPr/>
                    <a:lstStyle/>
                    <a:p>
                      <a:pPr algn="ctr"/>
                      <a:r>
                        <a:rPr sz="850" b="1" i="0">
                          <a:solidFill>
                            <a:srgbClr val="002060"/>
                          </a:solidFill>
                          <a:latin typeface="Arial"/>
                        </a:rPr>
                        <a:t>2</a:t>
                      </a:r>
                    </a:p>
                  </a:txBody>
                  <a:tcPr>
                    <a:solidFill>
                      <a:srgbClr val="F2F2F2"/>
                    </a:solidFill>
                  </a:tcPr>
                </a:tc>
                <a:tc>
                  <a:txBody>
                    <a:bodyPr/>
                    <a:lstStyle/>
                    <a:p>
                      <a:pPr algn="l"/>
                      <a:r>
                        <a:rPr sz="850" b="0" i="0">
                          <a:solidFill>
                            <a:srgbClr val="262626"/>
                          </a:solidFill>
                          <a:latin typeface="Arial"/>
                        </a:rPr>
                        <a:t>Angelica Prestia</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0" i="0">
                          <a:solidFill>
                            <a:srgbClr val="262626"/>
                          </a:solidFill>
                          <a:latin typeface="Arial"/>
                        </a:rPr>
                        <a:t>+9.5</a:t>
                      </a:r>
                    </a:p>
                  </a:txBody>
                  <a:tcPr>
                    <a:solidFill>
                      <a:srgbClr val="F2F2F2"/>
                    </a:solidFill>
                  </a:tcPr>
                </a:tc>
                <a:tc>
                  <a:txBody>
                    <a:bodyPr/>
                    <a:lstStyle/>
                    <a:p>
                      <a:pPr algn="ctr"/>
                      <a:r>
                        <a:rPr sz="850" b="0" i="0">
                          <a:solidFill>
                            <a:srgbClr val="262626"/>
                          </a:solidFill>
                          <a:latin typeface="Arial"/>
                        </a:rPr>
                        <a:t>18:48</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2"/>
                  </a:ext>
                </a:extLst>
              </a:tr>
              <a:tr h="256032">
                <a:tc>
                  <a:txBody>
                    <a:bodyPr/>
                    <a:lstStyle/>
                    <a:p>
                      <a:pPr algn="ctr"/>
                      <a:r>
                        <a:rPr sz="850" b="1" i="0">
                          <a:solidFill>
                            <a:srgbClr val="002060"/>
                          </a:solidFill>
                          <a:latin typeface="Arial"/>
                        </a:rPr>
                        <a:t>3</a:t>
                      </a:r>
                    </a:p>
                  </a:txBody>
                  <a:tcPr>
                    <a:solidFill>
                      <a:srgbClr val="FFFFFF"/>
                    </a:solidFill>
                  </a:tcPr>
                </a:tc>
                <a:tc>
                  <a:txBody>
                    <a:bodyPr/>
                    <a:lstStyle/>
                    <a:p>
                      <a:pPr algn="l"/>
                      <a:r>
                        <a:rPr sz="850" b="0" i="0">
                          <a:solidFill>
                            <a:srgbClr val="262626"/>
                          </a:solidFill>
                          <a:latin typeface="Arial"/>
                        </a:rPr>
                        <a:t>Sophia Howell</a:t>
                      </a:r>
                    </a:p>
                  </a:txBody>
                  <a:tcPr>
                    <a:solidFill>
                      <a:srgbClr val="FFFFFF"/>
                    </a:solidFill>
                  </a:tcPr>
                </a:tc>
                <a:tc>
                  <a:txBody>
                    <a:bodyPr/>
                    <a:lstStyle/>
                    <a:p>
                      <a:pPr algn="ctr"/>
                      <a:r>
                        <a:rPr sz="850" b="1" i="0">
                          <a:solidFill>
                            <a:srgbClr val="262626"/>
                          </a:solidFill>
                          <a:latin typeface="Arial"/>
                        </a:rPr>
                        <a:t>100%</a:t>
                      </a:r>
                    </a:p>
                  </a:txBody>
                  <a:tcPr>
                    <a:solidFill>
                      <a:srgbClr val="FFFFFF"/>
                    </a:solidFill>
                  </a:tcPr>
                </a:tc>
                <a:tc>
                  <a:txBody>
                    <a:bodyPr/>
                    <a:lstStyle/>
                    <a:p>
                      <a:pPr algn="ctr"/>
                      <a:r>
                        <a:rPr sz="850" b="0" i="0">
                          <a:solidFill>
                            <a:srgbClr val="262626"/>
                          </a:solidFill>
                          <a:latin typeface="Arial"/>
                        </a:rPr>
                        <a:t>+1.0</a:t>
                      </a:r>
                    </a:p>
                  </a:txBody>
                  <a:tcPr>
                    <a:solidFill>
                      <a:srgbClr val="FFFFFF"/>
                    </a:solidFill>
                  </a:tcPr>
                </a:tc>
                <a:tc>
                  <a:txBody>
                    <a:bodyPr/>
                    <a:lstStyle/>
                    <a:p>
                      <a:pPr algn="ctr"/>
                      <a:r>
                        <a:rPr sz="850" b="0" i="0">
                          <a:solidFill>
                            <a:srgbClr val="262626"/>
                          </a:solidFill>
                          <a:latin typeface="Arial"/>
                        </a:rPr>
                        <a:t>19:03</a:t>
                      </a:r>
                    </a:p>
                  </a:txBody>
                  <a:tcPr>
                    <a:solidFill>
                      <a:srgbClr val="FFFFFF"/>
                    </a:solidFill>
                  </a:tcPr>
                </a:tc>
                <a:tc>
                  <a:txBody>
                    <a:bodyPr/>
                    <a:lstStyle/>
                    <a:p>
                      <a:pPr algn="ctr"/>
                      <a:r>
                        <a:rPr sz="850" b="0" i="0">
                          <a:solidFill>
                            <a:srgbClr val="BFBFBF"/>
                          </a:solidFill>
                          <a:latin typeface="Arial"/>
                        </a:rPr>
                        <a:t>3</a:t>
                      </a:r>
                    </a:p>
                  </a:txBody>
                  <a:tcPr>
                    <a:solidFill>
                      <a:srgbClr val="FFFFFF"/>
                    </a:solidFill>
                  </a:tcPr>
                </a:tc>
                <a:extLst>
                  <a:ext uri="{0D108BD9-81ED-4DB2-BD59-A6C34878D82A}">
                    <a16:rowId xmlns:a16="http://schemas.microsoft.com/office/drawing/2014/main" val="10003"/>
                  </a:ext>
                </a:extLst>
              </a:tr>
              <a:tr h="256032">
                <a:tc>
                  <a:txBody>
                    <a:bodyPr/>
                    <a:lstStyle/>
                    <a:p>
                      <a:pPr algn="ctr"/>
                      <a:r>
                        <a:rPr sz="850" b="1" i="0">
                          <a:solidFill>
                            <a:srgbClr val="002060"/>
                          </a:solidFill>
                          <a:latin typeface="Arial"/>
                        </a:rPr>
                        <a:t>4</a:t>
                      </a:r>
                    </a:p>
                  </a:txBody>
                  <a:tcPr>
                    <a:solidFill>
                      <a:srgbClr val="F2F2F2"/>
                    </a:solidFill>
                  </a:tcPr>
                </a:tc>
                <a:tc>
                  <a:txBody>
                    <a:bodyPr/>
                    <a:lstStyle/>
                    <a:p>
                      <a:pPr algn="l"/>
                      <a:r>
                        <a:rPr sz="850" b="0" i="0">
                          <a:solidFill>
                            <a:srgbClr val="262626"/>
                          </a:solidFill>
                          <a:latin typeface="Arial"/>
                        </a:rPr>
                        <a:t>Selina Klamt</a:t>
                      </a:r>
                    </a:p>
                  </a:txBody>
                  <a:tcPr>
                    <a:solidFill>
                      <a:srgbClr val="F2F2F2"/>
                    </a:solidFill>
                  </a:tcPr>
                </a:tc>
                <a:tc>
                  <a:txBody>
                    <a:bodyPr/>
                    <a:lstStyle/>
                    <a:p>
                      <a:pPr algn="ctr"/>
                      <a:r>
                        <a:rPr sz="850" b="1" i="0">
                          <a:solidFill>
                            <a:srgbClr val="262626"/>
                          </a:solidFill>
                          <a:latin typeface="Arial"/>
                        </a:rPr>
                        <a:t>50%</a:t>
                      </a:r>
                    </a:p>
                  </a:txBody>
                  <a:tcPr>
                    <a:solidFill>
                      <a:srgbClr val="F2F2F2"/>
                    </a:solidFill>
                  </a:tcPr>
                </a:tc>
                <a:tc>
                  <a:txBody>
                    <a:bodyPr/>
                    <a:lstStyle/>
                    <a:p>
                      <a:pPr algn="ctr"/>
                      <a:r>
                        <a:rPr sz="850" b="0" i="0">
                          <a:solidFill>
                            <a:srgbClr val="262626"/>
                          </a:solidFill>
                          <a:latin typeface="Arial"/>
                        </a:rPr>
                        <a:t>+19.5</a:t>
                      </a:r>
                    </a:p>
                  </a:txBody>
                  <a:tcPr>
                    <a:solidFill>
                      <a:srgbClr val="F2F2F2"/>
                    </a:solidFill>
                  </a:tcPr>
                </a:tc>
                <a:tc>
                  <a:txBody>
                    <a:bodyPr/>
                    <a:lstStyle/>
                    <a:p>
                      <a:pPr algn="ctr"/>
                      <a:r>
                        <a:rPr sz="850" b="0" i="0">
                          <a:solidFill>
                            <a:srgbClr val="262626"/>
                          </a:solidFill>
                          <a:latin typeface="Arial"/>
                        </a:rPr>
                        <a:t>19:04</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4"/>
                  </a:ext>
                </a:extLst>
              </a:tr>
              <a:tr h="256032">
                <a:tc>
                  <a:txBody>
                    <a:bodyPr/>
                    <a:lstStyle/>
                    <a:p>
                      <a:pPr algn="ctr"/>
                      <a:r>
                        <a:rPr sz="850" b="1" i="0">
                          <a:solidFill>
                            <a:srgbClr val="002060"/>
                          </a:solidFill>
                          <a:latin typeface="Arial"/>
                        </a:rPr>
                        <a:t>5</a:t>
                      </a:r>
                    </a:p>
                  </a:txBody>
                  <a:tcPr>
                    <a:solidFill>
                      <a:srgbClr val="FFFFFF"/>
                    </a:solidFill>
                  </a:tcPr>
                </a:tc>
                <a:tc>
                  <a:txBody>
                    <a:bodyPr/>
                    <a:lstStyle/>
                    <a:p>
                      <a:pPr algn="l"/>
                      <a:r>
                        <a:rPr sz="850" b="0" i="0">
                          <a:solidFill>
                            <a:srgbClr val="262626"/>
                          </a:solidFill>
                          <a:latin typeface="Arial"/>
                        </a:rPr>
                        <a:t>Jessica Fullagar</a:t>
                      </a:r>
                    </a:p>
                  </a:txBody>
                  <a:tcPr>
                    <a:solidFill>
                      <a:srgbClr val="FFFFFF"/>
                    </a:solidFill>
                  </a:tcPr>
                </a:tc>
                <a:tc>
                  <a:txBody>
                    <a:bodyPr/>
                    <a:lstStyle/>
                    <a:p>
                      <a:pPr algn="ctr"/>
                      <a:r>
                        <a:rPr sz="850" b="1" i="0">
                          <a:solidFill>
                            <a:srgbClr val="262626"/>
                          </a:solidFill>
                          <a:latin typeface="Arial"/>
                        </a:rPr>
                        <a:t>50%</a:t>
                      </a:r>
                    </a:p>
                  </a:txBody>
                  <a:tcPr>
                    <a:solidFill>
                      <a:srgbClr val="FFFFFF"/>
                    </a:solidFill>
                  </a:tcPr>
                </a:tc>
                <a:tc>
                  <a:txBody>
                    <a:bodyPr/>
                    <a:lstStyle/>
                    <a:p>
                      <a:pPr algn="ctr"/>
                      <a:r>
                        <a:rPr sz="850" b="0" i="0">
                          <a:solidFill>
                            <a:srgbClr val="262626"/>
                          </a:solidFill>
                          <a:latin typeface="Arial"/>
                        </a:rPr>
                        <a:t>+20.0</a:t>
                      </a:r>
                    </a:p>
                  </a:txBody>
                  <a:tcPr>
                    <a:solidFill>
                      <a:srgbClr val="FFFFFF"/>
                    </a:solidFill>
                  </a:tcPr>
                </a:tc>
                <a:tc>
                  <a:txBody>
                    <a:bodyPr/>
                    <a:lstStyle/>
                    <a:p>
                      <a:pPr algn="ctr"/>
                      <a:r>
                        <a:rPr sz="850" b="0" i="0">
                          <a:solidFill>
                            <a:srgbClr val="262626"/>
                          </a:solidFill>
                          <a:latin typeface="Arial"/>
                        </a:rPr>
                        <a:t>19:05</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5"/>
                  </a:ext>
                </a:extLst>
              </a:tr>
              <a:tr h="256032">
                <a:tc>
                  <a:txBody>
                    <a:bodyPr/>
                    <a:lstStyle/>
                    <a:p>
                      <a:pPr algn="ctr"/>
                      <a:r>
                        <a:rPr sz="850" b="1" i="0">
                          <a:solidFill>
                            <a:srgbClr val="002060"/>
                          </a:solidFill>
                          <a:latin typeface="Arial"/>
                        </a:rPr>
                        <a:t>6</a:t>
                      </a:r>
                    </a:p>
                  </a:txBody>
                  <a:tcPr>
                    <a:solidFill>
                      <a:srgbClr val="F2F2F2"/>
                    </a:solidFill>
                  </a:tcPr>
                </a:tc>
                <a:tc>
                  <a:txBody>
                    <a:bodyPr/>
                    <a:lstStyle/>
                    <a:p>
                      <a:pPr algn="l"/>
                      <a:r>
                        <a:rPr sz="850" b="0" i="0">
                          <a:solidFill>
                            <a:srgbClr val="262626"/>
                          </a:solidFill>
                          <a:latin typeface="Arial"/>
                        </a:rPr>
                        <a:t>Ilona Hadhoum</a:t>
                      </a:r>
                    </a:p>
                  </a:txBody>
                  <a:tcPr>
                    <a:solidFill>
                      <a:srgbClr val="F2F2F2"/>
                    </a:solidFill>
                  </a:tcPr>
                </a:tc>
                <a:tc>
                  <a:txBody>
                    <a:bodyPr/>
                    <a:lstStyle/>
                    <a:p>
                      <a:pPr algn="ctr"/>
                      <a:r>
                        <a:rPr sz="850" b="1" i="0">
                          <a:solidFill>
                            <a:srgbClr val="262626"/>
                          </a:solidFill>
                          <a:latin typeface="Arial"/>
                        </a:rPr>
                        <a:t>100%</a:t>
                      </a:r>
                    </a:p>
                  </a:txBody>
                  <a:tcPr>
                    <a:solidFill>
                      <a:srgbClr val="F2F2F2"/>
                    </a:solidFill>
                  </a:tcPr>
                </a:tc>
                <a:tc>
                  <a:txBody>
                    <a:bodyPr/>
                    <a:lstStyle/>
                    <a:p>
                      <a:pPr algn="ctr"/>
                      <a:r>
                        <a:rPr sz="850" b="0" i="0">
                          <a:solidFill>
                            <a:srgbClr val="262626"/>
                          </a:solidFill>
                          <a:latin typeface="Arial"/>
                        </a:rPr>
                        <a:t>+4.0</a:t>
                      </a:r>
                    </a:p>
                  </a:txBody>
                  <a:tcPr>
                    <a:solidFill>
                      <a:srgbClr val="F2F2F2"/>
                    </a:solidFill>
                  </a:tcPr>
                </a:tc>
                <a:tc>
                  <a:txBody>
                    <a:bodyPr/>
                    <a:lstStyle/>
                    <a:p>
                      <a:pPr algn="ctr"/>
                      <a:r>
                        <a:rPr sz="850" b="0" i="0">
                          <a:solidFill>
                            <a:srgbClr val="262626"/>
                          </a:solidFill>
                          <a:latin typeface="Arial"/>
                        </a:rPr>
                        <a:t>19:13</a:t>
                      </a:r>
                    </a:p>
                  </a:txBody>
                  <a:tcPr>
                    <a:solidFill>
                      <a:srgbClr val="F2F2F2"/>
                    </a:solidFill>
                  </a:tcPr>
                </a:tc>
                <a:tc>
                  <a:txBody>
                    <a:bodyPr/>
                    <a:lstStyle/>
                    <a:p>
                      <a:pPr algn="ctr"/>
                      <a:r>
                        <a:rPr sz="850" b="0" i="0">
                          <a:solidFill>
                            <a:srgbClr val="BFBFBF"/>
                          </a:solidFill>
                          <a:latin typeface="Arial"/>
                        </a:rPr>
                        <a:t>2</a:t>
                      </a:r>
                    </a:p>
                  </a:txBody>
                  <a:tcPr>
                    <a:solidFill>
                      <a:srgbClr val="F2F2F2"/>
                    </a:solidFill>
                  </a:tcPr>
                </a:tc>
                <a:extLst>
                  <a:ext uri="{0D108BD9-81ED-4DB2-BD59-A6C34878D82A}">
                    <a16:rowId xmlns:a16="http://schemas.microsoft.com/office/drawing/2014/main" val="10006"/>
                  </a:ext>
                </a:extLst>
              </a:tr>
              <a:tr h="256032">
                <a:tc>
                  <a:txBody>
                    <a:bodyPr/>
                    <a:lstStyle/>
                    <a:p>
                      <a:pPr algn="ctr"/>
                      <a:r>
                        <a:rPr sz="850" b="1" i="0">
                          <a:solidFill>
                            <a:srgbClr val="002060"/>
                          </a:solidFill>
                          <a:latin typeface="Arial"/>
                        </a:rPr>
                        <a:t>7</a:t>
                      </a:r>
                    </a:p>
                  </a:txBody>
                  <a:tcPr>
                    <a:solidFill>
                      <a:srgbClr val="FFFFFF"/>
                    </a:solidFill>
                  </a:tcPr>
                </a:tc>
                <a:tc>
                  <a:txBody>
                    <a:bodyPr/>
                    <a:lstStyle/>
                    <a:p>
                      <a:pPr algn="l"/>
                      <a:r>
                        <a:rPr sz="850" b="0" i="0">
                          <a:solidFill>
                            <a:srgbClr val="262626"/>
                          </a:solidFill>
                          <a:latin typeface="Arial"/>
                        </a:rPr>
                        <a:t>Heidi Juránková</a:t>
                      </a:r>
                    </a:p>
                  </a:txBody>
                  <a:tcPr>
                    <a:solidFill>
                      <a:srgbClr val="FFFFFF"/>
                    </a:solidFill>
                  </a:tcPr>
                </a:tc>
                <a:tc>
                  <a:txBody>
                    <a:bodyPr/>
                    <a:lstStyle/>
                    <a:p>
                      <a:pPr algn="ctr"/>
                      <a:r>
                        <a:rPr sz="850" b="1"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+45.5</a:t>
                      </a:r>
                    </a:p>
                  </a:txBody>
                  <a:tcPr>
                    <a:solidFill>
                      <a:srgbClr val="FFFFFF"/>
                    </a:solidFill>
                  </a:tcPr>
                </a:tc>
                <a:tc>
                  <a:txBody>
                    <a:bodyPr/>
                    <a:lstStyle/>
                    <a:p>
                      <a:pPr algn="ctr"/>
                      <a:r>
                        <a:rPr sz="850" b="0" i="0">
                          <a:solidFill>
                            <a:srgbClr val="262626"/>
                          </a:solidFill>
                          <a:latin typeface="Arial"/>
                        </a:rPr>
                        <a:t>19:19</a:t>
                      </a:r>
                    </a:p>
                  </a:txBody>
                  <a:tcPr>
                    <a:solidFill>
                      <a:srgbClr val="FFFFFF"/>
                    </a:solidFill>
                  </a:tcPr>
                </a:tc>
                <a:tc>
                  <a:txBody>
                    <a:bodyPr/>
                    <a:lstStyle/>
                    <a:p>
                      <a:pPr algn="ctr"/>
                      <a:r>
                        <a:rPr sz="850" b="0" i="0">
                          <a:solidFill>
                            <a:srgbClr val="BFBFBF"/>
                          </a:solidFill>
                          <a:latin typeface="Arial"/>
                        </a:rPr>
                        <a:t>2</a:t>
                      </a:r>
                    </a:p>
                  </a:txBody>
                  <a:tcPr>
                    <a:solidFill>
                      <a:srgbClr val="FFFFFF"/>
                    </a:solidFill>
                  </a:tcPr>
                </a:tc>
                <a:extLst>
                  <a:ext uri="{0D108BD9-81ED-4DB2-BD59-A6C34878D82A}">
                    <a16:rowId xmlns:a16="http://schemas.microsoft.com/office/drawing/2014/main" val="10007"/>
                  </a:ext>
                </a:extLst>
              </a:tr>
            </a:tbl>
          </a:graphicData>
        </a:graphic>
      </p:graphicFrame>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World Rankings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2026-07-13   •   World Triathlon Rankings   •   Heading into Edmonton   •   Race tier: WTCS</a:t>
            </a:r>
          </a:p>
        </p:txBody>
      </p:sp>
      <p:sp>
        <p:nvSpPr>
          <p:cNvPr id="10" name="Rectangle 9"/>
          <p:cNvSpPr/>
          <p:nvPr/>
        </p:nvSpPr>
        <p:spPr>
          <a:xfrm>
            <a:off x="274320" y="160020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365760" y="1627632"/>
            <a:ext cx="11430000" cy="246888"/>
          </a:xfrm>
          <a:prstGeom prst="rect">
            <a:avLst/>
          </a:prstGeom>
          <a:noFill/>
        </p:spPr>
        <p:txBody>
          <a:bodyPr wrap="square">
            <a:spAutoFit/>
          </a:bodyPr>
          <a:lstStyle/>
          <a:p>
            <a:pPr algn="l"/>
            <a:r>
              <a:rPr sz="1200" b="1" i="0">
                <a:solidFill>
                  <a:srgbClr val="FFFFFF"/>
                </a:solidFill>
                <a:latin typeface="Arial"/>
              </a:rPr>
              <a:t>Max Points Available at this Race</a:t>
            </a:r>
          </a:p>
        </p:txBody>
      </p:sp>
      <p:sp>
        <p:nvSpPr>
          <p:cNvPr id="12" name="Rectangle 11"/>
          <p:cNvSpPr/>
          <p:nvPr/>
        </p:nvSpPr>
        <p:spPr>
          <a:xfrm>
            <a:off x="274320" y="1984248"/>
            <a:ext cx="1803196" cy="502920"/>
          </a:xfrm>
          <a:prstGeom prst="rect">
            <a:avLst/>
          </a:prstGeom>
          <a:solidFill>
            <a:srgbClr val="F2F2F2"/>
          </a:solidFill>
          <a:ln w="19050">
            <a:solidFill>
              <a:srgbClr val="C000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274320" y="2011680"/>
            <a:ext cx="1803196" cy="182880"/>
          </a:xfrm>
          <a:prstGeom prst="rect">
            <a:avLst/>
          </a:prstGeom>
          <a:noFill/>
        </p:spPr>
        <p:txBody>
          <a:bodyPr wrap="square">
            <a:spAutoFit/>
          </a:bodyPr>
          <a:lstStyle/>
          <a:p>
            <a:pPr algn="ctr"/>
            <a:r>
              <a:rPr sz="900" b="1" i="0">
                <a:solidFill>
                  <a:srgbClr val="002060"/>
                </a:solidFill>
                <a:latin typeface="Arial"/>
              </a:rPr>
              <a:t>Win</a:t>
            </a:r>
          </a:p>
        </p:txBody>
      </p:sp>
      <p:sp>
        <p:nvSpPr>
          <p:cNvPr id="14" name="TextBox 13"/>
          <p:cNvSpPr txBox="1"/>
          <p:nvPr/>
        </p:nvSpPr>
        <p:spPr>
          <a:xfrm>
            <a:off x="274320" y="2185416"/>
            <a:ext cx="1803196" cy="292608"/>
          </a:xfrm>
          <a:prstGeom prst="rect">
            <a:avLst/>
          </a:prstGeom>
          <a:noFill/>
        </p:spPr>
        <p:txBody>
          <a:bodyPr wrap="square">
            <a:spAutoFit/>
          </a:bodyPr>
          <a:lstStyle/>
          <a:p>
            <a:pPr algn="ctr"/>
            <a:r>
              <a:rPr sz="1400" b="1" i="0">
                <a:solidFill>
                  <a:srgbClr val="C00000"/>
                </a:solidFill>
                <a:latin typeface="Arial"/>
              </a:rPr>
              <a:t>1,000 pts</a:t>
            </a:r>
          </a:p>
        </p:txBody>
      </p:sp>
      <p:sp>
        <p:nvSpPr>
          <p:cNvPr id="15" name="Rectangle 14"/>
          <p:cNvSpPr/>
          <p:nvPr/>
        </p:nvSpPr>
        <p:spPr>
          <a:xfrm>
            <a:off x="2242108"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242108" y="2011680"/>
            <a:ext cx="1803196" cy="182880"/>
          </a:xfrm>
          <a:prstGeom prst="rect">
            <a:avLst/>
          </a:prstGeom>
          <a:noFill/>
        </p:spPr>
        <p:txBody>
          <a:bodyPr wrap="square">
            <a:spAutoFit/>
          </a:bodyPr>
          <a:lstStyle/>
          <a:p>
            <a:pPr algn="ctr"/>
            <a:r>
              <a:rPr sz="900" b="1" i="0">
                <a:solidFill>
                  <a:srgbClr val="002060"/>
                </a:solidFill>
                <a:latin typeface="Arial"/>
              </a:rPr>
              <a:t>Podium</a:t>
            </a:r>
          </a:p>
        </p:txBody>
      </p:sp>
      <p:sp>
        <p:nvSpPr>
          <p:cNvPr id="17" name="TextBox 16"/>
          <p:cNvSpPr txBox="1"/>
          <p:nvPr/>
        </p:nvSpPr>
        <p:spPr>
          <a:xfrm>
            <a:off x="2242108" y="2185416"/>
            <a:ext cx="1803196" cy="292608"/>
          </a:xfrm>
          <a:prstGeom prst="rect">
            <a:avLst/>
          </a:prstGeom>
          <a:noFill/>
        </p:spPr>
        <p:txBody>
          <a:bodyPr wrap="square">
            <a:spAutoFit/>
          </a:bodyPr>
          <a:lstStyle/>
          <a:p>
            <a:pPr algn="ctr"/>
            <a:r>
              <a:rPr sz="1400" b="1" i="0">
                <a:solidFill>
                  <a:srgbClr val="002060"/>
                </a:solidFill>
                <a:latin typeface="Arial"/>
              </a:rPr>
              <a:t>855 pts</a:t>
            </a:r>
          </a:p>
        </p:txBody>
      </p:sp>
      <p:sp>
        <p:nvSpPr>
          <p:cNvPr id="18" name="Rectangle 17"/>
          <p:cNvSpPr/>
          <p:nvPr/>
        </p:nvSpPr>
        <p:spPr>
          <a:xfrm>
            <a:off x="4209896"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TextBox 18"/>
          <p:cNvSpPr txBox="1"/>
          <p:nvPr/>
        </p:nvSpPr>
        <p:spPr>
          <a:xfrm>
            <a:off x="4209896" y="2011680"/>
            <a:ext cx="1803196" cy="182880"/>
          </a:xfrm>
          <a:prstGeom prst="rect">
            <a:avLst/>
          </a:prstGeom>
          <a:noFill/>
        </p:spPr>
        <p:txBody>
          <a:bodyPr wrap="square">
            <a:spAutoFit/>
          </a:bodyPr>
          <a:lstStyle/>
          <a:p>
            <a:pPr algn="ctr"/>
            <a:r>
              <a:rPr sz="900" b="1" i="0">
                <a:solidFill>
                  <a:srgbClr val="002060"/>
                </a:solidFill>
                <a:latin typeface="Arial"/>
              </a:rPr>
              <a:t>Top 5</a:t>
            </a:r>
          </a:p>
        </p:txBody>
      </p:sp>
      <p:sp>
        <p:nvSpPr>
          <p:cNvPr id="20" name="TextBox 19"/>
          <p:cNvSpPr txBox="1"/>
          <p:nvPr/>
        </p:nvSpPr>
        <p:spPr>
          <a:xfrm>
            <a:off x="4209896" y="2185416"/>
            <a:ext cx="1803196" cy="292608"/>
          </a:xfrm>
          <a:prstGeom prst="rect">
            <a:avLst/>
          </a:prstGeom>
          <a:noFill/>
        </p:spPr>
        <p:txBody>
          <a:bodyPr wrap="square">
            <a:spAutoFit/>
          </a:bodyPr>
          <a:lstStyle/>
          <a:p>
            <a:pPr algn="ctr"/>
            <a:r>
              <a:rPr sz="1400" b="1" i="0">
                <a:solidFill>
                  <a:srgbClr val="002060"/>
                </a:solidFill>
                <a:latin typeface="Arial"/>
              </a:rPr>
              <a:t>732 pts</a:t>
            </a:r>
          </a:p>
        </p:txBody>
      </p:sp>
      <p:sp>
        <p:nvSpPr>
          <p:cNvPr id="21" name="Rectangle 20"/>
          <p:cNvSpPr/>
          <p:nvPr/>
        </p:nvSpPr>
        <p:spPr>
          <a:xfrm>
            <a:off x="6177684"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6177684" y="2011680"/>
            <a:ext cx="1803196" cy="182880"/>
          </a:xfrm>
          <a:prstGeom prst="rect">
            <a:avLst/>
          </a:prstGeom>
          <a:noFill/>
        </p:spPr>
        <p:txBody>
          <a:bodyPr wrap="square">
            <a:spAutoFit/>
          </a:bodyPr>
          <a:lstStyle/>
          <a:p>
            <a:pPr algn="ctr"/>
            <a:r>
              <a:rPr sz="900" b="1" i="0">
                <a:solidFill>
                  <a:srgbClr val="002060"/>
                </a:solidFill>
                <a:latin typeface="Arial"/>
              </a:rPr>
              <a:t>Top 10</a:t>
            </a:r>
          </a:p>
        </p:txBody>
      </p:sp>
      <p:sp>
        <p:nvSpPr>
          <p:cNvPr id="23" name="TextBox 22"/>
          <p:cNvSpPr txBox="1"/>
          <p:nvPr/>
        </p:nvSpPr>
        <p:spPr>
          <a:xfrm>
            <a:off x="6177684" y="2185416"/>
            <a:ext cx="1803196" cy="292608"/>
          </a:xfrm>
          <a:prstGeom prst="rect">
            <a:avLst/>
          </a:prstGeom>
          <a:noFill/>
        </p:spPr>
        <p:txBody>
          <a:bodyPr wrap="square">
            <a:spAutoFit/>
          </a:bodyPr>
          <a:lstStyle/>
          <a:p>
            <a:pPr algn="ctr"/>
            <a:r>
              <a:rPr sz="1400" b="1" i="0">
                <a:solidFill>
                  <a:srgbClr val="002060"/>
                </a:solidFill>
                <a:latin typeface="Arial"/>
              </a:rPr>
              <a:t>495 pts</a:t>
            </a:r>
          </a:p>
        </p:txBody>
      </p:sp>
      <p:sp>
        <p:nvSpPr>
          <p:cNvPr id="24" name="Rectangle 23"/>
          <p:cNvSpPr/>
          <p:nvPr/>
        </p:nvSpPr>
        <p:spPr>
          <a:xfrm>
            <a:off x="8145472" y="1984248"/>
            <a:ext cx="1803196" cy="502920"/>
          </a:xfrm>
          <a:prstGeom prst="rect">
            <a:avLst/>
          </a:prstGeom>
          <a:solidFill>
            <a:srgbClr val="F2F2F2"/>
          </a:solidFill>
          <a:ln w="19050">
            <a:solidFill>
              <a:srgbClr val="00206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8145472" y="2011680"/>
            <a:ext cx="1803196" cy="182880"/>
          </a:xfrm>
          <a:prstGeom prst="rect">
            <a:avLst/>
          </a:prstGeom>
          <a:noFill/>
        </p:spPr>
        <p:txBody>
          <a:bodyPr wrap="square">
            <a:spAutoFit/>
          </a:bodyPr>
          <a:lstStyle/>
          <a:p>
            <a:pPr algn="ctr"/>
            <a:r>
              <a:rPr sz="900" b="1" i="0">
                <a:solidFill>
                  <a:srgbClr val="002060"/>
                </a:solidFill>
                <a:latin typeface="Arial"/>
              </a:rPr>
              <a:t>Top 15</a:t>
            </a:r>
          </a:p>
        </p:txBody>
      </p:sp>
      <p:sp>
        <p:nvSpPr>
          <p:cNvPr id="26" name="TextBox 25"/>
          <p:cNvSpPr txBox="1"/>
          <p:nvPr/>
        </p:nvSpPr>
        <p:spPr>
          <a:xfrm>
            <a:off x="8145472" y="2185416"/>
            <a:ext cx="1803196" cy="292608"/>
          </a:xfrm>
          <a:prstGeom prst="rect">
            <a:avLst/>
          </a:prstGeom>
          <a:noFill/>
        </p:spPr>
        <p:txBody>
          <a:bodyPr wrap="square">
            <a:spAutoFit/>
          </a:bodyPr>
          <a:lstStyle/>
          <a:p>
            <a:pPr algn="ctr"/>
            <a:r>
              <a:rPr sz="1400" b="1" i="0">
                <a:solidFill>
                  <a:srgbClr val="002060"/>
                </a:solidFill>
                <a:latin typeface="Arial"/>
              </a:rPr>
              <a:t>335 pts</a:t>
            </a:r>
          </a:p>
        </p:txBody>
      </p:sp>
      <p:sp>
        <p:nvSpPr>
          <p:cNvPr id="27" name="Rectangle 26"/>
          <p:cNvSpPr/>
          <p:nvPr/>
        </p:nvSpPr>
        <p:spPr>
          <a:xfrm>
            <a:off x="10113260" y="1984248"/>
            <a:ext cx="1803196" cy="502920"/>
          </a:xfrm>
          <a:prstGeom prst="rect">
            <a:avLst/>
          </a:prstGeom>
          <a:solidFill>
            <a:srgbClr val="F2F2F2"/>
          </a:solidFill>
          <a:ln w="1905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10113260" y="2011680"/>
            <a:ext cx="1803196" cy="182880"/>
          </a:xfrm>
          <a:prstGeom prst="rect">
            <a:avLst/>
          </a:prstGeom>
          <a:noFill/>
        </p:spPr>
        <p:txBody>
          <a:bodyPr wrap="square">
            <a:spAutoFit/>
          </a:bodyPr>
          <a:lstStyle/>
          <a:p>
            <a:pPr algn="ctr"/>
            <a:r>
              <a:rPr sz="900" b="1" i="0">
                <a:solidFill>
                  <a:srgbClr val="002060"/>
                </a:solidFill>
                <a:latin typeface="Arial"/>
              </a:rPr>
              <a:t>Top 20</a:t>
            </a:r>
          </a:p>
        </p:txBody>
      </p:sp>
      <p:sp>
        <p:nvSpPr>
          <p:cNvPr id="29" name="TextBox 28"/>
          <p:cNvSpPr txBox="1"/>
          <p:nvPr/>
        </p:nvSpPr>
        <p:spPr>
          <a:xfrm>
            <a:off x="10113260" y="2185416"/>
            <a:ext cx="1803196" cy="292608"/>
          </a:xfrm>
          <a:prstGeom prst="rect">
            <a:avLst/>
          </a:prstGeom>
          <a:noFill/>
        </p:spPr>
        <p:txBody>
          <a:bodyPr wrap="square">
            <a:spAutoFit/>
          </a:bodyPr>
          <a:lstStyle/>
          <a:p>
            <a:pPr algn="ctr"/>
            <a:r>
              <a:rPr sz="1400" b="1" i="0">
                <a:solidFill>
                  <a:srgbClr val="BFBFBF"/>
                </a:solidFill>
                <a:latin typeface="Arial"/>
              </a:rPr>
              <a:t>227 pts</a:t>
            </a:r>
          </a:p>
        </p:txBody>
      </p:sp>
      <p:sp>
        <p:nvSpPr>
          <p:cNvPr id="30" name="Rectangle 29"/>
          <p:cNvSpPr/>
          <p:nvPr/>
        </p:nvSpPr>
        <p:spPr>
          <a:xfrm>
            <a:off x="27432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TextBox 30"/>
          <p:cNvSpPr txBox="1"/>
          <p:nvPr/>
        </p:nvSpPr>
        <p:spPr>
          <a:xfrm>
            <a:off x="274320" y="26334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32" name="Table 31"/>
          <p:cNvGraphicFramePr>
            <a:graphicFrameLocks noGrp="1"/>
          </p:cNvGraphicFramePr>
          <p:nvPr/>
        </p:nvGraphicFramePr>
        <p:xfrm>
          <a:off x="274320" y="2935224"/>
          <a:ext cx="5787236" cy="3584448"/>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45743">
                  <a:extLst>
                    <a:ext uri="{9D8B030D-6E8A-4147-A177-3AD203B41FA5}">
                      <a16:colId xmlns:a16="http://schemas.microsoft.com/office/drawing/2014/main" val="20002"/>
                    </a:ext>
                  </a:extLst>
                </a:gridCol>
                <a:gridCol w="662940">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Curr</a:t>
                      </a:r>
                    </a:p>
                  </a:txBody>
                  <a:tcPr>
                    <a:solidFill>
                      <a:srgbClr val="002060"/>
                    </a:solidFill>
                  </a:tcPr>
                </a:tc>
                <a:tc>
                  <a:txBody>
                    <a:bodyPr/>
                    <a:lstStyle/>
                    <a:p>
                      <a:pPr algn="ctr"/>
                      <a:r>
                        <a:rPr sz="900" b="1" i="0">
                          <a:solidFill>
                            <a:srgbClr val="FFFFFF"/>
                          </a:solidFill>
                          <a:latin typeface="Arial"/>
                        </a:rPr>
                        <a:t>Prev</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19</a:t>
                      </a:r>
                    </a:p>
                  </a:txBody>
                  <a:tcPr>
                    <a:solidFill>
                      <a:srgbClr val="FFFFFF"/>
                    </a:solidFill>
                  </a:tcPr>
                </a:tc>
                <a:tc>
                  <a:txBody>
                    <a:bodyPr/>
                    <a:lstStyle/>
                    <a:p>
                      <a:pPr algn="l"/>
                      <a:r>
                        <a:rPr sz="850" b="0" i="0">
                          <a:solidFill>
                            <a:srgbClr val="262626"/>
                          </a:solidFill>
                          <a:latin typeface="Arial"/>
                        </a:rPr>
                        <a:t>John Reed</a:t>
                      </a:r>
                    </a:p>
                  </a:txBody>
                  <a:tcPr>
                    <a:solidFill>
                      <a:srgbClr val="FFFFFF"/>
                    </a:solidFill>
                  </a:tcPr>
                </a:tc>
                <a:tc>
                  <a:txBody>
                    <a:bodyPr/>
                    <a:lstStyle/>
                    <a:p>
                      <a:pPr algn="ctr"/>
                      <a:r>
                        <a:rPr sz="850" b="0" i="0">
                          <a:solidFill>
                            <a:srgbClr val="262626"/>
                          </a:solidFill>
                          <a:latin typeface="Arial"/>
                        </a:rPr>
                        <a:t>2,898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28</a:t>
                      </a:r>
                    </a:p>
                  </a:txBody>
                  <a:tcPr>
                    <a:solidFill>
                      <a:srgbClr val="F2F2F2"/>
                    </a:solidFill>
                  </a:tcPr>
                </a:tc>
                <a:tc>
                  <a:txBody>
                    <a:bodyPr/>
                    <a:lstStyle/>
                    <a:p>
                      <a:pPr algn="l"/>
                      <a:r>
                        <a:rPr sz="850" b="0" i="0">
                          <a:solidFill>
                            <a:srgbClr val="262626"/>
                          </a:solidFill>
                          <a:latin typeface="Arial"/>
                        </a:rPr>
                        <a:t>Reese Vannerson</a:t>
                      </a:r>
                    </a:p>
                  </a:txBody>
                  <a:tcPr>
                    <a:solidFill>
                      <a:srgbClr val="F2F2F2"/>
                    </a:solidFill>
                  </a:tcPr>
                </a:tc>
                <a:tc>
                  <a:txBody>
                    <a:bodyPr/>
                    <a:lstStyle/>
                    <a:p>
                      <a:pPr algn="ctr"/>
                      <a:r>
                        <a:rPr sz="850" b="0" i="0">
                          <a:solidFill>
                            <a:srgbClr val="262626"/>
                          </a:solidFill>
                          <a:latin typeface="Arial"/>
                        </a:rPr>
                        <a:t>2,628</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51</a:t>
                      </a:r>
                    </a:p>
                  </a:txBody>
                  <a:tcPr>
                    <a:solidFill>
                      <a:srgbClr val="FFFFFF"/>
                    </a:solidFill>
                  </a:tcPr>
                </a:tc>
                <a:tc>
                  <a:txBody>
                    <a:bodyPr/>
                    <a:lstStyle/>
                    <a:p>
                      <a:pPr algn="l"/>
                      <a:r>
                        <a:rPr sz="850" b="0" i="0">
                          <a:solidFill>
                            <a:srgbClr val="262626"/>
                          </a:solidFill>
                          <a:latin typeface="Arial"/>
                        </a:rPr>
                        <a:t>Braxton Legg</a:t>
                      </a:r>
                    </a:p>
                  </a:txBody>
                  <a:tcPr>
                    <a:solidFill>
                      <a:srgbClr val="FFFFFF"/>
                    </a:solidFill>
                  </a:tcPr>
                </a:tc>
                <a:tc>
                  <a:txBody>
                    <a:bodyPr/>
                    <a:lstStyle/>
                    <a:p>
                      <a:pPr algn="ctr"/>
                      <a:r>
                        <a:rPr sz="850" b="0" i="0">
                          <a:solidFill>
                            <a:srgbClr val="262626"/>
                          </a:solidFill>
                          <a:latin typeface="Arial"/>
                        </a:rPr>
                        <a:t>2,109</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54</a:t>
                      </a:r>
                    </a:p>
                  </a:txBody>
                  <a:tcPr>
                    <a:solidFill>
                      <a:srgbClr val="F2F2F2"/>
                    </a:solidFill>
                  </a:tcPr>
                </a:tc>
                <a:tc>
                  <a:txBody>
                    <a:bodyPr/>
                    <a:lstStyle/>
                    <a:p>
                      <a:pPr algn="l"/>
                      <a:r>
                        <a:rPr sz="850" b="0" i="0">
                          <a:solidFill>
                            <a:srgbClr val="262626"/>
                          </a:solidFill>
                          <a:latin typeface="Arial"/>
                        </a:rPr>
                        <a:t>Morgan Pearson</a:t>
                      </a:r>
                    </a:p>
                  </a:txBody>
                  <a:tcPr>
                    <a:solidFill>
                      <a:srgbClr val="F2F2F2"/>
                    </a:solidFill>
                  </a:tcPr>
                </a:tc>
                <a:tc>
                  <a:txBody>
                    <a:bodyPr/>
                    <a:lstStyle/>
                    <a:p>
                      <a:pPr algn="ctr"/>
                      <a:r>
                        <a:rPr sz="850" b="0" i="0">
                          <a:solidFill>
                            <a:srgbClr val="262626"/>
                          </a:solidFill>
                          <a:latin typeface="Arial"/>
                        </a:rPr>
                        <a:t>2,093</a:t>
                      </a:r>
                    </a:p>
                  </a:txBody>
                  <a:tcPr>
                    <a:solidFill>
                      <a:srgbClr val="F2F2F2"/>
                    </a:solidFill>
                  </a:tcPr>
                </a:tc>
                <a:tc>
                  <a:txBody>
                    <a:bodyPr/>
                    <a:lstStyle/>
                    <a:p>
                      <a:pPr algn="ctr"/>
                      <a:r>
                        <a:rPr sz="850" b="0" i="0">
                          <a:solidFill>
                            <a:srgbClr val="262626"/>
                          </a:solidFill>
                          <a:latin typeface="Arial"/>
                        </a:rPr>
                        <a:t>5</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62</a:t>
                      </a:r>
                    </a:p>
                  </a:txBody>
                  <a:tcPr>
                    <a:solidFill>
                      <a:srgbClr val="FFFFFF"/>
                    </a:solidFill>
                  </a:tcPr>
                </a:tc>
                <a:tc>
                  <a:txBody>
                    <a:bodyPr/>
                    <a:lstStyle/>
                    <a:p>
                      <a:pPr algn="l"/>
                      <a:r>
                        <a:rPr sz="850" b="0" i="0">
                          <a:solidFill>
                            <a:srgbClr val="262626"/>
                          </a:solidFill>
                          <a:latin typeface="Arial"/>
                        </a:rPr>
                        <a:t>Seth Rider</a:t>
                      </a:r>
                    </a:p>
                  </a:txBody>
                  <a:tcPr>
                    <a:solidFill>
                      <a:srgbClr val="FFFFFF"/>
                    </a:solidFill>
                  </a:tcPr>
                </a:tc>
                <a:tc>
                  <a:txBody>
                    <a:bodyPr/>
                    <a:lstStyle/>
                    <a:p>
                      <a:pPr algn="ctr"/>
                      <a:r>
                        <a:rPr sz="850" b="0" i="0">
                          <a:solidFill>
                            <a:srgbClr val="262626"/>
                          </a:solidFill>
                          <a:latin typeface="Arial"/>
                        </a:rPr>
                        <a:t>1,927</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65</a:t>
                      </a:r>
                    </a:p>
                  </a:txBody>
                  <a:tcPr>
                    <a:solidFill>
                      <a:srgbClr val="F2F2F2"/>
                    </a:solidFill>
                  </a:tcPr>
                </a:tc>
                <a:tc>
                  <a:txBody>
                    <a:bodyPr/>
                    <a:lstStyle/>
                    <a:p>
                      <a:pPr algn="l"/>
                      <a:r>
                        <a:rPr sz="850" b="0" i="0">
                          <a:solidFill>
                            <a:srgbClr val="262626"/>
                          </a:solidFill>
                          <a:latin typeface="Arial"/>
                        </a:rPr>
                        <a:t>Sullivan Middaugh</a:t>
                      </a:r>
                    </a:p>
                  </a:txBody>
                  <a:tcPr>
                    <a:solidFill>
                      <a:srgbClr val="F2F2F2"/>
                    </a:solidFill>
                  </a:tcPr>
                </a:tc>
                <a:tc>
                  <a:txBody>
                    <a:bodyPr/>
                    <a:lstStyle/>
                    <a:p>
                      <a:pPr algn="ctr"/>
                      <a:r>
                        <a:rPr sz="850" b="0" i="0">
                          <a:solidFill>
                            <a:srgbClr val="262626"/>
                          </a:solidFill>
                          <a:latin typeface="Arial"/>
                        </a:rPr>
                        <a:t>1,901</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68</a:t>
                      </a:r>
                    </a:p>
                  </a:txBody>
                  <a:tcPr>
                    <a:solidFill>
                      <a:srgbClr val="FFFFFF"/>
                    </a:solidFill>
                  </a:tcPr>
                </a:tc>
                <a:tc>
                  <a:txBody>
                    <a:bodyPr/>
                    <a:lstStyle/>
                    <a:p>
                      <a:pPr algn="l"/>
                      <a:r>
                        <a:rPr sz="850" b="0" i="0">
                          <a:solidFill>
                            <a:srgbClr val="262626"/>
                          </a:solidFill>
                          <a:latin typeface="Arial"/>
                        </a:rPr>
                        <a:t>Keller Norland</a:t>
                      </a:r>
                    </a:p>
                  </a:txBody>
                  <a:tcPr>
                    <a:solidFill>
                      <a:srgbClr val="FFFFFF"/>
                    </a:solidFill>
                  </a:tcPr>
                </a:tc>
                <a:tc>
                  <a:txBody>
                    <a:bodyPr/>
                    <a:lstStyle/>
                    <a:p>
                      <a:pPr algn="ctr"/>
                      <a:r>
                        <a:rPr sz="850" b="0" i="0">
                          <a:solidFill>
                            <a:srgbClr val="262626"/>
                          </a:solidFill>
                          <a:latin typeface="Arial"/>
                        </a:rPr>
                        <a:t>1,795</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73</a:t>
                      </a:r>
                    </a:p>
                  </a:txBody>
                  <a:tcPr>
                    <a:solidFill>
                      <a:srgbClr val="F2F2F2"/>
                    </a:solidFill>
                  </a:tcPr>
                </a:tc>
                <a:tc>
                  <a:txBody>
                    <a:bodyPr/>
                    <a:lstStyle/>
                    <a:p>
                      <a:pPr algn="l"/>
                      <a:r>
                        <a:rPr sz="850" b="0" i="0">
                          <a:solidFill>
                            <a:srgbClr val="262626"/>
                          </a:solidFill>
                          <a:latin typeface="Arial"/>
                        </a:rPr>
                        <a:t>Blake Bullard</a:t>
                      </a:r>
                    </a:p>
                  </a:txBody>
                  <a:tcPr>
                    <a:solidFill>
                      <a:srgbClr val="F2F2F2"/>
                    </a:solidFill>
                  </a:tcPr>
                </a:tc>
                <a:tc>
                  <a:txBody>
                    <a:bodyPr/>
                    <a:lstStyle/>
                    <a:p>
                      <a:pPr algn="ctr"/>
                      <a:r>
                        <a:rPr sz="850" b="0" i="0">
                          <a:solidFill>
                            <a:srgbClr val="262626"/>
                          </a:solidFill>
                          <a:latin typeface="Arial"/>
                        </a:rPr>
                        <a:t>1,761</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81</a:t>
                      </a:r>
                    </a:p>
                  </a:txBody>
                  <a:tcPr>
                    <a:solidFill>
                      <a:srgbClr val="FFFFFF"/>
                    </a:solidFill>
                  </a:tcPr>
                </a:tc>
                <a:tc>
                  <a:txBody>
                    <a:bodyPr/>
                    <a:lstStyle/>
                    <a:p>
                      <a:pPr algn="l"/>
                      <a:r>
                        <a:rPr sz="850" b="0" i="0">
                          <a:solidFill>
                            <a:srgbClr val="262626"/>
                          </a:solidFill>
                          <a:latin typeface="Arial"/>
                        </a:rPr>
                        <a:t>Chase McQueen</a:t>
                      </a:r>
                    </a:p>
                  </a:txBody>
                  <a:tcPr>
                    <a:solidFill>
                      <a:srgbClr val="FFFFFF"/>
                    </a:solidFill>
                  </a:tcPr>
                </a:tc>
                <a:tc>
                  <a:txBody>
                    <a:bodyPr/>
                    <a:lstStyle/>
                    <a:p>
                      <a:pPr algn="ctr"/>
                      <a:r>
                        <a:rPr sz="850" b="0" i="0">
                          <a:solidFill>
                            <a:srgbClr val="262626"/>
                          </a:solidFill>
                          <a:latin typeface="Arial"/>
                        </a:rPr>
                        <a:t>1,708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107</a:t>
                      </a:r>
                    </a:p>
                  </a:txBody>
                  <a:tcPr>
                    <a:solidFill>
                      <a:srgbClr val="F2F2F2"/>
                    </a:solidFill>
                  </a:tcPr>
                </a:tc>
                <a:tc>
                  <a:txBody>
                    <a:bodyPr/>
                    <a:lstStyle/>
                    <a:p>
                      <a:pPr algn="l"/>
                      <a:r>
                        <a:rPr sz="850" b="0" i="0">
                          <a:solidFill>
                            <a:srgbClr val="262626"/>
                          </a:solidFill>
                          <a:latin typeface="Arial"/>
                        </a:rPr>
                        <a:t>Darr Smith</a:t>
                      </a:r>
                    </a:p>
                  </a:txBody>
                  <a:tcPr>
                    <a:solidFill>
                      <a:srgbClr val="F2F2F2"/>
                    </a:solidFill>
                  </a:tcPr>
                </a:tc>
                <a:tc>
                  <a:txBody>
                    <a:bodyPr/>
                    <a:lstStyle/>
                    <a:p>
                      <a:pPr algn="ctr"/>
                      <a:r>
                        <a:rPr sz="850" b="0" i="0">
                          <a:solidFill>
                            <a:srgbClr val="262626"/>
                          </a:solidFill>
                          <a:latin typeface="Arial"/>
                        </a:rPr>
                        <a:t>1,452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111</a:t>
                      </a:r>
                    </a:p>
                  </a:txBody>
                  <a:tcPr>
                    <a:solidFill>
                      <a:srgbClr val="FFFFFF"/>
                    </a:solidFill>
                  </a:tcPr>
                </a:tc>
                <a:tc>
                  <a:txBody>
                    <a:bodyPr/>
                    <a:lstStyle/>
                    <a:p>
                      <a:pPr algn="l"/>
                      <a:r>
                        <a:rPr sz="850" b="0" i="0">
                          <a:solidFill>
                            <a:srgbClr val="262626"/>
                          </a:solidFill>
                          <a:latin typeface="Arial"/>
                        </a:rPr>
                        <a:t>Zach Leachman</a:t>
                      </a:r>
                    </a:p>
                  </a:txBody>
                  <a:tcPr>
                    <a:solidFill>
                      <a:srgbClr val="FFFFFF"/>
                    </a:solidFill>
                  </a:tcPr>
                </a:tc>
                <a:tc>
                  <a:txBody>
                    <a:bodyPr/>
                    <a:lstStyle/>
                    <a:p>
                      <a:pPr algn="ctr"/>
                      <a:r>
                        <a:rPr sz="850" b="0" i="0">
                          <a:solidFill>
                            <a:srgbClr val="262626"/>
                          </a:solidFill>
                          <a:latin typeface="Arial"/>
                        </a:rPr>
                        <a:t>1,433</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134</a:t>
                      </a:r>
                    </a:p>
                  </a:txBody>
                  <a:tcPr>
                    <a:solidFill>
                      <a:srgbClr val="F2F2F2"/>
                    </a:solidFill>
                  </a:tcPr>
                </a:tc>
                <a:tc>
                  <a:txBody>
                    <a:bodyPr/>
                    <a:lstStyle/>
                    <a:p>
                      <a:pPr algn="l"/>
                      <a:r>
                        <a:rPr sz="850" b="0" i="0">
                          <a:solidFill>
                            <a:srgbClr val="262626"/>
                          </a:solidFill>
                          <a:latin typeface="Arial"/>
                        </a:rPr>
                        <a:t>Porter Middaugh</a:t>
                      </a:r>
                    </a:p>
                  </a:txBody>
                  <a:tcPr>
                    <a:solidFill>
                      <a:srgbClr val="F2F2F2"/>
                    </a:solidFill>
                  </a:tcPr>
                </a:tc>
                <a:tc>
                  <a:txBody>
                    <a:bodyPr/>
                    <a:lstStyle/>
                    <a:p>
                      <a:pPr algn="ctr"/>
                      <a:r>
                        <a:rPr sz="850" b="0" i="0">
                          <a:solidFill>
                            <a:srgbClr val="262626"/>
                          </a:solidFill>
                          <a:latin typeface="Arial"/>
                        </a:rPr>
                        <a:t>1,223</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5</a:t>
                      </a:r>
                    </a:p>
                  </a:txBody>
                  <a:tcPr>
                    <a:solidFill>
                      <a:srgbClr val="F2F2F2"/>
                    </a:solidFill>
                  </a:tcPr>
                </a:tc>
                <a:extLst>
                  <a:ext uri="{0D108BD9-81ED-4DB2-BD59-A6C34878D82A}">
                    <a16:rowId xmlns:a16="http://schemas.microsoft.com/office/drawing/2014/main" val="10012"/>
                  </a:ext>
                </a:extLst>
              </a:tr>
              <a:tr h="224028">
                <a:tc>
                  <a:txBody>
                    <a:bodyPr/>
                    <a:lstStyle/>
                    <a:p>
                      <a:pPr algn="ctr"/>
                      <a:r>
                        <a:rPr sz="850" b="1" i="0">
                          <a:solidFill>
                            <a:srgbClr val="262626"/>
                          </a:solidFill>
                          <a:latin typeface="Arial"/>
                        </a:rPr>
                        <a:t>166</a:t>
                      </a:r>
                    </a:p>
                  </a:txBody>
                  <a:tcPr>
                    <a:solidFill>
                      <a:srgbClr val="FFFFFF"/>
                    </a:solidFill>
                  </a:tcPr>
                </a:tc>
                <a:tc>
                  <a:txBody>
                    <a:bodyPr/>
                    <a:lstStyle/>
                    <a:p>
                      <a:pPr algn="l"/>
                      <a:r>
                        <a:rPr sz="850" b="0" i="0">
                          <a:solidFill>
                            <a:srgbClr val="262626"/>
                          </a:solidFill>
                          <a:latin typeface="Arial"/>
                        </a:rPr>
                        <a:t>Carter Stuhlmacher</a:t>
                      </a:r>
                    </a:p>
                  </a:txBody>
                  <a:tcPr>
                    <a:solidFill>
                      <a:srgbClr val="FFFFFF"/>
                    </a:solidFill>
                  </a:tcPr>
                </a:tc>
                <a:tc>
                  <a:txBody>
                    <a:bodyPr/>
                    <a:lstStyle/>
                    <a:p>
                      <a:pPr algn="ctr"/>
                      <a:r>
                        <a:rPr sz="850" b="0" i="0">
                          <a:solidFill>
                            <a:srgbClr val="262626"/>
                          </a:solidFill>
                          <a:latin typeface="Arial"/>
                        </a:rPr>
                        <a:t>1,038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13"/>
                  </a:ext>
                </a:extLst>
              </a:tr>
              <a:tr h="224028">
                <a:tc>
                  <a:txBody>
                    <a:bodyPr/>
                    <a:lstStyle/>
                    <a:p>
                      <a:pPr algn="ctr"/>
                      <a:r>
                        <a:rPr sz="850" b="1" i="0">
                          <a:solidFill>
                            <a:srgbClr val="262626"/>
                          </a:solidFill>
                          <a:latin typeface="Arial"/>
                        </a:rPr>
                        <a:t>279</a:t>
                      </a:r>
                    </a:p>
                  </a:txBody>
                  <a:tcPr>
                    <a:solidFill>
                      <a:srgbClr val="F2F2F2"/>
                    </a:solidFill>
                  </a:tcPr>
                </a:tc>
                <a:tc>
                  <a:txBody>
                    <a:bodyPr/>
                    <a:lstStyle/>
                    <a:p>
                      <a:pPr algn="l"/>
                      <a:r>
                        <a:rPr sz="850" b="0" i="0">
                          <a:solidFill>
                            <a:srgbClr val="262626"/>
                          </a:solidFill>
                          <a:latin typeface="Arial"/>
                        </a:rPr>
                        <a:t>Cole Jamieson </a:t>
                      </a:r>
                    </a:p>
                  </a:txBody>
                  <a:tcPr>
                    <a:solidFill>
                      <a:srgbClr val="F2F2F2"/>
                    </a:solidFill>
                  </a:tcPr>
                </a:tc>
                <a:tc>
                  <a:txBody>
                    <a:bodyPr/>
                    <a:lstStyle/>
                    <a:p>
                      <a:pPr algn="ctr"/>
                      <a:r>
                        <a:rPr sz="850" b="0" i="0">
                          <a:solidFill>
                            <a:srgbClr val="262626"/>
                          </a:solidFill>
                          <a:latin typeface="Arial"/>
                        </a:rPr>
                        <a:t>600</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14"/>
                  </a:ext>
                </a:extLst>
              </a:tr>
              <a:tr h="224028">
                <a:tc>
                  <a:txBody>
                    <a:bodyPr/>
                    <a:lstStyle/>
                    <a:p>
                      <a:pPr algn="ctr"/>
                      <a:r>
                        <a:rPr sz="850" b="1" i="0">
                          <a:solidFill>
                            <a:srgbClr val="262626"/>
                          </a:solidFill>
                          <a:latin typeface="Arial"/>
                        </a:rPr>
                        <a:t>337</a:t>
                      </a:r>
                    </a:p>
                  </a:txBody>
                  <a:tcPr>
                    <a:solidFill>
                      <a:srgbClr val="FFFFFF"/>
                    </a:solidFill>
                  </a:tcPr>
                </a:tc>
                <a:tc>
                  <a:txBody>
                    <a:bodyPr/>
                    <a:lstStyle/>
                    <a:p>
                      <a:pPr algn="l"/>
                      <a:r>
                        <a:rPr sz="850" b="0" i="0">
                          <a:solidFill>
                            <a:srgbClr val="262626"/>
                          </a:solidFill>
                          <a:latin typeface="Arial"/>
                        </a:rPr>
                        <a:t>Matthew McGoey</a:t>
                      </a:r>
                    </a:p>
                  </a:txBody>
                  <a:tcPr>
                    <a:solidFill>
                      <a:srgbClr val="FFFFFF"/>
                    </a:solidFill>
                  </a:tcPr>
                </a:tc>
                <a:tc>
                  <a:txBody>
                    <a:bodyPr/>
                    <a:lstStyle/>
                    <a:p>
                      <a:pPr algn="ctr"/>
                      <a:r>
                        <a:rPr sz="850" b="0" i="0">
                          <a:solidFill>
                            <a:srgbClr val="262626"/>
                          </a:solidFill>
                          <a:latin typeface="Arial"/>
                        </a:rPr>
                        <a:t>451</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15"/>
                  </a:ext>
                </a:extLst>
              </a:tr>
            </a:tbl>
          </a:graphicData>
        </a:graphic>
      </p:graphicFrame>
      <p:sp>
        <p:nvSpPr>
          <p:cNvPr id="33" name="Rectangle 32"/>
          <p:cNvSpPr/>
          <p:nvPr/>
        </p:nvSpPr>
        <p:spPr>
          <a:xfrm>
            <a:off x="6126480" y="26060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TextBox 33"/>
          <p:cNvSpPr txBox="1"/>
          <p:nvPr/>
        </p:nvSpPr>
        <p:spPr>
          <a:xfrm>
            <a:off x="6126480" y="26334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35" name="Table 34"/>
          <p:cNvGraphicFramePr>
            <a:graphicFrameLocks noGrp="1"/>
          </p:cNvGraphicFramePr>
          <p:nvPr/>
        </p:nvGraphicFramePr>
        <p:xfrm>
          <a:off x="6126480" y="2935224"/>
          <a:ext cx="5787236" cy="3584448"/>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45743">
                  <a:extLst>
                    <a:ext uri="{9D8B030D-6E8A-4147-A177-3AD203B41FA5}">
                      <a16:colId xmlns:a16="http://schemas.microsoft.com/office/drawing/2014/main" val="20002"/>
                    </a:ext>
                  </a:extLst>
                </a:gridCol>
                <a:gridCol w="662940">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Curr</a:t>
                      </a:r>
                    </a:p>
                  </a:txBody>
                  <a:tcPr>
                    <a:solidFill>
                      <a:srgbClr val="002060"/>
                    </a:solidFill>
                  </a:tcPr>
                </a:tc>
                <a:tc>
                  <a:txBody>
                    <a:bodyPr/>
                    <a:lstStyle/>
                    <a:p>
                      <a:pPr algn="ctr"/>
                      <a:r>
                        <a:rPr sz="900" b="1" i="0">
                          <a:solidFill>
                            <a:srgbClr val="FFFFFF"/>
                          </a:solidFill>
                          <a:latin typeface="Arial"/>
                        </a:rPr>
                        <a:t>Prev</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5</a:t>
                      </a:r>
                    </a:p>
                  </a:txBody>
                  <a:tcPr>
                    <a:solidFill>
                      <a:srgbClr val="FFFFFF"/>
                    </a:solidFill>
                  </a:tcPr>
                </a:tc>
                <a:tc>
                  <a:txBody>
                    <a:bodyPr/>
                    <a:lstStyle/>
                    <a:p>
                      <a:pPr algn="l"/>
                      <a:r>
                        <a:rPr sz="850" b="0" i="0">
                          <a:solidFill>
                            <a:srgbClr val="262626"/>
                          </a:solidFill>
                          <a:latin typeface="Arial"/>
                        </a:rPr>
                        <a:t>Taylor Spivey</a:t>
                      </a:r>
                    </a:p>
                  </a:txBody>
                  <a:tcPr>
                    <a:solidFill>
                      <a:srgbClr val="FFFFFF"/>
                    </a:solidFill>
                  </a:tcPr>
                </a:tc>
                <a:tc>
                  <a:txBody>
                    <a:bodyPr/>
                    <a:lstStyle/>
                    <a:p>
                      <a:pPr algn="ctr"/>
                      <a:r>
                        <a:rPr sz="850" b="0" i="0">
                          <a:solidFill>
                            <a:srgbClr val="262626"/>
                          </a:solidFill>
                          <a:latin typeface="Arial"/>
                        </a:rPr>
                        <a:t>5,256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4</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23</a:t>
                      </a:r>
                    </a:p>
                  </a:txBody>
                  <a:tcPr>
                    <a:solidFill>
                      <a:srgbClr val="F2F2F2"/>
                    </a:solidFill>
                  </a:tcPr>
                </a:tc>
                <a:tc>
                  <a:txBody>
                    <a:bodyPr/>
                    <a:lstStyle/>
                    <a:p>
                      <a:pPr algn="l"/>
                      <a:r>
                        <a:rPr sz="850" b="0" i="0">
                          <a:solidFill>
                            <a:srgbClr val="262626"/>
                          </a:solidFill>
                          <a:latin typeface="Arial"/>
                        </a:rPr>
                        <a:t>Gina Sereno</a:t>
                      </a:r>
                    </a:p>
                  </a:txBody>
                  <a:tcPr>
                    <a:solidFill>
                      <a:srgbClr val="F2F2F2"/>
                    </a:solidFill>
                  </a:tcPr>
                </a:tc>
                <a:tc>
                  <a:txBody>
                    <a:bodyPr/>
                    <a:lstStyle/>
                    <a:p>
                      <a:pPr algn="ctr"/>
                      <a:r>
                        <a:rPr sz="850" b="0" i="0">
                          <a:solidFill>
                            <a:srgbClr val="262626"/>
                          </a:solidFill>
                          <a:latin typeface="Arial"/>
                        </a:rPr>
                        <a:t>2,747</a:t>
                      </a:r>
                    </a:p>
                  </a:txBody>
                  <a:tcPr>
                    <a:solidFill>
                      <a:srgbClr val="F2F2F2"/>
                    </a:solidFill>
                  </a:tcPr>
                </a:tc>
                <a:tc>
                  <a:txBody>
                    <a:bodyPr/>
                    <a:lstStyle/>
                    <a:p>
                      <a:pPr algn="ctr"/>
                      <a:r>
                        <a:rPr sz="850" b="0" i="0">
                          <a:solidFill>
                            <a:srgbClr val="262626"/>
                          </a:solidFill>
                          <a:latin typeface="Arial"/>
                        </a:rPr>
                        <a:t>5</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27</a:t>
                      </a:r>
                    </a:p>
                  </a:txBody>
                  <a:tcPr>
                    <a:solidFill>
                      <a:srgbClr val="FFFFFF"/>
                    </a:solidFill>
                  </a:tcPr>
                </a:tc>
                <a:tc>
                  <a:txBody>
                    <a:bodyPr/>
                    <a:lstStyle/>
                    <a:p>
                      <a:pPr algn="l"/>
                      <a:r>
                        <a:rPr sz="850" b="0" i="0">
                          <a:solidFill>
                            <a:srgbClr val="262626"/>
                          </a:solidFill>
                          <a:latin typeface="Arial"/>
                        </a:rPr>
                        <a:t>Gwen Jorgensen</a:t>
                      </a:r>
                    </a:p>
                  </a:txBody>
                  <a:tcPr>
                    <a:solidFill>
                      <a:srgbClr val="FFFFFF"/>
                    </a:solidFill>
                  </a:tcPr>
                </a:tc>
                <a:tc>
                  <a:txBody>
                    <a:bodyPr/>
                    <a:lstStyle/>
                    <a:p>
                      <a:pPr algn="ctr"/>
                      <a:r>
                        <a:rPr sz="850" b="0" i="0">
                          <a:solidFill>
                            <a:srgbClr val="262626"/>
                          </a:solidFill>
                          <a:latin typeface="Arial"/>
                        </a:rPr>
                        <a:t>2,639</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35</a:t>
                      </a:r>
                    </a:p>
                  </a:txBody>
                  <a:tcPr>
                    <a:solidFill>
                      <a:srgbClr val="F2F2F2"/>
                    </a:solidFill>
                  </a:tcPr>
                </a:tc>
                <a:tc>
                  <a:txBody>
                    <a:bodyPr/>
                    <a:lstStyle/>
                    <a:p>
                      <a:pPr algn="l"/>
                      <a:r>
                        <a:rPr sz="850" b="0" i="0">
                          <a:solidFill>
                            <a:srgbClr val="262626"/>
                          </a:solidFill>
                          <a:latin typeface="Arial"/>
                        </a:rPr>
                        <a:t>Danielle Orie</a:t>
                      </a:r>
                    </a:p>
                  </a:txBody>
                  <a:tcPr>
                    <a:solidFill>
                      <a:srgbClr val="F2F2F2"/>
                    </a:solidFill>
                  </a:tcPr>
                </a:tc>
                <a:tc>
                  <a:txBody>
                    <a:bodyPr/>
                    <a:lstStyle/>
                    <a:p>
                      <a:pPr algn="ctr"/>
                      <a:r>
                        <a:rPr sz="850" b="0" i="0">
                          <a:solidFill>
                            <a:srgbClr val="262626"/>
                          </a:solidFill>
                          <a:latin typeface="Arial"/>
                        </a:rPr>
                        <a:t>2,432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53</a:t>
                      </a:r>
                    </a:p>
                  </a:txBody>
                  <a:tcPr>
                    <a:solidFill>
                      <a:srgbClr val="FFFFFF"/>
                    </a:solidFill>
                  </a:tcPr>
                </a:tc>
                <a:tc>
                  <a:txBody>
                    <a:bodyPr/>
                    <a:lstStyle/>
                    <a:p>
                      <a:pPr algn="l"/>
                      <a:r>
                        <a:rPr sz="850" b="0" i="0">
                          <a:solidFill>
                            <a:srgbClr val="262626"/>
                          </a:solidFill>
                          <a:latin typeface="Arial"/>
                        </a:rPr>
                        <a:t>Erika Ackerlund</a:t>
                      </a:r>
                    </a:p>
                  </a:txBody>
                  <a:tcPr>
                    <a:solidFill>
                      <a:srgbClr val="FFFFFF"/>
                    </a:solidFill>
                  </a:tcPr>
                </a:tc>
                <a:tc>
                  <a:txBody>
                    <a:bodyPr/>
                    <a:lstStyle/>
                    <a:p>
                      <a:pPr algn="ctr"/>
                      <a:r>
                        <a:rPr sz="850" b="0" i="0">
                          <a:solidFill>
                            <a:srgbClr val="262626"/>
                          </a:solidFill>
                          <a:latin typeface="Arial"/>
                        </a:rPr>
                        <a:t>1,981</a:t>
                      </a:r>
                    </a:p>
                  </a:txBody>
                  <a:tcPr>
                    <a:solidFill>
                      <a:srgbClr val="FFFFFF"/>
                    </a:solidFill>
                  </a:tcPr>
                </a:tc>
                <a:tc>
                  <a:txBody>
                    <a:bodyPr/>
                    <a:lstStyle/>
                    <a:p>
                      <a:pPr algn="ctr"/>
                      <a:r>
                        <a:rPr sz="850" b="0" i="0">
                          <a:solidFill>
                            <a:srgbClr val="262626"/>
                          </a:solidFill>
                          <a:latin typeface="Arial"/>
                        </a:rPr>
                        <a:t>5</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56</a:t>
                      </a:r>
                    </a:p>
                  </a:txBody>
                  <a:tcPr>
                    <a:solidFill>
                      <a:srgbClr val="F2F2F2"/>
                    </a:solidFill>
                  </a:tcPr>
                </a:tc>
                <a:tc>
                  <a:txBody>
                    <a:bodyPr/>
                    <a:lstStyle/>
                    <a:p>
                      <a:pPr algn="l"/>
                      <a:r>
                        <a:rPr sz="850" b="0" i="0">
                          <a:solidFill>
                            <a:srgbClr val="262626"/>
                          </a:solidFill>
                          <a:latin typeface="Arial"/>
                        </a:rPr>
                        <a:t>Naomi Ruff</a:t>
                      </a:r>
                    </a:p>
                  </a:txBody>
                  <a:tcPr>
                    <a:solidFill>
                      <a:srgbClr val="F2F2F2"/>
                    </a:solidFill>
                  </a:tcPr>
                </a:tc>
                <a:tc>
                  <a:txBody>
                    <a:bodyPr/>
                    <a:lstStyle/>
                    <a:p>
                      <a:pPr algn="ctr"/>
                      <a:r>
                        <a:rPr sz="850" b="0" i="0">
                          <a:solidFill>
                            <a:srgbClr val="262626"/>
                          </a:solidFill>
                          <a:latin typeface="Arial"/>
                        </a:rPr>
                        <a:t>1,928</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59</a:t>
                      </a:r>
                    </a:p>
                  </a:txBody>
                  <a:tcPr>
                    <a:solidFill>
                      <a:srgbClr val="FFFFFF"/>
                    </a:solidFill>
                  </a:tcPr>
                </a:tc>
                <a:tc>
                  <a:txBody>
                    <a:bodyPr/>
                    <a:lstStyle/>
                    <a:p>
                      <a:pPr algn="l"/>
                      <a:r>
                        <a:rPr sz="850" b="0" i="0">
                          <a:solidFill>
                            <a:srgbClr val="262626"/>
                          </a:solidFill>
                          <a:latin typeface="Arial"/>
                        </a:rPr>
                        <a:t>Kelly Wetteland</a:t>
                      </a:r>
                    </a:p>
                  </a:txBody>
                  <a:tcPr>
                    <a:solidFill>
                      <a:srgbClr val="FFFFFF"/>
                    </a:solidFill>
                  </a:tcPr>
                </a:tc>
                <a:tc>
                  <a:txBody>
                    <a:bodyPr/>
                    <a:lstStyle/>
                    <a:p>
                      <a:pPr algn="ctr"/>
                      <a:r>
                        <a:rPr sz="850" b="0" i="0">
                          <a:solidFill>
                            <a:srgbClr val="262626"/>
                          </a:solidFill>
                          <a:latin typeface="Arial"/>
                        </a:rPr>
                        <a:t>1,843</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83</a:t>
                      </a:r>
                    </a:p>
                  </a:txBody>
                  <a:tcPr>
                    <a:solidFill>
                      <a:srgbClr val="F2F2F2"/>
                    </a:solidFill>
                  </a:tcPr>
                </a:tc>
                <a:tc>
                  <a:txBody>
                    <a:bodyPr/>
                    <a:lstStyle/>
                    <a:p>
                      <a:pPr algn="l"/>
                      <a:r>
                        <a:rPr sz="850" b="0" i="0">
                          <a:solidFill>
                            <a:srgbClr val="262626"/>
                          </a:solidFill>
                          <a:latin typeface="Arial"/>
                        </a:rPr>
                        <a:t>Kirsten Kasper</a:t>
                      </a:r>
                    </a:p>
                  </a:txBody>
                  <a:tcPr>
                    <a:solidFill>
                      <a:srgbClr val="F2F2F2"/>
                    </a:solidFill>
                  </a:tcPr>
                </a:tc>
                <a:tc>
                  <a:txBody>
                    <a:bodyPr/>
                    <a:lstStyle/>
                    <a:p>
                      <a:pPr algn="ctr"/>
                      <a:r>
                        <a:rPr sz="850" b="0" i="0">
                          <a:solidFill>
                            <a:srgbClr val="262626"/>
                          </a:solidFill>
                          <a:latin typeface="Arial"/>
                        </a:rPr>
                        <a:t>1,551</a:t>
                      </a:r>
                    </a:p>
                  </a:txBody>
                  <a:tcPr>
                    <a:solidFill>
                      <a:srgbClr val="F2F2F2"/>
                    </a:solidFill>
                  </a:tcPr>
                </a:tc>
                <a:tc>
                  <a:txBody>
                    <a:bodyPr/>
                    <a:lstStyle/>
                    <a:p>
                      <a:pPr algn="ctr"/>
                      <a:r>
                        <a:rPr sz="850" b="0" i="0">
                          <a:solidFill>
                            <a:srgbClr val="262626"/>
                          </a:solidFill>
                          <a:latin typeface="Arial"/>
                        </a:rPr>
                        <a:t>5</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84</a:t>
                      </a:r>
                    </a:p>
                  </a:txBody>
                  <a:tcPr>
                    <a:solidFill>
                      <a:srgbClr val="FFFFFF"/>
                    </a:solidFill>
                  </a:tcPr>
                </a:tc>
                <a:tc>
                  <a:txBody>
                    <a:bodyPr/>
                    <a:lstStyle/>
                    <a:p>
                      <a:pPr algn="l"/>
                      <a:r>
                        <a:rPr sz="850" b="0" i="0">
                          <a:solidFill>
                            <a:srgbClr val="262626"/>
                          </a:solidFill>
                          <a:latin typeface="Arial"/>
                        </a:rPr>
                        <a:t>Eleanor Beveridge</a:t>
                      </a:r>
                    </a:p>
                  </a:txBody>
                  <a:tcPr>
                    <a:solidFill>
                      <a:srgbClr val="FFFFFF"/>
                    </a:solidFill>
                  </a:tcPr>
                </a:tc>
                <a:tc>
                  <a:txBody>
                    <a:bodyPr/>
                    <a:lstStyle/>
                    <a:p>
                      <a:pPr algn="ctr"/>
                      <a:r>
                        <a:rPr sz="850" b="0" i="0">
                          <a:solidFill>
                            <a:srgbClr val="262626"/>
                          </a:solidFill>
                          <a:latin typeface="Arial"/>
                        </a:rPr>
                        <a:t>1,544</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90</a:t>
                      </a:r>
                    </a:p>
                  </a:txBody>
                  <a:tcPr>
                    <a:solidFill>
                      <a:srgbClr val="F2F2F2"/>
                    </a:solidFill>
                  </a:tcPr>
                </a:tc>
                <a:tc>
                  <a:txBody>
                    <a:bodyPr/>
                    <a:lstStyle/>
                    <a:p>
                      <a:pPr algn="l"/>
                      <a:r>
                        <a:rPr sz="850" b="0" i="0">
                          <a:solidFill>
                            <a:srgbClr val="262626"/>
                          </a:solidFill>
                          <a:latin typeface="Arial"/>
                        </a:rPr>
                        <a:t>Joy Gill</a:t>
                      </a:r>
                    </a:p>
                  </a:txBody>
                  <a:tcPr>
                    <a:solidFill>
                      <a:srgbClr val="F2F2F2"/>
                    </a:solidFill>
                  </a:tcPr>
                </a:tc>
                <a:tc>
                  <a:txBody>
                    <a:bodyPr/>
                    <a:lstStyle/>
                    <a:p>
                      <a:pPr algn="ctr"/>
                      <a:r>
                        <a:rPr sz="850" b="0" i="0">
                          <a:solidFill>
                            <a:srgbClr val="262626"/>
                          </a:solidFill>
                          <a:latin typeface="Arial"/>
                        </a:rPr>
                        <a:t>1,514</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104</a:t>
                      </a:r>
                    </a:p>
                  </a:txBody>
                  <a:tcPr>
                    <a:solidFill>
                      <a:srgbClr val="FFFFFF"/>
                    </a:solidFill>
                  </a:tcPr>
                </a:tc>
                <a:tc>
                  <a:txBody>
                    <a:bodyPr/>
                    <a:lstStyle/>
                    <a:p>
                      <a:pPr algn="l"/>
                      <a:r>
                        <a:rPr sz="850" b="0" i="0">
                          <a:solidFill>
                            <a:srgbClr val="262626"/>
                          </a:solidFill>
                          <a:latin typeface="Arial"/>
                        </a:rPr>
                        <a:t>Michelle Magnani</a:t>
                      </a:r>
                    </a:p>
                  </a:txBody>
                  <a:tcPr>
                    <a:solidFill>
                      <a:srgbClr val="FFFFFF"/>
                    </a:solidFill>
                  </a:tcPr>
                </a:tc>
                <a:tc>
                  <a:txBody>
                    <a:bodyPr/>
                    <a:lstStyle/>
                    <a:p>
                      <a:pPr algn="ctr"/>
                      <a:r>
                        <a:rPr sz="850" b="0" i="0">
                          <a:solidFill>
                            <a:srgbClr val="262626"/>
                          </a:solidFill>
                          <a:latin typeface="Arial"/>
                        </a:rPr>
                        <a:t>1,319</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107</a:t>
                      </a:r>
                    </a:p>
                  </a:txBody>
                  <a:tcPr>
                    <a:solidFill>
                      <a:srgbClr val="F2F2F2"/>
                    </a:solidFill>
                  </a:tcPr>
                </a:tc>
                <a:tc>
                  <a:txBody>
                    <a:bodyPr/>
                    <a:lstStyle/>
                    <a:p>
                      <a:pPr algn="l"/>
                      <a:r>
                        <a:rPr sz="850" b="0" i="0">
                          <a:solidFill>
                            <a:srgbClr val="262626"/>
                          </a:solidFill>
                          <a:latin typeface="Arial"/>
                        </a:rPr>
                        <a:t>Rachel Werking</a:t>
                      </a:r>
                    </a:p>
                  </a:txBody>
                  <a:tcPr>
                    <a:solidFill>
                      <a:srgbClr val="F2F2F2"/>
                    </a:solidFill>
                  </a:tcPr>
                </a:tc>
                <a:tc>
                  <a:txBody>
                    <a:bodyPr/>
                    <a:lstStyle/>
                    <a:p>
                      <a:pPr algn="ctr"/>
                      <a:r>
                        <a:rPr sz="850" b="0" i="0">
                          <a:solidFill>
                            <a:srgbClr val="262626"/>
                          </a:solidFill>
                          <a:latin typeface="Arial"/>
                        </a:rPr>
                        <a:t>1,302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12"/>
                  </a:ext>
                </a:extLst>
              </a:tr>
              <a:tr h="224028">
                <a:tc>
                  <a:txBody>
                    <a:bodyPr/>
                    <a:lstStyle/>
                    <a:p>
                      <a:pPr algn="ctr"/>
                      <a:r>
                        <a:rPr sz="850" b="1" i="0">
                          <a:solidFill>
                            <a:srgbClr val="262626"/>
                          </a:solidFill>
                          <a:latin typeface="Arial"/>
                        </a:rPr>
                        <a:t>146</a:t>
                      </a:r>
                    </a:p>
                  </a:txBody>
                  <a:tcPr>
                    <a:solidFill>
                      <a:srgbClr val="FFFFFF"/>
                    </a:solidFill>
                  </a:tcPr>
                </a:tc>
                <a:tc>
                  <a:txBody>
                    <a:bodyPr/>
                    <a:lstStyle/>
                    <a:p>
                      <a:pPr algn="l"/>
                      <a:r>
                        <a:rPr sz="850" b="0" i="0">
                          <a:solidFill>
                            <a:srgbClr val="262626"/>
                          </a:solidFill>
                          <a:latin typeface="Arial"/>
                        </a:rPr>
                        <a:t>Ellison Wolfe</a:t>
                      </a:r>
                    </a:p>
                  </a:txBody>
                  <a:tcPr>
                    <a:solidFill>
                      <a:srgbClr val="FFFFFF"/>
                    </a:solidFill>
                  </a:tcPr>
                </a:tc>
                <a:tc>
                  <a:txBody>
                    <a:bodyPr/>
                    <a:lstStyle/>
                    <a:p>
                      <a:pPr algn="ctr"/>
                      <a:r>
                        <a:rPr sz="850" b="0" i="0">
                          <a:solidFill>
                            <a:srgbClr val="262626"/>
                          </a:solidFill>
                          <a:latin typeface="Arial"/>
                        </a:rPr>
                        <a:t>1,058</a:t>
                      </a:r>
                    </a:p>
                  </a:txBody>
                  <a:tcPr>
                    <a:solidFill>
                      <a:srgbClr val="FFFFFF"/>
                    </a:solidFill>
                  </a:tcPr>
                </a:tc>
                <a:tc>
                  <a:txBody>
                    <a:bodyPr/>
                    <a:lstStyle/>
                    <a:p>
                      <a:pPr algn="ctr"/>
                      <a:r>
                        <a:rPr sz="850" b="0" i="0">
                          <a:solidFill>
                            <a:srgbClr val="262626"/>
                          </a:solidFill>
                          <a:latin typeface="Arial"/>
                        </a:rPr>
                        <a:t>6</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13"/>
                  </a:ext>
                </a:extLst>
              </a:tr>
              <a:tr h="224028">
                <a:tc>
                  <a:txBody>
                    <a:bodyPr/>
                    <a:lstStyle/>
                    <a:p>
                      <a:pPr algn="ctr"/>
                      <a:r>
                        <a:rPr sz="850" b="1" i="0">
                          <a:solidFill>
                            <a:srgbClr val="262626"/>
                          </a:solidFill>
                          <a:latin typeface="Arial"/>
                        </a:rPr>
                        <a:t>150</a:t>
                      </a:r>
                    </a:p>
                  </a:txBody>
                  <a:tcPr>
                    <a:solidFill>
                      <a:srgbClr val="F2F2F2"/>
                    </a:solidFill>
                  </a:tcPr>
                </a:tc>
                <a:tc>
                  <a:txBody>
                    <a:bodyPr/>
                    <a:lstStyle/>
                    <a:p>
                      <a:pPr algn="l"/>
                      <a:r>
                        <a:rPr sz="850" b="0" i="0">
                          <a:solidFill>
                            <a:srgbClr val="262626"/>
                          </a:solidFill>
                          <a:latin typeface="Arial"/>
                        </a:rPr>
                        <a:t>Katie McCune</a:t>
                      </a:r>
                    </a:p>
                  </a:txBody>
                  <a:tcPr>
                    <a:solidFill>
                      <a:srgbClr val="F2F2F2"/>
                    </a:solidFill>
                  </a:tcPr>
                </a:tc>
                <a:tc>
                  <a:txBody>
                    <a:bodyPr/>
                    <a:lstStyle/>
                    <a:p>
                      <a:pPr algn="ctr"/>
                      <a:r>
                        <a:rPr sz="850" b="0" i="0">
                          <a:solidFill>
                            <a:srgbClr val="262626"/>
                          </a:solidFill>
                          <a:latin typeface="Arial"/>
                        </a:rPr>
                        <a:t>1,042</a:t>
                      </a:r>
                    </a:p>
                  </a:txBody>
                  <a:tcPr>
                    <a:solidFill>
                      <a:srgbClr val="F2F2F2"/>
                    </a:solidFill>
                  </a:tcPr>
                </a:tc>
                <a:tc>
                  <a:txBody>
                    <a:bodyPr/>
                    <a:lstStyle/>
                    <a:p>
                      <a:pPr algn="ctr"/>
                      <a:r>
                        <a:rPr sz="850" b="0" i="0">
                          <a:solidFill>
                            <a:srgbClr val="262626"/>
                          </a:solidFill>
                          <a:latin typeface="Arial"/>
                        </a:rPr>
                        <a:t>6</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14"/>
                  </a:ext>
                </a:extLst>
              </a:tr>
              <a:tr h="224028">
                <a:tc>
                  <a:txBody>
                    <a:bodyPr/>
                    <a:lstStyle/>
                    <a:p>
                      <a:pPr algn="ctr"/>
                      <a:r>
                        <a:rPr sz="850" b="1" i="0">
                          <a:solidFill>
                            <a:srgbClr val="262626"/>
                          </a:solidFill>
                          <a:latin typeface="Arial"/>
                        </a:rPr>
                        <a:t>158</a:t>
                      </a:r>
                    </a:p>
                  </a:txBody>
                  <a:tcPr>
                    <a:solidFill>
                      <a:srgbClr val="FFFFFF"/>
                    </a:solidFill>
                  </a:tcPr>
                </a:tc>
                <a:tc>
                  <a:txBody>
                    <a:bodyPr/>
                    <a:lstStyle/>
                    <a:p>
                      <a:pPr algn="l"/>
                      <a:r>
                        <a:rPr sz="850" b="0" i="0">
                          <a:solidFill>
                            <a:srgbClr val="262626"/>
                          </a:solidFill>
                          <a:latin typeface="Arial"/>
                        </a:rPr>
                        <a:t>Taylor Knibb</a:t>
                      </a:r>
                    </a:p>
                  </a:txBody>
                  <a:tcPr>
                    <a:solidFill>
                      <a:srgbClr val="FFFFFF"/>
                    </a:solidFill>
                  </a:tcPr>
                </a:tc>
                <a:tc>
                  <a:txBody>
                    <a:bodyPr/>
                    <a:lstStyle/>
                    <a:p>
                      <a:pPr algn="ctr"/>
                      <a:r>
                        <a:rPr sz="850" b="0" i="0">
                          <a:solidFill>
                            <a:srgbClr val="262626"/>
                          </a:solidFill>
                          <a:latin typeface="Arial"/>
                        </a:rPr>
                        <a:t>1,003</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15"/>
                  </a:ext>
                </a:extLst>
              </a:tr>
            </a:tbl>
          </a:graphicData>
        </a:graphic>
      </p:graphicFrame>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Olympic Qualification Pace</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664768"/>
          </a:xfrm>
          <a:prstGeom prst="rect">
            <a:avLst/>
          </a:prstGeom>
          <a:solidFill>
            <a:srgbClr val="00206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88720"/>
            <a:ext cx="11430000" cy="329184"/>
          </a:xfrm>
          <a:prstGeom prst="rect">
            <a:avLst/>
          </a:prstGeom>
          <a:noFill/>
        </p:spPr>
        <p:txBody>
          <a:bodyPr wrap="square">
            <a:spAutoFit/>
          </a:bodyPr>
          <a:lstStyle/>
          <a:p>
            <a:pPr algn="ctr"/>
            <a:r>
              <a:rPr sz="1500" b="1" i="0">
                <a:solidFill>
                  <a:srgbClr val="FFFFFF"/>
                </a:solidFill>
                <a:latin typeface="Arial"/>
              </a:rPr>
              <a:t>Paris 2024 OQR cutoff (30th): 3,626.69 pts   ÷   12-event cap =   302 pts / event on pace</a:t>
            </a:r>
          </a:p>
        </p:txBody>
      </p:sp>
      <p:sp>
        <p:nvSpPr>
          <p:cNvPr id="10" name="TextBox 9"/>
          <p:cNvSpPr txBox="1"/>
          <p:nvPr/>
        </p:nvSpPr>
        <p:spPr>
          <a:xfrm>
            <a:off x="365760" y="1458468"/>
            <a:ext cx="11430000" cy="329184"/>
          </a:xfrm>
          <a:prstGeom prst="rect">
            <a:avLst/>
          </a:prstGeom>
          <a:noFill/>
        </p:spPr>
        <p:txBody>
          <a:bodyPr wrap="square">
            <a:spAutoFit/>
          </a:bodyPr>
          <a:lstStyle/>
          <a:p>
            <a:pPr algn="ctr"/>
            <a:r>
              <a:rPr sz="1100" b="0" i="1">
                <a:solidFill>
                  <a:srgbClr val="AABBDD"/>
                </a:solidFill>
                <a:latin typeface="Arial"/>
              </a:rPr>
              <a:t>An athlete who averages ~302 pts per event across their best 12 events is on pace to clear the LA 2028 qualifying threshold.</a:t>
            </a:r>
          </a:p>
        </p:txBody>
      </p:sp>
      <p:sp>
        <p:nvSpPr>
          <p:cNvPr id="11" name="Rectangle 10"/>
          <p:cNvSpPr/>
          <p:nvPr/>
        </p:nvSpPr>
        <p:spPr>
          <a:xfrm>
            <a:off x="274320" y="1812340"/>
            <a:ext cx="11640312" cy="292608"/>
          </a:xfrm>
          <a:prstGeom prst="rect">
            <a:avLst/>
          </a:prstGeom>
          <a:solidFill>
            <a:srgbClr val="C000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365760" y="1839772"/>
            <a:ext cx="11430000" cy="237744"/>
          </a:xfrm>
          <a:prstGeom prst="rect">
            <a:avLst/>
          </a:prstGeom>
          <a:noFill/>
        </p:spPr>
        <p:txBody>
          <a:bodyPr wrap="square">
            <a:spAutoFit/>
          </a:bodyPr>
          <a:lstStyle/>
          <a:p>
            <a:pPr algn="ctr"/>
            <a:r>
              <a:rPr sz="1100" b="1" i="0">
                <a:solidFill>
                  <a:srgbClr val="FFFFFF"/>
                </a:solidFill>
                <a:latin typeface="Arial"/>
              </a:rPr>
              <a:t>FINISH POSITION AT EACH TIER THAT HITS 302-PT PACE</a:t>
            </a:r>
          </a:p>
        </p:txBody>
      </p:sp>
      <p:graphicFrame>
        <p:nvGraphicFramePr>
          <p:cNvPr id="13" name="Table 12"/>
          <p:cNvGraphicFramePr>
            <a:graphicFrameLocks noGrp="1"/>
          </p:cNvGraphicFramePr>
          <p:nvPr/>
        </p:nvGraphicFramePr>
        <p:xfrm>
          <a:off x="274320" y="2196388"/>
          <a:ext cx="11640309" cy="1371600"/>
        </p:xfrm>
        <a:graphic>
          <a:graphicData uri="http://schemas.openxmlformats.org/drawingml/2006/table">
            <a:tbl>
              <a:tblPr firstRow="1" bandRow="1">
                <a:tableStyleId>{5C22544A-7EE6-4342-B048-85BDC9FD1C3A}</a:tableStyleId>
              </a:tblPr>
              <a:tblGrid>
                <a:gridCol w="4399178">
                  <a:extLst>
                    <a:ext uri="{9D8B030D-6E8A-4147-A177-3AD203B41FA5}">
                      <a16:colId xmlns:a16="http://schemas.microsoft.com/office/drawing/2014/main" val="20000"/>
                    </a:ext>
                  </a:extLst>
                </a:gridCol>
                <a:gridCol w="1375257">
                  <a:extLst>
                    <a:ext uri="{9D8B030D-6E8A-4147-A177-3AD203B41FA5}">
                      <a16:colId xmlns:a16="http://schemas.microsoft.com/office/drawing/2014/main" val="20001"/>
                    </a:ext>
                  </a:extLst>
                </a:gridCol>
                <a:gridCol w="2200046">
                  <a:extLst>
                    <a:ext uri="{9D8B030D-6E8A-4147-A177-3AD203B41FA5}">
                      <a16:colId xmlns:a16="http://schemas.microsoft.com/office/drawing/2014/main" val="20002"/>
                    </a:ext>
                  </a:extLst>
                </a:gridCol>
                <a:gridCol w="2749600">
                  <a:extLst>
                    <a:ext uri="{9D8B030D-6E8A-4147-A177-3AD203B41FA5}">
                      <a16:colId xmlns:a16="http://schemas.microsoft.com/office/drawing/2014/main" val="20003"/>
                    </a:ext>
                  </a:extLst>
                </a:gridCol>
                <a:gridCol w="916228">
                  <a:extLst>
                    <a:ext uri="{9D8B030D-6E8A-4147-A177-3AD203B41FA5}">
                      <a16:colId xmlns:a16="http://schemas.microsoft.com/office/drawing/2014/main" val="20004"/>
                    </a:ext>
                  </a:extLst>
                </a:gridCol>
              </a:tblGrid>
              <a:tr h="274320">
                <a:tc>
                  <a:txBody>
                    <a:bodyPr/>
                    <a:lstStyle/>
                    <a:p>
                      <a:pPr algn="l"/>
                      <a:r>
                        <a:rPr sz="950" b="1" i="0">
                          <a:solidFill>
                            <a:srgbClr val="FFFFFF"/>
                          </a:solidFill>
                          <a:latin typeface="Arial"/>
                        </a:rPr>
                        <a:t>Tier</a:t>
                      </a:r>
                    </a:p>
                  </a:txBody>
                  <a:tcPr>
                    <a:solidFill>
                      <a:srgbClr val="002060"/>
                    </a:solidFill>
                  </a:tcPr>
                </a:tc>
                <a:tc>
                  <a:txBody>
                    <a:bodyPr/>
                    <a:lstStyle/>
                    <a:p>
                      <a:pPr algn="ctr"/>
                      <a:r>
                        <a:rPr sz="950" b="1" i="0">
                          <a:solidFill>
                            <a:srgbClr val="FFFFFF"/>
                          </a:solidFill>
                          <a:latin typeface="Arial"/>
                        </a:rPr>
                        <a:t>Win pts</a:t>
                      </a:r>
                    </a:p>
                  </a:txBody>
                  <a:tcPr>
                    <a:solidFill>
                      <a:srgbClr val="002060"/>
                    </a:solidFill>
                  </a:tcPr>
                </a:tc>
                <a:tc>
                  <a:txBody>
                    <a:bodyPr/>
                    <a:lstStyle/>
                    <a:p>
                      <a:pPr algn="ctr"/>
                      <a:r>
                        <a:rPr sz="950" b="1" i="0">
                          <a:solidFill>
                            <a:srgbClr val="FFFFFF"/>
                          </a:solidFill>
                          <a:latin typeface="Arial"/>
                        </a:rPr>
                        <a:t>Last on-pace pos</a:t>
                      </a:r>
                    </a:p>
                  </a:txBody>
                  <a:tcPr>
                    <a:solidFill>
                      <a:srgbClr val="002060"/>
                    </a:solidFill>
                  </a:tcPr>
                </a:tc>
                <a:tc>
                  <a:txBody>
                    <a:bodyPr/>
                    <a:lstStyle/>
                    <a:p>
                      <a:pPr algn="ctr"/>
                      <a:r>
                        <a:rPr sz="950" b="1" i="0">
                          <a:solidFill>
                            <a:srgbClr val="FFFFFF"/>
                          </a:solidFill>
                          <a:latin typeface="Arial"/>
                        </a:rPr>
                        <a:t>First off-pace pos (pts)</a:t>
                      </a:r>
                    </a:p>
                  </a:txBody>
                  <a:tcPr>
                    <a:solidFill>
                      <a:srgbClr val="002060"/>
                    </a:solidFill>
                  </a:tcPr>
                </a:tc>
                <a:tc>
                  <a:txBody>
                    <a:bodyPr/>
                    <a:lstStyle/>
                    <a:p>
                      <a:pPr algn="ctr"/>
                      <a:r>
                        <a:rPr sz="950" b="1" i="0">
                          <a:solidFill>
                            <a:srgbClr val="FFFFFF"/>
                          </a:solidFill>
                          <a:latin typeface="Arial"/>
                        </a:rPr>
                        <a:t>Verdict</a:t>
                      </a:r>
                    </a:p>
                  </a:txBody>
                  <a:tcPr>
                    <a:solidFill>
                      <a:srgbClr val="002060"/>
                    </a:solidFill>
                  </a:tcPr>
                </a:tc>
                <a:extLst>
                  <a:ext uri="{0D108BD9-81ED-4DB2-BD59-A6C34878D82A}">
                    <a16:rowId xmlns:a16="http://schemas.microsoft.com/office/drawing/2014/main" val="10000"/>
                  </a:ext>
                </a:extLst>
              </a:tr>
              <a:tr h="274320">
                <a:tc>
                  <a:txBody>
                    <a:bodyPr/>
                    <a:lstStyle/>
                    <a:p>
                      <a:pPr algn="l"/>
                      <a:r>
                        <a:rPr sz="950" b="0" i="0">
                          <a:solidFill>
                            <a:srgbClr val="262626"/>
                          </a:solidFill>
                          <a:latin typeface="Arial"/>
                        </a:rPr>
                        <a:t>World Championship Series</a:t>
                      </a:r>
                    </a:p>
                  </a:txBody>
                  <a:tcPr>
                    <a:solidFill>
                      <a:srgbClr val="FFFFFF"/>
                    </a:solidFill>
                  </a:tcPr>
                </a:tc>
                <a:tc>
                  <a:txBody>
                    <a:bodyPr/>
                    <a:lstStyle/>
                    <a:p>
                      <a:pPr algn="ctr"/>
                      <a:r>
                        <a:rPr sz="950" b="1" i="0">
                          <a:solidFill>
                            <a:srgbClr val="262626"/>
                          </a:solidFill>
                          <a:latin typeface="Arial"/>
                        </a:rPr>
                        <a:t>1000</a:t>
                      </a:r>
                    </a:p>
                  </a:txBody>
                  <a:tcPr>
                    <a:solidFill>
                      <a:srgbClr val="FFFFFF"/>
                    </a:solidFill>
                  </a:tcPr>
                </a:tc>
                <a:tc>
                  <a:txBody>
                    <a:bodyPr/>
                    <a:lstStyle/>
                    <a:p>
                      <a:pPr algn="ctr"/>
                      <a:r>
                        <a:rPr sz="950" b="1" i="0">
                          <a:solidFill>
                            <a:srgbClr val="262626"/>
                          </a:solidFill>
                          <a:latin typeface="Arial"/>
                        </a:rPr>
                        <a:t>#16</a:t>
                      </a:r>
                    </a:p>
                  </a:txBody>
                  <a:tcPr>
                    <a:solidFill>
                      <a:srgbClr val="FFFFFF"/>
                    </a:solidFill>
                  </a:tcPr>
                </a:tc>
                <a:tc>
                  <a:txBody>
                    <a:bodyPr/>
                    <a:lstStyle/>
                    <a:p>
                      <a:pPr algn="ctr"/>
                      <a:r>
                        <a:rPr sz="950" b="0" i="0">
                          <a:solidFill>
                            <a:srgbClr val="262626"/>
                          </a:solidFill>
                          <a:latin typeface="Arial"/>
                        </a:rPr>
                        <a:t>#17 (287 pts)</a:t>
                      </a:r>
                    </a:p>
                  </a:txBody>
                  <a:tcPr>
                    <a:solidFill>
                      <a:srgbClr val="FFFFFF"/>
                    </a:solidFill>
                  </a:tcPr>
                </a:tc>
                <a:tc>
                  <a:txBody>
                    <a:bodyPr/>
                    <a:lstStyle/>
                    <a:p>
                      <a:pPr algn="ctr"/>
                      <a:r>
                        <a:rPr sz="950" b="1" i="0">
                          <a:solidFill>
                            <a:srgbClr val="1B7F3A"/>
                          </a:solidFill>
                          <a:latin typeface="Arial"/>
                        </a:rPr>
                        <a:t>Top 16</a:t>
                      </a:r>
                    </a:p>
                  </a:txBody>
                  <a:tcPr>
                    <a:solidFill>
                      <a:srgbClr val="FFFFFF"/>
                    </a:solidFill>
                  </a:tcPr>
                </a:tc>
                <a:extLst>
                  <a:ext uri="{0D108BD9-81ED-4DB2-BD59-A6C34878D82A}">
                    <a16:rowId xmlns:a16="http://schemas.microsoft.com/office/drawing/2014/main" val="10001"/>
                  </a:ext>
                </a:extLst>
              </a:tr>
              <a:tr h="274320">
                <a:tc>
                  <a:txBody>
                    <a:bodyPr/>
                    <a:lstStyle/>
                    <a:p>
                      <a:pPr algn="l"/>
                      <a:r>
                        <a:rPr sz="950" b="0" i="0">
                          <a:solidFill>
                            <a:srgbClr val="262626"/>
                          </a:solidFill>
                          <a:latin typeface="Arial"/>
                        </a:rPr>
                        <a:t>World Cup</a:t>
                      </a:r>
                    </a:p>
                  </a:txBody>
                  <a:tcPr>
                    <a:solidFill>
                      <a:srgbClr val="F2F2F2"/>
                    </a:solidFill>
                  </a:tcPr>
                </a:tc>
                <a:tc>
                  <a:txBody>
                    <a:bodyPr/>
                    <a:lstStyle/>
                    <a:p>
                      <a:pPr algn="ctr"/>
                      <a:r>
                        <a:rPr sz="950" b="1" i="0">
                          <a:solidFill>
                            <a:srgbClr val="262626"/>
                          </a:solidFill>
                          <a:latin typeface="Arial"/>
                        </a:rPr>
                        <a:t>500</a:t>
                      </a:r>
                    </a:p>
                  </a:txBody>
                  <a:tcPr>
                    <a:solidFill>
                      <a:srgbClr val="F2F2F2"/>
                    </a:solidFill>
                  </a:tcPr>
                </a:tc>
                <a:tc>
                  <a:txBody>
                    <a:bodyPr/>
                    <a:lstStyle/>
                    <a:p>
                      <a:pPr algn="ctr"/>
                      <a:r>
                        <a:rPr sz="950" b="1" i="0">
                          <a:solidFill>
                            <a:srgbClr val="262626"/>
                          </a:solidFill>
                          <a:latin typeface="Arial"/>
                        </a:rPr>
                        <a:t>#7</a:t>
                      </a:r>
                    </a:p>
                  </a:txBody>
                  <a:tcPr>
                    <a:solidFill>
                      <a:srgbClr val="F2F2F2"/>
                    </a:solidFill>
                  </a:tcPr>
                </a:tc>
                <a:tc>
                  <a:txBody>
                    <a:bodyPr/>
                    <a:lstStyle/>
                    <a:p>
                      <a:pPr algn="ctr"/>
                      <a:r>
                        <a:rPr sz="950" b="0" i="0">
                          <a:solidFill>
                            <a:srgbClr val="262626"/>
                          </a:solidFill>
                          <a:latin typeface="Arial"/>
                        </a:rPr>
                        <a:t>#8 (290 pts)</a:t>
                      </a:r>
                    </a:p>
                  </a:txBody>
                  <a:tcPr>
                    <a:solidFill>
                      <a:srgbClr val="F2F2F2"/>
                    </a:solidFill>
                  </a:tcPr>
                </a:tc>
                <a:tc>
                  <a:txBody>
                    <a:bodyPr/>
                    <a:lstStyle/>
                    <a:p>
                      <a:pPr algn="ctr"/>
                      <a:r>
                        <a:rPr sz="950" b="1" i="0">
                          <a:solidFill>
                            <a:srgbClr val="1B7F3A"/>
                          </a:solidFill>
                          <a:latin typeface="Arial"/>
                        </a:rPr>
                        <a:t>Top 7</a:t>
                      </a:r>
                    </a:p>
                  </a:txBody>
                  <a:tcPr>
                    <a:solidFill>
                      <a:srgbClr val="F2F2F2"/>
                    </a:solidFill>
                  </a:tcPr>
                </a:tc>
                <a:extLst>
                  <a:ext uri="{0D108BD9-81ED-4DB2-BD59-A6C34878D82A}">
                    <a16:rowId xmlns:a16="http://schemas.microsoft.com/office/drawing/2014/main" val="10002"/>
                  </a:ext>
                </a:extLst>
              </a:tr>
              <a:tr h="274320">
                <a:tc>
                  <a:txBody>
                    <a:bodyPr/>
                    <a:lstStyle/>
                    <a:p>
                      <a:pPr algn="l"/>
                      <a:r>
                        <a:rPr sz="950" b="0" i="0">
                          <a:solidFill>
                            <a:srgbClr val="262626"/>
                          </a:solidFill>
                          <a:latin typeface="Arial"/>
                        </a:rPr>
                        <a:t>Continental Championships (Americas)</a:t>
                      </a:r>
                    </a:p>
                  </a:txBody>
                  <a:tcPr>
                    <a:solidFill>
                      <a:srgbClr val="FFFFFF"/>
                    </a:solidFill>
                  </a:tcPr>
                </a:tc>
                <a:tc>
                  <a:txBody>
                    <a:bodyPr/>
                    <a:lstStyle/>
                    <a:p>
                      <a:pPr algn="ctr"/>
                      <a:r>
                        <a:rPr sz="950" b="1" i="0">
                          <a:solidFill>
                            <a:srgbClr val="262626"/>
                          </a:solidFill>
                          <a:latin typeface="Arial"/>
                        </a:rPr>
                        <a:t>590</a:t>
                      </a:r>
                    </a:p>
                  </a:txBody>
                  <a:tcPr>
                    <a:solidFill>
                      <a:srgbClr val="FFFFFF"/>
                    </a:solidFill>
                  </a:tcPr>
                </a:tc>
                <a:tc>
                  <a:txBody>
                    <a:bodyPr/>
                    <a:lstStyle/>
                    <a:p>
                      <a:pPr algn="ctr"/>
                      <a:r>
                        <a:rPr sz="950" b="1" i="0">
                          <a:solidFill>
                            <a:srgbClr val="262626"/>
                          </a:solidFill>
                          <a:latin typeface="Arial"/>
                        </a:rPr>
                        <a:t>#9</a:t>
                      </a:r>
                    </a:p>
                  </a:txBody>
                  <a:tcPr>
                    <a:solidFill>
                      <a:srgbClr val="FFFFFF"/>
                    </a:solidFill>
                  </a:tcPr>
                </a:tc>
                <a:tc>
                  <a:txBody>
                    <a:bodyPr/>
                    <a:lstStyle/>
                    <a:p>
                      <a:pPr algn="ctr"/>
                      <a:r>
                        <a:rPr sz="950" b="0" i="0">
                          <a:solidFill>
                            <a:srgbClr val="262626"/>
                          </a:solidFill>
                          <a:latin typeface="Arial"/>
                        </a:rPr>
                        <a:t>#10 (293 pts)</a:t>
                      </a:r>
                    </a:p>
                  </a:txBody>
                  <a:tcPr>
                    <a:solidFill>
                      <a:srgbClr val="FFFFFF"/>
                    </a:solidFill>
                  </a:tcPr>
                </a:tc>
                <a:tc>
                  <a:txBody>
                    <a:bodyPr/>
                    <a:lstStyle/>
                    <a:p>
                      <a:pPr algn="ctr"/>
                      <a:r>
                        <a:rPr sz="950" b="1" i="0">
                          <a:solidFill>
                            <a:srgbClr val="1B7F3A"/>
                          </a:solidFill>
                          <a:latin typeface="Arial"/>
                        </a:rPr>
                        <a:t>Top 9</a:t>
                      </a:r>
                    </a:p>
                  </a:txBody>
                  <a:tcPr>
                    <a:solidFill>
                      <a:srgbClr val="FFFFFF"/>
                    </a:solidFill>
                  </a:tcPr>
                </a:tc>
                <a:extLst>
                  <a:ext uri="{0D108BD9-81ED-4DB2-BD59-A6C34878D82A}">
                    <a16:rowId xmlns:a16="http://schemas.microsoft.com/office/drawing/2014/main" val="10003"/>
                  </a:ext>
                </a:extLst>
              </a:tr>
              <a:tr h="274320">
                <a:tc>
                  <a:txBody>
                    <a:bodyPr/>
                    <a:lstStyle/>
                    <a:p>
                      <a:pPr algn="l"/>
                      <a:r>
                        <a:rPr sz="950" b="0" i="0">
                          <a:solidFill>
                            <a:srgbClr val="262626"/>
                          </a:solidFill>
                          <a:latin typeface="Arial"/>
                        </a:rPr>
                        <a:t>Continental Cup (Americas)</a:t>
                      </a:r>
                    </a:p>
                  </a:txBody>
                  <a:tcPr>
                    <a:solidFill>
                      <a:srgbClr val="F2F2F2"/>
                    </a:solidFill>
                  </a:tcPr>
                </a:tc>
                <a:tc>
                  <a:txBody>
                    <a:bodyPr/>
                    <a:lstStyle/>
                    <a:p>
                      <a:pPr algn="ctr"/>
                      <a:r>
                        <a:rPr sz="950" b="1" i="0">
                          <a:solidFill>
                            <a:srgbClr val="262626"/>
                          </a:solidFill>
                          <a:latin typeface="Arial"/>
                        </a:rPr>
                        <a:t>280</a:t>
                      </a:r>
                    </a:p>
                  </a:txBody>
                  <a:tcPr>
                    <a:solidFill>
                      <a:srgbClr val="F2F2F2"/>
                    </a:solidFill>
                  </a:tcPr>
                </a:tc>
                <a:tc>
                  <a:txBody>
                    <a:bodyPr/>
                    <a:lstStyle/>
                    <a:p>
                      <a:pPr algn="ctr"/>
                      <a:r>
                        <a:rPr sz="950" b="1" i="0">
                          <a:solidFill>
                            <a:srgbClr val="262626"/>
                          </a:solidFill>
                          <a:latin typeface="Arial"/>
                        </a:rPr>
                        <a:t>None (win = 280)</a:t>
                      </a:r>
                    </a:p>
                  </a:txBody>
                  <a:tcPr>
                    <a:solidFill>
                      <a:srgbClr val="F2F2F2"/>
                    </a:solidFill>
                  </a:tcPr>
                </a:tc>
                <a:tc>
                  <a:txBody>
                    <a:bodyPr/>
                    <a:lstStyle/>
                    <a:p>
                      <a:pPr algn="ctr"/>
                      <a:r>
                        <a:rPr sz="950" b="0" i="0">
                          <a:solidFill>
                            <a:srgbClr val="262626"/>
                          </a:solidFill>
                          <a:latin typeface="Arial"/>
                        </a:rPr>
                        <a:t>—</a:t>
                      </a:r>
                    </a:p>
                  </a:txBody>
                  <a:tcPr>
                    <a:solidFill>
                      <a:srgbClr val="F2F2F2"/>
                    </a:solidFill>
                  </a:tcPr>
                </a:tc>
                <a:tc>
                  <a:txBody>
                    <a:bodyPr/>
                    <a:lstStyle/>
                    <a:p>
                      <a:pPr algn="ctr"/>
                      <a:r>
                        <a:rPr sz="950" b="1" i="0">
                          <a:solidFill>
                            <a:srgbClr val="C00000"/>
                          </a:solidFill>
                          <a:latin typeface="Arial"/>
                        </a:rPr>
                        <a:t>Not achievable</a:t>
                      </a:r>
                    </a:p>
                  </a:txBody>
                  <a:tcPr>
                    <a:solidFill>
                      <a:srgbClr val="F2F2F2"/>
                    </a:solidFill>
                  </a:tcPr>
                </a:tc>
                <a:extLst>
                  <a:ext uri="{0D108BD9-81ED-4DB2-BD59-A6C34878D82A}">
                    <a16:rowId xmlns:a16="http://schemas.microsoft.com/office/drawing/2014/main" val="10004"/>
                  </a:ext>
                </a:extLst>
              </a:tr>
            </a:tbl>
          </a:graphicData>
        </a:graphic>
      </p:graphicFrame>
      <p:sp>
        <p:nvSpPr>
          <p:cNvPr id="14" name="Rectangle 13"/>
          <p:cNvSpPr/>
          <p:nvPr/>
        </p:nvSpPr>
        <p:spPr>
          <a:xfrm>
            <a:off x="27432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274320" y="3639312"/>
            <a:ext cx="5806440" cy="219456"/>
          </a:xfrm>
          <a:prstGeom prst="rect">
            <a:avLst/>
          </a:prstGeom>
          <a:noFill/>
        </p:spPr>
        <p:txBody>
          <a:bodyPr wrap="square">
            <a:spAutoFit/>
          </a:bodyPr>
          <a:lstStyle/>
          <a:p>
            <a:pPr algn="ctr"/>
            <a:r>
              <a:rPr sz="1100" b="1" i="0">
                <a:solidFill>
                  <a:srgbClr val="FFFFFF"/>
                </a:solidFill>
                <a:latin typeface="Arial"/>
              </a:rPr>
              <a:t>USA MEN</a:t>
            </a:r>
          </a:p>
        </p:txBody>
      </p:sp>
      <p:graphicFrame>
        <p:nvGraphicFramePr>
          <p:cNvPr id="16" name="Table 15"/>
          <p:cNvGraphicFramePr>
            <a:graphicFrameLocks noGrp="1"/>
          </p:cNvGraphicFramePr>
          <p:nvPr/>
        </p:nvGraphicFramePr>
        <p:xfrm>
          <a:off x="274320" y="3931920"/>
          <a:ext cx="5806440" cy="2414016"/>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411480">
                  <a:extLst>
                    <a:ext uri="{9D8B030D-6E8A-4147-A177-3AD203B41FA5}">
                      <a16:colId xmlns:a16="http://schemas.microsoft.com/office/drawing/2014/main" val="20004"/>
                    </a:ext>
                  </a:extLst>
                </a:gridCol>
                <a:gridCol w="41148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tblGrid>
              <a:tr h="201168">
                <a:tc>
                  <a:txBody>
                    <a:bodyPr/>
                    <a:lstStyle/>
                    <a:p>
                      <a:pPr algn="ctr"/>
                      <a:r>
                        <a:rPr sz="850" b="1" i="0">
                          <a:solidFill>
                            <a:srgbClr val="FFFFFF"/>
                          </a:solidFill>
                          <a:latin typeface="Arial"/>
                        </a:rPr>
                        <a:t>Rk</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Total</a:t>
                      </a:r>
                    </a:p>
                  </a:txBody>
                  <a:tcPr>
                    <a:solidFill>
                      <a:srgbClr val="002060"/>
                    </a:solidFill>
                  </a:tcPr>
                </a:tc>
                <a:tc>
                  <a:txBody>
                    <a:bodyPr/>
                    <a:lstStyle/>
                    <a:p>
                      <a:pPr algn="ctr"/>
                      <a:r>
                        <a:rPr sz="850" b="1" i="0">
                          <a:solidFill>
                            <a:srgbClr val="FFFFFF"/>
                          </a:solidFill>
                          <a:latin typeface="Arial"/>
                        </a:rPr>
                        <a:t>Races</a:t>
                      </a:r>
                    </a:p>
                  </a:txBody>
                  <a:tcPr>
                    <a:solidFill>
                      <a:srgbClr val="002060"/>
                    </a:solidFill>
                  </a:tcPr>
                </a:tc>
                <a:tc>
                  <a:txBody>
                    <a:bodyPr/>
                    <a:lstStyle/>
                    <a:p>
                      <a:pPr algn="ctr"/>
                      <a:r>
                        <a:rPr sz="850" b="1" i="0">
                          <a:solidFill>
                            <a:srgbClr val="FFFFFF"/>
                          </a:solidFill>
                          <a:latin typeface="Arial"/>
                        </a:rPr>
                        <a:t>On</a:t>
                      </a:r>
                    </a:p>
                  </a:txBody>
                  <a:tcPr>
                    <a:solidFill>
                      <a:srgbClr val="002060"/>
                    </a:solidFill>
                  </a:tcPr>
                </a:tc>
                <a:tc>
                  <a:txBody>
                    <a:bodyPr/>
                    <a:lstStyle/>
                    <a:p>
                      <a:pPr algn="ctr"/>
                      <a:r>
                        <a:rPr sz="850" b="1" i="0">
                          <a:solidFill>
                            <a:srgbClr val="FFFFFF"/>
                          </a:solidFill>
                          <a:latin typeface="Arial"/>
                        </a:rPr>
                        <a:t>Off</a:t>
                      </a:r>
                    </a:p>
                  </a:txBody>
                  <a:tcPr>
                    <a:solidFill>
                      <a:srgbClr val="002060"/>
                    </a:solidFill>
                  </a:tcPr>
                </a:tc>
                <a:tc>
                  <a:txBody>
                    <a:bodyPr/>
                    <a:lstStyle/>
                    <a:p>
                      <a:pPr algn="ctr"/>
                      <a:r>
                        <a:rPr sz="850" b="1" i="0">
                          <a:solidFill>
                            <a:srgbClr val="FFFFFF"/>
                          </a:solidFill>
                          <a:latin typeface="Arial"/>
                        </a:rPr>
                        <a:t>Pace</a:t>
                      </a:r>
                    </a:p>
                  </a:txBody>
                  <a:tcPr>
                    <a:solidFill>
                      <a:srgbClr val="002060"/>
                    </a:solidFill>
                  </a:tcPr>
                </a:tc>
                <a:tc>
                  <a:txBody>
                    <a:bodyPr/>
                    <a:lstStyle/>
                    <a:p>
                      <a:pPr algn="ctr"/>
                      <a:r>
                        <a:rPr sz="850" b="1" i="0">
                          <a:solidFill>
                            <a:srgbClr val="FFFFFF"/>
                          </a:solidFill>
                          <a:latin typeface="Arial"/>
                        </a:rPr>
                        <a:t>Proj @12</a:t>
                      </a:r>
                    </a:p>
                  </a:txBody>
                  <a:tcPr>
                    <a:solidFill>
                      <a:srgbClr val="002060"/>
                    </a:solidFill>
                  </a:tcPr>
                </a:tc>
                <a:extLst>
                  <a:ext uri="{0D108BD9-81ED-4DB2-BD59-A6C34878D82A}">
                    <a16:rowId xmlns:a16="http://schemas.microsoft.com/office/drawing/2014/main" val="10000"/>
                  </a:ext>
                </a:extLst>
              </a:tr>
              <a:tr h="201168">
                <a:tc>
                  <a:txBody>
                    <a:bodyPr/>
                    <a:lstStyle/>
                    <a:p>
                      <a:pPr algn="ctr"/>
                      <a:r>
                        <a:rPr sz="750" b="1" i="0">
                          <a:solidFill>
                            <a:srgbClr val="262626"/>
                          </a:solidFill>
                          <a:latin typeface="Arial"/>
                        </a:rPr>
                        <a:t>18</a:t>
                      </a:r>
                    </a:p>
                  </a:txBody>
                  <a:tcPr>
                    <a:solidFill>
                      <a:srgbClr val="FFFFFF"/>
                    </a:solidFill>
                  </a:tcPr>
                </a:tc>
                <a:tc>
                  <a:txBody>
                    <a:bodyPr/>
                    <a:lstStyle/>
                    <a:p>
                      <a:pPr algn="l"/>
                      <a:r>
                        <a:rPr sz="750" b="0" i="0">
                          <a:solidFill>
                            <a:srgbClr val="262626"/>
                          </a:solidFill>
                          <a:latin typeface="Arial"/>
                        </a:rPr>
                        <a:t>Reese Vannerson</a:t>
                      </a:r>
                    </a:p>
                  </a:txBody>
                  <a:tcPr>
                    <a:solidFill>
                      <a:srgbClr val="FFFFFF"/>
                    </a:solidFill>
                  </a:tcPr>
                </a:tc>
                <a:tc>
                  <a:txBody>
                    <a:bodyPr/>
                    <a:lstStyle/>
                    <a:p>
                      <a:pPr algn="ctr"/>
                      <a:r>
                        <a:rPr sz="750" b="1" i="0">
                          <a:solidFill>
                            <a:srgbClr val="262626"/>
                          </a:solidFill>
                          <a:latin typeface="Arial"/>
                        </a:rPr>
                        <a:t>980</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2</a:t>
                      </a:r>
                    </a:p>
                  </a:txBody>
                  <a:tcPr>
                    <a:solidFill>
                      <a:srgbClr val="FFFFFF"/>
                    </a:solidFill>
                  </a:tcPr>
                </a:tc>
                <a:tc>
                  <a:txBody>
                    <a:bodyPr/>
                    <a:lstStyle/>
                    <a:p>
                      <a:pPr algn="ctr"/>
                      <a:r>
                        <a:rPr sz="750" b="1" i="0">
                          <a:solidFill>
                            <a:srgbClr val="C00000"/>
                          </a:solidFill>
                          <a:latin typeface="Arial"/>
                        </a:rPr>
                        <a:t>0</a:t>
                      </a:r>
                    </a:p>
                  </a:txBody>
                  <a:tcPr>
                    <a:solidFill>
                      <a:srgbClr val="FFFFFF"/>
                    </a:solidFill>
                  </a:tcPr>
                </a:tc>
                <a:tc>
                  <a:txBody>
                    <a:bodyPr/>
                    <a:lstStyle/>
                    <a:p>
                      <a:pPr algn="ctr"/>
                      <a:r>
                        <a:rPr sz="750" b="0" i="0">
                          <a:solidFill>
                            <a:srgbClr val="262626"/>
                          </a:solidFill>
                          <a:latin typeface="Arial"/>
                        </a:rPr>
                        <a:t>490</a:t>
                      </a:r>
                    </a:p>
                  </a:txBody>
                  <a:tcPr>
                    <a:solidFill>
                      <a:srgbClr val="FFFFFF"/>
                    </a:solidFill>
                  </a:tcPr>
                </a:tc>
                <a:tc>
                  <a:txBody>
                    <a:bodyPr/>
                    <a:lstStyle/>
                    <a:p>
                      <a:pPr algn="ctr"/>
                      <a:r>
                        <a:rPr sz="750" b="1" i="0">
                          <a:solidFill>
                            <a:srgbClr val="1B7F3A"/>
                          </a:solidFill>
                          <a:latin typeface="Arial"/>
                        </a:rPr>
                        <a:t>5,884</a:t>
                      </a:r>
                    </a:p>
                  </a:txBody>
                  <a:tcPr>
                    <a:solidFill>
                      <a:srgbClr val="FFFFFF"/>
                    </a:solidFill>
                  </a:tcPr>
                </a:tc>
                <a:extLst>
                  <a:ext uri="{0D108BD9-81ED-4DB2-BD59-A6C34878D82A}">
                    <a16:rowId xmlns:a16="http://schemas.microsoft.com/office/drawing/2014/main" val="10001"/>
                  </a:ext>
                </a:extLst>
              </a:tr>
              <a:tr h="201168">
                <a:tc>
                  <a:txBody>
                    <a:bodyPr/>
                    <a:lstStyle/>
                    <a:p>
                      <a:pPr algn="ctr"/>
                      <a:r>
                        <a:rPr sz="750" b="1" i="0">
                          <a:solidFill>
                            <a:srgbClr val="262626"/>
                          </a:solidFill>
                          <a:latin typeface="Arial"/>
                        </a:rPr>
                        <a:t>22</a:t>
                      </a:r>
                    </a:p>
                  </a:txBody>
                  <a:tcPr>
                    <a:solidFill>
                      <a:srgbClr val="F2F2F2"/>
                    </a:solidFill>
                  </a:tcPr>
                </a:tc>
                <a:tc>
                  <a:txBody>
                    <a:bodyPr/>
                    <a:lstStyle/>
                    <a:p>
                      <a:pPr algn="l"/>
                      <a:r>
                        <a:rPr sz="750" b="0" i="0">
                          <a:solidFill>
                            <a:srgbClr val="262626"/>
                          </a:solidFill>
                          <a:latin typeface="Arial"/>
                        </a:rPr>
                        <a:t>Seth Rider</a:t>
                      </a:r>
                    </a:p>
                  </a:txBody>
                  <a:tcPr>
                    <a:solidFill>
                      <a:srgbClr val="F2F2F2"/>
                    </a:solidFill>
                  </a:tcPr>
                </a:tc>
                <a:tc>
                  <a:txBody>
                    <a:bodyPr/>
                    <a:lstStyle/>
                    <a:p>
                      <a:pPr algn="ctr"/>
                      <a:r>
                        <a:rPr sz="750" b="1" i="0">
                          <a:solidFill>
                            <a:srgbClr val="262626"/>
                          </a:solidFill>
                          <a:latin typeface="Arial"/>
                        </a:rPr>
                        <a:t>845</a:t>
                      </a:r>
                    </a:p>
                  </a:txBody>
                  <a:tcPr>
                    <a:solidFill>
                      <a:srgbClr val="F2F2F2"/>
                    </a:solidFill>
                  </a:tcPr>
                </a:tc>
                <a:tc>
                  <a:txBody>
                    <a:bodyPr/>
                    <a:lstStyle/>
                    <a:p>
                      <a:pPr algn="ctr"/>
                      <a:r>
                        <a:rPr sz="750" b="0" i="0">
                          <a:solidFill>
                            <a:srgbClr val="262626"/>
                          </a:solidFill>
                          <a:latin typeface="Arial"/>
                        </a:rPr>
                        <a:t>3</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281</a:t>
                      </a:r>
                    </a:p>
                  </a:txBody>
                  <a:tcPr>
                    <a:solidFill>
                      <a:srgbClr val="F2F2F2"/>
                    </a:solidFill>
                  </a:tcPr>
                </a:tc>
                <a:tc>
                  <a:txBody>
                    <a:bodyPr/>
                    <a:lstStyle/>
                    <a:p>
                      <a:pPr algn="ctr"/>
                      <a:r>
                        <a:rPr sz="750" b="1" i="0">
                          <a:solidFill>
                            <a:srgbClr val="262626"/>
                          </a:solidFill>
                          <a:latin typeface="Arial"/>
                        </a:rPr>
                        <a:t>3,381</a:t>
                      </a:r>
                    </a:p>
                  </a:txBody>
                  <a:tcPr>
                    <a:solidFill>
                      <a:srgbClr val="F2F2F2"/>
                    </a:solidFill>
                  </a:tcPr>
                </a:tc>
                <a:extLst>
                  <a:ext uri="{0D108BD9-81ED-4DB2-BD59-A6C34878D82A}">
                    <a16:rowId xmlns:a16="http://schemas.microsoft.com/office/drawing/2014/main" val="10002"/>
                  </a:ext>
                </a:extLst>
              </a:tr>
              <a:tr h="201168">
                <a:tc>
                  <a:txBody>
                    <a:bodyPr/>
                    <a:lstStyle/>
                    <a:p>
                      <a:pPr algn="ctr"/>
                      <a:r>
                        <a:rPr sz="750" b="1" i="0">
                          <a:solidFill>
                            <a:srgbClr val="262626"/>
                          </a:solidFill>
                          <a:latin typeface="Arial"/>
                        </a:rPr>
                        <a:t>27</a:t>
                      </a:r>
                    </a:p>
                  </a:txBody>
                  <a:tcPr>
                    <a:solidFill>
                      <a:srgbClr val="FFFFFF"/>
                    </a:solidFill>
                  </a:tcPr>
                </a:tc>
                <a:tc>
                  <a:txBody>
                    <a:bodyPr/>
                    <a:lstStyle/>
                    <a:p>
                      <a:pPr algn="l"/>
                      <a:r>
                        <a:rPr sz="750" b="0" i="0">
                          <a:solidFill>
                            <a:srgbClr val="262626"/>
                          </a:solidFill>
                          <a:latin typeface="Arial"/>
                        </a:rPr>
                        <a:t>Chase McQueen</a:t>
                      </a:r>
                    </a:p>
                  </a:txBody>
                  <a:tcPr>
                    <a:solidFill>
                      <a:srgbClr val="FFFFFF"/>
                    </a:solidFill>
                  </a:tcPr>
                </a:tc>
                <a:tc>
                  <a:txBody>
                    <a:bodyPr/>
                    <a:lstStyle/>
                    <a:p>
                      <a:pPr algn="ctr"/>
                      <a:r>
                        <a:rPr sz="750" b="1" i="0">
                          <a:solidFill>
                            <a:srgbClr val="262626"/>
                          </a:solidFill>
                          <a:latin typeface="Arial"/>
                        </a:rPr>
                        <a:t>764</a:t>
                      </a:r>
                    </a:p>
                  </a:txBody>
                  <a:tcPr>
                    <a:solidFill>
                      <a:srgbClr val="FFFFFF"/>
                    </a:solidFill>
                  </a:tcPr>
                </a:tc>
                <a:tc>
                  <a:txBody>
                    <a:bodyPr/>
                    <a:lstStyle/>
                    <a:p>
                      <a:pPr algn="ctr"/>
                      <a:r>
                        <a:rPr sz="750" b="0" i="0">
                          <a:solidFill>
                            <a:srgbClr val="262626"/>
                          </a:solidFill>
                          <a:latin typeface="Arial"/>
                        </a:rPr>
                        <a:t>3</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254</a:t>
                      </a:r>
                    </a:p>
                  </a:txBody>
                  <a:tcPr>
                    <a:solidFill>
                      <a:srgbClr val="FFFFFF"/>
                    </a:solidFill>
                  </a:tcPr>
                </a:tc>
                <a:tc>
                  <a:txBody>
                    <a:bodyPr/>
                    <a:lstStyle/>
                    <a:p>
                      <a:pPr algn="ctr"/>
                      <a:r>
                        <a:rPr sz="750" b="1" i="0">
                          <a:solidFill>
                            <a:srgbClr val="262626"/>
                          </a:solidFill>
                          <a:latin typeface="Arial"/>
                        </a:rPr>
                        <a:t>3,059</a:t>
                      </a:r>
                    </a:p>
                  </a:txBody>
                  <a:tcPr>
                    <a:solidFill>
                      <a:srgbClr val="FFFFFF"/>
                    </a:solidFill>
                  </a:tcPr>
                </a:tc>
                <a:extLst>
                  <a:ext uri="{0D108BD9-81ED-4DB2-BD59-A6C34878D82A}">
                    <a16:rowId xmlns:a16="http://schemas.microsoft.com/office/drawing/2014/main" val="10003"/>
                  </a:ext>
                </a:extLst>
              </a:tr>
              <a:tr h="201168">
                <a:tc>
                  <a:txBody>
                    <a:bodyPr/>
                    <a:lstStyle/>
                    <a:p>
                      <a:pPr algn="ctr"/>
                      <a:r>
                        <a:rPr sz="750" b="1" i="0">
                          <a:solidFill>
                            <a:srgbClr val="262626"/>
                          </a:solidFill>
                          <a:latin typeface="Arial"/>
                        </a:rPr>
                        <a:t>32</a:t>
                      </a:r>
                    </a:p>
                  </a:txBody>
                  <a:tcPr>
                    <a:solidFill>
                      <a:srgbClr val="F2F2F2"/>
                    </a:solidFill>
                  </a:tcPr>
                </a:tc>
                <a:tc>
                  <a:txBody>
                    <a:bodyPr/>
                    <a:lstStyle/>
                    <a:p>
                      <a:pPr algn="l"/>
                      <a:r>
                        <a:rPr sz="750" b="0" i="0">
                          <a:solidFill>
                            <a:srgbClr val="262626"/>
                          </a:solidFill>
                          <a:latin typeface="Arial"/>
                        </a:rPr>
                        <a:t>Sullivan Middaugh</a:t>
                      </a:r>
                    </a:p>
                  </a:txBody>
                  <a:tcPr>
                    <a:solidFill>
                      <a:srgbClr val="F2F2F2"/>
                    </a:solidFill>
                  </a:tcPr>
                </a:tc>
                <a:tc>
                  <a:txBody>
                    <a:bodyPr/>
                    <a:lstStyle/>
                    <a:p>
                      <a:pPr algn="ctr"/>
                      <a:r>
                        <a:rPr sz="750" b="1" i="0">
                          <a:solidFill>
                            <a:srgbClr val="262626"/>
                          </a:solidFill>
                          <a:latin typeface="Arial"/>
                        </a:rPr>
                        <a:t>677</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338</a:t>
                      </a:r>
                    </a:p>
                  </a:txBody>
                  <a:tcPr>
                    <a:solidFill>
                      <a:srgbClr val="F2F2F2"/>
                    </a:solidFill>
                  </a:tcPr>
                </a:tc>
                <a:tc>
                  <a:txBody>
                    <a:bodyPr/>
                    <a:lstStyle/>
                    <a:p>
                      <a:pPr algn="ctr"/>
                      <a:r>
                        <a:rPr sz="750" b="1" i="0">
                          <a:solidFill>
                            <a:srgbClr val="1B7F3A"/>
                          </a:solidFill>
                          <a:latin typeface="Arial"/>
                        </a:rPr>
                        <a:t>4,063</a:t>
                      </a:r>
                    </a:p>
                  </a:txBody>
                  <a:tcPr>
                    <a:solidFill>
                      <a:srgbClr val="F2F2F2"/>
                    </a:solidFill>
                  </a:tcPr>
                </a:tc>
                <a:extLst>
                  <a:ext uri="{0D108BD9-81ED-4DB2-BD59-A6C34878D82A}">
                    <a16:rowId xmlns:a16="http://schemas.microsoft.com/office/drawing/2014/main" val="10004"/>
                  </a:ext>
                </a:extLst>
              </a:tr>
              <a:tr h="201168">
                <a:tc>
                  <a:txBody>
                    <a:bodyPr/>
                    <a:lstStyle/>
                    <a:p>
                      <a:pPr algn="ctr"/>
                      <a:r>
                        <a:rPr sz="750" b="1" i="0">
                          <a:solidFill>
                            <a:srgbClr val="262626"/>
                          </a:solidFill>
                          <a:latin typeface="Arial"/>
                        </a:rPr>
                        <a:t>38</a:t>
                      </a:r>
                    </a:p>
                  </a:txBody>
                  <a:tcPr>
                    <a:solidFill>
                      <a:srgbClr val="FFFFFF"/>
                    </a:solidFill>
                  </a:tcPr>
                </a:tc>
                <a:tc>
                  <a:txBody>
                    <a:bodyPr/>
                    <a:lstStyle/>
                    <a:p>
                      <a:pPr algn="l"/>
                      <a:r>
                        <a:rPr sz="750" b="0" i="0">
                          <a:solidFill>
                            <a:srgbClr val="262626"/>
                          </a:solidFill>
                          <a:latin typeface="Arial"/>
                        </a:rPr>
                        <a:t>John Reed</a:t>
                      </a:r>
                    </a:p>
                  </a:txBody>
                  <a:tcPr>
                    <a:solidFill>
                      <a:srgbClr val="FFFFFF"/>
                    </a:solidFill>
                  </a:tcPr>
                </a:tc>
                <a:tc>
                  <a:txBody>
                    <a:bodyPr/>
                    <a:lstStyle/>
                    <a:p>
                      <a:pPr algn="ctr"/>
                      <a:r>
                        <a:rPr sz="750" b="1" i="0">
                          <a:solidFill>
                            <a:srgbClr val="262626"/>
                          </a:solidFill>
                          <a:latin typeface="Arial"/>
                        </a:rPr>
                        <a:t>599</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299</a:t>
                      </a:r>
                    </a:p>
                  </a:txBody>
                  <a:tcPr>
                    <a:solidFill>
                      <a:srgbClr val="FFFFFF"/>
                    </a:solidFill>
                  </a:tcPr>
                </a:tc>
                <a:tc>
                  <a:txBody>
                    <a:bodyPr/>
                    <a:lstStyle/>
                    <a:p>
                      <a:pPr algn="ctr"/>
                      <a:r>
                        <a:rPr sz="750" b="1" i="0">
                          <a:solidFill>
                            <a:srgbClr val="262626"/>
                          </a:solidFill>
                          <a:latin typeface="Arial"/>
                        </a:rPr>
                        <a:t>3,598</a:t>
                      </a:r>
                    </a:p>
                  </a:txBody>
                  <a:tcPr>
                    <a:solidFill>
                      <a:srgbClr val="FFFFFF"/>
                    </a:solidFill>
                  </a:tcPr>
                </a:tc>
                <a:extLst>
                  <a:ext uri="{0D108BD9-81ED-4DB2-BD59-A6C34878D82A}">
                    <a16:rowId xmlns:a16="http://schemas.microsoft.com/office/drawing/2014/main" val="10005"/>
                  </a:ext>
                </a:extLst>
              </a:tr>
              <a:tr h="201168">
                <a:tc>
                  <a:txBody>
                    <a:bodyPr/>
                    <a:lstStyle/>
                    <a:p>
                      <a:pPr algn="ctr"/>
                      <a:r>
                        <a:rPr sz="750" b="1" i="0">
                          <a:solidFill>
                            <a:srgbClr val="262626"/>
                          </a:solidFill>
                          <a:latin typeface="Arial"/>
                        </a:rPr>
                        <a:t>43</a:t>
                      </a:r>
                    </a:p>
                  </a:txBody>
                  <a:tcPr>
                    <a:solidFill>
                      <a:srgbClr val="F2F2F2"/>
                    </a:solidFill>
                  </a:tcPr>
                </a:tc>
                <a:tc>
                  <a:txBody>
                    <a:bodyPr/>
                    <a:lstStyle/>
                    <a:p>
                      <a:pPr algn="l"/>
                      <a:r>
                        <a:rPr sz="750" b="0" i="0">
                          <a:solidFill>
                            <a:srgbClr val="262626"/>
                          </a:solidFill>
                          <a:latin typeface="Arial"/>
                        </a:rPr>
                        <a:t>Braxton Legg</a:t>
                      </a:r>
                    </a:p>
                  </a:txBody>
                  <a:tcPr>
                    <a:solidFill>
                      <a:srgbClr val="F2F2F2"/>
                    </a:solidFill>
                  </a:tcPr>
                </a:tc>
                <a:tc>
                  <a:txBody>
                    <a:bodyPr/>
                    <a:lstStyle/>
                    <a:p>
                      <a:pPr algn="ctr"/>
                      <a:r>
                        <a:rPr sz="750" b="1" i="0">
                          <a:solidFill>
                            <a:srgbClr val="262626"/>
                          </a:solidFill>
                          <a:latin typeface="Arial"/>
                        </a:rPr>
                        <a:t>564</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282</a:t>
                      </a:r>
                    </a:p>
                  </a:txBody>
                  <a:tcPr>
                    <a:solidFill>
                      <a:srgbClr val="F2F2F2"/>
                    </a:solidFill>
                  </a:tcPr>
                </a:tc>
                <a:tc>
                  <a:txBody>
                    <a:bodyPr/>
                    <a:lstStyle/>
                    <a:p>
                      <a:pPr algn="ctr"/>
                      <a:r>
                        <a:rPr sz="750" b="1" i="0">
                          <a:solidFill>
                            <a:srgbClr val="262626"/>
                          </a:solidFill>
                          <a:latin typeface="Arial"/>
                        </a:rPr>
                        <a:t>3,384</a:t>
                      </a:r>
                    </a:p>
                  </a:txBody>
                  <a:tcPr>
                    <a:solidFill>
                      <a:srgbClr val="F2F2F2"/>
                    </a:solidFill>
                  </a:tcPr>
                </a:tc>
                <a:extLst>
                  <a:ext uri="{0D108BD9-81ED-4DB2-BD59-A6C34878D82A}">
                    <a16:rowId xmlns:a16="http://schemas.microsoft.com/office/drawing/2014/main" val="10006"/>
                  </a:ext>
                </a:extLst>
              </a:tr>
              <a:tr h="201168">
                <a:tc>
                  <a:txBody>
                    <a:bodyPr/>
                    <a:lstStyle/>
                    <a:p>
                      <a:pPr algn="ctr"/>
                      <a:r>
                        <a:rPr sz="750" b="1" i="0">
                          <a:solidFill>
                            <a:srgbClr val="262626"/>
                          </a:solidFill>
                          <a:latin typeface="Arial"/>
                        </a:rPr>
                        <a:t>46</a:t>
                      </a:r>
                    </a:p>
                  </a:txBody>
                  <a:tcPr>
                    <a:solidFill>
                      <a:srgbClr val="FFFFFF"/>
                    </a:solidFill>
                  </a:tcPr>
                </a:tc>
                <a:tc>
                  <a:txBody>
                    <a:bodyPr/>
                    <a:lstStyle/>
                    <a:p>
                      <a:pPr algn="l"/>
                      <a:r>
                        <a:rPr sz="750" b="0" i="0">
                          <a:solidFill>
                            <a:srgbClr val="262626"/>
                          </a:solidFill>
                          <a:latin typeface="Arial"/>
                        </a:rPr>
                        <a:t>Keller Norland</a:t>
                      </a:r>
                    </a:p>
                  </a:txBody>
                  <a:tcPr>
                    <a:solidFill>
                      <a:srgbClr val="FFFFFF"/>
                    </a:solidFill>
                  </a:tcPr>
                </a:tc>
                <a:tc>
                  <a:txBody>
                    <a:bodyPr/>
                    <a:lstStyle/>
                    <a:p>
                      <a:pPr algn="ctr"/>
                      <a:r>
                        <a:rPr sz="750" b="1" i="0">
                          <a:solidFill>
                            <a:srgbClr val="262626"/>
                          </a:solidFill>
                          <a:latin typeface="Arial"/>
                        </a:rPr>
                        <a:t>519</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0</a:t>
                      </a:r>
                    </a:p>
                  </a:txBody>
                  <a:tcPr>
                    <a:solidFill>
                      <a:srgbClr val="FFFFFF"/>
                    </a:solidFill>
                  </a:tcPr>
                </a:tc>
                <a:tc>
                  <a:txBody>
                    <a:bodyPr/>
                    <a:lstStyle/>
                    <a:p>
                      <a:pPr algn="ctr"/>
                      <a:r>
                        <a:rPr sz="750" b="0" i="0">
                          <a:solidFill>
                            <a:srgbClr val="262626"/>
                          </a:solidFill>
                          <a:latin typeface="Arial"/>
                        </a:rPr>
                        <a:t>519</a:t>
                      </a:r>
                    </a:p>
                  </a:txBody>
                  <a:tcPr>
                    <a:solidFill>
                      <a:srgbClr val="FFFFFF"/>
                    </a:solidFill>
                  </a:tcPr>
                </a:tc>
                <a:tc>
                  <a:txBody>
                    <a:bodyPr/>
                    <a:lstStyle/>
                    <a:p>
                      <a:pPr algn="ctr"/>
                      <a:r>
                        <a:rPr sz="750" b="1" i="0">
                          <a:solidFill>
                            <a:srgbClr val="1B7F3A"/>
                          </a:solidFill>
                          <a:latin typeface="Arial"/>
                        </a:rPr>
                        <a:t>6,234</a:t>
                      </a:r>
                    </a:p>
                  </a:txBody>
                  <a:tcPr>
                    <a:solidFill>
                      <a:srgbClr val="FFFFFF"/>
                    </a:solidFill>
                  </a:tcPr>
                </a:tc>
                <a:extLst>
                  <a:ext uri="{0D108BD9-81ED-4DB2-BD59-A6C34878D82A}">
                    <a16:rowId xmlns:a16="http://schemas.microsoft.com/office/drawing/2014/main" val="10007"/>
                  </a:ext>
                </a:extLst>
              </a:tr>
              <a:tr h="201168">
                <a:tc>
                  <a:txBody>
                    <a:bodyPr/>
                    <a:lstStyle/>
                    <a:p>
                      <a:pPr algn="ctr"/>
                      <a:r>
                        <a:rPr sz="750" b="1" i="0">
                          <a:solidFill>
                            <a:srgbClr val="262626"/>
                          </a:solidFill>
                          <a:latin typeface="Arial"/>
                        </a:rPr>
                        <a:t>50</a:t>
                      </a:r>
                    </a:p>
                  </a:txBody>
                  <a:tcPr>
                    <a:solidFill>
                      <a:srgbClr val="F2F2F2"/>
                    </a:solidFill>
                  </a:tcPr>
                </a:tc>
                <a:tc>
                  <a:txBody>
                    <a:bodyPr/>
                    <a:lstStyle/>
                    <a:p>
                      <a:pPr algn="l"/>
                      <a:r>
                        <a:rPr sz="750" b="0" i="0">
                          <a:solidFill>
                            <a:srgbClr val="262626"/>
                          </a:solidFill>
                          <a:latin typeface="Arial"/>
                        </a:rPr>
                        <a:t>Blake Bullard</a:t>
                      </a:r>
                    </a:p>
                  </a:txBody>
                  <a:tcPr>
                    <a:solidFill>
                      <a:srgbClr val="F2F2F2"/>
                    </a:solidFill>
                  </a:tcPr>
                </a:tc>
                <a:tc>
                  <a:txBody>
                    <a:bodyPr/>
                    <a:lstStyle/>
                    <a:p>
                      <a:pPr algn="ctr"/>
                      <a:r>
                        <a:rPr sz="750" b="1" i="0">
                          <a:solidFill>
                            <a:srgbClr val="262626"/>
                          </a:solidFill>
                          <a:latin typeface="Arial"/>
                        </a:rPr>
                        <a:t>436</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0</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218</a:t>
                      </a:r>
                    </a:p>
                  </a:txBody>
                  <a:tcPr>
                    <a:solidFill>
                      <a:srgbClr val="F2F2F2"/>
                    </a:solidFill>
                  </a:tcPr>
                </a:tc>
                <a:tc>
                  <a:txBody>
                    <a:bodyPr/>
                    <a:lstStyle/>
                    <a:p>
                      <a:pPr algn="ctr"/>
                      <a:r>
                        <a:rPr sz="750" b="1" i="0">
                          <a:solidFill>
                            <a:srgbClr val="262626"/>
                          </a:solidFill>
                          <a:latin typeface="Arial"/>
                        </a:rPr>
                        <a:t>2,621</a:t>
                      </a:r>
                    </a:p>
                  </a:txBody>
                  <a:tcPr>
                    <a:solidFill>
                      <a:srgbClr val="F2F2F2"/>
                    </a:solidFill>
                  </a:tcPr>
                </a:tc>
                <a:extLst>
                  <a:ext uri="{0D108BD9-81ED-4DB2-BD59-A6C34878D82A}">
                    <a16:rowId xmlns:a16="http://schemas.microsoft.com/office/drawing/2014/main" val="10008"/>
                  </a:ext>
                </a:extLst>
              </a:tr>
              <a:tr h="201168">
                <a:tc>
                  <a:txBody>
                    <a:bodyPr/>
                    <a:lstStyle/>
                    <a:p>
                      <a:pPr algn="ctr"/>
                      <a:r>
                        <a:rPr sz="750" b="1" i="0">
                          <a:solidFill>
                            <a:srgbClr val="262626"/>
                          </a:solidFill>
                          <a:latin typeface="Arial"/>
                        </a:rPr>
                        <a:t>82</a:t>
                      </a:r>
                    </a:p>
                  </a:txBody>
                  <a:tcPr>
                    <a:solidFill>
                      <a:srgbClr val="FFFFFF"/>
                    </a:solidFill>
                  </a:tcPr>
                </a:tc>
                <a:tc>
                  <a:txBody>
                    <a:bodyPr/>
                    <a:lstStyle/>
                    <a:p>
                      <a:pPr algn="l"/>
                      <a:r>
                        <a:rPr sz="750" b="0" i="0">
                          <a:solidFill>
                            <a:srgbClr val="262626"/>
                          </a:solidFill>
                          <a:latin typeface="Arial"/>
                        </a:rPr>
                        <a:t>Zach Leachman</a:t>
                      </a:r>
                    </a:p>
                  </a:txBody>
                  <a:tcPr>
                    <a:solidFill>
                      <a:srgbClr val="FFFFFF"/>
                    </a:solidFill>
                  </a:tcPr>
                </a:tc>
                <a:tc>
                  <a:txBody>
                    <a:bodyPr/>
                    <a:lstStyle/>
                    <a:p>
                      <a:pPr algn="ctr"/>
                      <a:r>
                        <a:rPr sz="750" b="1" i="0">
                          <a:solidFill>
                            <a:srgbClr val="262626"/>
                          </a:solidFill>
                          <a:latin typeface="Arial"/>
                        </a:rPr>
                        <a:t>212</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212</a:t>
                      </a:r>
                    </a:p>
                  </a:txBody>
                  <a:tcPr>
                    <a:solidFill>
                      <a:srgbClr val="FFFFFF"/>
                    </a:solidFill>
                  </a:tcPr>
                </a:tc>
                <a:tc>
                  <a:txBody>
                    <a:bodyPr/>
                    <a:lstStyle/>
                    <a:p>
                      <a:pPr algn="ctr"/>
                      <a:r>
                        <a:rPr sz="750" b="1" i="0">
                          <a:solidFill>
                            <a:srgbClr val="262626"/>
                          </a:solidFill>
                          <a:latin typeface="Arial"/>
                        </a:rPr>
                        <a:t>2,545</a:t>
                      </a:r>
                    </a:p>
                  </a:txBody>
                  <a:tcPr>
                    <a:solidFill>
                      <a:srgbClr val="FFFFFF"/>
                    </a:solidFill>
                  </a:tcPr>
                </a:tc>
                <a:extLst>
                  <a:ext uri="{0D108BD9-81ED-4DB2-BD59-A6C34878D82A}">
                    <a16:rowId xmlns:a16="http://schemas.microsoft.com/office/drawing/2014/main" val="10009"/>
                  </a:ext>
                </a:extLst>
              </a:tr>
              <a:tr h="201168">
                <a:tc>
                  <a:txBody>
                    <a:bodyPr/>
                    <a:lstStyle/>
                    <a:p>
                      <a:pPr algn="ctr"/>
                      <a:r>
                        <a:rPr sz="750" b="1" i="0">
                          <a:solidFill>
                            <a:srgbClr val="262626"/>
                          </a:solidFill>
                          <a:latin typeface="Arial"/>
                        </a:rPr>
                        <a:t>93</a:t>
                      </a:r>
                    </a:p>
                  </a:txBody>
                  <a:tcPr>
                    <a:solidFill>
                      <a:srgbClr val="F2F2F2"/>
                    </a:solidFill>
                  </a:tcPr>
                </a:tc>
                <a:tc>
                  <a:txBody>
                    <a:bodyPr/>
                    <a:lstStyle/>
                    <a:p>
                      <a:pPr algn="l"/>
                      <a:r>
                        <a:rPr sz="750" b="0" i="0">
                          <a:solidFill>
                            <a:srgbClr val="262626"/>
                          </a:solidFill>
                          <a:latin typeface="Arial"/>
                        </a:rPr>
                        <a:t>Cole Jamieson </a:t>
                      </a:r>
                    </a:p>
                  </a:txBody>
                  <a:tcPr>
                    <a:solidFill>
                      <a:srgbClr val="F2F2F2"/>
                    </a:solidFill>
                  </a:tcPr>
                </a:tc>
                <a:tc>
                  <a:txBody>
                    <a:bodyPr/>
                    <a:lstStyle/>
                    <a:p>
                      <a:pPr algn="ctr"/>
                      <a:r>
                        <a:rPr sz="750" b="1" i="0">
                          <a:solidFill>
                            <a:srgbClr val="262626"/>
                          </a:solidFill>
                          <a:latin typeface="Arial"/>
                        </a:rPr>
                        <a:t>169</a:t>
                      </a:r>
                    </a:p>
                  </a:txBody>
                  <a:tcPr>
                    <a:solidFill>
                      <a:srgbClr val="F2F2F2"/>
                    </a:solidFill>
                  </a:tcPr>
                </a:tc>
                <a:tc>
                  <a:txBody>
                    <a:bodyPr/>
                    <a:lstStyle/>
                    <a:p>
                      <a:pPr algn="ctr"/>
                      <a:r>
                        <a:rPr sz="750" b="0" i="0">
                          <a:solidFill>
                            <a:srgbClr val="262626"/>
                          </a:solidFill>
                          <a:latin typeface="Arial"/>
                        </a:rPr>
                        <a:t>1</a:t>
                      </a:r>
                    </a:p>
                  </a:txBody>
                  <a:tcPr>
                    <a:solidFill>
                      <a:srgbClr val="F2F2F2"/>
                    </a:solidFill>
                  </a:tcPr>
                </a:tc>
                <a:tc>
                  <a:txBody>
                    <a:bodyPr/>
                    <a:lstStyle/>
                    <a:p>
                      <a:pPr algn="ctr"/>
                      <a:r>
                        <a:rPr sz="750" b="1" i="0">
                          <a:solidFill>
                            <a:srgbClr val="1B7F3A"/>
                          </a:solidFill>
                          <a:latin typeface="Arial"/>
                        </a:rPr>
                        <a:t>0</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169</a:t>
                      </a:r>
                    </a:p>
                  </a:txBody>
                  <a:tcPr>
                    <a:solidFill>
                      <a:srgbClr val="F2F2F2"/>
                    </a:solidFill>
                  </a:tcPr>
                </a:tc>
                <a:tc>
                  <a:txBody>
                    <a:bodyPr/>
                    <a:lstStyle/>
                    <a:p>
                      <a:pPr algn="ctr"/>
                      <a:r>
                        <a:rPr sz="750" b="1" i="0">
                          <a:solidFill>
                            <a:srgbClr val="262626"/>
                          </a:solidFill>
                          <a:latin typeface="Arial"/>
                        </a:rPr>
                        <a:t>2,038</a:t>
                      </a:r>
                    </a:p>
                  </a:txBody>
                  <a:tcPr>
                    <a:solidFill>
                      <a:srgbClr val="F2F2F2"/>
                    </a:solidFill>
                  </a:tcPr>
                </a:tc>
                <a:extLst>
                  <a:ext uri="{0D108BD9-81ED-4DB2-BD59-A6C34878D82A}">
                    <a16:rowId xmlns:a16="http://schemas.microsoft.com/office/drawing/2014/main" val="10010"/>
                  </a:ext>
                </a:extLst>
              </a:tr>
              <a:tr h="201168">
                <a:tc>
                  <a:txBody>
                    <a:bodyPr/>
                    <a:lstStyle/>
                    <a:p>
                      <a:pPr algn="ctr"/>
                      <a:r>
                        <a:rPr sz="750" b="1" i="0">
                          <a:solidFill>
                            <a:srgbClr val="262626"/>
                          </a:solidFill>
                          <a:latin typeface="Arial"/>
                        </a:rPr>
                        <a:t>110</a:t>
                      </a:r>
                    </a:p>
                  </a:txBody>
                  <a:tcPr>
                    <a:solidFill>
                      <a:srgbClr val="FFFFFF"/>
                    </a:solidFill>
                  </a:tcPr>
                </a:tc>
                <a:tc>
                  <a:txBody>
                    <a:bodyPr/>
                    <a:lstStyle/>
                    <a:p>
                      <a:pPr algn="l"/>
                      <a:r>
                        <a:rPr sz="750" b="0" i="0">
                          <a:solidFill>
                            <a:srgbClr val="262626"/>
                          </a:solidFill>
                          <a:latin typeface="Arial"/>
                        </a:rPr>
                        <a:t>Porter Middaugh</a:t>
                      </a:r>
                    </a:p>
                  </a:txBody>
                  <a:tcPr>
                    <a:solidFill>
                      <a:srgbClr val="FFFFFF"/>
                    </a:solidFill>
                  </a:tcPr>
                </a:tc>
                <a:tc>
                  <a:txBody>
                    <a:bodyPr/>
                    <a:lstStyle/>
                    <a:p>
                      <a:pPr algn="ctr"/>
                      <a:r>
                        <a:rPr sz="750" b="1" i="0">
                          <a:solidFill>
                            <a:srgbClr val="262626"/>
                          </a:solidFill>
                          <a:latin typeface="Arial"/>
                        </a:rPr>
                        <a:t>115</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115</a:t>
                      </a:r>
                    </a:p>
                  </a:txBody>
                  <a:tcPr>
                    <a:solidFill>
                      <a:srgbClr val="FFFFFF"/>
                    </a:solidFill>
                  </a:tcPr>
                </a:tc>
                <a:tc>
                  <a:txBody>
                    <a:bodyPr/>
                    <a:lstStyle/>
                    <a:p>
                      <a:pPr algn="ctr"/>
                      <a:r>
                        <a:rPr sz="750" b="1" i="0">
                          <a:solidFill>
                            <a:srgbClr val="262626"/>
                          </a:solidFill>
                          <a:latin typeface="Arial"/>
                        </a:rPr>
                        <a:t>1,380</a:t>
                      </a:r>
                    </a:p>
                  </a:txBody>
                  <a:tcPr>
                    <a:solidFill>
                      <a:srgbClr val="FFFFFF"/>
                    </a:solidFill>
                  </a:tcPr>
                </a:tc>
                <a:extLst>
                  <a:ext uri="{0D108BD9-81ED-4DB2-BD59-A6C34878D82A}">
                    <a16:rowId xmlns:a16="http://schemas.microsoft.com/office/drawing/2014/main" val="10011"/>
                  </a:ext>
                </a:extLst>
              </a:tr>
            </a:tbl>
          </a:graphicData>
        </a:graphic>
      </p:graphicFrame>
      <p:sp>
        <p:nvSpPr>
          <p:cNvPr id="17" name="Rectangle 16"/>
          <p:cNvSpPr/>
          <p:nvPr/>
        </p:nvSpPr>
        <p:spPr>
          <a:xfrm>
            <a:off x="6126480" y="3611880"/>
            <a:ext cx="5806440" cy="2743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6126480" y="3639312"/>
            <a:ext cx="5806440" cy="219456"/>
          </a:xfrm>
          <a:prstGeom prst="rect">
            <a:avLst/>
          </a:prstGeom>
          <a:noFill/>
        </p:spPr>
        <p:txBody>
          <a:bodyPr wrap="square">
            <a:spAutoFit/>
          </a:bodyPr>
          <a:lstStyle/>
          <a:p>
            <a:pPr algn="ctr"/>
            <a:r>
              <a:rPr sz="1100" b="1" i="0">
                <a:solidFill>
                  <a:srgbClr val="FFFFFF"/>
                </a:solidFill>
                <a:latin typeface="Arial"/>
              </a:rPr>
              <a:t>USA WOMEN</a:t>
            </a:r>
          </a:p>
        </p:txBody>
      </p:sp>
      <p:graphicFrame>
        <p:nvGraphicFramePr>
          <p:cNvPr id="19" name="Table 18"/>
          <p:cNvGraphicFramePr>
            <a:graphicFrameLocks noGrp="1"/>
          </p:cNvGraphicFramePr>
          <p:nvPr/>
        </p:nvGraphicFramePr>
        <p:xfrm>
          <a:off x="6126480" y="3931920"/>
          <a:ext cx="5806440" cy="2414016"/>
        </p:xfrm>
        <a:graphic>
          <a:graphicData uri="http://schemas.openxmlformats.org/drawingml/2006/table">
            <a:tbl>
              <a:tblPr firstRow="1" bandRow="1">
                <a:tableStyleId>{5C22544A-7EE6-4342-B048-85BDC9FD1C3A}</a:tableStyleId>
              </a:tblPr>
              <a:tblGrid>
                <a:gridCol w="41148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502920">
                  <a:extLst>
                    <a:ext uri="{9D8B030D-6E8A-4147-A177-3AD203B41FA5}">
                      <a16:colId xmlns:a16="http://schemas.microsoft.com/office/drawing/2014/main" val="20003"/>
                    </a:ext>
                  </a:extLst>
                </a:gridCol>
                <a:gridCol w="411480">
                  <a:extLst>
                    <a:ext uri="{9D8B030D-6E8A-4147-A177-3AD203B41FA5}">
                      <a16:colId xmlns:a16="http://schemas.microsoft.com/office/drawing/2014/main" val="20004"/>
                    </a:ext>
                  </a:extLst>
                </a:gridCol>
                <a:gridCol w="411480">
                  <a:extLst>
                    <a:ext uri="{9D8B030D-6E8A-4147-A177-3AD203B41FA5}">
                      <a16:colId xmlns:a16="http://schemas.microsoft.com/office/drawing/2014/main" val="20005"/>
                    </a:ext>
                  </a:extLst>
                </a:gridCol>
                <a:gridCol w="685800">
                  <a:extLst>
                    <a:ext uri="{9D8B030D-6E8A-4147-A177-3AD203B41FA5}">
                      <a16:colId xmlns:a16="http://schemas.microsoft.com/office/drawing/2014/main" val="20006"/>
                    </a:ext>
                  </a:extLst>
                </a:gridCol>
                <a:gridCol w="731520">
                  <a:extLst>
                    <a:ext uri="{9D8B030D-6E8A-4147-A177-3AD203B41FA5}">
                      <a16:colId xmlns:a16="http://schemas.microsoft.com/office/drawing/2014/main" val="20007"/>
                    </a:ext>
                  </a:extLst>
                </a:gridCol>
              </a:tblGrid>
              <a:tr h="201168">
                <a:tc>
                  <a:txBody>
                    <a:bodyPr/>
                    <a:lstStyle/>
                    <a:p>
                      <a:pPr algn="ctr"/>
                      <a:r>
                        <a:rPr sz="850" b="1" i="0">
                          <a:solidFill>
                            <a:srgbClr val="FFFFFF"/>
                          </a:solidFill>
                          <a:latin typeface="Arial"/>
                        </a:rPr>
                        <a:t>Rk</a:t>
                      </a:r>
                    </a:p>
                  </a:txBody>
                  <a:tcPr>
                    <a:solidFill>
                      <a:srgbClr val="002060"/>
                    </a:solidFill>
                  </a:tcPr>
                </a:tc>
                <a:tc>
                  <a:txBody>
                    <a:bodyPr/>
                    <a:lstStyle/>
                    <a:p>
                      <a:pPr algn="l"/>
                      <a:r>
                        <a:rPr sz="850" b="1" i="0">
                          <a:solidFill>
                            <a:srgbClr val="FFFFFF"/>
                          </a:solidFill>
                          <a:latin typeface="Arial"/>
                        </a:rPr>
                        <a:t>Athlete</a:t>
                      </a:r>
                    </a:p>
                  </a:txBody>
                  <a:tcPr>
                    <a:solidFill>
                      <a:srgbClr val="002060"/>
                    </a:solidFill>
                  </a:tcPr>
                </a:tc>
                <a:tc>
                  <a:txBody>
                    <a:bodyPr/>
                    <a:lstStyle/>
                    <a:p>
                      <a:pPr algn="ctr"/>
                      <a:r>
                        <a:rPr sz="850" b="1" i="0">
                          <a:solidFill>
                            <a:srgbClr val="FFFFFF"/>
                          </a:solidFill>
                          <a:latin typeface="Arial"/>
                        </a:rPr>
                        <a:t>Total</a:t>
                      </a:r>
                    </a:p>
                  </a:txBody>
                  <a:tcPr>
                    <a:solidFill>
                      <a:srgbClr val="002060"/>
                    </a:solidFill>
                  </a:tcPr>
                </a:tc>
                <a:tc>
                  <a:txBody>
                    <a:bodyPr/>
                    <a:lstStyle/>
                    <a:p>
                      <a:pPr algn="ctr"/>
                      <a:r>
                        <a:rPr sz="850" b="1" i="0">
                          <a:solidFill>
                            <a:srgbClr val="FFFFFF"/>
                          </a:solidFill>
                          <a:latin typeface="Arial"/>
                        </a:rPr>
                        <a:t>Races</a:t>
                      </a:r>
                    </a:p>
                  </a:txBody>
                  <a:tcPr>
                    <a:solidFill>
                      <a:srgbClr val="002060"/>
                    </a:solidFill>
                  </a:tcPr>
                </a:tc>
                <a:tc>
                  <a:txBody>
                    <a:bodyPr/>
                    <a:lstStyle/>
                    <a:p>
                      <a:pPr algn="ctr"/>
                      <a:r>
                        <a:rPr sz="850" b="1" i="0">
                          <a:solidFill>
                            <a:srgbClr val="FFFFFF"/>
                          </a:solidFill>
                          <a:latin typeface="Arial"/>
                        </a:rPr>
                        <a:t>On</a:t>
                      </a:r>
                    </a:p>
                  </a:txBody>
                  <a:tcPr>
                    <a:solidFill>
                      <a:srgbClr val="002060"/>
                    </a:solidFill>
                  </a:tcPr>
                </a:tc>
                <a:tc>
                  <a:txBody>
                    <a:bodyPr/>
                    <a:lstStyle/>
                    <a:p>
                      <a:pPr algn="ctr"/>
                      <a:r>
                        <a:rPr sz="850" b="1" i="0">
                          <a:solidFill>
                            <a:srgbClr val="FFFFFF"/>
                          </a:solidFill>
                          <a:latin typeface="Arial"/>
                        </a:rPr>
                        <a:t>Off</a:t>
                      </a:r>
                    </a:p>
                  </a:txBody>
                  <a:tcPr>
                    <a:solidFill>
                      <a:srgbClr val="002060"/>
                    </a:solidFill>
                  </a:tcPr>
                </a:tc>
                <a:tc>
                  <a:txBody>
                    <a:bodyPr/>
                    <a:lstStyle/>
                    <a:p>
                      <a:pPr algn="ctr"/>
                      <a:r>
                        <a:rPr sz="850" b="1" i="0">
                          <a:solidFill>
                            <a:srgbClr val="FFFFFF"/>
                          </a:solidFill>
                          <a:latin typeface="Arial"/>
                        </a:rPr>
                        <a:t>Pace</a:t>
                      </a:r>
                    </a:p>
                  </a:txBody>
                  <a:tcPr>
                    <a:solidFill>
                      <a:srgbClr val="002060"/>
                    </a:solidFill>
                  </a:tcPr>
                </a:tc>
                <a:tc>
                  <a:txBody>
                    <a:bodyPr/>
                    <a:lstStyle/>
                    <a:p>
                      <a:pPr algn="ctr"/>
                      <a:r>
                        <a:rPr sz="850" b="1" i="0">
                          <a:solidFill>
                            <a:srgbClr val="FFFFFF"/>
                          </a:solidFill>
                          <a:latin typeface="Arial"/>
                        </a:rPr>
                        <a:t>Proj @12</a:t>
                      </a:r>
                    </a:p>
                  </a:txBody>
                  <a:tcPr>
                    <a:solidFill>
                      <a:srgbClr val="002060"/>
                    </a:solidFill>
                  </a:tcPr>
                </a:tc>
                <a:extLst>
                  <a:ext uri="{0D108BD9-81ED-4DB2-BD59-A6C34878D82A}">
                    <a16:rowId xmlns:a16="http://schemas.microsoft.com/office/drawing/2014/main" val="10000"/>
                  </a:ext>
                </a:extLst>
              </a:tr>
              <a:tr h="201168">
                <a:tc>
                  <a:txBody>
                    <a:bodyPr/>
                    <a:lstStyle/>
                    <a:p>
                      <a:pPr algn="ctr"/>
                      <a:r>
                        <a:rPr sz="750" b="1" i="0">
                          <a:solidFill>
                            <a:srgbClr val="262626"/>
                          </a:solidFill>
                          <a:latin typeface="Arial"/>
                        </a:rPr>
                        <a:t>11</a:t>
                      </a:r>
                    </a:p>
                  </a:txBody>
                  <a:tcPr>
                    <a:solidFill>
                      <a:srgbClr val="FFFFFF"/>
                    </a:solidFill>
                  </a:tcPr>
                </a:tc>
                <a:tc>
                  <a:txBody>
                    <a:bodyPr/>
                    <a:lstStyle/>
                    <a:p>
                      <a:pPr algn="l"/>
                      <a:r>
                        <a:rPr sz="750" b="0" i="0">
                          <a:solidFill>
                            <a:srgbClr val="262626"/>
                          </a:solidFill>
                          <a:latin typeface="Arial"/>
                        </a:rPr>
                        <a:t>Taylor Spivey</a:t>
                      </a:r>
                    </a:p>
                  </a:txBody>
                  <a:tcPr>
                    <a:solidFill>
                      <a:srgbClr val="FFFFFF"/>
                    </a:solidFill>
                  </a:tcPr>
                </a:tc>
                <a:tc>
                  <a:txBody>
                    <a:bodyPr/>
                    <a:lstStyle/>
                    <a:p>
                      <a:pPr algn="ctr"/>
                      <a:r>
                        <a:rPr sz="750" b="1" i="0">
                          <a:solidFill>
                            <a:srgbClr val="262626"/>
                          </a:solidFill>
                          <a:latin typeface="Arial"/>
                        </a:rPr>
                        <a:t>1,370</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685</a:t>
                      </a:r>
                    </a:p>
                  </a:txBody>
                  <a:tcPr>
                    <a:solidFill>
                      <a:srgbClr val="FFFFFF"/>
                    </a:solidFill>
                  </a:tcPr>
                </a:tc>
                <a:tc>
                  <a:txBody>
                    <a:bodyPr/>
                    <a:lstStyle/>
                    <a:p>
                      <a:pPr algn="ctr"/>
                      <a:r>
                        <a:rPr sz="750" b="1" i="0">
                          <a:solidFill>
                            <a:srgbClr val="1B7F3A"/>
                          </a:solidFill>
                          <a:latin typeface="Arial"/>
                        </a:rPr>
                        <a:t>8,225</a:t>
                      </a:r>
                    </a:p>
                  </a:txBody>
                  <a:tcPr>
                    <a:solidFill>
                      <a:srgbClr val="FFFFFF"/>
                    </a:solidFill>
                  </a:tcPr>
                </a:tc>
                <a:extLst>
                  <a:ext uri="{0D108BD9-81ED-4DB2-BD59-A6C34878D82A}">
                    <a16:rowId xmlns:a16="http://schemas.microsoft.com/office/drawing/2014/main" val="10001"/>
                  </a:ext>
                </a:extLst>
              </a:tr>
              <a:tr h="201168">
                <a:tc>
                  <a:txBody>
                    <a:bodyPr/>
                    <a:lstStyle/>
                    <a:p>
                      <a:pPr algn="ctr"/>
                      <a:r>
                        <a:rPr sz="750" b="1" i="0">
                          <a:solidFill>
                            <a:srgbClr val="262626"/>
                          </a:solidFill>
                          <a:latin typeface="Arial"/>
                        </a:rPr>
                        <a:t>14</a:t>
                      </a:r>
                    </a:p>
                  </a:txBody>
                  <a:tcPr>
                    <a:solidFill>
                      <a:srgbClr val="F2F2F2"/>
                    </a:solidFill>
                  </a:tcPr>
                </a:tc>
                <a:tc>
                  <a:txBody>
                    <a:bodyPr/>
                    <a:lstStyle/>
                    <a:p>
                      <a:pPr algn="l"/>
                      <a:r>
                        <a:rPr sz="750" b="0" i="0">
                          <a:solidFill>
                            <a:srgbClr val="262626"/>
                          </a:solidFill>
                          <a:latin typeface="Arial"/>
                        </a:rPr>
                        <a:t>Danielle Orie</a:t>
                      </a:r>
                    </a:p>
                  </a:txBody>
                  <a:tcPr>
                    <a:solidFill>
                      <a:srgbClr val="F2F2F2"/>
                    </a:solidFill>
                  </a:tcPr>
                </a:tc>
                <a:tc>
                  <a:txBody>
                    <a:bodyPr/>
                    <a:lstStyle/>
                    <a:p>
                      <a:pPr algn="ctr"/>
                      <a:r>
                        <a:rPr sz="750" b="1" i="0">
                          <a:solidFill>
                            <a:srgbClr val="262626"/>
                          </a:solidFill>
                          <a:latin typeface="Arial"/>
                        </a:rPr>
                        <a:t>1,146</a:t>
                      </a:r>
                    </a:p>
                  </a:txBody>
                  <a:tcPr>
                    <a:solidFill>
                      <a:srgbClr val="F2F2F2"/>
                    </a:solidFill>
                  </a:tcPr>
                </a:tc>
                <a:tc>
                  <a:txBody>
                    <a:bodyPr/>
                    <a:lstStyle/>
                    <a:p>
                      <a:pPr algn="ctr"/>
                      <a:r>
                        <a:rPr sz="750" b="0" i="0">
                          <a:solidFill>
                            <a:srgbClr val="262626"/>
                          </a:solidFill>
                          <a:latin typeface="Arial"/>
                        </a:rPr>
                        <a:t>4</a:t>
                      </a:r>
                    </a:p>
                  </a:txBody>
                  <a:tcPr>
                    <a:solidFill>
                      <a:srgbClr val="F2F2F2"/>
                    </a:solidFill>
                  </a:tcPr>
                </a:tc>
                <a:tc>
                  <a:txBody>
                    <a:bodyPr/>
                    <a:lstStyle/>
                    <a:p>
                      <a:pPr algn="ctr"/>
                      <a:r>
                        <a:rPr sz="750" b="1" i="0">
                          <a:solidFill>
                            <a:srgbClr val="1B7F3A"/>
                          </a:solidFill>
                          <a:latin typeface="Arial"/>
                        </a:rPr>
                        <a:t>2</a:t>
                      </a:r>
                    </a:p>
                  </a:txBody>
                  <a:tcPr>
                    <a:solidFill>
                      <a:srgbClr val="F2F2F2"/>
                    </a:solidFill>
                  </a:tcPr>
                </a:tc>
                <a:tc>
                  <a:txBody>
                    <a:bodyPr/>
                    <a:lstStyle/>
                    <a:p>
                      <a:pPr algn="ctr"/>
                      <a:r>
                        <a:rPr sz="750" b="1" i="0">
                          <a:solidFill>
                            <a:srgbClr val="C00000"/>
                          </a:solidFill>
                          <a:latin typeface="Arial"/>
                        </a:rPr>
                        <a:t>2</a:t>
                      </a:r>
                    </a:p>
                  </a:txBody>
                  <a:tcPr>
                    <a:solidFill>
                      <a:srgbClr val="F2F2F2"/>
                    </a:solidFill>
                  </a:tcPr>
                </a:tc>
                <a:tc>
                  <a:txBody>
                    <a:bodyPr/>
                    <a:lstStyle/>
                    <a:p>
                      <a:pPr algn="ctr"/>
                      <a:r>
                        <a:rPr sz="750" b="0" i="0">
                          <a:solidFill>
                            <a:srgbClr val="262626"/>
                          </a:solidFill>
                          <a:latin typeface="Arial"/>
                        </a:rPr>
                        <a:t>286</a:t>
                      </a:r>
                    </a:p>
                  </a:txBody>
                  <a:tcPr>
                    <a:solidFill>
                      <a:srgbClr val="F2F2F2"/>
                    </a:solidFill>
                  </a:tcPr>
                </a:tc>
                <a:tc>
                  <a:txBody>
                    <a:bodyPr/>
                    <a:lstStyle/>
                    <a:p>
                      <a:pPr algn="ctr"/>
                      <a:r>
                        <a:rPr sz="750" b="1" i="0">
                          <a:solidFill>
                            <a:srgbClr val="262626"/>
                          </a:solidFill>
                          <a:latin typeface="Arial"/>
                        </a:rPr>
                        <a:t>3,439</a:t>
                      </a:r>
                    </a:p>
                  </a:txBody>
                  <a:tcPr>
                    <a:solidFill>
                      <a:srgbClr val="F2F2F2"/>
                    </a:solidFill>
                  </a:tcPr>
                </a:tc>
                <a:extLst>
                  <a:ext uri="{0D108BD9-81ED-4DB2-BD59-A6C34878D82A}">
                    <a16:rowId xmlns:a16="http://schemas.microsoft.com/office/drawing/2014/main" val="10002"/>
                  </a:ext>
                </a:extLst>
              </a:tr>
              <a:tr h="201168">
                <a:tc>
                  <a:txBody>
                    <a:bodyPr/>
                    <a:lstStyle/>
                    <a:p>
                      <a:pPr algn="ctr"/>
                      <a:r>
                        <a:rPr sz="750" b="1" i="0">
                          <a:solidFill>
                            <a:srgbClr val="262626"/>
                          </a:solidFill>
                          <a:latin typeface="Arial"/>
                        </a:rPr>
                        <a:t>18</a:t>
                      </a:r>
                    </a:p>
                  </a:txBody>
                  <a:tcPr>
                    <a:solidFill>
                      <a:srgbClr val="FFFFFF"/>
                    </a:solidFill>
                  </a:tcPr>
                </a:tc>
                <a:tc>
                  <a:txBody>
                    <a:bodyPr/>
                    <a:lstStyle/>
                    <a:p>
                      <a:pPr algn="l"/>
                      <a:r>
                        <a:rPr sz="750" b="0" i="0">
                          <a:solidFill>
                            <a:srgbClr val="262626"/>
                          </a:solidFill>
                          <a:latin typeface="Arial"/>
                        </a:rPr>
                        <a:t>Gina Sereno</a:t>
                      </a:r>
                    </a:p>
                  </a:txBody>
                  <a:tcPr>
                    <a:solidFill>
                      <a:srgbClr val="FFFFFF"/>
                    </a:solidFill>
                  </a:tcPr>
                </a:tc>
                <a:tc>
                  <a:txBody>
                    <a:bodyPr/>
                    <a:lstStyle/>
                    <a:p>
                      <a:pPr algn="ctr"/>
                      <a:r>
                        <a:rPr sz="750" b="1" i="0">
                          <a:solidFill>
                            <a:srgbClr val="262626"/>
                          </a:solidFill>
                          <a:latin typeface="Arial"/>
                        </a:rPr>
                        <a:t>991</a:t>
                      </a:r>
                    </a:p>
                  </a:txBody>
                  <a:tcPr>
                    <a:solidFill>
                      <a:srgbClr val="FFFFFF"/>
                    </a:solidFill>
                  </a:tcPr>
                </a:tc>
                <a:tc>
                  <a:txBody>
                    <a:bodyPr/>
                    <a:lstStyle/>
                    <a:p>
                      <a:pPr algn="ctr"/>
                      <a:r>
                        <a:rPr sz="750" b="0" i="0">
                          <a:solidFill>
                            <a:srgbClr val="262626"/>
                          </a:solidFill>
                          <a:latin typeface="Arial"/>
                        </a:rPr>
                        <a:t>3</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330</a:t>
                      </a:r>
                    </a:p>
                  </a:txBody>
                  <a:tcPr>
                    <a:solidFill>
                      <a:srgbClr val="FFFFFF"/>
                    </a:solidFill>
                  </a:tcPr>
                </a:tc>
                <a:tc>
                  <a:txBody>
                    <a:bodyPr/>
                    <a:lstStyle/>
                    <a:p>
                      <a:pPr algn="ctr"/>
                      <a:r>
                        <a:rPr sz="750" b="1" i="0">
                          <a:solidFill>
                            <a:srgbClr val="1B7F3A"/>
                          </a:solidFill>
                          <a:latin typeface="Arial"/>
                        </a:rPr>
                        <a:t>3,966</a:t>
                      </a:r>
                    </a:p>
                  </a:txBody>
                  <a:tcPr>
                    <a:solidFill>
                      <a:srgbClr val="FFFFFF"/>
                    </a:solidFill>
                  </a:tcPr>
                </a:tc>
                <a:extLst>
                  <a:ext uri="{0D108BD9-81ED-4DB2-BD59-A6C34878D82A}">
                    <a16:rowId xmlns:a16="http://schemas.microsoft.com/office/drawing/2014/main" val="10003"/>
                  </a:ext>
                </a:extLst>
              </a:tr>
              <a:tr h="201168">
                <a:tc>
                  <a:txBody>
                    <a:bodyPr/>
                    <a:lstStyle/>
                    <a:p>
                      <a:pPr algn="ctr"/>
                      <a:r>
                        <a:rPr sz="750" b="1" i="0">
                          <a:solidFill>
                            <a:srgbClr val="262626"/>
                          </a:solidFill>
                          <a:latin typeface="Arial"/>
                        </a:rPr>
                        <a:t>20</a:t>
                      </a:r>
                    </a:p>
                  </a:txBody>
                  <a:tcPr>
                    <a:solidFill>
                      <a:srgbClr val="F2F2F2"/>
                    </a:solidFill>
                  </a:tcPr>
                </a:tc>
                <a:tc>
                  <a:txBody>
                    <a:bodyPr/>
                    <a:lstStyle/>
                    <a:p>
                      <a:pPr algn="l"/>
                      <a:r>
                        <a:rPr sz="750" b="0" i="0">
                          <a:solidFill>
                            <a:srgbClr val="262626"/>
                          </a:solidFill>
                          <a:latin typeface="Arial"/>
                        </a:rPr>
                        <a:t>Taylor Knibb</a:t>
                      </a:r>
                    </a:p>
                  </a:txBody>
                  <a:tcPr>
                    <a:solidFill>
                      <a:srgbClr val="F2F2F2"/>
                    </a:solidFill>
                  </a:tcPr>
                </a:tc>
                <a:tc>
                  <a:txBody>
                    <a:bodyPr/>
                    <a:lstStyle/>
                    <a:p>
                      <a:pPr algn="ctr"/>
                      <a:r>
                        <a:rPr sz="750" b="1" i="0">
                          <a:solidFill>
                            <a:srgbClr val="262626"/>
                          </a:solidFill>
                          <a:latin typeface="Arial"/>
                        </a:rPr>
                        <a:t>921</a:t>
                      </a:r>
                    </a:p>
                  </a:txBody>
                  <a:tcPr>
                    <a:solidFill>
                      <a:srgbClr val="F2F2F2"/>
                    </a:solidFill>
                  </a:tcPr>
                </a:tc>
                <a:tc>
                  <a:txBody>
                    <a:bodyPr/>
                    <a:lstStyle/>
                    <a:p>
                      <a:pPr algn="ctr"/>
                      <a:r>
                        <a:rPr sz="750" b="0" i="0">
                          <a:solidFill>
                            <a:srgbClr val="262626"/>
                          </a:solidFill>
                          <a:latin typeface="Arial"/>
                        </a:rPr>
                        <a:t>2</a:t>
                      </a:r>
                    </a:p>
                  </a:txBody>
                  <a:tcPr>
                    <a:solidFill>
                      <a:srgbClr val="F2F2F2"/>
                    </a:solidFill>
                  </a:tcPr>
                </a:tc>
                <a:tc>
                  <a:txBody>
                    <a:bodyPr/>
                    <a:lstStyle/>
                    <a:p>
                      <a:pPr algn="ctr"/>
                      <a:r>
                        <a:rPr sz="750" b="1" i="0">
                          <a:solidFill>
                            <a:srgbClr val="1B7F3A"/>
                          </a:solidFill>
                          <a:latin typeface="Arial"/>
                        </a:rPr>
                        <a:t>2</a:t>
                      </a:r>
                    </a:p>
                  </a:txBody>
                  <a:tcPr>
                    <a:solidFill>
                      <a:srgbClr val="F2F2F2"/>
                    </a:solidFill>
                  </a:tcPr>
                </a:tc>
                <a:tc>
                  <a:txBody>
                    <a:bodyPr/>
                    <a:lstStyle/>
                    <a:p>
                      <a:pPr algn="ctr"/>
                      <a:r>
                        <a:rPr sz="750" b="1" i="0">
                          <a:solidFill>
                            <a:srgbClr val="C00000"/>
                          </a:solidFill>
                          <a:latin typeface="Arial"/>
                        </a:rPr>
                        <a:t>0</a:t>
                      </a:r>
                    </a:p>
                  </a:txBody>
                  <a:tcPr>
                    <a:solidFill>
                      <a:srgbClr val="F2F2F2"/>
                    </a:solidFill>
                  </a:tcPr>
                </a:tc>
                <a:tc>
                  <a:txBody>
                    <a:bodyPr/>
                    <a:lstStyle/>
                    <a:p>
                      <a:pPr algn="ctr"/>
                      <a:r>
                        <a:rPr sz="750" b="0" i="0">
                          <a:solidFill>
                            <a:srgbClr val="262626"/>
                          </a:solidFill>
                          <a:latin typeface="Arial"/>
                        </a:rPr>
                        <a:t>460</a:t>
                      </a:r>
                    </a:p>
                  </a:txBody>
                  <a:tcPr>
                    <a:solidFill>
                      <a:srgbClr val="F2F2F2"/>
                    </a:solidFill>
                  </a:tcPr>
                </a:tc>
                <a:tc>
                  <a:txBody>
                    <a:bodyPr/>
                    <a:lstStyle/>
                    <a:p>
                      <a:pPr algn="ctr"/>
                      <a:r>
                        <a:rPr sz="750" b="1" i="0">
                          <a:solidFill>
                            <a:srgbClr val="1B7F3A"/>
                          </a:solidFill>
                          <a:latin typeface="Arial"/>
                        </a:rPr>
                        <a:t>5,526</a:t>
                      </a:r>
                    </a:p>
                  </a:txBody>
                  <a:tcPr>
                    <a:solidFill>
                      <a:srgbClr val="F2F2F2"/>
                    </a:solidFill>
                  </a:tcPr>
                </a:tc>
                <a:extLst>
                  <a:ext uri="{0D108BD9-81ED-4DB2-BD59-A6C34878D82A}">
                    <a16:rowId xmlns:a16="http://schemas.microsoft.com/office/drawing/2014/main" val="10004"/>
                  </a:ext>
                </a:extLst>
              </a:tr>
              <a:tr h="201168">
                <a:tc>
                  <a:txBody>
                    <a:bodyPr/>
                    <a:lstStyle/>
                    <a:p>
                      <a:pPr algn="ctr"/>
                      <a:r>
                        <a:rPr sz="750" b="1" i="0">
                          <a:solidFill>
                            <a:srgbClr val="262626"/>
                          </a:solidFill>
                          <a:latin typeface="Arial"/>
                        </a:rPr>
                        <a:t>38</a:t>
                      </a:r>
                    </a:p>
                  </a:txBody>
                  <a:tcPr>
                    <a:solidFill>
                      <a:srgbClr val="FFFFFF"/>
                    </a:solidFill>
                  </a:tcPr>
                </a:tc>
                <a:tc>
                  <a:txBody>
                    <a:bodyPr/>
                    <a:lstStyle/>
                    <a:p>
                      <a:pPr algn="l"/>
                      <a:r>
                        <a:rPr sz="750" b="0" i="0">
                          <a:solidFill>
                            <a:srgbClr val="262626"/>
                          </a:solidFill>
                          <a:latin typeface="Arial"/>
                        </a:rPr>
                        <a:t>Eleanor Beveridge</a:t>
                      </a:r>
                    </a:p>
                  </a:txBody>
                  <a:tcPr>
                    <a:solidFill>
                      <a:srgbClr val="FFFFFF"/>
                    </a:solidFill>
                  </a:tcPr>
                </a:tc>
                <a:tc>
                  <a:txBody>
                    <a:bodyPr/>
                    <a:lstStyle/>
                    <a:p>
                      <a:pPr algn="ctr"/>
                      <a:r>
                        <a:rPr sz="750" b="1" i="0">
                          <a:solidFill>
                            <a:srgbClr val="262626"/>
                          </a:solidFill>
                          <a:latin typeface="Arial"/>
                        </a:rPr>
                        <a:t>519</a:t>
                      </a:r>
                    </a:p>
                  </a:txBody>
                  <a:tcPr>
                    <a:solidFill>
                      <a:srgbClr val="FFFFFF"/>
                    </a:solidFill>
                  </a:tcPr>
                </a:tc>
                <a:tc>
                  <a:txBody>
                    <a:bodyPr/>
                    <a:lstStyle/>
                    <a:p>
                      <a:pPr algn="ctr"/>
                      <a:r>
                        <a:rPr sz="750" b="0" i="0">
                          <a:solidFill>
                            <a:srgbClr val="262626"/>
                          </a:solidFill>
                          <a:latin typeface="Arial"/>
                        </a:rPr>
                        <a:t>2</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2</a:t>
                      </a:r>
                    </a:p>
                  </a:txBody>
                  <a:tcPr>
                    <a:solidFill>
                      <a:srgbClr val="FFFFFF"/>
                    </a:solidFill>
                  </a:tcPr>
                </a:tc>
                <a:tc>
                  <a:txBody>
                    <a:bodyPr/>
                    <a:lstStyle/>
                    <a:p>
                      <a:pPr algn="ctr"/>
                      <a:r>
                        <a:rPr sz="750" b="0" i="0">
                          <a:solidFill>
                            <a:srgbClr val="262626"/>
                          </a:solidFill>
                          <a:latin typeface="Arial"/>
                        </a:rPr>
                        <a:t>259</a:t>
                      </a:r>
                    </a:p>
                  </a:txBody>
                  <a:tcPr>
                    <a:solidFill>
                      <a:srgbClr val="FFFFFF"/>
                    </a:solidFill>
                  </a:tcPr>
                </a:tc>
                <a:tc>
                  <a:txBody>
                    <a:bodyPr/>
                    <a:lstStyle/>
                    <a:p>
                      <a:pPr algn="ctr"/>
                      <a:r>
                        <a:rPr sz="750" b="1" i="0">
                          <a:solidFill>
                            <a:srgbClr val="262626"/>
                          </a:solidFill>
                          <a:latin typeface="Arial"/>
                        </a:rPr>
                        <a:t>3,114</a:t>
                      </a:r>
                    </a:p>
                  </a:txBody>
                  <a:tcPr>
                    <a:solidFill>
                      <a:srgbClr val="FFFFFF"/>
                    </a:solidFill>
                  </a:tcPr>
                </a:tc>
                <a:extLst>
                  <a:ext uri="{0D108BD9-81ED-4DB2-BD59-A6C34878D82A}">
                    <a16:rowId xmlns:a16="http://schemas.microsoft.com/office/drawing/2014/main" val="10005"/>
                  </a:ext>
                </a:extLst>
              </a:tr>
              <a:tr h="201168">
                <a:tc>
                  <a:txBody>
                    <a:bodyPr/>
                    <a:lstStyle/>
                    <a:p>
                      <a:pPr algn="ctr"/>
                      <a:r>
                        <a:rPr sz="750" b="1" i="0">
                          <a:solidFill>
                            <a:srgbClr val="262626"/>
                          </a:solidFill>
                          <a:latin typeface="Arial"/>
                        </a:rPr>
                        <a:t>44</a:t>
                      </a:r>
                    </a:p>
                  </a:txBody>
                  <a:tcPr>
                    <a:solidFill>
                      <a:srgbClr val="F2F2F2"/>
                    </a:solidFill>
                  </a:tcPr>
                </a:tc>
                <a:tc>
                  <a:txBody>
                    <a:bodyPr/>
                    <a:lstStyle/>
                    <a:p>
                      <a:pPr algn="l"/>
                      <a:r>
                        <a:rPr sz="750" b="0" i="0">
                          <a:solidFill>
                            <a:srgbClr val="262626"/>
                          </a:solidFill>
                          <a:latin typeface="Arial"/>
                        </a:rPr>
                        <a:t>Gwen Jorgensen</a:t>
                      </a:r>
                    </a:p>
                  </a:txBody>
                  <a:tcPr>
                    <a:solidFill>
                      <a:srgbClr val="F2F2F2"/>
                    </a:solidFill>
                  </a:tcPr>
                </a:tc>
                <a:tc>
                  <a:txBody>
                    <a:bodyPr/>
                    <a:lstStyle/>
                    <a:p>
                      <a:pPr algn="ctr"/>
                      <a:r>
                        <a:rPr sz="750" b="1" i="0">
                          <a:solidFill>
                            <a:srgbClr val="262626"/>
                          </a:solidFill>
                          <a:latin typeface="Arial"/>
                        </a:rPr>
                        <a:t>495</a:t>
                      </a:r>
                    </a:p>
                  </a:txBody>
                  <a:tcPr>
                    <a:solidFill>
                      <a:srgbClr val="F2F2F2"/>
                    </a:solidFill>
                  </a:tcPr>
                </a:tc>
                <a:tc>
                  <a:txBody>
                    <a:bodyPr/>
                    <a:lstStyle/>
                    <a:p>
                      <a:pPr algn="ctr"/>
                      <a:r>
                        <a:rPr sz="750" b="0" i="0">
                          <a:solidFill>
                            <a:srgbClr val="262626"/>
                          </a:solidFill>
                          <a:latin typeface="Arial"/>
                        </a:rPr>
                        <a:t>1</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0</a:t>
                      </a:r>
                    </a:p>
                  </a:txBody>
                  <a:tcPr>
                    <a:solidFill>
                      <a:srgbClr val="F2F2F2"/>
                    </a:solidFill>
                  </a:tcPr>
                </a:tc>
                <a:tc>
                  <a:txBody>
                    <a:bodyPr/>
                    <a:lstStyle/>
                    <a:p>
                      <a:pPr algn="ctr"/>
                      <a:r>
                        <a:rPr sz="750" b="0" i="0">
                          <a:solidFill>
                            <a:srgbClr val="262626"/>
                          </a:solidFill>
                          <a:latin typeface="Arial"/>
                        </a:rPr>
                        <a:t>495</a:t>
                      </a:r>
                    </a:p>
                  </a:txBody>
                  <a:tcPr>
                    <a:solidFill>
                      <a:srgbClr val="F2F2F2"/>
                    </a:solidFill>
                  </a:tcPr>
                </a:tc>
                <a:tc>
                  <a:txBody>
                    <a:bodyPr/>
                    <a:lstStyle/>
                    <a:p>
                      <a:pPr algn="ctr"/>
                      <a:r>
                        <a:rPr sz="750" b="1" i="0">
                          <a:solidFill>
                            <a:srgbClr val="1B7F3A"/>
                          </a:solidFill>
                          <a:latin typeface="Arial"/>
                        </a:rPr>
                        <a:t>5,949</a:t>
                      </a:r>
                    </a:p>
                  </a:txBody>
                  <a:tcPr>
                    <a:solidFill>
                      <a:srgbClr val="F2F2F2"/>
                    </a:solidFill>
                  </a:tcPr>
                </a:tc>
                <a:extLst>
                  <a:ext uri="{0D108BD9-81ED-4DB2-BD59-A6C34878D82A}">
                    <a16:rowId xmlns:a16="http://schemas.microsoft.com/office/drawing/2014/main" val="10006"/>
                  </a:ext>
                </a:extLst>
              </a:tr>
              <a:tr h="201168">
                <a:tc>
                  <a:txBody>
                    <a:bodyPr/>
                    <a:lstStyle/>
                    <a:p>
                      <a:pPr algn="ctr"/>
                      <a:r>
                        <a:rPr sz="750" b="1" i="0">
                          <a:solidFill>
                            <a:srgbClr val="262626"/>
                          </a:solidFill>
                          <a:latin typeface="Arial"/>
                        </a:rPr>
                        <a:t>47</a:t>
                      </a:r>
                    </a:p>
                  </a:txBody>
                  <a:tcPr>
                    <a:solidFill>
                      <a:srgbClr val="FFFFFF"/>
                    </a:solidFill>
                  </a:tcPr>
                </a:tc>
                <a:tc>
                  <a:txBody>
                    <a:bodyPr/>
                    <a:lstStyle/>
                    <a:p>
                      <a:pPr algn="l"/>
                      <a:r>
                        <a:rPr sz="750" b="0" i="0">
                          <a:solidFill>
                            <a:srgbClr val="262626"/>
                          </a:solidFill>
                          <a:latin typeface="Arial"/>
                        </a:rPr>
                        <a:t>Kelly Wetteland</a:t>
                      </a:r>
                    </a:p>
                  </a:txBody>
                  <a:tcPr>
                    <a:solidFill>
                      <a:srgbClr val="FFFFFF"/>
                    </a:solidFill>
                  </a:tcPr>
                </a:tc>
                <a:tc>
                  <a:txBody>
                    <a:bodyPr/>
                    <a:lstStyle/>
                    <a:p>
                      <a:pPr algn="ctr"/>
                      <a:r>
                        <a:rPr sz="750" b="1" i="0">
                          <a:solidFill>
                            <a:srgbClr val="262626"/>
                          </a:solidFill>
                          <a:latin typeface="Arial"/>
                        </a:rPr>
                        <a:t>462</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1</a:t>
                      </a:r>
                    </a:p>
                  </a:txBody>
                  <a:tcPr>
                    <a:solidFill>
                      <a:srgbClr val="FFFFFF"/>
                    </a:solidFill>
                  </a:tcPr>
                </a:tc>
                <a:tc>
                  <a:txBody>
                    <a:bodyPr/>
                    <a:lstStyle/>
                    <a:p>
                      <a:pPr algn="ctr"/>
                      <a:r>
                        <a:rPr sz="750" b="1" i="0">
                          <a:solidFill>
                            <a:srgbClr val="C00000"/>
                          </a:solidFill>
                          <a:latin typeface="Arial"/>
                        </a:rPr>
                        <a:t>0</a:t>
                      </a:r>
                    </a:p>
                  </a:txBody>
                  <a:tcPr>
                    <a:solidFill>
                      <a:srgbClr val="FFFFFF"/>
                    </a:solidFill>
                  </a:tcPr>
                </a:tc>
                <a:tc>
                  <a:txBody>
                    <a:bodyPr/>
                    <a:lstStyle/>
                    <a:p>
                      <a:pPr algn="ctr"/>
                      <a:r>
                        <a:rPr sz="750" b="0" i="0">
                          <a:solidFill>
                            <a:srgbClr val="262626"/>
                          </a:solidFill>
                          <a:latin typeface="Arial"/>
                        </a:rPr>
                        <a:t>462</a:t>
                      </a:r>
                    </a:p>
                  </a:txBody>
                  <a:tcPr>
                    <a:solidFill>
                      <a:srgbClr val="FFFFFF"/>
                    </a:solidFill>
                  </a:tcPr>
                </a:tc>
                <a:tc>
                  <a:txBody>
                    <a:bodyPr/>
                    <a:lstStyle/>
                    <a:p>
                      <a:pPr algn="ctr"/>
                      <a:r>
                        <a:rPr sz="750" b="1" i="0">
                          <a:solidFill>
                            <a:srgbClr val="1B7F3A"/>
                          </a:solidFill>
                          <a:latin typeface="Arial"/>
                        </a:rPr>
                        <a:t>5,550</a:t>
                      </a:r>
                    </a:p>
                  </a:txBody>
                  <a:tcPr>
                    <a:solidFill>
                      <a:srgbClr val="FFFFFF"/>
                    </a:solidFill>
                  </a:tcPr>
                </a:tc>
                <a:extLst>
                  <a:ext uri="{0D108BD9-81ED-4DB2-BD59-A6C34878D82A}">
                    <a16:rowId xmlns:a16="http://schemas.microsoft.com/office/drawing/2014/main" val="10007"/>
                  </a:ext>
                </a:extLst>
              </a:tr>
              <a:tr h="201168">
                <a:tc>
                  <a:txBody>
                    <a:bodyPr/>
                    <a:lstStyle/>
                    <a:p>
                      <a:pPr algn="ctr"/>
                      <a:r>
                        <a:rPr sz="750" b="1" i="0">
                          <a:solidFill>
                            <a:srgbClr val="262626"/>
                          </a:solidFill>
                          <a:latin typeface="Arial"/>
                        </a:rPr>
                        <a:t>48</a:t>
                      </a:r>
                    </a:p>
                  </a:txBody>
                  <a:tcPr>
                    <a:solidFill>
                      <a:srgbClr val="F2F2F2"/>
                    </a:solidFill>
                  </a:tcPr>
                </a:tc>
                <a:tc>
                  <a:txBody>
                    <a:bodyPr/>
                    <a:lstStyle/>
                    <a:p>
                      <a:pPr algn="l"/>
                      <a:r>
                        <a:rPr sz="750" b="0" i="0">
                          <a:solidFill>
                            <a:srgbClr val="262626"/>
                          </a:solidFill>
                          <a:latin typeface="Arial"/>
                        </a:rPr>
                        <a:t>Naomi Ruff</a:t>
                      </a:r>
                    </a:p>
                  </a:txBody>
                  <a:tcPr>
                    <a:solidFill>
                      <a:srgbClr val="F2F2F2"/>
                    </a:solidFill>
                  </a:tcPr>
                </a:tc>
                <a:tc>
                  <a:txBody>
                    <a:bodyPr/>
                    <a:lstStyle/>
                    <a:p>
                      <a:pPr algn="ctr"/>
                      <a:r>
                        <a:rPr sz="750" b="1" i="0">
                          <a:solidFill>
                            <a:srgbClr val="262626"/>
                          </a:solidFill>
                          <a:latin typeface="Arial"/>
                        </a:rPr>
                        <a:t>460</a:t>
                      </a:r>
                    </a:p>
                  </a:txBody>
                  <a:tcPr>
                    <a:solidFill>
                      <a:srgbClr val="F2F2F2"/>
                    </a:solidFill>
                  </a:tcPr>
                </a:tc>
                <a:tc>
                  <a:txBody>
                    <a:bodyPr/>
                    <a:lstStyle/>
                    <a:p>
                      <a:pPr algn="ctr"/>
                      <a:r>
                        <a:rPr sz="750" b="0" i="0">
                          <a:solidFill>
                            <a:srgbClr val="262626"/>
                          </a:solidFill>
                          <a:latin typeface="Arial"/>
                        </a:rPr>
                        <a:t>1</a:t>
                      </a:r>
                    </a:p>
                  </a:txBody>
                  <a:tcPr>
                    <a:solidFill>
                      <a:srgbClr val="F2F2F2"/>
                    </a:solidFill>
                  </a:tcPr>
                </a:tc>
                <a:tc>
                  <a:txBody>
                    <a:bodyPr/>
                    <a:lstStyle/>
                    <a:p>
                      <a:pPr algn="ctr"/>
                      <a:r>
                        <a:rPr sz="750" b="1" i="0">
                          <a:solidFill>
                            <a:srgbClr val="1B7F3A"/>
                          </a:solidFill>
                          <a:latin typeface="Arial"/>
                        </a:rPr>
                        <a:t>1</a:t>
                      </a:r>
                    </a:p>
                  </a:txBody>
                  <a:tcPr>
                    <a:solidFill>
                      <a:srgbClr val="F2F2F2"/>
                    </a:solidFill>
                  </a:tcPr>
                </a:tc>
                <a:tc>
                  <a:txBody>
                    <a:bodyPr/>
                    <a:lstStyle/>
                    <a:p>
                      <a:pPr algn="ctr"/>
                      <a:r>
                        <a:rPr sz="750" b="1" i="0">
                          <a:solidFill>
                            <a:srgbClr val="C00000"/>
                          </a:solidFill>
                          <a:latin typeface="Arial"/>
                        </a:rPr>
                        <a:t>0</a:t>
                      </a:r>
                    </a:p>
                  </a:txBody>
                  <a:tcPr>
                    <a:solidFill>
                      <a:srgbClr val="F2F2F2"/>
                    </a:solidFill>
                  </a:tcPr>
                </a:tc>
                <a:tc>
                  <a:txBody>
                    <a:bodyPr/>
                    <a:lstStyle/>
                    <a:p>
                      <a:pPr algn="ctr"/>
                      <a:r>
                        <a:rPr sz="750" b="0" i="0">
                          <a:solidFill>
                            <a:srgbClr val="262626"/>
                          </a:solidFill>
                          <a:latin typeface="Arial"/>
                        </a:rPr>
                        <a:t>460</a:t>
                      </a:r>
                    </a:p>
                  </a:txBody>
                  <a:tcPr>
                    <a:solidFill>
                      <a:srgbClr val="F2F2F2"/>
                    </a:solidFill>
                  </a:tcPr>
                </a:tc>
                <a:tc>
                  <a:txBody>
                    <a:bodyPr/>
                    <a:lstStyle/>
                    <a:p>
                      <a:pPr algn="ctr"/>
                      <a:r>
                        <a:rPr sz="750" b="1" i="0">
                          <a:solidFill>
                            <a:srgbClr val="1B7F3A"/>
                          </a:solidFill>
                          <a:latin typeface="Arial"/>
                        </a:rPr>
                        <a:t>5,526</a:t>
                      </a:r>
                    </a:p>
                  </a:txBody>
                  <a:tcPr>
                    <a:solidFill>
                      <a:srgbClr val="F2F2F2"/>
                    </a:solidFill>
                  </a:tcPr>
                </a:tc>
                <a:extLst>
                  <a:ext uri="{0D108BD9-81ED-4DB2-BD59-A6C34878D82A}">
                    <a16:rowId xmlns:a16="http://schemas.microsoft.com/office/drawing/2014/main" val="10008"/>
                  </a:ext>
                </a:extLst>
              </a:tr>
              <a:tr h="201168">
                <a:tc>
                  <a:txBody>
                    <a:bodyPr/>
                    <a:lstStyle/>
                    <a:p>
                      <a:pPr algn="ctr"/>
                      <a:r>
                        <a:rPr sz="750" b="1" i="0">
                          <a:solidFill>
                            <a:srgbClr val="262626"/>
                          </a:solidFill>
                          <a:latin typeface="Arial"/>
                        </a:rPr>
                        <a:t>91</a:t>
                      </a:r>
                    </a:p>
                  </a:txBody>
                  <a:tcPr>
                    <a:solidFill>
                      <a:srgbClr val="FFFFFF"/>
                    </a:solidFill>
                  </a:tcPr>
                </a:tc>
                <a:tc>
                  <a:txBody>
                    <a:bodyPr/>
                    <a:lstStyle/>
                    <a:p>
                      <a:pPr algn="l"/>
                      <a:r>
                        <a:rPr sz="750" b="0" i="0">
                          <a:solidFill>
                            <a:srgbClr val="262626"/>
                          </a:solidFill>
                          <a:latin typeface="Arial"/>
                        </a:rPr>
                        <a:t>Rachel Werking</a:t>
                      </a:r>
                    </a:p>
                  </a:txBody>
                  <a:tcPr>
                    <a:solidFill>
                      <a:srgbClr val="FFFFFF"/>
                    </a:solidFill>
                  </a:tcPr>
                </a:tc>
                <a:tc>
                  <a:txBody>
                    <a:bodyPr/>
                    <a:lstStyle/>
                    <a:p>
                      <a:pPr algn="ctr"/>
                      <a:r>
                        <a:rPr sz="750" b="1" i="0">
                          <a:solidFill>
                            <a:srgbClr val="262626"/>
                          </a:solidFill>
                          <a:latin typeface="Arial"/>
                        </a:rPr>
                        <a:t>181</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181</a:t>
                      </a:r>
                    </a:p>
                  </a:txBody>
                  <a:tcPr>
                    <a:solidFill>
                      <a:srgbClr val="FFFFFF"/>
                    </a:solidFill>
                  </a:tcPr>
                </a:tc>
                <a:tc>
                  <a:txBody>
                    <a:bodyPr/>
                    <a:lstStyle/>
                    <a:p>
                      <a:pPr algn="ctr"/>
                      <a:r>
                        <a:rPr sz="750" b="1" i="0">
                          <a:solidFill>
                            <a:srgbClr val="262626"/>
                          </a:solidFill>
                          <a:latin typeface="Arial"/>
                        </a:rPr>
                        <a:t>2,178</a:t>
                      </a:r>
                    </a:p>
                  </a:txBody>
                  <a:tcPr>
                    <a:solidFill>
                      <a:srgbClr val="FFFFFF"/>
                    </a:solidFill>
                  </a:tcPr>
                </a:tc>
                <a:extLst>
                  <a:ext uri="{0D108BD9-81ED-4DB2-BD59-A6C34878D82A}">
                    <a16:rowId xmlns:a16="http://schemas.microsoft.com/office/drawing/2014/main" val="10009"/>
                  </a:ext>
                </a:extLst>
              </a:tr>
              <a:tr h="201168">
                <a:tc>
                  <a:txBody>
                    <a:bodyPr/>
                    <a:lstStyle/>
                    <a:p>
                      <a:pPr algn="ctr"/>
                      <a:r>
                        <a:rPr sz="750" b="1" i="0">
                          <a:solidFill>
                            <a:srgbClr val="262626"/>
                          </a:solidFill>
                          <a:latin typeface="Arial"/>
                        </a:rPr>
                        <a:t>93</a:t>
                      </a:r>
                    </a:p>
                  </a:txBody>
                  <a:tcPr>
                    <a:solidFill>
                      <a:srgbClr val="F2F2F2"/>
                    </a:solidFill>
                  </a:tcPr>
                </a:tc>
                <a:tc>
                  <a:txBody>
                    <a:bodyPr/>
                    <a:lstStyle/>
                    <a:p>
                      <a:pPr algn="l"/>
                      <a:r>
                        <a:rPr sz="750" b="0" i="0">
                          <a:solidFill>
                            <a:srgbClr val="262626"/>
                          </a:solidFill>
                          <a:latin typeface="Arial"/>
                        </a:rPr>
                        <a:t>Erika Ackerlund</a:t>
                      </a:r>
                    </a:p>
                  </a:txBody>
                  <a:tcPr>
                    <a:solidFill>
                      <a:srgbClr val="F2F2F2"/>
                    </a:solidFill>
                  </a:tcPr>
                </a:tc>
                <a:tc>
                  <a:txBody>
                    <a:bodyPr/>
                    <a:lstStyle/>
                    <a:p>
                      <a:pPr algn="ctr"/>
                      <a:r>
                        <a:rPr sz="750" b="1" i="0">
                          <a:solidFill>
                            <a:srgbClr val="262626"/>
                          </a:solidFill>
                          <a:latin typeface="Arial"/>
                        </a:rPr>
                        <a:t>179</a:t>
                      </a:r>
                    </a:p>
                  </a:txBody>
                  <a:tcPr>
                    <a:solidFill>
                      <a:srgbClr val="F2F2F2"/>
                    </a:solidFill>
                  </a:tcPr>
                </a:tc>
                <a:tc>
                  <a:txBody>
                    <a:bodyPr/>
                    <a:lstStyle/>
                    <a:p>
                      <a:pPr algn="ctr"/>
                      <a:r>
                        <a:rPr sz="750" b="0" i="0">
                          <a:solidFill>
                            <a:srgbClr val="262626"/>
                          </a:solidFill>
                          <a:latin typeface="Arial"/>
                        </a:rPr>
                        <a:t>1</a:t>
                      </a:r>
                    </a:p>
                  </a:txBody>
                  <a:tcPr>
                    <a:solidFill>
                      <a:srgbClr val="F2F2F2"/>
                    </a:solidFill>
                  </a:tcPr>
                </a:tc>
                <a:tc>
                  <a:txBody>
                    <a:bodyPr/>
                    <a:lstStyle/>
                    <a:p>
                      <a:pPr algn="ctr"/>
                      <a:r>
                        <a:rPr sz="750" b="1" i="0">
                          <a:solidFill>
                            <a:srgbClr val="1B7F3A"/>
                          </a:solidFill>
                          <a:latin typeface="Arial"/>
                        </a:rPr>
                        <a:t>0</a:t>
                      </a:r>
                    </a:p>
                  </a:txBody>
                  <a:tcPr>
                    <a:solidFill>
                      <a:srgbClr val="F2F2F2"/>
                    </a:solidFill>
                  </a:tcPr>
                </a:tc>
                <a:tc>
                  <a:txBody>
                    <a:bodyPr/>
                    <a:lstStyle/>
                    <a:p>
                      <a:pPr algn="ctr"/>
                      <a:r>
                        <a:rPr sz="750" b="1" i="0">
                          <a:solidFill>
                            <a:srgbClr val="C00000"/>
                          </a:solidFill>
                          <a:latin typeface="Arial"/>
                        </a:rPr>
                        <a:t>1</a:t>
                      </a:r>
                    </a:p>
                  </a:txBody>
                  <a:tcPr>
                    <a:solidFill>
                      <a:srgbClr val="F2F2F2"/>
                    </a:solidFill>
                  </a:tcPr>
                </a:tc>
                <a:tc>
                  <a:txBody>
                    <a:bodyPr/>
                    <a:lstStyle/>
                    <a:p>
                      <a:pPr algn="ctr"/>
                      <a:r>
                        <a:rPr sz="750" b="0" i="0">
                          <a:solidFill>
                            <a:srgbClr val="262626"/>
                          </a:solidFill>
                          <a:latin typeface="Arial"/>
                        </a:rPr>
                        <a:t>179</a:t>
                      </a:r>
                    </a:p>
                  </a:txBody>
                  <a:tcPr>
                    <a:solidFill>
                      <a:srgbClr val="F2F2F2"/>
                    </a:solidFill>
                  </a:tcPr>
                </a:tc>
                <a:tc>
                  <a:txBody>
                    <a:bodyPr/>
                    <a:lstStyle/>
                    <a:p>
                      <a:pPr algn="ctr"/>
                      <a:r>
                        <a:rPr sz="750" b="1" i="0">
                          <a:solidFill>
                            <a:srgbClr val="262626"/>
                          </a:solidFill>
                          <a:latin typeface="Arial"/>
                        </a:rPr>
                        <a:t>2,159</a:t>
                      </a:r>
                    </a:p>
                  </a:txBody>
                  <a:tcPr>
                    <a:solidFill>
                      <a:srgbClr val="F2F2F2"/>
                    </a:solidFill>
                  </a:tcPr>
                </a:tc>
                <a:extLst>
                  <a:ext uri="{0D108BD9-81ED-4DB2-BD59-A6C34878D82A}">
                    <a16:rowId xmlns:a16="http://schemas.microsoft.com/office/drawing/2014/main" val="10010"/>
                  </a:ext>
                </a:extLst>
              </a:tr>
              <a:tr h="201168">
                <a:tc>
                  <a:txBody>
                    <a:bodyPr/>
                    <a:lstStyle/>
                    <a:p>
                      <a:pPr algn="ctr"/>
                      <a:r>
                        <a:rPr sz="750" b="1" i="0">
                          <a:solidFill>
                            <a:srgbClr val="262626"/>
                          </a:solidFill>
                          <a:latin typeface="Arial"/>
                        </a:rPr>
                        <a:t>96</a:t>
                      </a:r>
                    </a:p>
                  </a:txBody>
                  <a:tcPr>
                    <a:solidFill>
                      <a:srgbClr val="FFFFFF"/>
                    </a:solidFill>
                  </a:tcPr>
                </a:tc>
                <a:tc>
                  <a:txBody>
                    <a:bodyPr/>
                    <a:lstStyle/>
                    <a:p>
                      <a:pPr algn="l"/>
                      <a:r>
                        <a:rPr sz="750" b="0" i="0">
                          <a:solidFill>
                            <a:srgbClr val="262626"/>
                          </a:solidFill>
                          <a:latin typeface="Arial"/>
                        </a:rPr>
                        <a:t>Joy Gill</a:t>
                      </a:r>
                    </a:p>
                  </a:txBody>
                  <a:tcPr>
                    <a:solidFill>
                      <a:srgbClr val="FFFFFF"/>
                    </a:solidFill>
                  </a:tcPr>
                </a:tc>
                <a:tc>
                  <a:txBody>
                    <a:bodyPr/>
                    <a:lstStyle/>
                    <a:p>
                      <a:pPr algn="ctr"/>
                      <a:r>
                        <a:rPr sz="750" b="1" i="0">
                          <a:solidFill>
                            <a:srgbClr val="262626"/>
                          </a:solidFill>
                          <a:latin typeface="Arial"/>
                        </a:rPr>
                        <a:t>167</a:t>
                      </a:r>
                    </a:p>
                  </a:txBody>
                  <a:tcPr>
                    <a:solidFill>
                      <a:srgbClr val="FFFFFF"/>
                    </a:solidFill>
                  </a:tcPr>
                </a:tc>
                <a:tc>
                  <a:txBody>
                    <a:bodyPr/>
                    <a:lstStyle/>
                    <a:p>
                      <a:pPr algn="ctr"/>
                      <a:r>
                        <a:rPr sz="750" b="0" i="0">
                          <a:solidFill>
                            <a:srgbClr val="262626"/>
                          </a:solidFill>
                          <a:latin typeface="Arial"/>
                        </a:rPr>
                        <a:t>1</a:t>
                      </a:r>
                    </a:p>
                  </a:txBody>
                  <a:tcPr>
                    <a:solidFill>
                      <a:srgbClr val="FFFFFF"/>
                    </a:solidFill>
                  </a:tcPr>
                </a:tc>
                <a:tc>
                  <a:txBody>
                    <a:bodyPr/>
                    <a:lstStyle/>
                    <a:p>
                      <a:pPr algn="ctr"/>
                      <a:r>
                        <a:rPr sz="750" b="1" i="0">
                          <a:solidFill>
                            <a:srgbClr val="1B7F3A"/>
                          </a:solidFill>
                          <a:latin typeface="Arial"/>
                        </a:rPr>
                        <a:t>0</a:t>
                      </a:r>
                    </a:p>
                  </a:txBody>
                  <a:tcPr>
                    <a:solidFill>
                      <a:srgbClr val="FFFFFF"/>
                    </a:solidFill>
                  </a:tcPr>
                </a:tc>
                <a:tc>
                  <a:txBody>
                    <a:bodyPr/>
                    <a:lstStyle/>
                    <a:p>
                      <a:pPr algn="ctr"/>
                      <a:r>
                        <a:rPr sz="750" b="1" i="0">
                          <a:solidFill>
                            <a:srgbClr val="C00000"/>
                          </a:solidFill>
                          <a:latin typeface="Arial"/>
                        </a:rPr>
                        <a:t>1</a:t>
                      </a:r>
                    </a:p>
                  </a:txBody>
                  <a:tcPr>
                    <a:solidFill>
                      <a:srgbClr val="FFFFFF"/>
                    </a:solidFill>
                  </a:tcPr>
                </a:tc>
                <a:tc>
                  <a:txBody>
                    <a:bodyPr/>
                    <a:lstStyle/>
                    <a:p>
                      <a:pPr algn="ctr"/>
                      <a:r>
                        <a:rPr sz="750" b="0" i="0">
                          <a:solidFill>
                            <a:srgbClr val="262626"/>
                          </a:solidFill>
                          <a:latin typeface="Arial"/>
                        </a:rPr>
                        <a:t>167</a:t>
                      </a:r>
                    </a:p>
                  </a:txBody>
                  <a:tcPr>
                    <a:solidFill>
                      <a:srgbClr val="FFFFFF"/>
                    </a:solidFill>
                  </a:tcPr>
                </a:tc>
                <a:tc>
                  <a:txBody>
                    <a:bodyPr/>
                    <a:lstStyle/>
                    <a:p>
                      <a:pPr algn="ctr"/>
                      <a:r>
                        <a:rPr sz="750" b="1" i="0">
                          <a:solidFill>
                            <a:srgbClr val="262626"/>
                          </a:solidFill>
                          <a:latin typeface="Arial"/>
                        </a:rPr>
                        <a:t>2,014</a:t>
                      </a:r>
                    </a:p>
                  </a:txBody>
                  <a:tcPr>
                    <a:solidFill>
                      <a:srgbClr val="FFFFFF"/>
                    </a:solidFill>
                  </a:tcPr>
                </a:tc>
                <a:extLst>
                  <a:ext uri="{0D108BD9-81ED-4DB2-BD59-A6C34878D82A}">
                    <a16:rowId xmlns:a16="http://schemas.microsoft.com/office/drawing/2014/main" val="10011"/>
                  </a:ext>
                </a:extLst>
              </a:tr>
            </a:tbl>
          </a:graphicData>
        </a:graphic>
      </p:graphicFrame>
      <p:sp>
        <p:nvSpPr>
          <p:cNvPr id="20" name="TextBox 19"/>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On = events scoring ≥ pace.  Off = events &lt; pace.  Pace = total breakdown pts ÷ events raced.  Proj @12 = current total + (avg pts × remaining events to cap); green if ≥ Paris cutoff.  Cutoff estimate: Paris 2024 = 3,627 pts / 12 events = 302 pts/event.  Tier positions use a geometric 0.925 points model.  Source: World Triathlon rankings database.</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USA Olympic Qualification Snapshot</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11640312" cy="384048"/>
          </a:xfrm>
          <a:prstGeom prst="rect">
            <a:avLst/>
          </a:prstGeom>
          <a:solidFill>
            <a:srgbClr val="F2F2F2"/>
          </a:solidFill>
          <a:ln w="12700">
            <a:solidFill>
              <a:srgbClr val="BFBFB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65760" y="1170432"/>
            <a:ext cx="11430000" cy="256032"/>
          </a:xfrm>
          <a:prstGeom prst="rect">
            <a:avLst/>
          </a:prstGeom>
          <a:noFill/>
        </p:spPr>
        <p:txBody>
          <a:bodyPr wrap="square">
            <a:spAutoFit/>
          </a:bodyPr>
          <a:lstStyle/>
          <a:p>
            <a:pPr algn="ctr"/>
            <a:r>
              <a:rPr sz="1200" b="1" i="0">
                <a:solidFill>
                  <a:srgbClr val="002060"/>
                </a:solidFill>
                <a:latin typeface="Arial"/>
              </a:rPr>
              <a:t>As of 2026-07-11   •   Olympic Qualification Rankings (LA 2028 cycle)   •   Heading into Edmonton</a:t>
            </a:r>
          </a:p>
        </p:txBody>
      </p:sp>
      <p:sp>
        <p:nvSpPr>
          <p:cNvPr id="10" name="Rectangle 9"/>
          <p:cNvSpPr/>
          <p:nvPr/>
        </p:nvSpPr>
        <p:spPr>
          <a:xfrm>
            <a:off x="27432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TextBox 10"/>
          <p:cNvSpPr txBox="1"/>
          <p:nvPr/>
        </p:nvSpPr>
        <p:spPr>
          <a:xfrm>
            <a:off x="274320" y="1719072"/>
            <a:ext cx="5788152" cy="237744"/>
          </a:xfrm>
          <a:prstGeom prst="rect">
            <a:avLst/>
          </a:prstGeom>
          <a:noFill/>
        </p:spPr>
        <p:txBody>
          <a:bodyPr wrap="square">
            <a:spAutoFit/>
          </a:bodyPr>
          <a:lstStyle/>
          <a:p>
            <a:pPr algn="ctr"/>
            <a:r>
              <a:rPr sz="1100" b="1" i="0">
                <a:solidFill>
                  <a:srgbClr val="FFFFFF"/>
                </a:solidFill>
                <a:latin typeface="Arial"/>
              </a:rPr>
              <a:t>ELITE MEN</a:t>
            </a:r>
          </a:p>
        </p:txBody>
      </p:sp>
      <p:graphicFrame>
        <p:nvGraphicFramePr>
          <p:cNvPr id="12" name="Table 11"/>
          <p:cNvGraphicFramePr>
            <a:graphicFrameLocks noGrp="1"/>
          </p:cNvGraphicFramePr>
          <p:nvPr/>
        </p:nvGraphicFramePr>
        <p:xfrm>
          <a:off x="274320" y="2020824"/>
          <a:ext cx="5787236" cy="2912364"/>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36599">
                  <a:extLst>
                    <a:ext uri="{9D8B030D-6E8A-4147-A177-3AD203B41FA5}">
                      <a16:colId xmlns:a16="http://schemas.microsoft.com/office/drawing/2014/main" val="20002"/>
                    </a:ext>
                  </a:extLst>
                </a:gridCol>
                <a:gridCol w="672084">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Second</a:t>
                      </a:r>
                    </a:p>
                  </a:txBody>
                  <a:tcPr>
                    <a:solidFill>
                      <a:srgbClr val="002060"/>
                    </a:solidFill>
                  </a:tcPr>
                </a:tc>
                <a:tc>
                  <a:txBody>
                    <a:bodyPr/>
                    <a:lstStyle/>
                    <a:p>
                      <a:pPr algn="ctr"/>
                      <a:r>
                        <a:rPr sz="900" b="1" i="0">
                          <a:solidFill>
                            <a:srgbClr val="FFFFFF"/>
                          </a:solidFill>
                          <a:latin typeface="Arial"/>
                        </a:rPr>
                        <a:t>First</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18</a:t>
                      </a:r>
                    </a:p>
                  </a:txBody>
                  <a:tcPr>
                    <a:solidFill>
                      <a:srgbClr val="FFFFFF"/>
                    </a:solidFill>
                  </a:tcPr>
                </a:tc>
                <a:tc>
                  <a:txBody>
                    <a:bodyPr/>
                    <a:lstStyle/>
                    <a:p>
                      <a:pPr algn="l"/>
                      <a:r>
                        <a:rPr sz="850" b="0" i="0">
                          <a:solidFill>
                            <a:srgbClr val="262626"/>
                          </a:solidFill>
                          <a:latin typeface="Arial"/>
                        </a:rPr>
                        <a:t>Reese Vannerson</a:t>
                      </a:r>
                    </a:p>
                  </a:txBody>
                  <a:tcPr>
                    <a:solidFill>
                      <a:srgbClr val="FFFFFF"/>
                    </a:solidFill>
                  </a:tcPr>
                </a:tc>
                <a:tc>
                  <a:txBody>
                    <a:bodyPr/>
                    <a:lstStyle/>
                    <a:p>
                      <a:pPr algn="ctr"/>
                      <a:r>
                        <a:rPr sz="850" b="0" i="0">
                          <a:solidFill>
                            <a:srgbClr val="262626"/>
                          </a:solidFill>
                          <a:latin typeface="Arial"/>
                        </a:rPr>
                        <a:t>980</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22</a:t>
                      </a:r>
                    </a:p>
                  </a:txBody>
                  <a:tcPr>
                    <a:solidFill>
                      <a:srgbClr val="F2F2F2"/>
                    </a:solidFill>
                  </a:tcPr>
                </a:tc>
                <a:tc>
                  <a:txBody>
                    <a:bodyPr/>
                    <a:lstStyle/>
                    <a:p>
                      <a:pPr algn="l"/>
                      <a:r>
                        <a:rPr sz="850" b="0" i="0">
                          <a:solidFill>
                            <a:srgbClr val="262626"/>
                          </a:solidFill>
                          <a:latin typeface="Arial"/>
                        </a:rPr>
                        <a:t>Seth Rider</a:t>
                      </a:r>
                    </a:p>
                  </a:txBody>
                  <a:tcPr>
                    <a:solidFill>
                      <a:srgbClr val="F2F2F2"/>
                    </a:solidFill>
                  </a:tcPr>
                </a:tc>
                <a:tc>
                  <a:txBody>
                    <a:bodyPr/>
                    <a:lstStyle/>
                    <a:p>
                      <a:pPr algn="ctr"/>
                      <a:r>
                        <a:rPr sz="850" b="0" i="0">
                          <a:solidFill>
                            <a:srgbClr val="262626"/>
                          </a:solidFill>
                          <a:latin typeface="Arial"/>
                        </a:rPr>
                        <a:t>845</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3</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27</a:t>
                      </a:r>
                    </a:p>
                  </a:txBody>
                  <a:tcPr>
                    <a:solidFill>
                      <a:srgbClr val="FFFFFF"/>
                    </a:solidFill>
                  </a:tcPr>
                </a:tc>
                <a:tc>
                  <a:txBody>
                    <a:bodyPr/>
                    <a:lstStyle/>
                    <a:p>
                      <a:pPr algn="l"/>
                      <a:r>
                        <a:rPr sz="850" b="0" i="0">
                          <a:solidFill>
                            <a:srgbClr val="262626"/>
                          </a:solidFill>
                          <a:latin typeface="Arial"/>
                        </a:rPr>
                        <a:t>Chase McQueen</a:t>
                      </a:r>
                    </a:p>
                  </a:txBody>
                  <a:tcPr>
                    <a:solidFill>
                      <a:srgbClr val="FFFFFF"/>
                    </a:solidFill>
                  </a:tcPr>
                </a:tc>
                <a:tc>
                  <a:txBody>
                    <a:bodyPr/>
                    <a:lstStyle/>
                    <a:p>
                      <a:pPr algn="ctr"/>
                      <a:r>
                        <a:rPr sz="850" b="0" i="0">
                          <a:solidFill>
                            <a:srgbClr val="262626"/>
                          </a:solidFill>
                          <a:latin typeface="Arial"/>
                        </a:rPr>
                        <a:t>764</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32</a:t>
                      </a:r>
                    </a:p>
                  </a:txBody>
                  <a:tcPr>
                    <a:solidFill>
                      <a:srgbClr val="F2F2F2"/>
                    </a:solidFill>
                  </a:tcPr>
                </a:tc>
                <a:tc>
                  <a:txBody>
                    <a:bodyPr/>
                    <a:lstStyle/>
                    <a:p>
                      <a:pPr algn="l"/>
                      <a:r>
                        <a:rPr sz="850" b="0" i="0">
                          <a:solidFill>
                            <a:srgbClr val="262626"/>
                          </a:solidFill>
                          <a:latin typeface="Arial"/>
                        </a:rPr>
                        <a:t>Sullivan Middaugh</a:t>
                      </a:r>
                    </a:p>
                  </a:txBody>
                  <a:tcPr>
                    <a:solidFill>
                      <a:srgbClr val="F2F2F2"/>
                    </a:solidFill>
                  </a:tcPr>
                </a:tc>
                <a:tc>
                  <a:txBody>
                    <a:bodyPr/>
                    <a:lstStyle/>
                    <a:p>
                      <a:pPr algn="ctr"/>
                      <a:r>
                        <a:rPr sz="850" b="0" i="0">
                          <a:solidFill>
                            <a:srgbClr val="262626"/>
                          </a:solidFill>
                          <a:latin typeface="Arial"/>
                        </a:rPr>
                        <a:t>677</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38</a:t>
                      </a:r>
                    </a:p>
                  </a:txBody>
                  <a:tcPr>
                    <a:solidFill>
                      <a:srgbClr val="FFFFFF"/>
                    </a:solidFill>
                  </a:tcPr>
                </a:tc>
                <a:tc>
                  <a:txBody>
                    <a:bodyPr/>
                    <a:lstStyle/>
                    <a:p>
                      <a:pPr algn="l"/>
                      <a:r>
                        <a:rPr sz="850" b="0" i="0">
                          <a:solidFill>
                            <a:srgbClr val="262626"/>
                          </a:solidFill>
                          <a:latin typeface="Arial"/>
                        </a:rPr>
                        <a:t>John Reed</a:t>
                      </a:r>
                    </a:p>
                  </a:txBody>
                  <a:tcPr>
                    <a:solidFill>
                      <a:srgbClr val="FFFFFF"/>
                    </a:solidFill>
                  </a:tcPr>
                </a:tc>
                <a:tc>
                  <a:txBody>
                    <a:bodyPr/>
                    <a:lstStyle/>
                    <a:p>
                      <a:pPr algn="ctr"/>
                      <a:r>
                        <a:rPr sz="850" b="0" i="0">
                          <a:solidFill>
                            <a:srgbClr val="262626"/>
                          </a:solidFill>
                          <a:latin typeface="Arial"/>
                        </a:rPr>
                        <a:t>599</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43</a:t>
                      </a:r>
                    </a:p>
                  </a:txBody>
                  <a:tcPr>
                    <a:solidFill>
                      <a:srgbClr val="F2F2F2"/>
                    </a:solidFill>
                  </a:tcPr>
                </a:tc>
                <a:tc>
                  <a:txBody>
                    <a:bodyPr/>
                    <a:lstStyle/>
                    <a:p>
                      <a:pPr algn="l"/>
                      <a:r>
                        <a:rPr sz="850" b="0" i="0">
                          <a:solidFill>
                            <a:srgbClr val="262626"/>
                          </a:solidFill>
                          <a:latin typeface="Arial"/>
                        </a:rPr>
                        <a:t>Braxton Legg</a:t>
                      </a:r>
                    </a:p>
                  </a:txBody>
                  <a:tcPr>
                    <a:solidFill>
                      <a:srgbClr val="F2F2F2"/>
                    </a:solidFill>
                  </a:tcPr>
                </a:tc>
                <a:tc>
                  <a:txBody>
                    <a:bodyPr/>
                    <a:lstStyle/>
                    <a:p>
                      <a:pPr algn="ctr"/>
                      <a:r>
                        <a:rPr sz="850" b="0" i="0">
                          <a:solidFill>
                            <a:srgbClr val="262626"/>
                          </a:solidFill>
                          <a:latin typeface="Arial"/>
                        </a:rPr>
                        <a:t>564</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46</a:t>
                      </a:r>
                    </a:p>
                  </a:txBody>
                  <a:tcPr>
                    <a:solidFill>
                      <a:srgbClr val="FFFFFF"/>
                    </a:solidFill>
                  </a:tcPr>
                </a:tc>
                <a:tc>
                  <a:txBody>
                    <a:bodyPr/>
                    <a:lstStyle/>
                    <a:p>
                      <a:pPr algn="l"/>
                      <a:r>
                        <a:rPr sz="850" b="0" i="0">
                          <a:solidFill>
                            <a:srgbClr val="262626"/>
                          </a:solidFill>
                          <a:latin typeface="Arial"/>
                        </a:rPr>
                        <a:t>Keller Norland</a:t>
                      </a:r>
                    </a:p>
                  </a:txBody>
                  <a:tcPr>
                    <a:solidFill>
                      <a:srgbClr val="FFFFFF"/>
                    </a:solidFill>
                  </a:tcPr>
                </a:tc>
                <a:tc>
                  <a:txBody>
                    <a:bodyPr/>
                    <a:lstStyle/>
                    <a:p>
                      <a:pPr algn="ctr"/>
                      <a:r>
                        <a:rPr sz="850" b="0" i="0">
                          <a:solidFill>
                            <a:srgbClr val="262626"/>
                          </a:solidFill>
                          <a:latin typeface="Arial"/>
                        </a:rPr>
                        <a:t>519</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50</a:t>
                      </a:r>
                    </a:p>
                  </a:txBody>
                  <a:tcPr>
                    <a:solidFill>
                      <a:srgbClr val="F2F2F2"/>
                    </a:solidFill>
                  </a:tcPr>
                </a:tc>
                <a:tc>
                  <a:txBody>
                    <a:bodyPr/>
                    <a:lstStyle/>
                    <a:p>
                      <a:pPr algn="l"/>
                      <a:r>
                        <a:rPr sz="850" b="0" i="0">
                          <a:solidFill>
                            <a:srgbClr val="262626"/>
                          </a:solidFill>
                          <a:latin typeface="Arial"/>
                        </a:rPr>
                        <a:t>Blake Bullard</a:t>
                      </a:r>
                    </a:p>
                  </a:txBody>
                  <a:tcPr>
                    <a:solidFill>
                      <a:srgbClr val="F2F2F2"/>
                    </a:solidFill>
                  </a:tcPr>
                </a:tc>
                <a:tc>
                  <a:txBody>
                    <a:bodyPr/>
                    <a:lstStyle/>
                    <a:p>
                      <a:pPr algn="ctr"/>
                      <a:r>
                        <a:rPr sz="850" b="0" i="0">
                          <a:solidFill>
                            <a:srgbClr val="262626"/>
                          </a:solidFill>
                          <a:latin typeface="Arial"/>
                        </a:rPr>
                        <a:t>436</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82</a:t>
                      </a:r>
                    </a:p>
                  </a:txBody>
                  <a:tcPr>
                    <a:solidFill>
                      <a:srgbClr val="FFFFFF"/>
                    </a:solidFill>
                  </a:tcPr>
                </a:tc>
                <a:tc>
                  <a:txBody>
                    <a:bodyPr/>
                    <a:lstStyle/>
                    <a:p>
                      <a:pPr algn="l"/>
                      <a:r>
                        <a:rPr sz="850" b="0" i="0">
                          <a:solidFill>
                            <a:srgbClr val="262626"/>
                          </a:solidFill>
                          <a:latin typeface="Arial"/>
                        </a:rPr>
                        <a:t>Zach Leachman</a:t>
                      </a:r>
                    </a:p>
                  </a:txBody>
                  <a:tcPr>
                    <a:solidFill>
                      <a:srgbClr val="FFFFFF"/>
                    </a:solidFill>
                  </a:tcPr>
                </a:tc>
                <a:tc>
                  <a:txBody>
                    <a:bodyPr/>
                    <a:lstStyle/>
                    <a:p>
                      <a:pPr algn="ctr"/>
                      <a:r>
                        <a:rPr sz="850" b="0" i="0">
                          <a:solidFill>
                            <a:srgbClr val="262626"/>
                          </a:solidFill>
                          <a:latin typeface="Arial"/>
                        </a:rPr>
                        <a:t>212</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93</a:t>
                      </a:r>
                    </a:p>
                  </a:txBody>
                  <a:tcPr>
                    <a:solidFill>
                      <a:srgbClr val="F2F2F2"/>
                    </a:solidFill>
                  </a:tcPr>
                </a:tc>
                <a:tc>
                  <a:txBody>
                    <a:bodyPr/>
                    <a:lstStyle/>
                    <a:p>
                      <a:pPr algn="l"/>
                      <a:r>
                        <a:rPr sz="850" b="0" i="0">
                          <a:solidFill>
                            <a:srgbClr val="262626"/>
                          </a:solidFill>
                          <a:latin typeface="Arial"/>
                        </a:rPr>
                        <a:t>Cole Jamieson </a:t>
                      </a:r>
                    </a:p>
                  </a:txBody>
                  <a:tcPr>
                    <a:solidFill>
                      <a:srgbClr val="F2F2F2"/>
                    </a:solidFill>
                  </a:tcPr>
                </a:tc>
                <a:tc>
                  <a:txBody>
                    <a:bodyPr/>
                    <a:lstStyle/>
                    <a:p>
                      <a:pPr algn="ctr"/>
                      <a:r>
                        <a:rPr sz="850" b="0" i="0">
                          <a:solidFill>
                            <a:srgbClr val="262626"/>
                          </a:solidFill>
                          <a:latin typeface="Arial"/>
                        </a:rPr>
                        <a:t>169</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110</a:t>
                      </a:r>
                    </a:p>
                  </a:txBody>
                  <a:tcPr>
                    <a:solidFill>
                      <a:srgbClr val="FFFFFF"/>
                    </a:solidFill>
                  </a:tcPr>
                </a:tc>
                <a:tc>
                  <a:txBody>
                    <a:bodyPr/>
                    <a:lstStyle/>
                    <a:p>
                      <a:pPr algn="l"/>
                      <a:r>
                        <a:rPr sz="850" b="0" i="0">
                          <a:solidFill>
                            <a:srgbClr val="262626"/>
                          </a:solidFill>
                          <a:latin typeface="Arial"/>
                        </a:rPr>
                        <a:t>Porter Middaugh</a:t>
                      </a:r>
                    </a:p>
                  </a:txBody>
                  <a:tcPr>
                    <a:solidFill>
                      <a:srgbClr val="FFFFFF"/>
                    </a:solidFill>
                  </a:tcPr>
                </a:tc>
                <a:tc>
                  <a:txBody>
                    <a:bodyPr/>
                    <a:lstStyle/>
                    <a:p>
                      <a:pPr algn="ctr"/>
                      <a:r>
                        <a:rPr sz="850" b="0" i="0">
                          <a:solidFill>
                            <a:srgbClr val="262626"/>
                          </a:solidFill>
                          <a:latin typeface="Arial"/>
                        </a:rPr>
                        <a:t>115</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113</a:t>
                      </a:r>
                    </a:p>
                  </a:txBody>
                  <a:tcPr>
                    <a:solidFill>
                      <a:srgbClr val="F2F2F2"/>
                    </a:solidFill>
                  </a:tcPr>
                </a:tc>
                <a:tc>
                  <a:txBody>
                    <a:bodyPr/>
                    <a:lstStyle/>
                    <a:p>
                      <a:pPr algn="l"/>
                      <a:r>
                        <a:rPr sz="850" b="0" i="0">
                          <a:solidFill>
                            <a:srgbClr val="262626"/>
                          </a:solidFill>
                          <a:latin typeface="Arial"/>
                        </a:rPr>
                        <a:t>Morgan Pearson</a:t>
                      </a:r>
                    </a:p>
                  </a:txBody>
                  <a:tcPr>
                    <a:solidFill>
                      <a:srgbClr val="F2F2F2"/>
                    </a:solidFill>
                  </a:tcPr>
                </a:tc>
                <a:tc>
                  <a:txBody>
                    <a:bodyPr/>
                    <a:lstStyle/>
                    <a:p>
                      <a:pPr algn="ctr"/>
                      <a:r>
                        <a:rPr sz="850" b="0" i="0">
                          <a:solidFill>
                            <a:srgbClr val="262626"/>
                          </a:solidFill>
                          <a:latin typeface="Arial"/>
                        </a:rPr>
                        <a:t>112</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12"/>
                  </a:ext>
                </a:extLst>
              </a:tr>
            </a:tbl>
          </a:graphicData>
        </a:graphic>
      </p:graphicFrame>
      <p:sp>
        <p:nvSpPr>
          <p:cNvPr id="13" name="Rectangle 12"/>
          <p:cNvSpPr/>
          <p:nvPr/>
        </p:nvSpPr>
        <p:spPr>
          <a:xfrm>
            <a:off x="6126480" y="1691640"/>
            <a:ext cx="5788152" cy="29260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126480" y="1719072"/>
            <a:ext cx="5788152" cy="237744"/>
          </a:xfrm>
          <a:prstGeom prst="rect">
            <a:avLst/>
          </a:prstGeom>
          <a:noFill/>
        </p:spPr>
        <p:txBody>
          <a:bodyPr wrap="square">
            <a:spAutoFit/>
          </a:bodyPr>
          <a:lstStyle/>
          <a:p>
            <a:pPr algn="ctr"/>
            <a:r>
              <a:rPr sz="1100" b="1" i="0">
                <a:solidFill>
                  <a:srgbClr val="FFFFFF"/>
                </a:solidFill>
                <a:latin typeface="Arial"/>
              </a:rPr>
              <a:t>ELITE WOMEN</a:t>
            </a:r>
          </a:p>
        </p:txBody>
      </p:sp>
      <p:graphicFrame>
        <p:nvGraphicFramePr>
          <p:cNvPr id="15" name="Table 14"/>
          <p:cNvGraphicFramePr>
            <a:graphicFrameLocks noGrp="1"/>
          </p:cNvGraphicFramePr>
          <p:nvPr/>
        </p:nvGraphicFramePr>
        <p:xfrm>
          <a:off x="6126480" y="2020824"/>
          <a:ext cx="5787236" cy="2912364"/>
        </p:xfrm>
        <a:graphic>
          <a:graphicData uri="http://schemas.openxmlformats.org/drawingml/2006/table">
            <a:tbl>
              <a:tblPr firstRow="1" bandRow="1">
                <a:tableStyleId>{5C22544A-7EE6-4342-B048-85BDC9FD1C3A}</a:tableStyleId>
              </a:tblPr>
              <a:tblGrid>
                <a:gridCol w="783640">
                  <a:extLst>
                    <a:ext uri="{9D8B030D-6E8A-4147-A177-3AD203B41FA5}">
                      <a16:colId xmlns:a16="http://schemas.microsoft.com/office/drawing/2014/main" val="20000"/>
                    </a:ext>
                  </a:extLst>
                </a:gridCol>
                <a:gridCol w="2531973">
                  <a:extLst>
                    <a:ext uri="{9D8B030D-6E8A-4147-A177-3AD203B41FA5}">
                      <a16:colId xmlns:a16="http://schemas.microsoft.com/office/drawing/2014/main" val="20001"/>
                    </a:ext>
                  </a:extLst>
                </a:gridCol>
                <a:gridCol w="1136599">
                  <a:extLst>
                    <a:ext uri="{9D8B030D-6E8A-4147-A177-3AD203B41FA5}">
                      <a16:colId xmlns:a16="http://schemas.microsoft.com/office/drawing/2014/main" val="20002"/>
                    </a:ext>
                  </a:extLst>
                </a:gridCol>
                <a:gridCol w="672084">
                  <a:extLst>
                    <a:ext uri="{9D8B030D-6E8A-4147-A177-3AD203B41FA5}">
                      <a16:colId xmlns:a16="http://schemas.microsoft.com/office/drawing/2014/main" val="20003"/>
                    </a:ext>
                  </a:extLst>
                </a:gridCol>
                <a:gridCol w="662940">
                  <a:extLst>
                    <a:ext uri="{9D8B030D-6E8A-4147-A177-3AD203B41FA5}">
                      <a16:colId xmlns:a16="http://schemas.microsoft.com/office/drawing/2014/main" val="20004"/>
                    </a:ext>
                  </a:extLst>
                </a:gridCol>
              </a:tblGrid>
              <a:tr h="224028">
                <a:tc>
                  <a:txBody>
                    <a:bodyPr/>
                    <a:lstStyle/>
                    <a:p>
                      <a:pPr algn="ctr"/>
                      <a:r>
                        <a:rPr sz="900" b="1" i="0">
                          <a:solidFill>
                            <a:srgbClr val="FFFFFF"/>
                          </a:solidFill>
                          <a:latin typeface="Arial"/>
                        </a:rPr>
                        <a:t>Rank</a:t>
                      </a:r>
                    </a:p>
                  </a:txBody>
                  <a:tcPr>
                    <a:solidFill>
                      <a:srgbClr val="002060"/>
                    </a:solidFill>
                  </a:tcPr>
                </a:tc>
                <a:tc>
                  <a:txBody>
                    <a:bodyPr/>
                    <a:lstStyle/>
                    <a:p>
                      <a:pPr algn="l"/>
                      <a:r>
                        <a:rPr sz="900" b="1" i="0">
                          <a:solidFill>
                            <a:srgbClr val="FFFFFF"/>
                          </a:solidFill>
                          <a:latin typeface="Arial"/>
                        </a:rPr>
                        <a:t>Athlete</a:t>
                      </a:r>
                    </a:p>
                  </a:txBody>
                  <a:tcPr>
                    <a:solidFill>
                      <a:srgbClr val="002060"/>
                    </a:solidFill>
                  </a:tcPr>
                </a:tc>
                <a:tc>
                  <a:txBody>
                    <a:bodyPr/>
                    <a:lstStyle/>
                    <a:p>
                      <a:pPr algn="ctr"/>
                      <a:r>
                        <a:rPr sz="900" b="1" i="0">
                          <a:solidFill>
                            <a:srgbClr val="FFFFFF"/>
                          </a:solidFill>
                          <a:latin typeface="Arial"/>
                        </a:rPr>
                        <a:t>Points</a:t>
                      </a:r>
                    </a:p>
                  </a:txBody>
                  <a:tcPr>
                    <a:solidFill>
                      <a:srgbClr val="002060"/>
                    </a:solidFill>
                  </a:tcPr>
                </a:tc>
                <a:tc>
                  <a:txBody>
                    <a:bodyPr/>
                    <a:lstStyle/>
                    <a:p>
                      <a:pPr algn="ctr"/>
                      <a:r>
                        <a:rPr sz="900" b="1" i="0">
                          <a:solidFill>
                            <a:srgbClr val="FFFFFF"/>
                          </a:solidFill>
                          <a:latin typeface="Arial"/>
                        </a:rPr>
                        <a:t>Second</a:t>
                      </a:r>
                    </a:p>
                  </a:txBody>
                  <a:tcPr>
                    <a:solidFill>
                      <a:srgbClr val="002060"/>
                    </a:solidFill>
                  </a:tcPr>
                </a:tc>
                <a:tc>
                  <a:txBody>
                    <a:bodyPr/>
                    <a:lstStyle/>
                    <a:p>
                      <a:pPr algn="ctr"/>
                      <a:r>
                        <a:rPr sz="900" b="1" i="0">
                          <a:solidFill>
                            <a:srgbClr val="FFFFFF"/>
                          </a:solidFill>
                          <a:latin typeface="Arial"/>
                        </a:rPr>
                        <a:t>First</a:t>
                      </a:r>
                    </a:p>
                  </a:txBody>
                  <a:tcPr>
                    <a:solidFill>
                      <a:srgbClr val="002060"/>
                    </a:solidFill>
                  </a:tcPr>
                </a:tc>
                <a:extLst>
                  <a:ext uri="{0D108BD9-81ED-4DB2-BD59-A6C34878D82A}">
                    <a16:rowId xmlns:a16="http://schemas.microsoft.com/office/drawing/2014/main" val="10000"/>
                  </a:ext>
                </a:extLst>
              </a:tr>
              <a:tr h="224028">
                <a:tc>
                  <a:txBody>
                    <a:bodyPr/>
                    <a:lstStyle/>
                    <a:p>
                      <a:pPr algn="ctr"/>
                      <a:r>
                        <a:rPr sz="850" b="1" i="0">
                          <a:solidFill>
                            <a:srgbClr val="262626"/>
                          </a:solidFill>
                          <a:latin typeface="Arial"/>
                        </a:rPr>
                        <a:t>11</a:t>
                      </a:r>
                    </a:p>
                  </a:txBody>
                  <a:tcPr>
                    <a:solidFill>
                      <a:srgbClr val="FFFFFF"/>
                    </a:solidFill>
                  </a:tcPr>
                </a:tc>
                <a:tc>
                  <a:txBody>
                    <a:bodyPr/>
                    <a:lstStyle/>
                    <a:p>
                      <a:pPr algn="l"/>
                      <a:r>
                        <a:rPr sz="850" b="0" i="0">
                          <a:solidFill>
                            <a:srgbClr val="262626"/>
                          </a:solidFill>
                          <a:latin typeface="Arial"/>
                        </a:rPr>
                        <a:t>Taylor Spivey</a:t>
                      </a:r>
                    </a:p>
                  </a:txBody>
                  <a:tcPr>
                    <a:solidFill>
                      <a:srgbClr val="FFFFFF"/>
                    </a:solidFill>
                  </a:tcPr>
                </a:tc>
                <a:tc>
                  <a:txBody>
                    <a:bodyPr/>
                    <a:lstStyle/>
                    <a:p>
                      <a:pPr algn="ctr"/>
                      <a:r>
                        <a:rPr sz="850" b="0" i="0">
                          <a:solidFill>
                            <a:srgbClr val="262626"/>
                          </a:solidFill>
                          <a:latin typeface="Arial"/>
                        </a:rPr>
                        <a:t>1,370</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extLst>
                  <a:ext uri="{0D108BD9-81ED-4DB2-BD59-A6C34878D82A}">
                    <a16:rowId xmlns:a16="http://schemas.microsoft.com/office/drawing/2014/main" val="10001"/>
                  </a:ext>
                </a:extLst>
              </a:tr>
              <a:tr h="224028">
                <a:tc>
                  <a:txBody>
                    <a:bodyPr/>
                    <a:lstStyle/>
                    <a:p>
                      <a:pPr algn="ctr"/>
                      <a:r>
                        <a:rPr sz="850" b="1" i="0">
                          <a:solidFill>
                            <a:srgbClr val="262626"/>
                          </a:solidFill>
                          <a:latin typeface="Arial"/>
                        </a:rPr>
                        <a:t>14</a:t>
                      </a:r>
                    </a:p>
                  </a:txBody>
                  <a:tcPr>
                    <a:solidFill>
                      <a:srgbClr val="F2F2F2"/>
                    </a:solidFill>
                  </a:tcPr>
                </a:tc>
                <a:tc>
                  <a:txBody>
                    <a:bodyPr/>
                    <a:lstStyle/>
                    <a:p>
                      <a:pPr algn="l"/>
                      <a:r>
                        <a:rPr sz="850" b="0" i="0">
                          <a:solidFill>
                            <a:srgbClr val="262626"/>
                          </a:solidFill>
                          <a:latin typeface="Arial"/>
                        </a:rPr>
                        <a:t>Danielle Orie</a:t>
                      </a:r>
                    </a:p>
                  </a:txBody>
                  <a:tcPr>
                    <a:solidFill>
                      <a:srgbClr val="F2F2F2"/>
                    </a:solidFill>
                  </a:tcPr>
                </a:tc>
                <a:tc>
                  <a:txBody>
                    <a:bodyPr/>
                    <a:lstStyle/>
                    <a:p>
                      <a:pPr algn="ctr"/>
                      <a:r>
                        <a:rPr sz="850" b="0" i="0">
                          <a:solidFill>
                            <a:srgbClr val="262626"/>
                          </a:solidFill>
                          <a:latin typeface="Arial"/>
                        </a:rPr>
                        <a:t>1,146</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4</a:t>
                      </a:r>
                    </a:p>
                  </a:txBody>
                  <a:tcPr>
                    <a:solidFill>
                      <a:srgbClr val="F2F2F2"/>
                    </a:solidFill>
                  </a:tcPr>
                </a:tc>
                <a:extLst>
                  <a:ext uri="{0D108BD9-81ED-4DB2-BD59-A6C34878D82A}">
                    <a16:rowId xmlns:a16="http://schemas.microsoft.com/office/drawing/2014/main" val="10002"/>
                  </a:ext>
                </a:extLst>
              </a:tr>
              <a:tr h="224028">
                <a:tc>
                  <a:txBody>
                    <a:bodyPr/>
                    <a:lstStyle/>
                    <a:p>
                      <a:pPr algn="ctr"/>
                      <a:r>
                        <a:rPr sz="850" b="1" i="0">
                          <a:solidFill>
                            <a:srgbClr val="262626"/>
                          </a:solidFill>
                          <a:latin typeface="Arial"/>
                        </a:rPr>
                        <a:t>18</a:t>
                      </a:r>
                    </a:p>
                  </a:txBody>
                  <a:tcPr>
                    <a:solidFill>
                      <a:srgbClr val="FFFFFF"/>
                    </a:solidFill>
                  </a:tcPr>
                </a:tc>
                <a:tc>
                  <a:txBody>
                    <a:bodyPr/>
                    <a:lstStyle/>
                    <a:p>
                      <a:pPr algn="l"/>
                      <a:r>
                        <a:rPr sz="850" b="0" i="0">
                          <a:solidFill>
                            <a:srgbClr val="262626"/>
                          </a:solidFill>
                          <a:latin typeface="Arial"/>
                        </a:rPr>
                        <a:t>Gina Sereno</a:t>
                      </a:r>
                    </a:p>
                  </a:txBody>
                  <a:tcPr>
                    <a:solidFill>
                      <a:srgbClr val="FFFFFF"/>
                    </a:solidFill>
                  </a:tcPr>
                </a:tc>
                <a:tc>
                  <a:txBody>
                    <a:bodyPr/>
                    <a:lstStyle/>
                    <a:p>
                      <a:pPr algn="ctr"/>
                      <a:r>
                        <a:rPr sz="850" b="0" i="0">
                          <a:solidFill>
                            <a:srgbClr val="262626"/>
                          </a:solidFill>
                          <a:latin typeface="Arial"/>
                        </a:rPr>
                        <a:t>991</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3</a:t>
                      </a:r>
                    </a:p>
                  </a:txBody>
                  <a:tcPr>
                    <a:solidFill>
                      <a:srgbClr val="FFFFFF"/>
                    </a:solidFill>
                  </a:tcPr>
                </a:tc>
                <a:extLst>
                  <a:ext uri="{0D108BD9-81ED-4DB2-BD59-A6C34878D82A}">
                    <a16:rowId xmlns:a16="http://schemas.microsoft.com/office/drawing/2014/main" val="10003"/>
                  </a:ext>
                </a:extLst>
              </a:tr>
              <a:tr h="224028">
                <a:tc>
                  <a:txBody>
                    <a:bodyPr/>
                    <a:lstStyle/>
                    <a:p>
                      <a:pPr algn="ctr"/>
                      <a:r>
                        <a:rPr sz="850" b="1" i="0">
                          <a:solidFill>
                            <a:srgbClr val="262626"/>
                          </a:solidFill>
                          <a:latin typeface="Arial"/>
                        </a:rPr>
                        <a:t>20</a:t>
                      </a:r>
                    </a:p>
                  </a:txBody>
                  <a:tcPr>
                    <a:solidFill>
                      <a:srgbClr val="F2F2F2"/>
                    </a:solidFill>
                  </a:tcPr>
                </a:tc>
                <a:tc>
                  <a:txBody>
                    <a:bodyPr/>
                    <a:lstStyle/>
                    <a:p>
                      <a:pPr algn="l"/>
                      <a:r>
                        <a:rPr sz="850" b="0" i="0">
                          <a:solidFill>
                            <a:srgbClr val="262626"/>
                          </a:solidFill>
                          <a:latin typeface="Arial"/>
                        </a:rPr>
                        <a:t>Taylor Knibb</a:t>
                      </a:r>
                    </a:p>
                  </a:txBody>
                  <a:tcPr>
                    <a:solidFill>
                      <a:srgbClr val="F2F2F2"/>
                    </a:solidFill>
                  </a:tcPr>
                </a:tc>
                <a:tc>
                  <a:txBody>
                    <a:bodyPr/>
                    <a:lstStyle/>
                    <a:p>
                      <a:pPr algn="ctr"/>
                      <a:r>
                        <a:rPr sz="850" b="0" i="0">
                          <a:solidFill>
                            <a:srgbClr val="262626"/>
                          </a:solidFill>
                          <a:latin typeface="Arial"/>
                        </a:rPr>
                        <a:t>921</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2</a:t>
                      </a:r>
                    </a:p>
                  </a:txBody>
                  <a:tcPr>
                    <a:solidFill>
                      <a:srgbClr val="F2F2F2"/>
                    </a:solidFill>
                  </a:tcPr>
                </a:tc>
                <a:extLst>
                  <a:ext uri="{0D108BD9-81ED-4DB2-BD59-A6C34878D82A}">
                    <a16:rowId xmlns:a16="http://schemas.microsoft.com/office/drawing/2014/main" val="10004"/>
                  </a:ext>
                </a:extLst>
              </a:tr>
              <a:tr h="224028">
                <a:tc>
                  <a:txBody>
                    <a:bodyPr/>
                    <a:lstStyle/>
                    <a:p>
                      <a:pPr algn="ctr"/>
                      <a:r>
                        <a:rPr sz="850" b="1" i="0">
                          <a:solidFill>
                            <a:srgbClr val="262626"/>
                          </a:solidFill>
                          <a:latin typeface="Arial"/>
                        </a:rPr>
                        <a:t>38</a:t>
                      </a:r>
                    </a:p>
                  </a:txBody>
                  <a:tcPr>
                    <a:solidFill>
                      <a:srgbClr val="FFFFFF"/>
                    </a:solidFill>
                  </a:tcPr>
                </a:tc>
                <a:tc>
                  <a:txBody>
                    <a:bodyPr/>
                    <a:lstStyle/>
                    <a:p>
                      <a:pPr algn="l"/>
                      <a:r>
                        <a:rPr sz="850" b="0" i="0">
                          <a:solidFill>
                            <a:srgbClr val="262626"/>
                          </a:solidFill>
                          <a:latin typeface="Arial"/>
                        </a:rPr>
                        <a:t>Eleanor Beveridge</a:t>
                      </a:r>
                    </a:p>
                  </a:txBody>
                  <a:tcPr>
                    <a:solidFill>
                      <a:srgbClr val="FFFFFF"/>
                    </a:solidFill>
                  </a:tcPr>
                </a:tc>
                <a:tc>
                  <a:txBody>
                    <a:bodyPr/>
                    <a:lstStyle/>
                    <a:p>
                      <a:pPr algn="ctr"/>
                      <a:r>
                        <a:rPr sz="850" b="0" i="0">
                          <a:solidFill>
                            <a:srgbClr val="262626"/>
                          </a:solidFill>
                          <a:latin typeface="Arial"/>
                        </a:rPr>
                        <a:t>519</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2</a:t>
                      </a:r>
                    </a:p>
                  </a:txBody>
                  <a:tcPr>
                    <a:solidFill>
                      <a:srgbClr val="FFFFFF"/>
                    </a:solidFill>
                  </a:tcPr>
                </a:tc>
                <a:extLst>
                  <a:ext uri="{0D108BD9-81ED-4DB2-BD59-A6C34878D82A}">
                    <a16:rowId xmlns:a16="http://schemas.microsoft.com/office/drawing/2014/main" val="10005"/>
                  </a:ext>
                </a:extLst>
              </a:tr>
              <a:tr h="224028">
                <a:tc>
                  <a:txBody>
                    <a:bodyPr/>
                    <a:lstStyle/>
                    <a:p>
                      <a:pPr algn="ctr"/>
                      <a:r>
                        <a:rPr sz="850" b="1" i="0">
                          <a:solidFill>
                            <a:srgbClr val="262626"/>
                          </a:solidFill>
                          <a:latin typeface="Arial"/>
                        </a:rPr>
                        <a:t>44</a:t>
                      </a:r>
                    </a:p>
                  </a:txBody>
                  <a:tcPr>
                    <a:solidFill>
                      <a:srgbClr val="F2F2F2"/>
                    </a:solidFill>
                  </a:tcPr>
                </a:tc>
                <a:tc>
                  <a:txBody>
                    <a:bodyPr/>
                    <a:lstStyle/>
                    <a:p>
                      <a:pPr algn="l"/>
                      <a:r>
                        <a:rPr sz="850" b="0" i="0">
                          <a:solidFill>
                            <a:srgbClr val="262626"/>
                          </a:solidFill>
                          <a:latin typeface="Arial"/>
                        </a:rPr>
                        <a:t>Gwen Jorgensen</a:t>
                      </a:r>
                    </a:p>
                  </a:txBody>
                  <a:tcPr>
                    <a:solidFill>
                      <a:srgbClr val="F2F2F2"/>
                    </a:solidFill>
                  </a:tcPr>
                </a:tc>
                <a:tc>
                  <a:txBody>
                    <a:bodyPr/>
                    <a:lstStyle/>
                    <a:p>
                      <a:pPr algn="ctr"/>
                      <a:r>
                        <a:rPr sz="850" b="0" i="0">
                          <a:solidFill>
                            <a:srgbClr val="262626"/>
                          </a:solidFill>
                          <a:latin typeface="Arial"/>
                        </a:rPr>
                        <a:t>495</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06"/>
                  </a:ext>
                </a:extLst>
              </a:tr>
              <a:tr h="224028">
                <a:tc>
                  <a:txBody>
                    <a:bodyPr/>
                    <a:lstStyle/>
                    <a:p>
                      <a:pPr algn="ctr"/>
                      <a:r>
                        <a:rPr sz="850" b="1" i="0">
                          <a:solidFill>
                            <a:srgbClr val="262626"/>
                          </a:solidFill>
                          <a:latin typeface="Arial"/>
                        </a:rPr>
                        <a:t>47</a:t>
                      </a:r>
                    </a:p>
                  </a:txBody>
                  <a:tcPr>
                    <a:solidFill>
                      <a:srgbClr val="FFFFFF"/>
                    </a:solidFill>
                  </a:tcPr>
                </a:tc>
                <a:tc>
                  <a:txBody>
                    <a:bodyPr/>
                    <a:lstStyle/>
                    <a:p>
                      <a:pPr algn="l"/>
                      <a:r>
                        <a:rPr sz="850" b="0" i="0">
                          <a:solidFill>
                            <a:srgbClr val="262626"/>
                          </a:solidFill>
                          <a:latin typeface="Arial"/>
                        </a:rPr>
                        <a:t>Kelly Wetteland</a:t>
                      </a:r>
                    </a:p>
                  </a:txBody>
                  <a:tcPr>
                    <a:solidFill>
                      <a:srgbClr val="FFFFFF"/>
                    </a:solidFill>
                  </a:tcPr>
                </a:tc>
                <a:tc>
                  <a:txBody>
                    <a:bodyPr/>
                    <a:lstStyle/>
                    <a:p>
                      <a:pPr algn="ctr"/>
                      <a:r>
                        <a:rPr sz="850" b="0" i="0">
                          <a:solidFill>
                            <a:srgbClr val="262626"/>
                          </a:solidFill>
                          <a:latin typeface="Arial"/>
                        </a:rPr>
                        <a:t>462</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07"/>
                  </a:ext>
                </a:extLst>
              </a:tr>
              <a:tr h="224028">
                <a:tc>
                  <a:txBody>
                    <a:bodyPr/>
                    <a:lstStyle/>
                    <a:p>
                      <a:pPr algn="ctr"/>
                      <a:r>
                        <a:rPr sz="850" b="1" i="0">
                          <a:solidFill>
                            <a:srgbClr val="262626"/>
                          </a:solidFill>
                          <a:latin typeface="Arial"/>
                        </a:rPr>
                        <a:t>48</a:t>
                      </a:r>
                    </a:p>
                  </a:txBody>
                  <a:tcPr>
                    <a:solidFill>
                      <a:srgbClr val="F2F2F2"/>
                    </a:solidFill>
                  </a:tcPr>
                </a:tc>
                <a:tc>
                  <a:txBody>
                    <a:bodyPr/>
                    <a:lstStyle/>
                    <a:p>
                      <a:pPr algn="l"/>
                      <a:r>
                        <a:rPr sz="850" b="0" i="0">
                          <a:solidFill>
                            <a:srgbClr val="262626"/>
                          </a:solidFill>
                          <a:latin typeface="Arial"/>
                        </a:rPr>
                        <a:t>Naomi Ruff</a:t>
                      </a:r>
                    </a:p>
                  </a:txBody>
                  <a:tcPr>
                    <a:solidFill>
                      <a:srgbClr val="F2F2F2"/>
                    </a:solidFill>
                  </a:tcPr>
                </a:tc>
                <a:tc>
                  <a:txBody>
                    <a:bodyPr/>
                    <a:lstStyle/>
                    <a:p>
                      <a:pPr algn="ctr"/>
                      <a:r>
                        <a:rPr sz="850" b="0" i="0">
                          <a:solidFill>
                            <a:srgbClr val="262626"/>
                          </a:solidFill>
                          <a:latin typeface="Arial"/>
                        </a:rPr>
                        <a:t>460</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08"/>
                  </a:ext>
                </a:extLst>
              </a:tr>
              <a:tr h="224028">
                <a:tc>
                  <a:txBody>
                    <a:bodyPr/>
                    <a:lstStyle/>
                    <a:p>
                      <a:pPr algn="ctr"/>
                      <a:r>
                        <a:rPr sz="850" b="1" i="0">
                          <a:solidFill>
                            <a:srgbClr val="262626"/>
                          </a:solidFill>
                          <a:latin typeface="Arial"/>
                        </a:rPr>
                        <a:t>91</a:t>
                      </a:r>
                    </a:p>
                  </a:txBody>
                  <a:tcPr>
                    <a:solidFill>
                      <a:srgbClr val="FFFFFF"/>
                    </a:solidFill>
                  </a:tcPr>
                </a:tc>
                <a:tc>
                  <a:txBody>
                    <a:bodyPr/>
                    <a:lstStyle/>
                    <a:p>
                      <a:pPr algn="l"/>
                      <a:r>
                        <a:rPr sz="850" b="0" i="0">
                          <a:solidFill>
                            <a:srgbClr val="262626"/>
                          </a:solidFill>
                          <a:latin typeface="Arial"/>
                        </a:rPr>
                        <a:t>Rachel Werking</a:t>
                      </a:r>
                    </a:p>
                  </a:txBody>
                  <a:tcPr>
                    <a:solidFill>
                      <a:srgbClr val="FFFFFF"/>
                    </a:solidFill>
                  </a:tcPr>
                </a:tc>
                <a:tc>
                  <a:txBody>
                    <a:bodyPr/>
                    <a:lstStyle/>
                    <a:p>
                      <a:pPr algn="ctr"/>
                      <a:r>
                        <a:rPr sz="850" b="0" i="0">
                          <a:solidFill>
                            <a:srgbClr val="262626"/>
                          </a:solidFill>
                          <a:latin typeface="Arial"/>
                        </a:rPr>
                        <a:t>181</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09"/>
                  </a:ext>
                </a:extLst>
              </a:tr>
              <a:tr h="224028">
                <a:tc>
                  <a:txBody>
                    <a:bodyPr/>
                    <a:lstStyle/>
                    <a:p>
                      <a:pPr algn="ctr"/>
                      <a:r>
                        <a:rPr sz="850" b="1" i="0">
                          <a:solidFill>
                            <a:srgbClr val="262626"/>
                          </a:solidFill>
                          <a:latin typeface="Arial"/>
                        </a:rPr>
                        <a:t>93</a:t>
                      </a:r>
                    </a:p>
                  </a:txBody>
                  <a:tcPr>
                    <a:solidFill>
                      <a:srgbClr val="F2F2F2"/>
                    </a:solidFill>
                  </a:tcPr>
                </a:tc>
                <a:tc>
                  <a:txBody>
                    <a:bodyPr/>
                    <a:lstStyle/>
                    <a:p>
                      <a:pPr algn="l"/>
                      <a:r>
                        <a:rPr sz="850" b="0" i="0">
                          <a:solidFill>
                            <a:srgbClr val="262626"/>
                          </a:solidFill>
                          <a:latin typeface="Arial"/>
                        </a:rPr>
                        <a:t>Erika Ackerlund</a:t>
                      </a:r>
                    </a:p>
                  </a:txBody>
                  <a:tcPr>
                    <a:solidFill>
                      <a:srgbClr val="F2F2F2"/>
                    </a:solidFill>
                  </a:tcPr>
                </a:tc>
                <a:tc>
                  <a:txBody>
                    <a:bodyPr/>
                    <a:lstStyle/>
                    <a:p>
                      <a:pPr algn="ctr"/>
                      <a:r>
                        <a:rPr sz="850" b="0" i="0">
                          <a:solidFill>
                            <a:srgbClr val="262626"/>
                          </a:solidFill>
                          <a:latin typeface="Arial"/>
                        </a:rPr>
                        <a:t>179</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10"/>
                  </a:ext>
                </a:extLst>
              </a:tr>
              <a:tr h="224028">
                <a:tc>
                  <a:txBody>
                    <a:bodyPr/>
                    <a:lstStyle/>
                    <a:p>
                      <a:pPr algn="ctr"/>
                      <a:r>
                        <a:rPr sz="850" b="1" i="0">
                          <a:solidFill>
                            <a:srgbClr val="262626"/>
                          </a:solidFill>
                          <a:latin typeface="Arial"/>
                        </a:rPr>
                        <a:t>96</a:t>
                      </a:r>
                    </a:p>
                  </a:txBody>
                  <a:tcPr>
                    <a:solidFill>
                      <a:srgbClr val="FFFFFF"/>
                    </a:solidFill>
                  </a:tcPr>
                </a:tc>
                <a:tc>
                  <a:txBody>
                    <a:bodyPr/>
                    <a:lstStyle/>
                    <a:p>
                      <a:pPr algn="l"/>
                      <a:r>
                        <a:rPr sz="850" b="0" i="0">
                          <a:solidFill>
                            <a:srgbClr val="262626"/>
                          </a:solidFill>
                          <a:latin typeface="Arial"/>
                        </a:rPr>
                        <a:t>Joy Gill</a:t>
                      </a:r>
                    </a:p>
                  </a:txBody>
                  <a:tcPr>
                    <a:solidFill>
                      <a:srgbClr val="FFFFFF"/>
                    </a:solidFill>
                  </a:tcPr>
                </a:tc>
                <a:tc>
                  <a:txBody>
                    <a:bodyPr/>
                    <a:lstStyle/>
                    <a:p>
                      <a:pPr algn="ctr"/>
                      <a:r>
                        <a:rPr sz="850" b="0" i="0">
                          <a:solidFill>
                            <a:srgbClr val="262626"/>
                          </a:solidFill>
                          <a:latin typeface="Arial"/>
                        </a:rPr>
                        <a:t>167</a:t>
                      </a:r>
                    </a:p>
                  </a:txBody>
                  <a:tcPr>
                    <a:solidFill>
                      <a:srgbClr val="FFFFFF"/>
                    </a:solidFill>
                  </a:tcPr>
                </a:tc>
                <a:tc>
                  <a:txBody>
                    <a:bodyPr/>
                    <a:lstStyle/>
                    <a:p>
                      <a:pPr algn="ctr"/>
                      <a:r>
                        <a:rPr sz="850" b="0" i="0">
                          <a:solidFill>
                            <a:srgbClr val="262626"/>
                          </a:solidFill>
                          <a:latin typeface="Arial"/>
                        </a:rPr>
                        <a:t>0</a:t>
                      </a:r>
                    </a:p>
                  </a:txBody>
                  <a:tcPr>
                    <a:solidFill>
                      <a:srgbClr val="FFFFFF"/>
                    </a:solidFill>
                  </a:tcPr>
                </a:tc>
                <a:tc>
                  <a:txBody>
                    <a:bodyPr/>
                    <a:lstStyle/>
                    <a:p>
                      <a:pPr algn="ctr"/>
                      <a:r>
                        <a:rPr sz="850" b="0" i="0">
                          <a:solidFill>
                            <a:srgbClr val="262626"/>
                          </a:solidFill>
                          <a:latin typeface="Arial"/>
                        </a:rPr>
                        <a:t>1</a:t>
                      </a:r>
                    </a:p>
                  </a:txBody>
                  <a:tcPr>
                    <a:solidFill>
                      <a:srgbClr val="FFFFFF"/>
                    </a:solidFill>
                  </a:tcPr>
                </a:tc>
                <a:extLst>
                  <a:ext uri="{0D108BD9-81ED-4DB2-BD59-A6C34878D82A}">
                    <a16:rowId xmlns:a16="http://schemas.microsoft.com/office/drawing/2014/main" val="10011"/>
                  </a:ext>
                </a:extLst>
              </a:tr>
              <a:tr h="224028">
                <a:tc>
                  <a:txBody>
                    <a:bodyPr/>
                    <a:lstStyle/>
                    <a:p>
                      <a:pPr algn="ctr"/>
                      <a:r>
                        <a:rPr sz="850" b="1" i="0">
                          <a:solidFill>
                            <a:srgbClr val="262626"/>
                          </a:solidFill>
                          <a:latin typeface="Arial"/>
                        </a:rPr>
                        <a:t>108</a:t>
                      </a:r>
                    </a:p>
                  </a:txBody>
                  <a:tcPr>
                    <a:solidFill>
                      <a:srgbClr val="F2F2F2"/>
                    </a:solidFill>
                  </a:tcPr>
                </a:tc>
                <a:tc>
                  <a:txBody>
                    <a:bodyPr/>
                    <a:lstStyle/>
                    <a:p>
                      <a:pPr algn="l"/>
                      <a:r>
                        <a:rPr sz="850" b="0" i="0">
                          <a:solidFill>
                            <a:srgbClr val="262626"/>
                          </a:solidFill>
                          <a:latin typeface="Arial"/>
                        </a:rPr>
                        <a:t>Kirsten Kasper</a:t>
                      </a:r>
                    </a:p>
                  </a:txBody>
                  <a:tcPr>
                    <a:solidFill>
                      <a:srgbClr val="F2F2F2"/>
                    </a:solidFill>
                  </a:tcPr>
                </a:tc>
                <a:tc>
                  <a:txBody>
                    <a:bodyPr/>
                    <a:lstStyle/>
                    <a:p>
                      <a:pPr algn="ctr"/>
                      <a:r>
                        <a:rPr sz="850" b="0" i="0">
                          <a:solidFill>
                            <a:srgbClr val="262626"/>
                          </a:solidFill>
                          <a:latin typeface="Arial"/>
                        </a:rPr>
                        <a:t>112</a:t>
                      </a:r>
                    </a:p>
                  </a:txBody>
                  <a:tcPr>
                    <a:solidFill>
                      <a:srgbClr val="F2F2F2"/>
                    </a:solidFill>
                  </a:tcPr>
                </a:tc>
                <a:tc>
                  <a:txBody>
                    <a:bodyPr/>
                    <a:lstStyle/>
                    <a:p>
                      <a:pPr algn="ctr"/>
                      <a:r>
                        <a:rPr sz="850" b="0" i="0">
                          <a:solidFill>
                            <a:srgbClr val="262626"/>
                          </a:solidFill>
                          <a:latin typeface="Arial"/>
                        </a:rPr>
                        <a:t>0</a:t>
                      </a:r>
                    </a:p>
                  </a:txBody>
                  <a:tcPr>
                    <a:solidFill>
                      <a:srgbClr val="F2F2F2"/>
                    </a:solidFill>
                  </a:tcPr>
                </a:tc>
                <a:tc>
                  <a:txBody>
                    <a:bodyPr/>
                    <a:lstStyle/>
                    <a:p>
                      <a:pPr algn="ctr"/>
                      <a:r>
                        <a:rPr sz="850" b="0" i="0">
                          <a:solidFill>
                            <a:srgbClr val="262626"/>
                          </a:solidFill>
                          <a:latin typeface="Arial"/>
                        </a:rPr>
                        <a:t>1</a:t>
                      </a:r>
                    </a:p>
                  </a:txBody>
                  <a:tcPr>
                    <a:solidFill>
                      <a:srgbClr val="F2F2F2"/>
                    </a:solidFill>
                  </a:tcPr>
                </a:tc>
                <a:extLst>
                  <a:ext uri="{0D108BD9-81ED-4DB2-BD59-A6C34878D82A}">
                    <a16:rowId xmlns:a16="http://schemas.microsoft.com/office/drawing/2014/main" val="10012"/>
                  </a:ext>
                </a:extLst>
              </a:tr>
            </a:tbl>
          </a:graphicData>
        </a:graphic>
      </p:graphicFrame>
      <p:sp>
        <p:nvSpPr>
          <p:cNvPr id="16" name="TextBox 15"/>
          <p:cNvSpPr txBox="1"/>
          <p:nvPr/>
        </p:nvSpPr>
        <p:spPr>
          <a:xfrm>
            <a:off x="274320" y="6419088"/>
            <a:ext cx="11640312" cy="274320"/>
          </a:xfrm>
          <a:prstGeom prst="rect">
            <a:avLst/>
          </a:prstGeom>
          <a:noFill/>
        </p:spPr>
        <p:txBody>
          <a:bodyPr wrap="square">
            <a:spAutoFit/>
          </a:bodyPr>
          <a:lstStyle/>
          <a:p>
            <a:pPr algn="ctr"/>
            <a:r>
              <a:rPr sz="800" b="0" i="1">
                <a:solidFill>
                  <a:srgbClr val="BFBFBF"/>
                </a:solidFill>
                <a:latin typeface="Arial"/>
              </a:rPr>
              <a:t>Rankings: latest weekly snapshot.  Second / First = events counted in the second vs first scoring period of the LA 2028 OQR cycle.  Because the cycle is still in its first year, most results appear under First.  Source: World Triathlon rankings database.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EDMONTON</a:t>
            </a:r>
          </a:p>
        </p:txBody>
      </p:sp>
      <p:sp>
        <p:nvSpPr>
          <p:cNvPr id="10" name="TextBox 9"/>
          <p:cNvSpPr txBox="1"/>
          <p:nvPr/>
        </p:nvSpPr>
        <p:spPr>
          <a:xfrm>
            <a:off x="274320" y="1508760"/>
            <a:ext cx="6400800" cy="5074920"/>
          </a:xfrm>
          <a:prstGeom prst="rect">
            <a:avLst/>
          </a:prstGeom>
          <a:noFill/>
        </p:spPr>
        <p:txBody>
          <a:bodyPr wrap="square">
            <a:spAutoFit/>
          </a:bodyPr>
          <a:lstStyle/>
          <a:p>
            <a:pPr algn="l"/>
            <a:r>
              <a:rPr sz="1200" b="0" i="0">
                <a:solidFill>
                  <a:srgbClr val="262626"/>
                </a:solidFill>
                <a:latin typeface="Arial"/>
              </a:rPr>
              <a:t>The Elite Men race at Edmonton has been held 5 times in this analysis window (2018–2024). The event is staged as part of the World Championship Series / World Championships, World Championship Series calendar.
[PLACEHOLDER: Add 1–2 sentences on notable storylines, competitive history, or what makes this event significant for Elite Men athletes. E.g. defending champions, record performances, dramatic finishes.]</a:t>
            </a: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1572768"/>
          </a:xfrm>
          <a:prstGeom prst="rect">
            <a:avLst/>
          </a:prstGeom>
          <a:noFill/>
        </p:spPr>
        <p:txBody>
          <a:bodyPr wrap="square">
            <a:spAutoFit/>
          </a:bodyPr>
          <a:lstStyle/>
          <a:p>
            <a:pPr algn="l"/>
            <a:r>
              <a:rPr sz="1100" b="0" i="0">
                <a:solidFill>
                  <a:srgbClr val="262626"/>
                </a:solidFill>
                <a:latin typeface="Arial"/>
              </a:rPr>
              <a:t>Fast swimming is decisive — only ~13 athletes typically leave the water together. A strong swim directly builds a race-winning gap before T1.</a:t>
            </a: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572768"/>
          </a:xfrm>
          <a:prstGeom prst="rect">
            <a:avLst/>
          </a:prstGeom>
          <a:noFill/>
        </p:spPr>
        <p:txBody>
          <a:bodyPr wrap="square">
            <a:spAutoFit/>
          </a:bodyPr>
          <a:lstStyle/>
          <a:p>
            <a:pPr algn="l"/>
            <a:r>
              <a:rPr sz="1100" b="0" i="0">
                <a:solidFill>
                  <a:srgbClr val="262626"/>
                </a:solidFill>
                <a:latin typeface="Arial"/>
              </a:rPr>
              <a:t>[PLACEHOLDER: Key 2 — Describe bike strategy: is this a pack race or do breakaways form? What power/tactics are needed to stay in the lead group?]</a:t>
            </a: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572768"/>
          </a:xfrm>
          <a:prstGeom prst="rect">
            <a:avLst/>
          </a:prstGeom>
          <a:noFill/>
        </p:spPr>
        <p:txBody>
          <a:bodyPr wrap="square">
            <a:spAutoFit/>
          </a:bodyPr>
          <a:lstStyle/>
          <a:p>
            <a:pPr algn="l"/>
            <a:r>
              <a:rPr sz="1100" b="0" i="0">
                <a:solidFill>
                  <a:srgbClr val="262626"/>
                </a:solidFill>
                <a:latin typeface="Arial"/>
              </a:rPr>
              <a:t>Run speed separates the podium — the fastest run pace averages ~1:48/km with a ~115s spread between fastest and average finisher. Either a pre-built lead from the bike or exceptional run speed is required to win.</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3072384"/>
        </p:xfrm>
        <a:graphic>
          <a:graphicData uri="http://schemas.openxmlformats.org/drawingml/2006/table">
            <a:tbl>
              <a:tblPr firstRow="1" bandRow="1">
                <a:tableStyleId>{5C22544A-7EE6-4342-B048-85BDC9FD1C3A}</a:tableStyleId>
              </a:tblPr>
              <a:tblGrid>
                <a:gridCol w="655082">
                  <a:extLst>
                    <a:ext uri="{9D8B030D-6E8A-4147-A177-3AD203B41FA5}">
                      <a16:colId xmlns:a16="http://schemas.microsoft.com/office/drawing/2014/main" val="20000"/>
                    </a:ext>
                  </a:extLst>
                </a:gridCol>
                <a:gridCol w="957428">
                  <a:extLst>
                    <a:ext uri="{9D8B030D-6E8A-4147-A177-3AD203B41FA5}">
                      <a16:colId xmlns:a16="http://schemas.microsoft.com/office/drawing/2014/main" val="20001"/>
                    </a:ext>
                  </a:extLst>
                </a:gridCol>
                <a:gridCol w="1914856">
                  <a:extLst>
                    <a:ext uri="{9D8B030D-6E8A-4147-A177-3AD203B41FA5}">
                      <a16:colId xmlns:a16="http://schemas.microsoft.com/office/drawing/2014/main" val="20002"/>
                    </a:ext>
                  </a:extLst>
                </a:gridCol>
                <a:gridCol w="554300">
                  <a:extLst>
                    <a:ext uri="{9D8B030D-6E8A-4147-A177-3AD203B41FA5}">
                      <a16:colId xmlns:a16="http://schemas.microsoft.com/office/drawing/2014/main" val="20003"/>
                    </a:ext>
                  </a:extLst>
                </a:gridCol>
                <a:gridCol w="755864">
                  <a:extLst>
                    <a:ext uri="{9D8B030D-6E8A-4147-A177-3AD203B41FA5}">
                      <a16:colId xmlns:a16="http://schemas.microsoft.com/office/drawing/2014/main" val="20004"/>
                    </a:ext>
                  </a:extLst>
                </a:gridCol>
                <a:gridCol w="2015638">
                  <a:extLst>
                    <a:ext uri="{9D8B030D-6E8A-4147-A177-3AD203B41FA5}">
                      <a16:colId xmlns:a16="http://schemas.microsoft.com/office/drawing/2014/main" val="20005"/>
                    </a:ext>
                  </a:extLst>
                </a:gridCol>
                <a:gridCol w="1007819">
                  <a:extLst>
                    <a:ext uri="{9D8B030D-6E8A-4147-A177-3AD203B41FA5}">
                      <a16:colId xmlns:a16="http://schemas.microsoft.com/office/drawing/2014/main" val="20006"/>
                    </a:ext>
                  </a:extLst>
                </a:gridCol>
                <a:gridCol w="806255">
                  <a:extLst>
                    <a:ext uri="{9D8B030D-6E8A-4147-A177-3AD203B41FA5}">
                      <a16:colId xmlns:a16="http://schemas.microsoft.com/office/drawing/2014/main" val="20007"/>
                    </a:ext>
                  </a:extLst>
                </a:gridCol>
                <a:gridCol w="856646">
                  <a:extLst>
                    <a:ext uri="{9D8B030D-6E8A-4147-A177-3AD203B41FA5}">
                      <a16:colId xmlns:a16="http://schemas.microsoft.com/office/drawing/2014/main" val="20008"/>
                    </a:ext>
                  </a:extLst>
                </a:gridCol>
                <a:gridCol w="705473">
                  <a:extLst>
                    <a:ext uri="{9D8B030D-6E8A-4147-A177-3AD203B41FA5}">
                      <a16:colId xmlns:a16="http://schemas.microsoft.com/office/drawing/2014/main" val="20009"/>
                    </a:ext>
                  </a:extLst>
                </a:gridCol>
                <a:gridCol w="705473">
                  <a:extLst>
                    <a:ext uri="{9D8B030D-6E8A-4147-A177-3AD203B41FA5}">
                      <a16:colId xmlns:a16="http://schemas.microsoft.com/office/drawing/2014/main" val="20010"/>
                    </a:ext>
                  </a:extLst>
                </a:gridCol>
                <a:gridCol w="705473">
                  <a:extLst>
                    <a:ext uri="{9D8B030D-6E8A-4147-A177-3AD203B41FA5}">
                      <a16:colId xmlns:a16="http://schemas.microsoft.com/office/drawing/2014/main" val="20011"/>
                    </a:ext>
                  </a:extLst>
                </a:gridCol>
              </a:tblGrid>
              <a:tr h="512064">
                <a:tc>
                  <a:txBody>
                    <a:bodyPr/>
                    <a:lstStyle/>
                    <a:p>
                      <a:pPr algn="ctr"/>
                      <a:r>
                        <a:rPr sz="1400" b="1" i="0">
                          <a:solidFill>
                            <a:srgbClr val="FFFFFF"/>
                          </a:solidFill>
                          <a:latin typeface="Arial"/>
                        </a:rPr>
                        <a:t>Year</a:t>
                      </a:r>
                    </a:p>
                  </a:txBody>
                  <a:tcPr>
                    <a:solidFill>
                      <a:srgbClr val="002060"/>
                    </a:solidFill>
                  </a:tcPr>
                </a:tc>
                <a:tc>
                  <a:txBody>
                    <a:bodyPr/>
                    <a:lstStyle/>
                    <a:p>
                      <a:pPr algn="ctr"/>
                      <a:r>
                        <a:rPr sz="1400" b="1" i="0">
                          <a:solidFill>
                            <a:srgbClr val="FFFFFF"/>
                          </a:solidFill>
                          <a:latin typeface="Arial"/>
                        </a:rPr>
                        <a:t>Date</a:t>
                      </a:r>
                    </a:p>
                  </a:txBody>
                  <a:tcPr>
                    <a:solidFill>
                      <a:srgbClr val="002060"/>
                    </a:solidFill>
                  </a:tcPr>
                </a:tc>
                <a:tc>
                  <a:txBody>
                    <a:bodyPr/>
                    <a:lstStyle/>
                    <a:p>
                      <a:pPr algn="ctr"/>
                      <a:r>
                        <a:rPr sz="1400" b="1" i="0">
                          <a:solidFill>
                            <a:srgbClr val="FFFFFF"/>
                          </a:solidFill>
                          <a:latin typeface="Arial"/>
                        </a:rPr>
                        <a:t>Category</a:t>
                      </a:r>
                    </a:p>
                  </a:txBody>
                  <a:tcPr>
                    <a:solidFill>
                      <a:srgbClr val="002060"/>
                    </a:solidFill>
                  </a:tcPr>
                </a:tc>
                <a:tc>
                  <a:txBody>
                    <a:bodyPr/>
                    <a:lstStyle/>
                    <a:p>
                      <a:pPr algn="ctr"/>
                      <a:r>
                        <a:rPr sz="1400" b="1" i="0">
                          <a:solidFill>
                            <a:srgbClr val="FFFFFF"/>
                          </a:solidFill>
                          <a:latin typeface="Arial"/>
                        </a:rPr>
                        <a:t>Field</a:t>
                      </a:r>
                    </a:p>
                  </a:txBody>
                  <a:tcPr>
                    <a:solidFill>
                      <a:srgbClr val="002060"/>
                    </a:solidFill>
                  </a:tcPr>
                </a:tc>
                <a:tc>
                  <a:txBody>
                    <a:bodyPr/>
                    <a:lstStyle/>
                    <a:p>
                      <a:pPr algn="ctr"/>
                      <a:r>
                        <a:rPr sz="1400" b="1" i="0">
                          <a:solidFill>
                            <a:srgbClr val="FFFFFF"/>
                          </a:solidFill>
                          <a:latin typeface="Arial"/>
                        </a:rPr>
                        <a:t>DNF/LAP/DNS</a:t>
                      </a:r>
                    </a:p>
                  </a:txBody>
                  <a:tcPr>
                    <a:solidFill>
                      <a:srgbClr val="002060"/>
                    </a:solidFill>
                  </a:tcPr>
                </a:tc>
                <a:tc>
                  <a:txBody>
                    <a:bodyPr/>
                    <a:lstStyle/>
                    <a:p>
                      <a:pPr algn="ctr"/>
                      <a:r>
                        <a:rPr sz="1400" b="1" i="0">
                          <a:solidFill>
                            <a:srgbClr val="FFFFFF"/>
                          </a:solidFill>
                          <a:latin typeface="Arial"/>
                        </a:rPr>
                        <a:t>Winner</a:t>
                      </a:r>
                    </a:p>
                  </a:txBody>
                  <a:tcPr>
                    <a:solidFill>
                      <a:srgbClr val="002060"/>
                    </a:solidFill>
                  </a:tcPr>
                </a:tc>
                <a:tc>
                  <a:txBody>
                    <a:bodyPr/>
                    <a:lstStyle/>
                    <a:p>
                      <a:pPr algn="ctr"/>
                      <a:r>
                        <a:rPr sz="1400" b="1" i="0">
                          <a:solidFill>
                            <a:srgbClr val="FFFFFF"/>
                          </a:solidFill>
                          <a:latin typeface="Arial"/>
                        </a:rPr>
                        <a:t>Winner Time</a:t>
                      </a:r>
                    </a:p>
                  </a:txBody>
                  <a:tcPr>
                    <a:solidFill>
                      <a:srgbClr val="002060"/>
                    </a:solidFill>
                  </a:tcPr>
                </a:tc>
                <a:tc>
                  <a:txBody>
                    <a:bodyPr/>
                    <a:lstStyle/>
                    <a:p>
                      <a:pPr algn="ctr"/>
                      <a:r>
                        <a:rPr sz="1400" b="1" i="0">
                          <a:solidFill>
                            <a:srgbClr val="FFFFFF"/>
                          </a:solidFill>
                          <a:latin typeface="Arial"/>
                        </a:rPr>
                        <a:t>Air Temp</a:t>
                      </a:r>
                    </a:p>
                  </a:txBody>
                  <a:tcPr>
                    <a:solidFill>
                      <a:srgbClr val="002060"/>
                    </a:solidFill>
                  </a:tcPr>
                </a:tc>
                <a:tc>
                  <a:txBody>
                    <a:bodyPr/>
                    <a:lstStyle/>
                    <a:p>
                      <a:pPr algn="ctr"/>
                      <a:r>
                        <a:rPr sz="1400" b="1" i="0">
                          <a:solidFill>
                            <a:srgbClr val="FFFFFF"/>
                          </a:solidFill>
                          <a:latin typeface="Arial"/>
                        </a:rPr>
                        <a:t>Water Temp</a:t>
                      </a:r>
                    </a:p>
                  </a:txBody>
                  <a:tcPr>
                    <a:solidFill>
                      <a:srgbClr val="002060"/>
                    </a:solidFill>
                  </a:tcPr>
                </a:tc>
                <a:tc>
                  <a:txBody>
                    <a:bodyPr/>
                    <a:lstStyle/>
                    <a:p>
                      <a:pPr algn="ctr"/>
                      <a:r>
                        <a:rPr sz="1400" b="1" i="0">
                          <a:solidFill>
                            <a:srgbClr val="FFFFFF"/>
                          </a:solidFill>
                          <a:latin typeface="Arial"/>
                        </a:rPr>
                        <a:t>Swim km</a:t>
                      </a:r>
                    </a:p>
                  </a:txBody>
                  <a:tcPr>
                    <a:solidFill>
                      <a:srgbClr val="002060"/>
                    </a:solidFill>
                  </a:tcPr>
                </a:tc>
                <a:tc>
                  <a:txBody>
                    <a:bodyPr/>
                    <a:lstStyle/>
                    <a:p>
                      <a:pPr algn="ctr"/>
                      <a:r>
                        <a:rPr sz="1400" b="1" i="0">
                          <a:solidFill>
                            <a:srgbClr val="FFFFFF"/>
                          </a:solidFill>
                          <a:latin typeface="Arial"/>
                        </a:rPr>
                        <a:t>Bike km</a:t>
                      </a:r>
                    </a:p>
                  </a:txBody>
                  <a:tcPr>
                    <a:solidFill>
                      <a:srgbClr val="002060"/>
                    </a:solidFill>
                  </a:tcPr>
                </a:tc>
                <a:tc>
                  <a:txBody>
                    <a:bodyPr/>
                    <a:lstStyle/>
                    <a:p>
                      <a:pPr algn="ctr"/>
                      <a:r>
                        <a:rPr sz="1400" b="1" i="0">
                          <a:solidFill>
                            <a:srgbClr val="FFFFFF"/>
                          </a:solidFill>
                          <a:latin typeface="Arial"/>
                        </a:rPr>
                        <a:t>Run km</a:t>
                      </a:r>
                    </a:p>
                  </a:txBody>
                  <a:tcPr>
                    <a:solidFill>
                      <a:srgbClr val="002060"/>
                    </a:solidFill>
                  </a:tcPr>
                </a:tc>
                <a:extLst>
                  <a:ext uri="{0D108BD9-81ED-4DB2-BD59-A6C34878D82A}">
                    <a16:rowId xmlns:a16="http://schemas.microsoft.com/office/drawing/2014/main" val="10000"/>
                  </a:ext>
                </a:extLst>
              </a:tr>
              <a:tr h="512064">
                <a:tc>
                  <a:txBody>
                    <a:bodyPr/>
                    <a:lstStyle/>
                    <a:p>
                      <a:pPr algn="ctr"/>
                      <a:r>
                        <a:rPr sz="1400" b="0" i="0">
                          <a:solidFill>
                            <a:srgbClr val="262626"/>
                          </a:solidFill>
                          <a:latin typeface="Arial"/>
                        </a:rPr>
                        <a:t>2018</a:t>
                      </a:r>
                    </a:p>
                  </a:txBody>
                  <a:tcPr>
                    <a:solidFill>
                      <a:srgbClr val="FFFFFF"/>
                    </a:solidFill>
                  </a:tcPr>
                </a:tc>
                <a:tc>
                  <a:txBody>
                    <a:bodyPr/>
                    <a:lstStyle/>
                    <a:p>
                      <a:pPr algn="ctr"/>
                      <a:r>
                        <a:rPr sz="1400" b="0" i="0">
                          <a:solidFill>
                            <a:srgbClr val="262626"/>
                          </a:solidFill>
                          <a:latin typeface="Arial"/>
                        </a:rPr>
                        <a:t>Jul 27</a:t>
                      </a:r>
                    </a:p>
                  </a:txBody>
                  <a:tcPr>
                    <a:solidFill>
                      <a:srgbClr val="FFFFFF"/>
                    </a:solidFill>
                  </a:tcPr>
                </a:tc>
                <a:tc>
                  <a:txBody>
                    <a:bodyPr/>
                    <a:lstStyle/>
                    <a:p>
                      <a:pPr algn="l"/>
                      <a:r>
                        <a:rPr sz="1200" b="0" i="0">
                          <a:solidFill>
                            <a:srgbClr val="262626"/>
                          </a:solidFill>
                          <a:latin typeface="Arial"/>
                        </a:rPr>
                        <a:t>World Championship Series</a:t>
                      </a:r>
                    </a:p>
                  </a:txBody>
                  <a:tcPr>
                    <a:solidFill>
                      <a:srgbClr val="FFFFFF"/>
                    </a:solidFill>
                  </a:tcPr>
                </a:tc>
                <a:tc>
                  <a:txBody>
                    <a:bodyPr/>
                    <a:lstStyle/>
                    <a:p>
                      <a:pPr algn="ctr"/>
                      <a:r>
                        <a:rPr sz="1400" b="0" i="0">
                          <a:solidFill>
                            <a:srgbClr val="262626"/>
                          </a:solidFill>
                          <a:latin typeface="Arial"/>
                        </a:rPr>
                        <a:t>55</a:t>
                      </a:r>
                    </a:p>
                  </a:txBody>
                  <a:tcPr>
                    <a:solidFill>
                      <a:srgbClr val="FFFFFF"/>
                    </a:solidFill>
                  </a:tcPr>
                </a:tc>
                <a:tc>
                  <a:txBody>
                    <a:bodyPr/>
                    <a:lstStyle/>
                    <a:p>
                      <a:pPr algn="ctr"/>
                      <a:r>
                        <a:rPr sz="1400" b="0" i="0">
                          <a:solidFill>
                            <a:srgbClr val="262626"/>
                          </a:solidFill>
                          <a:latin typeface="Arial"/>
                        </a:rPr>
                        <a:t>9</a:t>
                      </a:r>
                    </a:p>
                  </a:txBody>
                  <a:tcPr>
                    <a:solidFill>
                      <a:srgbClr val="FFFFFF"/>
                    </a:solidFill>
                  </a:tcPr>
                </a:tc>
                <a:tc>
                  <a:txBody>
                    <a:bodyPr/>
                    <a:lstStyle/>
                    <a:p>
                      <a:pPr algn="l"/>
                      <a:r>
                        <a:rPr sz="1400" b="0" i="0">
                          <a:solidFill>
                            <a:srgbClr val="262626"/>
                          </a:solidFill>
                          <a:latin typeface="Arial"/>
                        </a:rPr>
                        <a:t>Mola</a:t>
                      </a:r>
                    </a:p>
                  </a:txBody>
                  <a:tcPr>
                    <a:solidFill>
                      <a:srgbClr val="FFFFFF"/>
                    </a:solidFill>
                  </a:tcPr>
                </a:tc>
                <a:tc>
                  <a:txBody>
                    <a:bodyPr/>
                    <a:lstStyle/>
                    <a:p>
                      <a:pPr algn="ctr"/>
                      <a:r>
                        <a:rPr sz="1400" b="0" i="0">
                          <a:solidFill>
                            <a:srgbClr val="262626"/>
                          </a:solidFill>
                          <a:latin typeface="Arial"/>
                        </a:rPr>
                        <a:t>51:15</a:t>
                      </a:r>
                    </a:p>
                  </a:txBody>
                  <a:tcPr>
                    <a:solidFill>
                      <a:srgbClr val="FFFFFF"/>
                    </a:solidFill>
                  </a:tcPr>
                </a:tc>
                <a:tc>
                  <a:txBody>
                    <a:bodyPr/>
                    <a:lstStyle/>
                    <a:p>
                      <a:pPr algn="ctr"/>
                      <a:r>
                        <a:rPr sz="1400" b="0" i="0">
                          <a:solidFill>
                            <a:srgbClr val="262626"/>
                          </a:solidFill>
                          <a:latin typeface="Arial"/>
                        </a:rPr>
                        <a:t>17.7°*</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512064">
                <a:tc>
                  <a:txBody>
                    <a:bodyPr/>
                    <a:lstStyle/>
                    <a:p>
                      <a:pPr algn="ctr"/>
                      <a:r>
                        <a:rPr sz="1400" b="0" i="0">
                          <a:solidFill>
                            <a:srgbClr val="262626"/>
                          </a:solidFill>
                          <a:latin typeface="Arial"/>
                        </a:rPr>
                        <a:t>2019</a:t>
                      </a:r>
                    </a:p>
                  </a:txBody>
                  <a:tcPr>
                    <a:solidFill>
                      <a:srgbClr val="F2F2F2"/>
                    </a:solidFill>
                  </a:tcPr>
                </a:tc>
                <a:tc>
                  <a:txBody>
                    <a:bodyPr/>
                    <a:lstStyle/>
                    <a:p>
                      <a:pPr algn="ctr"/>
                      <a:r>
                        <a:rPr sz="1400" b="0" i="0">
                          <a:solidFill>
                            <a:srgbClr val="262626"/>
                          </a:solidFill>
                          <a:latin typeface="Arial"/>
                        </a:rPr>
                        <a:t>Jul 20</a:t>
                      </a:r>
                    </a:p>
                  </a:txBody>
                  <a:tcPr>
                    <a:solidFill>
                      <a:srgbClr val="F2F2F2"/>
                    </a:solidFill>
                  </a:tcPr>
                </a:tc>
                <a:tc>
                  <a:txBody>
                    <a:bodyPr/>
                    <a:lstStyle/>
                    <a:p>
                      <a:pPr algn="l"/>
                      <a:r>
                        <a:rPr sz="1200" b="0" i="0">
                          <a:solidFill>
                            <a:srgbClr val="262626"/>
                          </a:solidFill>
                          <a:latin typeface="Arial"/>
                        </a:rPr>
                        <a:t>World Championship Series</a:t>
                      </a:r>
                    </a:p>
                  </a:txBody>
                  <a:tcPr>
                    <a:solidFill>
                      <a:srgbClr val="F2F2F2"/>
                    </a:solidFill>
                  </a:tcPr>
                </a:tc>
                <a:tc>
                  <a:txBody>
                    <a:bodyPr/>
                    <a:lstStyle/>
                    <a:p>
                      <a:pPr algn="ctr"/>
                      <a:r>
                        <a:rPr sz="1400" b="0" i="0">
                          <a:solidFill>
                            <a:srgbClr val="262626"/>
                          </a:solidFill>
                          <a:latin typeface="Arial"/>
                        </a:rPr>
                        <a:t>54</a:t>
                      </a:r>
                    </a:p>
                  </a:txBody>
                  <a:tcPr>
                    <a:solidFill>
                      <a:srgbClr val="F2F2F2"/>
                    </a:solidFill>
                  </a:tcPr>
                </a:tc>
                <a:tc>
                  <a:txBody>
                    <a:bodyPr/>
                    <a:lstStyle/>
                    <a:p>
                      <a:pPr algn="ctr"/>
                      <a:r>
                        <a:rPr sz="1400" b="0" i="0">
                          <a:solidFill>
                            <a:srgbClr val="262626"/>
                          </a:solidFill>
                          <a:latin typeface="Arial"/>
                        </a:rPr>
                        <a:t>15</a:t>
                      </a:r>
                    </a:p>
                  </a:txBody>
                  <a:tcPr>
                    <a:solidFill>
                      <a:srgbClr val="F2F2F2"/>
                    </a:solidFill>
                  </a:tcPr>
                </a:tc>
                <a:tc>
                  <a:txBody>
                    <a:bodyPr/>
                    <a:lstStyle/>
                    <a:p>
                      <a:pPr algn="l"/>
                      <a:r>
                        <a:rPr sz="1400" b="0" i="0">
                          <a:solidFill>
                            <a:srgbClr val="262626"/>
                          </a:solidFill>
                          <a:latin typeface="Arial"/>
                        </a:rPr>
                        <a:t>Brownlee</a:t>
                      </a:r>
                    </a:p>
                  </a:txBody>
                  <a:tcPr>
                    <a:solidFill>
                      <a:srgbClr val="F2F2F2"/>
                    </a:solidFill>
                  </a:tcPr>
                </a:tc>
                <a:tc>
                  <a:txBody>
                    <a:bodyPr/>
                    <a:lstStyle/>
                    <a:p>
                      <a:pPr algn="ctr"/>
                      <a:r>
                        <a:rPr sz="1400" b="0" i="0">
                          <a:solidFill>
                            <a:srgbClr val="262626"/>
                          </a:solidFill>
                          <a:latin typeface="Arial"/>
                        </a:rPr>
                        <a:t>54:52</a:t>
                      </a:r>
                    </a:p>
                  </a:txBody>
                  <a:tcPr>
                    <a:solidFill>
                      <a:srgbClr val="F2F2F2"/>
                    </a:solidFill>
                  </a:tcPr>
                </a:tc>
                <a:tc>
                  <a:txBody>
                    <a:bodyPr/>
                    <a:lstStyle/>
                    <a:p>
                      <a:pPr algn="ctr"/>
                      <a:r>
                        <a:rPr sz="1400" b="0" i="0">
                          <a:solidFill>
                            <a:srgbClr val="262626"/>
                          </a:solidFill>
                          <a:latin typeface="Arial"/>
                        </a:rPr>
                        <a:t>16.0°*</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512064">
                <a:tc>
                  <a:txBody>
                    <a:bodyPr/>
                    <a:lstStyle/>
                    <a:p>
                      <a:pPr algn="ctr"/>
                      <a:r>
                        <a:rPr sz="1400" b="0" i="0">
                          <a:solidFill>
                            <a:srgbClr val="262626"/>
                          </a:solidFill>
                          <a:latin typeface="Arial"/>
                        </a:rPr>
                        <a:t>2021</a:t>
                      </a:r>
                    </a:p>
                  </a:txBody>
                  <a:tcPr>
                    <a:solidFill>
                      <a:srgbClr val="FFFFFF"/>
                    </a:solidFill>
                  </a:tcPr>
                </a:tc>
                <a:tc>
                  <a:txBody>
                    <a:bodyPr/>
                    <a:lstStyle/>
                    <a:p>
                      <a:pPr algn="ctr"/>
                      <a:r>
                        <a:rPr sz="1400" b="0" i="0">
                          <a:solidFill>
                            <a:srgbClr val="262626"/>
                          </a:solidFill>
                          <a:latin typeface="Arial"/>
                        </a:rPr>
                        <a:t>Aug 21</a:t>
                      </a:r>
                    </a:p>
                  </a:txBody>
                  <a:tcPr>
                    <a:solidFill>
                      <a:srgbClr val="FFFFFF"/>
                    </a:solidFill>
                  </a:tcPr>
                </a:tc>
                <a:tc>
                  <a:txBody>
                    <a:bodyPr/>
                    <a:lstStyle/>
                    <a:p>
                      <a:pPr algn="l"/>
                      <a:r>
                        <a:rPr sz="1200" b="0" i="0">
                          <a:solidFill>
                            <a:srgbClr val="262626"/>
                          </a:solidFill>
                          <a:latin typeface="Arial"/>
                        </a:rPr>
                        <a:t>World Championships, World Championship Series</a:t>
                      </a:r>
                    </a:p>
                  </a:txBody>
                  <a:tcPr>
                    <a:solidFill>
                      <a:srgbClr val="FFFFFF"/>
                    </a:solidFill>
                  </a:tcPr>
                </a:tc>
                <a:tc>
                  <a:txBody>
                    <a:bodyPr/>
                    <a:lstStyle/>
                    <a:p>
                      <a:pPr algn="ctr"/>
                      <a:r>
                        <a:rPr sz="1400" b="0" i="0">
                          <a:solidFill>
                            <a:srgbClr val="262626"/>
                          </a:solidFill>
                          <a:latin typeface="Arial"/>
                        </a:rPr>
                        <a:t>40</a:t>
                      </a:r>
                    </a:p>
                  </a:txBody>
                  <a:tcPr>
                    <a:solidFill>
                      <a:srgbClr val="FFFFFF"/>
                    </a:solidFill>
                  </a:tcPr>
                </a:tc>
                <a:tc>
                  <a:txBody>
                    <a:bodyPr/>
                    <a:lstStyle/>
                    <a:p>
                      <a:pPr algn="ctr"/>
                      <a:r>
                        <a:rPr sz="1400" b="0" i="0">
                          <a:solidFill>
                            <a:srgbClr val="262626"/>
                          </a:solidFill>
                          <a:latin typeface="Arial"/>
                        </a:rPr>
                        <a:t>6</a:t>
                      </a:r>
                    </a:p>
                  </a:txBody>
                  <a:tcPr>
                    <a:solidFill>
                      <a:srgbClr val="FFFFFF"/>
                    </a:solidFill>
                  </a:tcPr>
                </a:tc>
                <a:tc>
                  <a:txBody>
                    <a:bodyPr/>
                    <a:lstStyle/>
                    <a:p>
                      <a:pPr algn="l"/>
                      <a:r>
                        <a:rPr sz="1400" b="0" i="0">
                          <a:solidFill>
                            <a:srgbClr val="262626"/>
                          </a:solidFill>
                          <a:latin typeface="Arial"/>
                        </a:rPr>
                        <a:t>Blummenfelt</a:t>
                      </a:r>
                    </a:p>
                  </a:txBody>
                  <a:tcPr>
                    <a:solidFill>
                      <a:srgbClr val="FFFFFF"/>
                    </a:solidFill>
                  </a:tcPr>
                </a:tc>
                <a:tc>
                  <a:txBody>
                    <a:bodyPr/>
                    <a:lstStyle/>
                    <a:p>
                      <a:pPr algn="ctr"/>
                      <a:r>
                        <a:rPr sz="1400" b="0" i="0">
                          <a:solidFill>
                            <a:srgbClr val="262626"/>
                          </a:solidFill>
                          <a:latin typeface="Arial"/>
                        </a:rPr>
                        <a:t>1:44:14</a:t>
                      </a:r>
                    </a:p>
                  </a:txBody>
                  <a:tcPr>
                    <a:solidFill>
                      <a:srgbClr val="FFFFFF"/>
                    </a:solidFill>
                  </a:tcPr>
                </a:tc>
                <a:tc>
                  <a:txBody>
                    <a:bodyPr/>
                    <a:lstStyle/>
                    <a:p>
                      <a:pPr algn="ctr"/>
                      <a:r>
                        <a:rPr sz="1400" b="0" i="0">
                          <a:solidFill>
                            <a:srgbClr val="262626"/>
                          </a:solidFill>
                          <a:latin typeface="Arial"/>
                        </a:rPr>
                        <a:t>12.5°*</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512064">
                <a:tc>
                  <a:txBody>
                    <a:bodyPr/>
                    <a:lstStyle/>
                    <a:p>
                      <a:pPr algn="ctr"/>
                      <a:r>
                        <a:rPr sz="1400" b="0" i="0">
                          <a:solidFill>
                            <a:srgbClr val="262626"/>
                          </a:solidFill>
                          <a:latin typeface="Arial"/>
                        </a:rPr>
                        <a:t>2023</a:t>
                      </a:r>
                    </a:p>
                  </a:txBody>
                  <a:tcPr>
                    <a:solidFill>
                      <a:srgbClr val="F2F2F2"/>
                    </a:solidFill>
                  </a:tcPr>
                </a:tc>
                <a:tc>
                  <a:txBody>
                    <a:bodyPr/>
                    <a:lstStyle/>
                    <a:p>
                      <a:pPr algn="ctr"/>
                      <a:r>
                        <a:rPr sz="1400" b="0" i="0">
                          <a:solidFill>
                            <a:srgbClr val="262626"/>
                          </a:solidFill>
                          <a:latin typeface="Arial"/>
                        </a:rPr>
                        <a:t>Aug 26</a:t>
                      </a:r>
                    </a:p>
                  </a:txBody>
                  <a:tcPr>
                    <a:solidFill>
                      <a:srgbClr val="F2F2F2"/>
                    </a:solidFill>
                  </a:tcPr>
                </a:tc>
                <a:tc>
                  <a:txBody>
                    <a:bodyPr/>
                    <a:lstStyle/>
                    <a:p>
                      <a:pPr algn="l"/>
                      <a:r>
                        <a:rPr sz="1200" b="0" i="0">
                          <a:solidFill>
                            <a:srgbClr val="262626"/>
                          </a:solidFill>
                          <a:latin typeface="Arial"/>
                        </a:rPr>
                        <a:t>Continental Cup *</a:t>
                      </a:r>
                    </a:p>
                  </a:txBody>
                  <a:tcPr>
                    <a:solidFill>
                      <a:srgbClr val="F2F2F2"/>
                    </a:solidFill>
                  </a:tcPr>
                </a:tc>
                <a:tc>
                  <a:txBody>
                    <a:bodyPr/>
                    <a:lstStyle/>
                    <a:p>
                      <a:pPr algn="ctr"/>
                      <a:r>
                        <a:rPr sz="1400" b="0" i="0">
                          <a:solidFill>
                            <a:srgbClr val="262626"/>
                          </a:solidFill>
                          <a:latin typeface="Arial"/>
                        </a:rPr>
                        <a:t>33</a:t>
                      </a:r>
                    </a:p>
                  </a:txBody>
                  <a:tcPr>
                    <a:solidFill>
                      <a:srgbClr val="F2F2F2"/>
                    </a:solidFill>
                  </a:tcPr>
                </a:tc>
                <a:tc>
                  <a:txBody>
                    <a:bodyPr/>
                    <a:lstStyle/>
                    <a:p>
                      <a:pPr algn="ctr"/>
                      <a:r>
                        <a:rPr sz="1400" b="0" i="0">
                          <a:solidFill>
                            <a:srgbClr val="262626"/>
                          </a:solidFill>
                          <a:latin typeface="Arial"/>
                        </a:rPr>
                        <a:t>3</a:t>
                      </a:r>
                    </a:p>
                  </a:txBody>
                  <a:tcPr>
                    <a:solidFill>
                      <a:srgbClr val="F2F2F2"/>
                    </a:solidFill>
                  </a:tcPr>
                </a:tc>
                <a:tc>
                  <a:txBody>
                    <a:bodyPr/>
                    <a:lstStyle/>
                    <a:p>
                      <a:pPr algn="l"/>
                      <a:r>
                        <a:rPr sz="1400" b="0" i="0">
                          <a:solidFill>
                            <a:srgbClr val="262626"/>
                          </a:solidFill>
                          <a:latin typeface="Arial"/>
                        </a:rPr>
                        <a:t>Briand</a:t>
                      </a:r>
                    </a:p>
                  </a:txBody>
                  <a:tcPr>
                    <a:solidFill>
                      <a:srgbClr val="F2F2F2"/>
                    </a:solidFill>
                  </a:tcPr>
                </a:tc>
                <a:tc>
                  <a:txBody>
                    <a:bodyPr/>
                    <a:lstStyle/>
                    <a:p>
                      <a:pPr algn="ctr"/>
                      <a:r>
                        <a:rPr sz="1400" b="0" i="0">
                          <a:solidFill>
                            <a:srgbClr val="262626"/>
                          </a:solidFill>
                          <a:latin typeface="Arial"/>
                        </a:rPr>
                        <a:t>49:39</a:t>
                      </a:r>
                    </a:p>
                  </a:txBody>
                  <a:tcPr>
                    <a:solidFill>
                      <a:srgbClr val="F2F2F2"/>
                    </a:solidFill>
                  </a:tcPr>
                </a:tc>
                <a:tc>
                  <a:txBody>
                    <a:bodyPr/>
                    <a:lstStyle/>
                    <a:p>
                      <a:pPr algn="ctr"/>
                      <a:r>
                        <a:rPr sz="1400" b="0" i="0">
                          <a:solidFill>
                            <a:srgbClr val="262626"/>
                          </a:solidFill>
                          <a:latin typeface="Arial"/>
                        </a:rPr>
                        <a:t>20</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18.8</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512064">
                <a:tc>
                  <a:txBody>
                    <a:bodyPr/>
                    <a:lstStyle/>
                    <a:p>
                      <a:pPr algn="ctr"/>
                      <a:r>
                        <a:rPr sz="1400" b="0" i="0">
                          <a:solidFill>
                            <a:srgbClr val="262626"/>
                          </a:solidFill>
                          <a:latin typeface="Arial"/>
                        </a:rPr>
                        <a:t>2024</a:t>
                      </a:r>
                    </a:p>
                  </a:txBody>
                  <a:tcPr>
                    <a:solidFill>
                      <a:srgbClr val="FFFFFF"/>
                    </a:solidFill>
                  </a:tcPr>
                </a:tc>
                <a:tc>
                  <a:txBody>
                    <a:bodyPr/>
                    <a:lstStyle/>
                    <a:p>
                      <a:pPr algn="ctr"/>
                      <a:r>
                        <a:rPr sz="1400" b="0" i="0">
                          <a:solidFill>
                            <a:srgbClr val="262626"/>
                          </a:solidFill>
                          <a:latin typeface="Arial"/>
                        </a:rPr>
                        <a:t>Aug 24</a:t>
                      </a:r>
                    </a:p>
                  </a:txBody>
                  <a:tcPr>
                    <a:solidFill>
                      <a:srgbClr val="FFFFFF"/>
                    </a:solidFill>
                  </a:tcPr>
                </a:tc>
                <a:tc>
                  <a:txBody>
                    <a:bodyPr/>
                    <a:lstStyle/>
                    <a:p>
                      <a:pPr algn="l"/>
                      <a:r>
                        <a:rPr sz="1200" b="0" i="0">
                          <a:solidFill>
                            <a:srgbClr val="262626"/>
                          </a:solidFill>
                          <a:latin typeface="Arial"/>
                        </a:rPr>
                        <a:t>Continental Cup *</a:t>
                      </a:r>
                    </a:p>
                  </a:txBody>
                  <a:tcPr>
                    <a:solidFill>
                      <a:srgbClr val="FFFFFF"/>
                    </a:solidFill>
                  </a:tcPr>
                </a:tc>
                <a:tc>
                  <a:txBody>
                    <a:bodyPr/>
                    <a:lstStyle/>
                    <a:p>
                      <a:pPr algn="ctr"/>
                      <a:r>
                        <a:rPr sz="1400" b="0" i="0">
                          <a:solidFill>
                            <a:srgbClr val="262626"/>
                          </a:solidFill>
                          <a:latin typeface="Arial"/>
                        </a:rPr>
                        <a:t>35</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l"/>
                      <a:r>
                        <a:rPr sz="1400" b="0" i="0">
                          <a:solidFill>
                            <a:srgbClr val="262626"/>
                          </a:solidFill>
                          <a:latin typeface="Arial"/>
                        </a:rPr>
                        <a:t>Damian</a:t>
                      </a:r>
                    </a:p>
                  </a:txBody>
                  <a:tcPr>
                    <a:solidFill>
                      <a:srgbClr val="FFFFFF"/>
                    </a:solidFill>
                  </a:tcPr>
                </a:tc>
                <a:tc>
                  <a:txBody>
                    <a:bodyPr/>
                    <a:lstStyle/>
                    <a:p>
                      <a:pPr algn="ctr"/>
                      <a:r>
                        <a:rPr sz="1400" b="0" i="0">
                          <a:solidFill>
                            <a:srgbClr val="262626"/>
                          </a:solidFill>
                          <a:latin typeface="Arial"/>
                        </a:rPr>
                        <a:t>50:06</a:t>
                      </a:r>
                    </a:p>
                  </a:txBody>
                  <a:tcPr>
                    <a:solidFill>
                      <a:srgbClr val="FFFFFF"/>
                    </a:solidFill>
                  </a:tcPr>
                </a:tc>
                <a:tc>
                  <a:txBody>
                    <a:bodyPr/>
                    <a:lstStyle/>
                    <a:p>
                      <a:pPr algn="ctr"/>
                      <a:r>
                        <a:rPr sz="1400" b="0" i="0">
                          <a:solidFill>
                            <a:srgbClr val="262626"/>
                          </a:solidFill>
                          <a:latin typeface="Arial"/>
                        </a:rPr>
                        <a:t>18.2°*</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20.0</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274320" y="1481328"/>
            <a:ext cx="11640312" cy="3749039"/>
          </a:xfrm>
          <a:prstGeom prst="rect">
            <a:avLst/>
          </a:prstGeom>
        </p:spPr>
      </p:pic>
      <p:graphicFrame>
        <p:nvGraphicFramePr>
          <p:cNvPr id="10" name="Table 9"/>
          <p:cNvGraphicFramePr>
            <a:graphicFrameLocks noGrp="1"/>
          </p:cNvGraphicFramePr>
          <p:nvPr/>
        </p:nvGraphicFramePr>
        <p:xfrm>
          <a:off x="274320" y="5285232"/>
          <a:ext cx="11640311" cy="1417320"/>
        </p:xfrm>
        <a:graphic>
          <a:graphicData uri="http://schemas.openxmlformats.org/drawingml/2006/table">
            <a:tbl>
              <a:tblPr firstRow="1" bandRow="1">
                <a:tableStyleId>{5C22544A-7EE6-4342-B048-85BDC9FD1C3A}</a:tableStyleId>
              </a:tblPr>
              <a:tblGrid>
                <a:gridCol w="685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3822191">
                  <a:extLst>
                    <a:ext uri="{9D8B030D-6E8A-4147-A177-3AD203B41FA5}">
                      <a16:colId xmlns:a16="http://schemas.microsoft.com/office/drawing/2014/main" val="20005"/>
                    </a:ext>
                  </a:extLst>
                </a:gridCol>
              </a:tblGrid>
              <a:tr h="236220">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Lead Size @ T1</a:t>
                      </a:r>
                    </a:p>
                  </a:txBody>
                  <a:tcPr>
                    <a:solidFill>
                      <a:srgbClr val="002060"/>
                    </a:solidFill>
                  </a:tcPr>
                </a:tc>
                <a:tc>
                  <a:txBody>
                    <a:bodyPr/>
                    <a:lstStyle/>
                    <a:p>
                      <a:pPr algn="ctr"/>
                      <a:r>
                        <a:rPr sz="1000" b="1" i="0">
                          <a:solidFill>
                            <a:srgbClr val="FFFFFF"/>
                          </a:solidFill>
                          <a:latin typeface="Arial"/>
                        </a:rPr>
                        <a:t>Lead Size @ T2</a:t>
                      </a:r>
                    </a:p>
                  </a:txBody>
                  <a:tcPr>
                    <a:solidFill>
                      <a:srgbClr val="002060"/>
                    </a:solidFill>
                  </a:tcPr>
                </a:tc>
                <a:tc>
                  <a:txBody>
                    <a:bodyPr/>
                    <a:lstStyle/>
                    <a:p>
                      <a:pPr algn="ctr"/>
                      <a:r>
                        <a:rPr sz="1000" b="1" i="0">
                          <a:solidFill>
                            <a:srgbClr val="FFFFFF"/>
                          </a:solidFill>
                          <a:latin typeface="Arial"/>
                        </a:rPr>
                        <a:t>Change</a:t>
                      </a:r>
                    </a:p>
                  </a:txBody>
                  <a:tcPr>
                    <a:solidFill>
                      <a:srgbClr val="002060"/>
                    </a:solidFill>
                  </a:tcPr>
                </a:tc>
                <a:tc>
                  <a:txBody>
                    <a:bodyPr/>
                    <a:lstStyle/>
                    <a:p>
                      <a:pPr algn="ctr"/>
                      <a:r>
                        <a:rPr sz="1000" b="1" i="0">
                          <a:solidFill>
                            <a:srgbClr val="FFFFFF"/>
                          </a:solidFill>
                          <a:latin typeface="Arial"/>
                        </a:rPr>
                        <a:t>Chase Group @ T2</a:t>
                      </a:r>
                    </a:p>
                  </a:txBody>
                  <a:tcPr>
                    <a:solidFill>
                      <a:srgbClr val="002060"/>
                    </a:solidFill>
                  </a:tcPr>
                </a:tc>
                <a:tc>
                  <a:txBody>
                    <a:bodyPr/>
                    <a:lstStyle/>
                    <a:p>
                      <a:pPr algn="ctr"/>
                      <a:r>
                        <a:rPr sz="1000" b="1" i="0">
                          <a:solidFill>
                            <a:srgbClr val="FFFFFF"/>
                          </a:solidFill>
                          <a:latin typeface="Arial"/>
                        </a:rPr>
                        <a:t>Chase Gap*</a:t>
                      </a:r>
                    </a:p>
                  </a:txBody>
                  <a:tcPr>
                    <a:solidFill>
                      <a:srgbClr val="002060"/>
                    </a:solidFill>
                  </a:tcPr>
                </a:tc>
                <a:extLst>
                  <a:ext uri="{0D108BD9-81ED-4DB2-BD59-A6C34878D82A}">
                    <a16:rowId xmlns:a16="http://schemas.microsoft.com/office/drawing/2014/main" val="10000"/>
                  </a:ext>
                </a:extLst>
              </a:tr>
              <a:tr h="236220">
                <a:tc>
                  <a:txBody>
                    <a:bodyPr/>
                    <a:lstStyle/>
                    <a:p>
                      <a:pPr algn="ctr"/>
                      <a:r>
                        <a:rPr sz="950" b="0" i="0">
                          <a:solidFill>
                            <a:srgbClr val="262626"/>
                          </a:solidFill>
                          <a:latin typeface="Arial"/>
                        </a:rPr>
                        <a:t>2018</a:t>
                      </a:r>
                    </a:p>
                  </a:txBody>
                  <a:tcPr>
                    <a:solidFill>
                      <a:srgbClr val="FFFFFF"/>
                    </a:solidFill>
                  </a:tcPr>
                </a:tc>
                <a:tc>
                  <a:txBody>
                    <a:bodyPr/>
                    <a:lstStyle/>
                    <a:p>
                      <a:pPr algn="ctr"/>
                      <a:r>
                        <a:rPr sz="950" b="0" i="0">
                          <a:solidFill>
                            <a:srgbClr val="262626"/>
                          </a:solidFill>
                          <a:latin typeface="Arial"/>
                        </a:rPr>
                        <a:t>8</a:t>
                      </a:r>
                    </a:p>
                  </a:txBody>
                  <a:tcPr>
                    <a:solidFill>
                      <a:srgbClr val="FFFFFF"/>
                    </a:solidFill>
                  </a:tcPr>
                </a:tc>
                <a:tc>
                  <a:txBody>
                    <a:bodyPr/>
                    <a:lstStyle/>
                    <a:p>
                      <a:pPr algn="ctr"/>
                      <a:r>
                        <a:rPr sz="950" b="0" i="0">
                          <a:solidFill>
                            <a:srgbClr val="262626"/>
                          </a:solidFill>
                          <a:latin typeface="Arial"/>
                        </a:rPr>
                        <a:t>27</a:t>
                      </a:r>
                    </a:p>
                  </a:txBody>
                  <a:tcPr>
                    <a:solidFill>
                      <a:srgbClr val="FFFFFF"/>
                    </a:solidFill>
                  </a:tcPr>
                </a:tc>
                <a:tc>
                  <a:txBody>
                    <a:bodyPr/>
                    <a:lstStyle/>
                    <a:p>
                      <a:pPr algn="ctr"/>
                      <a:r>
                        <a:rPr sz="950" b="0" i="0">
                          <a:solidFill>
                            <a:srgbClr val="262626"/>
                          </a:solidFill>
                          <a:latin typeface="Arial"/>
                        </a:rPr>
                        <a:t>+19</a:t>
                      </a:r>
                    </a:p>
                  </a:txBody>
                  <a:tcPr>
                    <a:solidFill>
                      <a:srgbClr val="FFFFFF"/>
                    </a:solidFill>
                  </a:tcPr>
                </a:tc>
                <a:tc>
                  <a:txBody>
                    <a:bodyPr/>
                    <a:lstStyle/>
                    <a:p>
                      <a:pPr algn="ctr"/>
                      <a:r>
                        <a:rPr sz="950" b="0" i="0">
                          <a:solidFill>
                            <a:srgbClr val="262626"/>
                          </a:solidFill>
                          <a:latin typeface="Arial"/>
                        </a:rPr>
                        <a:t>19</a:t>
                      </a:r>
                    </a:p>
                  </a:txBody>
                  <a:tcPr>
                    <a:solidFill>
                      <a:srgbClr val="FFFFFF"/>
                    </a:solidFill>
                  </a:tcPr>
                </a:tc>
                <a:tc>
                  <a:txBody>
                    <a:bodyPr/>
                    <a:lstStyle/>
                    <a:p>
                      <a:pPr algn="ctr"/>
                      <a:r>
                        <a:rPr sz="950" b="0" i="0">
                          <a:solidFill>
                            <a:srgbClr val="262626"/>
                          </a:solidFill>
                          <a:latin typeface="Arial"/>
                        </a:rPr>
                        <a:t>110s</a:t>
                      </a:r>
                    </a:p>
                  </a:txBody>
                  <a:tcPr>
                    <a:solidFill>
                      <a:srgbClr val="FFFFFF"/>
                    </a:solidFill>
                  </a:tcPr>
                </a:tc>
                <a:extLst>
                  <a:ext uri="{0D108BD9-81ED-4DB2-BD59-A6C34878D82A}">
                    <a16:rowId xmlns:a16="http://schemas.microsoft.com/office/drawing/2014/main" val="10001"/>
                  </a:ext>
                </a:extLst>
              </a:tr>
              <a:tr h="236220">
                <a:tc>
                  <a:txBody>
                    <a:bodyPr/>
                    <a:lstStyle/>
                    <a:p>
                      <a:pPr algn="ctr"/>
                      <a:r>
                        <a:rPr sz="950" b="0" i="0">
                          <a:solidFill>
                            <a:srgbClr val="262626"/>
                          </a:solidFill>
                          <a:latin typeface="Arial"/>
                        </a:rPr>
                        <a:t>2019</a:t>
                      </a:r>
                    </a:p>
                  </a:txBody>
                  <a:tcPr>
                    <a:solidFill>
                      <a:srgbClr val="F2F2F2"/>
                    </a:solidFill>
                  </a:tcPr>
                </a:tc>
                <a:tc>
                  <a:txBody>
                    <a:bodyPr/>
                    <a:lstStyle/>
                    <a:p>
                      <a:pPr algn="ctr"/>
                      <a:r>
                        <a:rPr sz="950" b="0" i="0">
                          <a:solidFill>
                            <a:srgbClr val="262626"/>
                          </a:solidFill>
                          <a:latin typeface="Arial"/>
                        </a:rPr>
                        <a:t>9</a:t>
                      </a:r>
                    </a:p>
                  </a:txBody>
                  <a:tcPr>
                    <a:solidFill>
                      <a:srgbClr val="F2F2F2"/>
                    </a:solidFill>
                  </a:tcPr>
                </a:tc>
                <a:tc>
                  <a:txBody>
                    <a:bodyPr/>
                    <a:lstStyle/>
                    <a:p>
                      <a:pPr algn="ctr"/>
                      <a:r>
                        <a:rPr sz="950" b="0" i="0">
                          <a:solidFill>
                            <a:srgbClr val="262626"/>
                          </a:solidFill>
                          <a:latin typeface="Arial"/>
                        </a:rPr>
                        <a:t>5</a:t>
                      </a:r>
                    </a:p>
                  </a:txBody>
                  <a:tcPr>
                    <a:solidFill>
                      <a:srgbClr val="F2F2F2"/>
                    </a:solidFill>
                  </a:tcPr>
                </a:tc>
                <a:tc>
                  <a:txBody>
                    <a:bodyPr/>
                    <a:lstStyle/>
                    <a:p>
                      <a:pPr algn="ctr"/>
                      <a:r>
                        <a:rPr sz="950" b="0" i="0">
                          <a:solidFill>
                            <a:srgbClr val="262626"/>
                          </a:solidFill>
                          <a:latin typeface="Arial"/>
                        </a:rPr>
                        <a:t>-4</a:t>
                      </a:r>
                    </a:p>
                  </a:txBody>
                  <a:tcPr>
                    <a:solidFill>
                      <a:srgbClr val="F2F2F2"/>
                    </a:solidFill>
                  </a:tcPr>
                </a:tc>
                <a:tc>
                  <a:txBody>
                    <a:bodyPr/>
                    <a:lstStyle/>
                    <a:p>
                      <a:pPr algn="ctr"/>
                      <a:r>
                        <a:rPr sz="950" b="0" i="0">
                          <a:solidFill>
                            <a:srgbClr val="262626"/>
                          </a:solidFill>
                          <a:latin typeface="Arial"/>
                        </a:rPr>
                        <a:t>22</a:t>
                      </a:r>
                    </a:p>
                  </a:txBody>
                  <a:tcPr>
                    <a:solidFill>
                      <a:srgbClr val="F2F2F2"/>
                    </a:solidFill>
                  </a:tcPr>
                </a:tc>
                <a:tc>
                  <a:txBody>
                    <a:bodyPr/>
                    <a:lstStyle/>
                    <a:p>
                      <a:pPr algn="ctr"/>
                      <a:r>
                        <a:rPr sz="950" b="0" i="0">
                          <a:solidFill>
                            <a:srgbClr val="262626"/>
                          </a:solidFill>
                          <a:latin typeface="Arial"/>
                        </a:rPr>
                        <a:t>15s</a:t>
                      </a:r>
                    </a:p>
                  </a:txBody>
                  <a:tcPr>
                    <a:solidFill>
                      <a:srgbClr val="F2F2F2"/>
                    </a:solidFill>
                  </a:tcPr>
                </a:tc>
                <a:extLst>
                  <a:ext uri="{0D108BD9-81ED-4DB2-BD59-A6C34878D82A}">
                    <a16:rowId xmlns:a16="http://schemas.microsoft.com/office/drawing/2014/main" val="10002"/>
                  </a:ext>
                </a:extLst>
              </a:tr>
              <a:tr h="236220">
                <a:tc>
                  <a:txBody>
                    <a:bodyPr/>
                    <a:lstStyle/>
                    <a:p>
                      <a:pPr algn="ctr"/>
                      <a:r>
                        <a:rPr sz="950" b="0" i="0">
                          <a:solidFill>
                            <a:srgbClr val="262626"/>
                          </a:solidFill>
                          <a:latin typeface="Arial"/>
                        </a:rPr>
                        <a:t>2021</a:t>
                      </a:r>
                    </a:p>
                  </a:txBody>
                  <a:tcPr>
                    <a:solidFill>
                      <a:srgbClr val="FFFFFF"/>
                    </a:solidFill>
                  </a:tcPr>
                </a:tc>
                <a:tc>
                  <a:txBody>
                    <a:bodyPr/>
                    <a:lstStyle/>
                    <a:p>
                      <a:pPr algn="ctr"/>
                      <a:r>
                        <a:rPr sz="950" b="0" i="0">
                          <a:solidFill>
                            <a:srgbClr val="262626"/>
                          </a:solidFill>
                          <a:latin typeface="Arial"/>
                        </a:rPr>
                        <a:t>4</a:t>
                      </a:r>
                    </a:p>
                  </a:txBody>
                  <a:tcPr>
                    <a:solidFill>
                      <a:srgbClr val="FFFFFF"/>
                    </a:solidFill>
                  </a:tcPr>
                </a:tc>
                <a:tc>
                  <a:txBody>
                    <a:bodyPr/>
                    <a:lstStyle/>
                    <a:p>
                      <a:pPr algn="ctr"/>
                      <a:r>
                        <a:rPr sz="950" b="0" i="0">
                          <a:solidFill>
                            <a:srgbClr val="262626"/>
                          </a:solidFill>
                          <a:latin typeface="Arial"/>
                        </a:rPr>
                        <a:t>20</a:t>
                      </a:r>
                    </a:p>
                  </a:txBody>
                  <a:tcPr>
                    <a:solidFill>
                      <a:srgbClr val="FFFFFF"/>
                    </a:solidFill>
                  </a:tcPr>
                </a:tc>
                <a:tc>
                  <a:txBody>
                    <a:bodyPr/>
                    <a:lstStyle/>
                    <a:p>
                      <a:pPr algn="ctr"/>
                      <a:r>
                        <a:rPr sz="950" b="0" i="0">
                          <a:solidFill>
                            <a:srgbClr val="262626"/>
                          </a:solidFill>
                          <a:latin typeface="Arial"/>
                        </a:rPr>
                        <a:t>+16</a:t>
                      </a:r>
                    </a:p>
                  </a:txBody>
                  <a:tcPr>
                    <a:solidFill>
                      <a:srgbClr val="FFFFFF"/>
                    </a:solidFill>
                  </a:tcPr>
                </a:tc>
                <a:tc>
                  <a:txBody>
                    <a:bodyPr/>
                    <a:lstStyle/>
                    <a:p>
                      <a:pPr algn="ctr"/>
                      <a:r>
                        <a:rPr sz="950" b="0" i="0">
                          <a:solidFill>
                            <a:srgbClr val="262626"/>
                          </a:solidFill>
                          <a:latin typeface="Arial"/>
                        </a:rPr>
                        <a:t>10</a:t>
                      </a:r>
                    </a:p>
                  </a:txBody>
                  <a:tcPr>
                    <a:solidFill>
                      <a:srgbClr val="FFFFFF"/>
                    </a:solidFill>
                  </a:tcPr>
                </a:tc>
                <a:tc>
                  <a:txBody>
                    <a:bodyPr/>
                    <a:lstStyle/>
                    <a:p>
                      <a:pPr algn="ctr"/>
                      <a:r>
                        <a:rPr sz="950" b="0" i="0">
                          <a:solidFill>
                            <a:srgbClr val="262626"/>
                          </a:solidFill>
                          <a:latin typeface="Arial"/>
                        </a:rPr>
                        <a:t>78s</a:t>
                      </a:r>
                    </a:p>
                  </a:txBody>
                  <a:tcPr>
                    <a:solidFill>
                      <a:srgbClr val="FFFFFF"/>
                    </a:solidFill>
                  </a:tcPr>
                </a:tc>
                <a:extLst>
                  <a:ext uri="{0D108BD9-81ED-4DB2-BD59-A6C34878D82A}">
                    <a16:rowId xmlns:a16="http://schemas.microsoft.com/office/drawing/2014/main" val="10003"/>
                  </a:ext>
                </a:extLst>
              </a:tr>
              <a:tr h="236220">
                <a:tc>
                  <a:txBody>
                    <a:bodyPr/>
                    <a:lstStyle/>
                    <a:p>
                      <a:pPr algn="ctr"/>
                      <a:r>
                        <a:rPr sz="950" b="0" i="0">
                          <a:solidFill>
                            <a:srgbClr val="262626"/>
                          </a:solidFill>
                          <a:latin typeface="Arial"/>
                        </a:rPr>
                        <a:t>2023</a:t>
                      </a:r>
                    </a:p>
                  </a:txBody>
                  <a:tcPr>
                    <a:solidFill>
                      <a:srgbClr val="F2F2F2"/>
                    </a:solidFill>
                  </a:tcPr>
                </a:tc>
                <a:tc>
                  <a:txBody>
                    <a:bodyPr/>
                    <a:lstStyle/>
                    <a:p>
                      <a:pPr algn="ctr"/>
                      <a:r>
                        <a:rPr sz="950" b="0" i="0">
                          <a:solidFill>
                            <a:srgbClr val="262626"/>
                          </a:solidFill>
                          <a:latin typeface="Arial"/>
                        </a:rPr>
                        <a:t>22</a:t>
                      </a:r>
                    </a:p>
                  </a:txBody>
                  <a:tcPr>
                    <a:solidFill>
                      <a:srgbClr val="F2F2F2"/>
                    </a:solidFill>
                  </a:tcPr>
                </a:tc>
                <a:tc>
                  <a:txBody>
                    <a:bodyPr/>
                    <a:lstStyle/>
                    <a:p>
                      <a:pPr algn="ctr"/>
                      <a:r>
                        <a:rPr sz="950" b="0" i="0">
                          <a:solidFill>
                            <a:srgbClr val="262626"/>
                          </a:solidFill>
                          <a:latin typeface="Arial"/>
                        </a:rPr>
                        <a:t>18</a:t>
                      </a:r>
                    </a:p>
                  </a:txBody>
                  <a:tcPr>
                    <a:solidFill>
                      <a:srgbClr val="F2F2F2"/>
                    </a:solidFill>
                  </a:tcPr>
                </a:tc>
                <a:tc>
                  <a:txBody>
                    <a:bodyPr/>
                    <a:lstStyle/>
                    <a:p>
                      <a:pPr algn="ctr"/>
                      <a:r>
                        <a:rPr sz="950" b="0" i="0">
                          <a:solidFill>
                            <a:srgbClr val="262626"/>
                          </a:solidFill>
                          <a:latin typeface="Arial"/>
                        </a:rPr>
                        <a:t>-4</a:t>
                      </a:r>
                    </a:p>
                  </a:txBody>
                  <a:tcPr>
                    <a:solidFill>
                      <a:srgbClr val="F2F2F2"/>
                    </a:solidFill>
                  </a:tcPr>
                </a:tc>
                <a:tc>
                  <a:txBody>
                    <a:bodyPr/>
                    <a:lstStyle/>
                    <a:p>
                      <a:pPr algn="ctr"/>
                      <a:r>
                        <a:rPr sz="950" b="0" i="0">
                          <a:solidFill>
                            <a:srgbClr val="262626"/>
                          </a:solidFill>
                          <a:latin typeface="Arial"/>
                        </a:rPr>
                        <a:t>8</a:t>
                      </a:r>
                    </a:p>
                  </a:txBody>
                  <a:tcPr>
                    <a:solidFill>
                      <a:srgbClr val="F2F2F2"/>
                    </a:solidFill>
                  </a:tcPr>
                </a:tc>
                <a:tc>
                  <a:txBody>
                    <a:bodyPr/>
                    <a:lstStyle/>
                    <a:p>
                      <a:pPr algn="ctr"/>
                      <a:r>
                        <a:rPr sz="950" b="0" i="0">
                          <a:solidFill>
                            <a:srgbClr val="262626"/>
                          </a:solidFill>
                          <a:latin typeface="Arial"/>
                        </a:rPr>
                        <a:t>82s</a:t>
                      </a:r>
                    </a:p>
                  </a:txBody>
                  <a:tcPr>
                    <a:solidFill>
                      <a:srgbClr val="F2F2F2"/>
                    </a:solidFill>
                  </a:tcPr>
                </a:tc>
                <a:extLst>
                  <a:ext uri="{0D108BD9-81ED-4DB2-BD59-A6C34878D82A}">
                    <a16:rowId xmlns:a16="http://schemas.microsoft.com/office/drawing/2014/main" val="10004"/>
                  </a:ext>
                </a:extLst>
              </a:tr>
              <a:tr h="236220">
                <a:tc>
                  <a:txBody>
                    <a:bodyPr/>
                    <a:lstStyle/>
                    <a:p>
                      <a:pPr algn="ctr"/>
                      <a:r>
                        <a:rPr sz="950" b="0" i="0">
                          <a:solidFill>
                            <a:srgbClr val="262626"/>
                          </a:solidFill>
                          <a:latin typeface="Arial"/>
                        </a:rPr>
                        <a:t>2024</a:t>
                      </a:r>
                    </a:p>
                  </a:txBody>
                  <a:tcPr>
                    <a:solidFill>
                      <a:srgbClr val="FFFFFF"/>
                    </a:solidFill>
                  </a:tcPr>
                </a:tc>
                <a:tc>
                  <a:txBody>
                    <a:bodyPr/>
                    <a:lstStyle/>
                    <a:p>
                      <a:pPr algn="ctr"/>
                      <a:r>
                        <a:rPr sz="950" b="0" i="0">
                          <a:solidFill>
                            <a:srgbClr val="262626"/>
                          </a:solidFill>
                          <a:latin typeface="Arial"/>
                        </a:rPr>
                        <a:t>23</a:t>
                      </a:r>
                    </a:p>
                  </a:txBody>
                  <a:tcPr>
                    <a:solidFill>
                      <a:srgbClr val="FFFFFF"/>
                    </a:solidFill>
                  </a:tcPr>
                </a:tc>
                <a:tc>
                  <a:txBody>
                    <a:bodyPr/>
                    <a:lstStyle/>
                    <a:p>
                      <a:pPr algn="ctr"/>
                      <a:r>
                        <a:rPr sz="950" b="0" i="0">
                          <a:solidFill>
                            <a:srgbClr val="262626"/>
                          </a:solidFill>
                          <a:latin typeface="Arial"/>
                        </a:rPr>
                        <a:t>1</a:t>
                      </a:r>
                    </a:p>
                  </a:txBody>
                  <a:tcPr>
                    <a:solidFill>
                      <a:srgbClr val="FFFFFF"/>
                    </a:solidFill>
                  </a:tcPr>
                </a:tc>
                <a:tc>
                  <a:txBody>
                    <a:bodyPr/>
                    <a:lstStyle/>
                    <a:p>
                      <a:pPr algn="ctr"/>
                      <a:r>
                        <a:rPr sz="950" b="0" i="0">
                          <a:solidFill>
                            <a:srgbClr val="262626"/>
                          </a:solidFill>
                          <a:latin typeface="Arial"/>
                        </a:rPr>
                        <a:t>-22</a:t>
                      </a:r>
                    </a:p>
                  </a:txBody>
                  <a:tcPr>
                    <a:solidFill>
                      <a:srgbClr val="FFFFFF"/>
                    </a:solidFill>
                  </a:tcPr>
                </a:tc>
                <a:tc>
                  <a:txBody>
                    <a:bodyPr/>
                    <a:lstStyle/>
                    <a:p>
                      <a:pPr algn="ctr"/>
                      <a:r>
                        <a:rPr sz="950" b="0" i="0">
                          <a:solidFill>
                            <a:srgbClr val="262626"/>
                          </a:solidFill>
                          <a:latin typeface="Arial"/>
                        </a:rPr>
                        <a:t>12</a:t>
                      </a:r>
                    </a:p>
                  </a:txBody>
                  <a:tcPr>
                    <a:solidFill>
                      <a:srgbClr val="FFFFFF"/>
                    </a:solidFill>
                  </a:tcPr>
                </a:tc>
                <a:tc>
                  <a:txBody>
                    <a:bodyPr/>
                    <a:lstStyle/>
                    <a:p>
                      <a:pPr algn="ctr"/>
                      <a:r>
                        <a:rPr sz="950" b="0" i="0">
                          <a:solidFill>
                            <a:srgbClr val="262626"/>
                          </a:solidFill>
                          <a:latin typeface="Arial"/>
                        </a:rPr>
                        <a:t>38s</a:t>
                      </a:r>
                    </a:p>
                  </a:txBody>
                  <a:tcP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720840"/>
            <a:ext cx="11640312" cy="164592"/>
          </a:xfrm>
          <a:prstGeom prst="rect">
            <a:avLst/>
          </a:prstGeom>
          <a:noFill/>
        </p:spPr>
        <p:txBody>
          <a:bodyPr wrap="square">
            <a:spAutoFit/>
          </a:bodyPr>
          <a:lstStyle/>
          <a:p>
            <a:pPr algn="l"/>
            <a:r>
              <a:rPr sz="750" b="0" i="1">
                <a:solidFill>
                  <a:srgbClr val="BFBFBF"/>
                </a:solidFill>
                <a:latin typeface="Arial"/>
              </a:rPr>
              <a:t>Dropouts: 2018: 9 DNF/LAP (2 in lead group at bike)  |  2019: 15 DNF/LAP  |  2021: 6 DNF/LAP  |  2023: 3 DNF/LAP (1 in lead group at t1)</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084832"/>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833372">
                  <a:extLst>
                    <a:ext uri="{9D8B030D-6E8A-4147-A177-3AD203B41FA5}">
                      <a16:colId xmlns:a16="http://schemas.microsoft.com/office/drawing/2014/main" val="20001"/>
                    </a:ext>
                  </a:extLst>
                </a:gridCol>
                <a:gridCol w="1833372">
                  <a:extLst>
                    <a:ext uri="{9D8B030D-6E8A-4147-A177-3AD203B41FA5}">
                      <a16:colId xmlns:a16="http://schemas.microsoft.com/office/drawing/2014/main" val="20002"/>
                    </a:ext>
                  </a:extLst>
                </a:gridCol>
                <a:gridCol w="1833372">
                  <a:extLst>
                    <a:ext uri="{9D8B030D-6E8A-4147-A177-3AD203B41FA5}">
                      <a16:colId xmlns:a16="http://schemas.microsoft.com/office/drawing/2014/main" val="20003"/>
                    </a:ext>
                  </a:extLst>
                </a:gridCol>
                <a:gridCol w="1833372">
                  <a:extLst>
                    <a:ext uri="{9D8B030D-6E8A-4147-A177-3AD203B41FA5}">
                      <a16:colId xmlns:a16="http://schemas.microsoft.com/office/drawing/2014/main" val="20004"/>
                    </a:ext>
                  </a:extLst>
                </a:gridCol>
                <a:gridCol w="1833372">
                  <a:extLst>
                    <a:ext uri="{9D8B030D-6E8A-4147-A177-3AD203B41FA5}">
                      <a16:colId xmlns:a16="http://schemas.microsoft.com/office/drawing/2014/main" val="20005"/>
                    </a:ext>
                  </a:extLst>
                </a:gridCol>
                <a:gridCol w="1833372">
                  <a:extLst>
                    <a:ext uri="{9D8B030D-6E8A-4147-A177-3AD203B41FA5}">
                      <a16:colId xmlns:a16="http://schemas.microsoft.com/office/drawing/2014/main" val="20006"/>
                    </a:ext>
                  </a:extLst>
                </a:gridCol>
              </a:tblGrid>
              <a:tr h="347472">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1st</a:t>
                      </a:r>
                    </a:p>
                  </a:txBody>
                  <a:tcPr>
                    <a:solidFill>
                      <a:srgbClr val="002060"/>
                    </a:solidFill>
                  </a:tcPr>
                </a:tc>
                <a:tc>
                  <a:txBody>
                    <a:bodyPr/>
                    <a:lstStyle/>
                    <a:p>
                      <a:pPr algn="ctr"/>
                      <a:r>
                        <a:rPr sz="1000" b="1" i="0">
                          <a:solidFill>
                            <a:srgbClr val="FFFFFF"/>
                          </a:solidFill>
                          <a:latin typeface="Arial"/>
                        </a:rPr>
                        <a:t>2nd</a:t>
                      </a:r>
                    </a:p>
                  </a:txBody>
                  <a:tcPr>
                    <a:solidFill>
                      <a:srgbClr val="002060"/>
                    </a:solidFill>
                  </a:tcPr>
                </a:tc>
                <a:tc>
                  <a:txBody>
                    <a:bodyPr/>
                    <a:lstStyle/>
                    <a:p>
                      <a:pPr algn="ctr"/>
                      <a:r>
                        <a:rPr sz="1000" b="1" i="0">
                          <a:solidFill>
                            <a:srgbClr val="FFFFFF"/>
                          </a:solidFill>
                          <a:latin typeface="Arial"/>
                        </a:rPr>
                        <a:t>3rd</a:t>
                      </a:r>
                    </a:p>
                  </a:txBody>
                  <a:tcPr>
                    <a:solidFill>
                      <a:srgbClr val="002060"/>
                    </a:solidFill>
                  </a:tcPr>
                </a:tc>
                <a:tc>
                  <a:txBody>
                    <a:bodyPr/>
                    <a:lstStyle/>
                    <a:p>
                      <a:pPr algn="ctr"/>
                      <a:r>
                        <a:rPr sz="1000" b="1" i="0">
                          <a:solidFill>
                            <a:srgbClr val="FFFFFF"/>
                          </a:solidFill>
                          <a:latin typeface="Arial"/>
                        </a:rPr>
                        <a:t>5th</a:t>
                      </a:r>
                    </a:p>
                  </a:txBody>
                  <a:tcPr>
                    <a:solidFill>
                      <a:srgbClr val="002060"/>
                    </a:solidFill>
                  </a:tcPr>
                </a:tc>
                <a:tc>
                  <a:txBody>
                    <a:bodyPr/>
                    <a:lstStyle/>
                    <a:p>
                      <a:pPr algn="ctr"/>
                      <a:r>
                        <a:rPr sz="1000" b="1" i="0">
                          <a:solidFill>
                            <a:srgbClr val="FFFFFF"/>
                          </a:solidFill>
                          <a:latin typeface="Arial"/>
                        </a:rPr>
                        <a:t>10th</a:t>
                      </a:r>
                    </a:p>
                  </a:txBody>
                  <a:tcPr>
                    <a:solidFill>
                      <a:srgbClr val="002060"/>
                    </a:solidFill>
                  </a:tcPr>
                </a:tc>
                <a:tc>
                  <a:txBody>
                    <a:bodyPr/>
                    <a:lstStyle/>
                    <a:p>
                      <a:pPr algn="ctr"/>
                      <a:r>
                        <a:rPr sz="1000" b="1" i="0">
                          <a:solidFill>
                            <a:srgbClr val="FFFFFF"/>
                          </a:solidFill>
                          <a:latin typeface="Arial"/>
                        </a:rPr>
                        <a:t>20th</a:t>
                      </a:r>
                    </a:p>
                  </a:txBody>
                  <a:tcPr>
                    <a:solidFill>
                      <a:srgbClr val="002060"/>
                    </a:solidFill>
                  </a:tcPr>
                </a:tc>
                <a:extLst>
                  <a:ext uri="{0D108BD9-81ED-4DB2-BD59-A6C34878D82A}">
                    <a16:rowId xmlns:a16="http://schemas.microsoft.com/office/drawing/2014/main" val="10000"/>
                  </a:ext>
                </a:extLst>
              </a:tr>
              <a:tr h="347472">
                <a:tc>
                  <a:txBody>
                    <a:bodyPr/>
                    <a:lstStyle/>
                    <a:p>
                      <a:pPr algn="ctr"/>
                      <a:r>
                        <a:rPr sz="1000" b="1" i="0">
                          <a:solidFill>
                            <a:srgbClr val="262626"/>
                          </a:solidFill>
                          <a:latin typeface="Arial"/>
                        </a:rPr>
                        <a:t>2018</a:t>
                      </a:r>
                    </a:p>
                  </a:txBody>
                  <a:tcPr>
                    <a:solidFill>
                      <a:srgbClr val="FFFFFF"/>
                    </a:solidFill>
                  </a:tcPr>
                </a:tc>
                <a:tc>
                  <a:txBody>
                    <a:bodyPr/>
                    <a:lstStyle/>
                    <a:p>
                      <a:pPr algn="ctr"/>
                      <a:r>
                        <a:rPr sz="850" b="0" i="0">
                          <a:solidFill>
                            <a:srgbClr val="262626"/>
                          </a:solidFill>
                          <a:latin typeface="Arial"/>
                        </a:rPr>
                        <a:t>51:15</a:t>
                      </a:r>
                    </a:p>
                  </a:txBody>
                  <a:tcPr>
                    <a:solidFill>
                      <a:srgbClr val="FFFFFF"/>
                    </a:solidFill>
                  </a:tcPr>
                </a:tc>
                <a:tc>
                  <a:txBody>
                    <a:bodyPr/>
                    <a:lstStyle/>
                    <a:p>
                      <a:pPr algn="ctr"/>
                      <a:r>
                        <a:rPr sz="850" b="0" i="0">
                          <a:solidFill>
                            <a:srgbClr val="262626"/>
                          </a:solidFill>
                          <a:latin typeface="Arial"/>
                        </a:rPr>
                        <a:t>51:18
+3s</a:t>
                      </a:r>
                    </a:p>
                  </a:txBody>
                  <a:tcPr>
                    <a:solidFill>
                      <a:srgbClr val="FFFFFF"/>
                    </a:solidFill>
                  </a:tcPr>
                </a:tc>
                <a:tc>
                  <a:txBody>
                    <a:bodyPr/>
                    <a:lstStyle/>
                    <a:p>
                      <a:pPr algn="ctr"/>
                      <a:r>
                        <a:rPr sz="850" b="0" i="0">
                          <a:solidFill>
                            <a:srgbClr val="262626"/>
                          </a:solidFill>
                          <a:latin typeface="Arial"/>
                        </a:rPr>
                        <a:t>51:22
+7s</a:t>
                      </a:r>
                    </a:p>
                  </a:txBody>
                  <a:tcPr>
                    <a:solidFill>
                      <a:srgbClr val="FFFFFF"/>
                    </a:solidFill>
                  </a:tcPr>
                </a:tc>
                <a:tc>
                  <a:txBody>
                    <a:bodyPr/>
                    <a:lstStyle/>
                    <a:p>
                      <a:pPr algn="ctr"/>
                      <a:r>
                        <a:rPr sz="850" b="0" i="0">
                          <a:solidFill>
                            <a:srgbClr val="262626"/>
                          </a:solidFill>
                          <a:latin typeface="Arial"/>
                        </a:rPr>
                        <a:t>51:25
+10s</a:t>
                      </a:r>
                    </a:p>
                  </a:txBody>
                  <a:tcPr>
                    <a:solidFill>
                      <a:srgbClr val="FFFFFF"/>
                    </a:solidFill>
                  </a:tcPr>
                </a:tc>
                <a:tc>
                  <a:txBody>
                    <a:bodyPr/>
                    <a:lstStyle/>
                    <a:p>
                      <a:pPr algn="ctr"/>
                      <a:r>
                        <a:rPr sz="850" b="0" i="0">
                          <a:solidFill>
                            <a:srgbClr val="262626"/>
                          </a:solidFill>
                          <a:latin typeface="Arial"/>
                        </a:rPr>
                        <a:t>52:13
+58s</a:t>
                      </a:r>
                    </a:p>
                  </a:txBody>
                  <a:tcPr>
                    <a:solidFill>
                      <a:srgbClr val="FFFFFF"/>
                    </a:solidFill>
                  </a:tcPr>
                </a:tc>
                <a:tc>
                  <a:txBody>
                    <a:bodyPr/>
                    <a:lstStyle/>
                    <a:p>
                      <a:pPr algn="ctr"/>
                      <a:r>
                        <a:rPr sz="850" b="0" i="0">
                          <a:solidFill>
                            <a:srgbClr val="262626"/>
                          </a:solidFill>
                          <a:latin typeface="Arial"/>
                        </a:rPr>
                        <a:t>52:55
+100s</a:t>
                      </a:r>
                    </a:p>
                  </a:txBody>
                  <a:tcPr>
                    <a:solidFill>
                      <a:srgbClr val="FFFFFF"/>
                    </a:solidFill>
                  </a:tcPr>
                </a:tc>
                <a:extLst>
                  <a:ext uri="{0D108BD9-81ED-4DB2-BD59-A6C34878D82A}">
                    <a16:rowId xmlns:a16="http://schemas.microsoft.com/office/drawing/2014/main" val="10001"/>
                  </a:ext>
                </a:extLst>
              </a:tr>
              <a:tr h="347472">
                <a:tc>
                  <a:txBody>
                    <a:bodyPr/>
                    <a:lstStyle/>
                    <a:p>
                      <a:pPr algn="ctr"/>
                      <a:r>
                        <a:rPr sz="1000" b="1" i="0">
                          <a:solidFill>
                            <a:srgbClr val="262626"/>
                          </a:solidFill>
                          <a:latin typeface="Arial"/>
                        </a:rPr>
                        <a:t>2019</a:t>
                      </a:r>
                    </a:p>
                  </a:txBody>
                  <a:tcPr>
                    <a:solidFill>
                      <a:srgbClr val="F2F2F2"/>
                    </a:solidFill>
                  </a:tcPr>
                </a:tc>
                <a:tc>
                  <a:txBody>
                    <a:bodyPr/>
                    <a:lstStyle/>
                    <a:p>
                      <a:pPr algn="ctr"/>
                      <a:r>
                        <a:rPr sz="850" b="0" i="0">
                          <a:solidFill>
                            <a:srgbClr val="262626"/>
                          </a:solidFill>
                          <a:latin typeface="Arial"/>
                        </a:rPr>
                        <a:t>54:52</a:t>
                      </a:r>
                    </a:p>
                  </a:txBody>
                  <a:tcPr>
                    <a:solidFill>
                      <a:srgbClr val="F2F2F2"/>
                    </a:solidFill>
                  </a:tcPr>
                </a:tc>
                <a:tc>
                  <a:txBody>
                    <a:bodyPr/>
                    <a:lstStyle/>
                    <a:p>
                      <a:pPr algn="ctr"/>
                      <a:r>
                        <a:rPr sz="850" b="0" i="0">
                          <a:solidFill>
                            <a:srgbClr val="262626"/>
                          </a:solidFill>
                          <a:latin typeface="Arial"/>
                        </a:rPr>
                        <a:t>54:57
+5s</a:t>
                      </a:r>
                    </a:p>
                  </a:txBody>
                  <a:tcPr>
                    <a:solidFill>
                      <a:srgbClr val="F2F2F2"/>
                    </a:solidFill>
                  </a:tcPr>
                </a:tc>
                <a:tc>
                  <a:txBody>
                    <a:bodyPr/>
                    <a:lstStyle/>
                    <a:p>
                      <a:pPr algn="ctr"/>
                      <a:r>
                        <a:rPr sz="850" b="0" i="0">
                          <a:solidFill>
                            <a:srgbClr val="262626"/>
                          </a:solidFill>
                          <a:latin typeface="Arial"/>
                        </a:rPr>
                        <a:t>55:02
+10s</a:t>
                      </a:r>
                    </a:p>
                  </a:txBody>
                  <a:tcPr>
                    <a:solidFill>
                      <a:srgbClr val="F2F2F2"/>
                    </a:solidFill>
                  </a:tcPr>
                </a:tc>
                <a:tc>
                  <a:txBody>
                    <a:bodyPr/>
                    <a:lstStyle/>
                    <a:p>
                      <a:pPr algn="ctr"/>
                      <a:r>
                        <a:rPr sz="850" b="0" i="0">
                          <a:solidFill>
                            <a:srgbClr val="262626"/>
                          </a:solidFill>
                          <a:latin typeface="Arial"/>
                        </a:rPr>
                        <a:t>55:13
+21s</a:t>
                      </a:r>
                    </a:p>
                  </a:txBody>
                  <a:tcPr>
                    <a:solidFill>
                      <a:srgbClr val="F2F2F2"/>
                    </a:solidFill>
                  </a:tcPr>
                </a:tc>
                <a:tc>
                  <a:txBody>
                    <a:bodyPr/>
                    <a:lstStyle/>
                    <a:p>
                      <a:pPr algn="ctr"/>
                      <a:r>
                        <a:rPr sz="850" b="0" i="0">
                          <a:solidFill>
                            <a:srgbClr val="262626"/>
                          </a:solidFill>
                          <a:latin typeface="Arial"/>
                        </a:rPr>
                        <a:t>55:38
+46s</a:t>
                      </a:r>
                    </a:p>
                  </a:txBody>
                  <a:tcPr>
                    <a:solidFill>
                      <a:srgbClr val="F2F2F2"/>
                    </a:solidFill>
                  </a:tcPr>
                </a:tc>
                <a:tc>
                  <a:txBody>
                    <a:bodyPr/>
                    <a:lstStyle/>
                    <a:p>
                      <a:pPr algn="ctr"/>
                      <a:r>
                        <a:rPr sz="850" b="0" i="0">
                          <a:solidFill>
                            <a:srgbClr val="262626"/>
                          </a:solidFill>
                          <a:latin typeface="Arial"/>
                        </a:rPr>
                        <a:t>56:09
+77s</a:t>
                      </a:r>
                    </a:p>
                  </a:txBody>
                  <a:tcPr>
                    <a:solidFill>
                      <a:srgbClr val="F2F2F2"/>
                    </a:solidFill>
                  </a:tcPr>
                </a:tc>
                <a:extLst>
                  <a:ext uri="{0D108BD9-81ED-4DB2-BD59-A6C34878D82A}">
                    <a16:rowId xmlns:a16="http://schemas.microsoft.com/office/drawing/2014/main" val="10002"/>
                  </a:ext>
                </a:extLst>
              </a:tr>
              <a:tr h="347472">
                <a:tc>
                  <a:txBody>
                    <a:bodyPr/>
                    <a:lstStyle/>
                    <a:p>
                      <a:pPr algn="ctr"/>
                      <a:r>
                        <a:rPr sz="1000" b="1" i="0">
                          <a:solidFill>
                            <a:srgbClr val="262626"/>
                          </a:solidFill>
                          <a:latin typeface="Arial"/>
                        </a:rPr>
                        <a:t>2021</a:t>
                      </a:r>
                    </a:p>
                  </a:txBody>
                  <a:tcPr>
                    <a:solidFill>
                      <a:srgbClr val="FFFFFF"/>
                    </a:solidFill>
                  </a:tcPr>
                </a:tc>
                <a:tc>
                  <a:txBody>
                    <a:bodyPr/>
                    <a:lstStyle/>
                    <a:p>
                      <a:pPr algn="ctr"/>
                      <a:r>
                        <a:rPr sz="850" b="0" i="0">
                          <a:solidFill>
                            <a:srgbClr val="262626"/>
                          </a:solidFill>
                          <a:latin typeface="Arial"/>
                        </a:rPr>
                        <a:t>1:44:14</a:t>
                      </a:r>
                    </a:p>
                  </a:txBody>
                  <a:tcPr>
                    <a:solidFill>
                      <a:srgbClr val="FFFFFF"/>
                    </a:solidFill>
                  </a:tcPr>
                </a:tc>
                <a:tc>
                  <a:txBody>
                    <a:bodyPr/>
                    <a:lstStyle/>
                    <a:p>
                      <a:pPr algn="ctr"/>
                      <a:r>
                        <a:rPr sz="850" b="0" i="0">
                          <a:solidFill>
                            <a:srgbClr val="262626"/>
                          </a:solidFill>
                          <a:latin typeface="Arial"/>
                        </a:rPr>
                        <a:t>1:44:14</a:t>
                      </a:r>
                    </a:p>
                  </a:txBody>
                  <a:tcPr>
                    <a:solidFill>
                      <a:srgbClr val="FFFFFF"/>
                    </a:solidFill>
                  </a:tcPr>
                </a:tc>
                <a:tc>
                  <a:txBody>
                    <a:bodyPr/>
                    <a:lstStyle/>
                    <a:p>
                      <a:pPr algn="ctr"/>
                      <a:r>
                        <a:rPr sz="850" b="0" i="0">
                          <a:solidFill>
                            <a:srgbClr val="262626"/>
                          </a:solidFill>
                          <a:latin typeface="Arial"/>
                        </a:rPr>
                        <a:t>1:44:15
+1s</a:t>
                      </a:r>
                    </a:p>
                  </a:txBody>
                  <a:tcPr>
                    <a:solidFill>
                      <a:srgbClr val="FFFFFF"/>
                    </a:solidFill>
                  </a:tcPr>
                </a:tc>
                <a:tc>
                  <a:txBody>
                    <a:bodyPr/>
                    <a:lstStyle/>
                    <a:p>
                      <a:pPr algn="ctr"/>
                      <a:r>
                        <a:rPr sz="850" b="0" i="0">
                          <a:solidFill>
                            <a:srgbClr val="262626"/>
                          </a:solidFill>
                          <a:latin typeface="Arial"/>
                        </a:rPr>
                        <a:t>1:44:24
+10s</a:t>
                      </a:r>
                    </a:p>
                  </a:txBody>
                  <a:tcPr>
                    <a:solidFill>
                      <a:srgbClr val="FFFFFF"/>
                    </a:solidFill>
                  </a:tcPr>
                </a:tc>
                <a:tc>
                  <a:txBody>
                    <a:bodyPr/>
                    <a:lstStyle/>
                    <a:p>
                      <a:pPr algn="ctr"/>
                      <a:r>
                        <a:rPr sz="850" b="0" i="0">
                          <a:solidFill>
                            <a:srgbClr val="262626"/>
                          </a:solidFill>
                          <a:latin typeface="Arial"/>
                        </a:rPr>
                        <a:t>1:44:52
+38s</a:t>
                      </a:r>
                    </a:p>
                  </a:txBody>
                  <a:tcPr>
                    <a:solidFill>
                      <a:srgbClr val="FFFFFF"/>
                    </a:solidFill>
                  </a:tcPr>
                </a:tc>
                <a:tc>
                  <a:txBody>
                    <a:bodyPr/>
                    <a:lstStyle/>
                    <a:p>
                      <a:pPr algn="ctr"/>
                      <a:r>
                        <a:rPr sz="850" b="0" i="0">
                          <a:solidFill>
                            <a:srgbClr val="262626"/>
                          </a:solidFill>
                          <a:latin typeface="Arial"/>
                        </a:rPr>
                        <a:t>1:46:19
+125s</a:t>
                      </a:r>
                    </a:p>
                  </a:txBody>
                  <a:tcPr>
                    <a:solidFill>
                      <a:srgbClr val="FFFFFF"/>
                    </a:solidFill>
                  </a:tcPr>
                </a:tc>
                <a:extLst>
                  <a:ext uri="{0D108BD9-81ED-4DB2-BD59-A6C34878D82A}">
                    <a16:rowId xmlns:a16="http://schemas.microsoft.com/office/drawing/2014/main" val="10003"/>
                  </a:ext>
                </a:extLst>
              </a:tr>
              <a:tr h="347472">
                <a:tc>
                  <a:txBody>
                    <a:bodyPr/>
                    <a:lstStyle/>
                    <a:p>
                      <a:pPr algn="ctr"/>
                      <a:r>
                        <a:rPr sz="1000" b="1" i="0">
                          <a:solidFill>
                            <a:srgbClr val="262626"/>
                          </a:solidFill>
                          <a:latin typeface="Arial"/>
                        </a:rPr>
                        <a:t>2023</a:t>
                      </a:r>
                    </a:p>
                  </a:txBody>
                  <a:tcPr>
                    <a:solidFill>
                      <a:srgbClr val="F2F2F2"/>
                    </a:solidFill>
                  </a:tcPr>
                </a:tc>
                <a:tc>
                  <a:txBody>
                    <a:bodyPr/>
                    <a:lstStyle/>
                    <a:p>
                      <a:pPr algn="ctr"/>
                      <a:r>
                        <a:rPr sz="850" b="0" i="0">
                          <a:solidFill>
                            <a:srgbClr val="262626"/>
                          </a:solidFill>
                          <a:latin typeface="Arial"/>
                        </a:rPr>
                        <a:t>49:39</a:t>
                      </a:r>
                    </a:p>
                  </a:txBody>
                  <a:tcPr>
                    <a:solidFill>
                      <a:srgbClr val="F2F2F2"/>
                    </a:solidFill>
                  </a:tcPr>
                </a:tc>
                <a:tc>
                  <a:txBody>
                    <a:bodyPr/>
                    <a:lstStyle/>
                    <a:p>
                      <a:pPr algn="ctr"/>
                      <a:r>
                        <a:rPr sz="850" b="0" i="0">
                          <a:solidFill>
                            <a:srgbClr val="262626"/>
                          </a:solidFill>
                          <a:latin typeface="Arial"/>
                        </a:rPr>
                        <a:t>49:56
+17s</a:t>
                      </a:r>
                    </a:p>
                  </a:txBody>
                  <a:tcPr>
                    <a:solidFill>
                      <a:srgbClr val="F2F2F2"/>
                    </a:solidFill>
                  </a:tcPr>
                </a:tc>
                <a:tc>
                  <a:txBody>
                    <a:bodyPr/>
                    <a:lstStyle/>
                    <a:p>
                      <a:pPr algn="ctr"/>
                      <a:r>
                        <a:rPr sz="850" b="0" i="0">
                          <a:solidFill>
                            <a:srgbClr val="262626"/>
                          </a:solidFill>
                          <a:latin typeface="Arial"/>
                        </a:rPr>
                        <a:t>50:10
+31s</a:t>
                      </a:r>
                    </a:p>
                  </a:txBody>
                  <a:tcPr>
                    <a:solidFill>
                      <a:srgbClr val="F2F2F2"/>
                    </a:solidFill>
                  </a:tcPr>
                </a:tc>
                <a:tc>
                  <a:txBody>
                    <a:bodyPr/>
                    <a:lstStyle/>
                    <a:p>
                      <a:pPr algn="ctr"/>
                      <a:r>
                        <a:rPr sz="850" b="0" i="0">
                          <a:solidFill>
                            <a:srgbClr val="262626"/>
                          </a:solidFill>
                          <a:latin typeface="Arial"/>
                        </a:rPr>
                        <a:t>50:54
+75s</a:t>
                      </a:r>
                    </a:p>
                  </a:txBody>
                  <a:tcPr>
                    <a:solidFill>
                      <a:srgbClr val="F2F2F2"/>
                    </a:solidFill>
                  </a:tcPr>
                </a:tc>
                <a:tc>
                  <a:txBody>
                    <a:bodyPr/>
                    <a:lstStyle/>
                    <a:p>
                      <a:pPr algn="ctr"/>
                      <a:r>
                        <a:rPr sz="850" b="0" i="0">
                          <a:solidFill>
                            <a:srgbClr val="262626"/>
                          </a:solidFill>
                          <a:latin typeface="Arial"/>
                        </a:rPr>
                        <a:t>51:18
+99s</a:t>
                      </a:r>
                    </a:p>
                  </a:txBody>
                  <a:tcPr>
                    <a:solidFill>
                      <a:srgbClr val="F2F2F2"/>
                    </a:solidFill>
                  </a:tcPr>
                </a:tc>
                <a:tc>
                  <a:txBody>
                    <a:bodyPr/>
                    <a:lstStyle/>
                    <a:p>
                      <a:pPr algn="ctr"/>
                      <a:r>
                        <a:rPr sz="850" b="0" i="0">
                          <a:solidFill>
                            <a:srgbClr val="262626"/>
                          </a:solidFill>
                          <a:latin typeface="Arial"/>
                        </a:rPr>
                        <a:t>53:25
+226s</a:t>
                      </a:r>
                    </a:p>
                  </a:txBody>
                  <a:tcPr>
                    <a:solidFill>
                      <a:srgbClr val="F2F2F2"/>
                    </a:solidFill>
                  </a:tcPr>
                </a:tc>
                <a:extLst>
                  <a:ext uri="{0D108BD9-81ED-4DB2-BD59-A6C34878D82A}">
                    <a16:rowId xmlns:a16="http://schemas.microsoft.com/office/drawing/2014/main" val="10004"/>
                  </a:ext>
                </a:extLst>
              </a:tr>
              <a:tr h="347472">
                <a:tc>
                  <a:txBody>
                    <a:bodyPr/>
                    <a:lstStyle/>
                    <a:p>
                      <a:pPr algn="ctr"/>
                      <a:r>
                        <a:rPr sz="1000" b="1" i="0">
                          <a:solidFill>
                            <a:srgbClr val="262626"/>
                          </a:solidFill>
                          <a:latin typeface="Arial"/>
                        </a:rPr>
                        <a:t>2024</a:t>
                      </a:r>
                    </a:p>
                  </a:txBody>
                  <a:tcPr>
                    <a:solidFill>
                      <a:srgbClr val="FFFFFF"/>
                    </a:solidFill>
                  </a:tcPr>
                </a:tc>
                <a:tc>
                  <a:txBody>
                    <a:bodyPr/>
                    <a:lstStyle/>
                    <a:p>
                      <a:pPr algn="ctr"/>
                      <a:r>
                        <a:rPr sz="850" b="0" i="0">
                          <a:solidFill>
                            <a:srgbClr val="262626"/>
                          </a:solidFill>
                          <a:latin typeface="Arial"/>
                        </a:rPr>
                        <a:t>50:06</a:t>
                      </a:r>
                    </a:p>
                  </a:txBody>
                  <a:tcPr>
                    <a:solidFill>
                      <a:srgbClr val="FFFFFF"/>
                    </a:solidFill>
                  </a:tcPr>
                </a:tc>
                <a:tc>
                  <a:txBody>
                    <a:bodyPr/>
                    <a:lstStyle/>
                    <a:p>
                      <a:pPr algn="ctr"/>
                      <a:r>
                        <a:rPr sz="850" b="0" i="0">
                          <a:solidFill>
                            <a:srgbClr val="262626"/>
                          </a:solidFill>
                          <a:latin typeface="Arial"/>
                        </a:rPr>
                        <a:t>50:08
+2s</a:t>
                      </a:r>
                    </a:p>
                  </a:txBody>
                  <a:tcPr>
                    <a:solidFill>
                      <a:srgbClr val="FFFFFF"/>
                    </a:solidFill>
                  </a:tcPr>
                </a:tc>
                <a:tc>
                  <a:txBody>
                    <a:bodyPr/>
                    <a:lstStyle/>
                    <a:p>
                      <a:pPr algn="ctr"/>
                      <a:r>
                        <a:rPr sz="850" b="0" i="0">
                          <a:solidFill>
                            <a:srgbClr val="262626"/>
                          </a:solidFill>
                          <a:latin typeface="Arial"/>
                        </a:rPr>
                        <a:t>50:10
+4s</a:t>
                      </a:r>
                    </a:p>
                  </a:txBody>
                  <a:tcPr>
                    <a:solidFill>
                      <a:srgbClr val="FFFFFF"/>
                    </a:solidFill>
                  </a:tcPr>
                </a:tc>
                <a:tc>
                  <a:txBody>
                    <a:bodyPr/>
                    <a:lstStyle/>
                    <a:p>
                      <a:pPr algn="ctr"/>
                      <a:r>
                        <a:rPr sz="850" b="0" i="0">
                          <a:solidFill>
                            <a:srgbClr val="262626"/>
                          </a:solidFill>
                          <a:latin typeface="Arial"/>
                        </a:rPr>
                        <a:t>50:31
+25s</a:t>
                      </a:r>
                    </a:p>
                  </a:txBody>
                  <a:tcPr>
                    <a:solidFill>
                      <a:srgbClr val="FFFFFF"/>
                    </a:solidFill>
                  </a:tcPr>
                </a:tc>
                <a:tc>
                  <a:txBody>
                    <a:bodyPr/>
                    <a:lstStyle/>
                    <a:p>
                      <a:pPr algn="ctr"/>
                      <a:r>
                        <a:rPr sz="850" b="0" i="0">
                          <a:solidFill>
                            <a:srgbClr val="262626"/>
                          </a:solidFill>
                          <a:latin typeface="Arial"/>
                        </a:rPr>
                        <a:t>51:24
+78s</a:t>
                      </a:r>
                    </a:p>
                  </a:txBody>
                  <a:tcPr>
                    <a:solidFill>
                      <a:srgbClr val="FFFFFF"/>
                    </a:solidFill>
                  </a:tcPr>
                </a:tc>
                <a:tc>
                  <a:txBody>
                    <a:bodyPr/>
                    <a:lstStyle/>
                    <a:p>
                      <a:pPr algn="ctr"/>
                      <a:r>
                        <a:rPr sz="850" b="0" i="0">
                          <a:solidFill>
                            <a:srgbClr val="262626"/>
                          </a:solidFill>
                          <a:latin typeface="Arial"/>
                        </a:rPr>
                        <a:t>53:31
+205s</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extLst>
                    <a:ext uri="{9D8B030D-6E8A-4147-A177-3AD203B41FA5}">
                      <a16:colId xmlns:a16="http://schemas.microsoft.com/office/drawing/2014/main" val="20000"/>
                    </a:ext>
                  </a:extLst>
                </a:gridCol>
                <a:gridCol w="864604">
                  <a:extLst>
                    <a:ext uri="{9D8B030D-6E8A-4147-A177-3AD203B41FA5}">
                      <a16:colId xmlns:a16="http://schemas.microsoft.com/office/drawing/2014/main" val="20001"/>
                    </a:ext>
                  </a:extLst>
                </a:gridCol>
                <a:gridCol w="910110">
                  <a:extLst>
                    <a:ext uri="{9D8B030D-6E8A-4147-A177-3AD203B41FA5}">
                      <a16:colId xmlns:a16="http://schemas.microsoft.com/office/drawing/2014/main" val="20002"/>
                    </a:ext>
                  </a:extLst>
                </a:gridCol>
                <a:gridCol w="819099">
                  <a:extLst>
                    <a:ext uri="{9D8B030D-6E8A-4147-A177-3AD203B41FA5}">
                      <a16:colId xmlns:a16="http://schemas.microsoft.com/office/drawing/2014/main" val="20003"/>
                    </a:ext>
                  </a:extLst>
                </a:gridCol>
                <a:gridCol w="910110">
                  <a:extLst>
                    <a:ext uri="{9D8B030D-6E8A-4147-A177-3AD203B41FA5}">
                      <a16:colId xmlns:a16="http://schemas.microsoft.com/office/drawing/2014/main" val="20004"/>
                    </a:ext>
                  </a:extLst>
                </a:gridCol>
                <a:gridCol w="864604">
                  <a:extLst>
                    <a:ext uri="{9D8B030D-6E8A-4147-A177-3AD203B41FA5}">
                      <a16:colId xmlns:a16="http://schemas.microsoft.com/office/drawing/2014/main" val="20005"/>
                    </a:ext>
                  </a:extLst>
                </a:gridCol>
                <a:gridCol w="864604">
                  <a:extLst>
                    <a:ext uri="{9D8B030D-6E8A-4147-A177-3AD203B41FA5}">
                      <a16:colId xmlns:a16="http://schemas.microsoft.com/office/drawing/2014/main" val="20006"/>
                    </a:ext>
                  </a:extLst>
                </a:gridCol>
                <a:gridCol w="819099">
                  <a:extLst>
                    <a:ext uri="{9D8B030D-6E8A-4147-A177-3AD203B41FA5}">
                      <a16:colId xmlns:a16="http://schemas.microsoft.com/office/drawing/2014/main" val="20007"/>
                    </a:ext>
                  </a:extLst>
                </a:gridCol>
                <a:gridCol w="4996506">
                  <a:extLst>
                    <a:ext uri="{9D8B030D-6E8A-4147-A177-3AD203B41FA5}">
                      <a16:colId xmlns:a16="http://schemas.microsoft.com/office/drawing/2014/main" val="20008"/>
                    </a:ext>
                  </a:extLst>
                </a:gridCol>
              </a:tblGrid>
              <a:tr h="457200">
                <a:tc>
                  <a:txBody>
                    <a:bodyPr/>
                    <a:lstStyle/>
                    <a:p>
                      <a:pPr algn="ctr"/>
                      <a:r>
                        <a:rPr sz="1200" b="1" i="0">
                          <a:solidFill>
                            <a:srgbClr val="FFFFFF"/>
                          </a:solidFill>
                          <a:latin typeface="Arial"/>
                        </a:rPr>
                        <a:t>Year</a:t>
                      </a:r>
                    </a:p>
                  </a:txBody>
                  <a:tcPr>
                    <a:solidFill>
                      <a:srgbClr val="002060"/>
                    </a:solidFill>
                  </a:tcPr>
                </a:tc>
                <a:tc>
                  <a:txBody>
                    <a:bodyPr/>
                    <a:lstStyle/>
                    <a:p>
                      <a:pPr algn="ctr"/>
                      <a:r>
                        <a:rPr sz="1200" b="1" i="0">
                          <a:solidFill>
                            <a:srgbClr val="FFFFFF"/>
                          </a:solidFill>
                          <a:latin typeface="Arial"/>
                        </a:rPr>
                        <a:t>Date</a:t>
                      </a:r>
                    </a:p>
                  </a:txBody>
                  <a:tcPr>
                    <a:solidFill>
                      <a:srgbClr val="002060"/>
                    </a:solidFill>
                  </a:tcPr>
                </a:tc>
                <a:tc>
                  <a:txBody>
                    <a:bodyPr/>
                    <a:lstStyle/>
                    <a:p>
                      <a:pPr algn="ctr"/>
                      <a:r>
                        <a:rPr sz="1200" b="1" i="0">
                          <a:solidFill>
                            <a:srgbClr val="FFFFFF"/>
                          </a:solidFill>
                          <a:latin typeface="Arial"/>
                        </a:rPr>
                        <a:t>Air Temp</a:t>
                      </a:r>
                    </a:p>
                  </a:txBody>
                  <a:tcPr>
                    <a:solidFill>
                      <a:srgbClr val="002060"/>
                    </a:solidFill>
                  </a:tcPr>
                </a:tc>
                <a:tc>
                  <a:txBody>
                    <a:bodyPr/>
                    <a:lstStyle/>
                    <a:p>
                      <a:pPr algn="ctr"/>
                      <a:r>
                        <a:rPr sz="1200" b="1" i="0">
                          <a:solidFill>
                            <a:srgbClr val="FFFFFF"/>
                          </a:solidFill>
                          <a:latin typeface="Arial"/>
                        </a:rPr>
                        <a:t>Humidity</a:t>
                      </a:r>
                    </a:p>
                  </a:txBody>
                  <a:tcPr>
                    <a:solidFill>
                      <a:srgbClr val="002060"/>
                    </a:solidFill>
                  </a:tcPr>
                </a:tc>
                <a:tc>
                  <a:txBody>
                    <a:bodyPr/>
                    <a:lstStyle/>
                    <a:p>
                      <a:pPr algn="ctr"/>
                      <a:r>
                        <a:rPr sz="1200" b="1" i="0">
                          <a:solidFill>
                            <a:srgbClr val="FFFFFF"/>
                          </a:solidFill>
                          <a:latin typeface="Arial"/>
                        </a:rPr>
                        <a:t>Wind (km/h)</a:t>
                      </a:r>
                    </a:p>
                  </a:txBody>
                  <a:tcPr>
                    <a:solidFill>
                      <a:srgbClr val="002060"/>
                    </a:solidFill>
                  </a:tcPr>
                </a:tc>
                <a:tc>
                  <a:txBody>
                    <a:bodyPr/>
                    <a:lstStyle/>
                    <a:p>
                      <a:pPr algn="ctr"/>
                      <a:r>
                        <a:rPr sz="1200" b="1" i="0">
                          <a:solidFill>
                            <a:srgbClr val="FFFFFF"/>
                          </a:solidFill>
                          <a:latin typeface="Arial"/>
                        </a:rPr>
                        <a:t>Precip (mm)</a:t>
                      </a:r>
                    </a:p>
                  </a:txBody>
                  <a:tcPr>
                    <a:solidFill>
                      <a:srgbClr val="002060"/>
                    </a:solidFill>
                  </a:tcPr>
                </a:tc>
                <a:tc>
                  <a:txBody>
                    <a:bodyPr/>
                    <a:lstStyle/>
                    <a:p>
                      <a:pPr algn="ctr"/>
                      <a:r>
                        <a:rPr sz="1200" b="1" i="0">
                          <a:solidFill>
                            <a:srgbClr val="FFFFFF"/>
                          </a:solidFill>
                          <a:latin typeface="Arial"/>
                        </a:rPr>
                        <a:t>Water Temp</a:t>
                      </a:r>
                    </a:p>
                  </a:txBody>
                  <a:tcPr>
                    <a:solidFill>
                      <a:srgbClr val="002060"/>
                    </a:solidFill>
                  </a:tcPr>
                </a:tc>
                <a:tc>
                  <a:txBody>
                    <a:bodyPr/>
                    <a:lstStyle/>
                    <a:p>
                      <a:pPr algn="ctr"/>
                      <a:r>
                        <a:rPr sz="1200" b="1" i="0">
                          <a:solidFill>
                            <a:srgbClr val="FFFFFF"/>
                          </a:solidFill>
                          <a:latin typeface="Arial"/>
                        </a:rPr>
                        <a:t>Wetsuit</a:t>
                      </a:r>
                    </a:p>
                  </a:txBody>
                  <a:tcPr>
                    <a:solidFill>
                      <a:srgbClr val="002060"/>
                    </a:solidFill>
                  </a:tcPr>
                </a:tc>
                <a:tc>
                  <a:txBody>
                    <a:bodyPr/>
                    <a:lstStyle/>
                    <a:p>
                      <a:pPr algn="ctr"/>
                      <a:r>
                        <a:rPr sz="1200" b="1" i="0">
                          <a:solidFill>
                            <a:srgbClr val="FFFFFF"/>
                          </a:solidFill>
                          <a:latin typeface="Arial"/>
                        </a:rPr>
                        <a:t>Conditions</a:t>
                      </a:r>
                    </a:p>
                  </a:txBody>
                  <a:tcPr>
                    <a:solidFill>
                      <a:srgbClr val="002060"/>
                    </a:solidFill>
                  </a:tcPr>
                </a:tc>
                <a:extLst>
                  <a:ext uri="{0D108BD9-81ED-4DB2-BD59-A6C34878D82A}">
                    <a16:rowId xmlns:a16="http://schemas.microsoft.com/office/drawing/2014/main" val="10000"/>
                  </a:ext>
                </a:extLst>
              </a:tr>
              <a:tr h="457200">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Jul 27</a:t>
                      </a:r>
                    </a:p>
                  </a:txBody>
                  <a:tcPr>
                    <a:solidFill>
                      <a:srgbClr val="FFFFFF"/>
                    </a:solidFill>
                  </a:tcPr>
                </a:tc>
                <a:tc>
                  <a:txBody>
                    <a:bodyPr/>
                    <a:lstStyle/>
                    <a:p>
                      <a:pPr algn="ctr"/>
                      <a:r>
                        <a:rPr sz="1000" b="0" i="0">
                          <a:solidFill>
                            <a:srgbClr val="262626"/>
                          </a:solidFill>
                          <a:latin typeface="Arial"/>
                        </a:rPr>
                        <a:t>17.7°*</a:t>
                      </a:r>
                    </a:p>
                  </a:txBody>
                  <a:tcPr>
                    <a:solidFill>
                      <a:srgbClr val="FFFFFF"/>
                    </a:solidFill>
                  </a:tcPr>
                </a:tc>
                <a:tc>
                  <a:txBody>
                    <a:bodyPr/>
                    <a:lstStyle/>
                    <a:p>
                      <a:pPr algn="ctr"/>
                      <a:r>
                        <a:rPr sz="1000" b="0" i="0">
                          <a:solidFill>
                            <a:srgbClr val="262626"/>
                          </a:solidFill>
                          <a:latin typeface="Arial"/>
                        </a:rPr>
                        <a:t>69%</a:t>
                      </a:r>
                    </a:p>
                  </a:txBody>
                  <a:tcPr>
                    <a:solidFill>
                      <a:srgbClr val="FFFFFF"/>
                    </a:solidFill>
                  </a:tcPr>
                </a:tc>
                <a:tc>
                  <a:txBody>
                    <a:bodyPr/>
                    <a:lstStyle/>
                    <a:p>
                      <a:pPr algn="ctr"/>
                      <a:r>
                        <a:rPr sz="1000" b="0" i="0">
                          <a:solidFill>
                            <a:srgbClr val="262626"/>
                          </a:solidFill>
                          <a:latin typeface="Arial"/>
                        </a:rPr>
                        <a:t>4</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457200">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Jul 20</a:t>
                      </a:r>
                    </a:p>
                  </a:txBody>
                  <a:tcPr>
                    <a:solidFill>
                      <a:srgbClr val="F2F2F2"/>
                    </a:solidFill>
                  </a:tcPr>
                </a:tc>
                <a:tc>
                  <a:txBody>
                    <a:bodyPr/>
                    <a:lstStyle/>
                    <a:p>
                      <a:pPr algn="ctr"/>
                      <a:r>
                        <a:rPr sz="1000" b="0" i="0">
                          <a:solidFill>
                            <a:srgbClr val="262626"/>
                          </a:solidFill>
                          <a:latin typeface="Arial"/>
                        </a:rPr>
                        <a:t>16.0°*</a:t>
                      </a:r>
                    </a:p>
                  </a:txBody>
                  <a:tcPr>
                    <a:solidFill>
                      <a:srgbClr val="F2F2F2"/>
                    </a:solidFill>
                  </a:tcPr>
                </a:tc>
                <a:tc>
                  <a:txBody>
                    <a:bodyPr/>
                    <a:lstStyle/>
                    <a:p>
                      <a:pPr algn="ctr"/>
                      <a:r>
                        <a:rPr sz="1000" b="0" i="0">
                          <a:solidFill>
                            <a:srgbClr val="262626"/>
                          </a:solidFill>
                          <a:latin typeface="Arial"/>
                        </a:rPr>
                        <a:t>83%</a:t>
                      </a:r>
                    </a:p>
                  </a:txBody>
                  <a:tcPr>
                    <a:solidFill>
                      <a:srgbClr val="F2F2F2"/>
                    </a:solidFill>
                  </a:tcPr>
                </a:tc>
                <a:tc>
                  <a:txBody>
                    <a:bodyPr/>
                    <a:lstStyle/>
                    <a:p>
                      <a:pPr algn="ctr"/>
                      <a:r>
                        <a:rPr sz="1000" b="0" i="0">
                          <a:solidFill>
                            <a:srgbClr val="262626"/>
                          </a:solidFill>
                          <a:latin typeface="Arial"/>
                        </a:rPr>
                        <a:t>10</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457200">
                <a:tc>
                  <a:txBody>
                    <a:bodyPr/>
                    <a:lstStyle/>
                    <a:p>
                      <a:pPr algn="ctr"/>
                      <a:r>
                        <a:rPr sz="1000" b="0" i="0">
                          <a:solidFill>
                            <a:srgbClr val="262626"/>
                          </a:solidFill>
                          <a:latin typeface="Arial"/>
                        </a:rPr>
                        <a:t>2021</a:t>
                      </a:r>
                    </a:p>
                  </a:txBody>
                  <a:tcPr>
                    <a:solidFill>
                      <a:srgbClr val="FFFFFF"/>
                    </a:solidFill>
                  </a:tcPr>
                </a:tc>
                <a:tc>
                  <a:txBody>
                    <a:bodyPr/>
                    <a:lstStyle/>
                    <a:p>
                      <a:pPr algn="ctr"/>
                      <a:r>
                        <a:rPr sz="1000" b="0" i="0">
                          <a:solidFill>
                            <a:srgbClr val="262626"/>
                          </a:solidFill>
                          <a:latin typeface="Arial"/>
                        </a:rPr>
                        <a:t>Aug 21</a:t>
                      </a:r>
                    </a:p>
                  </a:txBody>
                  <a:tcPr>
                    <a:solidFill>
                      <a:srgbClr val="FFFFFF"/>
                    </a:solidFill>
                  </a:tcPr>
                </a:tc>
                <a:tc>
                  <a:txBody>
                    <a:bodyPr/>
                    <a:lstStyle/>
                    <a:p>
                      <a:pPr algn="ctr"/>
                      <a:r>
                        <a:rPr sz="1000" b="0" i="0">
                          <a:solidFill>
                            <a:srgbClr val="262626"/>
                          </a:solidFill>
                          <a:latin typeface="Arial"/>
                        </a:rPr>
                        <a:t>12.5°*</a:t>
                      </a:r>
                    </a:p>
                  </a:txBody>
                  <a:tcPr>
                    <a:solidFill>
                      <a:srgbClr val="FFFFFF"/>
                    </a:solidFill>
                  </a:tcPr>
                </a:tc>
                <a:tc>
                  <a:txBody>
                    <a:bodyPr/>
                    <a:lstStyle/>
                    <a:p>
                      <a:pPr algn="ctr"/>
                      <a:r>
                        <a:rPr sz="1000" b="0" i="0">
                          <a:solidFill>
                            <a:srgbClr val="262626"/>
                          </a:solidFill>
                          <a:latin typeface="Arial"/>
                        </a:rPr>
                        <a:t>80%</a:t>
                      </a:r>
                    </a:p>
                  </a:txBody>
                  <a:tcPr>
                    <a:solidFill>
                      <a:srgbClr val="FFFFFF"/>
                    </a:solidFill>
                  </a:tcPr>
                </a:tc>
                <a:tc>
                  <a:txBody>
                    <a:bodyPr/>
                    <a:lstStyle/>
                    <a:p>
                      <a:pPr algn="ctr"/>
                      <a:r>
                        <a:rPr sz="1000" b="0" i="0">
                          <a:solidFill>
                            <a:srgbClr val="262626"/>
                          </a:solidFill>
                          <a:latin typeface="Arial"/>
                        </a:rPr>
                        <a:t>8</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457200">
                <a:tc>
                  <a:txBody>
                    <a:bodyPr/>
                    <a:lstStyle/>
                    <a:p>
                      <a:pPr algn="ctr"/>
                      <a:r>
                        <a:rPr sz="1000" b="0" i="0">
                          <a:solidFill>
                            <a:srgbClr val="262626"/>
                          </a:solidFill>
                          <a:latin typeface="Arial"/>
                        </a:rPr>
                        <a:t>2023</a:t>
                      </a:r>
                    </a:p>
                  </a:txBody>
                  <a:tcPr>
                    <a:solidFill>
                      <a:srgbClr val="F2F2F2"/>
                    </a:solidFill>
                  </a:tcPr>
                </a:tc>
                <a:tc>
                  <a:txBody>
                    <a:bodyPr/>
                    <a:lstStyle/>
                    <a:p>
                      <a:pPr algn="ctr"/>
                      <a:r>
                        <a:rPr sz="1000" b="0" i="0">
                          <a:solidFill>
                            <a:srgbClr val="262626"/>
                          </a:solidFill>
                          <a:latin typeface="Arial"/>
                        </a:rPr>
                        <a:t>Aug 26</a:t>
                      </a:r>
                    </a:p>
                  </a:txBody>
                  <a:tcPr>
                    <a:solidFill>
                      <a:srgbClr val="F2F2F2"/>
                    </a:solidFill>
                  </a:tcPr>
                </a:tc>
                <a:tc>
                  <a:txBody>
                    <a:bodyPr/>
                    <a:lstStyle/>
                    <a:p>
                      <a:pPr algn="ctr"/>
                      <a:r>
                        <a:rPr sz="1000" b="0" i="0">
                          <a:solidFill>
                            <a:srgbClr val="262626"/>
                          </a:solidFill>
                          <a:latin typeface="Arial"/>
                        </a:rPr>
                        <a:t>20</a:t>
                      </a:r>
                    </a:p>
                  </a:txBody>
                  <a:tcPr>
                    <a:solidFill>
                      <a:srgbClr val="F2F2F2"/>
                    </a:solidFill>
                  </a:tcPr>
                </a:tc>
                <a:tc>
                  <a:txBody>
                    <a:bodyPr/>
                    <a:lstStyle/>
                    <a:p>
                      <a:pPr algn="ctr"/>
                      <a:r>
                        <a:rPr sz="1000" b="0" i="0">
                          <a:solidFill>
                            <a:srgbClr val="262626"/>
                          </a:solidFill>
                          <a:latin typeface="Arial"/>
                        </a:rPr>
                        <a:t>82%</a:t>
                      </a:r>
                    </a:p>
                  </a:txBody>
                  <a:tcPr>
                    <a:solidFill>
                      <a:srgbClr val="F2F2F2"/>
                    </a:solidFill>
                  </a:tcPr>
                </a:tc>
                <a:tc>
                  <a:txBody>
                    <a:bodyPr/>
                    <a:lstStyle/>
                    <a:p>
                      <a:pPr algn="ctr"/>
                      <a:r>
                        <a:rPr sz="1000" b="0" i="0">
                          <a:solidFill>
                            <a:srgbClr val="262626"/>
                          </a:solidFill>
                          <a:latin typeface="Arial"/>
                        </a:rPr>
                        <a:t>9</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457200">
                <a:tc>
                  <a:txBody>
                    <a:bodyPr/>
                    <a:lstStyle/>
                    <a:p>
                      <a:pPr algn="ctr"/>
                      <a:r>
                        <a:rPr sz="1000" b="0" i="0">
                          <a:solidFill>
                            <a:srgbClr val="262626"/>
                          </a:solidFill>
                          <a:latin typeface="Arial"/>
                        </a:rPr>
                        <a:t>2024</a:t>
                      </a:r>
                    </a:p>
                  </a:txBody>
                  <a:tcPr>
                    <a:solidFill>
                      <a:srgbClr val="FFFFFF"/>
                    </a:solidFill>
                  </a:tcPr>
                </a:tc>
                <a:tc>
                  <a:txBody>
                    <a:bodyPr/>
                    <a:lstStyle/>
                    <a:p>
                      <a:pPr algn="ctr"/>
                      <a:r>
                        <a:rPr sz="1000" b="0" i="0">
                          <a:solidFill>
                            <a:srgbClr val="262626"/>
                          </a:solidFill>
                          <a:latin typeface="Arial"/>
                        </a:rPr>
                        <a:t>Aug 24</a:t>
                      </a:r>
                    </a:p>
                  </a:txBody>
                  <a:tcPr>
                    <a:solidFill>
                      <a:srgbClr val="FFFFFF"/>
                    </a:solidFill>
                  </a:tcPr>
                </a:tc>
                <a:tc>
                  <a:txBody>
                    <a:bodyPr/>
                    <a:lstStyle/>
                    <a:p>
                      <a:pPr algn="ctr"/>
                      <a:r>
                        <a:rPr sz="1000" b="0" i="0">
                          <a:solidFill>
                            <a:srgbClr val="262626"/>
                          </a:solidFill>
                          <a:latin typeface="Arial"/>
                        </a:rPr>
                        <a:t>18.2°*</a:t>
                      </a:r>
                    </a:p>
                  </a:txBody>
                  <a:tcPr>
                    <a:solidFill>
                      <a:srgbClr val="FFFFFF"/>
                    </a:solidFill>
                  </a:tcPr>
                </a:tc>
                <a:tc>
                  <a:txBody>
                    <a:bodyPr/>
                    <a:lstStyle/>
                    <a:p>
                      <a:pPr algn="ctr"/>
                      <a:r>
                        <a:rPr sz="1000" b="0" i="0">
                          <a:solidFill>
                            <a:srgbClr val="262626"/>
                          </a:solidFill>
                          <a:latin typeface="Arial"/>
                        </a:rPr>
                        <a:t>81%</a:t>
                      </a:r>
                    </a:p>
                  </a:txBody>
                  <a:tcPr>
                    <a:solidFill>
                      <a:srgbClr val="FFFFFF"/>
                    </a:solidFill>
                  </a:tcPr>
                </a:tc>
                <a:tc>
                  <a:txBody>
                    <a:bodyPr/>
                    <a:lstStyle/>
                    <a:p>
                      <a:pPr algn="ctr"/>
                      <a:r>
                        <a:rPr sz="1000" b="0" i="0">
                          <a:solidFill>
                            <a:srgbClr val="262626"/>
                          </a:solidFill>
                          <a:latin typeface="Arial"/>
                        </a:rPr>
                        <a:t>20</a:t>
                      </a:r>
                    </a:p>
                  </a:txBody>
                  <a:tcPr>
                    <a:solidFill>
                      <a:srgbClr val="FFFFFF"/>
                    </a:solidFill>
                  </a:tcPr>
                </a:tc>
                <a:tc>
                  <a:txBody>
                    <a:bodyPr/>
                    <a:lstStyle/>
                    <a:p>
                      <a:pPr algn="ctr"/>
                      <a:r>
                        <a:rPr sz="1000" b="0" i="0">
                          <a:solidFill>
                            <a:srgbClr val="262626"/>
                          </a:solidFill>
                          <a:latin typeface="Arial"/>
                        </a:rPr>
                        <a:t>0.1</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08:00–11:00 local) where WT API data is absent. Values marked * are Open-Meteo estimates. Water temp and wetsuit ruling are from the World Triathlon API per program.</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685800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0" y="0"/>
            <a:ext cx="457200" cy="685800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Rectangle 3"/>
          <p:cNvSpPr/>
          <p:nvPr/>
        </p:nvSpPr>
        <p:spPr>
          <a:xfrm>
            <a:off x="731520" y="3840480"/>
            <a:ext cx="10515600" cy="5486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731520" y="2103120"/>
            <a:ext cx="10515600" cy="1645920"/>
          </a:xfrm>
          <a:prstGeom prst="rect">
            <a:avLst/>
          </a:prstGeom>
          <a:noFill/>
        </p:spPr>
        <p:txBody>
          <a:bodyPr wrap="square">
            <a:spAutoFit/>
          </a:bodyPr>
          <a:lstStyle/>
          <a:p>
            <a:pPr algn="ctr"/>
            <a:r>
              <a:rPr sz="6000" b="1" i="0">
                <a:solidFill>
                  <a:srgbClr val="FFFFFF"/>
                </a:solidFill>
                <a:latin typeface="Arial"/>
              </a:rPr>
              <a:t>ELITE WOMEN</a:t>
            </a:r>
          </a:p>
        </p:txBody>
      </p:sp>
      <p:pic>
        <p:nvPicPr>
          <p:cNvPr id="6" name="Picture 5" descr="USA_Triathlon_Logo.jpg"/>
          <p:cNvPicPr>
            <a:picLocks noChangeAspect="1"/>
          </p:cNvPicPr>
          <p:nvPr/>
        </p:nvPicPr>
        <p:blipFill>
          <a:blip r:embed="rId2"/>
          <a:stretch>
            <a:fillRect/>
          </a:stretch>
        </p:blipFill>
        <p:spPr>
          <a:xfrm>
            <a:off x="10058400" y="5760720"/>
            <a:ext cx="1828800" cy="1005840"/>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Overview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Rectangle 7"/>
          <p:cNvSpPr/>
          <p:nvPr/>
        </p:nvSpPr>
        <p:spPr>
          <a:xfrm>
            <a:off x="274320" y="1097280"/>
            <a:ext cx="6400800" cy="32004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TextBox 8"/>
          <p:cNvSpPr txBox="1"/>
          <p:nvPr/>
        </p:nvSpPr>
        <p:spPr>
          <a:xfrm>
            <a:off x="320040" y="1115568"/>
            <a:ext cx="6035040" cy="274320"/>
          </a:xfrm>
          <a:prstGeom prst="rect">
            <a:avLst/>
          </a:prstGeom>
          <a:noFill/>
        </p:spPr>
        <p:txBody>
          <a:bodyPr wrap="square">
            <a:spAutoFit/>
          </a:bodyPr>
          <a:lstStyle/>
          <a:p>
            <a:pPr algn="l"/>
            <a:r>
              <a:rPr sz="1200" b="1" i="0">
                <a:solidFill>
                  <a:srgbClr val="FFFFFF"/>
                </a:solidFill>
                <a:latin typeface="Arial"/>
              </a:rPr>
              <a:t>RACE HISTORY AT EDMONTON</a:t>
            </a:r>
          </a:p>
        </p:txBody>
      </p:sp>
      <p:sp>
        <p:nvSpPr>
          <p:cNvPr id="10" name="TextBox 9"/>
          <p:cNvSpPr txBox="1"/>
          <p:nvPr/>
        </p:nvSpPr>
        <p:spPr>
          <a:xfrm>
            <a:off x="274320" y="1508760"/>
            <a:ext cx="6400800" cy="5074920"/>
          </a:xfrm>
          <a:prstGeom prst="rect">
            <a:avLst/>
          </a:prstGeom>
          <a:noFill/>
        </p:spPr>
        <p:txBody>
          <a:bodyPr wrap="square">
            <a:spAutoFit/>
          </a:bodyPr>
          <a:lstStyle/>
          <a:p>
            <a:pPr algn="l"/>
            <a:r>
              <a:rPr sz="1200" b="0" i="0">
                <a:solidFill>
                  <a:srgbClr val="262626"/>
                </a:solidFill>
                <a:latin typeface="Arial"/>
              </a:rPr>
              <a:t>The Elite Women race at Edmonton has been held 5 times in this analysis window (2018–2024). The event is staged as part of the World Championship Series / World Championships, World Championship Series calendar.
[PLACEHOLDER: Add 1–2 sentences on notable storylines, competitive history, or what makes this event significant for Elite Women athletes. E.g. defending champions, record performances, dramatic finishes.]</a:t>
            </a:r>
          </a:p>
        </p:txBody>
      </p:sp>
      <p:sp>
        <p:nvSpPr>
          <p:cNvPr id="11" name="Rectangle 10"/>
          <p:cNvSpPr/>
          <p:nvPr/>
        </p:nvSpPr>
        <p:spPr>
          <a:xfrm>
            <a:off x="6903720" y="1097280"/>
            <a:ext cx="4983480" cy="320040"/>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949440" y="1115568"/>
            <a:ext cx="4663440" cy="274320"/>
          </a:xfrm>
          <a:prstGeom prst="rect">
            <a:avLst/>
          </a:prstGeom>
          <a:noFill/>
        </p:spPr>
        <p:txBody>
          <a:bodyPr wrap="square">
            <a:spAutoFit/>
          </a:bodyPr>
          <a:lstStyle/>
          <a:p>
            <a:pPr algn="l"/>
            <a:r>
              <a:rPr sz="1200" b="1" i="0">
                <a:solidFill>
                  <a:srgbClr val="FFFFFF"/>
                </a:solidFill>
                <a:latin typeface="Arial"/>
              </a:rPr>
              <a:t>3 KEYS TO SUCCESS</a:t>
            </a:r>
          </a:p>
        </p:txBody>
      </p:sp>
      <p:sp>
        <p:nvSpPr>
          <p:cNvPr id="13" name="Rectangle 12"/>
          <p:cNvSpPr/>
          <p:nvPr/>
        </p:nvSpPr>
        <p:spPr>
          <a:xfrm>
            <a:off x="6949440" y="155448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1</a:t>
            </a:r>
          </a:p>
        </p:txBody>
      </p:sp>
      <p:sp>
        <p:nvSpPr>
          <p:cNvPr id="14" name="TextBox 13"/>
          <p:cNvSpPr txBox="1"/>
          <p:nvPr/>
        </p:nvSpPr>
        <p:spPr>
          <a:xfrm>
            <a:off x="7452360" y="1536192"/>
            <a:ext cx="4434840" cy="1572768"/>
          </a:xfrm>
          <a:prstGeom prst="rect">
            <a:avLst/>
          </a:prstGeom>
          <a:noFill/>
        </p:spPr>
        <p:txBody>
          <a:bodyPr wrap="square">
            <a:spAutoFit/>
          </a:bodyPr>
          <a:lstStyle/>
          <a:p>
            <a:pPr algn="l"/>
            <a:r>
              <a:rPr sz="1100" b="0" i="0">
                <a:solidFill>
                  <a:srgbClr val="262626"/>
                </a:solidFill>
                <a:latin typeface="Arial"/>
              </a:rPr>
              <a:t>Fast swimming is decisive — only ~11 athletes typically leave the water together. A strong swim directly builds a race-winning gap before T1.</a:t>
            </a:r>
          </a:p>
        </p:txBody>
      </p:sp>
      <p:sp>
        <p:nvSpPr>
          <p:cNvPr id="15" name="Rectangle 14"/>
          <p:cNvSpPr/>
          <p:nvPr/>
        </p:nvSpPr>
        <p:spPr>
          <a:xfrm>
            <a:off x="6949440" y="324612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2</a:t>
            </a:r>
          </a:p>
        </p:txBody>
      </p:sp>
      <p:sp>
        <p:nvSpPr>
          <p:cNvPr id="16" name="TextBox 15"/>
          <p:cNvSpPr txBox="1"/>
          <p:nvPr/>
        </p:nvSpPr>
        <p:spPr>
          <a:xfrm>
            <a:off x="7452360" y="3227832"/>
            <a:ext cx="4434840" cy="1572768"/>
          </a:xfrm>
          <a:prstGeom prst="rect">
            <a:avLst/>
          </a:prstGeom>
          <a:noFill/>
        </p:spPr>
        <p:txBody>
          <a:bodyPr wrap="square">
            <a:spAutoFit/>
          </a:bodyPr>
          <a:lstStyle/>
          <a:p>
            <a:pPr algn="l"/>
            <a:r>
              <a:rPr sz="1100" b="0" i="0">
                <a:solidFill>
                  <a:srgbClr val="262626"/>
                </a:solidFill>
                <a:latin typeface="Arial"/>
              </a:rPr>
              <a:t>[PLACEHOLDER: Key 2 — Describe bike strategy: is this a pack race or do breakaways form? What power/tactics are needed to stay in the lead group?]</a:t>
            </a:r>
          </a:p>
        </p:txBody>
      </p:sp>
      <p:sp>
        <p:nvSpPr>
          <p:cNvPr id="17" name="Rectangle 16"/>
          <p:cNvSpPr/>
          <p:nvPr/>
        </p:nvSpPr>
        <p:spPr>
          <a:xfrm>
            <a:off x="6949440" y="4937760"/>
            <a:ext cx="384048" cy="384048"/>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r>
              <a:rPr sz="1400" b="1">
                <a:solidFill>
                  <a:srgbClr val="FFFFFF"/>
                </a:solidFill>
                <a:latin typeface="Arial"/>
              </a:rPr>
              <a:t>3</a:t>
            </a:r>
          </a:p>
        </p:txBody>
      </p:sp>
      <p:sp>
        <p:nvSpPr>
          <p:cNvPr id="18" name="TextBox 17"/>
          <p:cNvSpPr txBox="1"/>
          <p:nvPr/>
        </p:nvSpPr>
        <p:spPr>
          <a:xfrm>
            <a:off x="7452360" y="4919472"/>
            <a:ext cx="4434840" cy="1572768"/>
          </a:xfrm>
          <a:prstGeom prst="rect">
            <a:avLst/>
          </a:prstGeom>
          <a:noFill/>
        </p:spPr>
        <p:txBody>
          <a:bodyPr wrap="square">
            <a:spAutoFit/>
          </a:bodyPr>
          <a:lstStyle/>
          <a:p>
            <a:pPr algn="l"/>
            <a:r>
              <a:rPr sz="1100" b="0" i="0">
                <a:solidFill>
                  <a:srgbClr val="262626"/>
                </a:solidFill>
                <a:latin typeface="Arial"/>
              </a:rPr>
              <a:t>Run speed separates the podium — the fastest run pace averages ~2:02/km with a ~131s spread between fastest and average finisher. Either a pre-built lead from the bike or exceptional run speed is required to win.</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Results Summary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3072384"/>
        </p:xfrm>
        <a:graphic>
          <a:graphicData uri="http://schemas.openxmlformats.org/drawingml/2006/table">
            <a:tbl>
              <a:tblPr firstRow="1" bandRow="1">
                <a:tableStyleId>{5C22544A-7EE6-4342-B048-85BDC9FD1C3A}</a:tableStyleId>
              </a:tblPr>
              <a:tblGrid>
                <a:gridCol w="655082">
                  <a:extLst>
                    <a:ext uri="{9D8B030D-6E8A-4147-A177-3AD203B41FA5}">
                      <a16:colId xmlns:a16="http://schemas.microsoft.com/office/drawing/2014/main" val="20000"/>
                    </a:ext>
                  </a:extLst>
                </a:gridCol>
                <a:gridCol w="957428">
                  <a:extLst>
                    <a:ext uri="{9D8B030D-6E8A-4147-A177-3AD203B41FA5}">
                      <a16:colId xmlns:a16="http://schemas.microsoft.com/office/drawing/2014/main" val="20001"/>
                    </a:ext>
                  </a:extLst>
                </a:gridCol>
                <a:gridCol w="1914856">
                  <a:extLst>
                    <a:ext uri="{9D8B030D-6E8A-4147-A177-3AD203B41FA5}">
                      <a16:colId xmlns:a16="http://schemas.microsoft.com/office/drawing/2014/main" val="20002"/>
                    </a:ext>
                  </a:extLst>
                </a:gridCol>
                <a:gridCol w="554300">
                  <a:extLst>
                    <a:ext uri="{9D8B030D-6E8A-4147-A177-3AD203B41FA5}">
                      <a16:colId xmlns:a16="http://schemas.microsoft.com/office/drawing/2014/main" val="20003"/>
                    </a:ext>
                  </a:extLst>
                </a:gridCol>
                <a:gridCol w="755864">
                  <a:extLst>
                    <a:ext uri="{9D8B030D-6E8A-4147-A177-3AD203B41FA5}">
                      <a16:colId xmlns:a16="http://schemas.microsoft.com/office/drawing/2014/main" val="20004"/>
                    </a:ext>
                  </a:extLst>
                </a:gridCol>
                <a:gridCol w="2015638">
                  <a:extLst>
                    <a:ext uri="{9D8B030D-6E8A-4147-A177-3AD203B41FA5}">
                      <a16:colId xmlns:a16="http://schemas.microsoft.com/office/drawing/2014/main" val="20005"/>
                    </a:ext>
                  </a:extLst>
                </a:gridCol>
                <a:gridCol w="1007819">
                  <a:extLst>
                    <a:ext uri="{9D8B030D-6E8A-4147-A177-3AD203B41FA5}">
                      <a16:colId xmlns:a16="http://schemas.microsoft.com/office/drawing/2014/main" val="20006"/>
                    </a:ext>
                  </a:extLst>
                </a:gridCol>
                <a:gridCol w="806255">
                  <a:extLst>
                    <a:ext uri="{9D8B030D-6E8A-4147-A177-3AD203B41FA5}">
                      <a16:colId xmlns:a16="http://schemas.microsoft.com/office/drawing/2014/main" val="20007"/>
                    </a:ext>
                  </a:extLst>
                </a:gridCol>
                <a:gridCol w="856646">
                  <a:extLst>
                    <a:ext uri="{9D8B030D-6E8A-4147-A177-3AD203B41FA5}">
                      <a16:colId xmlns:a16="http://schemas.microsoft.com/office/drawing/2014/main" val="20008"/>
                    </a:ext>
                  </a:extLst>
                </a:gridCol>
                <a:gridCol w="705473">
                  <a:extLst>
                    <a:ext uri="{9D8B030D-6E8A-4147-A177-3AD203B41FA5}">
                      <a16:colId xmlns:a16="http://schemas.microsoft.com/office/drawing/2014/main" val="20009"/>
                    </a:ext>
                  </a:extLst>
                </a:gridCol>
                <a:gridCol w="705473">
                  <a:extLst>
                    <a:ext uri="{9D8B030D-6E8A-4147-A177-3AD203B41FA5}">
                      <a16:colId xmlns:a16="http://schemas.microsoft.com/office/drawing/2014/main" val="20010"/>
                    </a:ext>
                  </a:extLst>
                </a:gridCol>
                <a:gridCol w="705473">
                  <a:extLst>
                    <a:ext uri="{9D8B030D-6E8A-4147-A177-3AD203B41FA5}">
                      <a16:colId xmlns:a16="http://schemas.microsoft.com/office/drawing/2014/main" val="20011"/>
                    </a:ext>
                  </a:extLst>
                </a:gridCol>
              </a:tblGrid>
              <a:tr h="512064">
                <a:tc>
                  <a:txBody>
                    <a:bodyPr/>
                    <a:lstStyle/>
                    <a:p>
                      <a:pPr algn="ctr"/>
                      <a:r>
                        <a:rPr sz="1400" b="1" i="0">
                          <a:solidFill>
                            <a:srgbClr val="FFFFFF"/>
                          </a:solidFill>
                          <a:latin typeface="Arial"/>
                        </a:rPr>
                        <a:t>Year</a:t>
                      </a:r>
                    </a:p>
                  </a:txBody>
                  <a:tcPr>
                    <a:solidFill>
                      <a:srgbClr val="002060"/>
                    </a:solidFill>
                  </a:tcPr>
                </a:tc>
                <a:tc>
                  <a:txBody>
                    <a:bodyPr/>
                    <a:lstStyle/>
                    <a:p>
                      <a:pPr algn="ctr"/>
                      <a:r>
                        <a:rPr sz="1400" b="1" i="0">
                          <a:solidFill>
                            <a:srgbClr val="FFFFFF"/>
                          </a:solidFill>
                          <a:latin typeface="Arial"/>
                        </a:rPr>
                        <a:t>Date</a:t>
                      </a:r>
                    </a:p>
                  </a:txBody>
                  <a:tcPr>
                    <a:solidFill>
                      <a:srgbClr val="002060"/>
                    </a:solidFill>
                  </a:tcPr>
                </a:tc>
                <a:tc>
                  <a:txBody>
                    <a:bodyPr/>
                    <a:lstStyle/>
                    <a:p>
                      <a:pPr algn="ctr"/>
                      <a:r>
                        <a:rPr sz="1400" b="1" i="0">
                          <a:solidFill>
                            <a:srgbClr val="FFFFFF"/>
                          </a:solidFill>
                          <a:latin typeface="Arial"/>
                        </a:rPr>
                        <a:t>Category</a:t>
                      </a:r>
                    </a:p>
                  </a:txBody>
                  <a:tcPr>
                    <a:solidFill>
                      <a:srgbClr val="002060"/>
                    </a:solidFill>
                  </a:tcPr>
                </a:tc>
                <a:tc>
                  <a:txBody>
                    <a:bodyPr/>
                    <a:lstStyle/>
                    <a:p>
                      <a:pPr algn="ctr"/>
                      <a:r>
                        <a:rPr sz="1400" b="1" i="0">
                          <a:solidFill>
                            <a:srgbClr val="FFFFFF"/>
                          </a:solidFill>
                          <a:latin typeface="Arial"/>
                        </a:rPr>
                        <a:t>Field</a:t>
                      </a:r>
                    </a:p>
                  </a:txBody>
                  <a:tcPr>
                    <a:solidFill>
                      <a:srgbClr val="002060"/>
                    </a:solidFill>
                  </a:tcPr>
                </a:tc>
                <a:tc>
                  <a:txBody>
                    <a:bodyPr/>
                    <a:lstStyle/>
                    <a:p>
                      <a:pPr algn="ctr"/>
                      <a:r>
                        <a:rPr sz="1400" b="1" i="0">
                          <a:solidFill>
                            <a:srgbClr val="FFFFFF"/>
                          </a:solidFill>
                          <a:latin typeface="Arial"/>
                        </a:rPr>
                        <a:t>DNF/LAP/DNS</a:t>
                      </a:r>
                    </a:p>
                  </a:txBody>
                  <a:tcPr>
                    <a:solidFill>
                      <a:srgbClr val="002060"/>
                    </a:solidFill>
                  </a:tcPr>
                </a:tc>
                <a:tc>
                  <a:txBody>
                    <a:bodyPr/>
                    <a:lstStyle/>
                    <a:p>
                      <a:pPr algn="ctr"/>
                      <a:r>
                        <a:rPr sz="1400" b="1" i="0">
                          <a:solidFill>
                            <a:srgbClr val="FFFFFF"/>
                          </a:solidFill>
                          <a:latin typeface="Arial"/>
                        </a:rPr>
                        <a:t>Winner</a:t>
                      </a:r>
                    </a:p>
                  </a:txBody>
                  <a:tcPr>
                    <a:solidFill>
                      <a:srgbClr val="002060"/>
                    </a:solidFill>
                  </a:tcPr>
                </a:tc>
                <a:tc>
                  <a:txBody>
                    <a:bodyPr/>
                    <a:lstStyle/>
                    <a:p>
                      <a:pPr algn="ctr"/>
                      <a:r>
                        <a:rPr sz="1400" b="1" i="0">
                          <a:solidFill>
                            <a:srgbClr val="FFFFFF"/>
                          </a:solidFill>
                          <a:latin typeface="Arial"/>
                        </a:rPr>
                        <a:t>Winner Time</a:t>
                      </a:r>
                    </a:p>
                  </a:txBody>
                  <a:tcPr>
                    <a:solidFill>
                      <a:srgbClr val="002060"/>
                    </a:solidFill>
                  </a:tcPr>
                </a:tc>
                <a:tc>
                  <a:txBody>
                    <a:bodyPr/>
                    <a:lstStyle/>
                    <a:p>
                      <a:pPr algn="ctr"/>
                      <a:r>
                        <a:rPr sz="1400" b="1" i="0">
                          <a:solidFill>
                            <a:srgbClr val="FFFFFF"/>
                          </a:solidFill>
                          <a:latin typeface="Arial"/>
                        </a:rPr>
                        <a:t>Air Temp</a:t>
                      </a:r>
                    </a:p>
                  </a:txBody>
                  <a:tcPr>
                    <a:solidFill>
                      <a:srgbClr val="002060"/>
                    </a:solidFill>
                  </a:tcPr>
                </a:tc>
                <a:tc>
                  <a:txBody>
                    <a:bodyPr/>
                    <a:lstStyle/>
                    <a:p>
                      <a:pPr algn="ctr"/>
                      <a:r>
                        <a:rPr sz="1400" b="1" i="0">
                          <a:solidFill>
                            <a:srgbClr val="FFFFFF"/>
                          </a:solidFill>
                          <a:latin typeface="Arial"/>
                        </a:rPr>
                        <a:t>Water Temp</a:t>
                      </a:r>
                    </a:p>
                  </a:txBody>
                  <a:tcPr>
                    <a:solidFill>
                      <a:srgbClr val="002060"/>
                    </a:solidFill>
                  </a:tcPr>
                </a:tc>
                <a:tc>
                  <a:txBody>
                    <a:bodyPr/>
                    <a:lstStyle/>
                    <a:p>
                      <a:pPr algn="ctr"/>
                      <a:r>
                        <a:rPr sz="1400" b="1" i="0">
                          <a:solidFill>
                            <a:srgbClr val="FFFFFF"/>
                          </a:solidFill>
                          <a:latin typeface="Arial"/>
                        </a:rPr>
                        <a:t>Swim km</a:t>
                      </a:r>
                    </a:p>
                  </a:txBody>
                  <a:tcPr>
                    <a:solidFill>
                      <a:srgbClr val="002060"/>
                    </a:solidFill>
                  </a:tcPr>
                </a:tc>
                <a:tc>
                  <a:txBody>
                    <a:bodyPr/>
                    <a:lstStyle/>
                    <a:p>
                      <a:pPr algn="ctr"/>
                      <a:r>
                        <a:rPr sz="1400" b="1" i="0">
                          <a:solidFill>
                            <a:srgbClr val="FFFFFF"/>
                          </a:solidFill>
                          <a:latin typeface="Arial"/>
                        </a:rPr>
                        <a:t>Bike km</a:t>
                      </a:r>
                    </a:p>
                  </a:txBody>
                  <a:tcPr>
                    <a:solidFill>
                      <a:srgbClr val="002060"/>
                    </a:solidFill>
                  </a:tcPr>
                </a:tc>
                <a:tc>
                  <a:txBody>
                    <a:bodyPr/>
                    <a:lstStyle/>
                    <a:p>
                      <a:pPr algn="ctr"/>
                      <a:r>
                        <a:rPr sz="1400" b="1" i="0">
                          <a:solidFill>
                            <a:srgbClr val="FFFFFF"/>
                          </a:solidFill>
                          <a:latin typeface="Arial"/>
                        </a:rPr>
                        <a:t>Run km</a:t>
                      </a:r>
                    </a:p>
                  </a:txBody>
                  <a:tcPr>
                    <a:solidFill>
                      <a:srgbClr val="002060"/>
                    </a:solidFill>
                  </a:tcPr>
                </a:tc>
                <a:extLst>
                  <a:ext uri="{0D108BD9-81ED-4DB2-BD59-A6C34878D82A}">
                    <a16:rowId xmlns:a16="http://schemas.microsoft.com/office/drawing/2014/main" val="10000"/>
                  </a:ext>
                </a:extLst>
              </a:tr>
              <a:tr h="512064">
                <a:tc>
                  <a:txBody>
                    <a:bodyPr/>
                    <a:lstStyle/>
                    <a:p>
                      <a:pPr algn="ctr"/>
                      <a:r>
                        <a:rPr sz="1400" b="0" i="0">
                          <a:solidFill>
                            <a:srgbClr val="262626"/>
                          </a:solidFill>
                          <a:latin typeface="Arial"/>
                        </a:rPr>
                        <a:t>2018</a:t>
                      </a:r>
                    </a:p>
                  </a:txBody>
                  <a:tcPr>
                    <a:solidFill>
                      <a:srgbClr val="FFFFFF"/>
                    </a:solidFill>
                  </a:tcPr>
                </a:tc>
                <a:tc>
                  <a:txBody>
                    <a:bodyPr/>
                    <a:lstStyle/>
                    <a:p>
                      <a:pPr algn="ctr"/>
                      <a:r>
                        <a:rPr sz="1400" b="0" i="0">
                          <a:solidFill>
                            <a:srgbClr val="262626"/>
                          </a:solidFill>
                          <a:latin typeface="Arial"/>
                        </a:rPr>
                        <a:t>Jul 27</a:t>
                      </a:r>
                    </a:p>
                  </a:txBody>
                  <a:tcPr>
                    <a:solidFill>
                      <a:srgbClr val="FFFFFF"/>
                    </a:solidFill>
                  </a:tcPr>
                </a:tc>
                <a:tc>
                  <a:txBody>
                    <a:bodyPr/>
                    <a:lstStyle/>
                    <a:p>
                      <a:pPr algn="l"/>
                      <a:r>
                        <a:rPr sz="1200" b="0" i="0">
                          <a:solidFill>
                            <a:srgbClr val="262626"/>
                          </a:solidFill>
                          <a:latin typeface="Arial"/>
                        </a:rPr>
                        <a:t>World Championship Series</a:t>
                      </a:r>
                    </a:p>
                  </a:txBody>
                  <a:tcPr>
                    <a:solidFill>
                      <a:srgbClr val="FFFFFF"/>
                    </a:solidFill>
                  </a:tcPr>
                </a:tc>
                <a:tc>
                  <a:txBody>
                    <a:bodyPr/>
                    <a:lstStyle/>
                    <a:p>
                      <a:pPr algn="ctr"/>
                      <a:r>
                        <a:rPr sz="1400" b="0" i="0">
                          <a:solidFill>
                            <a:srgbClr val="262626"/>
                          </a:solidFill>
                          <a:latin typeface="Arial"/>
                        </a:rPr>
                        <a:t>55</a:t>
                      </a:r>
                    </a:p>
                  </a:txBody>
                  <a:tcPr>
                    <a:solidFill>
                      <a:srgbClr val="FFFFFF"/>
                    </a:solidFill>
                  </a:tcPr>
                </a:tc>
                <a:tc>
                  <a:txBody>
                    <a:bodyPr/>
                    <a:lstStyle/>
                    <a:p>
                      <a:pPr algn="ctr"/>
                      <a:r>
                        <a:rPr sz="1400" b="0" i="0">
                          <a:solidFill>
                            <a:srgbClr val="262626"/>
                          </a:solidFill>
                          <a:latin typeface="Arial"/>
                        </a:rPr>
                        <a:t>13</a:t>
                      </a:r>
                    </a:p>
                  </a:txBody>
                  <a:tcPr>
                    <a:solidFill>
                      <a:srgbClr val="FFFFFF"/>
                    </a:solidFill>
                  </a:tcPr>
                </a:tc>
                <a:tc>
                  <a:txBody>
                    <a:bodyPr/>
                    <a:lstStyle/>
                    <a:p>
                      <a:pPr algn="l"/>
                      <a:r>
                        <a:rPr sz="1400" b="0" i="0">
                          <a:solidFill>
                            <a:srgbClr val="262626"/>
                          </a:solidFill>
                          <a:latin typeface="Arial"/>
                        </a:rPr>
                        <a:t>Holland</a:t>
                      </a:r>
                    </a:p>
                  </a:txBody>
                  <a:tcPr>
                    <a:solidFill>
                      <a:srgbClr val="FFFFFF"/>
                    </a:solidFill>
                  </a:tcPr>
                </a:tc>
                <a:tc>
                  <a:txBody>
                    <a:bodyPr/>
                    <a:lstStyle/>
                    <a:p>
                      <a:pPr algn="ctr"/>
                      <a:r>
                        <a:rPr sz="1400" b="0" i="0">
                          <a:solidFill>
                            <a:srgbClr val="262626"/>
                          </a:solidFill>
                          <a:latin typeface="Arial"/>
                        </a:rPr>
                        <a:t>56:51</a:t>
                      </a:r>
                    </a:p>
                  </a:txBody>
                  <a:tcPr>
                    <a:solidFill>
                      <a:srgbClr val="FFFFFF"/>
                    </a:solidFill>
                  </a:tcPr>
                </a:tc>
                <a:tc>
                  <a:txBody>
                    <a:bodyPr/>
                    <a:lstStyle/>
                    <a:p>
                      <a:pPr algn="ctr"/>
                      <a:r>
                        <a:rPr sz="1400" b="0" i="0">
                          <a:solidFill>
                            <a:srgbClr val="262626"/>
                          </a:solidFill>
                          <a:latin typeface="Arial"/>
                        </a:rPr>
                        <a:t>17.7°*</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512064">
                <a:tc>
                  <a:txBody>
                    <a:bodyPr/>
                    <a:lstStyle/>
                    <a:p>
                      <a:pPr algn="ctr"/>
                      <a:r>
                        <a:rPr sz="1400" b="0" i="0">
                          <a:solidFill>
                            <a:srgbClr val="262626"/>
                          </a:solidFill>
                          <a:latin typeface="Arial"/>
                        </a:rPr>
                        <a:t>2019</a:t>
                      </a:r>
                    </a:p>
                  </a:txBody>
                  <a:tcPr>
                    <a:solidFill>
                      <a:srgbClr val="F2F2F2"/>
                    </a:solidFill>
                  </a:tcPr>
                </a:tc>
                <a:tc>
                  <a:txBody>
                    <a:bodyPr/>
                    <a:lstStyle/>
                    <a:p>
                      <a:pPr algn="ctr"/>
                      <a:r>
                        <a:rPr sz="1400" b="0" i="0">
                          <a:solidFill>
                            <a:srgbClr val="262626"/>
                          </a:solidFill>
                          <a:latin typeface="Arial"/>
                        </a:rPr>
                        <a:t>Jul 20</a:t>
                      </a:r>
                    </a:p>
                  </a:txBody>
                  <a:tcPr>
                    <a:solidFill>
                      <a:srgbClr val="F2F2F2"/>
                    </a:solidFill>
                  </a:tcPr>
                </a:tc>
                <a:tc>
                  <a:txBody>
                    <a:bodyPr/>
                    <a:lstStyle/>
                    <a:p>
                      <a:pPr algn="l"/>
                      <a:r>
                        <a:rPr sz="1200" b="0" i="0">
                          <a:solidFill>
                            <a:srgbClr val="262626"/>
                          </a:solidFill>
                          <a:latin typeface="Arial"/>
                        </a:rPr>
                        <a:t>World Championship Series</a:t>
                      </a:r>
                    </a:p>
                  </a:txBody>
                  <a:tcPr>
                    <a:solidFill>
                      <a:srgbClr val="F2F2F2"/>
                    </a:solidFill>
                  </a:tcPr>
                </a:tc>
                <a:tc>
                  <a:txBody>
                    <a:bodyPr/>
                    <a:lstStyle/>
                    <a:p>
                      <a:pPr algn="ctr"/>
                      <a:r>
                        <a:rPr sz="1400" b="0" i="0">
                          <a:solidFill>
                            <a:srgbClr val="262626"/>
                          </a:solidFill>
                          <a:latin typeface="Arial"/>
                        </a:rPr>
                        <a:t>41</a:t>
                      </a:r>
                    </a:p>
                  </a:txBody>
                  <a:tcPr>
                    <a:solidFill>
                      <a:srgbClr val="F2F2F2"/>
                    </a:solidFill>
                  </a:tcPr>
                </a:tc>
                <a:tc>
                  <a:txBody>
                    <a:bodyPr/>
                    <a:lstStyle/>
                    <a:p>
                      <a:pPr algn="ctr"/>
                      <a:r>
                        <a:rPr sz="1400" b="0" i="0">
                          <a:solidFill>
                            <a:srgbClr val="262626"/>
                          </a:solidFill>
                          <a:latin typeface="Arial"/>
                        </a:rPr>
                        <a:t>3</a:t>
                      </a:r>
                    </a:p>
                  </a:txBody>
                  <a:tcPr>
                    <a:solidFill>
                      <a:srgbClr val="F2F2F2"/>
                    </a:solidFill>
                  </a:tcPr>
                </a:tc>
                <a:tc>
                  <a:txBody>
                    <a:bodyPr/>
                    <a:lstStyle/>
                    <a:p>
                      <a:pPr algn="l"/>
                      <a:r>
                        <a:rPr sz="1400" b="0" i="0">
                          <a:solidFill>
                            <a:srgbClr val="262626"/>
                          </a:solidFill>
                          <a:latin typeface="Arial"/>
                        </a:rPr>
                        <a:t>Jackson</a:t>
                      </a:r>
                    </a:p>
                  </a:txBody>
                  <a:tcPr>
                    <a:solidFill>
                      <a:srgbClr val="F2F2F2"/>
                    </a:solidFill>
                  </a:tcPr>
                </a:tc>
                <a:tc>
                  <a:txBody>
                    <a:bodyPr/>
                    <a:lstStyle/>
                    <a:p>
                      <a:pPr algn="ctr"/>
                      <a:r>
                        <a:rPr sz="1400" b="0" i="0">
                          <a:solidFill>
                            <a:srgbClr val="262626"/>
                          </a:solidFill>
                          <a:latin typeface="Arial"/>
                        </a:rPr>
                        <a:t>1:01:23</a:t>
                      </a:r>
                    </a:p>
                  </a:txBody>
                  <a:tcPr>
                    <a:solidFill>
                      <a:srgbClr val="F2F2F2"/>
                    </a:solidFill>
                  </a:tcPr>
                </a:tc>
                <a:tc>
                  <a:txBody>
                    <a:bodyPr/>
                    <a:lstStyle/>
                    <a:p>
                      <a:pPr algn="ctr"/>
                      <a:r>
                        <a:rPr sz="1400" b="0" i="0">
                          <a:solidFill>
                            <a:srgbClr val="262626"/>
                          </a:solidFill>
                          <a:latin typeface="Arial"/>
                        </a:rPr>
                        <a:t>16.0°*</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512064">
                <a:tc>
                  <a:txBody>
                    <a:bodyPr/>
                    <a:lstStyle/>
                    <a:p>
                      <a:pPr algn="ctr"/>
                      <a:r>
                        <a:rPr sz="1400" b="0" i="0">
                          <a:solidFill>
                            <a:srgbClr val="262626"/>
                          </a:solidFill>
                          <a:latin typeface="Arial"/>
                        </a:rPr>
                        <a:t>2021</a:t>
                      </a:r>
                    </a:p>
                  </a:txBody>
                  <a:tcPr>
                    <a:solidFill>
                      <a:srgbClr val="FFFFFF"/>
                    </a:solidFill>
                  </a:tcPr>
                </a:tc>
                <a:tc>
                  <a:txBody>
                    <a:bodyPr/>
                    <a:lstStyle/>
                    <a:p>
                      <a:pPr algn="ctr"/>
                      <a:r>
                        <a:rPr sz="1400" b="0" i="0">
                          <a:solidFill>
                            <a:srgbClr val="262626"/>
                          </a:solidFill>
                          <a:latin typeface="Arial"/>
                        </a:rPr>
                        <a:t>Aug 21</a:t>
                      </a:r>
                    </a:p>
                  </a:txBody>
                  <a:tcPr>
                    <a:solidFill>
                      <a:srgbClr val="FFFFFF"/>
                    </a:solidFill>
                  </a:tcPr>
                </a:tc>
                <a:tc>
                  <a:txBody>
                    <a:bodyPr/>
                    <a:lstStyle/>
                    <a:p>
                      <a:pPr algn="l"/>
                      <a:r>
                        <a:rPr sz="1200" b="0" i="0">
                          <a:solidFill>
                            <a:srgbClr val="262626"/>
                          </a:solidFill>
                          <a:latin typeface="Arial"/>
                        </a:rPr>
                        <a:t>World Championships, World Championship Series</a:t>
                      </a:r>
                    </a:p>
                  </a:txBody>
                  <a:tcPr>
                    <a:solidFill>
                      <a:srgbClr val="FFFFFF"/>
                    </a:solidFill>
                  </a:tcPr>
                </a:tc>
                <a:tc>
                  <a:txBody>
                    <a:bodyPr/>
                    <a:lstStyle/>
                    <a:p>
                      <a:pPr algn="ctr"/>
                      <a:r>
                        <a:rPr sz="1400" b="0" i="0">
                          <a:solidFill>
                            <a:srgbClr val="262626"/>
                          </a:solidFill>
                          <a:latin typeface="Arial"/>
                        </a:rPr>
                        <a:t>38</a:t>
                      </a:r>
                    </a:p>
                  </a:txBody>
                  <a:tcPr>
                    <a:solidFill>
                      <a:srgbClr val="FFFFFF"/>
                    </a:solidFill>
                  </a:tcPr>
                </a:tc>
                <a:tc>
                  <a:txBody>
                    <a:bodyPr/>
                    <a:lstStyle/>
                    <a:p>
                      <a:pPr algn="ctr"/>
                      <a:r>
                        <a:rPr sz="1400" b="0" i="0">
                          <a:solidFill>
                            <a:srgbClr val="262626"/>
                          </a:solidFill>
                          <a:latin typeface="Arial"/>
                        </a:rPr>
                        <a:t>5</a:t>
                      </a:r>
                    </a:p>
                  </a:txBody>
                  <a:tcPr>
                    <a:solidFill>
                      <a:srgbClr val="FFFFFF"/>
                    </a:solidFill>
                  </a:tcPr>
                </a:tc>
                <a:tc>
                  <a:txBody>
                    <a:bodyPr/>
                    <a:lstStyle/>
                    <a:p>
                      <a:pPr algn="l"/>
                      <a:r>
                        <a:rPr sz="1400" b="0" i="0">
                          <a:solidFill>
                            <a:srgbClr val="262626"/>
                          </a:solidFill>
                          <a:latin typeface="Arial"/>
                        </a:rPr>
                        <a:t>Knibb</a:t>
                      </a:r>
                    </a:p>
                  </a:txBody>
                  <a:tcPr>
                    <a:solidFill>
                      <a:srgbClr val="FFFFFF"/>
                    </a:solidFill>
                  </a:tcPr>
                </a:tc>
                <a:tc>
                  <a:txBody>
                    <a:bodyPr/>
                    <a:lstStyle/>
                    <a:p>
                      <a:pPr algn="ctr"/>
                      <a:r>
                        <a:rPr sz="1400" b="0" i="0">
                          <a:solidFill>
                            <a:srgbClr val="262626"/>
                          </a:solidFill>
                          <a:latin typeface="Arial"/>
                        </a:rPr>
                        <a:t>1:54:47</a:t>
                      </a:r>
                    </a:p>
                  </a:txBody>
                  <a:tcPr>
                    <a:solidFill>
                      <a:srgbClr val="FFFFFF"/>
                    </a:solidFill>
                  </a:tcPr>
                </a:tc>
                <a:tc>
                  <a:txBody>
                    <a:bodyPr/>
                    <a:lstStyle/>
                    <a:p>
                      <a:pPr algn="ctr"/>
                      <a:r>
                        <a:rPr sz="1400" b="0" i="0">
                          <a:solidFill>
                            <a:srgbClr val="262626"/>
                          </a:solidFill>
                          <a:latin typeface="Arial"/>
                        </a:rPr>
                        <a:t>12.5°*</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512064">
                <a:tc>
                  <a:txBody>
                    <a:bodyPr/>
                    <a:lstStyle/>
                    <a:p>
                      <a:pPr algn="ctr"/>
                      <a:r>
                        <a:rPr sz="1400" b="0" i="0">
                          <a:solidFill>
                            <a:srgbClr val="262626"/>
                          </a:solidFill>
                          <a:latin typeface="Arial"/>
                        </a:rPr>
                        <a:t>2023</a:t>
                      </a:r>
                    </a:p>
                  </a:txBody>
                  <a:tcPr>
                    <a:solidFill>
                      <a:srgbClr val="F2F2F2"/>
                    </a:solidFill>
                  </a:tcPr>
                </a:tc>
                <a:tc>
                  <a:txBody>
                    <a:bodyPr/>
                    <a:lstStyle/>
                    <a:p>
                      <a:pPr algn="ctr"/>
                      <a:r>
                        <a:rPr sz="1400" b="0" i="0">
                          <a:solidFill>
                            <a:srgbClr val="262626"/>
                          </a:solidFill>
                          <a:latin typeface="Arial"/>
                        </a:rPr>
                        <a:t>Aug 26</a:t>
                      </a:r>
                    </a:p>
                  </a:txBody>
                  <a:tcPr>
                    <a:solidFill>
                      <a:srgbClr val="F2F2F2"/>
                    </a:solidFill>
                  </a:tcPr>
                </a:tc>
                <a:tc>
                  <a:txBody>
                    <a:bodyPr/>
                    <a:lstStyle/>
                    <a:p>
                      <a:pPr algn="l"/>
                      <a:r>
                        <a:rPr sz="1200" b="0" i="0">
                          <a:solidFill>
                            <a:srgbClr val="262626"/>
                          </a:solidFill>
                          <a:latin typeface="Arial"/>
                        </a:rPr>
                        <a:t>Continental Cup *</a:t>
                      </a:r>
                    </a:p>
                  </a:txBody>
                  <a:tcPr>
                    <a:solidFill>
                      <a:srgbClr val="F2F2F2"/>
                    </a:solidFill>
                  </a:tcPr>
                </a:tc>
                <a:tc>
                  <a:txBody>
                    <a:bodyPr/>
                    <a:lstStyle/>
                    <a:p>
                      <a:pPr algn="ctr"/>
                      <a:r>
                        <a:rPr sz="1400" b="0" i="0">
                          <a:solidFill>
                            <a:srgbClr val="262626"/>
                          </a:solidFill>
                          <a:latin typeface="Arial"/>
                        </a:rPr>
                        <a:t>25</a:t>
                      </a:r>
                    </a:p>
                  </a:txBody>
                  <a:tcPr>
                    <a:solidFill>
                      <a:srgbClr val="F2F2F2"/>
                    </a:solidFill>
                  </a:tcPr>
                </a:tc>
                <a:tc>
                  <a:txBody>
                    <a:bodyPr/>
                    <a:lstStyle/>
                    <a:p>
                      <a:pPr algn="ctr"/>
                      <a:r>
                        <a:rPr sz="1400" b="0" i="0">
                          <a:solidFill>
                            <a:srgbClr val="262626"/>
                          </a:solidFill>
                          <a:latin typeface="Arial"/>
                        </a:rPr>
                        <a:t>3</a:t>
                      </a:r>
                    </a:p>
                  </a:txBody>
                  <a:tcPr>
                    <a:solidFill>
                      <a:srgbClr val="F2F2F2"/>
                    </a:solidFill>
                  </a:tcPr>
                </a:tc>
                <a:tc>
                  <a:txBody>
                    <a:bodyPr/>
                    <a:lstStyle/>
                    <a:p>
                      <a:pPr algn="l"/>
                      <a:r>
                        <a:rPr sz="1400" b="0" i="0">
                          <a:solidFill>
                            <a:srgbClr val="262626"/>
                          </a:solidFill>
                          <a:latin typeface="Arial"/>
                        </a:rPr>
                        <a:t>Casas</a:t>
                      </a:r>
                    </a:p>
                  </a:txBody>
                  <a:tcPr>
                    <a:solidFill>
                      <a:srgbClr val="F2F2F2"/>
                    </a:solidFill>
                  </a:tcPr>
                </a:tc>
                <a:tc>
                  <a:txBody>
                    <a:bodyPr/>
                    <a:lstStyle/>
                    <a:p>
                      <a:pPr algn="ctr"/>
                      <a:r>
                        <a:rPr sz="1400" b="0" i="0">
                          <a:solidFill>
                            <a:srgbClr val="262626"/>
                          </a:solidFill>
                          <a:latin typeface="Arial"/>
                        </a:rPr>
                        <a:t>56:27</a:t>
                      </a:r>
                    </a:p>
                  </a:txBody>
                  <a:tcPr>
                    <a:solidFill>
                      <a:srgbClr val="F2F2F2"/>
                    </a:solidFill>
                  </a:tcPr>
                </a:tc>
                <a:tc>
                  <a:txBody>
                    <a:bodyPr/>
                    <a:lstStyle/>
                    <a:p>
                      <a:pPr algn="ctr"/>
                      <a:r>
                        <a:rPr sz="1400" b="0" i="0">
                          <a:solidFill>
                            <a:srgbClr val="262626"/>
                          </a:solidFill>
                          <a:latin typeface="Arial"/>
                        </a:rPr>
                        <a:t>20</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tc>
                  <a:txBody>
                    <a:bodyPr/>
                    <a:lstStyle/>
                    <a:p>
                      <a:pPr algn="ctr"/>
                      <a:r>
                        <a:rPr sz="1400" b="0" i="0">
                          <a:solidFill>
                            <a:srgbClr val="262626"/>
                          </a:solidFill>
                          <a:latin typeface="Arial"/>
                        </a:rPr>
                        <a:t>18.8</a:t>
                      </a:r>
                    </a:p>
                  </a:txBody>
                  <a:tcPr>
                    <a:solidFill>
                      <a:srgbClr val="F2F2F2"/>
                    </a:solidFill>
                  </a:tcPr>
                </a:tc>
                <a:tc>
                  <a:txBody>
                    <a:bodyPr/>
                    <a:lstStyle/>
                    <a:p>
                      <a:pPr algn="ctr"/>
                      <a:r>
                        <a:rPr sz="14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512064">
                <a:tc>
                  <a:txBody>
                    <a:bodyPr/>
                    <a:lstStyle/>
                    <a:p>
                      <a:pPr algn="ctr"/>
                      <a:r>
                        <a:rPr sz="1400" b="0" i="0">
                          <a:solidFill>
                            <a:srgbClr val="262626"/>
                          </a:solidFill>
                          <a:latin typeface="Arial"/>
                        </a:rPr>
                        <a:t>2024</a:t>
                      </a:r>
                    </a:p>
                  </a:txBody>
                  <a:tcPr>
                    <a:solidFill>
                      <a:srgbClr val="FFFFFF"/>
                    </a:solidFill>
                  </a:tcPr>
                </a:tc>
                <a:tc>
                  <a:txBody>
                    <a:bodyPr/>
                    <a:lstStyle/>
                    <a:p>
                      <a:pPr algn="ctr"/>
                      <a:r>
                        <a:rPr sz="1400" b="0" i="0">
                          <a:solidFill>
                            <a:srgbClr val="262626"/>
                          </a:solidFill>
                          <a:latin typeface="Arial"/>
                        </a:rPr>
                        <a:t>Aug 24</a:t>
                      </a:r>
                    </a:p>
                  </a:txBody>
                  <a:tcPr>
                    <a:solidFill>
                      <a:srgbClr val="FFFFFF"/>
                    </a:solidFill>
                  </a:tcPr>
                </a:tc>
                <a:tc>
                  <a:txBody>
                    <a:bodyPr/>
                    <a:lstStyle/>
                    <a:p>
                      <a:pPr algn="l"/>
                      <a:r>
                        <a:rPr sz="1200" b="0" i="0">
                          <a:solidFill>
                            <a:srgbClr val="262626"/>
                          </a:solidFill>
                          <a:latin typeface="Arial"/>
                        </a:rPr>
                        <a:t>Continental Cup *</a:t>
                      </a:r>
                    </a:p>
                  </a:txBody>
                  <a:tcPr>
                    <a:solidFill>
                      <a:srgbClr val="FFFFFF"/>
                    </a:solidFill>
                  </a:tcPr>
                </a:tc>
                <a:tc>
                  <a:txBody>
                    <a:bodyPr/>
                    <a:lstStyle/>
                    <a:p>
                      <a:pPr algn="ctr"/>
                      <a:r>
                        <a:rPr sz="1400" b="0" i="0">
                          <a:solidFill>
                            <a:srgbClr val="262626"/>
                          </a:solidFill>
                          <a:latin typeface="Arial"/>
                        </a:rPr>
                        <a:t>33</a:t>
                      </a:r>
                    </a:p>
                  </a:txBody>
                  <a:tcPr>
                    <a:solidFill>
                      <a:srgbClr val="FFFFFF"/>
                    </a:solidFill>
                  </a:tcPr>
                </a:tc>
                <a:tc>
                  <a:txBody>
                    <a:bodyPr/>
                    <a:lstStyle/>
                    <a:p>
                      <a:pPr algn="ctr"/>
                      <a:r>
                        <a:rPr sz="1400" b="0" i="0">
                          <a:solidFill>
                            <a:srgbClr val="262626"/>
                          </a:solidFill>
                          <a:latin typeface="Arial"/>
                        </a:rPr>
                        <a:t>3</a:t>
                      </a:r>
                    </a:p>
                  </a:txBody>
                  <a:tcPr>
                    <a:solidFill>
                      <a:srgbClr val="FFFFFF"/>
                    </a:solidFill>
                  </a:tcPr>
                </a:tc>
                <a:tc>
                  <a:txBody>
                    <a:bodyPr/>
                    <a:lstStyle/>
                    <a:p>
                      <a:pPr algn="l"/>
                      <a:r>
                        <a:rPr sz="1400" b="0" i="0">
                          <a:solidFill>
                            <a:srgbClr val="262626"/>
                          </a:solidFill>
                          <a:latin typeface="Arial"/>
                        </a:rPr>
                        <a:t>Russell</a:t>
                      </a:r>
                    </a:p>
                  </a:txBody>
                  <a:tcPr>
                    <a:solidFill>
                      <a:srgbClr val="FFFFFF"/>
                    </a:solidFill>
                  </a:tcPr>
                </a:tc>
                <a:tc>
                  <a:txBody>
                    <a:bodyPr/>
                    <a:lstStyle/>
                    <a:p>
                      <a:pPr algn="ctr"/>
                      <a:r>
                        <a:rPr sz="1400" b="0" i="0">
                          <a:solidFill>
                            <a:srgbClr val="262626"/>
                          </a:solidFill>
                          <a:latin typeface="Arial"/>
                        </a:rPr>
                        <a:t>56:04</a:t>
                      </a:r>
                    </a:p>
                  </a:txBody>
                  <a:tcPr>
                    <a:solidFill>
                      <a:srgbClr val="FFFFFF"/>
                    </a:solidFill>
                  </a:tcPr>
                </a:tc>
                <a:tc>
                  <a:txBody>
                    <a:bodyPr/>
                    <a:lstStyle/>
                    <a:p>
                      <a:pPr algn="ctr"/>
                      <a:r>
                        <a:rPr sz="1400" b="0" i="0">
                          <a:solidFill>
                            <a:srgbClr val="262626"/>
                          </a:solidFill>
                          <a:latin typeface="Arial"/>
                        </a:rPr>
                        <a:t>18.2°*</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tc>
                  <a:txBody>
                    <a:bodyPr/>
                    <a:lstStyle/>
                    <a:p>
                      <a:pPr algn="ctr"/>
                      <a:r>
                        <a:rPr sz="1400" b="0" i="0">
                          <a:solidFill>
                            <a:srgbClr val="262626"/>
                          </a:solidFill>
                          <a:latin typeface="Arial"/>
                        </a:rPr>
                        <a:t>20.0</a:t>
                      </a:r>
                    </a:p>
                  </a:txBody>
                  <a:tcPr>
                    <a:solidFill>
                      <a:srgbClr val="FFFFFF"/>
                    </a:solidFill>
                  </a:tcPr>
                </a:tc>
                <a:tc>
                  <a:txBody>
                    <a:bodyPr/>
                    <a:lstStyle/>
                    <a:p>
                      <a:pPr algn="ctr"/>
                      <a:r>
                        <a:rPr sz="14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492240"/>
            <a:ext cx="5486400" cy="256032"/>
          </a:xfrm>
          <a:prstGeom prst="rect">
            <a:avLst/>
          </a:prstGeom>
          <a:noFill/>
        </p:spPr>
        <p:txBody>
          <a:bodyPr wrap="square">
            <a:spAutoFit/>
          </a:bodyPr>
          <a:lstStyle/>
          <a:p>
            <a:pPr algn="l"/>
            <a:r>
              <a:rPr sz="800" b="0" i="1">
                <a:solidFill>
                  <a:srgbClr val="BFBFBF"/>
                </a:solidFill>
                <a:latin typeface="Arial"/>
              </a:rPr>
              <a:t>* Course distance changed vs. prior year</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Swim Exit Dynamics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143000"/>
            <a:ext cx="11640312" cy="5394960"/>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Bike Pack Evolution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274320" y="1078992"/>
            <a:ext cx="11640312" cy="347472"/>
          </a:xfrm>
          <a:prstGeom prst="rect">
            <a:avLst/>
          </a:prstGeom>
          <a:noFill/>
        </p:spPr>
        <p:txBody>
          <a:bodyPr wrap="square">
            <a:spAutoFit/>
          </a:bodyPr>
          <a:lstStyle/>
          <a:p>
            <a:pPr algn="ctr"/>
            <a:r>
              <a:rPr sz="1050" b="0" i="1">
                <a:solidFill>
                  <a:srgbClr val="262626"/>
                </a:solidFill>
                <a:latin typeface="Arial"/>
              </a:rPr>
              <a:t>Lead pack = athletes within 15 sec of leader. T1 = lead group entering the bike; T2 = lead group exiting the bike.</a:t>
            </a:r>
          </a:p>
        </p:txBody>
      </p:sp>
      <p:pic>
        <p:nvPicPr>
          <p:cNvPr id="9" name="Picture 8" descr="image.png"/>
          <p:cNvPicPr>
            <a:picLocks noChangeAspect="1"/>
          </p:cNvPicPr>
          <p:nvPr/>
        </p:nvPicPr>
        <p:blipFill>
          <a:blip r:embed="rId3"/>
          <a:stretch>
            <a:fillRect/>
          </a:stretch>
        </p:blipFill>
        <p:spPr>
          <a:xfrm>
            <a:off x="274320" y="1481328"/>
            <a:ext cx="11640312" cy="3749039"/>
          </a:xfrm>
          <a:prstGeom prst="rect">
            <a:avLst/>
          </a:prstGeom>
        </p:spPr>
      </p:pic>
      <p:graphicFrame>
        <p:nvGraphicFramePr>
          <p:cNvPr id="10" name="Table 9"/>
          <p:cNvGraphicFramePr>
            <a:graphicFrameLocks noGrp="1"/>
          </p:cNvGraphicFramePr>
          <p:nvPr/>
        </p:nvGraphicFramePr>
        <p:xfrm>
          <a:off x="274320" y="5285232"/>
          <a:ext cx="11640311" cy="1417320"/>
        </p:xfrm>
        <a:graphic>
          <a:graphicData uri="http://schemas.openxmlformats.org/drawingml/2006/table">
            <a:tbl>
              <a:tblPr firstRow="1" bandRow="1">
                <a:tableStyleId>{5C22544A-7EE6-4342-B048-85BDC9FD1C3A}</a:tableStyleId>
              </a:tblPr>
              <a:tblGrid>
                <a:gridCol w="685800">
                  <a:extLst>
                    <a:ext uri="{9D8B030D-6E8A-4147-A177-3AD203B41FA5}">
                      <a16:colId xmlns:a16="http://schemas.microsoft.com/office/drawing/2014/main" val="20000"/>
                    </a:ext>
                  </a:extLst>
                </a:gridCol>
                <a:gridCol w="182880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2286000">
                  <a:extLst>
                    <a:ext uri="{9D8B030D-6E8A-4147-A177-3AD203B41FA5}">
                      <a16:colId xmlns:a16="http://schemas.microsoft.com/office/drawing/2014/main" val="20004"/>
                    </a:ext>
                  </a:extLst>
                </a:gridCol>
                <a:gridCol w="3822191">
                  <a:extLst>
                    <a:ext uri="{9D8B030D-6E8A-4147-A177-3AD203B41FA5}">
                      <a16:colId xmlns:a16="http://schemas.microsoft.com/office/drawing/2014/main" val="20005"/>
                    </a:ext>
                  </a:extLst>
                </a:gridCol>
              </a:tblGrid>
              <a:tr h="236220">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Lead Size @ T1</a:t>
                      </a:r>
                    </a:p>
                  </a:txBody>
                  <a:tcPr>
                    <a:solidFill>
                      <a:srgbClr val="002060"/>
                    </a:solidFill>
                  </a:tcPr>
                </a:tc>
                <a:tc>
                  <a:txBody>
                    <a:bodyPr/>
                    <a:lstStyle/>
                    <a:p>
                      <a:pPr algn="ctr"/>
                      <a:r>
                        <a:rPr sz="1000" b="1" i="0">
                          <a:solidFill>
                            <a:srgbClr val="FFFFFF"/>
                          </a:solidFill>
                          <a:latin typeface="Arial"/>
                        </a:rPr>
                        <a:t>Lead Size @ T2</a:t>
                      </a:r>
                    </a:p>
                  </a:txBody>
                  <a:tcPr>
                    <a:solidFill>
                      <a:srgbClr val="002060"/>
                    </a:solidFill>
                  </a:tcPr>
                </a:tc>
                <a:tc>
                  <a:txBody>
                    <a:bodyPr/>
                    <a:lstStyle/>
                    <a:p>
                      <a:pPr algn="ctr"/>
                      <a:r>
                        <a:rPr sz="1000" b="1" i="0">
                          <a:solidFill>
                            <a:srgbClr val="FFFFFF"/>
                          </a:solidFill>
                          <a:latin typeface="Arial"/>
                        </a:rPr>
                        <a:t>Change</a:t>
                      </a:r>
                    </a:p>
                  </a:txBody>
                  <a:tcPr>
                    <a:solidFill>
                      <a:srgbClr val="002060"/>
                    </a:solidFill>
                  </a:tcPr>
                </a:tc>
                <a:tc>
                  <a:txBody>
                    <a:bodyPr/>
                    <a:lstStyle/>
                    <a:p>
                      <a:pPr algn="ctr"/>
                      <a:r>
                        <a:rPr sz="1000" b="1" i="0">
                          <a:solidFill>
                            <a:srgbClr val="FFFFFF"/>
                          </a:solidFill>
                          <a:latin typeface="Arial"/>
                        </a:rPr>
                        <a:t>Chase Group @ T2</a:t>
                      </a:r>
                    </a:p>
                  </a:txBody>
                  <a:tcPr>
                    <a:solidFill>
                      <a:srgbClr val="002060"/>
                    </a:solidFill>
                  </a:tcPr>
                </a:tc>
                <a:tc>
                  <a:txBody>
                    <a:bodyPr/>
                    <a:lstStyle/>
                    <a:p>
                      <a:pPr algn="ctr"/>
                      <a:r>
                        <a:rPr sz="1000" b="1" i="0">
                          <a:solidFill>
                            <a:srgbClr val="FFFFFF"/>
                          </a:solidFill>
                          <a:latin typeface="Arial"/>
                        </a:rPr>
                        <a:t>Chase Gap*</a:t>
                      </a:r>
                    </a:p>
                  </a:txBody>
                  <a:tcPr>
                    <a:solidFill>
                      <a:srgbClr val="002060"/>
                    </a:solidFill>
                  </a:tcPr>
                </a:tc>
                <a:extLst>
                  <a:ext uri="{0D108BD9-81ED-4DB2-BD59-A6C34878D82A}">
                    <a16:rowId xmlns:a16="http://schemas.microsoft.com/office/drawing/2014/main" val="10000"/>
                  </a:ext>
                </a:extLst>
              </a:tr>
              <a:tr h="236220">
                <a:tc>
                  <a:txBody>
                    <a:bodyPr/>
                    <a:lstStyle/>
                    <a:p>
                      <a:pPr algn="ctr"/>
                      <a:r>
                        <a:rPr sz="950" b="0" i="0">
                          <a:solidFill>
                            <a:srgbClr val="262626"/>
                          </a:solidFill>
                          <a:latin typeface="Arial"/>
                        </a:rPr>
                        <a:t>2018</a:t>
                      </a:r>
                    </a:p>
                  </a:txBody>
                  <a:tcPr>
                    <a:solidFill>
                      <a:srgbClr val="FFFFFF"/>
                    </a:solidFill>
                  </a:tcPr>
                </a:tc>
                <a:tc>
                  <a:txBody>
                    <a:bodyPr/>
                    <a:lstStyle/>
                    <a:p>
                      <a:pPr algn="ctr"/>
                      <a:r>
                        <a:rPr sz="950" b="0" i="0">
                          <a:solidFill>
                            <a:srgbClr val="262626"/>
                          </a:solidFill>
                          <a:latin typeface="Arial"/>
                        </a:rPr>
                        <a:t>14</a:t>
                      </a:r>
                    </a:p>
                  </a:txBody>
                  <a:tcPr>
                    <a:solidFill>
                      <a:srgbClr val="FFFFFF"/>
                    </a:solidFill>
                  </a:tcPr>
                </a:tc>
                <a:tc>
                  <a:txBody>
                    <a:bodyPr/>
                    <a:lstStyle/>
                    <a:p>
                      <a:pPr algn="ctr"/>
                      <a:r>
                        <a:rPr sz="950" b="0" i="0">
                          <a:solidFill>
                            <a:srgbClr val="262626"/>
                          </a:solidFill>
                          <a:latin typeface="Arial"/>
                        </a:rPr>
                        <a:t>19</a:t>
                      </a:r>
                    </a:p>
                  </a:txBody>
                  <a:tcPr>
                    <a:solidFill>
                      <a:srgbClr val="FFFFFF"/>
                    </a:solidFill>
                  </a:tcPr>
                </a:tc>
                <a:tc>
                  <a:txBody>
                    <a:bodyPr/>
                    <a:lstStyle/>
                    <a:p>
                      <a:pPr algn="ctr"/>
                      <a:r>
                        <a:rPr sz="950" b="0" i="0">
                          <a:solidFill>
                            <a:srgbClr val="262626"/>
                          </a:solidFill>
                          <a:latin typeface="Arial"/>
                        </a:rPr>
                        <a:t>+5</a:t>
                      </a:r>
                    </a:p>
                  </a:txBody>
                  <a:tcPr>
                    <a:solidFill>
                      <a:srgbClr val="FFFFFF"/>
                    </a:solidFill>
                  </a:tcPr>
                </a:tc>
                <a:tc>
                  <a:txBody>
                    <a:bodyPr/>
                    <a:lstStyle/>
                    <a:p>
                      <a:pPr algn="ctr"/>
                      <a:r>
                        <a:rPr sz="950" b="0" i="0">
                          <a:solidFill>
                            <a:srgbClr val="262626"/>
                          </a:solidFill>
                          <a:latin typeface="Arial"/>
                        </a:rPr>
                        <a:t>6</a:t>
                      </a:r>
                    </a:p>
                  </a:txBody>
                  <a:tcPr>
                    <a:solidFill>
                      <a:srgbClr val="FFFFFF"/>
                    </a:solidFill>
                  </a:tcPr>
                </a:tc>
                <a:tc>
                  <a:txBody>
                    <a:bodyPr/>
                    <a:lstStyle/>
                    <a:p>
                      <a:pPr algn="ctr"/>
                      <a:r>
                        <a:rPr sz="950" b="0" i="0">
                          <a:solidFill>
                            <a:srgbClr val="262626"/>
                          </a:solidFill>
                          <a:latin typeface="Arial"/>
                        </a:rPr>
                        <a:t>86s</a:t>
                      </a:r>
                    </a:p>
                  </a:txBody>
                  <a:tcPr>
                    <a:solidFill>
                      <a:srgbClr val="FFFFFF"/>
                    </a:solidFill>
                  </a:tcPr>
                </a:tc>
                <a:extLst>
                  <a:ext uri="{0D108BD9-81ED-4DB2-BD59-A6C34878D82A}">
                    <a16:rowId xmlns:a16="http://schemas.microsoft.com/office/drawing/2014/main" val="10001"/>
                  </a:ext>
                </a:extLst>
              </a:tr>
              <a:tr h="236220">
                <a:tc>
                  <a:txBody>
                    <a:bodyPr/>
                    <a:lstStyle/>
                    <a:p>
                      <a:pPr algn="ctr"/>
                      <a:r>
                        <a:rPr sz="950" b="0" i="0">
                          <a:solidFill>
                            <a:srgbClr val="262626"/>
                          </a:solidFill>
                          <a:latin typeface="Arial"/>
                        </a:rPr>
                        <a:t>2019</a:t>
                      </a:r>
                    </a:p>
                  </a:txBody>
                  <a:tcPr>
                    <a:solidFill>
                      <a:srgbClr val="F2F2F2"/>
                    </a:solidFill>
                  </a:tcPr>
                </a:tc>
                <a:tc>
                  <a:txBody>
                    <a:bodyPr/>
                    <a:lstStyle/>
                    <a:p>
                      <a:pPr algn="ctr"/>
                      <a:r>
                        <a:rPr sz="950" b="0" i="0">
                          <a:solidFill>
                            <a:srgbClr val="262626"/>
                          </a:solidFill>
                          <a:latin typeface="Arial"/>
                        </a:rPr>
                        <a:t>11</a:t>
                      </a:r>
                    </a:p>
                  </a:txBody>
                  <a:tcPr>
                    <a:solidFill>
                      <a:srgbClr val="F2F2F2"/>
                    </a:solidFill>
                  </a:tcPr>
                </a:tc>
                <a:tc>
                  <a:txBody>
                    <a:bodyPr/>
                    <a:lstStyle/>
                    <a:p>
                      <a:pPr algn="ctr"/>
                      <a:r>
                        <a:rPr sz="950" b="0" i="0">
                          <a:solidFill>
                            <a:srgbClr val="262626"/>
                          </a:solidFill>
                          <a:latin typeface="Arial"/>
                        </a:rPr>
                        <a:t>17</a:t>
                      </a:r>
                    </a:p>
                  </a:txBody>
                  <a:tcPr>
                    <a:solidFill>
                      <a:srgbClr val="F2F2F2"/>
                    </a:solidFill>
                  </a:tcPr>
                </a:tc>
                <a:tc>
                  <a:txBody>
                    <a:bodyPr/>
                    <a:lstStyle/>
                    <a:p>
                      <a:pPr algn="ctr"/>
                      <a:r>
                        <a:rPr sz="950" b="0" i="0">
                          <a:solidFill>
                            <a:srgbClr val="262626"/>
                          </a:solidFill>
                          <a:latin typeface="Arial"/>
                        </a:rPr>
                        <a:t>+6</a:t>
                      </a:r>
                    </a:p>
                  </a:txBody>
                  <a:tcPr>
                    <a:solidFill>
                      <a:srgbClr val="F2F2F2"/>
                    </a:solidFill>
                  </a:tcPr>
                </a:tc>
                <a:tc>
                  <a:txBody>
                    <a:bodyPr/>
                    <a:lstStyle/>
                    <a:p>
                      <a:pPr algn="ctr"/>
                      <a:r>
                        <a:rPr sz="950" b="0" i="0">
                          <a:solidFill>
                            <a:srgbClr val="262626"/>
                          </a:solidFill>
                          <a:latin typeface="Arial"/>
                        </a:rPr>
                        <a:t>11</a:t>
                      </a:r>
                    </a:p>
                  </a:txBody>
                  <a:tcPr>
                    <a:solidFill>
                      <a:srgbClr val="F2F2F2"/>
                    </a:solidFill>
                  </a:tcPr>
                </a:tc>
                <a:tc>
                  <a:txBody>
                    <a:bodyPr/>
                    <a:lstStyle/>
                    <a:p>
                      <a:pPr algn="ctr"/>
                      <a:r>
                        <a:rPr sz="950" b="0" i="0">
                          <a:solidFill>
                            <a:srgbClr val="262626"/>
                          </a:solidFill>
                          <a:latin typeface="Arial"/>
                        </a:rPr>
                        <a:t>31s</a:t>
                      </a:r>
                    </a:p>
                  </a:txBody>
                  <a:tcPr>
                    <a:solidFill>
                      <a:srgbClr val="F2F2F2"/>
                    </a:solidFill>
                  </a:tcPr>
                </a:tc>
                <a:extLst>
                  <a:ext uri="{0D108BD9-81ED-4DB2-BD59-A6C34878D82A}">
                    <a16:rowId xmlns:a16="http://schemas.microsoft.com/office/drawing/2014/main" val="10002"/>
                  </a:ext>
                </a:extLst>
              </a:tr>
              <a:tr h="236220">
                <a:tc>
                  <a:txBody>
                    <a:bodyPr/>
                    <a:lstStyle/>
                    <a:p>
                      <a:pPr algn="ctr"/>
                      <a:r>
                        <a:rPr sz="950" b="0" i="0">
                          <a:solidFill>
                            <a:srgbClr val="262626"/>
                          </a:solidFill>
                          <a:latin typeface="Arial"/>
                        </a:rPr>
                        <a:t>2021</a:t>
                      </a:r>
                    </a:p>
                  </a:txBody>
                  <a:tcPr>
                    <a:solidFill>
                      <a:srgbClr val="FFFFFF"/>
                    </a:solidFill>
                  </a:tcPr>
                </a:tc>
                <a:tc>
                  <a:txBody>
                    <a:bodyPr/>
                    <a:lstStyle/>
                    <a:p>
                      <a:pPr algn="ctr"/>
                      <a:r>
                        <a:rPr sz="950" b="0" i="0">
                          <a:solidFill>
                            <a:srgbClr val="262626"/>
                          </a:solidFill>
                          <a:latin typeface="Arial"/>
                        </a:rPr>
                        <a:t>10</a:t>
                      </a:r>
                    </a:p>
                  </a:txBody>
                  <a:tcPr>
                    <a:solidFill>
                      <a:srgbClr val="FFFFFF"/>
                    </a:solidFill>
                  </a:tcPr>
                </a:tc>
                <a:tc>
                  <a:txBody>
                    <a:bodyPr/>
                    <a:lstStyle/>
                    <a:p>
                      <a:pPr algn="ctr"/>
                      <a:r>
                        <a:rPr sz="950" b="0" i="0">
                          <a:solidFill>
                            <a:srgbClr val="262626"/>
                          </a:solidFill>
                          <a:latin typeface="Arial"/>
                        </a:rPr>
                        <a:t>1</a:t>
                      </a:r>
                    </a:p>
                  </a:txBody>
                  <a:tcPr>
                    <a:solidFill>
                      <a:srgbClr val="FFFFFF"/>
                    </a:solidFill>
                  </a:tcPr>
                </a:tc>
                <a:tc>
                  <a:txBody>
                    <a:bodyPr/>
                    <a:lstStyle/>
                    <a:p>
                      <a:pPr algn="ctr"/>
                      <a:r>
                        <a:rPr sz="950" b="0" i="0">
                          <a:solidFill>
                            <a:srgbClr val="262626"/>
                          </a:solidFill>
                          <a:latin typeface="Arial"/>
                        </a:rPr>
                        <a:t>-9</a:t>
                      </a:r>
                    </a:p>
                  </a:txBody>
                  <a:tcPr>
                    <a:solidFill>
                      <a:srgbClr val="FFFFFF"/>
                    </a:solidFill>
                  </a:tcPr>
                </a:tc>
                <a:tc>
                  <a:txBody>
                    <a:bodyPr/>
                    <a:lstStyle/>
                    <a:p>
                      <a:pPr algn="ctr"/>
                      <a:r>
                        <a:rPr sz="950" b="0" i="0">
                          <a:solidFill>
                            <a:srgbClr val="262626"/>
                          </a:solidFill>
                          <a:latin typeface="Arial"/>
                        </a:rPr>
                        <a:t>10</a:t>
                      </a:r>
                    </a:p>
                  </a:txBody>
                  <a:tcPr>
                    <a:solidFill>
                      <a:srgbClr val="FFFFFF"/>
                    </a:solidFill>
                  </a:tcPr>
                </a:tc>
                <a:tc>
                  <a:txBody>
                    <a:bodyPr/>
                    <a:lstStyle/>
                    <a:p>
                      <a:pPr algn="ctr"/>
                      <a:r>
                        <a:rPr sz="950" b="0" i="0">
                          <a:solidFill>
                            <a:srgbClr val="262626"/>
                          </a:solidFill>
                          <a:latin typeface="Arial"/>
                        </a:rPr>
                        <a:t>169s</a:t>
                      </a:r>
                    </a:p>
                  </a:txBody>
                  <a:tcPr>
                    <a:solidFill>
                      <a:srgbClr val="FFFFFF"/>
                    </a:solidFill>
                  </a:tcPr>
                </a:tc>
                <a:extLst>
                  <a:ext uri="{0D108BD9-81ED-4DB2-BD59-A6C34878D82A}">
                    <a16:rowId xmlns:a16="http://schemas.microsoft.com/office/drawing/2014/main" val="10003"/>
                  </a:ext>
                </a:extLst>
              </a:tr>
              <a:tr h="236220">
                <a:tc>
                  <a:txBody>
                    <a:bodyPr/>
                    <a:lstStyle/>
                    <a:p>
                      <a:pPr algn="ctr"/>
                      <a:r>
                        <a:rPr sz="950" b="0" i="0">
                          <a:solidFill>
                            <a:srgbClr val="262626"/>
                          </a:solidFill>
                          <a:latin typeface="Arial"/>
                        </a:rPr>
                        <a:t>2023</a:t>
                      </a:r>
                    </a:p>
                  </a:txBody>
                  <a:tcPr>
                    <a:solidFill>
                      <a:srgbClr val="F2F2F2"/>
                    </a:solidFill>
                  </a:tcPr>
                </a:tc>
                <a:tc>
                  <a:txBody>
                    <a:bodyPr/>
                    <a:lstStyle/>
                    <a:p>
                      <a:pPr algn="ctr"/>
                      <a:r>
                        <a:rPr sz="950" b="0" i="0">
                          <a:solidFill>
                            <a:srgbClr val="262626"/>
                          </a:solidFill>
                          <a:latin typeface="Arial"/>
                        </a:rPr>
                        <a:t>11</a:t>
                      </a:r>
                    </a:p>
                  </a:txBody>
                  <a:tcPr>
                    <a:solidFill>
                      <a:srgbClr val="F2F2F2"/>
                    </a:solidFill>
                  </a:tcPr>
                </a:tc>
                <a:tc>
                  <a:txBody>
                    <a:bodyPr/>
                    <a:lstStyle/>
                    <a:p>
                      <a:pPr algn="ctr"/>
                      <a:r>
                        <a:rPr sz="950" b="0" i="0">
                          <a:solidFill>
                            <a:srgbClr val="262626"/>
                          </a:solidFill>
                          <a:latin typeface="Arial"/>
                        </a:rPr>
                        <a:t>8</a:t>
                      </a:r>
                    </a:p>
                  </a:txBody>
                  <a:tcPr>
                    <a:solidFill>
                      <a:srgbClr val="F2F2F2"/>
                    </a:solidFill>
                  </a:tcPr>
                </a:tc>
                <a:tc>
                  <a:txBody>
                    <a:bodyPr/>
                    <a:lstStyle/>
                    <a:p>
                      <a:pPr algn="ctr"/>
                      <a:r>
                        <a:rPr sz="950" b="0" i="0">
                          <a:solidFill>
                            <a:srgbClr val="262626"/>
                          </a:solidFill>
                          <a:latin typeface="Arial"/>
                        </a:rPr>
                        <a:t>-3</a:t>
                      </a:r>
                    </a:p>
                  </a:txBody>
                  <a:tcPr>
                    <a:solidFill>
                      <a:srgbClr val="F2F2F2"/>
                    </a:solidFill>
                  </a:tcPr>
                </a:tc>
                <a:tc>
                  <a:txBody>
                    <a:bodyPr/>
                    <a:lstStyle/>
                    <a:p>
                      <a:pPr algn="ctr"/>
                      <a:r>
                        <a:rPr sz="950" b="0" i="0">
                          <a:solidFill>
                            <a:srgbClr val="262626"/>
                          </a:solidFill>
                          <a:latin typeface="Arial"/>
                        </a:rPr>
                        <a:t>3</a:t>
                      </a:r>
                    </a:p>
                  </a:txBody>
                  <a:tcPr>
                    <a:solidFill>
                      <a:srgbClr val="F2F2F2"/>
                    </a:solidFill>
                  </a:tcPr>
                </a:tc>
                <a:tc>
                  <a:txBody>
                    <a:bodyPr/>
                    <a:lstStyle/>
                    <a:p>
                      <a:pPr algn="ctr"/>
                      <a:r>
                        <a:rPr sz="950" b="0" i="0">
                          <a:solidFill>
                            <a:srgbClr val="262626"/>
                          </a:solidFill>
                          <a:latin typeface="Arial"/>
                        </a:rPr>
                        <a:t>95s</a:t>
                      </a:r>
                    </a:p>
                  </a:txBody>
                  <a:tcPr>
                    <a:solidFill>
                      <a:srgbClr val="F2F2F2"/>
                    </a:solidFill>
                  </a:tcPr>
                </a:tc>
                <a:extLst>
                  <a:ext uri="{0D108BD9-81ED-4DB2-BD59-A6C34878D82A}">
                    <a16:rowId xmlns:a16="http://schemas.microsoft.com/office/drawing/2014/main" val="10004"/>
                  </a:ext>
                </a:extLst>
              </a:tr>
              <a:tr h="236220">
                <a:tc>
                  <a:txBody>
                    <a:bodyPr/>
                    <a:lstStyle/>
                    <a:p>
                      <a:pPr algn="ctr"/>
                      <a:r>
                        <a:rPr sz="950" b="0" i="0">
                          <a:solidFill>
                            <a:srgbClr val="262626"/>
                          </a:solidFill>
                          <a:latin typeface="Arial"/>
                        </a:rPr>
                        <a:t>2024</a:t>
                      </a:r>
                    </a:p>
                  </a:txBody>
                  <a:tcPr>
                    <a:solidFill>
                      <a:srgbClr val="FFFFFF"/>
                    </a:solidFill>
                  </a:tcPr>
                </a:tc>
                <a:tc>
                  <a:txBody>
                    <a:bodyPr/>
                    <a:lstStyle/>
                    <a:p>
                      <a:pPr algn="ctr"/>
                      <a:r>
                        <a:rPr sz="950" b="0" i="0">
                          <a:solidFill>
                            <a:srgbClr val="262626"/>
                          </a:solidFill>
                          <a:latin typeface="Arial"/>
                        </a:rPr>
                        <a:t>5</a:t>
                      </a:r>
                    </a:p>
                  </a:txBody>
                  <a:tcPr>
                    <a:solidFill>
                      <a:srgbClr val="FFFFFF"/>
                    </a:solidFill>
                  </a:tcPr>
                </a:tc>
                <a:tc>
                  <a:txBody>
                    <a:bodyPr/>
                    <a:lstStyle/>
                    <a:p>
                      <a:pPr algn="ctr"/>
                      <a:r>
                        <a:rPr sz="950" b="0" i="0">
                          <a:solidFill>
                            <a:srgbClr val="262626"/>
                          </a:solidFill>
                          <a:latin typeface="Arial"/>
                        </a:rPr>
                        <a:t>10</a:t>
                      </a:r>
                    </a:p>
                  </a:txBody>
                  <a:tcPr>
                    <a:solidFill>
                      <a:srgbClr val="FFFFFF"/>
                    </a:solidFill>
                  </a:tcPr>
                </a:tc>
                <a:tc>
                  <a:txBody>
                    <a:bodyPr/>
                    <a:lstStyle/>
                    <a:p>
                      <a:pPr algn="ctr"/>
                      <a:r>
                        <a:rPr sz="950" b="0" i="0">
                          <a:solidFill>
                            <a:srgbClr val="262626"/>
                          </a:solidFill>
                          <a:latin typeface="Arial"/>
                        </a:rPr>
                        <a:t>+5</a:t>
                      </a:r>
                    </a:p>
                  </a:txBody>
                  <a:tcPr>
                    <a:solidFill>
                      <a:srgbClr val="FFFFFF"/>
                    </a:solidFill>
                  </a:tcPr>
                </a:tc>
                <a:tc>
                  <a:txBody>
                    <a:bodyPr/>
                    <a:lstStyle/>
                    <a:p>
                      <a:pPr algn="ctr"/>
                      <a:r>
                        <a:rPr sz="950" b="0" i="0">
                          <a:solidFill>
                            <a:srgbClr val="262626"/>
                          </a:solidFill>
                          <a:latin typeface="Arial"/>
                        </a:rPr>
                        <a:t>11</a:t>
                      </a:r>
                    </a:p>
                  </a:txBody>
                  <a:tcPr>
                    <a:solidFill>
                      <a:srgbClr val="FFFFFF"/>
                    </a:solidFill>
                  </a:tcPr>
                </a:tc>
                <a:tc>
                  <a:txBody>
                    <a:bodyPr/>
                    <a:lstStyle/>
                    <a:p>
                      <a:pPr algn="ctr"/>
                      <a:r>
                        <a:rPr sz="950" b="0" i="0">
                          <a:solidFill>
                            <a:srgbClr val="262626"/>
                          </a:solidFill>
                          <a:latin typeface="Arial"/>
                        </a:rPr>
                        <a:t>66s</a:t>
                      </a:r>
                    </a:p>
                  </a:txBody>
                  <a:tcPr>
                    <a:solidFill>
                      <a:srgbClr val="FFFFFF"/>
                    </a:solidFill>
                  </a:tcPr>
                </a:tc>
                <a:extLst>
                  <a:ext uri="{0D108BD9-81ED-4DB2-BD59-A6C34878D82A}">
                    <a16:rowId xmlns:a16="http://schemas.microsoft.com/office/drawing/2014/main" val="10005"/>
                  </a:ext>
                </a:extLst>
              </a:tr>
            </a:tbl>
          </a:graphicData>
        </a:graphic>
      </p:graphicFrame>
      <p:sp>
        <p:nvSpPr>
          <p:cNvPr id="11" name="TextBox 10"/>
          <p:cNvSpPr txBox="1"/>
          <p:nvPr/>
        </p:nvSpPr>
        <p:spPr>
          <a:xfrm>
            <a:off x="274320" y="6565392"/>
            <a:ext cx="11640312" cy="201168"/>
          </a:xfrm>
          <a:prstGeom prst="rect">
            <a:avLst/>
          </a:prstGeom>
          <a:noFill/>
        </p:spPr>
        <p:txBody>
          <a:bodyPr wrap="square">
            <a:spAutoFit/>
          </a:bodyPr>
          <a:lstStyle/>
          <a:p>
            <a:pPr algn="l"/>
            <a:r>
              <a:rPr sz="800" b="0" i="1">
                <a:solidFill>
                  <a:srgbClr val="BFBFBF"/>
                </a:solidFill>
                <a:latin typeface="Arial"/>
              </a:rPr>
              <a:t>Lead pack = athletes within 15 sec of leader. Chase group = athletes within 15 sec of the first athlete outside the lead pack. * Chase Gap = seconds from the last lead-pack athlete to the first chase-group athlete at T2.</a:t>
            </a:r>
          </a:p>
        </p:txBody>
      </p:sp>
      <p:sp>
        <p:nvSpPr>
          <p:cNvPr id="12" name="TextBox 11"/>
          <p:cNvSpPr txBox="1"/>
          <p:nvPr/>
        </p:nvSpPr>
        <p:spPr>
          <a:xfrm>
            <a:off x="274320" y="6720840"/>
            <a:ext cx="11640312" cy="164592"/>
          </a:xfrm>
          <a:prstGeom prst="rect">
            <a:avLst/>
          </a:prstGeom>
          <a:noFill/>
        </p:spPr>
        <p:txBody>
          <a:bodyPr wrap="square">
            <a:spAutoFit/>
          </a:bodyPr>
          <a:lstStyle/>
          <a:p>
            <a:pPr algn="l"/>
            <a:r>
              <a:rPr sz="750" b="0" i="1">
                <a:solidFill>
                  <a:srgbClr val="BFBFBF"/>
                </a:solidFill>
                <a:latin typeface="Arial"/>
              </a:rPr>
              <a:t>Dropouts: 2018: 13 DNF/LAP (1 in lead group at t1)  |  2019: 3 DNF/LAP (1 in lead group at bike)  |  2021: 5 DNF/LAP  |  2023: 3 DNF/LAP (2 in lead group at swim, t1)  |  2024: 1 DNF/LAP</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Run Split Analysis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457200" y="1115568"/>
            <a:ext cx="11247120" cy="5440680"/>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Key Position Times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 name="Picture 7" descr="image.png"/>
          <p:cNvPicPr>
            <a:picLocks noChangeAspect="1"/>
          </p:cNvPicPr>
          <p:nvPr/>
        </p:nvPicPr>
        <p:blipFill>
          <a:blip r:embed="rId3"/>
          <a:stretch>
            <a:fillRect/>
          </a:stretch>
        </p:blipFill>
        <p:spPr>
          <a:xfrm>
            <a:off x="274320" y="1078992"/>
            <a:ext cx="11640312" cy="3017520"/>
          </a:xfrm>
          <a:prstGeom prst="rect">
            <a:avLst/>
          </a:prstGeom>
        </p:spPr>
      </p:pic>
      <p:graphicFrame>
        <p:nvGraphicFramePr>
          <p:cNvPr id="9" name="Table 8"/>
          <p:cNvGraphicFramePr>
            <a:graphicFrameLocks noGrp="1"/>
          </p:cNvGraphicFramePr>
          <p:nvPr/>
        </p:nvGraphicFramePr>
        <p:xfrm>
          <a:off x="274320" y="4187952"/>
          <a:ext cx="11640312" cy="2084832"/>
        </p:xfrm>
        <a:graphic>
          <a:graphicData uri="http://schemas.openxmlformats.org/drawingml/2006/table">
            <a:tbl>
              <a:tblPr firstRow="1" bandRow="1">
                <a:tableStyleId>{5C22544A-7EE6-4342-B048-85BDC9FD1C3A}</a:tableStyleId>
              </a:tblPr>
              <a:tblGrid>
                <a:gridCol w="640080">
                  <a:extLst>
                    <a:ext uri="{9D8B030D-6E8A-4147-A177-3AD203B41FA5}">
                      <a16:colId xmlns:a16="http://schemas.microsoft.com/office/drawing/2014/main" val="20000"/>
                    </a:ext>
                  </a:extLst>
                </a:gridCol>
                <a:gridCol w="1833372">
                  <a:extLst>
                    <a:ext uri="{9D8B030D-6E8A-4147-A177-3AD203B41FA5}">
                      <a16:colId xmlns:a16="http://schemas.microsoft.com/office/drawing/2014/main" val="20001"/>
                    </a:ext>
                  </a:extLst>
                </a:gridCol>
                <a:gridCol w="1833372">
                  <a:extLst>
                    <a:ext uri="{9D8B030D-6E8A-4147-A177-3AD203B41FA5}">
                      <a16:colId xmlns:a16="http://schemas.microsoft.com/office/drawing/2014/main" val="20002"/>
                    </a:ext>
                  </a:extLst>
                </a:gridCol>
                <a:gridCol w="1833372">
                  <a:extLst>
                    <a:ext uri="{9D8B030D-6E8A-4147-A177-3AD203B41FA5}">
                      <a16:colId xmlns:a16="http://schemas.microsoft.com/office/drawing/2014/main" val="20003"/>
                    </a:ext>
                  </a:extLst>
                </a:gridCol>
                <a:gridCol w="1833372">
                  <a:extLst>
                    <a:ext uri="{9D8B030D-6E8A-4147-A177-3AD203B41FA5}">
                      <a16:colId xmlns:a16="http://schemas.microsoft.com/office/drawing/2014/main" val="20004"/>
                    </a:ext>
                  </a:extLst>
                </a:gridCol>
                <a:gridCol w="1833372">
                  <a:extLst>
                    <a:ext uri="{9D8B030D-6E8A-4147-A177-3AD203B41FA5}">
                      <a16:colId xmlns:a16="http://schemas.microsoft.com/office/drawing/2014/main" val="20005"/>
                    </a:ext>
                  </a:extLst>
                </a:gridCol>
                <a:gridCol w="1833372">
                  <a:extLst>
                    <a:ext uri="{9D8B030D-6E8A-4147-A177-3AD203B41FA5}">
                      <a16:colId xmlns:a16="http://schemas.microsoft.com/office/drawing/2014/main" val="20006"/>
                    </a:ext>
                  </a:extLst>
                </a:gridCol>
              </a:tblGrid>
              <a:tr h="347472">
                <a:tc>
                  <a:txBody>
                    <a:bodyPr/>
                    <a:lstStyle/>
                    <a:p>
                      <a:pPr algn="ctr"/>
                      <a:r>
                        <a:rPr sz="1000" b="1" i="0">
                          <a:solidFill>
                            <a:srgbClr val="FFFFFF"/>
                          </a:solidFill>
                          <a:latin typeface="Arial"/>
                        </a:rPr>
                        <a:t>Year</a:t>
                      </a:r>
                    </a:p>
                  </a:txBody>
                  <a:tcPr>
                    <a:solidFill>
                      <a:srgbClr val="002060"/>
                    </a:solidFill>
                  </a:tcPr>
                </a:tc>
                <a:tc>
                  <a:txBody>
                    <a:bodyPr/>
                    <a:lstStyle/>
                    <a:p>
                      <a:pPr algn="ctr"/>
                      <a:r>
                        <a:rPr sz="1000" b="1" i="0">
                          <a:solidFill>
                            <a:srgbClr val="FFFFFF"/>
                          </a:solidFill>
                          <a:latin typeface="Arial"/>
                        </a:rPr>
                        <a:t>1st</a:t>
                      </a:r>
                    </a:p>
                  </a:txBody>
                  <a:tcPr>
                    <a:solidFill>
                      <a:srgbClr val="002060"/>
                    </a:solidFill>
                  </a:tcPr>
                </a:tc>
                <a:tc>
                  <a:txBody>
                    <a:bodyPr/>
                    <a:lstStyle/>
                    <a:p>
                      <a:pPr algn="ctr"/>
                      <a:r>
                        <a:rPr sz="1000" b="1" i="0">
                          <a:solidFill>
                            <a:srgbClr val="FFFFFF"/>
                          </a:solidFill>
                          <a:latin typeface="Arial"/>
                        </a:rPr>
                        <a:t>2nd</a:t>
                      </a:r>
                    </a:p>
                  </a:txBody>
                  <a:tcPr>
                    <a:solidFill>
                      <a:srgbClr val="002060"/>
                    </a:solidFill>
                  </a:tcPr>
                </a:tc>
                <a:tc>
                  <a:txBody>
                    <a:bodyPr/>
                    <a:lstStyle/>
                    <a:p>
                      <a:pPr algn="ctr"/>
                      <a:r>
                        <a:rPr sz="1000" b="1" i="0">
                          <a:solidFill>
                            <a:srgbClr val="FFFFFF"/>
                          </a:solidFill>
                          <a:latin typeface="Arial"/>
                        </a:rPr>
                        <a:t>3rd</a:t>
                      </a:r>
                    </a:p>
                  </a:txBody>
                  <a:tcPr>
                    <a:solidFill>
                      <a:srgbClr val="002060"/>
                    </a:solidFill>
                  </a:tcPr>
                </a:tc>
                <a:tc>
                  <a:txBody>
                    <a:bodyPr/>
                    <a:lstStyle/>
                    <a:p>
                      <a:pPr algn="ctr"/>
                      <a:r>
                        <a:rPr sz="1000" b="1" i="0">
                          <a:solidFill>
                            <a:srgbClr val="FFFFFF"/>
                          </a:solidFill>
                          <a:latin typeface="Arial"/>
                        </a:rPr>
                        <a:t>5th</a:t>
                      </a:r>
                    </a:p>
                  </a:txBody>
                  <a:tcPr>
                    <a:solidFill>
                      <a:srgbClr val="002060"/>
                    </a:solidFill>
                  </a:tcPr>
                </a:tc>
                <a:tc>
                  <a:txBody>
                    <a:bodyPr/>
                    <a:lstStyle/>
                    <a:p>
                      <a:pPr algn="ctr"/>
                      <a:r>
                        <a:rPr sz="1000" b="1" i="0">
                          <a:solidFill>
                            <a:srgbClr val="FFFFFF"/>
                          </a:solidFill>
                          <a:latin typeface="Arial"/>
                        </a:rPr>
                        <a:t>10th</a:t>
                      </a:r>
                    </a:p>
                  </a:txBody>
                  <a:tcPr>
                    <a:solidFill>
                      <a:srgbClr val="002060"/>
                    </a:solidFill>
                  </a:tcPr>
                </a:tc>
                <a:tc>
                  <a:txBody>
                    <a:bodyPr/>
                    <a:lstStyle/>
                    <a:p>
                      <a:pPr algn="ctr"/>
                      <a:r>
                        <a:rPr sz="1000" b="1" i="0">
                          <a:solidFill>
                            <a:srgbClr val="FFFFFF"/>
                          </a:solidFill>
                          <a:latin typeface="Arial"/>
                        </a:rPr>
                        <a:t>20th</a:t>
                      </a:r>
                    </a:p>
                  </a:txBody>
                  <a:tcPr>
                    <a:solidFill>
                      <a:srgbClr val="002060"/>
                    </a:solidFill>
                  </a:tcPr>
                </a:tc>
                <a:extLst>
                  <a:ext uri="{0D108BD9-81ED-4DB2-BD59-A6C34878D82A}">
                    <a16:rowId xmlns:a16="http://schemas.microsoft.com/office/drawing/2014/main" val="10000"/>
                  </a:ext>
                </a:extLst>
              </a:tr>
              <a:tr h="347472">
                <a:tc>
                  <a:txBody>
                    <a:bodyPr/>
                    <a:lstStyle/>
                    <a:p>
                      <a:pPr algn="ctr"/>
                      <a:r>
                        <a:rPr sz="1000" b="1" i="0">
                          <a:solidFill>
                            <a:srgbClr val="262626"/>
                          </a:solidFill>
                          <a:latin typeface="Arial"/>
                        </a:rPr>
                        <a:t>2018</a:t>
                      </a:r>
                    </a:p>
                  </a:txBody>
                  <a:tcPr>
                    <a:solidFill>
                      <a:srgbClr val="FFFFFF"/>
                    </a:solidFill>
                  </a:tcPr>
                </a:tc>
                <a:tc>
                  <a:txBody>
                    <a:bodyPr/>
                    <a:lstStyle/>
                    <a:p>
                      <a:pPr algn="ctr"/>
                      <a:r>
                        <a:rPr sz="850" b="0" i="0">
                          <a:solidFill>
                            <a:srgbClr val="262626"/>
                          </a:solidFill>
                          <a:latin typeface="Arial"/>
                        </a:rPr>
                        <a:t>56:51</a:t>
                      </a:r>
                    </a:p>
                  </a:txBody>
                  <a:tcPr>
                    <a:solidFill>
                      <a:srgbClr val="FFFFFF"/>
                    </a:solidFill>
                  </a:tcPr>
                </a:tc>
                <a:tc>
                  <a:txBody>
                    <a:bodyPr/>
                    <a:lstStyle/>
                    <a:p>
                      <a:pPr algn="ctr"/>
                      <a:r>
                        <a:rPr sz="850" b="0" i="0">
                          <a:solidFill>
                            <a:srgbClr val="262626"/>
                          </a:solidFill>
                          <a:latin typeface="Arial"/>
                        </a:rPr>
                        <a:t>57:02
+11s</a:t>
                      </a:r>
                    </a:p>
                  </a:txBody>
                  <a:tcPr>
                    <a:solidFill>
                      <a:srgbClr val="FFFFFF"/>
                    </a:solidFill>
                  </a:tcPr>
                </a:tc>
                <a:tc>
                  <a:txBody>
                    <a:bodyPr/>
                    <a:lstStyle/>
                    <a:p>
                      <a:pPr algn="ctr"/>
                      <a:r>
                        <a:rPr sz="850" b="0" i="0">
                          <a:solidFill>
                            <a:srgbClr val="262626"/>
                          </a:solidFill>
                          <a:latin typeface="Arial"/>
                        </a:rPr>
                        <a:t>57:08
+17s</a:t>
                      </a:r>
                    </a:p>
                  </a:txBody>
                  <a:tcPr>
                    <a:solidFill>
                      <a:srgbClr val="FFFFFF"/>
                    </a:solidFill>
                  </a:tcPr>
                </a:tc>
                <a:tc>
                  <a:txBody>
                    <a:bodyPr/>
                    <a:lstStyle/>
                    <a:p>
                      <a:pPr algn="ctr"/>
                      <a:r>
                        <a:rPr sz="850" b="0" i="0">
                          <a:solidFill>
                            <a:srgbClr val="262626"/>
                          </a:solidFill>
                          <a:latin typeface="Arial"/>
                        </a:rPr>
                        <a:t>57:14
+23s</a:t>
                      </a:r>
                    </a:p>
                  </a:txBody>
                  <a:tcPr>
                    <a:solidFill>
                      <a:srgbClr val="FFFFFF"/>
                    </a:solidFill>
                  </a:tcPr>
                </a:tc>
                <a:tc>
                  <a:txBody>
                    <a:bodyPr/>
                    <a:lstStyle/>
                    <a:p>
                      <a:pPr algn="ctr"/>
                      <a:r>
                        <a:rPr sz="850" b="0" i="0">
                          <a:solidFill>
                            <a:srgbClr val="262626"/>
                          </a:solidFill>
                          <a:latin typeface="Arial"/>
                        </a:rPr>
                        <a:t>57:50
+59s</a:t>
                      </a:r>
                    </a:p>
                  </a:txBody>
                  <a:tcPr>
                    <a:solidFill>
                      <a:srgbClr val="FFFFFF"/>
                    </a:solidFill>
                  </a:tcPr>
                </a:tc>
                <a:tc>
                  <a:txBody>
                    <a:bodyPr/>
                    <a:lstStyle/>
                    <a:p>
                      <a:pPr algn="ctr"/>
                      <a:r>
                        <a:rPr sz="850" b="0" i="0">
                          <a:solidFill>
                            <a:srgbClr val="262626"/>
                          </a:solidFill>
                          <a:latin typeface="Arial"/>
                        </a:rPr>
                        <a:t>59:19
+148s</a:t>
                      </a:r>
                    </a:p>
                  </a:txBody>
                  <a:tcPr>
                    <a:solidFill>
                      <a:srgbClr val="FFFFFF"/>
                    </a:solidFill>
                  </a:tcPr>
                </a:tc>
                <a:extLst>
                  <a:ext uri="{0D108BD9-81ED-4DB2-BD59-A6C34878D82A}">
                    <a16:rowId xmlns:a16="http://schemas.microsoft.com/office/drawing/2014/main" val="10001"/>
                  </a:ext>
                </a:extLst>
              </a:tr>
              <a:tr h="347472">
                <a:tc>
                  <a:txBody>
                    <a:bodyPr/>
                    <a:lstStyle/>
                    <a:p>
                      <a:pPr algn="ctr"/>
                      <a:r>
                        <a:rPr sz="1000" b="1" i="0">
                          <a:solidFill>
                            <a:srgbClr val="262626"/>
                          </a:solidFill>
                          <a:latin typeface="Arial"/>
                        </a:rPr>
                        <a:t>2019</a:t>
                      </a:r>
                    </a:p>
                  </a:txBody>
                  <a:tcPr>
                    <a:solidFill>
                      <a:srgbClr val="F2F2F2"/>
                    </a:solidFill>
                  </a:tcPr>
                </a:tc>
                <a:tc>
                  <a:txBody>
                    <a:bodyPr/>
                    <a:lstStyle/>
                    <a:p>
                      <a:pPr algn="ctr"/>
                      <a:r>
                        <a:rPr sz="850" b="0" i="0">
                          <a:solidFill>
                            <a:srgbClr val="262626"/>
                          </a:solidFill>
                          <a:latin typeface="Arial"/>
                        </a:rPr>
                        <a:t>1:01:23</a:t>
                      </a:r>
                    </a:p>
                  </a:txBody>
                  <a:tcPr>
                    <a:solidFill>
                      <a:srgbClr val="F2F2F2"/>
                    </a:solidFill>
                  </a:tcPr>
                </a:tc>
                <a:tc>
                  <a:txBody>
                    <a:bodyPr/>
                    <a:lstStyle/>
                    <a:p>
                      <a:pPr algn="ctr"/>
                      <a:r>
                        <a:rPr sz="850" b="0" i="0">
                          <a:solidFill>
                            <a:srgbClr val="262626"/>
                          </a:solidFill>
                          <a:latin typeface="Arial"/>
                        </a:rPr>
                        <a:t>1:01:25
+2s</a:t>
                      </a:r>
                    </a:p>
                  </a:txBody>
                  <a:tcPr>
                    <a:solidFill>
                      <a:srgbClr val="F2F2F2"/>
                    </a:solidFill>
                  </a:tcPr>
                </a:tc>
                <a:tc>
                  <a:txBody>
                    <a:bodyPr/>
                    <a:lstStyle/>
                    <a:p>
                      <a:pPr algn="ctr"/>
                      <a:r>
                        <a:rPr sz="850" b="0" i="0">
                          <a:solidFill>
                            <a:srgbClr val="262626"/>
                          </a:solidFill>
                          <a:latin typeface="Arial"/>
                        </a:rPr>
                        <a:t>1:01:27
+4s</a:t>
                      </a:r>
                    </a:p>
                  </a:txBody>
                  <a:tcPr>
                    <a:solidFill>
                      <a:srgbClr val="F2F2F2"/>
                    </a:solidFill>
                  </a:tcPr>
                </a:tc>
                <a:tc>
                  <a:txBody>
                    <a:bodyPr/>
                    <a:lstStyle/>
                    <a:p>
                      <a:pPr algn="ctr"/>
                      <a:r>
                        <a:rPr sz="850" b="0" i="0">
                          <a:solidFill>
                            <a:srgbClr val="262626"/>
                          </a:solidFill>
                          <a:latin typeface="Arial"/>
                        </a:rPr>
                        <a:t>1:01:47
+24s</a:t>
                      </a:r>
                    </a:p>
                  </a:txBody>
                  <a:tcPr>
                    <a:solidFill>
                      <a:srgbClr val="F2F2F2"/>
                    </a:solidFill>
                  </a:tcPr>
                </a:tc>
                <a:tc>
                  <a:txBody>
                    <a:bodyPr/>
                    <a:lstStyle/>
                    <a:p>
                      <a:pPr algn="ctr"/>
                      <a:r>
                        <a:rPr sz="850" b="0" i="0">
                          <a:solidFill>
                            <a:srgbClr val="262626"/>
                          </a:solidFill>
                          <a:latin typeface="Arial"/>
                        </a:rPr>
                        <a:t>1:02:09
+46s</a:t>
                      </a:r>
                    </a:p>
                  </a:txBody>
                  <a:tcPr>
                    <a:solidFill>
                      <a:srgbClr val="F2F2F2"/>
                    </a:solidFill>
                  </a:tcPr>
                </a:tc>
                <a:tc>
                  <a:txBody>
                    <a:bodyPr/>
                    <a:lstStyle/>
                    <a:p>
                      <a:pPr algn="ctr"/>
                      <a:r>
                        <a:rPr sz="850" b="0" i="0">
                          <a:solidFill>
                            <a:srgbClr val="262626"/>
                          </a:solidFill>
                          <a:latin typeface="Arial"/>
                        </a:rPr>
                        <a:t>1:03:39
+136s</a:t>
                      </a:r>
                    </a:p>
                  </a:txBody>
                  <a:tcPr>
                    <a:solidFill>
                      <a:srgbClr val="F2F2F2"/>
                    </a:solidFill>
                  </a:tcPr>
                </a:tc>
                <a:extLst>
                  <a:ext uri="{0D108BD9-81ED-4DB2-BD59-A6C34878D82A}">
                    <a16:rowId xmlns:a16="http://schemas.microsoft.com/office/drawing/2014/main" val="10002"/>
                  </a:ext>
                </a:extLst>
              </a:tr>
              <a:tr h="347472">
                <a:tc>
                  <a:txBody>
                    <a:bodyPr/>
                    <a:lstStyle/>
                    <a:p>
                      <a:pPr algn="ctr"/>
                      <a:r>
                        <a:rPr sz="1000" b="1" i="0">
                          <a:solidFill>
                            <a:srgbClr val="262626"/>
                          </a:solidFill>
                          <a:latin typeface="Arial"/>
                        </a:rPr>
                        <a:t>2021</a:t>
                      </a:r>
                    </a:p>
                  </a:txBody>
                  <a:tcPr>
                    <a:solidFill>
                      <a:srgbClr val="FFFFFF"/>
                    </a:solidFill>
                  </a:tcPr>
                </a:tc>
                <a:tc>
                  <a:txBody>
                    <a:bodyPr/>
                    <a:lstStyle/>
                    <a:p>
                      <a:pPr algn="ctr"/>
                      <a:r>
                        <a:rPr sz="850" b="0" i="0">
                          <a:solidFill>
                            <a:srgbClr val="262626"/>
                          </a:solidFill>
                          <a:latin typeface="Arial"/>
                        </a:rPr>
                        <a:t>1:54:47</a:t>
                      </a:r>
                    </a:p>
                  </a:txBody>
                  <a:tcPr>
                    <a:solidFill>
                      <a:srgbClr val="FFFFFF"/>
                    </a:solidFill>
                  </a:tcPr>
                </a:tc>
                <a:tc>
                  <a:txBody>
                    <a:bodyPr/>
                    <a:lstStyle/>
                    <a:p>
                      <a:pPr algn="ctr"/>
                      <a:r>
                        <a:rPr sz="850" b="0" i="0">
                          <a:solidFill>
                            <a:srgbClr val="262626"/>
                          </a:solidFill>
                          <a:latin typeface="Arial"/>
                        </a:rPr>
                        <a:t>1:55:43
+56s</a:t>
                      </a:r>
                    </a:p>
                  </a:txBody>
                  <a:tcPr>
                    <a:solidFill>
                      <a:srgbClr val="FFFFFF"/>
                    </a:solidFill>
                  </a:tcPr>
                </a:tc>
                <a:tc>
                  <a:txBody>
                    <a:bodyPr/>
                    <a:lstStyle/>
                    <a:p>
                      <a:pPr algn="ctr"/>
                      <a:r>
                        <a:rPr sz="850" b="0" i="0">
                          <a:solidFill>
                            <a:srgbClr val="262626"/>
                          </a:solidFill>
                          <a:latin typeface="Arial"/>
                        </a:rPr>
                        <a:t>1:56:11
+84s</a:t>
                      </a:r>
                    </a:p>
                  </a:txBody>
                  <a:tcPr>
                    <a:solidFill>
                      <a:srgbClr val="FFFFFF"/>
                    </a:solidFill>
                  </a:tcPr>
                </a:tc>
                <a:tc>
                  <a:txBody>
                    <a:bodyPr/>
                    <a:lstStyle/>
                    <a:p>
                      <a:pPr algn="ctr"/>
                      <a:r>
                        <a:rPr sz="850" b="0" i="0">
                          <a:solidFill>
                            <a:srgbClr val="262626"/>
                          </a:solidFill>
                          <a:latin typeface="Arial"/>
                        </a:rPr>
                        <a:t>1:56:16
+89s</a:t>
                      </a:r>
                    </a:p>
                  </a:txBody>
                  <a:tcPr>
                    <a:solidFill>
                      <a:srgbClr val="FFFFFF"/>
                    </a:solidFill>
                  </a:tcPr>
                </a:tc>
                <a:tc>
                  <a:txBody>
                    <a:bodyPr/>
                    <a:lstStyle/>
                    <a:p>
                      <a:pPr algn="ctr"/>
                      <a:r>
                        <a:rPr sz="850" b="0" i="0">
                          <a:solidFill>
                            <a:srgbClr val="262626"/>
                          </a:solidFill>
                          <a:latin typeface="Arial"/>
                        </a:rPr>
                        <a:t>1:57:47
+180s</a:t>
                      </a:r>
                    </a:p>
                  </a:txBody>
                  <a:tcPr>
                    <a:solidFill>
                      <a:srgbClr val="FFFFFF"/>
                    </a:solidFill>
                  </a:tcPr>
                </a:tc>
                <a:tc>
                  <a:txBody>
                    <a:bodyPr/>
                    <a:lstStyle/>
                    <a:p>
                      <a:pPr algn="ctr"/>
                      <a:r>
                        <a:rPr sz="850" b="0" i="0">
                          <a:solidFill>
                            <a:srgbClr val="262626"/>
                          </a:solidFill>
                          <a:latin typeface="Arial"/>
                        </a:rPr>
                        <a:t>1:59:55
+308s</a:t>
                      </a:r>
                    </a:p>
                  </a:txBody>
                  <a:tcPr>
                    <a:solidFill>
                      <a:srgbClr val="FFFFFF"/>
                    </a:solidFill>
                  </a:tcPr>
                </a:tc>
                <a:extLst>
                  <a:ext uri="{0D108BD9-81ED-4DB2-BD59-A6C34878D82A}">
                    <a16:rowId xmlns:a16="http://schemas.microsoft.com/office/drawing/2014/main" val="10003"/>
                  </a:ext>
                </a:extLst>
              </a:tr>
              <a:tr h="347472">
                <a:tc>
                  <a:txBody>
                    <a:bodyPr/>
                    <a:lstStyle/>
                    <a:p>
                      <a:pPr algn="ctr"/>
                      <a:r>
                        <a:rPr sz="1000" b="1" i="0">
                          <a:solidFill>
                            <a:srgbClr val="262626"/>
                          </a:solidFill>
                          <a:latin typeface="Arial"/>
                        </a:rPr>
                        <a:t>2023</a:t>
                      </a:r>
                    </a:p>
                  </a:txBody>
                  <a:tcPr>
                    <a:solidFill>
                      <a:srgbClr val="F2F2F2"/>
                    </a:solidFill>
                  </a:tcPr>
                </a:tc>
                <a:tc>
                  <a:txBody>
                    <a:bodyPr/>
                    <a:lstStyle/>
                    <a:p>
                      <a:pPr algn="ctr"/>
                      <a:r>
                        <a:rPr sz="850" b="0" i="0">
                          <a:solidFill>
                            <a:srgbClr val="262626"/>
                          </a:solidFill>
                          <a:latin typeface="Arial"/>
                        </a:rPr>
                        <a:t>56:27</a:t>
                      </a:r>
                    </a:p>
                  </a:txBody>
                  <a:tcPr>
                    <a:solidFill>
                      <a:srgbClr val="F2F2F2"/>
                    </a:solidFill>
                  </a:tcPr>
                </a:tc>
                <a:tc>
                  <a:txBody>
                    <a:bodyPr/>
                    <a:lstStyle/>
                    <a:p>
                      <a:pPr algn="ctr"/>
                      <a:r>
                        <a:rPr sz="850" b="0" i="0">
                          <a:solidFill>
                            <a:srgbClr val="262626"/>
                          </a:solidFill>
                          <a:latin typeface="Arial"/>
                        </a:rPr>
                        <a:t>57:17
+50s</a:t>
                      </a:r>
                    </a:p>
                  </a:txBody>
                  <a:tcPr>
                    <a:solidFill>
                      <a:srgbClr val="F2F2F2"/>
                    </a:solidFill>
                  </a:tcPr>
                </a:tc>
                <a:tc>
                  <a:txBody>
                    <a:bodyPr/>
                    <a:lstStyle/>
                    <a:p>
                      <a:pPr algn="ctr"/>
                      <a:r>
                        <a:rPr sz="850" b="0" i="0">
                          <a:solidFill>
                            <a:srgbClr val="262626"/>
                          </a:solidFill>
                          <a:latin typeface="Arial"/>
                        </a:rPr>
                        <a:t>57:21
+54s</a:t>
                      </a:r>
                    </a:p>
                  </a:txBody>
                  <a:tcPr>
                    <a:solidFill>
                      <a:srgbClr val="F2F2F2"/>
                    </a:solidFill>
                  </a:tcPr>
                </a:tc>
                <a:tc>
                  <a:txBody>
                    <a:bodyPr/>
                    <a:lstStyle/>
                    <a:p>
                      <a:pPr algn="ctr"/>
                      <a:r>
                        <a:rPr sz="850" b="0" i="0">
                          <a:solidFill>
                            <a:srgbClr val="262626"/>
                          </a:solidFill>
                          <a:latin typeface="Arial"/>
                        </a:rPr>
                        <a:t>57:32
+65s</a:t>
                      </a:r>
                    </a:p>
                  </a:txBody>
                  <a:tcPr>
                    <a:solidFill>
                      <a:srgbClr val="F2F2F2"/>
                    </a:solidFill>
                  </a:tcPr>
                </a:tc>
                <a:tc>
                  <a:txBody>
                    <a:bodyPr/>
                    <a:lstStyle/>
                    <a:p>
                      <a:pPr algn="ctr"/>
                      <a:r>
                        <a:rPr sz="850" b="0" i="0">
                          <a:solidFill>
                            <a:srgbClr val="262626"/>
                          </a:solidFill>
                          <a:latin typeface="Arial"/>
                        </a:rPr>
                        <a:t>1:00:38
+251s</a:t>
                      </a:r>
                    </a:p>
                  </a:txBody>
                  <a:tcPr>
                    <a:solidFill>
                      <a:srgbClr val="F2F2F2"/>
                    </a:solidFill>
                  </a:tcPr>
                </a:tc>
                <a:tc>
                  <a:txBody>
                    <a:bodyPr/>
                    <a:lstStyle/>
                    <a:p>
                      <a:pPr algn="ctr"/>
                      <a:r>
                        <a:rPr sz="850" b="0" i="0">
                          <a:solidFill>
                            <a:srgbClr val="262626"/>
                          </a:solidFill>
                          <a:latin typeface="Arial"/>
                        </a:rPr>
                        <a:t>1:07:32
+665s</a:t>
                      </a:r>
                    </a:p>
                  </a:txBody>
                  <a:tcPr>
                    <a:solidFill>
                      <a:srgbClr val="F2F2F2"/>
                    </a:solidFill>
                  </a:tcPr>
                </a:tc>
                <a:extLst>
                  <a:ext uri="{0D108BD9-81ED-4DB2-BD59-A6C34878D82A}">
                    <a16:rowId xmlns:a16="http://schemas.microsoft.com/office/drawing/2014/main" val="10004"/>
                  </a:ext>
                </a:extLst>
              </a:tr>
              <a:tr h="347472">
                <a:tc>
                  <a:txBody>
                    <a:bodyPr/>
                    <a:lstStyle/>
                    <a:p>
                      <a:pPr algn="ctr"/>
                      <a:r>
                        <a:rPr sz="1000" b="1" i="0">
                          <a:solidFill>
                            <a:srgbClr val="262626"/>
                          </a:solidFill>
                          <a:latin typeface="Arial"/>
                        </a:rPr>
                        <a:t>2024</a:t>
                      </a:r>
                    </a:p>
                  </a:txBody>
                  <a:tcPr>
                    <a:solidFill>
                      <a:srgbClr val="FFFFFF"/>
                    </a:solidFill>
                  </a:tcPr>
                </a:tc>
                <a:tc>
                  <a:txBody>
                    <a:bodyPr/>
                    <a:lstStyle/>
                    <a:p>
                      <a:pPr algn="ctr"/>
                      <a:r>
                        <a:rPr sz="850" b="0" i="0">
                          <a:solidFill>
                            <a:srgbClr val="262626"/>
                          </a:solidFill>
                          <a:latin typeface="Arial"/>
                        </a:rPr>
                        <a:t>56:04</a:t>
                      </a:r>
                    </a:p>
                  </a:txBody>
                  <a:tcPr>
                    <a:solidFill>
                      <a:srgbClr val="FFFFFF"/>
                    </a:solidFill>
                  </a:tcPr>
                </a:tc>
                <a:tc>
                  <a:txBody>
                    <a:bodyPr/>
                    <a:lstStyle/>
                    <a:p>
                      <a:pPr algn="ctr"/>
                      <a:r>
                        <a:rPr sz="850" b="0" i="0">
                          <a:solidFill>
                            <a:srgbClr val="262626"/>
                          </a:solidFill>
                          <a:latin typeface="Arial"/>
                        </a:rPr>
                        <a:t>56:14
+10s</a:t>
                      </a:r>
                    </a:p>
                  </a:txBody>
                  <a:tcPr>
                    <a:solidFill>
                      <a:srgbClr val="FFFFFF"/>
                    </a:solidFill>
                  </a:tcPr>
                </a:tc>
                <a:tc>
                  <a:txBody>
                    <a:bodyPr/>
                    <a:lstStyle/>
                    <a:p>
                      <a:pPr algn="ctr"/>
                      <a:r>
                        <a:rPr sz="850" b="0" i="0">
                          <a:solidFill>
                            <a:srgbClr val="262626"/>
                          </a:solidFill>
                          <a:latin typeface="Arial"/>
                        </a:rPr>
                        <a:t>56:31
+27s</a:t>
                      </a:r>
                    </a:p>
                  </a:txBody>
                  <a:tcPr>
                    <a:solidFill>
                      <a:srgbClr val="FFFFFF"/>
                    </a:solidFill>
                  </a:tcPr>
                </a:tc>
                <a:tc>
                  <a:txBody>
                    <a:bodyPr/>
                    <a:lstStyle/>
                    <a:p>
                      <a:pPr algn="ctr"/>
                      <a:r>
                        <a:rPr sz="850" b="0" i="0">
                          <a:solidFill>
                            <a:srgbClr val="262626"/>
                          </a:solidFill>
                          <a:latin typeface="Arial"/>
                        </a:rPr>
                        <a:t>56:58
+54s</a:t>
                      </a:r>
                    </a:p>
                  </a:txBody>
                  <a:tcPr>
                    <a:solidFill>
                      <a:srgbClr val="FFFFFF"/>
                    </a:solidFill>
                  </a:tcPr>
                </a:tc>
                <a:tc>
                  <a:txBody>
                    <a:bodyPr/>
                    <a:lstStyle/>
                    <a:p>
                      <a:pPr algn="ctr"/>
                      <a:r>
                        <a:rPr sz="850" b="0" i="0">
                          <a:solidFill>
                            <a:srgbClr val="262626"/>
                          </a:solidFill>
                          <a:latin typeface="Arial"/>
                        </a:rPr>
                        <a:t>58:20
+136s</a:t>
                      </a:r>
                    </a:p>
                  </a:txBody>
                  <a:tcPr>
                    <a:solidFill>
                      <a:srgbClr val="FFFFFF"/>
                    </a:solidFill>
                  </a:tcPr>
                </a:tc>
                <a:tc>
                  <a:txBody>
                    <a:bodyPr/>
                    <a:lstStyle/>
                    <a:p>
                      <a:pPr algn="ctr"/>
                      <a:r>
                        <a:rPr sz="850" b="0" i="0">
                          <a:solidFill>
                            <a:srgbClr val="262626"/>
                          </a:solidFill>
                          <a:latin typeface="Arial"/>
                        </a:rPr>
                        <a:t>1:00:49
+285s</a:t>
                      </a:r>
                    </a:p>
                  </a:txBody>
                  <a:tcPr>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88952" cy="96012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28600" y="45720"/>
            <a:ext cx="9601200" cy="594360"/>
          </a:xfrm>
          <a:prstGeom prst="rect">
            <a:avLst/>
          </a:prstGeom>
          <a:noFill/>
        </p:spPr>
        <p:txBody>
          <a:bodyPr wrap="square">
            <a:spAutoFit/>
          </a:bodyPr>
          <a:lstStyle/>
          <a:p>
            <a:pPr algn="l"/>
            <a:r>
              <a:rPr sz="2800" b="1" i="0">
                <a:solidFill>
                  <a:srgbClr val="FFFFFF"/>
                </a:solidFill>
                <a:latin typeface="Arial"/>
              </a:rPr>
              <a:t>Race Conditions  —  Elite Women</a:t>
            </a:r>
          </a:p>
        </p:txBody>
      </p:sp>
      <p:sp>
        <p:nvSpPr>
          <p:cNvPr id="4" name="TextBox 3"/>
          <p:cNvSpPr txBox="1"/>
          <p:nvPr/>
        </p:nvSpPr>
        <p:spPr>
          <a:xfrm>
            <a:off x="228600" y="621792"/>
            <a:ext cx="9601200" cy="320040"/>
          </a:xfrm>
          <a:prstGeom prst="rect">
            <a:avLst/>
          </a:prstGeom>
          <a:noFill/>
        </p:spPr>
        <p:txBody>
          <a:bodyPr wrap="square">
            <a:spAutoFit/>
          </a:bodyPr>
          <a:lstStyle/>
          <a:p>
            <a:pPr algn="l"/>
            <a:r>
              <a:rPr sz="1200" b="0" i="0">
                <a:solidFill>
                  <a:srgbClr val="AABBDD"/>
                </a:solidFill>
                <a:latin typeface="Arial"/>
              </a:rPr>
              <a:t>Edmonton</a:t>
            </a:r>
          </a:p>
        </p:txBody>
      </p:sp>
      <p:sp>
        <p:nvSpPr>
          <p:cNvPr id="5" name="Rectangle 4"/>
          <p:cNvSpPr/>
          <p:nvPr/>
        </p:nvSpPr>
        <p:spPr>
          <a:xfrm>
            <a:off x="0" y="960120"/>
            <a:ext cx="12188952" cy="64008"/>
          </a:xfrm>
          <a:prstGeom prst="rect">
            <a:avLst/>
          </a:prstGeom>
          <a:solidFill>
            <a:srgbClr val="C0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6" name="Picture 5" descr="USA_Triathlon_Logo.jpg"/>
          <p:cNvPicPr>
            <a:picLocks noChangeAspect="1"/>
          </p:cNvPicPr>
          <p:nvPr/>
        </p:nvPicPr>
        <p:blipFill>
          <a:blip r:embed="rId2"/>
          <a:stretch>
            <a:fillRect/>
          </a:stretch>
        </p:blipFill>
        <p:spPr>
          <a:xfrm>
            <a:off x="10881360" y="27432"/>
            <a:ext cx="1234440" cy="914400"/>
          </a:xfrm>
          <a:prstGeom prst="rect">
            <a:avLst/>
          </a:prstGeom>
        </p:spPr>
      </p:pic>
      <p:sp>
        <p:nvSpPr>
          <p:cNvPr id="7" name="Rectangle 6"/>
          <p:cNvSpPr/>
          <p:nvPr/>
        </p:nvSpPr>
        <p:spPr>
          <a:xfrm>
            <a:off x="0" y="6720840"/>
            <a:ext cx="12188952" cy="137160"/>
          </a:xfrm>
          <a:prstGeom prst="rect">
            <a:avLst/>
          </a:prstGeom>
          <a:solidFill>
            <a:srgbClr val="00206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8" name="Table 7"/>
          <p:cNvGraphicFramePr>
            <a:graphicFrameLocks noGrp="1"/>
          </p:cNvGraphicFramePr>
          <p:nvPr/>
        </p:nvGraphicFramePr>
        <p:xfrm>
          <a:off x="274320" y="1143000"/>
          <a:ext cx="11640307" cy="2743200"/>
        </p:xfrm>
        <a:graphic>
          <a:graphicData uri="http://schemas.openxmlformats.org/drawingml/2006/table">
            <a:tbl>
              <a:tblPr firstRow="1" bandRow="1">
                <a:tableStyleId>{5C22544A-7EE6-4342-B048-85BDC9FD1C3A}</a:tableStyleId>
              </a:tblPr>
              <a:tblGrid>
                <a:gridCol w="591571">
                  <a:extLst>
                    <a:ext uri="{9D8B030D-6E8A-4147-A177-3AD203B41FA5}">
                      <a16:colId xmlns:a16="http://schemas.microsoft.com/office/drawing/2014/main" val="20000"/>
                    </a:ext>
                  </a:extLst>
                </a:gridCol>
                <a:gridCol w="864604">
                  <a:extLst>
                    <a:ext uri="{9D8B030D-6E8A-4147-A177-3AD203B41FA5}">
                      <a16:colId xmlns:a16="http://schemas.microsoft.com/office/drawing/2014/main" val="20001"/>
                    </a:ext>
                  </a:extLst>
                </a:gridCol>
                <a:gridCol w="910110">
                  <a:extLst>
                    <a:ext uri="{9D8B030D-6E8A-4147-A177-3AD203B41FA5}">
                      <a16:colId xmlns:a16="http://schemas.microsoft.com/office/drawing/2014/main" val="20002"/>
                    </a:ext>
                  </a:extLst>
                </a:gridCol>
                <a:gridCol w="819099">
                  <a:extLst>
                    <a:ext uri="{9D8B030D-6E8A-4147-A177-3AD203B41FA5}">
                      <a16:colId xmlns:a16="http://schemas.microsoft.com/office/drawing/2014/main" val="20003"/>
                    </a:ext>
                  </a:extLst>
                </a:gridCol>
                <a:gridCol w="910110">
                  <a:extLst>
                    <a:ext uri="{9D8B030D-6E8A-4147-A177-3AD203B41FA5}">
                      <a16:colId xmlns:a16="http://schemas.microsoft.com/office/drawing/2014/main" val="20004"/>
                    </a:ext>
                  </a:extLst>
                </a:gridCol>
                <a:gridCol w="864604">
                  <a:extLst>
                    <a:ext uri="{9D8B030D-6E8A-4147-A177-3AD203B41FA5}">
                      <a16:colId xmlns:a16="http://schemas.microsoft.com/office/drawing/2014/main" val="20005"/>
                    </a:ext>
                  </a:extLst>
                </a:gridCol>
                <a:gridCol w="864604">
                  <a:extLst>
                    <a:ext uri="{9D8B030D-6E8A-4147-A177-3AD203B41FA5}">
                      <a16:colId xmlns:a16="http://schemas.microsoft.com/office/drawing/2014/main" val="20006"/>
                    </a:ext>
                  </a:extLst>
                </a:gridCol>
                <a:gridCol w="819099">
                  <a:extLst>
                    <a:ext uri="{9D8B030D-6E8A-4147-A177-3AD203B41FA5}">
                      <a16:colId xmlns:a16="http://schemas.microsoft.com/office/drawing/2014/main" val="20007"/>
                    </a:ext>
                  </a:extLst>
                </a:gridCol>
                <a:gridCol w="4996506">
                  <a:extLst>
                    <a:ext uri="{9D8B030D-6E8A-4147-A177-3AD203B41FA5}">
                      <a16:colId xmlns:a16="http://schemas.microsoft.com/office/drawing/2014/main" val="20008"/>
                    </a:ext>
                  </a:extLst>
                </a:gridCol>
              </a:tblGrid>
              <a:tr h="457200">
                <a:tc>
                  <a:txBody>
                    <a:bodyPr/>
                    <a:lstStyle/>
                    <a:p>
                      <a:pPr algn="ctr"/>
                      <a:r>
                        <a:rPr sz="1200" b="1" i="0">
                          <a:solidFill>
                            <a:srgbClr val="FFFFFF"/>
                          </a:solidFill>
                          <a:latin typeface="Arial"/>
                        </a:rPr>
                        <a:t>Year</a:t>
                      </a:r>
                    </a:p>
                  </a:txBody>
                  <a:tcPr>
                    <a:solidFill>
                      <a:srgbClr val="002060"/>
                    </a:solidFill>
                  </a:tcPr>
                </a:tc>
                <a:tc>
                  <a:txBody>
                    <a:bodyPr/>
                    <a:lstStyle/>
                    <a:p>
                      <a:pPr algn="ctr"/>
                      <a:r>
                        <a:rPr sz="1200" b="1" i="0">
                          <a:solidFill>
                            <a:srgbClr val="FFFFFF"/>
                          </a:solidFill>
                          <a:latin typeface="Arial"/>
                        </a:rPr>
                        <a:t>Date</a:t>
                      </a:r>
                    </a:p>
                  </a:txBody>
                  <a:tcPr>
                    <a:solidFill>
                      <a:srgbClr val="002060"/>
                    </a:solidFill>
                  </a:tcPr>
                </a:tc>
                <a:tc>
                  <a:txBody>
                    <a:bodyPr/>
                    <a:lstStyle/>
                    <a:p>
                      <a:pPr algn="ctr"/>
                      <a:r>
                        <a:rPr sz="1200" b="1" i="0">
                          <a:solidFill>
                            <a:srgbClr val="FFFFFF"/>
                          </a:solidFill>
                          <a:latin typeface="Arial"/>
                        </a:rPr>
                        <a:t>Air Temp</a:t>
                      </a:r>
                    </a:p>
                  </a:txBody>
                  <a:tcPr>
                    <a:solidFill>
                      <a:srgbClr val="002060"/>
                    </a:solidFill>
                  </a:tcPr>
                </a:tc>
                <a:tc>
                  <a:txBody>
                    <a:bodyPr/>
                    <a:lstStyle/>
                    <a:p>
                      <a:pPr algn="ctr"/>
                      <a:r>
                        <a:rPr sz="1200" b="1" i="0">
                          <a:solidFill>
                            <a:srgbClr val="FFFFFF"/>
                          </a:solidFill>
                          <a:latin typeface="Arial"/>
                        </a:rPr>
                        <a:t>Humidity</a:t>
                      </a:r>
                    </a:p>
                  </a:txBody>
                  <a:tcPr>
                    <a:solidFill>
                      <a:srgbClr val="002060"/>
                    </a:solidFill>
                  </a:tcPr>
                </a:tc>
                <a:tc>
                  <a:txBody>
                    <a:bodyPr/>
                    <a:lstStyle/>
                    <a:p>
                      <a:pPr algn="ctr"/>
                      <a:r>
                        <a:rPr sz="1200" b="1" i="0">
                          <a:solidFill>
                            <a:srgbClr val="FFFFFF"/>
                          </a:solidFill>
                          <a:latin typeface="Arial"/>
                        </a:rPr>
                        <a:t>Wind (km/h)</a:t>
                      </a:r>
                    </a:p>
                  </a:txBody>
                  <a:tcPr>
                    <a:solidFill>
                      <a:srgbClr val="002060"/>
                    </a:solidFill>
                  </a:tcPr>
                </a:tc>
                <a:tc>
                  <a:txBody>
                    <a:bodyPr/>
                    <a:lstStyle/>
                    <a:p>
                      <a:pPr algn="ctr"/>
                      <a:r>
                        <a:rPr sz="1200" b="1" i="0">
                          <a:solidFill>
                            <a:srgbClr val="FFFFFF"/>
                          </a:solidFill>
                          <a:latin typeface="Arial"/>
                        </a:rPr>
                        <a:t>Precip (mm)</a:t>
                      </a:r>
                    </a:p>
                  </a:txBody>
                  <a:tcPr>
                    <a:solidFill>
                      <a:srgbClr val="002060"/>
                    </a:solidFill>
                  </a:tcPr>
                </a:tc>
                <a:tc>
                  <a:txBody>
                    <a:bodyPr/>
                    <a:lstStyle/>
                    <a:p>
                      <a:pPr algn="ctr"/>
                      <a:r>
                        <a:rPr sz="1200" b="1" i="0">
                          <a:solidFill>
                            <a:srgbClr val="FFFFFF"/>
                          </a:solidFill>
                          <a:latin typeface="Arial"/>
                        </a:rPr>
                        <a:t>Water Temp</a:t>
                      </a:r>
                    </a:p>
                  </a:txBody>
                  <a:tcPr>
                    <a:solidFill>
                      <a:srgbClr val="002060"/>
                    </a:solidFill>
                  </a:tcPr>
                </a:tc>
                <a:tc>
                  <a:txBody>
                    <a:bodyPr/>
                    <a:lstStyle/>
                    <a:p>
                      <a:pPr algn="ctr"/>
                      <a:r>
                        <a:rPr sz="1200" b="1" i="0">
                          <a:solidFill>
                            <a:srgbClr val="FFFFFF"/>
                          </a:solidFill>
                          <a:latin typeface="Arial"/>
                        </a:rPr>
                        <a:t>Wetsuit</a:t>
                      </a:r>
                    </a:p>
                  </a:txBody>
                  <a:tcPr>
                    <a:solidFill>
                      <a:srgbClr val="002060"/>
                    </a:solidFill>
                  </a:tcPr>
                </a:tc>
                <a:tc>
                  <a:txBody>
                    <a:bodyPr/>
                    <a:lstStyle/>
                    <a:p>
                      <a:pPr algn="ctr"/>
                      <a:r>
                        <a:rPr sz="1200" b="1" i="0">
                          <a:solidFill>
                            <a:srgbClr val="FFFFFF"/>
                          </a:solidFill>
                          <a:latin typeface="Arial"/>
                        </a:rPr>
                        <a:t>Conditions</a:t>
                      </a:r>
                    </a:p>
                  </a:txBody>
                  <a:tcPr>
                    <a:solidFill>
                      <a:srgbClr val="002060"/>
                    </a:solidFill>
                  </a:tcPr>
                </a:tc>
                <a:extLst>
                  <a:ext uri="{0D108BD9-81ED-4DB2-BD59-A6C34878D82A}">
                    <a16:rowId xmlns:a16="http://schemas.microsoft.com/office/drawing/2014/main" val="10000"/>
                  </a:ext>
                </a:extLst>
              </a:tr>
              <a:tr h="457200">
                <a:tc>
                  <a:txBody>
                    <a:bodyPr/>
                    <a:lstStyle/>
                    <a:p>
                      <a:pPr algn="ctr"/>
                      <a:r>
                        <a:rPr sz="1000" b="0" i="0">
                          <a:solidFill>
                            <a:srgbClr val="262626"/>
                          </a:solidFill>
                          <a:latin typeface="Arial"/>
                        </a:rPr>
                        <a:t>2018</a:t>
                      </a:r>
                    </a:p>
                  </a:txBody>
                  <a:tcPr>
                    <a:solidFill>
                      <a:srgbClr val="FFFFFF"/>
                    </a:solidFill>
                  </a:tcPr>
                </a:tc>
                <a:tc>
                  <a:txBody>
                    <a:bodyPr/>
                    <a:lstStyle/>
                    <a:p>
                      <a:pPr algn="ctr"/>
                      <a:r>
                        <a:rPr sz="1000" b="0" i="0">
                          <a:solidFill>
                            <a:srgbClr val="262626"/>
                          </a:solidFill>
                          <a:latin typeface="Arial"/>
                        </a:rPr>
                        <a:t>Jul 27</a:t>
                      </a:r>
                    </a:p>
                  </a:txBody>
                  <a:tcPr>
                    <a:solidFill>
                      <a:srgbClr val="FFFFFF"/>
                    </a:solidFill>
                  </a:tcPr>
                </a:tc>
                <a:tc>
                  <a:txBody>
                    <a:bodyPr/>
                    <a:lstStyle/>
                    <a:p>
                      <a:pPr algn="ctr"/>
                      <a:r>
                        <a:rPr sz="1000" b="0" i="0">
                          <a:solidFill>
                            <a:srgbClr val="262626"/>
                          </a:solidFill>
                          <a:latin typeface="Arial"/>
                        </a:rPr>
                        <a:t>17.7°*</a:t>
                      </a:r>
                    </a:p>
                  </a:txBody>
                  <a:tcPr>
                    <a:solidFill>
                      <a:srgbClr val="FFFFFF"/>
                    </a:solidFill>
                  </a:tcPr>
                </a:tc>
                <a:tc>
                  <a:txBody>
                    <a:bodyPr/>
                    <a:lstStyle/>
                    <a:p>
                      <a:pPr algn="ctr"/>
                      <a:r>
                        <a:rPr sz="1000" b="0" i="0">
                          <a:solidFill>
                            <a:srgbClr val="262626"/>
                          </a:solidFill>
                          <a:latin typeface="Arial"/>
                        </a:rPr>
                        <a:t>69%</a:t>
                      </a:r>
                    </a:p>
                  </a:txBody>
                  <a:tcPr>
                    <a:solidFill>
                      <a:srgbClr val="FFFFFF"/>
                    </a:solidFill>
                  </a:tcPr>
                </a:tc>
                <a:tc>
                  <a:txBody>
                    <a:bodyPr/>
                    <a:lstStyle/>
                    <a:p>
                      <a:pPr algn="ctr"/>
                      <a:r>
                        <a:rPr sz="1000" b="0" i="0">
                          <a:solidFill>
                            <a:srgbClr val="262626"/>
                          </a:solidFill>
                          <a:latin typeface="Arial"/>
                        </a:rPr>
                        <a:t>4</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1"/>
                  </a:ext>
                </a:extLst>
              </a:tr>
              <a:tr h="457200">
                <a:tc>
                  <a:txBody>
                    <a:bodyPr/>
                    <a:lstStyle/>
                    <a:p>
                      <a:pPr algn="ctr"/>
                      <a:r>
                        <a:rPr sz="1000" b="0" i="0">
                          <a:solidFill>
                            <a:srgbClr val="262626"/>
                          </a:solidFill>
                          <a:latin typeface="Arial"/>
                        </a:rPr>
                        <a:t>2019</a:t>
                      </a:r>
                    </a:p>
                  </a:txBody>
                  <a:tcPr>
                    <a:solidFill>
                      <a:srgbClr val="F2F2F2"/>
                    </a:solidFill>
                  </a:tcPr>
                </a:tc>
                <a:tc>
                  <a:txBody>
                    <a:bodyPr/>
                    <a:lstStyle/>
                    <a:p>
                      <a:pPr algn="ctr"/>
                      <a:r>
                        <a:rPr sz="1000" b="0" i="0">
                          <a:solidFill>
                            <a:srgbClr val="262626"/>
                          </a:solidFill>
                          <a:latin typeface="Arial"/>
                        </a:rPr>
                        <a:t>Jul 20</a:t>
                      </a:r>
                    </a:p>
                  </a:txBody>
                  <a:tcPr>
                    <a:solidFill>
                      <a:srgbClr val="F2F2F2"/>
                    </a:solidFill>
                  </a:tcPr>
                </a:tc>
                <a:tc>
                  <a:txBody>
                    <a:bodyPr/>
                    <a:lstStyle/>
                    <a:p>
                      <a:pPr algn="ctr"/>
                      <a:r>
                        <a:rPr sz="1000" b="0" i="0">
                          <a:solidFill>
                            <a:srgbClr val="262626"/>
                          </a:solidFill>
                          <a:latin typeface="Arial"/>
                        </a:rPr>
                        <a:t>16.0°*</a:t>
                      </a:r>
                    </a:p>
                  </a:txBody>
                  <a:tcPr>
                    <a:solidFill>
                      <a:srgbClr val="F2F2F2"/>
                    </a:solidFill>
                  </a:tcPr>
                </a:tc>
                <a:tc>
                  <a:txBody>
                    <a:bodyPr/>
                    <a:lstStyle/>
                    <a:p>
                      <a:pPr algn="ctr"/>
                      <a:r>
                        <a:rPr sz="1000" b="0" i="0">
                          <a:solidFill>
                            <a:srgbClr val="262626"/>
                          </a:solidFill>
                          <a:latin typeface="Arial"/>
                        </a:rPr>
                        <a:t>83%</a:t>
                      </a:r>
                    </a:p>
                  </a:txBody>
                  <a:tcPr>
                    <a:solidFill>
                      <a:srgbClr val="F2F2F2"/>
                    </a:solidFill>
                  </a:tcPr>
                </a:tc>
                <a:tc>
                  <a:txBody>
                    <a:bodyPr/>
                    <a:lstStyle/>
                    <a:p>
                      <a:pPr algn="ctr"/>
                      <a:r>
                        <a:rPr sz="1000" b="0" i="0">
                          <a:solidFill>
                            <a:srgbClr val="262626"/>
                          </a:solidFill>
                          <a:latin typeface="Arial"/>
                        </a:rPr>
                        <a:t>10</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2"/>
                  </a:ext>
                </a:extLst>
              </a:tr>
              <a:tr h="457200">
                <a:tc>
                  <a:txBody>
                    <a:bodyPr/>
                    <a:lstStyle/>
                    <a:p>
                      <a:pPr algn="ctr"/>
                      <a:r>
                        <a:rPr sz="1000" b="0" i="0">
                          <a:solidFill>
                            <a:srgbClr val="262626"/>
                          </a:solidFill>
                          <a:latin typeface="Arial"/>
                        </a:rPr>
                        <a:t>2021</a:t>
                      </a:r>
                    </a:p>
                  </a:txBody>
                  <a:tcPr>
                    <a:solidFill>
                      <a:srgbClr val="FFFFFF"/>
                    </a:solidFill>
                  </a:tcPr>
                </a:tc>
                <a:tc>
                  <a:txBody>
                    <a:bodyPr/>
                    <a:lstStyle/>
                    <a:p>
                      <a:pPr algn="ctr"/>
                      <a:r>
                        <a:rPr sz="1000" b="0" i="0">
                          <a:solidFill>
                            <a:srgbClr val="262626"/>
                          </a:solidFill>
                          <a:latin typeface="Arial"/>
                        </a:rPr>
                        <a:t>Aug 21</a:t>
                      </a:r>
                    </a:p>
                  </a:txBody>
                  <a:tcPr>
                    <a:solidFill>
                      <a:srgbClr val="FFFFFF"/>
                    </a:solidFill>
                  </a:tcPr>
                </a:tc>
                <a:tc>
                  <a:txBody>
                    <a:bodyPr/>
                    <a:lstStyle/>
                    <a:p>
                      <a:pPr algn="ctr"/>
                      <a:r>
                        <a:rPr sz="1000" b="0" i="0">
                          <a:solidFill>
                            <a:srgbClr val="262626"/>
                          </a:solidFill>
                          <a:latin typeface="Arial"/>
                        </a:rPr>
                        <a:t>12.5°*</a:t>
                      </a:r>
                    </a:p>
                  </a:txBody>
                  <a:tcPr>
                    <a:solidFill>
                      <a:srgbClr val="FFFFFF"/>
                    </a:solidFill>
                  </a:tcPr>
                </a:tc>
                <a:tc>
                  <a:txBody>
                    <a:bodyPr/>
                    <a:lstStyle/>
                    <a:p>
                      <a:pPr algn="ctr"/>
                      <a:r>
                        <a:rPr sz="1000" b="0" i="0">
                          <a:solidFill>
                            <a:srgbClr val="262626"/>
                          </a:solidFill>
                          <a:latin typeface="Arial"/>
                        </a:rPr>
                        <a:t>80%</a:t>
                      </a:r>
                    </a:p>
                  </a:txBody>
                  <a:tcPr>
                    <a:solidFill>
                      <a:srgbClr val="FFFFFF"/>
                    </a:solidFill>
                  </a:tcPr>
                </a:tc>
                <a:tc>
                  <a:txBody>
                    <a:bodyPr/>
                    <a:lstStyle/>
                    <a:p>
                      <a:pPr algn="ctr"/>
                      <a:r>
                        <a:rPr sz="1000" b="0" i="0">
                          <a:solidFill>
                            <a:srgbClr val="262626"/>
                          </a:solidFill>
                          <a:latin typeface="Arial"/>
                        </a:rPr>
                        <a:t>8</a:t>
                      </a:r>
                    </a:p>
                  </a:txBody>
                  <a:tcPr>
                    <a:solidFill>
                      <a:srgbClr val="FFFFFF"/>
                    </a:solidFill>
                  </a:tcPr>
                </a:tc>
                <a:tc>
                  <a:txBody>
                    <a:bodyPr/>
                    <a:lstStyle/>
                    <a:p>
                      <a:pPr algn="ctr"/>
                      <a:r>
                        <a:rPr sz="1000" b="0" i="0">
                          <a:solidFill>
                            <a:srgbClr val="262626"/>
                          </a:solidFill>
                          <a:latin typeface="Arial"/>
                        </a:rPr>
                        <a:t>0.0</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3"/>
                  </a:ext>
                </a:extLst>
              </a:tr>
              <a:tr h="457200">
                <a:tc>
                  <a:txBody>
                    <a:bodyPr/>
                    <a:lstStyle/>
                    <a:p>
                      <a:pPr algn="ctr"/>
                      <a:r>
                        <a:rPr sz="1000" b="0" i="0">
                          <a:solidFill>
                            <a:srgbClr val="262626"/>
                          </a:solidFill>
                          <a:latin typeface="Arial"/>
                        </a:rPr>
                        <a:t>2023</a:t>
                      </a:r>
                    </a:p>
                  </a:txBody>
                  <a:tcPr>
                    <a:solidFill>
                      <a:srgbClr val="F2F2F2"/>
                    </a:solidFill>
                  </a:tcPr>
                </a:tc>
                <a:tc>
                  <a:txBody>
                    <a:bodyPr/>
                    <a:lstStyle/>
                    <a:p>
                      <a:pPr algn="ctr"/>
                      <a:r>
                        <a:rPr sz="1000" b="0" i="0">
                          <a:solidFill>
                            <a:srgbClr val="262626"/>
                          </a:solidFill>
                          <a:latin typeface="Arial"/>
                        </a:rPr>
                        <a:t>Aug 26</a:t>
                      </a:r>
                    </a:p>
                  </a:txBody>
                  <a:tcPr>
                    <a:solidFill>
                      <a:srgbClr val="F2F2F2"/>
                    </a:solidFill>
                  </a:tcPr>
                </a:tc>
                <a:tc>
                  <a:txBody>
                    <a:bodyPr/>
                    <a:lstStyle/>
                    <a:p>
                      <a:pPr algn="ctr"/>
                      <a:r>
                        <a:rPr sz="1000" b="0" i="0">
                          <a:solidFill>
                            <a:srgbClr val="262626"/>
                          </a:solidFill>
                          <a:latin typeface="Arial"/>
                        </a:rPr>
                        <a:t>20</a:t>
                      </a:r>
                    </a:p>
                  </a:txBody>
                  <a:tcPr>
                    <a:solidFill>
                      <a:srgbClr val="F2F2F2"/>
                    </a:solidFill>
                  </a:tcPr>
                </a:tc>
                <a:tc>
                  <a:txBody>
                    <a:bodyPr/>
                    <a:lstStyle/>
                    <a:p>
                      <a:pPr algn="ctr"/>
                      <a:r>
                        <a:rPr sz="1000" b="0" i="0">
                          <a:solidFill>
                            <a:srgbClr val="262626"/>
                          </a:solidFill>
                          <a:latin typeface="Arial"/>
                        </a:rPr>
                        <a:t>82%</a:t>
                      </a:r>
                    </a:p>
                  </a:txBody>
                  <a:tcPr>
                    <a:solidFill>
                      <a:srgbClr val="F2F2F2"/>
                    </a:solidFill>
                  </a:tcPr>
                </a:tc>
                <a:tc>
                  <a:txBody>
                    <a:bodyPr/>
                    <a:lstStyle/>
                    <a:p>
                      <a:pPr algn="ctr"/>
                      <a:r>
                        <a:rPr sz="1000" b="0" i="0">
                          <a:solidFill>
                            <a:srgbClr val="262626"/>
                          </a:solidFill>
                          <a:latin typeface="Arial"/>
                        </a:rPr>
                        <a:t>9</a:t>
                      </a:r>
                    </a:p>
                  </a:txBody>
                  <a:tcPr>
                    <a:solidFill>
                      <a:srgbClr val="F2F2F2"/>
                    </a:solidFill>
                  </a:tcPr>
                </a:tc>
                <a:tc>
                  <a:txBody>
                    <a:bodyPr/>
                    <a:lstStyle/>
                    <a:p>
                      <a:pPr algn="ctr"/>
                      <a:r>
                        <a:rPr sz="1000" b="0" i="0">
                          <a:solidFill>
                            <a:srgbClr val="262626"/>
                          </a:solidFill>
                          <a:latin typeface="Arial"/>
                        </a:rPr>
                        <a:t>0.0</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ctr"/>
                      <a:r>
                        <a:rPr sz="1000" b="0" i="0">
                          <a:solidFill>
                            <a:srgbClr val="262626"/>
                          </a:solidFill>
                          <a:latin typeface="Arial"/>
                        </a:rPr>
                        <a:t>—</a:t>
                      </a:r>
                    </a:p>
                  </a:txBody>
                  <a:tcPr>
                    <a:solidFill>
                      <a:srgbClr val="F2F2F2"/>
                    </a:solidFill>
                  </a:tcPr>
                </a:tc>
                <a:tc>
                  <a:txBody>
                    <a:bodyPr/>
                    <a:lstStyle/>
                    <a:p>
                      <a:pPr algn="l"/>
                      <a:r>
                        <a:rPr sz="1000" b="0" i="0">
                          <a:solidFill>
                            <a:srgbClr val="262626"/>
                          </a:solidFill>
                          <a:latin typeface="Arial"/>
                        </a:rPr>
                        <a:t>—</a:t>
                      </a:r>
                    </a:p>
                  </a:txBody>
                  <a:tcPr>
                    <a:solidFill>
                      <a:srgbClr val="F2F2F2"/>
                    </a:solidFill>
                  </a:tcPr>
                </a:tc>
                <a:extLst>
                  <a:ext uri="{0D108BD9-81ED-4DB2-BD59-A6C34878D82A}">
                    <a16:rowId xmlns:a16="http://schemas.microsoft.com/office/drawing/2014/main" val="10004"/>
                  </a:ext>
                </a:extLst>
              </a:tr>
              <a:tr h="457200">
                <a:tc>
                  <a:txBody>
                    <a:bodyPr/>
                    <a:lstStyle/>
                    <a:p>
                      <a:pPr algn="ctr"/>
                      <a:r>
                        <a:rPr sz="1000" b="0" i="0">
                          <a:solidFill>
                            <a:srgbClr val="262626"/>
                          </a:solidFill>
                          <a:latin typeface="Arial"/>
                        </a:rPr>
                        <a:t>2024</a:t>
                      </a:r>
                    </a:p>
                  </a:txBody>
                  <a:tcPr>
                    <a:solidFill>
                      <a:srgbClr val="FFFFFF"/>
                    </a:solidFill>
                  </a:tcPr>
                </a:tc>
                <a:tc>
                  <a:txBody>
                    <a:bodyPr/>
                    <a:lstStyle/>
                    <a:p>
                      <a:pPr algn="ctr"/>
                      <a:r>
                        <a:rPr sz="1000" b="0" i="0">
                          <a:solidFill>
                            <a:srgbClr val="262626"/>
                          </a:solidFill>
                          <a:latin typeface="Arial"/>
                        </a:rPr>
                        <a:t>Aug 24</a:t>
                      </a:r>
                    </a:p>
                  </a:txBody>
                  <a:tcPr>
                    <a:solidFill>
                      <a:srgbClr val="FFFFFF"/>
                    </a:solidFill>
                  </a:tcPr>
                </a:tc>
                <a:tc>
                  <a:txBody>
                    <a:bodyPr/>
                    <a:lstStyle/>
                    <a:p>
                      <a:pPr algn="ctr"/>
                      <a:r>
                        <a:rPr sz="1000" b="0" i="0">
                          <a:solidFill>
                            <a:srgbClr val="262626"/>
                          </a:solidFill>
                          <a:latin typeface="Arial"/>
                        </a:rPr>
                        <a:t>18.2°*</a:t>
                      </a:r>
                    </a:p>
                  </a:txBody>
                  <a:tcPr>
                    <a:solidFill>
                      <a:srgbClr val="FFFFFF"/>
                    </a:solidFill>
                  </a:tcPr>
                </a:tc>
                <a:tc>
                  <a:txBody>
                    <a:bodyPr/>
                    <a:lstStyle/>
                    <a:p>
                      <a:pPr algn="ctr"/>
                      <a:r>
                        <a:rPr sz="1000" b="0" i="0">
                          <a:solidFill>
                            <a:srgbClr val="262626"/>
                          </a:solidFill>
                          <a:latin typeface="Arial"/>
                        </a:rPr>
                        <a:t>81%</a:t>
                      </a:r>
                    </a:p>
                  </a:txBody>
                  <a:tcPr>
                    <a:solidFill>
                      <a:srgbClr val="FFFFFF"/>
                    </a:solidFill>
                  </a:tcPr>
                </a:tc>
                <a:tc>
                  <a:txBody>
                    <a:bodyPr/>
                    <a:lstStyle/>
                    <a:p>
                      <a:pPr algn="ctr"/>
                      <a:r>
                        <a:rPr sz="1000" b="0" i="0">
                          <a:solidFill>
                            <a:srgbClr val="262626"/>
                          </a:solidFill>
                          <a:latin typeface="Arial"/>
                        </a:rPr>
                        <a:t>20</a:t>
                      </a:r>
                    </a:p>
                  </a:txBody>
                  <a:tcPr>
                    <a:solidFill>
                      <a:srgbClr val="FFFFFF"/>
                    </a:solidFill>
                  </a:tcPr>
                </a:tc>
                <a:tc>
                  <a:txBody>
                    <a:bodyPr/>
                    <a:lstStyle/>
                    <a:p>
                      <a:pPr algn="ctr"/>
                      <a:r>
                        <a:rPr sz="1000" b="0" i="0">
                          <a:solidFill>
                            <a:srgbClr val="262626"/>
                          </a:solidFill>
                          <a:latin typeface="Arial"/>
                        </a:rPr>
                        <a:t>0.1</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ctr"/>
                      <a:r>
                        <a:rPr sz="1000" b="0" i="0">
                          <a:solidFill>
                            <a:srgbClr val="262626"/>
                          </a:solidFill>
                          <a:latin typeface="Arial"/>
                        </a:rPr>
                        <a:t>—</a:t>
                      </a:r>
                    </a:p>
                  </a:txBody>
                  <a:tcPr>
                    <a:solidFill>
                      <a:srgbClr val="FFFFFF"/>
                    </a:solidFill>
                  </a:tcPr>
                </a:tc>
                <a:tc>
                  <a:txBody>
                    <a:bodyPr/>
                    <a:lstStyle/>
                    <a:p>
                      <a:pPr algn="l"/>
                      <a:r>
                        <a:rPr sz="1000" b="0" i="0">
                          <a:solidFill>
                            <a:srgbClr val="262626"/>
                          </a:solidFill>
                          <a:latin typeface="Arial"/>
                        </a:rPr>
                        <a:t>—</a:t>
                      </a:r>
                    </a:p>
                  </a:txBody>
                  <a:tcPr>
                    <a:solidFill>
                      <a:srgbClr val="FFFFFF"/>
                    </a:solidFill>
                  </a:tcPr>
                </a:tc>
                <a:extLst>
                  <a:ext uri="{0D108BD9-81ED-4DB2-BD59-A6C34878D82A}">
                    <a16:rowId xmlns:a16="http://schemas.microsoft.com/office/drawing/2014/main" val="10005"/>
                  </a:ext>
                </a:extLst>
              </a:tr>
            </a:tbl>
          </a:graphicData>
        </a:graphic>
      </p:graphicFrame>
      <p:sp>
        <p:nvSpPr>
          <p:cNvPr id="9" name="TextBox 8"/>
          <p:cNvSpPr txBox="1"/>
          <p:nvPr/>
        </p:nvSpPr>
        <p:spPr>
          <a:xfrm>
            <a:off x="274320" y="6035040"/>
            <a:ext cx="11640312" cy="658368"/>
          </a:xfrm>
          <a:prstGeom prst="rect">
            <a:avLst/>
          </a:prstGeom>
          <a:noFill/>
        </p:spPr>
        <p:txBody>
          <a:bodyPr wrap="square">
            <a:spAutoFit/>
          </a:bodyPr>
          <a:lstStyle/>
          <a:p>
            <a:pPr algn="l"/>
            <a:r>
              <a:rPr sz="900" b="0" i="1">
                <a:solidFill>
                  <a:srgbClr val="BFBFBF"/>
                </a:solidFill>
                <a:latin typeface="Arial"/>
              </a:rPr>
              <a:t>Air temp, humidity, wind, and precipitation sourced from Open-Meteo historical archive (race window 08:00–11:00 local) where WT API data is absent. Values marked * are Open-Meteo estimates. Water temp and wetsuit ruling are from the World Triathlon API per program.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331</TotalTime>
  <Words>5135</Words>
  <Application>Microsoft Office PowerPoint</Application>
  <PresentationFormat>Custom</PresentationFormat>
  <Paragraphs>1577</Paragraphs>
  <Slides>30</Slides>
  <Notes>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High</cp:lastModifiedBy>
  <cp:revision>1</cp:revision>
  <dcterms:created xsi:type="dcterms:W3CDTF">2013-01-27T09:14:16Z</dcterms:created>
  <dcterms:modified xsi:type="dcterms:W3CDTF">2026-07-14T01:44:03Z</dcterms:modified>
  <cp:category/>
</cp:coreProperties>
</file>