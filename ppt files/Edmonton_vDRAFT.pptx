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EDMONTON RACE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Elite Analysis  ·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EDMONTON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2-3 sentences on what makes Edmonton unique as a race venue — geography, setting, and character.]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1 — swim character]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2 — bike character]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001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3 — run character]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4 — conditions]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20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8541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23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Sprint Triathlon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Race Info | Edmonton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Course Profile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upcoming course map or race photo here]
Right-click → Replace Image, or paste screenshot
of the World Triathlon course map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[PLACEHOLDER: World Triathlon event page URL]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previous year course map or race photo here]
Right-click → Replace Image, or paste screenshot
of the World Triathlon course map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2025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https://www.triathlon.org/events/event/2024_americas_triathlon_cup_edmonton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956048"/>
          <a:ext cx="116403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914400"/>
                <a:gridCol w="7708392"/>
              </a:tblGrid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Discipline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Laps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Terrain / 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Open-water, Bay of Edmonton]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20.0 km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coastal road circuit, closed course]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multi-lap, cobblestone city-centre finish]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70432"/>
          <a:ext cx="4709158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/>
                <a:gridCol w="800557"/>
                <a:gridCol w="894740"/>
                <a:gridCol w="800557"/>
                <a:gridCol w="800557"/>
                <a:gridCol w="800557"/>
              </a:tblGrid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1078992"/>
            <a:ext cx="470916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88136"/>
            <a:ext cx="45720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RACE-DAY WEATHER (08:00–11:00 local)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66360" y="1170432"/>
          <a:ext cx="4069078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/>
                <a:gridCol w="823504"/>
                <a:gridCol w="726621"/>
                <a:gridCol w="823504"/>
                <a:gridCol w="1065711"/>
              </a:tblGrid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12080" y="1088136"/>
            <a:ext cx="3931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AIR QUALITY (Open-Meteo archive)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13048"/>
            <a:ext cx="11640312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83133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97096"/>
            <a:ext cx="11430000" cy="619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Quality: [PLACEHOLDER: Historical water quality data for Edmonton — e.g. bacterial counts, EU Bathing Water Directive status, known algae / pollution events. Check local environmental agency reports for May race window.]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16602"/>
            <a:ext cx="11430000" cy="619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Athlete Health Incidents: [PLACEHOLDER: Any known GI illness, respiratory, or heat-related incidents at this or comparable venues. E.g. Sunderland 2023 — reported GI illness post-swim for multiple athletes.]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436108"/>
            <a:ext cx="11430000" cy="619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Temperature: [PLACEHOLDER: Historical open-water temperature for Edmonton in May (not available from Open-Meteo; check Copernicus Marine / NOAA or WT historical results).]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55614"/>
            <a:ext cx="11430000" cy="619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Heat / Humidity Risk: Auto-derived from above table — flag if humidity &gt;70% or air temp &gt;25°C at race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to Watch — Edmonton Race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by World Ranking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65960"/>
          <a:ext cx="548640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Vasco Vilaca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Miguel Hidalgo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6,703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Matthew Hauser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Henry Graf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5,726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David Cantero Del 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Csongor Lehmann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5,030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Dorian Coninx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Luke Willian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4,534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Ricardo Batista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5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Alessio Crociani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3,921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5056632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07492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Last Year's Podium at Edmonton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4223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  <a:latin typeface="Arial"/>
              </a:rPr>
              <a:t>1.  Daniel Damian   (00:50:06)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7150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2.  Sullivan Middaugh   (00:50:08)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0076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3.  Nicholas Holmes   (00:50:10)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by World Ranking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17920" y="1965960"/>
          <a:ext cx="548640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Beth Potter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Lisa Tertsch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6,914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Jeanne Lehair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Leonie Periault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6,170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Cassandre Beaugrand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Jolien Vermeylen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5,111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Emma Lombardi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4,767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Diana Isakova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5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Bianca Seregni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4,659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217920" y="5056632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507492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Last Year's Podium at Edmonton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4223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  <a:latin typeface="Arial"/>
              </a:rPr>
              <a:t>1.  Lydia Russell   (00:56:04)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7150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2.  Danielle Orie   (00:56:14)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60076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3.  Desirae Ridenour   (00:56:31)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Rankings = current World Triathlon rankings snapshot; startlist intersect uses program_entries when 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Top Swim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40312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2060"/>
                </a:solidFill>
                <a:latin typeface="Arial"/>
              </a:rPr>
              <a:t>Ranked by EWMA swim split (span-5, most recent)   •   Lead Pack % = within 15 s of swim leader   •   WTCS / Championship Finals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828800"/>
          <a:ext cx="5807351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/>
                <a:gridCol w="1902866"/>
                <a:gridCol w="1025042"/>
                <a:gridCol w="1025042"/>
                <a:gridCol w="975664"/>
                <a:gridCol w="536752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Jan Diener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Kauê Willy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+21.5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Gjalt Panjer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Kyle Smith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+28.0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Jannik Schaufler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Brayden Mercer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+10.5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James Edgar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26480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80" y="1828800"/>
          <a:ext cx="5807351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/>
                <a:gridCol w="1902866"/>
                <a:gridCol w="1025042"/>
                <a:gridCol w="1025042"/>
                <a:gridCol w="975664"/>
                <a:gridCol w="536752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Cecilia Perez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Carlotta Missaglia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Karolina Helga Horváth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Sandra Dodet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+40.5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Nele Dequae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Margot Garabedian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+25.5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Julia Bröcker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74320" y="40690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0965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U23 MEN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4389120"/>
          <a:ext cx="5807351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/>
                <a:gridCol w="1902866"/>
                <a:gridCol w="1025042"/>
                <a:gridCol w="1025042"/>
                <a:gridCol w="975664"/>
                <a:gridCol w="536752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Pavel Sorokin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Jules Rethoret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+11.5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Esteban Basanta Fouz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Mitch Kolkman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+10.8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Nicolas Probert Vargas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Sebastian Wernersen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Alessio Crociani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126480" y="40690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0965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U23 WOMEN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26480" y="4389120"/>
          <a:ext cx="5807351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/>
                <a:gridCol w="1902866"/>
                <a:gridCol w="1025042"/>
                <a:gridCol w="1025042"/>
                <a:gridCol w="975664"/>
                <a:gridCol w="536752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Tara Sosinski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Angelica Prestia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+9.5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Sophia Howell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Selina Klamt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+19.5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Jessica Fullagar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Ilona Hadhoum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Heidi Juránková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USA World Rankings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As of 2026-07-06   •   World Triathlon Rankings   •   Heading into Edmonton   •   Race tier: WTCS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Max Points Available at this Race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Arial"/>
              </a:rPr>
              <a:t>1,000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2108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2108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Podium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2108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855 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9896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9896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9896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732 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7684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7684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7684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495 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45472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45472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5472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335 pts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13260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13260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13260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FBFBF"/>
                </a:solidFill>
                <a:latin typeface="Arial"/>
              </a:rPr>
              <a:t>227 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060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6334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74320" y="2935224"/>
          <a:ext cx="5787236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/>
                <a:gridCol w="2531973"/>
                <a:gridCol w="1145743"/>
                <a:gridCol w="662940"/>
                <a:gridCol w="662940"/>
              </a:tblGrid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Morgan Pearson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1,839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Keller Norland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Porter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1,330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Carter Stuhlmacher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Luke Anthony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Matthew McGoey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6126480" y="26060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26334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126480" y="2935224"/>
          <a:ext cx="5787236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/>
                <a:gridCol w="2531973"/>
                <a:gridCol w="1145743"/>
                <a:gridCol w="662940"/>
                <a:gridCol w="662940"/>
              </a:tblGrid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2,432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Erika Ackerlund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1,988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Ellison Wolfe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Katie McCune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Olympic Qualification 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66476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Paris 2024 OQR cutoff (30th): 3,626.69 pts   ÷   12-event cap =   302 pts / event on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584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An athlete who averages ~302 pts per event across their best 12 events is on pace to clear the LA 2028 qualifying threshold.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1234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397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FINISH POSITION AT EACH TIER THAT HITS 302-PT PACE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196388"/>
          <a:ext cx="1164030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9178"/>
                <a:gridCol w="1375257"/>
                <a:gridCol w="2200046"/>
                <a:gridCol w="2749600"/>
                <a:gridCol w="916228"/>
              </a:tblGrid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Win pts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Last on-pace pos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First off-pace pos (pts)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#17 (287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#8 (290 pts)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Championships (Americas)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#10 (293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Cup (Americas)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None (win = 280)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Arial"/>
                        </a:rPr>
                        <a:t>Not achievable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74320" y="36118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6393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MEN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3931920"/>
          <a:ext cx="580644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920240"/>
                <a:gridCol w="731520"/>
                <a:gridCol w="502920"/>
                <a:gridCol w="411480"/>
                <a:gridCol w="411480"/>
                <a:gridCol w="685800"/>
                <a:gridCol w="731520"/>
              </a:tblGrid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Pace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Proj @12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3,059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4,063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6,953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3,209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Keller Norland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6,234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2,621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Cole Jamieson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2,038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Porter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126480" y="36118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6393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WOMEN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126480" y="3931920"/>
          <a:ext cx="580644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920240"/>
                <a:gridCol w="731520"/>
                <a:gridCol w="502920"/>
                <a:gridCol w="411480"/>
                <a:gridCol w="411480"/>
                <a:gridCol w="685800"/>
                <a:gridCol w="731520"/>
              </a:tblGrid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Pace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Proj @12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5,526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4,226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6,953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5,949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5,526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2,014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74320" y="64190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On = events scoring ≥ pace.  Off = events &lt; pace.  Pace = total breakdown pts ÷ events raced.  Proj @12 = current total + (avg pts × remaining events to cap); green if ≥ Paris cutoff.  Cutoff estimate: Paris 2024 = 3,627 pts / 12 events = 302 pts/event.  Tier positions use a geometric 0.925 points model.  Source: World Triathlon rankings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USA Olympic Qualification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As of 2026-07-06   •   Olympic Qualification Rankings (LA 2028 cycle)   •   Heading into Edmonton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190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2020824"/>
          <a:ext cx="5787236" cy="2912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/>
                <a:gridCol w="2531973"/>
                <a:gridCol w="1136599"/>
                <a:gridCol w="672084"/>
                <a:gridCol w="662940"/>
              </a:tblGrid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Second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First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Keller Norland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Cole Jamieson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Porter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Carter Stuhlmacher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26480" y="16916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190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80" y="2020824"/>
          <a:ext cx="5787236" cy="2912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/>
                <a:gridCol w="2531973"/>
                <a:gridCol w="1136599"/>
                <a:gridCol w="672084"/>
                <a:gridCol w="662940"/>
              </a:tblGrid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Second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First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74320" y="64190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Rankings: latest weekly snapshot.  Second / First = events counted in the second vs first scoring period of the LA 2028 OQR cycle.  Because the cycle is still in its first year, most results appear under First.  Source: World Triathlon rankings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Overview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0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RACE HISTORY AT EDMONTON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6400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The Elite Men race at Edmonton has been held 5 times in this analysis window (2018–2024). The event is staged as part of the World Championship Series / World Championships, World Championship Series calendar.
[PLACEHOLDER: Add 1–2 sentences on notable storylines, competitive history, or what makes this event significant for Elite Men athletes. E.g. defending champions, record performances, dramatic finishes.]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97280"/>
            <a:ext cx="4983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115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3 KEYS TO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3619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Fast swimming is decisive — only ~13 athletes typically leave the water together. A strong swim directly builds a race-winning gap before T1.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24612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Key 2 — Describe bike strategy: is this a pack race or do breakaways form? What power/tactics are needed to stay in the lead group?]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93776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91947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Run speed separates the podium — the fastest run pace averages ~1:48/km with a ~115s spread between fastest and average finisher. Either a pre-built lead from the bike or exceptional run speed is required to win.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Results Summary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82"/>
                <a:gridCol w="957428"/>
                <a:gridCol w="1914856"/>
                <a:gridCol w="554300"/>
                <a:gridCol w="755864"/>
                <a:gridCol w="2015638"/>
                <a:gridCol w="1007819"/>
                <a:gridCol w="806255"/>
                <a:gridCol w="856646"/>
                <a:gridCol w="705473"/>
                <a:gridCol w="705473"/>
                <a:gridCol w="705473"/>
              </a:tblGrid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DNF/LAP/DNS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Swim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Bike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Run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Mola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51:15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Brownlee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54:52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Aug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Championships, 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Blummenfelt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1:44:14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Aug 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Cup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Briand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49:39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18.8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Aug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Cup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Damian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50:06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92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* Course distance changed vs. prior year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Exit Dynamics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Pack Evolution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262626"/>
                </a:solidFill>
                <a:latin typeface="Arial"/>
              </a:rPr>
              <a:t>Lead pack = athletes within 15 sec of leader. T1 = lead group entering the bike; T2 = lead group exiting the bike.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11640312" cy="37490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5285232"/>
          <a:ext cx="1164031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1828800"/>
                <a:gridCol w="1188720"/>
                <a:gridCol w="2286000"/>
                <a:gridCol w="3822191"/>
              </a:tblGrid>
              <a:tr h="2362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Group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Gap*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3622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110s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622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78s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82s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622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Lead pack = athletes within 15 sec of leader. Chase group = athletes within 15 sec of the first athlete outside the lead pack. * Chase Gap = seconds from the last lead-pack athlete to the first chase-group athlete at T2.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720840"/>
            <a:ext cx="1164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FBFBF"/>
                </a:solidFill>
                <a:latin typeface="Arial"/>
              </a:rPr>
              <a:t>Dropouts: 2018: 9 DNF/LAP (2 in lead group at bike)  |  2019: 15 DNF/LAP  |  2021: 6 DNF/LAP  |  2023: 3 DNF/LAP (1 in lead group at t1)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Split Analysis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112471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Position Times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30175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187952"/>
          <a:ext cx="1164031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33372"/>
                <a:gridCol w="1833372"/>
                <a:gridCol w="1833372"/>
                <a:gridCol w="1833372"/>
                <a:gridCol w="1833372"/>
                <a:gridCol w="1833372"/>
              </a:tblGrid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5th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51:18
+3s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51:22
+7s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51:25
+10s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52:13
+58s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52:55
+100s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54:57
+5s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55:02
+10s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55:13
+21s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55:38
+46s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56:09
+77s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1:44:14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1:44:14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1:44:15
+1s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1:44:24
+10s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1:44:52
+38s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1:46:19
+125s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49:39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49:56
+17s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50:10
+31s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50:54
+75s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51:18
+99s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53:25
+226s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50:08
+2s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50:10
+4s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50:31
+25s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51:24
+78s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53:31
+205s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Conditions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571"/>
                <a:gridCol w="864604"/>
                <a:gridCol w="910110"/>
                <a:gridCol w="819099"/>
                <a:gridCol w="910110"/>
                <a:gridCol w="864604"/>
                <a:gridCol w="864604"/>
                <a:gridCol w="819099"/>
                <a:gridCol w="4996506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Wind (km/h)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Precip (mm)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Wetsuit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03504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Arial"/>
              </a:rPr>
              <a:t>Air temp, humidity, wind, and precipitation sourced from Open-Meteo historical archive (race window 08:00–11:00 local) where WT API data is absent. Values marked * are Open-Meteo estimates. Water temp and wetsuit ruling are from the World Triathlon API per program.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Overview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0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RACE HISTORY AT EDMONTON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6400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The Elite Women race at Edmonton has been held 5 times in this analysis window (2018–2024). The event is staged as part of the World Championship Series / World Championships, World Championship Series calendar.
[PLACEHOLDER: Add 1–2 sentences on notable storylines, competitive history, or what makes this event significant for Elite Women athletes. E.g. defending champions, record performances, dramatic finishes.]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97280"/>
            <a:ext cx="4983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115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3 KEYS TO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3619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Fast swimming is decisive — only ~11 athletes typically leave the water together. A strong swim directly builds a race-winning gap before T1.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24612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Key 2 — Describe bike strategy: is this a pack race or do breakaways form? What power/tactics are needed to stay in the lead group?]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93776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91947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Run speed separates the podium — the fastest run pace averages ~2:02/km with a ~131s spread between fastest and average finisher. Either a pre-built lead from the bike or exceptional run speed is required to win.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Results Summary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82"/>
                <a:gridCol w="957428"/>
                <a:gridCol w="1914856"/>
                <a:gridCol w="554300"/>
                <a:gridCol w="755864"/>
                <a:gridCol w="2015638"/>
                <a:gridCol w="1007819"/>
                <a:gridCol w="806255"/>
                <a:gridCol w="856646"/>
                <a:gridCol w="705473"/>
                <a:gridCol w="705473"/>
                <a:gridCol w="705473"/>
              </a:tblGrid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DNF/LAP/DNS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Swim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Bike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Run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Holland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56:51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Jackson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1:01:23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Aug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Championships, 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1:54:47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Aug 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Cup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Casas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56:27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18.8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Aug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Cup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Russell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56:04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92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* Course distance changed vs. prior year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Exit Dynamics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Pack Evolution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262626"/>
                </a:solidFill>
                <a:latin typeface="Arial"/>
              </a:rPr>
              <a:t>Lead pack = athletes within 15 sec of leader. T1 = lead group entering the bike; T2 = lead group exiting the bike.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11640312" cy="37490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5285232"/>
          <a:ext cx="1164031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1828800"/>
                <a:gridCol w="1188720"/>
                <a:gridCol w="2286000"/>
                <a:gridCol w="3822191"/>
              </a:tblGrid>
              <a:tr h="2362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Group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Gap*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3622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86s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622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169s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95s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622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66s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Lead pack = athletes within 15 sec of leader. Chase group = athletes within 15 sec of the first athlete outside the lead pack. * Chase Gap = seconds from the last lead-pack athlete to the first chase-group athlete at T2.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720840"/>
            <a:ext cx="1164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FBFBF"/>
                </a:solidFill>
                <a:latin typeface="Arial"/>
              </a:rPr>
              <a:t>Dropouts: 2018: 13 DNF/LAP (1 in lead group at t1)  |  2019: 3 DNF/LAP (1 in lead group at bike)  |  2021: 5 DNF/LAP  |  2023: 3 DNF/LAP (2 in lead group at swim, t1)  |  2024: 1 DNF/LAP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Split Analysis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112471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Position Times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30175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187952"/>
          <a:ext cx="1164031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33372"/>
                <a:gridCol w="1833372"/>
                <a:gridCol w="1833372"/>
                <a:gridCol w="1833372"/>
                <a:gridCol w="1833372"/>
                <a:gridCol w="1833372"/>
              </a:tblGrid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5th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57:02
+11s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57:08
+17s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57:14
+23s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57:50
+59s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59:19
+148s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1:01:25
+2s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1:01:27
+4s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1:01:47
+24s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1:02:09
+46s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1:03:39
+136s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1:54:47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1:55:43
+56s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1:56:11
+84s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1:56:16
+89s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1:57:47
+180s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1:59:55
+308s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57:17
+50s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57:21
+54s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57:32
+65s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1:00:38
+251s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1:07:32
+665s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56:14
+10s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56:31
+27s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56:58
+54s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58:20
+136s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1:00:49
+285s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Conditions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571"/>
                <a:gridCol w="864604"/>
                <a:gridCol w="910110"/>
                <a:gridCol w="819099"/>
                <a:gridCol w="910110"/>
                <a:gridCol w="864604"/>
                <a:gridCol w="864604"/>
                <a:gridCol w="819099"/>
                <a:gridCol w="4996506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Wind (km/h)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Precip (mm)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Wetsuit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03504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Arial"/>
              </a:rPr>
              <a:t>Air temp, humidity, wind, and precipitation sourced from Open-Meteo historical archive (race window 08:00–11:00 local) where WT API data is absent. Values marked * are Open-Meteo estimates. Water temp and wetsuit ruling are from the World Triathlon API per program.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