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6" r:id="rId10"/>
    <p:sldId id="267" r:id="rId11"/>
    <p:sldId id="268" r:id="rId12"/>
    <p:sldId id="269" r:id="rId13"/>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7" d="100"/>
          <a:sy n="77" d="100"/>
        </p:scale>
        <p:origin x="648" y="18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events.triathlon.org/2026-world-triathlon-cup-asuncion/race-info" TargetMode="External"/><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1430000" y="0"/>
            <a:ext cx="758952" cy="685800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57200" y="3749039"/>
            <a:ext cx="10789920" cy="5486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548640" y="365760"/>
            <a:ext cx="1920240" cy="1463040"/>
          </a:xfrm>
          <a:prstGeom prst="rect">
            <a:avLst/>
          </a:prstGeom>
        </p:spPr>
      </p:pic>
      <p:sp>
        <p:nvSpPr>
          <p:cNvPr id="6" name="TextBox 5"/>
          <p:cNvSpPr txBox="1"/>
          <p:nvPr/>
        </p:nvSpPr>
        <p:spPr>
          <a:xfrm>
            <a:off x="457200" y="1828800"/>
            <a:ext cx="10789920" cy="1280160"/>
          </a:xfrm>
          <a:prstGeom prst="rect">
            <a:avLst/>
          </a:prstGeom>
          <a:noFill/>
        </p:spPr>
        <p:txBody>
          <a:bodyPr wrap="square">
            <a:spAutoFit/>
          </a:bodyPr>
          <a:lstStyle/>
          <a:p>
            <a:pPr algn="ctr"/>
            <a:r>
              <a:rPr sz="5400" b="1" i="0">
                <a:solidFill>
                  <a:srgbClr val="FFFFFF"/>
                </a:solidFill>
                <a:latin typeface="Arial"/>
              </a:rPr>
              <a:t>ASUNCION RACE PREVIEW</a:t>
            </a:r>
          </a:p>
        </p:txBody>
      </p:sp>
      <p:sp>
        <p:nvSpPr>
          <p:cNvPr id="7" name="TextBox 6"/>
          <p:cNvSpPr txBox="1"/>
          <p:nvPr/>
        </p:nvSpPr>
        <p:spPr>
          <a:xfrm>
            <a:off x="457200" y="3931920"/>
            <a:ext cx="10789920" cy="548640"/>
          </a:xfrm>
          <a:prstGeom prst="rect">
            <a:avLst/>
          </a:prstGeom>
          <a:noFill/>
        </p:spPr>
        <p:txBody>
          <a:bodyPr wrap="square">
            <a:spAutoFit/>
          </a:bodyPr>
          <a:lstStyle/>
          <a:p>
            <a:pPr algn="ctr"/>
            <a:r>
              <a:rPr sz="1800" b="0" i="0">
                <a:solidFill>
                  <a:srgbClr val="AABBDD"/>
                </a:solidFill>
                <a:latin typeface="Arial"/>
              </a:rPr>
              <a:t>Elite Analysis  ·  August 4 – 9, 2026</a:t>
            </a:r>
          </a:p>
        </p:txBody>
      </p:sp>
      <p:sp>
        <p:nvSpPr>
          <p:cNvPr id="8" name="TextBox 7"/>
          <p:cNvSpPr txBox="1"/>
          <p:nvPr/>
        </p:nvSpPr>
        <p:spPr>
          <a:xfrm>
            <a:off x="457200" y="4572000"/>
            <a:ext cx="10789920" cy="457200"/>
          </a:xfrm>
          <a:prstGeom prst="rect">
            <a:avLst/>
          </a:prstGeom>
          <a:noFill/>
        </p:spPr>
        <p:txBody>
          <a:bodyPr wrap="square">
            <a:spAutoFit/>
          </a:bodyPr>
          <a:lstStyle/>
          <a:p>
            <a:pPr algn="ctr"/>
            <a:r>
              <a:rPr sz="1400" b="0" i="0">
                <a:solidFill>
                  <a:srgbClr val="8090B0"/>
                </a:solidFill>
                <a:latin typeface="Arial"/>
              </a:rPr>
              <a:t>USA Triathlon High Performance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 Week Schedule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300" b="1" i="0">
                <a:solidFill>
                  <a:srgbClr val="002060"/>
                </a:solidFill>
                <a:latin typeface="Arial"/>
              </a:rPr>
              <a:t>August 4 – 9, 2026   •   La Isla del Delta, Nueva Asunción (guide states UTC-4; verify — Paraguay moved to permanent UTC-3 in 2024)</a:t>
            </a:r>
          </a:p>
        </p:txBody>
      </p:sp>
      <p:sp>
        <p:nvSpPr>
          <p:cNvPr id="10" name="Rectangle 9"/>
          <p:cNvSpPr/>
          <p:nvPr/>
        </p:nvSpPr>
        <p:spPr>
          <a:xfrm>
            <a:off x="274320"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728216"/>
            <a:ext cx="2555748" cy="201168"/>
          </a:xfrm>
          <a:prstGeom prst="rect">
            <a:avLst/>
          </a:prstGeom>
          <a:noFill/>
        </p:spPr>
        <p:txBody>
          <a:bodyPr wrap="square">
            <a:spAutoFit/>
          </a:bodyPr>
          <a:lstStyle/>
          <a:p>
            <a:pPr algn="ctr"/>
            <a:r>
              <a:rPr sz="1200" b="1" i="0">
                <a:solidFill>
                  <a:srgbClr val="FFFFFF"/>
                </a:solidFill>
                <a:latin typeface="Arial"/>
              </a:rPr>
              <a:t>Tue-Fri • Aug 4-7</a:t>
            </a:r>
          </a:p>
        </p:txBody>
      </p:sp>
      <p:sp>
        <p:nvSpPr>
          <p:cNvPr id="12" name="TextBox 11"/>
          <p:cNvSpPr txBox="1"/>
          <p:nvPr/>
        </p:nvSpPr>
        <p:spPr>
          <a:xfrm>
            <a:off x="365760" y="1929384"/>
            <a:ext cx="2555748" cy="201168"/>
          </a:xfrm>
          <a:prstGeom prst="rect">
            <a:avLst/>
          </a:prstGeom>
          <a:noFill/>
        </p:spPr>
        <p:txBody>
          <a:bodyPr wrap="square">
            <a:spAutoFit/>
          </a:bodyPr>
          <a:lstStyle/>
          <a:p>
            <a:pPr algn="ctr"/>
            <a:r>
              <a:rPr sz="950" b="0" i="1">
                <a:solidFill>
                  <a:srgbClr val="AABBDD"/>
                </a:solidFill>
                <a:latin typeface="Arial"/>
              </a:rPr>
              <a:t>Non-Official Training</a:t>
            </a:r>
          </a:p>
        </p:txBody>
      </p:sp>
      <p:graphicFrame>
        <p:nvGraphicFramePr>
          <p:cNvPr id="13" name="Table 12"/>
          <p:cNvGraphicFramePr>
            <a:graphicFrameLocks noGrp="1"/>
          </p:cNvGraphicFramePr>
          <p:nvPr/>
        </p:nvGraphicFramePr>
        <p:xfrm>
          <a:off x="274320" y="2240280"/>
          <a:ext cx="2738627" cy="210312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07:00 – 11:00</a:t>
                      </a:r>
                    </a:p>
                  </a:txBody>
                  <a:tcPr>
                    <a:solidFill>
                      <a:srgbClr val="F2F2F2"/>
                    </a:solidFill>
                  </a:tcPr>
                </a:tc>
                <a:tc>
                  <a:txBody>
                    <a:bodyPr/>
                    <a:lstStyle/>
                    <a:p>
                      <a:pPr algn="l"/>
                      <a:r>
                        <a:rPr sz="1000" b="0" i="0">
                          <a:solidFill>
                            <a:srgbClr val="262626"/>
                          </a:solidFill>
                          <a:latin typeface="Arial"/>
                        </a:rPr>
                        <a:t>Swim — COP Olympic Aquatic Centre</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14:00 – 16:00</a:t>
                      </a:r>
                    </a:p>
                  </a:txBody>
                  <a:tcPr>
                    <a:solidFill>
                      <a:srgbClr val="FFFFFF"/>
                    </a:solidFill>
                  </a:tcPr>
                </a:tc>
                <a:tc>
                  <a:txBody>
                    <a:bodyPr/>
                    <a:lstStyle/>
                    <a:p>
                      <a:pPr algn="l"/>
                      <a:r>
                        <a:rPr sz="1000" b="0" i="0">
                          <a:solidFill>
                            <a:srgbClr val="262626"/>
                          </a:solidFill>
                          <a:latin typeface="Arial"/>
                        </a:rPr>
                        <a:t>Run — COP Athletics Track</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(any time)</a:t>
                      </a:r>
                    </a:p>
                  </a:txBody>
                  <a:tcPr>
                    <a:solidFill>
                      <a:srgbClr val="F2F2F2"/>
                    </a:solidFill>
                  </a:tcPr>
                </a:tc>
                <a:tc>
                  <a:txBody>
                    <a:bodyPr/>
                    <a:lstStyle/>
                    <a:p>
                      <a:pPr algn="l"/>
                      <a:r>
                        <a:rPr sz="1000" b="0" i="0">
                          <a:solidFill>
                            <a:srgbClr val="262626"/>
                          </a:solidFill>
                          <a:latin typeface="Arial"/>
                        </a:rPr>
                        <a:t>Bike/run — Costanera Norte is the only recommended road option</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a:t>
                      </a:r>
                    </a:p>
                  </a:txBody>
                  <a:tcPr>
                    <a:solidFill>
                      <a:srgbClr val="FFFFFF"/>
                    </a:solidFill>
                  </a:tcPr>
                </a:tc>
                <a:tc>
                  <a:txBody>
                    <a:bodyPr/>
                    <a:lstStyle/>
                    <a:p>
                      <a:pPr algn="l"/>
                      <a:r>
                        <a:rPr sz="1000" b="0" i="0" dirty="0">
                          <a:solidFill>
                            <a:srgbClr val="262626"/>
                          </a:solidFill>
                          <a:latin typeface="Arial"/>
                        </a:rPr>
                        <a:t>⚠ Race venue CLOSED all week: no course access until Saturday</a:t>
                      </a:r>
                    </a:p>
                  </a:txBody>
                  <a:tcPr>
                    <a:solidFill>
                      <a:srgbClr val="FFFFFF"/>
                    </a:solidFill>
                  </a:tcPr>
                </a:tc>
                <a:extLst>
                  <a:ext uri="{0D108BD9-81ED-4DB2-BD59-A6C34878D82A}">
                    <a16:rowId xmlns:a16="http://schemas.microsoft.com/office/drawing/2014/main" val="10003"/>
                  </a:ext>
                </a:extLst>
              </a:tr>
            </a:tbl>
          </a:graphicData>
        </a:graphic>
      </p:graphicFrame>
      <p:sp>
        <p:nvSpPr>
          <p:cNvPr id="14" name="Rectangle 13"/>
          <p:cNvSpPr/>
          <p:nvPr/>
        </p:nvSpPr>
        <p:spPr>
          <a:xfrm>
            <a:off x="3241548"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32988" y="1728216"/>
            <a:ext cx="2555748" cy="201168"/>
          </a:xfrm>
          <a:prstGeom prst="rect">
            <a:avLst/>
          </a:prstGeom>
          <a:noFill/>
        </p:spPr>
        <p:txBody>
          <a:bodyPr wrap="square">
            <a:spAutoFit/>
          </a:bodyPr>
          <a:lstStyle/>
          <a:p>
            <a:pPr algn="ctr"/>
            <a:r>
              <a:rPr sz="1200" b="1" i="0">
                <a:solidFill>
                  <a:srgbClr val="FFFFFF"/>
                </a:solidFill>
                <a:latin typeface="Arial"/>
              </a:rPr>
              <a:t>Sat • Aug 8</a:t>
            </a:r>
          </a:p>
        </p:txBody>
      </p:sp>
      <p:sp>
        <p:nvSpPr>
          <p:cNvPr id="16" name="TextBox 15"/>
          <p:cNvSpPr txBox="1"/>
          <p:nvPr/>
        </p:nvSpPr>
        <p:spPr>
          <a:xfrm>
            <a:off x="3332988" y="1929384"/>
            <a:ext cx="2555748" cy="201168"/>
          </a:xfrm>
          <a:prstGeom prst="rect">
            <a:avLst/>
          </a:prstGeom>
          <a:noFill/>
        </p:spPr>
        <p:txBody>
          <a:bodyPr wrap="square">
            <a:spAutoFit/>
          </a:bodyPr>
          <a:lstStyle/>
          <a:p>
            <a:pPr algn="ctr"/>
            <a:r>
              <a:rPr sz="950" b="0" i="1">
                <a:solidFill>
                  <a:srgbClr val="AABBDD"/>
                </a:solidFill>
                <a:latin typeface="Arial"/>
              </a:rPr>
              <a:t>Familiarization &amp; Briefing</a:t>
            </a:r>
          </a:p>
        </p:txBody>
      </p:sp>
      <p:graphicFrame>
        <p:nvGraphicFramePr>
          <p:cNvPr id="17" name="Table 16"/>
          <p:cNvGraphicFramePr>
            <a:graphicFrameLocks noGrp="1"/>
          </p:cNvGraphicFramePr>
          <p:nvPr/>
        </p:nvGraphicFramePr>
        <p:xfrm>
          <a:off x="3241548" y="2240280"/>
          <a:ext cx="2738627" cy="301752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07:00 – 07:15</a:t>
                      </a:r>
                    </a:p>
                  </a:txBody>
                  <a:tcPr>
                    <a:solidFill>
                      <a:srgbClr val="F2F2F2"/>
                    </a:solidFill>
                  </a:tcPr>
                </a:tc>
                <a:tc>
                  <a:txBody>
                    <a:bodyPr/>
                    <a:lstStyle/>
                    <a:p>
                      <a:pPr algn="l"/>
                      <a:r>
                        <a:rPr sz="1000" b="0" i="0">
                          <a:solidFill>
                            <a:srgbClr val="262626"/>
                          </a:solidFill>
                          <a:latin typeface="Arial"/>
                        </a:rPr>
                        <a:t>Call time at Hotel Esplendor</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08:35 – 08:40</a:t>
                      </a:r>
                    </a:p>
                  </a:txBody>
                  <a:tcPr>
                    <a:solidFill>
                      <a:srgbClr val="FFFFFF"/>
                    </a:solidFill>
                  </a:tcPr>
                </a:tc>
                <a:tc>
                  <a:txBody>
                    <a:bodyPr/>
                    <a:lstStyle/>
                    <a:p>
                      <a:pPr algn="l"/>
                      <a:r>
                        <a:rPr sz="1000" b="0" i="0">
                          <a:solidFill>
                            <a:srgbClr val="262626"/>
                          </a:solidFill>
                          <a:latin typeface="Arial"/>
                        </a:rPr>
                        <a:t>Departure from hotel  →  arrive El Delta 09:20-09:30</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10:00 – 10:30</a:t>
                      </a:r>
                    </a:p>
                  </a:txBody>
                  <a:tcPr>
                    <a:solidFill>
                      <a:srgbClr val="F2F2F2"/>
                    </a:solidFill>
                  </a:tcPr>
                </a:tc>
                <a:tc>
                  <a:txBody>
                    <a:bodyPr/>
                    <a:lstStyle/>
                    <a:p>
                      <a:pPr algn="l"/>
                      <a:r>
                        <a:rPr sz="1000" b="0" i="0">
                          <a:solidFill>
                            <a:srgbClr val="262626"/>
                          </a:solidFill>
                          <a:latin typeface="Arial"/>
                        </a:rPr>
                        <a:t>Bike course familiarization (closed circuit)</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10:45 – 11:30</a:t>
                      </a:r>
                    </a:p>
                  </a:txBody>
                  <a:tcPr>
                    <a:solidFill>
                      <a:srgbClr val="FFFFFF"/>
                    </a:solidFill>
                  </a:tcPr>
                </a:tc>
                <a:tc>
                  <a:txBody>
                    <a:bodyPr/>
                    <a:lstStyle/>
                    <a:p>
                      <a:pPr algn="l"/>
                      <a:r>
                        <a:rPr sz="1000" b="0" i="0">
                          <a:solidFill>
                            <a:srgbClr val="262626"/>
                          </a:solidFill>
                          <a:latin typeface="Arial"/>
                        </a:rPr>
                        <a:t>Swim course familiarization (marked area)</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13:40 – 13:50</a:t>
                      </a:r>
                    </a:p>
                  </a:txBody>
                  <a:tcPr>
                    <a:solidFill>
                      <a:srgbClr val="F2F2F2"/>
                    </a:solidFill>
                  </a:tcPr>
                </a:tc>
                <a:tc>
                  <a:txBody>
                    <a:bodyPr/>
                    <a:lstStyle/>
                    <a:p>
                      <a:pPr algn="l"/>
                      <a:r>
                        <a:rPr sz="1000" b="0" i="0">
                          <a:solidFill>
                            <a:srgbClr val="262626"/>
                          </a:solidFill>
                          <a:latin typeface="Arial"/>
                        </a:rPr>
                        <a:t>Departure from venue  →  arrive hotel 14:45-14:55</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1" i="0">
                          <a:solidFill>
                            <a:srgbClr val="C00000"/>
                          </a:solidFill>
                          <a:latin typeface="Arial"/>
                        </a:rPr>
                        <a:t>16:00 – 17:00</a:t>
                      </a:r>
                    </a:p>
                  </a:txBody>
                  <a:tcPr>
                    <a:solidFill>
                      <a:srgbClr val="FDECEC"/>
                    </a:solidFill>
                  </a:tcPr>
                </a:tc>
                <a:tc>
                  <a:txBody>
                    <a:bodyPr/>
                    <a:lstStyle/>
                    <a:p>
                      <a:pPr algn="l"/>
                      <a:r>
                        <a:rPr sz="1000" b="1" i="0">
                          <a:solidFill>
                            <a:srgbClr val="C00000"/>
                          </a:solidFill>
                          <a:latin typeface="Arial"/>
                        </a:rPr>
                        <a:t>★ Mandatory Athlete Briefing — COP</a:t>
                      </a:r>
                    </a:p>
                  </a:txBody>
                  <a:tcPr>
                    <a:solidFill>
                      <a:srgbClr val="FDECEC"/>
                    </a:solidFill>
                  </a:tcPr>
                </a:tc>
                <a:extLst>
                  <a:ext uri="{0D108BD9-81ED-4DB2-BD59-A6C34878D82A}">
                    <a16:rowId xmlns:a16="http://schemas.microsoft.com/office/drawing/2014/main" val="10005"/>
                  </a:ext>
                </a:extLst>
              </a:tr>
            </a:tbl>
          </a:graphicData>
        </a:graphic>
      </p:graphicFrame>
      <p:sp>
        <p:nvSpPr>
          <p:cNvPr id="18" name="Rectangle 17"/>
          <p:cNvSpPr/>
          <p:nvPr/>
        </p:nvSpPr>
        <p:spPr>
          <a:xfrm>
            <a:off x="6208776"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00216" y="1728216"/>
            <a:ext cx="2555748" cy="201168"/>
          </a:xfrm>
          <a:prstGeom prst="rect">
            <a:avLst/>
          </a:prstGeom>
          <a:noFill/>
        </p:spPr>
        <p:txBody>
          <a:bodyPr wrap="square">
            <a:spAutoFit/>
          </a:bodyPr>
          <a:lstStyle/>
          <a:p>
            <a:pPr algn="ctr"/>
            <a:r>
              <a:rPr sz="1200" b="1" i="0">
                <a:solidFill>
                  <a:srgbClr val="FFFFFF"/>
                </a:solidFill>
                <a:latin typeface="Arial"/>
              </a:rPr>
              <a:t>Sun • Aug 9</a:t>
            </a:r>
          </a:p>
        </p:txBody>
      </p:sp>
      <p:sp>
        <p:nvSpPr>
          <p:cNvPr id="20" name="TextBox 19"/>
          <p:cNvSpPr txBox="1"/>
          <p:nvPr/>
        </p:nvSpPr>
        <p:spPr>
          <a:xfrm>
            <a:off x="6300216" y="1929384"/>
            <a:ext cx="2555748" cy="201168"/>
          </a:xfrm>
          <a:prstGeom prst="rect">
            <a:avLst/>
          </a:prstGeom>
          <a:noFill/>
        </p:spPr>
        <p:txBody>
          <a:bodyPr wrap="square">
            <a:spAutoFit/>
          </a:bodyPr>
          <a:lstStyle/>
          <a:p>
            <a:pPr algn="ctr"/>
            <a:r>
              <a:rPr sz="950" b="0" i="1">
                <a:solidFill>
                  <a:srgbClr val="AABBDD"/>
                </a:solidFill>
                <a:latin typeface="Arial"/>
              </a:rPr>
              <a:t>ELITE WOMEN — STANDARD</a:t>
            </a:r>
          </a:p>
        </p:txBody>
      </p:sp>
      <p:graphicFrame>
        <p:nvGraphicFramePr>
          <p:cNvPr id="21" name="Table 20"/>
          <p:cNvGraphicFramePr>
            <a:graphicFrameLocks noGrp="1"/>
          </p:cNvGraphicFramePr>
          <p:nvPr/>
        </p:nvGraphicFramePr>
        <p:xfrm>
          <a:off x="6208776" y="2240280"/>
          <a:ext cx="2738627" cy="402336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04:30</a:t>
                      </a:r>
                    </a:p>
                  </a:txBody>
                  <a:tcPr>
                    <a:solidFill>
                      <a:srgbClr val="F2F2F2"/>
                    </a:solidFill>
                  </a:tcPr>
                </a:tc>
                <a:tc>
                  <a:txBody>
                    <a:bodyPr/>
                    <a:lstStyle/>
                    <a:p>
                      <a:pPr algn="l"/>
                      <a:r>
                        <a:rPr sz="1000" b="0" i="0">
                          <a:solidFill>
                            <a:srgbClr val="262626"/>
                          </a:solidFill>
                          <a:latin typeface="Arial"/>
                        </a:rPr>
                        <a:t>Call time at Hotel Esplendor (Women)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05:30</a:t>
                      </a:r>
                    </a:p>
                  </a:txBody>
                  <a:tcPr>
                    <a:solidFill>
                      <a:srgbClr val="FFFFFF"/>
                    </a:solidFill>
                  </a:tcPr>
                </a:tc>
                <a:tc>
                  <a:txBody>
                    <a:bodyPr/>
                    <a:lstStyle/>
                    <a:p>
                      <a:pPr algn="l"/>
                      <a:r>
                        <a:rPr sz="1000" b="0" i="0">
                          <a:solidFill>
                            <a:srgbClr val="262626"/>
                          </a:solidFill>
                          <a:latin typeface="Arial"/>
                        </a:rPr>
                        <a:t>Departure from hotel  →  arrive El Delta 06:00</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06:00 – 06:45</a:t>
                      </a:r>
                    </a:p>
                  </a:txBody>
                  <a:tcPr>
                    <a:solidFill>
                      <a:srgbClr val="F2F2F2"/>
                    </a:solidFill>
                  </a:tcPr>
                </a:tc>
                <a:tc>
                  <a:txBody>
                    <a:bodyPr/>
                    <a:lstStyle/>
                    <a:p>
                      <a:pPr algn="l"/>
                      <a:r>
                        <a:rPr sz="1000" b="0" i="0">
                          <a:solidFill>
                            <a:srgbClr val="262626"/>
                          </a:solidFill>
                          <a:latin typeface="Arial"/>
                        </a:rPr>
                        <a:t>Athletes' Lounge opens — check-in</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06:10 – 07:00</a:t>
                      </a:r>
                    </a:p>
                  </a:txBody>
                  <a:tcPr>
                    <a:solidFill>
                      <a:srgbClr val="FFFFFF"/>
                    </a:solidFill>
                  </a:tcPr>
                </a:tc>
                <a:tc>
                  <a:txBody>
                    <a:bodyPr/>
                    <a:lstStyle/>
                    <a:p>
                      <a:pPr algn="l"/>
                      <a:r>
                        <a:rPr sz="1000" b="0" i="0">
                          <a:solidFill>
                            <a:srgbClr val="262626"/>
                          </a:solidFill>
                          <a:latin typeface="Arial"/>
                        </a:rPr>
                        <a:t>Transition area check-in</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06:45 – 07:15</a:t>
                      </a:r>
                    </a:p>
                  </a:txBody>
                  <a:tcPr>
                    <a:solidFill>
                      <a:srgbClr val="F2F2F2"/>
                    </a:solidFill>
                  </a:tcPr>
                </a:tc>
                <a:tc>
                  <a:txBody>
                    <a:bodyPr/>
                    <a:lstStyle/>
                    <a:p>
                      <a:pPr algn="l"/>
                      <a:r>
                        <a:rPr sz="1000" b="0" i="0">
                          <a:solidFill>
                            <a:srgbClr val="262626"/>
                          </a:solidFill>
                          <a:latin typeface="Arial"/>
                        </a:rPr>
                        <a:t>Swim warm-up</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0" i="0">
                          <a:solidFill>
                            <a:srgbClr val="262626"/>
                          </a:solidFill>
                          <a:latin typeface="Arial"/>
                        </a:rPr>
                        <a:t>07:20</a:t>
                      </a:r>
                    </a:p>
                  </a:txBody>
                  <a:tcPr>
                    <a:solidFill>
                      <a:srgbClr val="FFFFFF"/>
                    </a:solidFill>
                  </a:tcPr>
                </a:tc>
                <a:tc>
                  <a:txBody>
                    <a:bodyPr/>
                    <a:lstStyle/>
                    <a:p>
                      <a:pPr algn="l"/>
                      <a:r>
                        <a:rPr sz="1000" b="0" i="0">
                          <a:solidFill>
                            <a:srgbClr val="262626"/>
                          </a:solidFill>
                          <a:latin typeface="Arial"/>
                        </a:rPr>
                        <a:t>Athletes' introduction</a:t>
                      </a:r>
                    </a:p>
                  </a:txBody>
                  <a:tcPr>
                    <a:solidFill>
                      <a:srgbClr val="FFFFFF"/>
                    </a:solidFill>
                  </a:tcPr>
                </a:tc>
                <a:extLst>
                  <a:ext uri="{0D108BD9-81ED-4DB2-BD59-A6C34878D82A}">
                    <a16:rowId xmlns:a16="http://schemas.microsoft.com/office/drawing/2014/main" val="10005"/>
                  </a:ext>
                </a:extLst>
              </a:tr>
              <a:tr h="502920">
                <a:tc>
                  <a:txBody>
                    <a:bodyPr/>
                    <a:lstStyle/>
                    <a:p>
                      <a:pPr algn="ctr"/>
                      <a:r>
                        <a:rPr sz="1000" b="1" i="0">
                          <a:solidFill>
                            <a:srgbClr val="C00000"/>
                          </a:solidFill>
                          <a:latin typeface="Arial"/>
                        </a:rPr>
                        <a:t>07:30</a:t>
                      </a:r>
                    </a:p>
                  </a:txBody>
                  <a:tcPr>
                    <a:solidFill>
                      <a:srgbClr val="FDECEC"/>
                    </a:solidFill>
                  </a:tcPr>
                </a:tc>
                <a:tc>
                  <a:txBody>
                    <a:bodyPr/>
                    <a:lstStyle/>
                    <a:p>
                      <a:pPr algn="l"/>
                      <a:r>
                        <a:rPr sz="1000" b="1" i="0">
                          <a:solidFill>
                            <a:srgbClr val="C00000"/>
                          </a:solidFill>
                          <a:latin typeface="Arial"/>
                        </a:rPr>
                        <a:t>★ ELITE WOMEN START — 1500 / 40 / 10</a:t>
                      </a:r>
                    </a:p>
                  </a:txBody>
                  <a:tcPr>
                    <a:solidFill>
                      <a:srgbClr val="FDECEC"/>
                    </a:solidFill>
                  </a:tcPr>
                </a:tc>
                <a:extLst>
                  <a:ext uri="{0D108BD9-81ED-4DB2-BD59-A6C34878D82A}">
                    <a16:rowId xmlns:a16="http://schemas.microsoft.com/office/drawing/2014/main" val="10006"/>
                  </a:ext>
                </a:extLst>
              </a:tr>
              <a:tr h="502920">
                <a:tc>
                  <a:txBody>
                    <a:bodyPr/>
                    <a:lstStyle/>
                    <a:p>
                      <a:pPr algn="ctr"/>
                      <a:r>
                        <a:rPr sz="1000" b="0" i="0">
                          <a:solidFill>
                            <a:srgbClr val="262626"/>
                          </a:solidFill>
                          <a:latin typeface="Arial"/>
                        </a:rPr>
                        <a:t>~09:30</a:t>
                      </a:r>
                    </a:p>
                  </a:txBody>
                  <a:tcPr>
                    <a:solidFill>
                      <a:srgbClr val="FFFFFF"/>
                    </a:solidFill>
                  </a:tcPr>
                </a:tc>
                <a:tc>
                  <a:txBody>
                    <a:bodyPr/>
                    <a:lstStyle/>
                    <a:p>
                      <a:pPr algn="l"/>
                      <a:r>
                        <a:rPr sz="1000" b="0" i="0">
                          <a:solidFill>
                            <a:srgbClr val="262626"/>
                          </a:solidFill>
                          <a:latin typeface="Arial"/>
                        </a:rPr>
                        <a:t>Projected finish</a:t>
                      </a:r>
                    </a:p>
                  </a:txBody>
                  <a:tcPr>
                    <a:solidFill>
                      <a:srgbClr val="FFFFFF"/>
                    </a:solidFill>
                  </a:tcPr>
                </a:tc>
                <a:extLst>
                  <a:ext uri="{0D108BD9-81ED-4DB2-BD59-A6C34878D82A}">
                    <a16:rowId xmlns:a16="http://schemas.microsoft.com/office/drawing/2014/main" val="10007"/>
                  </a:ext>
                </a:extLst>
              </a:tr>
            </a:tbl>
          </a:graphicData>
        </a:graphic>
      </p:graphicFrame>
      <p:sp>
        <p:nvSpPr>
          <p:cNvPr id="22" name="Rectangle 21"/>
          <p:cNvSpPr/>
          <p:nvPr/>
        </p:nvSpPr>
        <p:spPr>
          <a:xfrm>
            <a:off x="9176004" y="1691640"/>
            <a:ext cx="2738628" cy="4572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267444" y="1728216"/>
            <a:ext cx="2555748" cy="201168"/>
          </a:xfrm>
          <a:prstGeom prst="rect">
            <a:avLst/>
          </a:prstGeom>
          <a:noFill/>
        </p:spPr>
        <p:txBody>
          <a:bodyPr wrap="square">
            <a:spAutoFit/>
          </a:bodyPr>
          <a:lstStyle/>
          <a:p>
            <a:pPr algn="ctr"/>
            <a:r>
              <a:rPr sz="1200" b="1" i="0">
                <a:solidFill>
                  <a:srgbClr val="FFFFFF"/>
                </a:solidFill>
                <a:latin typeface="Arial"/>
              </a:rPr>
              <a:t>Sun • Aug 9</a:t>
            </a:r>
          </a:p>
        </p:txBody>
      </p:sp>
      <p:sp>
        <p:nvSpPr>
          <p:cNvPr id="24" name="TextBox 23"/>
          <p:cNvSpPr txBox="1"/>
          <p:nvPr/>
        </p:nvSpPr>
        <p:spPr>
          <a:xfrm>
            <a:off x="9267444" y="1929384"/>
            <a:ext cx="2555748" cy="201168"/>
          </a:xfrm>
          <a:prstGeom prst="rect">
            <a:avLst/>
          </a:prstGeom>
          <a:noFill/>
        </p:spPr>
        <p:txBody>
          <a:bodyPr wrap="square">
            <a:spAutoFit/>
          </a:bodyPr>
          <a:lstStyle/>
          <a:p>
            <a:pPr algn="ctr"/>
            <a:r>
              <a:rPr sz="950" b="0" i="1">
                <a:solidFill>
                  <a:srgbClr val="AABBDD"/>
                </a:solidFill>
                <a:latin typeface="Arial"/>
              </a:rPr>
              <a:t>ELITE MEN — STANDARD</a:t>
            </a:r>
          </a:p>
        </p:txBody>
      </p:sp>
      <p:graphicFrame>
        <p:nvGraphicFramePr>
          <p:cNvPr id="25" name="Table 24"/>
          <p:cNvGraphicFramePr>
            <a:graphicFrameLocks noGrp="1"/>
          </p:cNvGraphicFramePr>
          <p:nvPr/>
        </p:nvGraphicFramePr>
        <p:xfrm>
          <a:off x="9176004" y="2240280"/>
          <a:ext cx="2738627" cy="4023360"/>
        </p:xfrm>
        <a:graphic>
          <a:graphicData uri="http://schemas.openxmlformats.org/drawingml/2006/table">
            <a:tbl>
              <a:tblPr firstRow="1" bandRow="1">
                <a:tableStyleId>{5C22544A-7EE6-4342-B048-85BDC9FD1C3A}</a:tableStyleId>
              </a:tblPr>
              <a:tblGrid>
                <a:gridCol w="985906">
                  <a:extLst>
                    <a:ext uri="{9D8B030D-6E8A-4147-A177-3AD203B41FA5}">
                      <a16:colId xmlns:a16="http://schemas.microsoft.com/office/drawing/2014/main" val="20000"/>
                    </a:ext>
                  </a:extLst>
                </a:gridCol>
                <a:gridCol w="1752721">
                  <a:extLst>
                    <a:ext uri="{9D8B030D-6E8A-4147-A177-3AD203B41FA5}">
                      <a16:colId xmlns:a16="http://schemas.microsoft.com/office/drawing/2014/main" val="20001"/>
                    </a:ext>
                  </a:extLst>
                </a:gridCol>
              </a:tblGrid>
              <a:tr h="502920">
                <a:tc>
                  <a:txBody>
                    <a:bodyPr/>
                    <a:lstStyle/>
                    <a:p>
                      <a:pPr algn="ctr"/>
                      <a:r>
                        <a:rPr sz="1000" b="0" i="0">
                          <a:solidFill>
                            <a:srgbClr val="262626"/>
                          </a:solidFill>
                          <a:latin typeface="Arial"/>
                        </a:rPr>
                        <a:t>06:35</a:t>
                      </a:r>
                    </a:p>
                  </a:txBody>
                  <a:tcPr>
                    <a:solidFill>
                      <a:srgbClr val="F2F2F2"/>
                    </a:solidFill>
                  </a:tcPr>
                </a:tc>
                <a:tc>
                  <a:txBody>
                    <a:bodyPr/>
                    <a:lstStyle/>
                    <a:p>
                      <a:pPr algn="l"/>
                      <a:r>
                        <a:rPr sz="1000" b="0" i="0">
                          <a:solidFill>
                            <a:srgbClr val="262626"/>
                          </a:solidFill>
                          <a:latin typeface="Arial"/>
                        </a:rPr>
                        <a:t>Call time at Hotel Esplendor (Men)</a:t>
                      </a:r>
                    </a:p>
                  </a:txBody>
                  <a:tcPr>
                    <a:solidFill>
                      <a:srgbClr val="F2F2F2"/>
                    </a:solidFill>
                  </a:tcPr>
                </a:tc>
                <a:extLst>
                  <a:ext uri="{0D108BD9-81ED-4DB2-BD59-A6C34878D82A}">
                    <a16:rowId xmlns:a16="http://schemas.microsoft.com/office/drawing/2014/main" val="10000"/>
                  </a:ext>
                </a:extLst>
              </a:tr>
              <a:tr h="502920">
                <a:tc>
                  <a:txBody>
                    <a:bodyPr/>
                    <a:lstStyle/>
                    <a:p>
                      <a:pPr algn="ctr"/>
                      <a:r>
                        <a:rPr sz="1000" b="0" i="0">
                          <a:solidFill>
                            <a:srgbClr val="262626"/>
                          </a:solidFill>
                          <a:latin typeface="Arial"/>
                        </a:rPr>
                        <a:t>07:50 – 07:55</a:t>
                      </a:r>
                    </a:p>
                  </a:txBody>
                  <a:tcPr>
                    <a:solidFill>
                      <a:srgbClr val="FFFFFF"/>
                    </a:solidFill>
                  </a:tcPr>
                </a:tc>
                <a:tc>
                  <a:txBody>
                    <a:bodyPr/>
                    <a:lstStyle/>
                    <a:p>
                      <a:pPr algn="l"/>
                      <a:r>
                        <a:rPr sz="1000" b="0" i="0">
                          <a:solidFill>
                            <a:srgbClr val="262626"/>
                          </a:solidFill>
                          <a:latin typeface="Arial"/>
                        </a:rPr>
                        <a:t>Departure from hotel  →  arrive El Delta 08:00-08:20</a:t>
                      </a:r>
                    </a:p>
                  </a:txBody>
                  <a:tcPr>
                    <a:solidFill>
                      <a:srgbClr val="FFFFFF"/>
                    </a:solidFill>
                  </a:tcPr>
                </a:tc>
                <a:extLst>
                  <a:ext uri="{0D108BD9-81ED-4DB2-BD59-A6C34878D82A}">
                    <a16:rowId xmlns:a16="http://schemas.microsoft.com/office/drawing/2014/main" val="10001"/>
                  </a:ext>
                </a:extLst>
              </a:tr>
              <a:tr h="502920">
                <a:tc>
                  <a:txBody>
                    <a:bodyPr/>
                    <a:lstStyle/>
                    <a:p>
                      <a:pPr algn="ctr"/>
                      <a:r>
                        <a:rPr sz="1000" b="0" i="0">
                          <a:solidFill>
                            <a:srgbClr val="262626"/>
                          </a:solidFill>
                          <a:latin typeface="Arial"/>
                        </a:rPr>
                        <a:t>09:00 – 09:45</a:t>
                      </a:r>
                    </a:p>
                  </a:txBody>
                  <a:tcPr>
                    <a:solidFill>
                      <a:srgbClr val="F2F2F2"/>
                    </a:solidFill>
                  </a:tcPr>
                </a:tc>
                <a:tc>
                  <a:txBody>
                    <a:bodyPr/>
                    <a:lstStyle/>
                    <a:p>
                      <a:pPr algn="l"/>
                      <a:r>
                        <a:rPr sz="1000" b="0" i="0">
                          <a:solidFill>
                            <a:srgbClr val="262626"/>
                          </a:solidFill>
                          <a:latin typeface="Arial"/>
                        </a:rPr>
                        <a:t>Athletes' Lounge opens — check-in</a:t>
                      </a:r>
                    </a:p>
                  </a:txBody>
                  <a:tcPr>
                    <a:solidFill>
                      <a:srgbClr val="F2F2F2"/>
                    </a:solidFill>
                  </a:tcPr>
                </a:tc>
                <a:extLst>
                  <a:ext uri="{0D108BD9-81ED-4DB2-BD59-A6C34878D82A}">
                    <a16:rowId xmlns:a16="http://schemas.microsoft.com/office/drawing/2014/main" val="10002"/>
                  </a:ext>
                </a:extLst>
              </a:tr>
              <a:tr h="502920">
                <a:tc>
                  <a:txBody>
                    <a:bodyPr/>
                    <a:lstStyle/>
                    <a:p>
                      <a:pPr algn="ctr"/>
                      <a:r>
                        <a:rPr sz="1000" b="0" i="0">
                          <a:solidFill>
                            <a:srgbClr val="262626"/>
                          </a:solidFill>
                          <a:latin typeface="Arial"/>
                        </a:rPr>
                        <a:t>09:10 – 10:00</a:t>
                      </a:r>
                    </a:p>
                  </a:txBody>
                  <a:tcPr>
                    <a:solidFill>
                      <a:srgbClr val="FFFFFF"/>
                    </a:solidFill>
                  </a:tcPr>
                </a:tc>
                <a:tc>
                  <a:txBody>
                    <a:bodyPr/>
                    <a:lstStyle/>
                    <a:p>
                      <a:pPr algn="l"/>
                      <a:r>
                        <a:rPr sz="1000" b="0" i="0">
                          <a:solidFill>
                            <a:srgbClr val="262626"/>
                          </a:solidFill>
                          <a:latin typeface="Arial"/>
                        </a:rPr>
                        <a:t>Transition area check-in</a:t>
                      </a:r>
                    </a:p>
                  </a:txBody>
                  <a:tcPr>
                    <a:solidFill>
                      <a:srgbClr val="FFFFFF"/>
                    </a:solidFill>
                  </a:tcPr>
                </a:tc>
                <a:extLst>
                  <a:ext uri="{0D108BD9-81ED-4DB2-BD59-A6C34878D82A}">
                    <a16:rowId xmlns:a16="http://schemas.microsoft.com/office/drawing/2014/main" val="10003"/>
                  </a:ext>
                </a:extLst>
              </a:tr>
              <a:tr h="502920">
                <a:tc>
                  <a:txBody>
                    <a:bodyPr/>
                    <a:lstStyle/>
                    <a:p>
                      <a:pPr algn="ctr"/>
                      <a:r>
                        <a:rPr sz="1000" b="0" i="0">
                          <a:solidFill>
                            <a:srgbClr val="262626"/>
                          </a:solidFill>
                          <a:latin typeface="Arial"/>
                        </a:rPr>
                        <a:t>09:45 – 10:15</a:t>
                      </a:r>
                    </a:p>
                  </a:txBody>
                  <a:tcPr>
                    <a:solidFill>
                      <a:srgbClr val="F2F2F2"/>
                    </a:solidFill>
                  </a:tcPr>
                </a:tc>
                <a:tc>
                  <a:txBody>
                    <a:bodyPr/>
                    <a:lstStyle/>
                    <a:p>
                      <a:pPr algn="l"/>
                      <a:r>
                        <a:rPr sz="1000" b="0" i="0">
                          <a:solidFill>
                            <a:srgbClr val="262626"/>
                          </a:solidFill>
                          <a:latin typeface="Arial"/>
                        </a:rPr>
                        <a:t>Swim warm-up</a:t>
                      </a:r>
                    </a:p>
                  </a:txBody>
                  <a:tcPr>
                    <a:solidFill>
                      <a:srgbClr val="F2F2F2"/>
                    </a:solidFill>
                  </a:tcPr>
                </a:tc>
                <a:extLst>
                  <a:ext uri="{0D108BD9-81ED-4DB2-BD59-A6C34878D82A}">
                    <a16:rowId xmlns:a16="http://schemas.microsoft.com/office/drawing/2014/main" val="10004"/>
                  </a:ext>
                </a:extLst>
              </a:tr>
              <a:tr h="502920">
                <a:tc>
                  <a:txBody>
                    <a:bodyPr/>
                    <a:lstStyle/>
                    <a:p>
                      <a:pPr algn="ctr"/>
                      <a:r>
                        <a:rPr sz="1000" b="0" i="0">
                          <a:solidFill>
                            <a:srgbClr val="262626"/>
                          </a:solidFill>
                          <a:latin typeface="Arial"/>
                        </a:rPr>
                        <a:t>10:20</a:t>
                      </a:r>
                    </a:p>
                  </a:txBody>
                  <a:tcPr>
                    <a:solidFill>
                      <a:srgbClr val="FFFFFF"/>
                    </a:solidFill>
                  </a:tcPr>
                </a:tc>
                <a:tc>
                  <a:txBody>
                    <a:bodyPr/>
                    <a:lstStyle/>
                    <a:p>
                      <a:pPr algn="l"/>
                      <a:r>
                        <a:rPr sz="1000" b="0" i="0">
                          <a:solidFill>
                            <a:srgbClr val="262626"/>
                          </a:solidFill>
                          <a:latin typeface="Arial"/>
                        </a:rPr>
                        <a:t>Athletes' introduction</a:t>
                      </a:r>
                    </a:p>
                  </a:txBody>
                  <a:tcPr>
                    <a:solidFill>
                      <a:srgbClr val="FFFFFF"/>
                    </a:solidFill>
                  </a:tcPr>
                </a:tc>
                <a:extLst>
                  <a:ext uri="{0D108BD9-81ED-4DB2-BD59-A6C34878D82A}">
                    <a16:rowId xmlns:a16="http://schemas.microsoft.com/office/drawing/2014/main" val="10005"/>
                  </a:ext>
                </a:extLst>
              </a:tr>
              <a:tr h="502920">
                <a:tc>
                  <a:txBody>
                    <a:bodyPr/>
                    <a:lstStyle/>
                    <a:p>
                      <a:pPr algn="ctr"/>
                      <a:r>
                        <a:rPr sz="1000" b="1" i="0">
                          <a:solidFill>
                            <a:srgbClr val="C00000"/>
                          </a:solidFill>
                          <a:latin typeface="Arial"/>
                        </a:rPr>
                        <a:t>10:30</a:t>
                      </a:r>
                    </a:p>
                  </a:txBody>
                  <a:tcPr>
                    <a:solidFill>
                      <a:srgbClr val="FDECEC"/>
                    </a:solidFill>
                  </a:tcPr>
                </a:tc>
                <a:tc>
                  <a:txBody>
                    <a:bodyPr/>
                    <a:lstStyle/>
                    <a:p>
                      <a:pPr algn="l"/>
                      <a:r>
                        <a:rPr sz="1000" b="1" i="0">
                          <a:solidFill>
                            <a:srgbClr val="C00000"/>
                          </a:solidFill>
                          <a:latin typeface="Arial"/>
                        </a:rPr>
                        <a:t>★ ELITE MEN START — 1500 / 40 / 10</a:t>
                      </a:r>
                    </a:p>
                  </a:txBody>
                  <a:tcPr>
                    <a:solidFill>
                      <a:srgbClr val="FDECEC"/>
                    </a:solidFill>
                  </a:tcPr>
                </a:tc>
                <a:extLst>
                  <a:ext uri="{0D108BD9-81ED-4DB2-BD59-A6C34878D82A}">
                    <a16:rowId xmlns:a16="http://schemas.microsoft.com/office/drawing/2014/main" val="10006"/>
                  </a:ext>
                </a:extLst>
              </a:tr>
              <a:tr h="502920">
                <a:tc>
                  <a:txBody>
                    <a:bodyPr/>
                    <a:lstStyle/>
                    <a:p>
                      <a:pPr algn="ctr"/>
                      <a:r>
                        <a:rPr sz="1000" b="0" i="0">
                          <a:solidFill>
                            <a:srgbClr val="262626"/>
                          </a:solidFill>
                          <a:latin typeface="Arial"/>
                        </a:rPr>
                        <a:t>12:30</a:t>
                      </a:r>
                    </a:p>
                  </a:txBody>
                  <a:tcPr>
                    <a:solidFill>
                      <a:srgbClr val="FFFFFF"/>
                    </a:solidFill>
                  </a:tcPr>
                </a:tc>
                <a:tc>
                  <a:txBody>
                    <a:bodyPr/>
                    <a:lstStyle/>
                    <a:p>
                      <a:pPr algn="l"/>
                      <a:r>
                        <a:rPr sz="1000" b="0" i="0">
                          <a:solidFill>
                            <a:srgbClr val="262626"/>
                          </a:solidFill>
                          <a:latin typeface="Arial"/>
                        </a:rPr>
                        <a:t>Award ceremony — Elite Women &amp; Elite Men</a:t>
                      </a:r>
                    </a:p>
                  </a:txBody>
                  <a:tcPr>
                    <a:solidFill>
                      <a:srgbClr val="FFFFFF"/>
                    </a:solidFill>
                  </a:tcPr>
                </a:tc>
                <a:extLst>
                  <a:ext uri="{0D108BD9-81ED-4DB2-BD59-A6C34878D82A}">
                    <a16:rowId xmlns:a16="http://schemas.microsoft.com/office/drawing/2014/main" val="10007"/>
                  </a:ext>
                </a:extLst>
              </a:tr>
            </a:tbl>
          </a:graphicData>
        </a:graphic>
      </p:graphicFrame>
      <p:sp>
        <p:nvSpPr>
          <p:cNvPr id="26" name="TextBox 25"/>
          <p:cNvSpPr txBox="1"/>
          <p:nvPr/>
        </p:nvSpPr>
        <p:spPr>
          <a:xfrm>
            <a:off x="274320" y="6355080"/>
            <a:ext cx="11640312" cy="274320"/>
          </a:xfrm>
          <a:prstGeom prst="rect">
            <a:avLst/>
          </a:prstGeom>
          <a:noFill/>
        </p:spPr>
        <p:txBody>
          <a:bodyPr wrap="square">
            <a:spAutoFit/>
          </a:bodyPr>
          <a:lstStyle/>
          <a:p>
            <a:pPr algn="ctr"/>
            <a:r>
              <a:rPr sz="900" b="0" i="1">
                <a:solidFill>
                  <a:srgbClr val="BFBFBF"/>
                </a:solidFill>
                <a:latin typeface="Arial"/>
              </a:rPr>
              <a:t>Times La Isla del Delta, Nueva Asunción (guide states UTC-4; verify — Paraguay moved to permanent UTC-3 in 2024). Schedule confirmed from World Triathlon race-info page / athlete guide; subject to organiser updates.</a:t>
            </a:r>
          </a:p>
        </p:txBody>
      </p:sp>
      <p:sp>
        <p:nvSpPr>
          <p:cNvPr id="27" name="Rectangle 26">
            <a:extLst>
              <a:ext uri="{FF2B5EF4-FFF2-40B4-BE49-F238E27FC236}">
                <a16:creationId xmlns:a16="http://schemas.microsoft.com/office/drawing/2014/main" id="{44C9538A-EBCD-C724-5D86-15018DEEF3E3}"/>
              </a:ext>
            </a:extLst>
          </p:cNvPr>
          <p:cNvSpPr/>
          <p:nvPr/>
        </p:nvSpPr>
        <p:spPr>
          <a:xfrm>
            <a:off x="9034732" y="1575758"/>
            <a:ext cx="2973238" cy="4660450"/>
          </a:xfrm>
          <a:prstGeom prst="rect">
            <a:avLst/>
          </a:prstGeom>
          <a:noFill/>
          <a:ln w="38100">
            <a:solidFill>
              <a:srgbClr val="FFC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Key Course Differentiators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74320" y="1097280"/>
            <a:ext cx="6035040" cy="502920"/>
          </a:xfrm>
          <a:prstGeom prst="rect">
            <a:avLst/>
          </a:prstGeom>
          <a:noFill/>
        </p:spPr>
        <p:txBody>
          <a:bodyPr wrap="square">
            <a:spAutoFit/>
          </a:bodyPr>
          <a:lstStyle/>
          <a:p>
            <a:pPr algn="l"/>
            <a:r>
              <a:rPr sz="2000" b="1" i="0">
                <a:solidFill>
                  <a:srgbClr val="002060"/>
                </a:solidFill>
                <a:latin typeface="Arial"/>
              </a:rPr>
              <a:t>ASUNCION</a:t>
            </a:r>
          </a:p>
        </p:txBody>
      </p:sp>
      <p:sp>
        <p:nvSpPr>
          <p:cNvPr id="9" name="TextBox 8"/>
          <p:cNvSpPr txBox="1"/>
          <p:nvPr/>
        </p:nvSpPr>
        <p:spPr>
          <a:xfrm>
            <a:off x="274320" y="1627632"/>
            <a:ext cx="6035040" cy="1815882"/>
          </a:xfrm>
          <a:prstGeom prst="rect">
            <a:avLst/>
          </a:prstGeom>
          <a:noFill/>
        </p:spPr>
        <p:txBody>
          <a:bodyPr wrap="square">
            <a:spAutoFit/>
          </a:bodyPr>
          <a:lstStyle/>
          <a:p>
            <a:pPr algn="l"/>
            <a:r>
              <a:rPr sz="1400" b="0" i="0" dirty="0">
                <a:solidFill>
                  <a:srgbClr val="262626"/>
                </a:solidFill>
                <a:latin typeface="Arial"/>
              </a:rPr>
              <a:t>The 2026 World Triathlon Cup Asunción is the first World Triathlon elite race ever staged at this venue, and Paraguay's first World Cup. It runs on La Isla del Delta in Nueva Asunción, across the </a:t>
            </a:r>
            <a:r>
              <a:rPr sz="1400" b="0" i="0" dirty="0" err="1">
                <a:solidFill>
                  <a:srgbClr val="262626"/>
                </a:solidFill>
                <a:latin typeface="Arial"/>
              </a:rPr>
              <a:t>Héroes</a:t>
            </a:r>
            <a:r>
              <a:rPr sz="1400" b="0" i="0" dirty="0">
                <a:solidFill>
                  <a:srgbClr val="262626"/>
                </a:solidFill>
                <a:latin typeface="Arial"/>
              </a:rPr>
              <a:t> del Chaco bridge from the capital. Two things make it unusual on the 2026 calendar. First, it is a STANDARD-distance World Cup (1500 m / 40 km / 10 km)</a:t>
            </a:r>
            <a:r>
              <a:rPr lang="en-US" sz="1400" b="0" i="0" dirty="0">
                <a:solidFill>
                  <a:srgbClr val="262626"/>
                </a:solidFill>
                <a:latin typeface="Arial"/>
              </a:rPr>
              <a:t>. </a:t>
            </a:r>
            <a:r>
              <a:rPr sz="1400" b="0" i="0" dirty="0">
                <a:solidFill>
                  <a:srgbClr val="262626"/>
                </a:solidFill>
                <a:latin typeface="Arial"/>
              </a:rPr>
              <a:t>Second, the course is flat in all three disciplines, on a closed avenue with long straights and few turns, </a:t>
            </a:r>
            <a:r>
              <a:rPr lang="en-US" sz="1400" b="0" i="0" dirty="0">
                <a:solidFill>
                  <a:srgbClr val="262626"/>
                </a:solidFill>
                <a:latin typeface="Arial"/>
              </a:rPr>
              <a:t>suggesting an opportunity for a </a:t>
            </a:r>
            <a:r>
              <a:rPr sz="1400" b="0" i="0" dirty="0">
                <a:solidFill>
                  <a:srgbClr val="262626"/>
                </a:solidFill>
                <a:latin typeface="Arial"/>
              </a:rPr>
              <a:t>large intact bike pack and a run-off finish. </a:t>
            </a:r>
          </a:p>
        </p:txBody>
      </p:sp>
      <p:sp>
        <p:nvSpPr>
          <p:cNvPr id="10" name="Rectangle 9"/>
          <p:cNvSpPr/>
          <p:nvPr/>
        </p:nvSpPr>
        <p:spPr>
          <a:xfrm>
            <a:off x="274320" y="3506643"/>
            <a:ext cx="603504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20040" y="3530682"/>
            <a:ext cx="5669280" cy="274320"/>
          </a:xfrm>
          <a:prstGeom prst="rect">
            <a:avLst/>
          </a:prstGeom>
          <a:noFill/>
        </p:spPr>
        <p:txBody>
          <a:bodyPr wrap="square">
            <a:spAutoFit/>
          </a:bodyPr>
          <a:lstStyle/>
          <a:p>
            <a:pPr algn="l"/>
            <a:r>
              <a:rPr sz="1200" b="1" i="0">
                <a:solidFill>
                  <a:srgbClr val="FFFFFF"/>
                </a:solidFill>
                <a:latin typeface="Arial"/>
              </a:rPr>
              <a:t>COURSE FEATURES</a:t>
            </a:r>
          </a:p>
        </p:txBody>
      </p:sp>
      <p:sp>
        <p:nvSpPr>
          <p:cNvPr id="12" name="TextBox 11"/>
          <p:cNvSpPr txBox="1"/>
          <p:nvPr/>
        </p:nvSpPr>
        <p:spPr>
          <a:xfrm>
            <a:off x="365760" y="3918123"/>
            <a:ext cx="5852160" cy="307777"/>
          </a:xfrm>
          <a:prstGeom prst="rect">
            <a:avLst/>
          </a:prstGeom>
          <a:noFill/>
        </p:spPr>
        <p:txBody>
          <a:bodyPr wrap="square">
            <a:spAutoFit/>
          </a:bodyPr>
          <a:lstStyle/>
          <a:p>
            <a:pPr algn="l"/>
            <a:r>
              <a:rPr sz="1400" b="0" i="0" dirty="0">
                <a:solidFill>
                  <a:srgbClr val="262626"/>
                </a:solidFill>
                <a:latin typeface="Arial"/>
              </a:rPr>
              <a:t>•  STANDARD distance (1500 m / 40 km / 10 km)</a:t>
            </a:r>
            <a:r>
              <a:rPr lang="en-US" sz="1400" b="0" i="0" dirty="0">
                <a:solidFill>
                  <a:srgbClr val="262626"/>
                </a:solidFill>
                <a:latin typeface="Arial"/>
              </a:rPr>
              <a:t>. </a:t>
            </a:r>
            <a:endParaRPr sz="1400" b="0" i="0" dirty="0">
              <a:solidFill>
                <a:srgbClr val="262626"/>
              </a:solidFill>
              <a:latin typeface="Arial"/>
            </a:endParaRPr>
          </a:p>
        </p:txBody>
      </p:sp>
      <p:sp>
        <p:nvSpPr>
          <p:cNvPr id="13" name="TextBox 12"/>
          <p:cNvSpPr txBox="1"/>
          <p:nvPr/>
        </p:nvSpPr>
        <p:spPr>
          <a:xfrm>
            <a:off x="365760" y="4504677"/>
            <a:ext cx="5852160" cy="523220"/>
          </a:xfrm>
          <a:prstGeom prst="rect">
            <a:avLst/>
          </a:prstGeom>
          <a:noFill/>
        </p:spPr>
        <p:txBody>
          <a:bodyPr wrap="square">
            <a:spAutoFit/>
          </a:bodyPr>
          <a:lstStyle/>
          <a:p>
            <a:pPr algn="l"/>
            <a:r>
              <a:rPr sz="1400" b="0" i="0" dirty="0">
                <a:solidFill>
                  <a:srgbClr val="262626"/>
                </a:solidFill>
                <a:latin typeface="Arial"/>
              </a:rPr>
              <a:t>•  Flat across all three legs: 2 × 750 m lagoon swim, 6 × 6.66 km closed-avenue bike, 4 × 2.35 km + 600 m run.</a:t>
            </a:r>
          </a:p>
        </p:txBody>
      </p:sp>
      <p:sp>
        <p:nvSpPr>
          <p:cNvPr id="14" name="TextBox 13"/>
          <p:cNvSpPr txBox="1"/>
          <p:nvPr/>
        </p:nvSpPr>
        <p:spPr>
          <a:xfrm>
            <a:off x="365760" y="5306674"/>
            <a:ext cx="5852160" cy="307777"/>
          </a:xfrm>
          <a:prstGeom prst="rect">
            <a:avLst/>
          </a:prstGeom>
          <a:noFill/>
        </p:spPr>
        <p:txBody>
          <a:bodyPr wrap="square">
            <a:spAutoFit/>
          </a:bodyPr>
          <a:lstStyle/>
          <a:p>
            <a:pPr algn="l"/>
            <a:r>
              <a:rPr sz="1400" b="0" i="0" dirty="0">
                <a:solidFill>
                  <a:srgbClr val="262626"/>
                </a:solidFill>
                <a:latin typeface="Arial"/>
              </a:rPr>
              <a:t>•  </a:t>
            </a:r>
            <a:r>
              <a:rPr lang="en-US" sz="1400" b="0" i="0" dirty="0">
                <a:solidFill>
                  <a:srgbClr val="262626"/>
                </a:solidFill>
                <a:latin typeface="Arial"/>
              </a:rPr>
              <a:t>Unclear </a:t>
            </a:r>
            <a:r>
              <a:rPr lang="en-US" sz="1400" dirty="0">
                <a:solidFill>
                  <a:srgbClr val="262626"/>
                </a:solidFill>
                <a:latin typeface="Arial"/>
              </a:rPr>
              <a:t>w</a:t>
            </a:r>
            <a:r>
              <a:rPr sz="1400" b="0" i="0" dirty="0">
                <a:solidFill>
                  <a:srgbClr val="262626"/>
                </a:solidFill>
                <a:latin typeface="Arial"/>
              </a:rPr>
              <a:t>etsuit </a:t>
            </a:r>
            <a:r>
              <a:rPr lang="en-US" sz="1400" b="0" i="0" dirty="0">
                <a:solidFill>
                  <a:srgbClr val="262626"/>
                </a:solidFill>
                <a:latin typeface="Arial"/>
              </a:rPr>
              <a:t>determination</a:t>
            </a:r>
            <a:r>
              <a:rPr sz="1400" b="0" i="0" dirty="0">
                <a:solidFill>
                  <a:srgbClr val="262626"/>
                </a:solidFill>
                <a:latin typeface="Arial"/>
              </a:rPr>
              <a:t>: 18–22 °C forecas</a:t>
            </a:r>
            <a:r>
              <a:rPr lang="en-US" sz="1400" b="0" i="0" dirty="0">
                <a:solidFill>
                  <a:srgbClr val="262626"/>
                </a:solidFill>
                <a:latin typeface="Arial"/>
              </a:rPr>
              <a:t>t. </a:t>
            </a:r>
            <a:endParaRPr sz="1400" b="0" i="0" dirty="0">
              <a:solidFill>
                <a:srgbClr val="262626"/>
              </a:solidFill>
              <a:latin typeface="Arial"/>
            </a:endParaRPr>
          </a:p>
        </p:txBody>
      </p:sp>
      <p:sp>
        <p:nvSpPr>
          <p:cNvPr id="15" name="TextBox 14"/>
          <p:cNvSpPr txBox="1"/>
          <p:nvPr/>
        </p:nvSpPr>
        <p:spPr>
          <a:xfrm>
            <a:off x="365760" y="5893227"/>
            <a:ext cx="5852160" cy="738664"/>
          </a:xfrm>
          <a:prstGeom prst="rect">
            <a:avLst/>
          </a:prstGeom>
          <a:noFill/>
        </p:spPr>
        <p:txBody>
          <a:bodyPr wrap="square">
            <a:spAutoFit/>
          </a:bodyPr>
          <a:lstStyle/>
          <a:p>
            <a:pPr algn="l"/>
            <a:r>
              <a:rPr sz="1400" b="0" i="0" dirty="0">
                <a:solidFill>
                  <a:srgbClr val="262626"/>
                </a:solidFill>
                <a:latin typeface="Arial"/>
              </a:rPr>
              <a:t>•  August is Paraguayan winter</a:t>
            </a:r>
            <a:r>
              <a:rPr lang="en-US" sz="1400" b="0" i="0" dirty="0">
                <a:solidFill>
                  <a:srgbClr val="262626"/>
                </a:solidFill>
                <a:latin typeface="Arial"/>
              </a:rPr>
              <a:t>. </a:t>
            </a:r>
            <a:r>
              <a:rPr lang="en-US" sz="1400" dirty="0">
                <a:solidFill>
                  <a:srgbClr val="262626"/>
                </a:solidFill>
                <a:latin typeface="Arial"/>
              </a:rPr>
              <a:t>C</a:t>
            </a:r>
            <a:r>
              <a:rPr sz="1400" b="0" i="0" dirty="0">
                <a:solidFill>
                  <a:srgbClr val="262626"/>
                </a:solidFill>
                <a:latin typeface="Arial"/>
              </a:rPr>
              <a:t>ool morning starts (Women 07:30, Men 10:30), Cold-weather warm-up kit </a:t>
            </a:r>
            <a:r>
              <a:rPr lang="en-US" sz="1400" b="0" i="0" dirty="0">
                <a:solidFill>
                  <a:srgbClr val="262626"/>
                </a:solidFill>
                <a:latin typeface="Arial"/>
              </a:rPr>
              <a:t>likely </a:t>
            </a:r>
            <a:r>
              <a:rPr sz="1400" b="0" i="0" dirty="0">
                <a:solidFill>
                  <a:srgbClr val="262626"/>
                </a:solidFill>
                <a:latin typeface="Arial"/>
              </a:rPr>
              <a:t>more </a:t>
            </a:r>
            <a:r>
              <a:rPr lang="en-US" sz="1400" b="0" i="0" dirty="0">
                <a:solidFill>
                  <a:srgbClr val="262626"/>
                </a:solidFill>
                <a:latin typeface="Arial"/>
              </a:rPr>
              <a:t>important </a:t>
            </a:r>
            <a:r>
              <a:rPr sz="1400" b="0" i="0" dirty="0">
                <a:solidFill>
                  <a:srgbClr val="262626"/>
                </a:solidFill>
                <a:latin typeface="Arial"/>
              </a:rPr>
              <a:t>than cooling kit.</a:t>
            </a:r>
          </a:p>
        </p:txBody>
      </p:sp>
      <p:sp>
        <p:nvSpPr>
          <p:cNvPr id="16" name="Rectangle 15"/>
          <p:cNvSpPr/>
          <p:nvPr/>
        </p:nvSpPr>
        <p:spPr>
          <a:xfrm>
            <a:off x="6583680" y="109728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29400" y="1115568"/>
            <a:ext cx="4937760" cy="274320"/>
          </a:xfrm>
          <a:prstGeom prst="rect">
            <a:avLst/>
          </a:prstGeom>
          <a:noFill/>
        </p:spPr>
        <p:txBody>
          <a:bodyPr wrap="square">
            <a:spAutoFit/>
          </a:bodyPr>
          <a:lstStyle/>
          <a:p>
            <a:pPr algn="l"/>
            <a:r>
              <a:rPr sz="1200" b="1" i="0">
                <a:solidFill>
                  <a:srgbClr val="FFFFFF"/>
                </a:solidFill>
                <a:latin typeface="Arial"/>
              </a:rPr>
              <a:t>COURSE AT A GLANCE</a:t>
            </a:r>
          </a:p>
        </p:txBody>
      </p:sp>
      <p:sp>
        <p:nvSpPr>
          <p:cNvPr id="18" name="TextBox 17"/>
          <p:cNvSpPr txBox="1"/>
          <p:nvPr/>
        </p:nvSpPr>
        <p:spPr>
          <a:xfrm>
            <a:off x="6675120" y="1508760"/>
            <a:ext cx="1828800" cy="320040"/>
          </a:xfrm>
          <a:prstGeom prst="rect">
            <a:avLst/>
          </a:prstGeom>
          <a:noFill/>
        </p:spPr>
        <p:txBody>
          <a:bodyPr wrap="square">
            <a:spAutoFit/>
          </a:bodyPr>
          <a:lstStyle/>
          <a:p>
            <a:pPr algn="l"/>
            <a:r>
              <a:rPr sz="1200" b="1" i="0">
                <a:solidFill>
                  <a:srgbClr val="002060"/>
                </a:solidFill>
                <a:latin typeface="Arial"/>
              </a:rPr>
              <a:t>Swim:</a:t>
            </a:r>
          </a:p>
        </p:txBody>
      </p:sp>
      <p:sp>
        <p:nvSpPr>
          <p:cNvPr id="19" name="TextBox 18"/>
          <p:cNvSpPr txBox="1"/>
          <p:nvPr/>
        </p:nvSpPr>
        <p:spPr>
          <a:xfrm>
            <a:off x="8229600" y="1508760"/>
            <a:ext cx="3657600" cy="320040"/>
          </a:xfrm>
          <a:prstGeom prst="rect">
            <a:avLst/>
          </a:prstGeom>
          <a:noFill/>
        </p:spPr>
        <p:txBody>
          <a:bodyPr wrap="square">
            <a:spAutoFit/>
          </a:bodyPr>
          <a:lstStyle/>
          <a:p>
            <a:pPr algn="l"/>
            <a:r>
              <a:rPr sz="1200" b="0" i="0">
                <a:solidFill>
                  <a:srgbClr val="262626"/>
                </a:solidFill>
                <a:latin typeface="Arial"/>
              </a:rPr>
              <a:t>1.5 km – 2 laps × 750 m</a:t>
            </a:r>
          </a:p>
        </p:txBody>
      </p:sp>
      <p:sp>
        <p:nvSpPr>
          <p:cNvPr id="20" name="TextBox 19"/>
          <p:cNvSpPr txBox="1"/>
          <p:nvPr/>
        </p:nvSpPr>
        <p:spPr>
          <a:xfrm>
            <a:off x="6675120" y="1847088"/>
            <a:ext cx="1828800" cy="320040"/>
          </a:xfrm>
          <a:prstGeom prst="rect">
            <a:avLst/>
          </a:prstGeom>
          <a:noFill/>
        </p:spPr>
        <p:txBody>
          <a:bodyPr wrap="square">
            <a:spAutoFit/>
          </a:bodyPr>
          <a:lstStyle/>
          <a:p>
            <a:pPr algn="l"/>
            <a:r>
              <a:rPr sz="1200" b="1" i="0">
                <a:solidFill>
                  <a:srgbClr val="002060"/>
                </a:solidFill>
                <a:latin typeface="Arial"/>
              </a:rPr>
              <a:t>Bike:</a:t>
            </a:r>
          </a:p>
        </p:txBody>
      </p:sp>
      <p:sp>
        <p:nvSpPr>
          <p:cNvPr id="21" name="TextBox 20"/>
          <p:cNvSpPr txBox="1"/>
          <p:nvPr/>
        </p:nvSpPr>
        <p:spPr>
          <a:xfrm>
            <a:off x="8229600" y="1847088"/>
            <a:ext cx="3657600" cy="320040"/>
          </a:xfrm>
          <a:prstGeom prst="rect">
            <a:avLst/>
          </a:prstGeom>
          <a:noFill/>
        </p:spPr>
        <p:txBody>
          <a:bodyPr wrap="square">
            <a:spAutoFit/>
          </a:bodyPr>
          <a:lstStyle/>
          <a:p>
            <a:pPr algn="l"/>
            <a:r>
              <a:rPr sz="1200" b="0" i="0">
                <a:solidFill>
                  <a:srgbClr val="262626"/>
                </a:solidFill>
                <a:latin typeface="Arial"/>
              </a:rPr>
              <a:t>39.96 km – 6 laps × 6.66 km</a:t>
            </a:r>
          </a:p>
        </p:txBody>
      </p:sp>
      <p:sp>
        <p:nvSpPr>
          <p:cNvPr id="22" name="TextBox 21"/>
          <p:cNvSpPr txBox="1"/>
          <p:nvPr/>
        </p:nvSpPr>
        <p:spPr>
          <a:xfrm>
            <a:off x="6675120" y="2185415"/>
            <a:ext cx="1828800" cy="320040"/>
          </a:xfrm>
          <a:prstGeom prst="rect">
            <a:avLst/>
          </a:prstGeom>
          <a:noFill/>
        </p:spPr>
        <p:txBody>
          <a:bodyPr wrap="square">
            <a:spAutoFit/>
          </a:bodyPr>
          <a:lstStyle/>
          <a:p>
            <a:pPr algn="l"/>
            <a:r>
              <a:rPr sz="1200" b="1" i="0">
                <a:solidFill>
                  <a:srgbClr val="002060"/>
                </a:solidFill>
                <a:latin typeface="Arial"/>
              </a:rPr>
              <a:t>Run:</a:t>
            </a:r>
          </a:p>
        </p:txBody>
      </p:sp>
      <p:sp>
        <p:nvSpPr>
          <p:cNvPr id="23" name="TextBox 22"/>
          <p:cNvSpPr txBox="1"/>
          <p:nvPr/>
        </p:nvSpPr>
        <p:spPr>
          <a:xfrm>
            <a:off x="8229600" y="2185415"/>
            <a:ext cx="3657600" cy="320040"/>
          </a:xfrm>
          <a:prstGeom prst="rect">
            <a:avLst/>
          </a:prstGeom>
          <a:noFill/>
        </p:spPr>
        <p:txBody>
          <a:bodyPr wrap="square">
            <a:spAutoFit/>
          </a:bodyPr>
          <a:lstStyle/>
          <a:p>
            <a:pPr algn="l"/>
            <a:r>
              <a:rPr sz="1200" b="0" i="0">
                <a:solidFill>
                  <a:srgbClr val="262626"/>
                </a:solidFill>
                <a:latin typeface="Arial"/>
              </a:rPr>
              <a:t>10 km – 4 laps × 2.35 km</a:t>
            </a:r>
          </a:p>
        </p:txBody>
      </p:sp>
      <p:sp>
        <p:nvSpPr>
          <p:cNvPr id="24" name="TextBox 23"/>
          <p:cNvSpPr txBox="1"/>
          <p:nvPr/>
        </p:nvSpPr>
        <p:spPr>
          <a:xfrm>
            <a:off x="6675120" y="2523744"/>
            <a:ext cx="1828800" cy="320040"/>
          </a:xfrm>
          <a:prstGeom prst="rect">
            <a:avLst/>
          </a:prstGeom>
          <a:noFill/>
        </p:spPr>
        <p:txBody>
          <a:bodyPr wrap="square">
            <a:spAutoFit/>
          </a:bodyPr>
          <a:lstStyle/>
          <a:p>
            <a:pPr algn="l"/>
            <a:r>
              <a:rPr sz="1200" b="1" i="0">
                <a:solidFill>
                  <a:srgbClr val="002060"/>
                </a:solidFill>
                <a:latin typeface="Arial"/>
              </a:rPr>
              <a:t>Format:</a:t>
            </a:r>
          </a:p>
        </p:txBody>
      </p:sp>
      <p:sp>
        <p:nvSpPr>
          <p:cNvPr id="25" name="TextBox 24"/>
          <p:cNvSpPr txBox="1"/>
          <p:nvPr/>
        </p:nvSpPr>
        <p:spPr>
          <a:xfrm>
            <a:off x="8229600" y="2523744"/>
            <a:ext cx="3657600" cy="320040"/>
          </a:xfrm>
          <a:prstGeom prst="rect">
            <a:avLst/>
          </a:prstGeom>
          <a:noFill/>
        </p:spPr>
        <p:txBody>
          <a:bodyPr wrap="square">
            <a:spAutoFit/>
          </a:bodyPr>
          <a:lstStyle/>
          <a:p>
            <a:pPr algn="l"/>
            <a:r>
              <a:rPr sz="1200" b="0" i="0">
                <a:solidFill>
                  <a:srgbClr val="262626"/>
                </a:solidFill>
                <a:latin typeface="Arial"/>
              </a:rPr>
              <a:t>Standard Distance (World Cup)</a:t>
            </a:r>
          </a:p>
        </p:txBody>
      </p:sp>
      <p:sp>
        <p:nvSpPr>
          <p:cNvPr id="26" name="TextBox 25"/>
          <p:cNvSpPr txBox="1"/>
          <p:nvPr/>
        </p:nvSpPr>
        <p:spPr>
          <a:xfrm>
            <a:off x="6675120" y="2862072"/>
            <a:ext cx="1828800" cy="320040"/>
          </a:xfrm>
          <a:prstGeom prst="rect">
            <a:avLst/>
          </a:prstGeom>
          <a:noFill/>
        </p:spPr>
        <p:txBody>
          <a:bodyPr wrap="square">
            <a:spAutoFit/>
          </a:bodyPr>
          <a:lstStyle/>
          <a:p>
            <a:pPr algn="l"/>
            <a:r>
              <a:rPr sz="1200" b="1" i="0">
                <a:solidFill>
                  <a:srgbClr val="002060"/>
                </a:solidFill>
                <a:latin typeface="Arial"/>
              </a:rPr>
              <a:t>Bike Laps:</a:t>
            </a:r>
          </a:p>
        </p:txBody>
      </p:sp>
      <p:sp>
        <p:nvSpPr>
          <p:cNvPr id="27" name="TextBox 26"/>
          <p:cNvSpPr txBox="1"/>
          <p:nvPr/>
        </p:nvSpPr>
        <p:spPr>
          <a:xfrm>
            <a:off x="8229600" y="2862072"/>
            <a:ext cx="3657600" cy="320040"/>
          </a:xfrm>
          <a:prstGeom prst="rect">
            <a:avLst/>
          </a:prstGeom>
          <a:noFill/>
        </p:spPr>
        <p:txBody>
          <a:bodyPr wrap="square">
            <a:spAutoFit/>
          </a:bodyPr>
          <a:lstStyle/>
          <a:p>
            <a:pPr algn="l"/>
            <a:r>
              <a:rPr sz="1200" b="0" i="0">
                <a:solidFill>
                  <a:srgbClr val="262626"/>
                </a:solidFill>
                <a:latin typeface="Arial"/>
              </a:rPr>
              <a:t>6</a:t>
            </a:r>
          </a:p>
        </p:txBody>
      </p:sp>
      <p:sp>
        <p:nvSpPr>
          <p:cNvPr id="28" name="TextBox 27"/>
          <p:cNvSpPr txBox="1"/>
          <p:nvPr/>
        </p:nvSpPr>
        <p:spPr>
          <a:xfrm>
            <a:off x="6675120" y="3200400"/>
            <a:ext cx="1828800" cy="320040"/>
          </a:xfrm>
          <a:prstGeom prst="rect">
            <a:avLst/>
          </a:prstGeom>
          <a:noFill/>
        </p:spPr>
        <p:txBody>
          <a:bodyPr wrap="square">
            <a:spAutoFit/>
          </a:bodyPr>
          <a:lstStyle/>
          <a:p>
            <a:pPr algn="l"/>
            <a:r>
              <a:rPr sz="1200" b="1" i="0">
                <a:solidFill>
                  <a:srgbClr val="002060"/>
                </a:solidFill>
                <a:latin typeface="Arial"/>
              </a:rPr>
              <a:t>Run Laps:</a:t>
            </a:r>
          </a:p>
        </p:txBody>
      </p:sp>
      <p:sp>
        <p:nvSpPr>
          <p:cNvPr id="29" name="TextBox 28"/>
          <p:cNvSpPr txBox="1"/>
          <p:nvPr/>
        </p:nvSpPr>
        <p:spPr>
          <a:xfrm>
            <a:off x="8229600" y="3200400"/>
            <a:ext cx="3657600" cy="320040"/>
          </a:xfrm>
          <a:prstGeom prst="rect">
            <a:avLst/>
          </a:prstGeom>
          <a:noFill/>
        </p:spPr>
        <p:txBody>
          <a:bodyPr wrap="square">
            <a:spAutoFit/>
          </a:bodyPr>
          <a:lstStyle/>
          <a:p>
            <a:pPr algn="l"/>
            <a:r>
              <a:rPr sz="1200" b="0" i="0">
                <a:solidFill>
                  <a:srgbClr val="262626"/>
                </a:solidFill>
                <a:latin typeface="Arial"/>
              </a:rPr>
              <a:t>4</a:t>
            </a:r>
          </a:p>
        </p:txBody>
      </p:sp>
      <p:sp>
        <p:nvSpPr>
          <p:cNvPr id="30" name="Rectangle 29"/>
          <p:cNvSpPr/>
          <p:nvPr/>
        </p:nvSpPr>
        <p:spPr>
          <a:xfrm>
            <a:off x="6583680" y="3657600"/>
            <a:ext cx="5303520"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29400" y="3675887"/>
            <a:ext cx="4937760" cy="274320"/>
          </a:xfrm>
          <a:prstGeom prst="rect">
            <a:avLst/>
          </a:prstGeom>
          <a:noFill/>
        </p:spPr>
        <p:txBody>
          <a:bodyPr wrap="square">
            <a:spAutoFit/>
          </a:bodyPr>
          <a:lstStyle/>
          <a:p>
            <a:pPr algn="l"/>
            <a:r>
              <a:rPr sz="1200" b="1" i="0">
                <a:solidFill>
                  <a:srgbClr val="FFFFFF"/>
                </a:solidFill>
                <a:latin typeface="Arial"/>
              </a:rPr>
              <a:t>QUICK LINKS</a:t>
            </a:r>
          </a:p>
        </p:txBody>
      </p:sp>
      <p:sp>
        <p:nvSpPr>
          <p:cNvPr id="32" name="TextBox 31"/>
          <p:cNvSpPr txBox="1"/>
          <p:nvPr/>
        </p:nvSpPr>
        <p:spPr>
          <a:xfrm>
            <a:off x="6675120" y="4069080"/>
            <a:ext cx="5120640" cy="274320"/>
          </a:xfrm>
          <a:prstGeom prst="rect">
            <a:avLst/>
          </a:prstGeom>
          <a:noFill/>
        </p:spPr>
        <p:txBody>
          <a:bodyPr wrap="square">
            <a:spAutoFit/>
          </a:bodyPr>
          <a:lstStyle/>
          <a:p>
            <a:pPr algn="l"/>
            <a:r>
              <a:rPr sz="1100" b="1" i="0">
                <a:solidFill>
                  <a:srgbClr val="002060"/>
                </a:solidFill>
                <a:latin typeface="Arial"/>
              </a:rPr>
              <a:t>Current Race Info:</a:t>
            </a:r>
          </a:p>
        </p:txBody>
      </p:sp>
      <p:sp>
        <p:nvSpPr>
          <p:cNvPr id="33" name="TextBox 32"/>
          <p:cNvSpPr txBox="1"/>
          <p:nvPr/>
        </p:nvSpPr>
        <p:spPr>
          <a:xfrm>
            <a:off x="6675120" y="4370832"/>
            <a:ext cx="5120640" cy="246221"/>
          </a:xfrm>
          <a:prstGeom prst="rect">
            <a:avLst/>
          </a:prstGeom>
          <a:noFill/>
        </p:spPr>
        <p:txBody>
          <a:bodyPr wrap="square">
            <a:spAutoFit/>
          </a:bodyPr>
          <a:lstStyle/>
          <a:p>
            <a:pPr algn="l"/>
            <a:r>
              <a:rPr sz="1000" b="0" i="1" dirty="0">
                <a:solidFill>
                  <a:srgbClr val="262626"/>
                </a:solidFill>
                <a:latin typeface="Arial"/>
                <a:hlinkClick r:id="rId3"/>
              </a:rPr>
              <a:t>Race Info | 2026 World Triathlon Cup Asunción</a:t>
            </a:r>
            <a:endParaRPr sz="1000" b="0" i="1" dirty="0">
              <a:solidFill>
                <a:srgbClr val="262626"/>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Course Profile &amp; Map</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115568"/>
            <a:ext cx="11796910" cy="545896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a:extLst>
              <a:ext uri="{FF2B5EF4-FFF2-40B4-BE49-F238E27FC236}">
                <a16:creationId xmlns:a16="http://schemas.microsoft.com/office/drawing/2014/main" id="{D1098268-A5C0-B811-AC3F-DDDF8F960746}"/>
              </a:ext>
            </a:extLst>
          </p:cNvPr>
          <p:cNvSpPr/>
          <p:nvPr/>
        </p:nvSpPr>
        <p:spPr>
          <a:xfrm>
            <a:off x="2002971" y="3265714"/>
            <a:ext cx="7134809" cy="914400"/>
          </a:xfrm>
          <a:prstGeom prst="rect">
            <a:avLst/>
          </a:prstGeom>
          <a:solidFill>
            <a:schemeClr val="tx2"/>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No Street View Available.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Swim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74320" y="5029200"/>
            <a:ext cx="5120640" cy="228600"/>
          </a:xfrm>
          <a:prstGeom prst="rect">
            <a:avLst/>
          </a:prstGeom>
          <a:noFill/>
        </p:spPr>
        <p:txBody>
          <a:bodyPr wrap="square">
            <a:spAutoFit/>
          </a:bodyPr>
          <a:lstStyle/>
          <a:p>
            <a:pPr algn="ctr"/>
            <a:r>
              <a:rPr sz="900" b="0" i="1">
                <a:solidFill>
                  <a:srgbClr val="BFBFBF"/>
                </a:solidFill>
                <a:latin typeface="Arial"/>
              </a:rPr>
              <a:t>Source: 2026 World Triathlon Cup Asunción Athlete's Guide + official swimming course flyer — 9 Aug 2026</a:t>
            </a: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1.5 km   •   2 × 750 m</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Sheltered inland lagoon — fresh water, calm</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1.5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Layout</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Delta lagoon</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Start</a:t>
            </a:r>
          </a:p>
        </p:txBody>
      </p:sp>
      <p:sp>
        <p:nvSpPr>
          <p:cNvPr id="21" name="TextBox 20"/>
          <p:cNvSpPr txBox="1"/>
          <p:nvPr/>
        </p:nvSpPr>
        <p:spPr>
          <a:xfrm>
            <a:off x="9875520" y="2340864"/>
            <a:ext cx="1920240" cy="307777"/>
          </a:xfrm>
          <a:prstGeom prst="rect">
            <a:avLst/>
          </a:prstGeom>
          <a:noFill/>
        </p:spPr>
        <p:txBody>
          <a:bodyPr wrap="square">
            <a:spAutoFit/>
          </a:bodyPr>
          <a:lstStyle/>
          <a:p>
            <a:pPr algn="ctr"/>
            <a:r>
              <a:rPr sz="1400" b="1" i="0" dirty="0">
                <a:solidFill>
                  <a:srgbClr val="262626"/>
                </a:solidFill>
                <a:latin typeface="Arial"/>
              </a:rPr>
              <a:t>Floating pontoon</a:t>
            </a: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Water Temp</a:t>
            </a:r>
          </a:p>
        </p:txBody>
      </p:sp>
      <p:sp>
        <p:nvSpPr>
          <p:cNvPr id="24" name="TextBox 23"/>
          <p:cNvSpPr txBox="1"/>
          <p:nvPr/>
        </p:nvSpPr>
        <p:spPr>
          <a:xfrm>
            <a:off x="5669280" y="3054096"/>
            <a:ext cx="1920240" cy="307777"/>
          </a:xfrm>
          <a:prstGeom prst="rect">
            <a:avLst/>
          </a:prstGeom>
          <a:noFill/>
        </p:spPr>
        <p:txBody>
          <a:bodyPr wrap="square">
            <a:spAutoFit/>
          </a:bodyPr>
          <a:lstStyle/>
          <a:p>
            <a:pPr algn="ctr"/>
            <a:r>
              <a:rPr sz="1400" b="1" i="0" dirty="0">
                <a:solidFill>
                  <a:srgbClr val="262626"/>
                </a:solidFill>
                <a:latin typeface="Arial"/>
              </a:rPr>
              <a:t>18.0–22.0 °C</a:t>
            </a: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Wetsuit</a:t>
            </a:r>
          </a:p>
        </p:txBody>
      </p:sp>
      <p:sp>
        <p:nvSpPr>
          <p:cNvPr id="27" name="TextBox 26"/>
          <p:cNvSpPr txBox="1"/>
          <p:nvPr/>
        </p:nvSpPr>
        <p:spPr>
          <a:xfrm>
            <a:off x="7772400" y="3054096"/>
            <a:ext cx="1920240" cy="307777"/>
          </a:xfrm>
          <a:prstGeom prst="rect">
            <a:avLst/>
          </a:prstGeom>
          <a:noFill/>
        </p:spPr>
        <p:txBody>
          <a:bodyPr wrap="square">
            <a:spAutoFit/>
          </a:bodyPr>
          <a:lstStyle/>
          <a:p>
            <a:pPr algn="ctr"/>
            <a:r>
              <a:rPr lang="en-US" sz="1400" b="1" i="0" dirty="0">
                <a:solidFill>
                  <a:srgbClr val="262626"/>
                </a:solidFill>
                <a:latin typeface="Arial"/>
              </a:rPr>
              <a:t>Race Day </a:t>
            </a:r>
            <a:endParaRPr sz="1400" b="1" i="0" dirty="0">
              <a:solidFill>
                <a:srgbClr val="262626"/>
              </a:solidFill>
              <a:latin typeface="Arial"/>
            </a:endParaRP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Lap Count</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400" b="1" i="0">
                <a:solidFill>
                  <a:srgbClr val="262626"/>
                </a:solidFill>
                <a:latin typeface="Arial"/>
              </a:rPr>
              <a:t>2</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523220"/>
          </a:xfrm>
          <a:prstGeom prst="rect">
            <a:avLst/>
          </a:prstGeom>
          <a:noFill/>
        </p:spPr>
        <p:txBody>
          <a:bodyPr wrap="square">
            <a:spAutoFit/>
          </a:bodyPr>
          <a:lstStyle/>
          <a:p>
            <a:pPr algn="l"/>
            <a:r>
              <a:rPr sz="1400" b="0" i="0" dirty="0">
                <a:solidFill>
                  <a:srgbClr val="262626"/>
                </a:solidFill>
                <a:latin typeface="Arial"/>
              </a:rPr>
              <a:t>•  Standard-distance swim: 2 × 750 m loops in the Delta lagoon</a:t>
            </a:r>
            <a:r>
              <a:rPr lang="en-US" sz="1400" dirty="0">
                <a:solidFill>
                  <a:srgbClr val="262626"/>
                </a:solidFill>
                <a:latin typeface="Arial"/>
              </a:rPr>
              <a:t>. N</a:t>
            </a:r>
            <a:r>
              <a:rPr sz="1400" b="0" i="0" dirty="0">
                <a:solidFill>
                  <a:srgbClr val="262626"/>
                </a:solidFill>
                <a:latin typeface="Arial"/>
              </a:rPr>
              <a:t>ot the Paraguay River </a:t>
            </a:r>
            <a:r>
              <a:rPr lang="en-US" sz="1400" b="0" i="0" dirty="0">
                <a:solidFill>
                  <a:srgbClr val="262626"/>
                </a:solidFill>
                <a:latin typeface="Arial"/>
              </a:rPr>
              <a:t>should be </a:t>
            </a:r>
            <a:r>
              <a:rPr sz="1400" b="0" i="0" dirty="0">
                <a:solidFill>
                  <a:srgbClr val="262626"/>
                </a:solidFill>
                <a:latin typeface="Arial"/>
              </a:rPr>
              <a:t>sheltered</a:t>
            </a:r>
            <a:r>
              <a:rPr lang="en-US" sz="1400" b="0" i="0" dirty="0">
                <a:solidFill>
                  <a:srgbClr val="262626"/>
                </a:solidFill>
                <a:latin typeface="Arial"/>
              </a:rPr>
              <a:t> with little to </a:t>
            </a:r>
            <a:r>
              <a:rPr sz="1400" b="0" i="0" dirty="0">
                <a:solidFill>
                  <a:srgbClr val="262626"/>
                </a:solidFill>
                <a:latin typeface="Arial"/>
              </a:rPr>
              <a:t>no current</a:t>
            </a:r>
          </a:p>
        </p:txBody>
      </p:sp>
      <p:sp>
        <p:nvSpPr>
          <p:cNvPr id="34" name="TextBox 33"/>
          <p:cNvSpPr txBox="1"/>
          <p:nvPr/>
        </p:nvSpPr>
        <p:spPr>
          <a:xfrm>
            <a:off x="5669280" y="4608949"/>
            <a:ext cx="6126480" cy="307777"/>
          </a:xfrm>
          <a:prstGeom prst="rect">
            <a:avLst/>
          </a:prstGeom>
          <a:noFill/>
        </p:spPr>
        <p:txBody>
          <a:bodyPr wrap="square">
            <a:spAutoFit/>
          </a:bodyPr>
          <a:lstStyle/>
          <a:p>
            <a:pPr algn="l"/>
            <a:r>
              <a:rPr sz="1400" b="0" i="0" dirty="0">
                <a:solidFill>
                  <a:srgbClr val="262626"/>
                </a:solidFill>
                <a:latin typeface="Arial"/>
              </a:rPr>
              <a:t>•  In-water start from floating </a:t>
            </a:r>
            <a:r>
              <a:rPr sz="1400" b="0" i="0" dirty="0" err="1">
                <a:solidFill>
                  <a:srgbClr val="262626"/>
                </a:solidFill>
                <a:latin typeface="Arial"/>
              </a:rPr>
              <a:t>Candock</a:t>
            </a:r>
            <a:r>
              <a:rPr sz="1400" b="0" i="0" dirty="0">
                <a:solidFill>
                  <a:srgbClr val="262626"/>
                </a:solidFill>
                <a:latin typeface="Arial"/>
              </a:rPr>
              <a:t> platforms</a:t>
            </a:r>
          </a:p>
        </p:txBody>
      </p:sp>
      <p:sp>
        <p:nvSpPr>
          <p:cNvPr id="36" name="TextBox 35"/>
          <p:cNvSpPr txBox="1"/>
          <p:nvPr/>
        </p:nvSpPr>
        <p:spPr>
          <a:xfrm>
            <a:off x="5669280" y="5024815"/>
            <a:ext cx="6126480" cy="307777"/>
          </a:xfrm>
          <a:prstGeom prst="rect">
            <a:avLst/>
          </a:prstGeom>
          <a:noFill/>
        </p:spPr>
        <p:txBody>
          <a:bodyPr wrap="square">
            <a:spAutoFit/>
          </a:bodyPr>
          <a:lstStyle/>
          <a:p>
            <a:pPr algn="l"/>
            <a:r>
              <a:rPr sz="1400" b="0" i="0" dirty="0">
                <a:solidFill>
                  <a:srgbClr val="262626"/>
                </a:solidFill>
                <a:latin typeface="Arial"/>
              </a:rPr>
              <a:t>•  Wetsuit call is </a:t>
            </a:r>
            <a:r>
              <a:rPr lang="en-US" sz="1400" b="0" i="0" dirty="0">
                <a:solidFill>
                  <a:srgbClr val="262626"/>
                </a:solidFill>
                <a:latin typeface="Arial"/>
              </a:rPr>
              <a:t>TBD</a:t>
            </a:r>
            <a:r>
              <a:rPr sz="1400" b="0" i="0" dirty="0">
                <a:solidFill>
                  <a:srgbClr val="262626"/>
                </a:solidFill>
                <a:latin typeface="Arial"/>
              </a:rPr>
              <a:t>: 18–22 °C forecast</a:t>
            </a:r>
            <a:r>
              <a:rPr lang="en-US" sz="1400" b="0" i="0" dirty="0">
                <a:solidFill>
                  <a:srgbClr val="262626"/>
                </a:solidFill>
                <a:latin typeface="Arial"/>
              </a:rPr>
              <a:t> leave wide range </a:t>
            </a:r>
            <a:endParaRPr sz="1400" b="0" i="0" dirty="0">
              <a:solidFill>
                <a:srgbClr val="262626"/>
              </a:solidFill>
              <a:latin typeface="Arial"/>
            </a:endParaRPr>
          </a:p>
        </p:txBody>
      </p:sp>
      <p:sp>
        <p:nvSpPr>
          <p:cNvPr id="38" name="TextBox 37"/>
          <p:cNvSpPr txBox="1"/>
          <p:nvPr/>
        </p:nvSpPr>
        <p:spPr>
          <a:xfrm>
            <a:off x="5669280" y="5440680"/>
            <a:ext cx="6126480" cy="523220"/>
          </a:xfrm>
          <a:prstGeom prst="rect">
            <a:avLst/>
          </a:prstGeom>
          <a:noFill/>
        </p:spPr>
        <p:txBody>
          <a:bodyPr wrap="square">
            <a:spAutoFit/>
          </a:bodyPr>
          <a:lstStyle/>
          <a:p>
            <a:pPr algn="l"/>
            <a:r>
              <a:rPr sz="1400" b="0" i="0" dirty="0">
                <a:solidFill>
                  <a:srgbClr val="262626"/>
                </a:solidFill>
                <a:latin typeface="Arial"/>
              </a:rPr>
              <a:t>•  Swim familiarization is Saturday 10:45–11:30 only</a:t>
            </a:r>
            <a:r>
              <a:rPr lang="en-US" sz="1400" b="0" i="0" dirty="0">
                <a:solidFill>
                  <a:srgbClr val="262626"/>
                </a:solidFill>
                <a:latin typeface="Arial"/>
              </a:rPr>
              <a:t>. </a:t>
            </a:r>
            <a:r>
              <a:rPr lang="en-US" sz="1400" dirty="0">
                <a:solidFill>
                  <a:srgbClr val="262626"/>
                </a:solidFill>
                <a:latin typeface="Arial"/>
              </a:rPr>
              <a:t>T</a:t>
            </a:r>
            <a:r>
              <a:rPr sz="1400" b="0" i="0" dirty="0">
                <a:solidFill>
                  <a:srgbClr val="262626"/>
                </a:solidFill>
                <a:latin typeface="Arial"/>
              </a:rPr>
              <a:t>he venue is closed to athletes on all other days</a:t>
            </a:r>
          </a:p>
        </p:txBody>
      </p:sp>
      <p:sp>
        <p:nvSpPr>
          <p:cNvPr id="39" name="Rectangle 38"/>
          <p:cNvSpPr/>
          <p:nvPr/>
        </p:nvSpPr>
        <p:spPr>
          <a:xfrm>
            <a:off x="274320" y="6035040"/>
            <a:ext cx="11640312" cy="29260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365760" y="6080760"/>
            <a:ext cx="11430000" cy="238527"/>
          </a:xfrm>
          <a:prstGeom prst="rect">
            <a:avLst/>
          </a:prstGeom>
          <a:noFill/>
        </p:spPr>
        <p:txBody>
          <a:bodyPr wrap="square">
            <a:spAutoFit/>
          </a:bodyPr>
          <a:lstStyle/>
          <a:p>
            <a:pPr algn="l"/>
            <a:r>
              <a:rPr sz="950" b="0" i="1" dirty="0">
                <a:solidFill>
                  <a:srgbClr val="262626"/>
                </a:solidFill>
                <a:latin typeface="Arial"/>
              </a:rPr>
              <a:t>Not in race brief: Buoy count and turn configuration (not published in the guide</a:t>
            </a:r>
            <a:r>
              <a:rPr lang="en-US" sz="950" i="1" dirty="0">
                <a:solidFill>
                  <a:srgbClr val="262626"/>
                </a:solidFill>
                <a:latin typeface="Arial"/>
              </a:rPr>
              <a:t>)</a:t>
            </a:r>
            <a:endParaRPr sz="950" b="0" i="1" dirty="0">
              <a:solidFill>
                <a:srgbClr val="262626"/>
              </a:solidFill>
              <a:latin typeface="Arial"/>
            </a:endParaRPr>
          </a:p>
        </p:txBody>
      </p:sp>
      <p:pic>
        <p:nvPicPr>
          <p:cNvPr id="42" name="Picture 41" descr="The image depicts a map with a swimming zone marked, including a trail or path, surrounded by green grassy areas, a body of water, and some infrastructure like roads or buildings.&#10;&#10;AI-generated content may be incorrect.">
            <a:extLst>
              <a:ext uri="{FF2B5EF4-FFF2-40B4-BE49-F238E27FC236}">
                <a16:creationId xmlns:a16="http://schemas.microsoft.com/office/drawing/2014/main" id="{E82A6DA7-4904-BD8E-E52B-CD8BE9252395}"/>
              </a:ext>
            </a:extLst>
          </p:cNvPr>
          <p:cNvPicPr>
            <a:picLocks noChangeAspect="1"/>
          </p:cNvPicPr>
          <p:nvPr/>
        </p:nvPicPr>
        <p:blipFill>
          <a:blip r:embed="rId3"/>
          <a:stretch>
            <a:fillRect/>
          </a:stretch>
        </p:blipFill>
        <p:spPr>
          <a:xfrm>
            <a:off x="112189" y="1117573"/>
            <a:ext cx="5374211" cy="47023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The diagram illustrates a detailed layout of a recreational area featuring a lake, cycling paths, swimming zones, running trails, and designated cycling areas.&#10;&#10;AI-generated content may be incorrect.">
            <a:extLst>
              <a:ext uri="{FF2B5EF4-FFF2-40B4-BE49-F238E27FC236}">
                <a16:creationId xmlns:a16="http://schemas.microsoft.com/office/drawing/2014/main" id="{92FA5297-243B-236A-96F2-5AEC7FBFCBDA}"/>
              </a:ext>
            </a:extLst>
          </p:cNvPr>
          <p:cNvPicPr>
            <a:picLocks noChangeAspect="1"/>
          </p:cNvPicPr>
          <p:nvPr/>
        </p:nvPicPr>
        <p:blipFill>
          <a:blip r:embed="rId2"/>
          <a:stretch>
            <a:fillRect/>
          </a:stretch>
        </p:blipFill>
        <p:spPr>
          <a:xfrm>
            <a:off x="132954" y="1143000"/>
            <a:ext cx="5353446" cy="3986784"/>
          </a:xfrm>
          <a:prstGeom prst="rect">
            <a:avLst/>
          </a:prstGeom>
        </p:spPr>
      </p:pic>
      <p:sp>
        <p:nvSpPr>
          <p:cNvPr id="39" name="Rectangle 38"/>
          <p:cNvSpPr/>
          <p:nvPr/>
        </p:nvSpPr>
        <p:spPr>
          <a:xfrm>
            <a:off x="274320" y="5120640"/>
            <a:ext cx="11640312" cy="141732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4" name="Picture 43" descr="The diagram represents a series of elevation measurements, starting from 781 and descending to 4.3 in increments.&#10;&#10;AI-generated content may be incorrect.">
            <a:extLst>
              <a:ext uri="{FF2B5EF4-FFF2-40B4-BE49-F238E27FC236}">
                <a16:creationId xmlns:a16="http://schemas.microsoft.com/office/drawing/2014/main" id="{E9DAC86C-B709-62BD-1544-797F7A2EEA60}"/>
              </a:ext>
            </a:extLst>
          </p:cNvPr>
          <p:cNvPicPr>
            <a:picLocks noChangeAspect="1"/>
          </p:cNvPicPr>
          <p:nvPr/>
        </p:nvPicPr>
        <p:blipFill>
          <a:blip r:embed="rId3"/>
          <a:stretch>
            <a:fillRect/>
          </a:stretch>
        </p:blipFill>
        <p:spPr>
          <a:xfrm>
            <a:off x="228599" y="4994344"/>
            <a:ext cx="11727611" cy="1599058"/>
          </a:xfrm>
          <a:prstGeom prst="rect">
            <a:avLst/>
          </a:prstGeom>
        </p:spPr>
      </p:pic>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Bike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4"/>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39.96 km   •   6 × 6.66 km loops</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Closed avenue on La Isla del Delta — smooth tarmac, traffic-free</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Elevation / Lap</a:t>
            </a:r>
          </a:p>
        </p:txBody>
      </p:sp>
      <p:sp>
        <p:nvSpPr>
          <p:cNvPr id="15" name="TextBox 14"/>
          <p:cNvSpPr txBox="1"/>
          <p:nvPr/>
        </p:nvSpPr>
        <p:spPr>
          <a:xfrm>
            <a:off x="5669280" y="2340864"/>
            <a:ext cx="1920240" cy="323165"/>
          </a:xfrm>
          <a:prstGeom prst="rect">
            <a:avLst/>
          </a:prstGeom>
          <a:noFill/>
        </p:spPr>
        <p:txBody>
          <a:bodyPr wrap="square">
            <a:spAutoFit/>
          </a:bodyPr>
          <a:lstStyle/>
          <a:p>
            <a:pPr algn="ctr"/>
            <a:r>
              <a:rPr lang="en-US" sz="1500" b="1" dirty="0">
                <a:solidFill>
                  <a:srgbClr val="262626"/>
                </a:solidFill>
                <a:latin typeface="Arial"/>
              </a:rPr>
              <a:t>47 ft / lap</a:t>
            </a:r>
            <a:endParaRPr sz="1500" b="1" i="0" dirty="0">
              <a:solidFill>
                <a:srgbClr val="262626"/>
              </a:solidFill>
              <a:latin typeface="Arial"/>
            </a:endParaRP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18" name="TextBox 17"/>
          <p:cNvSpPr txBox="1"/>
          <p:nvPr/>
        </p:nvSpPr>
        <p:spPr>
          <a:xfrm>
            <a:off x="7772400" y="2340864"/>
            <a:ext cx="1920240" cy="323165"/>
          </a:xfrm>
          <a:prstGeom prst="rect">
            <a:avLst/>
          </a:prstGeom>
          <a:noFill/>
        </p:spPr>
        <p:txBody>
          <a:bodyPr wrap="square">
            <a:spAutoFit/>
          </a:bodyPr>
          <a:lstStyle/>
          <a:p>
            <a:pPr algn="ctr"/>
            <a:r>
              <a:rPr lang="en-US" sz="1500" b="1" i="0" dirty="0">
                <a:solidFill>
                  <a:srgbClr val="262626"/>
                </a:solidFill>
                <a:latin typeface="Arial"/>
              </a:rPr>
              <a:t>382 ft</a:t>
            </a:r>
            <a:endParaRPr sz="1500" b="1" i="0" dirty="0">
              <a:solidFill>
                <a:srgbClr val="262626"/>
              </a:solidFill>
              <a:latin typeface="Arial"/>
            </a:endParaRP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1" name="TextBox 20"/>
          <p:cNvSpPr txBox="1"/>
          <p:nvPr/>
        </p:nvSpPr>
        <p:spPr>
          <a:xfrm>
            <a:off x="9875520" y="2340864"/>
            <a:ext cx="1920240" cy="323165"/>
          </a:xfrm>
          <a:prstGeom prst="rect">
            <a:avLst/>
          </a:prstGeom>
          <a:noFill/>
        </p:spPr>
        <p:txBody>
          <a:bodyPr wrap="square">
            <a:spAutoFit/>
          </a:bodyPr>
          <a:lstStyle/>
          <a:p>
            <a:pPr algn="ctr"/>
            <a:r>
              <a:rPr lang="en-US" sz="1500" b="1" dirty="0">
                <a:solidFill>
                  <a:srgbClr val="262626"/>
                </a:solidFill>
                <a:latin typeface="Arial"/>
              </a:rPr>
              <a:t>0%</a:t>
            </a:r>
            <a:endParaRPr sz="1500" b="1" i="0" dirty="0">
              <a:solidFill>
                <a:srgbClr val="262626"/>
              </a:solidFill>
              <a:latin typeface="Arial"/>
            </a:endParaRP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Max Climb Grade</a:t>
            </a:r>
          </a:p>
        </p:txBody>
      </p:sp>
      <p:sp>
        <p:nvSpPr>
          <p:cNvPr id="24" name="TextBox 23"/>
          <p:cNvSpPr txBox="1"/>
          <p:nvPr/>
        </p:nvSpPr>
        <p:spPr>
          <a:xfrm>
            <a:off x="5669280" y="3054096"/>
            <a:ext cx="1920240" cy="323165"/>
          </a:xfrm>
          <a:prstGeom prst="rect">
            <a:avLst/>
          </a:prstGeom>
          <a:noFill/>
        </p:spPr>
        <p:txBody>
          <a:bodyPr wrap="square">
            <a:spAutoFit/>
          </a:bodyPr>
          <a:lstStyle/>
          <a:p>
            <a:pPr algn="ctr"/>
            <a:r>
              <a:rPr lang="en-US" sz="1500" b="1" i="0" dirty="0">
                <a:solidFill>
                  <a:srgbClr val="262626"/>
                </a:solidFill>
                <a:latin typeface="Arial"/>
              </a:rPr>
              <a:t>1-2%</a:t>
            </a:r>
            <a:endParaRPr sz="1500" b="1" i="0" dirty="0">
              <a:solidFill>
                <a:srgbClr val="262626"/>
              </a:solidFill>
              <a:latin typeface="Arial"/>
            </a:endParaRP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Wind</a:t>
            </a:r>
          </a:p>
        </p:txBody>
      </p:sp>
      <p:sp>
        <p:nvSpPr>
          <p:cNvPr id="27" name="TextBox 26"/>
          <p:cNvSpPr txBox="1"/>
          <p:nvPr/>
        </p:nvSpPr>
        <p:spPr>
          <a:xfrm>
            <a:off x="7772400" y="3054096"/>
            <a:ext cx="1920240" cy="323165"/>
          </a:xfrm>
          <a:prstGeom prst="rect">
            <a:avLst/>
          </a:prstGeom>
          <a:noFill/>
        </p:spPr>
        <p:txBody>
          <a:bodyPr wrap="square">
            <a:spAutoFit/>
          </a:bodyPr>
          <a:lstStyle/>
          <a:p>
            <a:pPr algn="ctr"/>
            <a:r>
              <a:rPr lang="en-US" sz="1500" b="1" i="0" dirty="0">
                <a:solidFill>
                  <a:srgbClr val="262626"/>
                </a:solidFill>
                <a:latin typeface="Arial"/>
              </a:rPr>
              <a:t>Potential Exposure</a:t>
            </a:r>
            <a:endParaRPr sz="1500" b="1" i="0" dirty="0">
              <a:solidFill>
                <a:srgbClr val="262626"/>
              </a:solidFill>
              <a:latin typeface="Arial"/>
            </a:endParaRP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Loops</a:t>
            </a:r>
          </a:p>
        </p:txBody>
      </p:sp>
      <p:sp>
        <p:nvSpPr>
          <p:cNvPr id="30" name="TextBox 29"/>
          <p:cNvSpPr txBox="1"/>
          <p:nvPr/>
        </p:nvSpPr>
        <p:spPr>
          <a:xfrm>
            <a:off x="9875520" y="3054096"/>
            <a:ext cx="1920240" cy="347472"/>
          </a:xfrm>
          <a:prstGeom prst="rect">
            <a:avLst/>
          </a:prstGeom>
          <a:noFill/>
        </p:spPr>
        <p:txBody>
          <a:bodyPr wrap="square">
            <a:spAutoFit/>
          </a:bodyPr>
          <a:lstStyle/>
          <a:p>
            <a:pPr algn="ctr"/>
            <a:r>
              <a:rPr sz="1500" b="1" i="0">
                <a:solidFill>
                  <a:srgbClr val="262626"/>
                </a:solidFill>
                <a:latin typeface="Arial"/>
              </a:rPr>
              <a:t>6 × 6.66 km</a:t>
            </a:r>
          </a:p>
        </p:txBody>
      </p:sp>
      <p:sp>
        <p:nvSpPr>
          <p:cNvPr id="31" name="Rectangle 30"/>
          <p:cNvSpPr/>
          <p:nvPr/>
        </p:nvSpPr>
        <p:spPr>
          <a:xfrm>
            <a:off x="5577840" y="370332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730752"/>
            <a:ext cx="6126480" cy="237744"/>
          </a:xfrm>
          <a:prstGeom prst="rect">
            <a:avLst/>
          </a:prstGeom>
          <a:noFill/>
        </p:spPr>
        <p:txBody>
          <a:bodyPr wrap="square">
            <a:spAutoFit/>
          </a:bodyPr>
          <a:lstStyle/>
          <a:p>
            <a:pPr algn="l"/>
            <a:r>
              <a:rPr sz="1200" b="1" i="0">
                <a:solidFill>
                  <a:srgbClr val="FFFFFF"/>
                </a:solidFill>
                <a:latin typeface="Arial"/>
              </a:rPr>
              <a:t>Tactical Implications</a:t>
            </a:r>
          </a:p>
        </p:txBody>
      </p:sp>
      <p:sp>
        <p:nvSpPr>
          <p:cNvPr id="33" name="TextBox 32"/>
          <p:cNvSpPr txBox="1"/>
          <p:nvPr/>
        </p:nvSpPr>
        <p:spPr>
          <a:xfrm>
            <a:off x="5669280" y="4069080"/>
            <a:ext cx="6126480" cy="261610"/>
          </a:xfrm>
          <a:prstGeom prst="rect">
            <a:avLst/>
          </a:prstGeom>
          <a:noFill/>
        </p:spPr>
        <p:txBody>
          <a:bodyPr wrap="square">
            <a:spAutoFit/>
          </a:bodyPr>
          <a:lstStyle/>
          <a:p>
            <a:pPr algn="l"/>
            <a:r>
              <a:rPr sz="1100" b="0" i="0" dirty="0">
                <a:solidFill>
                  <a:srgbClr val="262626"/>
                </a:solidFill>
                <a:latin typeface="Arial"/>
              </a:rPr>
              <a:t>•  6 × 6.66 km laps = 39.96 km on a closed main avenue through the Delta development</a:t>
            </a:r>
          </a:p>
        </p:txBody>
      </p:sp>
      <p:sp>
        <p:nvSpPr>
          <p:cNvPr id="34" name="TextBox 33"/>
          <p:cNvSpPr txBox="1"/>
          <p:nvPr/>
        </p:nvSpPr>
        <p:spPr>
          <a:xfrm>
            <a:off x="5669280" y="4340899"/>
            <a:ext cx="6126480" cy="600164"/>
          </a:xfrm>
          <a:prstGeom prst="rect">
            <a:avLst/>
          </a:prstGeom>
          <a:noFill/>
        </p:spPr>
        <p:txBody>
          <a:bodyPr wrap="square">
            <a:spAutoFit/>
          </a:bodyPr>
          <a:lstStyle/>
          <a:p>
            <a:r>
              <a:rPr sz="1100" b="0" i="0" dirty="0">
                <a:solidFill>
                  <a:srgbClr val="262626"/>
                </a:solidFill>
                <a:latin typeface="Arial"/>
              </a:rPr>
              <a:t>•  Flat throughout</a:t>
            </a:r>
            <a:r>
              <a:rPr lang="en-US" sz="1100" dirty="0">
                <a:solidFill>
                  <a:srgbClr val="262626"/>
                </a:solidFill>
                <a:latin typeface="Arial"/>
              </a:rPr>
              <a:t>, with a long out-and-back shape with the Zona </a:t>
            </a:r>
            <a:r>
              <a:rPr lang="en-US" sz="1100" dirty="0" err="1">
                <a:solidFill>
                  <a:srgbClr val="262626"/>
                </a:solidFill>
                <a:latin typeface="Arial"/>
              </a:rPr>
              <a:t>Operativa</a:t>
            </a:r>
            <a:r>
              <a:rPr lang="en-US" sz="1100" dirty="0">
                <a:solidFill>
                  <a:srgbClr val="262626"/>
                </a:solidFill>
                <a:latin typeface="Arial"/>
              </a:rPr>
              <a:t> (transition) mid-course; few technical features beyond the end turnarounds. </a:t>
            </a:r>
          </a:p>
          <a:p>
            <a:pPr algn="l"/>
            <a:endParaRPr sz="1100" b="0" i="0" dirty="0">
              <a:solidFill>
                <a:srgbClr val="262626"/>
              </a:solidFill>
              <a:latin typeface="Arial"/>
            </a:endParaRPr>
          </a:p>
        </p:txBody>
      </p:sp>
      <p:sp>
        <p:nvSpPr>
          <p:cNvPr id="38" name="TextBox 37"/>
          <p:cNvSpPr txBox="1"/>
          <p:nvPr/>
        </p:nvSpPr>
        <p:spPr>
          <a:xfrm>
            <a:off x="5669280" y="4732734"/>
            <a:ext cx="6126480" cy="261610"/>
          </a:xfrm>
          <a:prstGeom prst="rect">
            <a:avLst/>
          </a:prstGeom>
          <a:noFill/>
        </p:spPr>
        <p:txBody>
          <a:bodyPr wrap="square">
            <a:spAutoFit/>
          </a:bodyPr>
          <a:lstStyle/>
          <a:p>
            <a:pPr algn="l"/>
            <a:r>
              <a:rPr lang="en-US" sz="1100" b="0" i="0" dirty="0">
                <a:solidFill>
                  <a:srgbClr val="262626"/>
                </a:solidFill>
                <a:latin typeface="Arial"/>
              </a:rPr>
              <a:t>•  Open floodplain with minimal tree cover: Maybe some potential for crosswind exposure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Run Course Profile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77840" y="1143000"/>
            <a:ext cx="6309360" cy="8229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577840" y="1252728"/>
            <a:ext cx="6309360" cy="365760"/>
          </a:xfrm>
          <a:prstGeom prst="rect">
            <a:avLst/>
          </a:prstGeom>
          <a:noFill/>
        </p:spPr>
        <p:txBody>
          <a:bodyPr wrap="square">
            <a:spAutoFit/>
          </a:bodyPr>
          <a:lstStyle/>
          <a:p>
            <a:pPr algn="ctr"/>
            <a:r>
              <a:rPr sz="2200" b="1" i="0">
                <a:solidFill>
                  <a:srgbClr val="FFFFFF"/>
                </a:solidFill>
                <a:latin typeface="Arial"/>
              </a:rPr>
              <a:t>10.0 km   •   4 × 2.4 km</a:t>
            </a:r>
          </a:p>
        </p:txBody>
      </p:sp>
      <p:sp>
        <p:nvSpPr>
          <p:cNvPr id="12" name="TextBox 11"/>
          <p:cNvSpPr txBox="1"/>
          <p:nvPr/>
        </p:nvSpPr>
        <p:spPr>
          <a:xfrm>
            <a:off x="5577840" y="1636776"/>
            <a:ext cx="6309360" cy="292608"/>
          </a:xfrm>
          <a:prstGeom prst="rect">
            <a:avLst/>
          </a:prstGeom>
          <a:noFill/>
        </p:spPr>
        <p:txBody>
          <a:bodyPr wrap="square">
            <a:spAutoFit/>
          </a:bodyPr>
          <a:lstStyle/>
          <a:p>
            <a:pPr algn="ctr"/>
            <a:r>
              <a:rPr sz="1100" b="0" i="1">
                <a:solidFill>
                  <a:srgbClr val="AABBDD"/>
                </a:solidFill>
                <a:latin typeface="Arial"/>
              </a:rPr>
              <a:t>Paved closed avenue alongside the lagoon and river frontage</a:t>
            </a:r>
          </a:p>
        </p:txBody>
      </p:sp>
      <p:sp>
        <p:nvSpPr>
          <p:cNvPr id="13" name="Rectangle 12"/>
          <p:cNvSpPr/>
          <p:nvPr/>
        </p:nvSpPr>
        <p:spPr>
          <a:xfrm>
            <a:off x="562356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0" y="2139696"/>
            <a:ext cx="1920240" cy="201168"/>
          </a:xfrm>
          <a:prstGeom prst="rect">
            <a:avLst/>
          </a:prstGeom>
          <a:noFill/>
        </p:spPr>
        <p:txBody>
          <a:bodyPr wrap="square">
            <a:spAutoFit/>
          </a:bodyPr>
          <a:lstStyle/>
          <a:p>
            <a:pPr algn="ctr"/>
            <a:r>
              <a:rPr sz="900" b="1" i="0">
                <a:solidFill>
                  <a:srgbClr val="002060"/>
                </a:solidFill>
                <a:latin typeface="Arial"/>
              </a:rPr>
              <a:t>Distance</a:t>
            </a:r>
          </a:p>
        </p:txBody>
      </p:sp>
      <p:sp>
        <p:nvSpPr>
          <p:cNvPr id="15" name="TextBox 14"/>
          <p:cNvSpPr txBox="1"/>
          <p:nvPr/>
        </p:nvSpPr>
        <p:spPr>
          <a:xfrm>
            <a:off x="5669280" y="2340864"/>
            <a:ext cx="1920240" cy="347472"/>
          </a:xfrm>
          <a:prstGeom prst="rect">
            <a:avLst/>
          </a:prstGeom>
          <a:noFill/>
        </p:spPr>
        <p:txBody>
          <a:bodyPr wrap="square">
            <a:spAutoFit/>
          </a:bodyPr>
          <a:lstStyle/>
          <a:p>
            <a:pPr algn="ctr"/>
            <a:r>
              <a:rPr sz="1400" b="1" i="0">
                <a:solidFill>
                  <a:srgbClr val="262626"/>
                </a:solidFill>
                <a:latin typeface="Arial"/>
              </a:rPr>
              <a:t>10.0 km</a:t>
            </a:r>
          </a:p>
        </p:txBody>
      </p:sp>
      <p:sp>
        <p:nvSpPr>
          <p:cNvPr id="16" name="Rectangle 15"/>
          <p:cNvSpPr/>
          <p:nvPr/>
        </p:nvSpPr>
        <p:spPr>
          <a:xfrm>
            <a:off x="772668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0" y="2139696"/>
            <a:ext cx="1920240" cy="201168"/>
          </a:xfrm>
          <a:prstGeom prst="rect">
            <a:avLst/>
          </a:prstGeom>
          <a:noFill/>
        </p:spPr>
        <p:txBody>
          <a:bodyPr wrap="square">
            <a:spAutoFit/>
          </a:bodyPr>
          <a:lstStyle/>
          <a:p>
            <a:pPr algn="ctr"/>
            <a:r>
              <a:rPr sz="900" b="1" i="0">
                <a:solidFill>
                  <a:srgbClr val="002060"/>
                </a:solidFill>
                <a:latin typeface="Arial"/>
              </a:rPr>
              <a:t>Lap Structure</a:t>
            </a:r>
          </a:p>
        </p:txBody>
      </p:sp>
      <p:sp>
        <p:nvSpPr>
          <p:cNvPr id="18" name="TextBox 17"/>
          <p:cNvSpPr txBox="1"/>
          <p:nvPr/>
        </p:nvSpPr>
        <p:spPr>
          <a:xfrm>
            <a:off x="7772400" y="2340864"/>
            <a:ext cx="1920240" cy="347472"/>
          </a:xfrm>
          <a:prstGeom prst="rect">
            <a:avLst/>
          </a:prstGeom>
          <a:noFill/>
        </p:spPr>
        <p:txBody>
          <a:bodyPr wrap="square">
            <a:spAutoFit/>
          </a:bodyPr>
          <a:lstStyle/>
          <a:p>
            <a:pPr algn="ctr"/>
            <a:r>
              <a:rPr sz="1400" b="1" i="0">
                <a:solidFill>
                  <a:srgbClr val="262626"/>
                </a:solidFill>
                <a:latin typeface="Arial"/>
              </a:rPr>
              <a:t>4 × 2.4 km</a:t>
            </a:r>
          </a:p>
        </p:txBody>
      </p:sp>
      <p:sp>
        <p:nvSpPr>
          <p:cNvPr id="19" name="Rectangle 18"/>
          <p:cNvSpPr/>
          <p:nvPr/>
        </p:nvSpPr>
        <p:spPr>
          <a:xfrm>
            <a:off x="9829800" y="2103120"/>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0" y="2139696"/>
            <a:ext cx="1920240" cy="201168"/>
          </a:xfrm>
          <a:prstGeom prst="rect">
            <a:avLst/>
          </a:prstGeom>
          <a:noFill/>
        </p:spPr>
        <p:txBody>
          <a:bodyPr wrap="square">
            <a:spAutoFit/>
          </a:bodyPr>
          <a:lstStyle/>
          <a:p>
            <a:pPr algn="ctr"/>
            <a:r>
              <a:rPr sz="900" b="1" i="0">
                <a:solidFill>
                  <a:srgbClr val="002060"/>
                </a:solidFill>
                <a:latin typeface="Arial"/>
              </a:rPr>
              <a:t>Total Climb</a:t>
            </a:r>
          </a:p>
        </p:txBody>
      </p:sp>
      <p:sp>
        <p:nvSpPr>
          <p:cNvPr id="21" name="TextBox 20"/>
          <p:cNvSpPr txBox="1"/>
          <p:nvPr/>
        </p:nvSpPr>
        <p:spPr>
          <a:xfrm>
            <a:off x="9875520" y="2340864"/>
            <a:ext cx="1920240" cy="307777"/>
          </a:xfrm>
          <a:prstGeom prst="rect">
            <a:avLst/>
          </a:prstGeom>
          <a:noFill/>
        </p:spPr>
        <p:txBody>
          <a:bodyPr wrap="square">
            <a:spAutoFit/>
          </a:bodyPr>
          <a:lstStyle/>
          <a:p>
            <a:pPr algn="ctr"/>
            <a:r>
              <a:rPr lang="en-US" sz="1400" b="1" dirty="0">
                <a:solidFill>
                  <a:srgbClr val="262626"/>
                </a:solidFill>
                <a:latin typeface="Arial"/>
              </a:rPr>
              <a:t>~ 60ft</a:t>
            </a:r>
            <a:endParaRPr sz="1400" b="1" i="0" dirty="0">
              <a:solidFill>
                <a:srgbClr val="262626"/>
              </a:solidFill>
              <a:latin typeface="Arial"/>
            </a:endParaRPr>
          </a:p>
        </p:txBody>
      </p:sp>
      <p:sp>
        <p:nvSpPr>
          <p:cNvPr id="22" name="Rectangle 21"/>
          <p:cNvSpPr/>
          <p:nvPr/>
        </p:nvSpPr>
        <p:spPr>
          <a:xfrm>
            <a:off x="562356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69280" y="2852928"/>
            <a:ext cx="1920240" cy="201168"/>
          </a:xfrm>
          <a:prstGeom prst="rect">
            <a:avLst/>
          </a:prstGeom>
          <a:noFill/>
        </p:spPr>
        <p:txBody>
          <a:bodyPr wrap="square">
            <a:spAutoFit/>
          </a:bodyPr>
          <a:lstStyle/>
          <a:p>
            <a:pPr algn="ctr"/>
            <a:r>
              <a:rPr sz="900" b="1" i="0">
                <a:solidFill>
                  <a:srgbClr val="002060"/>
                </a:solidFill>
                <a:latin typeface="Arial"/>
              </a:rPr>
              <a:t>Avg Grade</a:t>
            </a:r>
          </a:p>
        </p:txBody>
      </p:sp>
      <p:sp>
        <p:nvSpPr>
          <p:cNvPr id="24" name="TextBox 23"/>
          <p:cNvSpPr txBox="1"/>
          <p:nvPr/>
        </p:nvSpPr>
        <p:spPr>
          <a:xfrm>
            <a:off x="5669280" y="3054096"/>
            <a:ext cx="1920240" cy="307777"/>
          </a:xfrm>
          <a:prstGeom prst="rect">
            <a:avLst/>
          </a:prstGeom>
          <a:noFill/>
        </p:spPr>
        <p:txBody>
          <a:bodyPr wrap="square">
            <a:spAutoFit/>
          </a:bodyPr>
          <a:lstStyle/>
          <a:p>
            <a:pPr algn="ctr"/>
            <a:r>
              <a:rPr lang="en-US" sz="1400" b="1" dirty="0">
                <a:solidFill>
                  <a:srgbClr val="262626"/>
                </a:solidFill>
                <a:latin typeface="Arial"/>
              </a:rPr>
              <a:t>~0%</a:t>
            </a:r>
            <a:endParaRPr sz="1400" b="1" i="0" dirty="0">
              <a:solidFill>
                <a:srgbClr val="262626"/>
              </a:solidFill>
              <a:latin typeface="Arial"/>
            </a:endParaRPr>
          </a:p>
        </p:txBody>
      </p:sp>
      <p:sp>
        <p:nvSpPr>
          <p:cNvPr id="25" name="Rectangle 24"/>
          <p:cNvSpPr/>
          <p:nvPr/>
        </p:nvSpPr>
        <p:spPr>
          <a:xfrm>
            <a:off x="772668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772400" y="2852928"/>
            <a:ext cx="1920240" cy="201168"/>
          </a:xfrm>
          <a:prstGeom prst="rect">
            <a:avLst/>
          </a:prstGeom>
          <a:noFill/>
        </p:spPr>
        <p:txBody>
          <a:bodyPr wrap="square">
            <a:spAutoFit/>
          </a:bodyPr>
          <a:lstStyle/>
          <a:p>
            <a:pPr algn="ctr"/>
            <a:r>
              <a:rPr sz="900" b="1" i="0">
                <a:solidFill>
                  <a:srgbClr val="002060"/>
                </a:solidFill>
                <a:latin typeface="Arial"/>
              </a:rPr>
              <a:t>Max ▲ / ▼</a:t>
            </a:r>
          </a:p>
        </p:txBody>
      </p:sp>
      <p:sp>
        <p:nvSpPr>
          <p:cNvPr id="27" name="TextBox 26"/>
          <p:cNvSpPr txBox="1"/>
          <p:nvPr/>
        </p:nvSpPr>
        <p:spPr>
          <a:xfrm>
            <a:off x="7772400" y="3054096"/>
            <a:ext cx="1920240" cy="307777"/>
          </a:xfrm>
          <a:prstGeom prst="rect">
            <a:avLst/>
          </a:prstGeom>
          <a:noFill/>
        </p:spPr>
        <p:txBody>
          <a:bodyPr wrap="square">
            <a:spAutoFit/>
          </a:bodyPr>
          <a:lstStyle/>
          <a:p>
            <a:pPr algn="ctr"/>
            <a:r>
              <a:rPr lang="en-US" sz="1400" b="1" i="0" dirty="0">
                <a:solidFill>
                  <a:srgbClr val="262626"/>
                </a:solidFill>
                <a:latin typeface="Arial"/>
              </a:rPr>
              <a:t>0-2%</a:t>
            </a:r>
            <a:endParaRPr sz="1400" b="1" i="0" dirty="0">
              <a:solidFill>
                <a:srgbClr val="262626"/>
              </a:solidFill>
              <a:latin typeface="Arial"/>
            </a:endParaRPr>
          </a:p>
        </p:txBody>
      </p:sp>
      <p:sp>
        <p:nvSpPr>
          <p:cNvPr id="28" name="Rectangle 27"/>
          <p:cNvSpPr/>
          <p:nvPr/>
        </p:nvSpPr>
        <p:spPr>
          <a:xfrm>
            <a:off x="9829800" y="2816352"/>
            <a:ext cx="2011680" cy="640080"/>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75520" y="2852928"/>
            <a:ext cx="1920240" cy="201168"/>
          </a:xfrm>
          <a:prstGeom prst="rect">
            <a:avLst/>
          </a:prstGeom>
          <a:noFill/>
        </p:spPr>
        <p:txBody>
          <a:bodyPr wrap="square">
            <a:spAutoFit/>
          </a:bodyPr>
          <a:lstStyle/>
          <a:p>
            <a:pPr algn="ctr"/>
            <a:r>
              <a:rPr sz="900" b="1" i="0">
                <a:solidFill>
                  <a:srgbClr val="002060"/>
                </a:solidFill>
                <a:latin typeface="Arial"/>
              </a:rPr>
              <a:t>Heat Risk</a:t>
            </a:r>
          </a:p>
        </p:txBody>
      </p:sp>
      <p:sp>
        <p:nvSpPr>
          <p:cNvPr id="30" name="TextBox 29"/>
          <p:cNvSpPr txBox="1"/>
          <p:nvPr/>
        </p:nvSpPr>
        <p:spPr>
          <a:xfrm>
            <a:off x="9875520" y="3054096"/>
            <a:ext cx="1920240" cy="307777"/>
          </a:xfrm>
          <a:prstGeom prst="rect">
            <a:avLst/>
          </a:prstGeom>
          <a:noFill/>
        </p:spPr>
        <p:txBody>
          <a:bodyPr wrap="square">
            <a:spAutoFit/>
          </a:bodyPr>
          <a:lstStyle/>
          <a:p>
            <a:pPr algn="ctr"/>
            <a:r>
              <a:rPr sz="1400" b="1" i="0" dirty="0">
                <a:solidFill>
                  <a:srgbClr val="262626"/>
                </a:solidFill>
                <a:latin typeface="Arial"/>
              </a:rPr>
              <a:t>LOW</a:t>
            </a:r>
          </a:p>
        </p:txBody>
      </p:sp>
      <p:sp>
        <p:nvSpPr>
          <p:cNvPr id="31" name="Rectangle 30"/>
          <p:cNvSpPr/>
          <p:nvPr/>
        </p:nvSpPr>
        <p:spPr>
          <a:xfrm>
            <a:off x="5577840" y="3611880"/>
            <a:ext cx="6309360"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69280" y="3639312"/>
            <a:ext cx="6126480" cy="237744"/>
          </a:xfrm>
          <a:prstGeom prst="rect">
            <a:avLst/>
          </a:prstGeom>
          <a:noFill/>
        </p:spPr>
        <p:txBody>
          <a:bodyPr wrap="square">
            <a:spAutoFit/>
          </a:bodyPr>
          <a:lstStyle/>
          <a:p>
            <a:pPr algn="l"/>
            <a:r>
              <a:rPr sz="1200" b="1" i="0">
                <a:solidFill>
                  <a:srgbClr val="FFFFFF"/>
                </a:solidFill>
                <a:latin typeface="Arial"/>
              </a:rPr>
              <a:t>Tactical Notes</a:t>
            </a:r>
          </a:p>
        </p:txBody>
      </p:sp>
      <p:sp>
        <p:nvSpPr>
          <p:cNvPr id="33" name="TextBox 32"/>
          <p:cNvSpPr txBox="1"/>
          <p:nvPr/>
        </p:nvSpPr>
        <p:spPr>
          <a:xfrm>
            <a:off x="5669280" y="3977640"/>
            <a:ext cx="6126480" cy="307777"/>
          </a:xfrm>
          <a:prstGeom prst="rect">
            <a:avLst/>
          </a:prstGeom>
          <a:noFill/>
        </p:spPr>
        <p:txBody>
          <a:bodyPr wrap="square">
            <a:spAutoFit/>
          </a:bodyPr>
          <a:lstStyle/>
          <a:p>
            <a:pPr algn="l"/>
            <a:r>
              <a:rPr lang="en-US" sz="1400" b="0" i="0" dirty="0">
                <a:solidFill>
                  <a:srgbClr val="262626"/>
                </a:solidFill>
                <a:latin typeface="Arial"/>
              </a:rPr>
              <a:t>•  </a:t>
            </a:r>
            <a:r>
              <a:rPr sz="1400" b="0" i="0" dirty="0">
                <a:solidFill>
                  <a:srgbClr val="262626"/>
                </a:solidFill>
                <a:latin typeface="Arial"/>
              </a:rPr>
              <a:t>4 × 2.35 km laps plus a final 600 m spur = 10 km</a:t>
            </a:r>
            <a:r>
              <a:rPr lang="en-US" sz="1400" dirty="0">
                <a:solidFill>
                  <a:srgbClr val="262626"/>
                </a:solidFill>
                <a:latin typeface="Arial"/>
              </a:rPr>
              <a:t>. </a:t>
            </a:r>
            <a:endParaRPr sz="1400" b="0" i="0" dirty="0">
              <a:solidFill>
                <a:srgbClr val="262626"/>
              </a:solidFill>
              <a:latin typeface="Arial"/>
            </a:endParaRPr>
          </a:p>
        </p:txBody>
      </p:sp>
      <p:sp>
        <p:nvSpPr>
          <p:cNvPr id="34" name="TextBox 33"/>
          <p:cNvSpPr txBox="1"/>
          <p:nvPr/>
        </p:nvSpPr>
        <p:spPr>
          <a:xfrm>
            <a:off x="5669280" y="4314041"/>
            <a:ext cx="6126480" cy="307777"/>
          </a:xfrm>
          <a:prstGeom prst="rect">
            <a:avLst/>
          </a:prstGeom>
          <a:noFill/>
        </p:spPr>
        <p:txBody>
          <a:bodyPr wrap="square">
            <a:spAutoFit/>
          </a:bodyPr>
          <a:lstStyle/>
          <a:p>
            <a:pPr algn="l"/>
            <a:r>
              <a:rPr sz="1400" b="0" i="0" dirty="0">
                <a:solidFill>
                  <a:srgbClr val="262626"/>
                </a:solidFill>
                <a:latin typeface="Arial"/>
              </a:rPr>
              <a:t>•  Long straight out-and-back shape along the avenue</a:t>
            </a:r>
            <a:r>
              <a:rPr lang="en-US" sz="1400" b="0" i="0" dirty="0">
                <a:solidFill>
                  <a:srgbClr val="262626"/>
                </a:solidFill>
                <a:latin typeface="Arial"/>
              </a:rPr>
              <a:t>. </a:t>
            </a:r>
            <a:r>
              <a:rPr lang="en-US" sz="1400" dirty="0">
                <a:solidFill>
                  <a:srgbClr val="262626"/>
                </a:solidFill>
                <a:latin typeface="Arial"/>
              </a:rPr>
              <a:t>V</a:t>
            </a:r>
            <a:r>
              <a:rPr sz="1400" b="0" i="0" dirty="0">
                <a:solidFill>
                  <a:srgbClr val="262626"/>
                </a:solidFill>
                <a:latin typeface="Arial"/>
              </a:rPr>
              <a:t>ery few turns</a:t>
            </a:r>
            <a:r>
              <a:rPr lang="en-US" sz="1400" dirty="0">
                <a:solidFill>
                  <a:srgbClr val="262626"/>
                </a:solidFill>
                <a:latin typeface="Arial"/>
              </a:rPr>
              <a:t>. </a:t>
            </a:r>
            <a:endParaRPr sz="1400" b="0" i="0" dirty="0">
              <a:solidFill>
                <a:srgbClr val="262626"/>
              </a:solidFill>
              <a:latin typeface="Arial"/>
            </a:endParaRPr>
          </a:p>
        </p:txBody>
      </p:sp>
      <p:sp>
        <p:nvSpPr>
          <p:cNvPr id="37" name="TextBox 36"/>
          <p:cNvSpPr txBox="1"/>
          <p:nvPr/>
        </p:nvSpPr>
        <p:spPr>
          <a:xfrm>
            <a:off x="5669280" y="4650442"/>
            <a:ext cx="6126480" cy="523220"/>
          </a:xfrm>
          <a:prstGeom prst="rect">
            <a:avLst/>
          </a:prstGeom>
          <a:noFill/>
        </p:spPr>
        <p:txBody>
          <a:bodyPr wrap="square">
            <a:spAutoFit/>
          </a:bodyPr>
          <a:lstStyle/>
          <a:p>
            <a:pPr algn="l"/>
            <a:r>
              <a:rPr sz="1400" b="0" i="0" dirty="0">
                <a:solidFill>
                  <a:srgbClr val="262626"/>
                </a:solidFill>
                <a:latin typeface="Arial"/>
              </a:rPr>
              <a:t>•  August is winter here: both races run in the cool morning and finish by ~12:20, well before the daily maximum. Heat is not the limite</a:t>
            </a:r>
            <a:r>
              <a:rPr lang="en-US" sz="1400" dirty="0">
                <a:solidFill>
                  <a:srgbClr val="262626"/>
                </a:solidFill>
                <a:latin typeface="Arial"/>
              </a:rPr>
              <a:t>r here</a:t>
            </a:r>
            <a:endParaRPr sz="1400" b="0" i="0" dirty="0">
              <a:solidFill>
                <a:srgbClr val="262626"/>
              </a:solidFill>
              <a:latin typeface="Arial"/>
            </a:endParaRPr>
          </a:p>
        </p:txBody>
      </p:sp>
      <p:sp>
        <p:nvSpPr>
          <p:cNvPr id="39" name="Rectangle 38"/>
          <p:cNvSpPr/>
          <p:nvPr/>
        </p:nvSpPr>
        <p:spPr>
          <a:xfrm>
            <a:off x="274320" y="5102315"/>
            <a:ext cx="11640312" cy="1417357"/>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2" name="Picture 41" descr="RUNNING&#10;&#10;AI-generated content may be incorrect.">
            <a:extLst>
              <a:ext uri="{FF2B5EF4-FFF2-40B4-BE49-F238E27FC236}">
                <a16:creationId xmlns:a16="http://schemas.microsoft.com/office/drawing/2014/main" id="{2C4A164E-BBA2-A427-6CB0-C87A415374FB}"/>
              </a:ext>
            </a:extLst>
          </p:cNvPr>
          <p:cNvPicPr>
            <a:picLocks noChangeAspect="1"/>
          </p:cNvPicPr>
          <p:nvPr/>
        </p:nvPicPr>
        <p:blipFill>
          <a:blip r:embed="rId3"/>
          <a:stretch>
            <a:fillRect/>
          </a:stretch>
        </p:blipFill>
        <p:spPr>
          <a:xfrm>
            <a:off x="98935" y="1115531"/>
            <a:ext cx="5433185" cy="3895381"/>
          </a:xfrm>
          <a:prstGeom prst="rect">
            <a:avLst/>
          </a:prstGeom>
        </p:spPr>
      </p:pic>
      <p:pic>
        <p:nvPicPr>
          <p:cNvPr id="44" name="Picture 43" descr="The diagram represents a list of elevation measurements, starting at 814 and decreasing in intervals of 227.&#10;&#10;AI-generated content may be incorrect.">
            <a:extLst>
              <a:ext uri="{FF2B5EF4-FFF2-40B4-BE49-F238E27FC236}">
                <a16:creationId xmlns:a16="http://schemas.microsoft.com/office/drawing/2014/main" id="{B6EE8292-40D5-EA9E-CDEB-A790CE07ED71}"/>
              </a:ext>
            </a:extLst>
          </p:cNvPr>
          <p:cNvPicPr>
            <a:picLocks noChangeAspect="1"/>
          </p:cNvPicPr>
          <p:nvPr/>
        </p:nvPicPr>
        <p:blipFill>
          <a:blip r:embed="rId4"/>
          <a:stretch>
            <a:fillRect/>
          </a:stretch>
        </p:blipFill>
        <p:spPr>
          <a:xfrm>
            <a:off x="393065" y="5148072"/>
            <a:ext cx="11494135" cy="13129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Race-Day Weather Outlook</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61288"/>
            <a:ext cx="11430000" cy="274320"/>
          </a:xfrm>
          <a:prstGeom prst="rect">
            <a:avLst/>
          </a:prstGeom>
          <a:noFill/>
        </p:spPr>
        <p:txBody>
          <a:bodyPr wrap="square">
            <a:spAutoFit/>
          </a:bodyPr>
          <a:lstStyle/>
          <a:p>
            <a:pPr algn="ctr"/>
            <a:r>
              <a:rPr sz="1200" b="1" i="0">
                <a:solidFill>
                  <a:srgbClr val="002060"/>
                </a:solidFill>
                <a:latin typeface="Arial"/>
              </a:rPr>
              <a:t>2026-08-09   •   Forward forecast — Open-Meteo (≤16 days)</a:t>
            </a:r>
          </a:p>
        </p:txBody>
      </p:sp>
      <p:pic>
        <p:nvPicPr>
          <p:cNvPr id="10" name="Picture 9" descr="image.png"/>
          <p:cNvPicPr>
            <a:picLocks noChangeAspect="1"/>
          </p:cNvPicPr>
          <p:nvPr/>
        </p:nvPicPr>
        <p:blipFill>
          <a:blip r:embed="rId3"/>
          <a:stretch>
            <a:fillRect/>
          </a:stretch>
        </p:blipFill>
        <p:spPr>
          <a:xfrm>
            <a:off x="274320" y="1600200"/>
            <a:ext cx="7040880" cy="3108960"/>
          </a:xfrm>
          <a:prstGeom prst="rect">
            <a:avLst/>
          </a:prstGeom>
        </p:spPr>
      </p:pic>
      <p:sp>
        <p:nvSpPr>
          <p:cNvPr id="11" name="Rectangle 10"/>
          <p:cNvSpPr/>
          <p:nvPr/>
        </p:nvSpPr>
        <p:spPr>
          <a:xfrm>
            <a:off x="7498079" y="16459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89519" y="1682496"/>
            <a:ext cx="4233672" cy="246888"/>
          </a:xfrm>
          <a:prstGeom prst="rect">
            <a:avLst/>
          </a:prstGeom>
          <a:noFill/>
        </p:spPr>
        <p:txBody>
          <a:bodyPr wrap="square">
            <a:spAutoFit/>
          </a:bodyPr>
          <a:lstStyle/>
          <a:p>
            <a:pPr algn="ctr"/>
            <a:r>
              <a:rPr sz="1100" b="1" i="0">
                <a:solidFill>
                  <a:srgbClr val="FFFFFF"/>
                </a:solidFill>
                <a:latin typeface="Arial"/>
              </a:rPr>
              <a:t>Elite Women — 07:30</a:t>
            </a:r>
          </a:p>
        </p:txBody>
      </p:sp>
      <p:sp>
        <p:nvSpPr>
          <p:cNvPr id="13" name="Rectangle 12"/>
          <p:cNvSpPr/>
          <p:nvPr/>
        </p:nvSpPr>
        <p:spPr>
          <a:xfrm>
            <a:off x="7516367"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34655" y="20391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15" name="TextBox 14"/>
          <p:cNvSpPr txBox="1"/>
          <p:nvPr/>
        </p:nvSpPr>
        <p:spPr>
          <a:xfrm>
            <a:off x="7534655" y="2212848"/>
            <a:ext cx="1399032" cy="310896"/>
          </a:xfrm>
          <a:prstGeom prst="rect">
            <a:avLst/>
          </a:prstGeom>
          <a:noFill/>
        </p:spPr>
        <p:txBody>
          <a:bodyPr wrap="square">
            <a:spAutoFit/>
          </a:bodyPr>
          <a:lstStyle/>
          <a:p>
            <a:pPr algn="ctr"/>
            <a:r>
              <a:rPr sz="1200" b="1" i="0">
                <a:solidFill>
                  <a:srgbClr val="262626"/>
                </a:solidFill>
                <a:latin typeface="Arial"/>
              </a:rPr>
              <a:t>14.8 °C</a:t>
            </a:r>
          </a:p>
        </p:txBody>
      </p:sp>
      <p:sp>
        <p:nvSpPr>
          <p:cNvPr id="16" name="Rectangle 15"/>
          <p:cNvSpPr/>
          <p:nvPr/>
        </p:nvSpPr>
        <p:spPr>
          <a:xfrm>
            <a:off x="8988551"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006839" y="20391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18" name="TextBox 17"/>
          <p:cNvSpPr txBox="1"/>
          <p:nvPr/>
        </p:nvSpPr>
        <p:spPr>
          <a:xfrm>
            <a:off x="9006839" y="2212848"/>
            <a:ext cx="1399032" cy="310896"/>
          </a:xfrm>
          <a:prstGeom prst="rect">
            <a:avLst/>
          </a:prstGeom>
          <a:noFill/>
        </p:spPr>
        <p:txBody>
          <a:bodyPr wrap="square">
            <a:spAutoFit/>
          </a:bodyPr>
          <a:lstStyle/>
          <a:p>
            <a:pPr algn="ctr"/>
            <a:r>
              <a:rPr sz="1200" b="1" i="0">
                <a:solidFill>
                  <a:srgbClr val="262626"/>
                </a:solidFill>
                <a:latin typeface="Arial"/>
              </a:rPr>
              <a:t>12.4 °C</a:t>
            </a:r>
          </a:p>
        </p:txBody>
      </p:sp>
      <p:sp>
        <p:nvSpPr>
          <p:cNvPr id="19" name="Rectangle 18"/>
          <p:cNvSpPr/>
          <p:nvPr/>
        </p:nvSpPr>
        <p:spPr>
          <a:xfrm>
            <a:off x="10460735" y="20116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479023" y="20391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21" name="TextBox 20"/>
          <p:cNvSpPr txBox="1"/>
          <p:nvPr/>
        </p:nvSpPr>
        <p:spPr>
          <a:xfrm>
            <a:off x="10479023" y="2212848"/>
            <a:ext cx="1399032" cy="310896"/>
          </a:xfrm>
          <a:prstGeom prst="rect">
            <a:avLst/>
          </a:prstGeom>
          <a:noFill/>
        </p:spPr>
        <p:txBody>
          <a:bodyPr wrap="square">
            <a:spAutoFit/>
          </a:bodyPr>
          <a:lstStyle/>
          <a:p>
            <a:pPr algn="ctr"/>
            <a:r>
              <a:rPr sz="1200" b="1" i="0">
                <a:solidFill>
                  <a:srgbClr val="262626"/>
                </a:solidFill>
                <a:latin typeface="Arial"/>
              </a:rPr>
              <a:t>72%</a:t>
            </a:r>
          </a:p>
        </p:txBody>
      </p:sp>
      <p:sp>
        <p:nvSpPr>
          <p:cNvPr id="22" name="Rectangle 21"/>
          <p:cNvSpPr/>
          <p:nvPr/>
        </p:nvSpPr>
        <p:spPr>
          <a:xfrm>
            <a:off x="7516367"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534655" y="26060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24" name="TextBox 23"/>
          <p:cNvSpPr txBox="1"/>
          <p:nvPr/>
        </p:nvSpPr>
        <p:spPr>
          <a:xfrm>
            <a:off x="7534655" y="2779776"/>
            <a:ext cx="1399032" cy="310896"/>
          </a:xfrm>
          <a:prstGeom prst="rect">
            <a:avLst/>
          </a:prstGeom>
          <a:noFill/>
        </p:spPr>
        <p:txBody>
          <a:bodyPr wrap="square">
            <a:spAutoFit/>
          </a:bodyPr>
          <a:lstStyle/>
          <a:p>
            <a:pPr algn="ctr"/>
            <a:r>
              <a:rPr sz="1200" b="1" i="0">
                <a:solidFill>
                  <a:srgbClr val="262626"/>
                </a:solidFill>
                <a:latin typeface="Arial"/>
              </a:rPr>
              <a:t>16.1 km/h</a:t>
            </a:r>
          </a:p>
        </p:txBody>
      </p:sp>
      <p:sp>
        <p:nvSpPr>
          <p:cNvPr id="25" name="Rectangle 24"/>
          <p:cNvSpPr/>
          <p:nvPr/>
        </p:nvSpPr>
        <p:spPr>
          <a:xfrm>
            <a:off x="8988551"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006839" y="26060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27" name="TextBox 26"/>
          <p:cNvSpPr txBox="1"/>
          <p:nvPr/>
        </p:nvSpPr>
        <p:spPr>
          <a:xfrm>
            <a:off x="9006839" y="2779776"/>
            <a:ext cx="1399032" cy="310896"/>
          </a:xfrm>
          <a:prstGeom prst="rect">
            <a:avLst/>
          </a:prstGeom>
          <a:noFill/>
        </p:spPr>
        <p:txBody>
          <a:bodyPr wrap="square">
            <a:spAutoFit/>
          </a:bodyPr>
          <a:lstStyle/>
          <a:p>
            <a:pPr algn="ctr"/>
            <a:r>
              <a:rPr sz="1200" b="1" i="0">
                <a:solidFill>
                  <a:srgbClr val="262626"/>
                </a:solidFill>
                <a:latin typeface="Arial"/>
              </a:rPr>
              <a:t>0.9</a:t>
            </a:r>
          </a:p>
        </p:txBody>
      </p:sp>
      <p:sp>
        <p:nvSpPr>
          <p:cNvPr id="28" name="Rectangle 27"/>
          <p:cNvSpPr/>
          <p:nvPr/>
        </p:nvSpPr>
        <p:spPr>
          <a:xfrm>
            <a:off x="10460735" y="25786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10479023" y="26060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30" name="TextBox 29"/>
          <p:cNvSpPr txBox="1"/>
          <p:nvPr/>
        </p:nvSpPr>
        <p:spPr>
          <a:xfrm>
            <a:off x="10479023" y="2779776"/>
            <a:ext cx="1399032" cy="310896"/>
          </a:xfrm>
          <a:prstGeom prst="rect">
            <a:avLst/>
          </a:prstGeom>
          <a:noFill/>
        </p:spPr>
        <p:txBody>
          <a:bodyPr wrap="square">
            <a:spAutoFit/>
          </a:bodyPr>
          <a:lstStyle/>
          <a:p>
            <a:pPr algn="ctr"/>
            <a:r>
              <a:rPr sz="1200" b="1" i="0">
                <a:solidFill>
                  <a:srgbClr val="1B7F3A"/>
                </a:solidFill>
                <a:latin typeface="Arial"/>
              </a:rPr>
              <a:t>LOW</a:t>
            </a:r>
          </a:p>
        </p:txBody>
      </p:sp>
      <p:sp>
        <p:nvSpPr>
          <p:cNvPr id="31" name="Rectangle 30"/>
          <p:cNvSpPr/>
          <p:nvPr/>
        </p:nvSpPr>
        <p:spPr>
          <a:xfrm>
            <a:off x="7498079" y="3246120"/>
            <a:ext cx="44165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589519" y="3282696"/>
            <a:ext cx="4233672" cy="246888"/>
          </a:xfrm>
          <a:prstGeom prst="rect">
            <a:avLst/>
          </a:prstGeom>
          <a:noFill/>
        </p:spPr>
        <p:txBody>
          <a:bodyPr wrap="square">
            <a:spAutoFit/>
          </a:bodyPr>
          <a:lstStyle/>
          <a:p>
            <a:pPr algn="ctr"/>
            <a:r>
              <a:rPr sz="1100" b="1" i="0">
                <a:solidFill>
                  <a:srgbClr val="FFFFFF"/>
                </a:solidFill>
                <a:latin typeface="Arial"/>
              </a:rPr>
              <a:t>Elite Men — 10:30</a:t>
            </a:r>
          </a:p>
        </p:txBody>
      </p:sp>
      <p:sp>
        <p:nvSpPr>
          <p:cNvPr id="33" name="Rectangle 32"/>
          <p:cNvSpPr/>
          <p:nvPr/>
        </p:nvSpPr>
        <p:spPr>
          <a:xfrm>
            <a:off x="7516367"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34655" y="3639312"/>
            <a:ext cx="1399032" cy="182880"/>
          </a:xfrm>
          <a:prstGeom prst="rect">
            <a:avLst/>
          </a:prstGeom>
          <a:noFill/>
        </p:spPr>
        <p:txBody>
          <a:bodyPr wrap="square">
            <a:spAutoFit/>
          </a:bodyPr>
          <a:lstStyle/>
          <a:p>
            <a:pPr algn="ctr"/>
            <a:r>
              <a:rPr sz="800" b="1" i="0">
                <a:solidFill>
                  <a:srgbClr val="002060"/>
                </a:solidFill>
                <a:latin typeface="Arial"/>
              </a:rPr>
              <a:t>Temperature</a:t>
            </a:r>
          </a:p>
        </p:txBody>
      </p:sp>
      <p:sp>
        <p:nvSpPr>
          <p:cNvPr id="35" name="TextBox 34"/>
          <p:cNvSpPr txBox="1"/>
          <p:nvPr/>
        </p:nvSpPr>
        <p:spPr>
          <a:xfrm>
            <a:off x="7534655" y="3813048"/>
            <a:ext cx="1399032" cy="310896"/>
          </a:xfrm>
          <a:prstGeom prst="rect">
            <a:avLst/>
          </a:prstGeom>
          <a:noFill/>
        </p:spPr>
        <p:txBody>
          <a:bodyPr wrap="square">
            <a:spAutoFit/>
          </a:bodyPr>
          <a:lstStyle/>
          <a:p>
            <a:pPr algn="ctr"/>
            <a:r>
              <a:rPr sz="1200" b="1" i="0">
                <a:solidFill>
                  <a:srgbClr val="262626"/>
                </a:solidFill>
                <a:latin typeface="Arial"/>
              </a:rPr>
              <a:t>15.3 °C</a:t>
            </a:r>
          </a:p>
        </p:txBody>
      </p:sp>
      <p:sp>
        <p:nvSpPr>
          <p:cNvPr id="36" name="Rectangle 35"/>
          <p:cNvSpPr/>
          <p:nvPr/>
        </p:nvSpPr>
        <p:spPr>
          <a:xfrm>
            <a:off x="8988551"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006839" y="3639312"/>
            <a:ext cx="1399032" cy="182880"/>
          </a:xfrm>
          <a:prstGeom prst="rect">
            <a:avLst/>
          </a:prstGeom>
          <a:noFill/>
        </p:spPr>
        <p:txBody>
          <a:bodyPr wrap="square">
            <a:spAutoFit/>
          </a:bodyPr>
          <a:lstStyle/>
          <a:p>
            <a:pPr algn="ctr"/>
            <a:r>
              <a:rPr sz="800" b="1" i="0">
                <a:solidFill>
                  <a:srgbClr val="002060"/>
                </a:solidFill>
                <a:latin typeface="Arial"/>
              </a:rPr>
              <a:t>Apparent / Heat</a:t>
            </a:r>
          </a:p>
        </p:txBody>
      </p:sp>
      <p:sp>
        <p:nvSpPr>
          <p:cNvPr id="38" name="TextBox 37"/>
          <p:cNvSpPr txBox="1"/>
          <p:nvPr/>
        </p:nvSpPr>
        <p:spPr>
          <a:xfrm>
            <a:off x="9006839" y="3813048"/>
            <a:ext cx="1399032" cy="310896"/>
          </a:xfrm>
          <a:prstGeom prst="rect">
            <a:avLst/>
          </a:prstGeom>
          <a:noFill/>
        </p:spPr>
        <p:txBody>
          <a:bodyPr wrap="square">
            <a:spAutoFit/>
          </a:bodyPr>
          <a:lstStyle/>
          <a:p>
            <a:pPr algn="ctr"/>
            <a:r>
              <a:rPr sz="1200" b="1" i="0">
                <a:solidFill>
                  <a:srgbClr val="262626"/>
                </a:solidFill>
                <a:latin typeface="Arial"/>
              </a:rPr>
              <a:t>12.9 °C</a:t>
            </a:r>
          </a:p>
        </p:txBody>
      </p:sp>
      <p:sp>
        <p:nvSpPr>
          <p:cNvPr id="39" name="Rectangle 38"/>
          <p:cNvSpPr/>
          <p:nvPr/>
        </p:nvSpPr>
        <p:spPr>
          <a:xfrm>
            <a:off x="10460735" y="3611880"/>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10479023" y="3639312"/>
            <a:ext cx="1399032" cy="182880"/>
          </a:xfrm>
          <a:prstGeom prst="rect">
            <a:avLst/>
          </a:prstGeom>
          <a:noFill/>
        </p:spPr>
        <p:txBody>
          <a:bodyPr wrap="square">
            <a:spAutoFit/>
          </a:bodyPr>
          <a:lstStyle/>
          <a:p>
            <a:pPr algn="ctr"/>
            <a:r>
              <a:rPr sz="800" b="1" i="0">
                <a:solidFill>
                  <a:srgbClr val="002060"/>
                </a:solidFill>
                <a:latin typeface="Arial"/>
              </a:rPr>
              <a:t>Humidity</a:t>
            </a:r>
          </a:p>
        </p:txBody>
      </p:sp>
      <p:sp>
        <p:nvSpPr>
          <p:cNvPr id="41" name="TextBox 40"/>
          <p:cNvSpPr txBox="1"/>
          <p:nvPr/>
        </p:nvSpPr>
        <p:spPr>
          <a:xfrm>
            <a:off x="10479023" y="3813048"/>
            <a:ext cx="1399032" cy="310896"/>
          </a:xfrm>
          <a:prstGeom prst="rect">
            <a:avLst/>
          </a:prstGeom>
          <a:noFill/>
        </p:spPr>
        <p:txBody>
          <a:bodyPr wrap="square">
            <a:spAutoFit/>
          </a:bodyPr>
          <a:lstStyle/>
          <a:p>
            <a:pPr algn="ctr"/>
            <a:r>
              <a:rPr sz="1200" b="1" i="0">
                <a:solidFill>
                  <a:srgbClr val="262626"/>
                </a:solidFill>
                <a:latin typeface="Arial"/>
              </a:rPr>
              <a:t>68%</a:t>
            </a:r>
          </a:p>
        </p:txBody>
      </p:sp>
      <p:sp>
        <p:nvSpPr>
          <p:cNvPr id="42" name="Rectangle 41"/>
          <p:cNvSpPr/>
          <p:nvPr/>
        </p:nvSpPr>
        <p:spPr>
          <a:xfrm>
            <a:off x="7516367"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534655" y="4206240"/>
            <a:ext cx="1399032" cy="182880"/>
          </a:xfrm>
          <a:prstGeom prst="rect">
            <a:avLst/>
          </a:prstGeom>
          <a:noFill/>
        </p:spPr>
        <p:txBody>
          <a:bodyPr wrap="square">
            <a:spAutoFit/>
          </a:bodyPr>
          <a:lstStyle/>
          <a:p>
            <a:pPr algn="ctr"/>
            <a:r>
              <a:rPr sz="800" b="1" i="0">
                <a:solidFill>
                  <a:srgbClr val="002060"/>
                </a:solidFill>
                <a:latin typeface="Arial"/>
              </a:rPr>
              <a:t>Wind</a:t>
            </a:r>
          </a:p>
        </p:txBody>
      </p:sp>
      <p:sp>
        <p:nvSpPr>
          <p:cNvPr id="44" name="TextBox 43"/>
          <p:cNvSpPr txBox="1"/>
          <p:nvPr/>
        </p:nvSpPr>
        <p:spPr>
          <a:xfrm>
            <a:off x="7534655" y="4379976"/>
            <a:ext cx="1399032" cy="310896"/>
          </a:xfrm>
          <a:prstGeom prst="rect">
            <a:avLst/>
          </a:prstGeom>
          <a:noFill/>
        </p:spPr>
        <p:txBody>
          <a:bodyPr wrap="square">
            <a:spAutoFit/>
          </a:bodyPr>
          <a:lstStyle/>
          <a:p>
            <a:pPr algn="ctr"/>
            <a:r>
              <a:rPr sz="1200" b="1" i="0">
                <a:solidFill>
                  <a:srgbClr val="262626"/>
                </a:solidFill>
                <a:latin typeface="Arial"/>
              </a:rPr>
              <a:t>15.3 km/h</a:t>
            </a:r>
          </a:p>
        </p:txBody>
      </p:sp>
      <p:sp>
        <p:nvSpPr>
          <p:cNvPr id="45" name="Rectangle 44"/>
          <p:cNvSpPr/>
          <p:nvPr/>
        </p:nvSpPr>
        <p:spPr>
          <a:xfrm>
            <a:off x="8988551"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006839" y="4206240"/>
            <a:ext cx="1399032" cy="182880"/>
          </a:xfrm>
          <a:prstGeom prst="rect">
            <a:avLst/>
          </a:prstGeom>
          <a:noFill/>
        </p:spPr>
        <p:txBody>
          <a:bodyPr wrap="square">
            <a:spAutoFit/>
          </a:bodyPr>
          <a:lstStyle/>
          <a:p>
            <a:pPr algn="ctr"/>
            <a:r>
              <a:rPr sz="800" b="1" i="0">
                <a:solidFill>
                  <a:srgbClr val="002060"/>
                </a:solidFill>
                <a:latin typeface="Arial"/>
              </a:rPr>
              <a:t>UV peak</a:t>
            </a:r>
          </a:p>
        </p:txBody>
      </p:sp>
      <p:sp>
        <p:nvSpPr>
          <p:cNvPr id="47" name="TextBox 46"/>
          <p:cNvSpPr txBox="1"/>
          <p:nvPr/>
        </p:nvSpPr>
        <p:spPr>
          <a:xfrm>
            <a:off x="9006839" y="4379976"/>
            <a:ext cx="1399032" cy="310896"/>
          </a:xfrm>
          <a:prstGeom prst="rect">
            <a:avLst/>
          </a:prstGeom>
          <a:noFill/>
        </p:spPr>
        <p:txBody>
          <a:bodyPr wrap="square">
            <a:spAutoFit/>
          </a:bodyPr>
          <a:lstStyle/>
          <a:p>
            <a:pPr algn="ctr"/>
            <a:r>
              <a:rPr sz="1200" b="1" i="0">
                <a:solidFill>
                  <a:srgbClr val="262626"/>
                </a:solidFill>
                <a:latin typeface="Arial"/>
              </a:rPr>
              <a:t>4.6</a:t>
            </a:r>
          </a:p>
        </p:txBody>
      </p:sp>
      <p:sp>
        <p:nvSpPr>
          <p:cNvPr id="48" name="Rectangle 47"/>
          <p:cNvSpPr/>
          <p:nvPr/>
        </p:nvSpPr>
        <p:spPr>
          <a:xfrm>
            <a:off x="10460735" y="4178808"/>
            <a:ext cx="1435608" cy="530352"/>
          </a:xfrm>
          <a:prstGeom prst="rect">
            <a:avLst/>
          </a:prstGeom>
          <a:solidFill>
            <a:srgbClr val="F2F2F2"/>
          </a:solidFill>
          <a:ln>
            <a:solidFill>
              <a:srgbClr val="BFBF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0479023" y="4206240"/>
            <a:ext cx="1399032" cy="182880"/>
          </a:xfrm>
          <a:prstGeom prst="rect">
            <a:avLst/>
          </a:prstGeom>
          <a:noFill/>
        </p:spPr>
        <p:txBody>
          <a:bodyPr wrap="square">
            <a:spAutoFit/>
          </a:bodyPr>
          <a:lstStyle/>
          <a:p>
            <a:pPr algn="ctr"/>
            <a:r>
              <a:rPr sz="800" b="1" i="0">
                <a:solidFill>
                  <a:srgbClr val="002060"/>
                </a:solidFill>
                <a:latin typeface="Arial"/>
              </a:rPr>
              <a:t>Heat Stress</a:t>
            </a:r>
          </a:p>
        </p:txBody>
      </p:sp>
      <p:sp>
        <p:nvSpPr>
          <p:cNvPr id="50" name="TextBox 49"/>
          <p:cNvSpPr txBox="1"/>
          <p:nvPr/>
        </p:nvSpPr>
        <p:spPr>
          <a:xfrm>
            <a:off x="10479023" y="4379976"/>
            <a:ext cx="1399032" cy="310896"/>
          </a:xfrm>
          <a:prstGeom prst="rect">
            <a:avLst/>
          </a:prstGeom>
          <a:noFill/>
        </p:spPr>
        <p:txBody>
          <a:bodyPr wrap="square">
            <a:spAutoFit/>
          </a:bodyPr>
          <a:lstStyle/>
          <a:p>
            <a:pPr algn="ctr"/>
            <a:r>
              <a:rPr sz="1200" b="1" i="0">
                <a:solidFill>
                  <a:srgbClr val="1B7F3A"/>
                </a:solidFill>
                <a:latin typeface="Arial"/>
              </a:rPr>
              <a:t>LOW</a:t>
            </a:r>
          </a:p>
        </p:txBody>
      </p:sp>
      <p:sp>
        <p:nvSpPr>
          <p:cNvPr id="51" name="Rectangle 50"/>
          <p:cNvSpPr/>
          <p:nvPr/>
        </p:nvSpPr>
        <p:spPr>
          <a:xfrm>
            <a:off x="274320" y="4846320"/>
            <a:ext cx="11640312" cy="2926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65760" y="4873752"/>
            <a:ext cx="11430000" cy="237744"/>
          </a:xfrm>
          <a:prstGeom prst="rect">
            <a:avLst/>
          </a:prstGeom>
          <a:noFill/>
        </p:spPr>
        <p:txBody>
          <a:bodyPr wrap="square">
            <a:spAutoFit/>
          </a:bodyPr>
          <a:lstStyle/>
          <a:p>
            <a:pPr algn="l"/>
            <a:r>
              <a:rPr sz="1200" b="1" i="0">
                <a:solidFill>
                  <a:srgbClr val="FFFFFF"/>
                </a:solidFill>
                <a:latin typeface="Arial"/>
              </a:rPr>
              <a:t>Hydration &amp; Cooling Cues</a:t>
            </a:r>
          </a:p>
        </p:txBody>
      </p:sp>
      <p:sp>
        <p:nvSpPr>
          <p:cNvPr id="53" name="TextBox 52"/>
          <p:cNvSpPr txBox="1"/>
          <p:nvPr/>
        </p:nvSpPr>
        <p:spPr>
          <a:xfrm>
            <a:off x="365760" y="5212080"/>
            <a:ext cx="11430000" cy="307777"/>
          </a:xfrm>
          <a:prstGeom prst="rect">
            <a:avLst/>
          </a:prstGeom>
          <a:noFill/>
        </p:spPr>
        <p:txBody>
          <a:bodyPr wrap="square">
            <a:spAutoFit/>
          </a:bodyPr>
          <a:lstStyle/>
          <a:p>
            <a:pPr algn="l"/>
            <a:r>
              <a:rPr sz="1400" b="0" i="0" dirty="0">
                <a:solidFill>
                  <a:srgbClr val="262626"/>
                </a:solidFill>
                <a:latin typeface="Arial"/>
              </a:rPr>
              <a:t>•  Cool to mild outlook</a:t>
            </a:r>
            <a:r>
              <a:rPr lang="en-US" sz="1400" b="0" i="0" dirty="0">
                <a:solidFill>
                  <a:srgbClr val="262626"/>
                </a:solidFill>
                <a:latin typeface="Arial"/>
              </a:rPr>
              <a:t>. N</a:t>
            </a:r>
            <a:r>
              <a:rPr sz="1400" b="0" i="0" dirty="0">
                <a:solidFill>
                  <a:srgbClr val="262626"/>
                </a:solidFill>
                <a:latin typeface="Arial"/>
              </a:rPr>
              <a:t>o special pre-cooling required</a:t>
            </a:r>
          </a:p>
        </p:txBody>
      </p:sp>
      <p:sp>
        <p:nvSpPr>
          <p:cNvPr id="54" name="TextBox 53"/>
          <p:cNvSpPr txBox="1"/>
          <p:nvPr/>
        </p:nvSpPr>
        <p:spPr>
          <a:xfrm>
            <a:off x="365760" y="5504688"/>
            <a:ext cx="11430000" cy="307777"/>
          </a:xfrm>
          <a:prstGeom prst="rect">
            <a:avLst/>
          </a:prstGeom>
          <a:noFill/>
        </p:spPr>
        <p:txBody>
          <a:bodyPr wrap="square">
            <a:spAutoFit/>
          </a:bodyPr>
          <a:lstStyle/>
          <a:p>
            <a:pPr algn="l"/>
            <a:r>
              <a:rPr sz="1400" b="0" i="0" dirty="0">
                <a:solidFill>
                  <a:srgbClr val="262626"/>
                </a:solidFill>
                <a:latin typeface="Arial"/>
              </a:rPr>
              <a:t>•  Notable wind (16 km/h)</a:t>
            </a:r>
            <a:r>
              <a:rPr lang="en-US" sz="1400" dirty="0">
                <a:solidFill>
                  <a:srgbClr val="262626"/>
                </a:solidFill>
                <a:latin typeface="Arial"/>
              </a:rPr>
              <a:t> with some </a:t>
            </a:r>
            <a:r>
              <a:rPr sz="1400" b="0" i="0" dirty="0">
                <a:solidFill>
                  <a:srgbClr val="262626"/>
                </a:solidFill>
                <a:latin typeface="Arial"/>
              </a:rPr>
              <a:t>exposed coastal bike sections</a:t>
            </a:r>
            <a:r>
              <a:rPr lang="en-US" sz="1400" dirty="0">
                <a:solidFill>
                  <a:srgbClr val="262626"/>
                </a:solidFill>
                <a:latin typeface="Arial"/>
              </a:rPr>
              <a:t>. </a:t>
            </a:r>
            <a:endParaRPr sz="1400" b="0" i="0" dirty="0">
              <a:solidFill>
                <a:srgbClr val="262626"/>
              </a:solidFill>
              <a:latin typeface="Arial"/>
            </a:endParaRPr>
          </a:p>
        </p:txBody>
      </p:sp>
      <p:sp>
        <p:nvSpPr>
          <p:cNvPr id="55" name="TextBox 54"/>
          <p:cNvSpPr txBox="1"/>
          <p:nvPr/>
        </p:nvSpPr>
        <p:spPr>
          <a:xfrm>
            <a:off x="365760" y="5797296"/>
            <a:ext cx="11430000" cy="307777"/>
          </a:xfrm>
          <a:prstGeom prst="rect">
            <a:avLst/>
          </a:prstGeom>
          <a:noFill/>
        </p:spPr>
        <p:txBody>
          <a:bodyPr wrap="square">
            <a:spAutoFit/>
          </a:bodyPr>
          <a:lstStyle/>
          <a:p>
            <a:pPr algn="l"/>
            <a:r>
              <a:rPr sz="1400" b="0" i="0" dirty="0">
                <a:solidFill>
                  <a:srgbClr val="262626"/>
                </a:solidFill>
                <a:latin typeface="Arial"/>
              </a:rPr>
              <a:t>•  Cold air pre-race</a:t>
            </a:r>
            <a:r>
              <a:rPr lang="en-US" sz="1400" b="0" i="0" dirty="0">
                <a:solidFill>
                  <a:srgbClr val="262626"/>
                </a:solidFill>
                <a:latin typeface="Arial"/>
              </a:rPr>
              <a:t>. </a:t>
            </a:r>
            <a:r>
              <a:rPr lang="en-US" sz="1400" dirty="0">
                <a:solidFill>
                  <a:srgbClr val="262626"/>
                </a:solidFill>
                <a:latin typeface="Arial"/>
              </a:rPr>
              <a:t>W</a:t>
            </a:r>
            <a:r>
              <a:rPr sz="1400" b="0" i="0" dirty="0">
                <a:solidFill>
                  <a:srgbClr val="262626"/>
                </a:solidFill>
                <a:latin typeface="Arial"/>
              </a:rPr>
              <a:t>etsuit decision likely </a:t>
            </a:r>
            <a:r>
              <a:rPr lang="en-US" sz="1400" b="0" i="0" dirty="0">
                <a:solidFill>
                  <a:srgbClr val="262626"/>
                </a:solidFill>
                <a:latin typeface="Arial"/>
              </a:rPr>
              <a:t>will be </a:t>
            </a:r>
            <a:r>
              <a:rPr sz="1400" b="0" i="0" dirty="0">
                <a:solidFill>
                  <a:srgbClr val="262626"/>
                </a:solidFill>
                <a:latin typeface="Arial"/>
              </a:rPr>
              <a:t>mandatory if water tracks the same direction</a:t>
            </a:r>
          </a:p>
        </p:txBody>
      </p:sp>
      <p:sp>
        <p:nvSpPr>
          <p:cNvPr id="56" name="TextBox 55"/>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Data source: Open-Meteo. Forecast refreshes every run. Historical Race Conditions slide shows what actually happened in prior years.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Who to Watch — Asuncion Race Week</a:t>
            </a:r>
          </a:p>
        </p:txBody>
      </p:sp>
      <p:sp>
        <p:nvSpPr>
          <p:cNvPr id="4" name="Rectangle 3"/>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6" name="Rectangle 5"/>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65760" y="1234440"/>
            <a:ext cx="5486400" cy="292608"/>
          </a:xfrm>
          <a:prstGeom prst="rect">
            <a:avLst/>
          </a:prstGeom>
          <a:noFill/>
        </p:spPr>
        <p:txBody>
          <a:bodyPr wrap="square">
            <a:spAutoFit/>
          </a:bodyPr>
          <a:lstStyle/>
          <a:p>
            <a:pPr algn="ctr"/>
            <a:r>
              <a:rPr sz="1400" b="1" i="0">
                <a:solidFill>
                  <a:srgbClr val="FFFFFF"/>
                </a:solidFill>
                <a:latin typeface="Arial"/>
              </a:rPr>
              <a:t>ELITE MEN</a:t>
            </a:r>
          </a:p>
        </p:txBody>
      </p:sp>
      <p:sp>
        <p:nvSpPr>
          <p:cNvPr id="9" name="Rectangle 8"/>
          <p:cNvSpPr/>
          <p:nvPr/>
        </p:nvSpPr>
        <p:spPr>
          <a:xfrm>
            <a:off x="2743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1" name="Table 10"/>
          <p:cNvGraphicFramePr>
            <a:graphicFrameLocks noGrp="1"/>
          </p:cNvGraphicFramePr>
          <p:nvPr/>
        </p:nvGraphicFramePr>
        <p:xfrm>
          <a:off x="2743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20</a:t>
                      </a:r>
                    </a:p>
                  </a:txBody>
                  <a:tcPr>
                    <a:solidFill>
                      <a:srgbClr val="FFFFFF"/>
                    </a:solidFill>
                  </a:tcPr>
                </a:tc>
                <a:tc>
                  <a:txBody>
                    <a:bodyPr/>
                    <a:lstStyle/>
                    <a:p>
                      <a:pPr algn="l"/>
                      <a:r>
                        <a:rPr sz="1000" b="0" i="0">
                          <a:solidFill>
                            <a:srgbClr val="262626"/>
                          </a:solidFill>
                          <a:latin typeface="Arial"/>
                        </a:rPr>
                        <a:t>Reese Vannerson</a:t>
                      </a:r>
                    </a:p>
                  </a:txBody>
                  <a:tcPr>
                    <a:solidFill>
                      <a:srgbClr val="FFFFFF"/>
                    </a:solidFill>
                  </a:tcPr>
                </a:tc>
                <a:tc>
                  <a:txBody>
                    <a:bodyPr/>
                    <a:lstStyle/>
                    <a:p>
                      <a:pPr algn="ctr"/>
                      <a:r>
                        <a:rPr sz="1000" b="0" i="0">
                          <a:solidFill>
                            <a:srgbClr val="262626"/>
                          </a:solidFill>
                          <a:latin typeface="Arial"/>
                        </a:rPr>
                        <a:t>2,911</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37</a:t>
                      </a:r>
                    </a:p>
                  </a:txBody>
                  <a:tcPr>
                    <a:solidFill>
                      <a:srgbClr val="F2F2F2"/>
                    </a:solidFill>
                  </a:tcPr>
                </a:tc>
                <a:tc>
                  <a:txBody>
                    <a:bodyPr/>
                    <a:lstStyle/>
                    <a:p>
                      <a:pPr algn="l"/>
                      <a:r>
                        <a:rPr sz="1000" b="0" i="0">
                          <a:solidFill>
                            <a:srgbClr val="262626"/>
                          </a:solidFill>
                          <a:latin typeface="Arial"/>
                        </a:rPr>
                        <a:t>Jawad Abdelmoula</a:t>
                      </a:r>
                    </a:p>
                  </a:txBody>
                  <a:tcPr>
                    <a:solidFill>
                      <a:srgbClr val="F2F2F2"/>
                    </a:solidFill>
                  </a:tcPr>
                </a:tc>
                <a:tc>
                  <a:txBody>
                    <a:bodyPr/>
                    <a:lstStyle/>
                    <a:p>
                      <a:pPr algn="ctr"/>
                      <a:r>
                        <a:rPr sz="1000" b="0" i="0">
                          <a:solidFill>
                            <a:srgbClr val="262626"/>
                          </a:solidFill>
                          <a:latin typeface="Arial"/>
                        </a:rPr>
                        <a:t>2,532</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40</a:t>
                      </a:r>
                    </a:p>
                  </a:txBody>
                  <a:tcPr>
                    <a:solidFill>
                      <a:srgbClr val="FFFFFF"/>
                    </a:solidFill>
                  </a:tcPr>
                </a:tc>
                <a:tc>
                  <a:txBody>
                    <a:bodyPr/>
                    <a:lstStyle/>
                    <a:p>
                      <a:pPr algn="l"/>
                      <a:r>
                        <a:rPr sz="1000" b="0" i="0">
                          <a:solidFill>
                            <a:srgbClr val="262626"/>
                          </a:solidFill>
                          <a:latin typeface="Arial"/>
                        </a:rPr>
                        <a:t>Mathis Beaulieu</a:t>
                      </a:r>
                    </a:p>
                  </a:txBody>
                  <a:tcPr>
                    <a:solidFill>
                      <a:srgbClr val="FFFFFF"/>
                    </a:solidFill>
                  </a:tcPr>
                </a:tc>
                <a:tc>
                  <a:txBody>
                    <a:bodyPr/>
                    <a:lstStyle/>
                    <a:p>
                      <a:pPr algn="ctr"/>
                      <a:r>
                        <a:rPr sz="1000" b="0" i="0">
                          <a:solidFill>
                            <a:srgbClr val="262626"/>
                          </a:solidFill>
                          <a:latin typeface="Arial"/>
                        </a:rPr>
                        <a:t>2,488</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42</a:t>
                      </a:r>
                    </a:p>
                  </a:txBody>
                  <a:tcPr>
                    <a:solidFill>
                      <a:srgbClr val="F2F2F2"/>
                    </a:solidFill>
                  </a:tcPr>
                </a:tc>
                <a:tc>
                  <a:txBody>
                    <a:bodyPr/>
                    <a:lstStyle/>
                    <a:p>
                      <a:pPr algn="l"/>
                      <a:r>
                        <a:rPr sz="1000" b="0" i="0">
                          <a:solidFill>
                            <a:srgbClr val="262626"/>
                          </a:solidFill>
                          <a:latin typeface="Arial"/>
                        </a:rPr>
                        <a:t>Braxton Legg</a:t>
                      </a:r>
                    </a:p>
                  </a:txBody>
                  <a:tcPr>
                    <a:solidFill>
                      <a:srgbClr val="F2F2F2"/>
                    </a:solidFill>
                  </a:tcPr>
                </a:tc>
                <a:tc>
                  <a:txBody>
                    <a:bodyPr/>
                    <a:lstStyle/>
                    <a:p>
                      <a:pPr algn="ctr"/>
                      <a:r>
                        <a:rPr sz="1000" b="0" i="0">
                          <a:solidFill>
                            <a:srgbClr val="262626"/>
                          </a:solidFill>
                          <a:latin typeface="Arial"/>
                        </a:rPr>
                        <a:t>2,442</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53</a:t>
                      </a:r>
                    </a:p>
                  </a:txBody>
                  <a:tcPr>
                    <a:solidFill>
                      <a:srgbClr val="FFFFFF"/>
                    </a:solidFill>
                  </a:tcPr>
                </a:tc>
                <a:tc>
                  <a:txBody>
                    <a:bodyPr/>
                    <a:lstStyle/>
                    <a:p>
                      <a:pPr algn="l"/>
                      <a:r>
                        <a:rPr sz="1000" b="0" i="0">
                          <a:solidFill>
                            <a:srgbClr val="262626"/>
                          </a:solidFill>
                          <a:latin typeface="Arial"/>
                        </a:rPr>
                        <a:t>Sullivan Middaugh</a:t>
                      </a:r>
                    </a:p>
                  </a:txBody>
                  <a:tcPr>
                    <a:solidFill>
                      <a:srgbClr val="FFFFFF"/>
                    </a:solidFill>
                  </a:tcPr>
                </a:tc>
                <a:tc>
                  <a:txBody>
                    <a:bodyPr/>
                    <a:lstStyle/>
                    <a:p>
                      <a:pPr algn="ctr"/>
                      <a:r>
                        <a:rPr sz="1000" b="0" i="0">
                          <a:solidFill>
                            <a:srgbClr val="262626"/>
                          </a:solidFill>
                          <a:latin typeface="Arial"/>
                        </a:rPr>
                        <a:t>2,234</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61</a:t>
                      </a:r>
                    </a:p>
                  </a:txBody>
                  <a:tcPr>
                    <a:solidFill>
                      <a:srgbClr val="F2F2F2"/>
                    </a:solidFill>
                  </a:tcPr>
                </a:tc>
                <a:tc>
                  <a:txBody>
                    <a:bodyPr/>
                    <a:lstStyle/>
                    <a:p>
                      <a:pPr algn="l"/>
                      <a:r>
                        <a:rPr sz="1000" b="0" i="0">
                          <a:solidFill>
                            <a:srgbClr val="262626"/>
                          </a:solidFill>
                          <a:latin typeface="Arial"/>
                        </a:rPr>
                        <a:t>Liam Donnelly</a:t>
                      </a:r>
                    </a:p>
                  </a:txBody>
                  <a:tcPr>
                    <a:solidFill>
                      <a:srgbClr val="F2F2F2"/>
                    </a:solidFill>
                  </a:tcPr>
                </a:tc>
                <a:tc>
                  <a:txBody>
                    <a:bodyPr/>
                    <a:lstStyle/>
                    <a:p>
                      <a:pPr algn="ctr"/>
                      <a:r>
                        <a:rPr sz="1000" b="0" i="0">
                          <a:solidFill>
                            <a:srgbClr val="262626"/>
                          </a:solidFill>
                          <a:latin typeface="Arial"/>
                        </a:rPr>
                        <a:t>2,032</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66</a:t>
                      </a:r>
                    </a:p>
                  </a:txBody>
                  <a:tcPr>
                    <a:solidFill>
                      <a:srgbClr val="FFFFFF"/>
                    </a:solidFill>
                  </a:tcPr>
                </a:tc>
                <a:tc>
                  <a:txBody>
                    <a:bodyPr/>
                    <a:lstStyle/>
                    <a:p>
                      <a:pPr algn="l"/>
                      <a:r>
                        <a:rPr sz="1000" b="0" i="0">
                          <a:solidFill>
                            <a:srgbClr val="262626"/>
                          </a:solidFill>
                          <a:latin typeface="Arial"/>
                        </a:rPr>
                        <a:t>Andree Buc</a:t>
                      </a:r>
                    </a:p>
                  </a:txBody>
                  <a:tcPr>
                    <a:solidFill>
                      <a:srgbClr val="FFFFFF"/>
                    </a:solidFill>
                  </a:tcPr>
                </a:tc>
                <a:tc>
                  <a:txBody>
                    <a:bodyPr/>
                    <a:lstStyle/>
                    <a:p>
                      <a:pPr algn="ctr"/>
                      <a:r>
                        <a:rPr sz="1000" b="0" i="0">
                          <a:solidFill>
                            <a:srgbClr val="262626"/>
                          </a:solidFill>
                          <a:latin typeface="Arial"/>
                        </a:rPr>
                        <a:t>1,955</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69</a:t>
                      </a:r>
                    </a:p>
                  </a:txBody>
                  <a:tcPr>
                    <a:solidFill>
                      <a:srgbClr val="F2F2F2"/>
                    </a:solidFill>
                  </a:tcPr>
                </a:tc>
                <a:tc>
                  <a:txBody>
                    <a:bodyPr/>
                    <a:lstStyle/>
                    <a:p>
                      <a:pPr algn="l"/>
                      <a:r>
                        <a:rPr sz="1000" b="0" i="0">
                          <a:solidFill>
                            <a:srgbClr val="262626"/>
                          </a:solidFill>
                          <a:latin typeface="Arial"/>
                        </a:rPr>
                        <a:t>Kazushi Jozuka</a:t>
                      </a:r>
                    </a:p>
                  </a:txBody>
                  <a:tcPr>
                    <a:solidFill>
                      <a:srgbClr val="F2F2F2"/>
                    </a:solidFill>
                  </a:tcPr>
                </a:tc>
                <a:tc>
                  <a:txBody>
                    <a:bodyPr/>
                    <a:lstStyle/>
                    <a:p>
                      <a:pPr algn="ctr"/>
                      <a:r>
                        <a:rPr sz="1000" b="0" i="0">
                          <a:solidFill>
                            <a:srgbClr val="262626"/>
                          </a:solidFill>
                          <a:latin typeface="Arial"/>
                        </a:rPr>
                        <a:t>1,917</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71</a:t>
                      </a:r>
                    </a:p>
                  </a:txBody>
                  <a:tcPr>
                    <a:solidFill>
                      <a:srgbClr val="FFFFFF"/>
                    </a:solidFill>
                  </a:tcPr>
                </a:tc>
                <a:tc>
                  <a:txBody>
                    <a:bodyPr/>
                    <a:lstStyle/>
                    <a:p>
                      <a:pPr algn="l"/>
                      <a:r>
                        <a:rPr sz="1000" b="0" i="0">
                          <a:solidFill>
                            <a:srgbClr val="262626"/>
                          </a:solidFill>
                          <a:latin typeface="Arial"/>
                        </a:rPr>
                        <a:t>James Corbett</a:t>
                      </a:r>
                    </a:p>
                  </a:txBody>
                  <a:tcPr>
                    <a:solidFill>
                      <a:srgbClr val="FFFFFF"/>
                    </a:solidFill>
                  </a:tcPr>
                </a:tc>
                <a:tc>
                  <a:txBody>
                    <a:bodyPr/>
                    <a:lstStyle/>
                    <a:p>
                      <a:pPr algn="ctr"/>
                      <a:r>
                        <a:rPr sz="1000" b="0" i="0">
                          <a:solidFill>
                            <a:srgbClr val="262626"/>
                          </a:solidFill>
                          <a:latin typeface="Arial"/>
                        </a:rPr>
                        <a:t>1,885</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72</a:t>
                      </a:r>
                    </a:p>
                  </a:txBody>
                  <a:tcPr>
                    <a:solidFill>
                      <a:srgbClr val="F2F2F2"/>
                    </a:solidFill>
                  </a:tcPr>
                </a:tc>
                <a:tc>
                  <a:txBody>
                    <a:bodyPr/>
                    <a:lstStyle/>
                    <a:p>
                      <a:pPr algn="l"/>
                      <a:r>
                        <a:rPr sz="1000" b="0" i="0">
                          <a:solidFill>
                            <a:srgbClr val="262626"/>
                          </a:solidFill>
                          <a:latin typeface="Arial"/>
                        </a:rPr>
                        <a:t>Keller Norland</a:t>
                      </a:r>
                    </a:p>
                  </a:txBody>
                  <a:tcPr>
                    <a:solidFill>
                      <a:srgbClr val="F2F2F2"/>
                    </a:solidFill>
                  </a:tcPr>
                </a:tc>
                <a:tc>
                  <a:txBody>
                    <a:bodyPr/>
                    <a:lstStyle/>
                    <a:p>
                      <a:pPr algn="ctr"/>
                      <a:r>
                        <a:rPr sz="1000" b="0" i="0">
                          <a:solidFill>
                            <a:srgbClr val="262626"/>
                          </a:solidFill>
                          <a:latin typeface="Arial"/>
                        </a:rPr>
                        <a:t>1,863</a:t>
                      </a:r>
                    </a:p>
                  </a:txBody>
                  <a:tcPr>
                    <a:solidFill>
                      <a:srgbClr val="F2F2F2"/>
                    </a:solidFill>
                  </a:tcPr>
                </a:tc>
                <a:extLst>
                  <a:ext uri="{0D108BD9-81ED-4DB2-BD59-A6C34878D82A}">
                    <a16:rowId xmlns:a16="http://schemas.microsoft.com/office/drawing/2014/main" val="10010"/>
                  </a:ext>
                </a:extLst>
              </a:tr>
            </a:tbl>
          </a:graphicData>
        </a:graphic>
      </p:graphicFrame>
      <p:sp>
        <p:nvSpPr>
          <p:cNvPr id="12" name="Rectangle 11"/>
          <p:cNvSpPr/>
          <p:nvPr/>
        </p:nvSpPr>
        <p:spPr>
          <a:xfrm>
            <a:off x="2743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14" name="TextBox 13"/>
          <p:cNvSpPr txBox="1"/>
          <p:nvPr/>
        </p:nvSpPr>
        <p:spPr>
          <a:xfrm>
            <a:off x="365760" y="5468112"/>
            <a:ext cx="5486400" cy="457200"/>
          </a:xfrm>
          <a:prstGeom prst="rect">
            <a:avLst/>
          </a:prstGeom>
          <a:noFill/>
        </p:spPr>
        <p:txBody>
          <a:bodyPr wrap="square">
            <a:spAutoFit/>
          </a:bodyPr>
          <a:lstStyle/>
          <a:p>
            <a:pPr algn="l"/>
            <a:r>
              <a:rPr sz="1050" b="0" i="1">
                <a:solidFill>
                  <a:srgbClr val="262626"/>
                </a:solidFill>
                <a:latin typeface="Arial"/>
              </a:rPr>
              <a:t>No prior race history at this venue.</a:t>
            </a:r>
          </a:p>
        </p:txBody>
      </p:sp>
      <p:sp>
        <p:nvSpPr>
          <p:cNvPr id="15" name="Rectangle 14"/>
          <p:cNvSpPr/>
          <p:nvPr/>
        </p:nvSpPr>
        <p:spPr>
          <a:xfrm>
            <a:off x="6217920" y="1188720"/>
            <a:ext cx="5669280" cy="3657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309360" y="1234440"/>
            <a:ext cx="5486400" cy="292608"/>
          </a:xfrm>
          <a:prstGeom prst="rect">
            <a:avLst/>
          </a:prstGeom>
          <a:noFill/>
        </p:spPr>
        <p:txBody>
          <a:bodyPr wrap="square">
            <a:spAutoFit/>
          </a:bodyPr>
          <a:lstStyle/>
          <a:p>
            <a:pPr algn="ctr"/>
            <a:r>
              <a:rPr sz="1400" b="1" i="0">
                <a:solidFill>
                  <a:srgbClr val="FFFFFF"/>
                </a:solidFill>
                <a:latin typeface="Arial"/>
              </a:rPr>
              <a:t>ELITE WOMEN</a:t>
            </a:r>
          </a:p>
        </p:txBody>
      </p:sp>
      <p:sp>
        <p:nvSpPr>
          <p:cNvPr id="17" name="Rectangle 16"/>
          <p:cNvSpPr/>
          <p:nvPr/>
        </p:nvSpPr>
        <p:spPr>
          <a:xfrm>
            <a:off x="6217920" y="1645920"/>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309360" y="1664208"/>
            <a:ext cx="5486400" cy="237744"/>
          </a:xfrm>
          <a:prstGeom prst="rect">
            <a:avLst/>
          </a:prstGeom>
          <a:noFill/>
        </p:spPr>
        <p:txBody>
          <a:bodyPr wrap="square">
            <a:spAutoFit/>
          </a:bodyPr>
          <a:lstStyle/>
          <a:p>
            <a:pPr algn="l"/>
            <a:r>
              <a:rPr sz="1100" b="1" i="0">
                <a:solidFill>
                  <a:srgbClr val="FFFFFF"/>
                </a:solidFill>
                <a:latin typeface="Arial"/>
              </a:rPr>
              <a:t>Top 10 Ranked on Startlist</a:t>
            </a:r>
          </a:p>
        </p:txBody>
      </p:sp>
      <p:graphicFrame>
        <p:nvGraphicFramePr>
          <p:cNvPr id="19" name="Table 18"/>
          <p:cNvGraphicFramePr>
            <a:graphicFrameLocks noGrp="1"/>
          </p:cNvGraphicFramePr>
          <p:nvPr/>
        </p:nvGraphicFramePr>
        <p:xfrm>
          <a:off x="6217920" y="1965960"/>
          <a:ext cx="5486400" cy="2907792"/>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264344">
                <a:tc>
                  <a:txBody>
                    <a:bodyPr/>
                    <a:lstStyle/>
                    <a:p>
                      <a:pPr algn="ctr"/>
                      <a:r>
                        <a:rPr sz="1000" b="1" i="0">
                          <a:solidFill>
                            <a:srgbClr val="FFFFFF"/>
                          </a:solidFill>
                          <a:latin typeface="Arial"/>
                        </a:rPr>
                        <a:t>Rank</a:t>
                      </a:r>
                    </a:p>
                  </a:txBody>
                  <a:tcPr>
                    <a:solidFill>
                      <a:srgbClr val="002060"/>
                    </a:solidFill>
                  </a:tcPr>
                </a:tc>
                <a:tc>
                  <a:txBody>
                    <a:bodyPr/>
                    <a:lstStyle/>
                    <a:p>
                      <a:pPr algn="ctr"/>
                      <a:r>
                        <a:rPr sz="1000" b="1" i="0">
                          <a:solidFill>
                            <a:srgbClr val="FFFFFF"/>
                          </a:solidFill>
                          <a:latin typeface="Arial"/>
                        </a:rPr>
                        <a:t>Athlete</a:t>
                      </a:r>
                    </a:p>
                  </a:txBody>
                  <a:tcPr>
                    <a:solidFill>
                      <a:srgbClr val="002060"/>
                    </a:solidFill>
                  </a:tcPr>
                </a:tc>
                <a:tc>
                  <a:txBody>
                    <a:bodyPr/>
                    <a:lstStyle/>
                    <a:p>
                      <a:pPr algn="ctr"/>
                      <a:r>
                        <a:rPr sz="1000" b="1" i="0">
                          <a:solidFill>
                            <a:srgbClr val="FFFFFF"/>
                          </a:solidFill>
                          <a:latin typeface="Arial"/>
                        </a:rPr>
                        <a:t>Points</a:t>
                      </a:r>
                    </a:p>
                  </a:txBody>
                  <a:tcPr>
                    <a:solidFill>
                      <a:srgbClr val="002060"/>
                    </a:solidFill>
                  </a:tcPr>
                </a:tc>
                <a:extLst>
                  <a:ext uri="{0D108BD9-81ED-4DB2-BD59-A6C34878D82A}">
                    <a16:rowId xmlns:a16="http://schemas.microsoft.com/office/drawing/2014/main" val="10000"/>
                  </a:ext>
                </a:extLst>
              </a:tr>
              <a:tr h="264344">
                <a:tc>
                  <a:txBody>
                    <a:bodyPr/>
                    <a:lstStyle/>
                    <a:p>
                      <a:pPr algn="ctr"/>
                      <a:r>
                        <a:rPr sz="1000" b="1" i="0">
                          <a:solidFill>
                            <a:srgbClr val="262626"/>
                          </a:solidFill>
                          <a:latin typeface="Arial"/>
                        </a:rPr>
                        <a:t>30</a:t>
                      </a:r>
                    </a:p>
                  </a:txBody>
                  <a:tcPr>
                    <a:solidFill>
                      <a:srgbClr val="FFFFFF"/>
                    </a:solidFill>
                  </a:tcPr>
                </a:tc>
                <a:tc>
                  <a:txBody>
                    <a:bodyPr/>
                    <a:lstStyle/>
                    <a:p>
                      <a:pPr algn="l"/>
                      <a:r>
                        <a:rPr sz="1000" b="0" i="0">
                          <a:solidFill>
                            <a:srgbClr val="262626"/>
                          </a:solidFill>
                          <a:latin typeface="Arial"/>
                        </a:rPr>
                        <a:t>Verena Steinhauser</a:t>
                      </a:r>
                    </a:p>
                  </a:txBody>
                  <a:tcPr>
                    <a:solidFill>
                      <a:srgbClr val="FFFFFF"/>
                    </a:solidFill>
                  </a:tcPr>
                </a:tc>
                <a:tc>
                  <a:txBody>
                    <a:bodyPr/>
                    <a:lstStyle/>
                    <a:p>
                      <a:pPr algn="ctr"/>
                      <a:r>
                        <a:rPr sz="1000" b="0" i="0">
                          <a:solidFill>
                            <a:srgbClr val="262626"/>
                          </a:solidFill>
                          <a:latin typeface="Arial"/>
                        </a:rPr>
                        <a:t>2,627</a:t>
                      </a:r>
                    </a:p>
                  </a:txBody>
                  <a:tcPr>
                    <a:solidFill>
                      <a:srgbClr val="FFFFFF"/>
                    </a:solidFill>
                  </a:tcPr>
                </a:tc>
                <a:extLst>
                  <a:ext uri="{0D108BD9-81ED-4DB2-BD59-A6C34878D82A}">
                    <a16:rowId xmlns:a16="http://schemas.microsoft.com/office/drawing/2014/main" val="10001"/>
                  </a:ext>
                </a:extLst>
              </a:tr>
              <a:tr h="264344">
                <a:tc>
                  <a:txBody>
                    <a:bodyPr/>
                    <a:lstStyle/>
                    <a:p>
                      <a:pPr algn="ctr"/>
                      <a:r>
                        <a:rPr sz="1000" b="1" i="0">
                          <a:solidFill>
                            <a:srgbClr val="262626"/>
                          </a:solidFill>
                          <a:latin typeface="Arial"/>
                        </a:rPr>
                        <a:t>31</a:t>
                      </a:r>
                    </a:p>
                  </a:txBody>
                  <a:tcPr>
                    <a:solidFill>
                      <a:srgbClr val="F2F2F2"/>
                    </a:solidFill>
                  </a:tcPr>
                </a:tc>
                <a:tc>
                  <a:txBody>
                    <a:bodyPr/>
                    <a:lstStyle/>
                    <a:p>
                      <a:pPr algn="l"/>
                      <a:r>
                        <a:rPr sz="1000" b="0" i="0">
                          <a:solidFill>
                            <a:srgbClr val="262626"/>
                          </a:solidFill>
                          <a:latin typeface="Arial"/>
                        </a:rPr>
                        <a:t>Manami Hayashi</a:t>
                      </a:r>
                    </a:p>
                  </a:txBody>
                  <a:tcPr>
                    <a:solidFill>
                      <a:srgbClr val="F2F2F2"/>
                    </a:solidFill>
                  </a:tcPr>
                </a:tc>
                <a:tc>
                  <a:txBody>
                    <a:bodyPr/>
                    <a:lstStyle/>
                    <a:p>
                      <a:pPr algn="ctr"/>
                      <a:r>
                        <a:rPr sz="1000" b="0" i="0">
                          <a:solidFill>
                            <a:srgbClr val="262626"/>
                          </a:solidFill>
                          <a:latin typeface="Arial"/>
                        </a:rPr>
                        <a:t>2,572</a:t>
                      </a:r>
                    </a:p>
                  </a:txBody>
                  <a:tcPr>
                    <a:solidFill>
                      <a:srgbClr val="F2F2F2"/>
                    </a:solidFill>
                  </a:tcPr>
                </a:tc>
                <a:extLst>
                  <a:ext uri="{0D108BD9-81ED-4DB2-BD59-A6C34878D82A}">
                    <a16:rowId xmlns:a16="http://schemas.microsoft.com/office/drawing/2014/main" val="10002"/>
                  </a:ext>
                </a:extLst>
              </a:tr>
              <a:tr h="264344">
                <a:tc>
                  <a:txBody>
                    <a:bodyPr/>
                    <a:lstStyle/>
                    <a:p>
                      <a:pPr algn="ctr"/>
                      <a:r>
                        <a:rPr sz="1000" b="1" i="0">
                          <a:solidFill>
                            <a:srgbClr val="262626"/>
                          </a:solidFill>
                          <a:latin typeface="Arial"/>
                        </a:rPr>
                        <a:t>34</a:t>
                      </a:r>
                    </a:p>
                  </a:txBody>
                  <a:tcPr>
                    <a:solidFill>
                      <a:srgbClr val="FFFFFF"/>
                    </a:solidFill>
                  </a:tcPr>
                </a:tc>
                <a:tc>
                  <a:txBody>
                    <a:bodyPr/>
                    <a:lstStyle/>
                    <a:p>
                      <a:pPr algn="l"/>
                      <a:r>
                        <a:rPr sz="1000" b="0" i="0">
                          <a:solidFill>
                            <a:srgbClr val="262626"/>
                          </a:solidFill>
                          <a:latin typeface="Arial"/>
                        </a:rPr>
                        <a:t>Zuzana Michalickova</a:t>
                      </a:r>
                    </a:p>
                  </a:txBody>
                  <a:tcPr>
                    <a:solidFill>
                      <a:srgbClr val="FFFFFF"/>
                    </a:solidFill>
                  </a:tcPr>
                </a:tc>
                <a:tc>
                  <a:txBody>
                    <a:bodyPr/>
                    <a:lstStyle/>
                    <a:p>
                      <a:pPr algn="ctr"/>
                      <a:r>
                        <a:rPr sz="1000" b="0" i="0">
                          <a:solidFill>
                            <a:srgbClr val="262626"/>
                          </a:solidFill>
                          <a:latin typeface="Arial"/>
                        </a:rPr>
                        <a:t>2,443</a:t>
                      </a:r>
                    </a:p>
                  </a:txBody>
                  <a:tcPr>
                    <a:solidFill>
                      <a:srgbClr val="FFFFFF"/>
                    </a:solidFill>
                  </a:tcPr>
                </a:tc>
                <a:extLst>
                  <a:ext uri="{0D108BD9-81ED-4DB2-BD59-A6C34878D82A}">
                    <a16:rowId xmlns:a16="http://schemas.microsoft.com/office/drawing/2014/main" val="10003"/>
                  </a:ext>
                </a:extLst>
              </a:tr>
              <a:tr h="264344">
                <a:tc>
                  <a:txBody>
                    <a:bodyPr/>
                    <a:lstStyle/>
                    <a:p>
                      <a:pPr algn="ctr"/>
                      <a:r>
                        <a:rPr sz="1000" b="1" i="0">
                          <a:solidFill>
                            <a:srgbClr val="262626"/>
                          </a:solidFill>
                          <a:latin typeface="Arial"/>
                        </a:rPr>
                        <a:t>38</a:t>
                      </a:r>
                    </a:p>
                  </a:txBody>
                  <a:tcPr>
                    <a:solidFill>
                      <a:srgbClr val="F2F2F2"/>
                    </a:solidFill>
                  </a:tcPr>
                </a:tc>
                <a:tc>
                  <a:txBody>
                    <a:bodyPr/>
                    <a:lstStyle/>
                    <a:p>
                      <a:pPr algn="l"/>
                      <a:r>
                        <a:rPr sz="1000" b="0" i="0">
                          <a:solidFill>
                            <a:srgbClr val="262626"/>
                          </a:solidFill>
                          <a:latin typeface="Arial"/>
                        </a:rPr>
                        <a:t>Danielle Orie</a:t>
                      </a:r>
                    </a:p>
                  </a:txBody>
                  <a:tcPr>
                    <a:solidFill>
                      <a:srgbClr val="F2F2F2"/>
                    </a:solidFill>
                  </a:tcPr>
                </a:tc>
                <a:tc>
                  <a:txBody>
                    <a:bodyPr/>
                    <a:lstStyle/>
                    <a:p>
                      <a:pPr algn="ctr"/>
                      <a:r>
                        <a:rPr sz="1000" b="0" i="0">
                          <a:solidFill>
                            <a:srgbClr val="262626"/>
                          </a:solidFill>
                          <a:latin typeface="Arial"/>
                        </a:rPr>
                        <a:t>2,432</a:t>
                      </a:r>
                    </a:p>
                  </a:txBody>
                  <a:tcPr>
                    <a:solidFill>
                      <a:srgbClr val="F2F2F2"/>
                    </a:solidFill>
                  </a:tcPr>
                </a:tc>
                <a:extLst>
                  <a:ext uri="{0D108BD9-81ED-4DB2-BD59-A6C34878D82A}">
                    <a16:rowId xmlns:a16="http://schemas.microsoft.com/office/drawing/2014/main" val="10004"/>
                  </a:ext>
                </a:extLst>
              </a:tr>
              <a:tr h="264344">
                <a:tc>
                  <a:txBody>
                    <a:bodyPr/>
                    <a:lstStyle/>
                    <a:p>
                      <a:pPr algn="ctr"/>
                      <a:r>
                        <a:rPr sz="1000" b="1" i="0">
                          <a:solidFill>
                            <a:srgbClr val="262626"/>
                          </a:solidFill>
                          <a:latin typeface="Arial"/>
                        </a:rPr>
                        <a:t>43</a:t>
                      </a:r>
                    </a:p>
                  </a:txBody>
                  <a:tcPr>
                    <a:solidFill>
                      <a:srgbClr val="FFFFFF"/>
                    </a:solidFill>
                  </a:tcPr>
                </a:tc>
                <a:tc>
                  <a:txBody>
                    <a:bodyPr/>
                    <a:lstStyle/>
                    <a:p>
                      <a:pPr algn="l"/>
                      <a:r>
                        <a:rPr sz="1000" b="0" i="0">
                          <a:solidFill>
                            <a:srgbClr val="262626"/>
                          </a:solidFill>
                          <a:latin typeface="Arial"/>
                        </a:rPr>
                        <a:t>Beatrice Mallozzi</a:t>
                      </a:r>
                    </a:p>
                  </a:txBody>
                  <a:tcPr>
                    <a:solidFill>
                      <a:srgbClr val="FFFFFF"/>
                    </a:solidFill>
                  </a:tcPr>
                </a:tc>
                <a:tc>
                  <a:txBody>
                    <a:bodyPr/>
                    <a:lstStyle/>
                    <a:p>
                      <a:pPr algn="ctr"/>
                      <a:r>
                        <a:rPr sz="1000" b="0" i="0">
                          <a:solidFill>
                            <a:srgbClr val="262626"/>
                          </a:solidFill>
                          <a:latin typeface="Arial"/>
                        </a:rPr>
                        <a:t>2,267</a:t>
                      </a:r>
                    </a:p>
                  </a:txBody>
                  <a:tcPr>
                    <a:solidFill>
                      <a:srgbClr val="FFFFFF"/>
                    </a:solidFill>
                  </a:tcPr>
                </a:tc>
                <a:extLst>
                  <a:ext uri="{0D108BD9-81ED-4DB2-BD59-A6C34878D82A}">
                    <a16:rowId xmlns:a16="http://schemas.microsoft.com/office/drawing/2014/main" val="10005"/>
                  </a:ext>
                </a:extLst>
              </a:tr>
              <a:tr h="264344">
                <a:tc>
                  <a:txBody>
                    <a:bodyPr/>
                    <a:lstStyle/>
                    <a:p>
                      <a:pPr algn="ctr"/>
                      <a:r>
                        <a:rPr sz="1000" b="1" i="0">
                          <a:solidFill>
                            <a:srgbClr val="262626"/>
                          </a:solidFill>
                          <a:latin typeface="Arial"/>
                        </a:rPr>
                        <a:t>44</a:t>
                      </a:r>
                    </a:p>
                  </a:txBody>
                  <a:tcPr>
                    <a:solidFill>
                      <a:srgbClr val="F2F2F2"/>
                    </a:solidFill>
                  </a:tcPr>
                </a:tc>
                <a:tc>
                  <a:txBody>
                    <a:bodyPr/>
                    <a:lstStyle/>
                    <a:p>
                      <a:pPr algn="l"/>
                      <a:r>
                        <a:rPr sz="1000" b="0" i="0">
                          <a:solidFill>
                            <a:srgbClr val="262626"/>
                          </a:solidFill>
                          <a:latin typeface="Arial"/>
                        </a:rPr>
                        <a:t>Mariana Vargem</a:t>
                      </a:r>
                    </a:p>
                  </a:txBody>
                  <a:tcPr>
                    <a:solidFill>
                      <a:srgbClr val="F2F2F2"/>
                    </a:solidFill>
                  </a:tcPr>
                </a:tc>
                <a:tc>
                  <a:txBody>
                    <a:bodyPr/>
                    <a:lstStyle/>
                    <a:p>
                      <a:pPr algn="ctr"/>
                      <a:r>
                        <a:rPr sz="1000" b="0" i="0">
                          <a:solidFill>
                            <a:srgbClr val="262626"/>
                          </a:solidFill>
                          <a:latin typeface="Arial"/>
                        </a:rPr>
                        <a:t>2,210</a:t>
                      </a:r>
                    </a:p>
                  </a:txBody>
                  <a:tcPr>
                    <a:solidFill>
                      <a:srgbClr val="F2F2F2"/>
                    </a:solidFill>
                  </a:tcPr>
                </a:tc>
                <a:extLst>
                  <a:ext uri="{0D108BD9-81ED-4DB2-BD59-A6C34878D82A}">
                    <a16:rowId xmlns:a16="http://schemas.microsoft.com/office/drawing/2014/main" val="10006"/>
                  </a:ext>
                </a:extLst>
              </a:tr>
              <a:tr h="264344">
                <a:tc>
                  <a:txBody>
                    <a:bodyPr/>
                    <a:lstStyle/>
                    <a:p>
                      <a:pPr algn="ctr"/>
                      <a:r>
                        <a:rPr sz="1000" b="1" i="0">
                          <a:solidFill>
                            <a:srgbClr val="262626"/>
                          </a:solidFill>
                          <a:latin typeface="Arial"/>
                        </a:rPr>
                        <a:t>47</a:t>
                      </a:r>
                    </a:p>
                  </a:txBody>
                  <a:tcPr>
                    <a:solidFill>
                      <a:srgbClr val="FFFFFF"/>
                    </a:solidFill>
                  </a:tcPr>
                </a:tc>
                <a:tc>
                  <a:txBody>
                    <a:bodyPr/>
                    <a:lstStyle/>
                    <a:p>
                      <a:pPr algn="l"/>
                      <a:r>
                        <a:rPr sz="1000" b="0" i="0">
                          <a:solidFill>
                            <a:srgbClr val="262626"/>
                          </a:solidFill>
                          <a:latin typeface="Arial"/>
                        </a:rPr>
                        <a:t>Kelly Wetteland</a:t>
                      </a:r>
                    </a:p>
                  </a:txBody>
                  <a:tcPr>
                    <a:solidFill>
                      <a:srgbClr val="FFFFFF"/>
                    </a:solidFill>
                  </a:tcPr>
                </a:tc>
                <a:tc>
                  <a:txBody>
                    <a:bodyPr/>
                    <a:lstStyle/>
                    <a:p>
                      <a:pPr algn="ctr"/>
                      <a:r>
                        <a:rPr sz="1000" b="0" i="0">
                          <a:solidFill>
                            <a:srgbClr val="262626"/>
                          </a:solidFill>
                          <a:latin typeface="Arial"/>
                        </a:rPr>
                        <a:t>2,109</a:t>
                      </a:r>
                    </a:p>
                  </a:txBody>
                  <a:tcPr>
                    <a:solidFill>
                      <a:srgbClr val="FFFFFF"/>
                    </a:solidFill>
                  </a:tcPr>
                </a:tc>
                <a:extLst>
                  <a:ext uri="{0D108BD9-81ED-4DB2-BD59-A6C34878D82A}">
                    <a16:rowId xmlns:a16="http://schemas.microsoft.com/office/drawing/2014/main" val="10007"/>
                  </a:ext>
                </a:extLst>
              </a:tr>
              <a:tr h="264344">
                <a:tc>
                  <a:txBody>
                    <a:bodyPr/>
                    <a:lstStyle/>
                    <a:p>
                      <a:pPr algn="ctr"/>
                      <a:r>
                        <a:rPr sz="1000" b="1" i="0">
                          <a:solidFill>
                            <a:srgbClr val="262626"/>
                          </a:solidFill>
                          <a:latin typeface="Arial"/>
                        </a:rPr>
                        <a:t>50</a:t>
                      </a:r>
                    </a:p>
                  </a:txBody>
                  <a:tcPr>
                    <a:solidFill>
                      <a:srgbClr val="F2F2F2"/>
                    </a:solidFill>
                  </a:tcPr>
                </a:tc>
                <a:tc>
                  <a:txBody>
                    <a:bodyPr/>
                    <a:lstStyle/>
                    <a:p>
                      <a:pPr algn="l"/>
                      <a:r>
                        <a:rPr sz="1000" b="0" i="0">
                          <a:solidFill>
                            <a:srgbClr val="262626"/>
                          </a:solidFill>
                          <a:latin typeface="Arial"/>
                        </a:rPr>
                        <a:t>Angelica Prestia</a:t>
                      </a:r>
                    </a:p>
                  </a:txBody>
                  <a:tcPr>
                    <a:solidFill>
                      <a:srgbClr val="F2F2F2"/>
                    </a:solidFill>
                  </a:tcPr>
                </a:tc>
                <a:tc>
                  <a:txBody>
                    <a:bodyPr/>
                    <a:lstStyle/>
                    <a:p>
                      <a:pPr algn="ctr"/>
                      <a:r>
                        <a:rPr sz="1000" b="0" i="0">
                          <a:solidFill>
                            <a:srgbClr val="262626"/>
                          </a:solidFill>
                          <a:latin typeface="Arial"/>
                        </a:rPr>
                        <a:t>2,091</a:t>
                      </a:r>
                    </a:p>
                  </a:txBody>
                  <a:tcPr>
                    <a:solidFill>
                      <a:srgbClr val="F2F2F2"/>
                    </a:solidFill>
                  </a:tcPr>
                </a:tc>
                <a:extLst>
                  <a:ext uri="{0D108BD9-81ED-4DB2-BD59-A6C34878D82A}">
                    <a16:rowId xmlns:a16="http://schemas.microsoft.com/office/drawing/2014/main" val="10008"/>
                  </a:ext>
                </a:extLst>
              </a:tr>
              <a:tr h="264344">
                <a:tc>
                  <a:txBody>
                    <a:bodyPr/>
                    <a:lstStyle/>
                    <a:p>
                      <a:pPr algn="ctr"/>
                      <a:r>
                        <a:rPr sz="1000" b="1" i="0">
                          <a:solidFill>
                            <a:srgbClr val="262626"/>
                          </a:solidFill>
                          <a:latin typeface="Arial"/>
                        </a:rPr>
                        <a:t>59</a:t>
                      </a:r>
                    </a:p>
                  </a:txBody>
                  <a:tcPr>
                    <a:solidFill>
                      <a:srgbClr val="FFFFFF"/>
                    </a:solidFill>
                  </a:tcPr>
                </a:tc>
                <a:tc>
                  <a:txBody>
                    <a:bodyPr/>
                    <a:lstStyle/>
                    <a:p>
                      <a:pPr algn="l"/>
                      <a:r>
                        <a:rPr sz="1000" b="0" i="0">
                          <a:solidFill>
                            <a:srgbClr val="262626"/>
                          </a:solidFill>
                          <a:latin typeface="Arial"/>
                        </a:rPr>
                        <a:t>Mako Hiraizumi</a:t>
                      </a:r>
                    </a:p>
                  </a:txBody>
                  <a:tcPr>
                    <a:solidFill>
                      <a:srgbClr val="FFFFFF"/>
                    </a:solidFill>
                  </a:tcPr>
                </a:tc>
                <a:tc>
                  <a:txBody>
                    <a:bodyPr/>
                    <a:lstStyle/>
                    <a:p>
                      <a:pPr algn="ctr"/>
                      <a:r>
                        <a:rPr sz="1000" b="0" i="0">
                          <a:solidFill>
                            <a:srgbClr val="262626"/>
                          </a:solidFill>
                          <a:latin typeface="Arial"/>
                        </a:rPr>
                        <a:t>1,998</a:t>
                      </a:r>
                    </a:p>
                  </a:txBody>
                  <a:tcPr>
                    <a:solidFill>
                      <a:srgbClr val="FFFFFF"/>
                    </a:solidFill>
                  </a:tcPr>
                </a:tc>
                <a:extLst>
                  <a:ext uri="{0D108BD9-81ED-4DB2-BD59-A6C34878D82A}">
                    <a16:rowId xmlns:a16="http://schemas.microsoft.com/office/drawing/2014/main" val="10009"/>
                  </a:ext>
                </a:extLst>
              </a:tr>
              <a:tr h="264352">
                <a:tc>
                  <a:txBody>
                    <a:bodyPr/>
                    <a:lstStyle/>
                    <a:p>
                      <a:pPr algn="ctr"/>
                      <a:r>
                        <a:rPr sz="1000" b="1" i="0">
                          <a:solidFill>
                            <a:srgbClr val="262626"/>
                          </a:solidFill>
                          <a:latin typeface="Arial"/>
                        </a:rPr>
                        <a:t>64</a:t>
                      </a:r>
                    </a:p>
                  </a:txBody>
                  <a:tcPr>
                    <a:solidFill>
                      <a:srgbClr val="F2F2F2"/>
                    </a:solidFill>
                  </a:tcPr>
                </a:tc>
                <a:tc>
                  <a:txBody>
                    <a:bodyPr/>
                    <a:lstStyle/>
                    <a:p>
                      <a:pPr algn="l"/>
                      <a:r>
                        <a:rPr sz="1000" b="0" i="0">
                          <a:solidFill>
                            <a:srgbClr val="262626"/>
                          </a:solidFill>
                          <a:latin typeface="Arial"/>
                        </a:rPr>
                        <a:t>Shanae Williams</a:t>
                      </a:r>
                    </a:p>
                  </a:txBody>
                  <a:tcPr>
                    <a:solidFill>
                      <a:srgbClr val="F2F2F2"/>
                    </a:solidFill>
                  </a:tcPr>
                </a:tc>
                <a:tc>
                  <a:txBody>
                    <a:bodyPr/>
                    <a:lstStyle/>
                    <a:p>
                      <a:pPr algn="ctr"/>
                      <a:r>
                        <a:rPr sz="1000" b="0" i="0">
                          <a:solidFill>
                            <a:srgbClr val="262626"/>
                          </a:solidFill>
                          <a:latin typeface="Arial"/>
                        </a:rPr>
                        <a:t>1,916</a:t>
                      </a:r>
                    </a:p>
                  </a:txBody>
                  <a:tcPr>
                    <a:solidFill>
                      <a:srgbClr val="F2F2F2"/>
                    </a:solidFill>
                  </a:tcPr>
                </a:tc>
                <a:extLst>
                  <a:ext uri="{0D108BD9-81ED-4DB2-BD59-A6C34878D82A}">
                    <a16:rowId xmlns:a16="http://schemas.microsoft.com/office/drawing/2014/main" val="10010"/>
                  </a:ext>
                </a:extLst>
              </a:tr>
            </a:tbl>
          </a:graphicData>
        </a:graphic>
      </p:graphicFrame>
      <p:sp>
        <p:nvSpPr>
          <p:cNvPr id="20" name="Rectangle 19"/>
          <p:cNvSpPr/>
          <p:nvPr/>
        </p:nvSpPr>
        <p:spPr>
          <a:xfrm>
            <a:off x="6217920" y="5056632"/>
            <a:ext cx="5669280" cy="274320"/>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09360" y="5074920"/>
            <a:ext cx="5486400" cy="237744"/>
          </a:xfrm>
          <a:prstGeom prst="rect">
            <a:avLst/>
          </a:prstGeom>
          <a:noFill/>
        </p:spPr>
        <p:txBody>
          <a:bodyPr wrap="square">
            <a:spAutoFit/>
          </a:bodyPr>
          <a:lstStyle/>
          <a:p>
            <a:pPr algn="l"/>
            <a:r>
              <a:rPr sz="1100" b="1" i="0">
                <a:solidFill>
                  <a:srgbClr val="FFFFFF"/>
                </a:solidFill>
                <a:latin typeface="Arial"/>
              </a:rPr>
              <a:t>Returning Podium Athletes on Startlist</a:t>
            </a:r>
          </a:p>
        </p:txBody>
      </p:sp>
      <p:sp>
        <p:nvSpPr>
          <p:cNvPr id="22" name="TextBox 21"/>
          <p:cNvSpPr txBox="1"/>
          <p:nvPr/>
        </p:nvSpPr>
        <p:spPr>
          <a:xfrm>
            <a:off x="6309360" y="5468112"/>
            <a:ext cx="5486400" cy="457200"/>
          </a:xfrm>
          <a:prstGeom prst="rect">
            <a:avLst/>
          </a:prstGeom>
          <a:noFill/>
        </p:spPr>
        <p:txBody>
          <a:bodyPr wrap="square">
            <a:spAutoFit/>
          </a:bodyPr>
          <a:lstStyle/>
          <a:p>
            <a:pPr algn="l"/>
            <a:r>
              <a:rPr sz="1050" b="0" i="1">
                <a:solidFill>
                  <a:srgbClr val="262626"/>
                </a:solidFill>
                <a:latin typeface="Arial"/>
              </a:rPr>
              <a:t>No prior race history at this venue.</a:t>
            </a:r>
          </a:p>
        </p:txBody>
      </p:sp>
      <p:sp>
        <p:nvSpPr>
          <p:cNvPr id="23" name="TextBox 22"/>
          <p:cNvSpPr txBox="1"/>
          <p:nvPr/>
        </p:nvSpPr>
        <p:spPr>
          <a:xfrm>
            <a:off x="274320" y="6446520"/>
            <a:ext cx="11640312" cy="228600"/>
          </a:xfrm>
          <a:prstGeom prst="rect">
            <a:avLst/>
          </a:prstGeom>
          <a:noFill/>
        </p:spPr>
        <p:txBody>
          <a:bodyPr wrap="square">
            <a:spAutoFit/>
          </a:bodyPr>
          <a:lstStyle/>
          <a:p>
            <a:pPr algn="ctr"/>
            <a:r>
              <a:rPr sz="900" b="0" i="1">
                <a:solidFill>
                  <a:srgbClr val="BFBFBF"/>
                </a:solidFill>
                <a:latin typeface="Arial"/>
              </a:rPr>
              <a:t>Rankings = current World Triathlon rankings snapshot; startlist intersect uses program_entries when available.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Top Swim Threats</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78992"/>
            <a:ext cx="11640312" cy="320040"/>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15568"/>
            <a:ext cx="11430000" cy="246888"/>
          </a:xfrm>
          <a:prstGeom prst="rect">
            <a:avLst/>
          </a:prstGeom>
          <a:noFill/>
        </p:spPr>
        <p:txBody>
          <a:bodyPr wrap="square">
            <a:spAutoFit/>
          </a:bodyPr>
          <a:lstStyle/>
          <a:p>
            <a:pPr algn="ctr"/>
            <a:r>
              <a:rPr sz="1000" b="1" i="0">
                <a:solidFill>
                  <a:srgbClr val="002060"/>
                </a:solidFill>
                <a:latin typeface="Arial"/>
              </a:rPr>
              <a:t>Ranked by Lead Pack % (within 15 s of swim leader — robust to course speed)   •   EWMA swim split (span-5) shown per distance; Sprint = this race   •   WTCS / World Cup / Continental, last 4 yrs</a:t>
            </a:r>
          </a:p>
        </p:txBody>
      </p:sp>
      <p:sp>
        <p:nvSpPr>
          <p:cNvPr id="10" name="Rectangle 9"/>
          <p:cNvSpPr/>
          <p:nvPr/>
        </p:nvSpPr>
        <p:spPr>
          <a:xfrm>
            <a:off x="27432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74320" y="1536192"/>
            <a:ext cx="5806440" cy="219456"/>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12" name="Table 11"/>
          <p:cNvGraphicFramePr>
            <a:graphicFrameLocks noGrp="1"/>
          </p:cNvGraphicFramePr>
          <p:nvPr/>
        </p:nvGraphicFramePr>
        <p:xfrm>
          <a:off x="274320" y="1828800"/>
          <a:ext cx="5806439" cy="3840480"/>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 ▸</a:t>
                      </a:r>
                    </a:p>
                  </a:txBody>
                  <a:tcPr>
                    <a:solidFill>
                      <a:srgbClr val="002060"/>
                    </a:solidFill>
                  </a:tcPr>
                </a:tc>
                <a:tc>
                  <a:txBody>
                    <a:bodyPr/>
                    <a:lstStyle/>
                    <a:p>
                      <a:pPr algn="ctr"/>
                      <a:r>
                        <a:rPr sz="850" b="1" i="0">
                          <a:solidFill>
                            <a:srgbClr val="FFFFFF"/>
                          </a:solidFill>
                          <a:latin typeface="Arial"/>
                        </a:rPr>
                        <a:t>EWMA Std</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0" i="0">
                          <a:solidFill>
                            <a:srgbClr val="262626"/>
                          </a:solidFill>
                          <a:latin typeface="Arial"/>
                        </a:rPr>
                        <a:t>Aiden Longcroft-Harris</a:t>
                      </a:r>
                    </a:p>
                  </a:txBody>
                  <a:tcPr>
                    <a:solidFill>
                      <a:srgbClr val="FFFFFF"/>
                    </a:solidFill>
                  </a:tcPr>
                </a:tc>
                <a:tc>
                  <a:txBody>
                    <a:bodyPr/>
                    <a:lstStyle/>
                    <a:p>
                      <a:pPr algn="ctr"/>
                      <a:r>
                        <a:rPr sz="850" b="1" i="0">
                          <a:solidFill>
                            <a:srgbClr val="262626"/>
                          </a:solidFill>
                          <a:latin typeface="Arial"/>
                        </a:rPr>
                        <a:t>96%</a:t>
                      </a:r>
                    </a:p>
                  </a:txBody>
                  <a:tcPr>
                    <a:solidFill>
                      <a:srgbClr val="FFFFFF"/>
                    </a:solidFill>
                  </a:tcPr>
                </a:tc>
                <a:tc>
                  <a:txBody>
                    <a:bodyPr/>
                    <a:lstStyle/>
                    <a:p>
                      <a:pPr algn="ctr"/>
                      <a:r>
                        <a:rPr sz="850" b="1" i="0">
                          <a:solidFill>
                            <a:srgbClr val="262626"/>
                          </a:solidFill>
                          <a:latin typeface="Arial"/>
                        </a:rPr>
                        <a:t>9:32</a:t>
                      </a:r>
                    </a:p>
                  </a:txBody>
                  <a:tcPr>
                    <a:solidFill>
                      <a:srgbClr val="FFFFFF"/>
                    </a:solidFill>
                  </a:tcPr>
                </a:tc>
                <a:tc>
                  <a:txBody>
                    <a:bodyPr/>
                    <a:lstStyle/>
                    <a:p>
                      <a:pPr algn="ctr"/>
                      <a:r>
                        <a:rPr sz="850" b="0" i="0">
                          <a:solidFill>
                            <a:srgbClr val="262626"/>
                          </a:solidFill>
                          <a:latin typeface="Arial"/>
                        </a:rPr>
                        <a:t>17:51</a:t>
                      </a:r>
                    </a:p>
                  </a:txBody>
                  <a:tcPr>
                    <a:solidFill>
                      <a:srgbClr val="FFFFFF"/>
                    </a:solidFill>
                  </a:tcPr>
                </a:tc>
                <a:tc>
                  <a:txBody>
                    <a:bodyPr/>
                    <a:lstStyle/>
                    <a:p>
                      <a:pPr algn="ctr"/>
                      <a:r>
                        <a:rPr sz="850" b="0" i="0">
                          <a:solidFill>
                            <a:srgbClr val="BFBFBF"/>
                          </a:solidFill>
                          <a:latin typeface="Arial"/>
                        </a:rPr>
                        <a:t>15/8</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Ramón Armando Matute</a:t>
                      </a:r>
                    </a:p>
                  </a:txBody>
                  <a:tcPr>
                    <a:solidFill>
                      <a:srgbClr val="F2F2F2"/>
                    </a:solidFill>
                  </a:tcPr>
                </a:tc>
                <a:tc>
                  <a:txBody>
                    <a:bodyPr/>
                    <a:lstStyle/>
                    <a:p>
                      <a:pPr algn="ctr"/>
                      <a:r>
                        <a:rPr sz="850" b="1" i="0">
                          <a:solidFill>
                            <a:srgbClr val="262626"/>
                          </a:solidFill>
                          <a:latin typeface="Arial"/>
                        </a:rPr>
                        <a:t>95%</a:t>
                      </a:r>
                    </a:p>
                  </a:txBody>
                  <a:tcPr>
                    <a:solidFill>
                      <a:srgbClr val="F2F2F2"/>
                    </a:solidFill>
                  </a:tcPr>
                </a:tc>
                <a:tc>
                  <a:txBody>
                    <a:bodyPr/>
                    <a:lstStyle/>
                    <a:p>
                      <a:pPr algn="ctr"/>
                      <a:r>
                        <a:rPr sz="850" b="1" i="0">
                          <a:solidFill>
                            <a:srgbClr val="262626"/>
                          </a:solidFill>
                          <a:latin typeface="Arial"/>
                        </a:rPr>
                        <a:t>9:12</a:t>
                      </a:r>
                    </a:p>
                  </a:txBody>
                  <a:tcPr>
                    <a:solidFill>
                      <a:srgbClr val="F2F2F2"/>
                    </a:solidFill>
                  </a:tcPr>
                </a:tc>
                <a:tc>
                  <a:txBody>
                    <a:bodyPr/>
                    <a:lstStyle/>
                    <a:p>
                      <a:pPr algn="ctr"/>
                      <a:r>
                        <a:rPr sz="850" b="0" i="0">
                          <a:solidFill>
                            <a:srgbClr val="262626"/>
                          </a:solidFill>
                          <a:latin typeface="Arial"/>
                        </a:rPr>
                        <a:t>18:27</a:t>
                      </a:r>
                    </a:p>
                  </a:txBody>
                  <a:tcPr>
                    <a:solidFill>
                      <a:srgbClr val="F2F2F2"/>
                    </a:solidFill>
                  </a:tcPr>
                </a:tc>
                <a:tc>
                  <a:txBody>
                    <a:bodyPr/>
                    <a:lstStyle/>
                    <a:p>
                      <a:pPr algn="ctr"/>
                      <a:r>
                        <a:rPr sz="850" b="0" i="0">
                          <a:solidFill>
                            <a:srgbClr val="BFBFBF"/>
                          </a:solidFill>
                          <a:latin typeface="Arial"/>
                        </a:rPr>
                        <a:t>16/5</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Pietro Giovannini</a:t>
                      </a:r>
                    </a:p>
                  </a:txBody>
                  <a:tcPr>
                    <a:solidFill>
                      <a:srgbClr val="FFFFFF"/>
                    </a:solidFill>
                  </a:tcPr>
                </a:tc>
                <a:tc>
                  <a:txBody>
                    <a:bodyPr/>
                    <a:lstStyle/>
                    <a:p>
                      <a:pPr algn="ctr"/>
                      <a:r>
                        <a:rPr sz="850" b="1" i="0">
                          <a:solidFill>
                            <a:srgbClr val="262626"/>
                          </a:solidFill>
                          <a:latin typeface="Arial"/>
                        </a:rPr>
                        <a:t>92%</a:t>
                      </a:r>
                    </a:p>
                  </a:txBody>
                  <a:tcPr>
                    <a:solidFill>
                      <a:srgbClr val="FFFFFF"/>
                    </a:solidFill>
                  </a:tcPr>
                </a:tc>
                <a:tc>
                  <a:txBody>
                    <a:bodyPr/>
                    <a:lstStyle/>
                    <a:p>
                      <a:pPr algn="ctr"/>
                      <a:r>
                        <a:rPr sz="850" b="1" i="0">
                          <a:solidFill>
                            <a:srgbClr val="262626"/>
                          </a:solidFill>
                          <a:latin typeface="Arial"/>
                        </a:rPr>
                        <a:t>8:49</a:t>
                      </a:r>
                    </a:p>
                  </a:txBody>
                  <a:tcPr>
                    <a:solidFill>
                      <a:srgbClr val="FFFFFF"/>
                    </a:solidFill>
                  </a:tcPr>
                </a:tc>
                <a:tc>
                  <a:txBody>
                    <a:bodyPr/>
                    <a:lstStyle/>
                    <a:p>
                      <a:pPr algn="ctr"/>
                      <a:r>
                        <a:rPr sz="850" b="0" i="0">
                          <a:solidFill>
                            <a:srgbClr val="262626"/>
                          </a:solidFill>
                          <a:latin typeface="Arial"/>
                        </a:rPr>
                        <a:t>17:59</a:t>
                      </a:r>
                    </a:p>
                  </a:txBody>
                  <a:tcPr>
                    <a:solidFill>
                      <a:srgbClr val="FFFFFF"/>
                    </a:solidFill>
                  </a:tcPr>
                </a:tc>
                <a:tc>
                  <a:txBody>
                    <a:bodyPr/>
                    <a:lstStyle/>
                    <a:p>
                      <a:pPr algn="ctr"/>
                      <a:r>
                        <a:rPr sz="850" b="0" i="0">
                          <a:solidFill>
                            <a:srgbClr val="BFBFBF"/>
                          </a:solidFill>
                          <a:latin typeface="Arial"/>
                        </a:rPr>
                        <a:t>8/5</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Dylan McCullough</a:t>
                      </a:r>
                    </a:p>
                  </a:txBody>
                  <a:tcPr>
                    <a:solidFill>
                      <a:srgbClr val="F2F2F2"/>
                    </a:solidFill>
                  </a:tcPr>
                </a:tc>
                <a:tc>
                  <a:txBody>
                    <a:bodyPr/>
                    <a:lstStyle/>
                    <a:p>
                      <a:pPr algn="ctr"/>
                      <a:r>
                        <a:rPr sz="850" b="1" i="0">
                          <a:solidFill>
                            <a:srgbClr val="262626"/>
                          </a:solidFill>
                          <a:latin typeface="Arial"/>
                        </a:rPr>
                        <a:t>85%</a:t>
                      </a:r>
                    </a:p>
                  </a:txBody>
                  <a:tcPr>
                    <a:solidFill>
                      <a:srgbClr val="F2F2F2"/>
                    </a:solidFill>
                  </a:tcPr>
                </a:tc>
                <a:tc>
                  <a:txBody>
                    <a:bodyPr/>
                    <a:lstStyle/>
                    <a:p>
                      <a:pPr algn="ctr"/>
                      <a:r>
                        <a:rPr sz="850" b="1" i="0">
                          <a:solidFill>
                            <a:srgbClr val="262626"/>
                          </a:solidFill>
                          <a:latin typeface="Arial"/>
                        </a:rPr>
                        <a:t>8:30</a:t>
                      </a:r>
                    </a:p>
                  </a:txBody>
                  <a:tcPr>
                    <a:solidFill>
                      <a:srgbClr val="F2F2F2"/>
                    </a:solidFill>
                  </a:tcPr>
                </a:tc>
                <a:tc>
                  <a:txBody>
                    <a:bodyPr/>
                    <a:lstStyle/>
                    <a:p>
                      <a:pPr algn="ctr"/>
                      <a:r>
                        <a:rPr sz="850" b="0" i="0">
                          <a:solidFill>
                            <a:srgbClr val="262626"/>
                          </a:solidFill>
                          <a:latin typeface="Arial"/>
                        </a:rPr>
                        <a:t>17:25</a:t>
                      </a:r>
                    </a:p>
                  </a:txBody>
                  <a:tcPr>
                    <a:solidFill>
                      <a:srgbClr val="F2F2F2"/>
                    </a:solidFill>
                  </a:tcPr>
                </a:tc>
                <a:tc>
                  <a:txBody>
                    <a:bodyPr/>
                    <a:lstStyle/>
                    <a:p>
                      <a:pPr algn="ctr"/>
                      <a:r>
                        <a:rPr sz="850" b="0" i="0">
                          <a:solidFill>
                            <a:srgbClr val="BFBFBF"/>
                          </a:solidFill>
                          <a:latin typeface="Arial"/>
                        </a:rPr>
                        <a:t>13/7</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Kevin Tarek Viñuela Gonzalez</a:t>
                      </a:r>
                    </a:p>
                  </a:txBody>
                  <a:tcPr>
                    <a:solidFill>
                      <a:srgbClr val="FFFFFF"/>
                    </a:solidFill>
                  </a:tcPr>
                </a:tc>
                <a:tc>
                  <a:txBody>
                    <a:bodyPr/>
                    <a:lstStyle/>
                    <a:p>
                      <a:pPr algn="ctr"/>
                      <a:r>
                        <a:rPr sz="850" b="1" i="0">
                          <a:solidFill>
                            <a:srgbClr val="262626"/>
                          </a:solidFill>
                          <a:latin typeface="Arial"/>
                        </a:rPr>
                        <a:t>74%</a:t>
                      </a:r>
                    </a:p>
                  </a:txBody>
                  <a:tcPr>
                    <a:solidFill>
                      <a:srgbClr val="FFFFFF"/>
                    </a:solidFill>
                  </a:tcPr>
                </a:tc>
                <a:tc>
                  <a:txBody>
                    <a:bodyPr/>
                    <a:lstStyle/>
                    <a:p>
                      <a:pPr algn="ctr"/>
                      <a:r>
                        <a:rPr sz="850" b="1" i="0">
                          <a:solidFill>
                            <a:srgbClr val="262626"/>
                          </a:solidFill>
                          <a:latin typeface="Arial"/>
                        </a:rPr>
                        <a:t>9:07</a:t>
                      </a:r>
                    </a:p>
                  </a:txBody>
                  <a:tcPr>
                    <a:solidFill>
                      <a:srgbClr val="FFFFFF"/>
                    </a:solidFill>
                  </a:tcPr>
                </a:tc>
                <a:tc>
                  <a:txBody>
                    <a:bodyPr/>
                    <a:lstStyle/>
                    <a:p>
                      <a:pPr algn="ctr"/>
                      <a:r>
                        <a:rPr sz="850" b="0" i="0">
                          <a:solidFill>
                            <a:srgbClr val="262626"/>
                          </a:solidFill>
                          <a:latin typeface="Arial"/>
                        </a:rPr>
                        <a:t>17:04</a:t>
                      </a:r>
                    </a:p>
                  </a:txBody>
                  <a:tcPr>
                    <a:solidFill>
                      <a:srgbClr val="FFFFFF"/>
                    </a:solidFill>
                  </a:tcPr>
                </a:tc>
                <a:tc>
                  <a:txBody>
                    <a:bodyPr/>
                    <a:lstStyle/>
                    <a:p>
                      <a:pPr algn="ctr"/>
                      <a:r>
                        <a:rPr sz="850" b="0" i="0">
                          <a:solidFill>
                            <a:srgbClr val="BFBFBF"/>
                          </a:solidFill>
                          <a:latin typeface="Arial"/>
                        </a:rPr>
                        <a:t>14/13</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Filip Vilenica</a:t>
                      </a:r>
                    </a:p>
                  </a:txBody>
                  <a:tcPr>
                    <a:solidFill>
                      <a:srgbClr val="F2F2F2"/>
                    </a:solidFill>
                  </a:tcPr>
                </a:tc>
                <a:tc>
                  <a:txBody>
                    <a:bodyPr/>
                    <a:lstStyle/>
                    <a:p>
                      <a:pPr algn="ctr"/>
                      <a:r>
                        <a:rPr sz="850" b="1" i="0">
                          <a:solidFill>
                            <a:srgbClr val="262626"/>
                          </a:solidFill>
                          <a:latin typeface="Arial"/>
                        </a:rPr>
                        <a:t>67%</a:t>
                      </a:r>
                    </a:p>
                  </a:txBody>
                  <a:tcPr>
                    <a:solidFill>
                      <a:srgbClr val="F2F2F2"/>
                    </a:solidFill>
                  </a:tcPr>
                </a:tc>
                <a:tc>
                  <a:txBody>
                    <a:bodyPr/>
                    <a:lstStyle/>
                    <a:p>
                      <a:pPr algn="ctr"/>
                      <a:r>
                        <a:rPr sz="850" b="1" i="0">
                          <a:solidFill>
                            <a:srgbClr val="262626"/>
                          </a:solidFill>
                          <a:latin typeface="Arial"/>
                        </a:rPr>
                        <a:t>9:11</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tc>
                  <a:txBody>
                    <a:bodyPr/>
                    <a:lstStyle/>
                    <a:p>
                      <a:pPr algn="ctr"/>
                      <a:r>
                        <a:rPr sz="850" b="0" i="0">
                          <a:solidFill>
                            <a:srgbClr val="BFBFBF"/>
                          </a:solidFill>
                          <a:latin typeface="Arial"/>
                        </a:rPr>
                        <a:t>3/0</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0" i="0">
                          <a:solidFill>
                            <a:srgbClr val="262626"/>
                          </a:solidFill>
                          <a:latin typeface="Arial"/>
                        </a:rPr>
                        <a:t>Martin Demuth</a:t>
                      </a:r>
                    </a:p>
                  </a:txBody>
                  <a:tcPr>
                    <a:solidFill>
                      <a:srgbClr val="FFFFFF"/>
                    </a:solidFill>
                  </a:tcPr>
                </a:tc>
                <a:tc>
                  <a:txBody>
                    <a:bodyPr/>
                    <a:lstStyle/>
                    <a:p>
                      <a:pPr algn="ctr"/>
                      <a:r>
                        <a:rPr sz="850" b="1" i="0">
                          <a:solidFill>
                            <a:srgbClr val="262626"/>
                          </a:solidFill>
                          <a:latin typeface="Arial"/>
                        </a:rPr>
                        <a:t>64%</a:t>
                      </a:r>
                    </a:p>
                  </a:txBody>
                  <a:tcPr>
                    <a:solidFill>
                      <a:srgbClr val="FFFFFF"/>
                    </a:solidFill>
                  </a:tcPr>
                </a:tc>
                <a:tc>
                  <a:txBody>
                    <a:bodyPr/>
                    <a:lstStyle/>
                    <a:p>
                      <a:pPr algn="ctr"/>
                      <a:r>
                        <a:rPr sz="850" b="1" i="0">
                          <a:solidFill>
                            <a:srgbClr val="262626"/>
                          </a:solidFill>
                          <a:latin typeface="Arial"/>
                        </a:rPr>
                        <a:t>9:07</a:t>
                      </a:r>
                    </a:p>
                  </a:txBody>
                  <a:tcPr>
                    <a:solidFill>
                      <a:srgbClr val="FFFFFF"/>
                    </a:solidFill>
                  </a:tcPr>
                </a:tc>
                <a:tc>
                  <a:txBody>
                    <a:bodyPr/>
                    <a:lstStyle/>
                    <a:p>
                      <a:pPr algn="ctr"/>
                      <a:r>
                        <a:rPr sz="850" b="0" i="0">
                          <a:solidFill>
                            <a:srgbClr val="262626"/>
                          </a:solidFill>
                          <a:latin typeface="Arial"/>
                        </a:rPr>
                        <a:t>17:15</a:t>
                      </a:r>
                    </a:p>
                  </a:txBody>
                  <a:tcPr>
                    <a:solidFill>
                      <a:srgbClr val="FFFFFF"/>
                    </a:solidFill>
                  </a:tcPr>
                </a:tc>
                <a:tc>
                  <a:txBody>
                    <a:bodyPr/>
                    <a:lstStyle/>
                    <a:p>
                      <a:pPr algn="ctr"/>
                      <a:r>
                        <a:rPr sz="850" b="0" i="0">
                          <a:solidFill>
                            <a:srgbClr val="BFBFBF"/>
                          </a:solidFill>
                          <a:latin typeface="Arial"/>
                        </a:rPr>
                        <a:t>16/12</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0" i="0">
                          <a:solidFill>
                            <a:srgbClr val="262626"/>
                          </a:solidFill>
                          <a:latin typeface="Arial"/>
                        </a:rPr>
                        <a:t>Gabriel Terán Carvajal</a:t>
                      </a:r>
                    </a:p>
                  </a:txBody>
                  <a:tcPr>
                    <a:solidFill>
                      <a:srgbClr val="F2F2F2"/>
                    </a:solidFill>
                  </a:tcPr>
                </a:tc>
                <a:tc>
                  <a:txBody>
                    <a:bodyPr/>
                    <a:lstStyle/>
                    <a:p>
                      <a:pPr algn="ctr"/>
                      <a:r>
                        <a:rPr sz="850" b="1" i="0">
                          <a:solidFill>
                            <a:srgbClr val="262626"/>
                          </a:solidFill>
                          <a:latin typeface="Arial"/>
                        </a:rPr>
                        <a:t>64%</a:t>
                      </a:r>
                    </a:p>
                  </a:txBody>
                  <a:tcPr>
                    <a:solidFill>
                      <a:srgbClr val="F2F2F2"/>
                    </a:solidFill>
                  </a:tcPr>
                </a:tc>
                <a:tc>
                  <a:txBody>
                    <a:bodyPr/>
                    <a:lstStyle/>
                    <a:p>
                      <a:pPr algn="ctr"/>
                      <a:r>
                        <a:rPr sz="850" b="1" i="0">
                          <a:solidFill>
                            <a:srgbClr val="262626"/>
                          </a:solidFill>
                          <a:latin typeface="Arial"/>
                        </a:rPr>
                        <a:t>8:57</a:t>
                      </a:r>
                    </a:p>
                  </a:txBody>
                  <a:tcPr>
                    <a:solidFill>
                      <a:srgbClr val="F2F2F2"/>
                    </a:solidFill>
                  </a:tcPr>
                </a:tc>
                <a:tc>
                  <a:txBody>
                    <a:bodyPr/>
                    <a:lstStyle/>
                    <a:p>
                      <a:pPr algn="ctr"/>
                      <a:r>
                        <a:rPr sz="850" b="0" i="0">
                          <a:solidFill>
                            <a:srgbClr val="262626"/>
                          </a:solidFill>
                          <a:latin typeface="Arial"/>
                        </a:rPr>
                        <a:t>18:40</a:t>
                      </a:r>
                    </a:p>
                  </a:txBody>
                  <a:tcPr>
                    <a:solidFill>
                      <a:srgbClr val="F2F2F2"/>
                    </a:solidFill>
                  </a:tcPr>
                </a:tc>
                <a:tc>
                  <a:txBody>
                    <a:bodyPr/>
                    <a:lstStyle/>
                    <a:p>
                      <a:pPr algn="ctr"/>
                      <a:r>
                        <a:rPr sz="850" b="0" i="0">
                          <a:solidFill>
                            <a:srgbClr val="BFBFBF"/>
                          </a:solidFill>
                          <a:latin typeface="Arial"/>
                        </a:rPr>
                        <a:t>19/6</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1" i="0">
                          <a:solidFill>
                            <a:srgbClr val="C00000"/>
                          </a:solidFill>
                          <a:latin typeface="Arial"/>
                        </a:rPr>
                        <a:t>Braxton Legg</a:t>
                      </a:r>
                    </a:p>
                  </a:txBody>
                  <a:tcPr>
                    <a:solidFill>
                      <a:srgbClr val="FFFFFF"/>
                    </a:solidFill>
                  </a:tcPr>
                </a:tc>
                <a:tc>
                  <a:txBody>
                    <a:bodyPr/>
                    <a:lstStyle/>
                    <a:p>
                      <a:pPr algn="ctr"/>
                      <a:r>
                        <a:rPr sz="850" b="1" i="0">
                          <a:solidFill>
                            <a:srgbClr val="262626"/>
                          </a:solidFill>
                          <a:latin typeface="Arial"/>
                        </a:rPr>
                        <a:t>64%</a:t>
                      </a:r>
                    </a:p>
                  </a:txBody>
                  <a:tcPr>
                    <a:solidFill>
                      <a:srgbClr val="FFFFFF"/>
                    </a:solidFill>
                  </a:tcPr>
                </a:tc>
                <a:tc>
                  <a:txBody>
                    <a:bodyPr/>
                    <a:lstStyle/>
                    <a:p>
                      <a:pPr algn="ctr"/>
                      <a:r>
                        <a:rPr sz="850" b="1" i="0">
                          <a:solidFill>
                            <a:srgbClr val="262626"/>
                          </a:solidFill>
                          <a:latin typeface="Arial"/>
                        </a:rPr>
                        <a:t>8:53</a:t>
                      </a:r>
                    </a:p>
                  </a:txBody>
                  <a:tcPr>
                    <a:solidFill>
                      <a:srgbClr val="FFFFFF"/>
                    </a:solidFill>
                  </a:tcPr>
                </a:tc>
                <a:tc>
                  <a:txBody>
                    <a:bodyPr/>
                    <a:lstStyle/>
                    <a:p>
                      <a:pPr algn="ctr"/>
                      <a:r>
                        <a:rPr sz="850" b="0" i="0">
                          <a:solidFill>
                            <a:srgbClr val="262626"/>
                          </a:solidFill>
                          <a:latin typeface="Arial"/>
                        </a:rPr>
                        <a:t>18:46</a:t>
                      </a:r>
                    </a:p>
                  </a:txBody>
                  <a:tcPr>
                    <a:solidFill>
                      <a:srgbClr val="FFFFFF"/>
                    </a:solidFill>
                  </a:tcPr>
                </a:tc>
                <a:tc>
                  <a:txBody>
                    <a:bodyPr/>
                    <a:lstStyle/>
                    <a:p>
                      <a:pPr algn="ctr"/>
                      <a:r>
                        <a:rPr sz="850" b="0" i="0">
                          <a:solidFill>
                            <a:srgbClr val="BFBFBF"/>
                          </a:solidFill>
                          <a:latin typeface="Arial"/>
                        </a:rPr>
                        <a:t>10/1</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0" i="0">
                          <a:solidFill>
                            <a:srgbClr val="262626"/>
                          </a:solidFill>
                          <a:latin typeface="Arial"/>
                        </a:rPr>
                        <a:t>Kauê Willy</a:t>
                      </a:r>
                    </a:p>
                  </a:txBody>
                  <a:tcPr>
                    <a:solidFill>
                      <a:srgbClr val="F2F2F2"/>
                    </a:solidFill>
                  </a:tcPr>
                </a:tc>
                <a:tc>
                  <a:txBody>
                    <a:bodyPr/>
                    <a:lstStyle/>
                    <a:p>
                      <a:pPr algn="ctr"/>
                      <a:r>
                        <a:rPr sz="850" b="1" i="0">
                          <a:solidFill>
                            <a:srgbClr val="262626"/>
                          </a:solidFill>
                          <a:latin typeface="Arial"/>
                        </a:rPr>
                        <a:t>57%</a:t>
                      </a:r>
                    </a:p>
                  </a:txBody>
                  <a:tcPr>
                    <a:solidFill>
                      <a:srgbClr val="F2F2F2"/>
                    </a:solidFill>
                  </a:tcPr>
                </a:tc>
                <a:tc>
                  <a:txBody>
                    <a:bodyPr/>
                    <a:lstStyle/>
                    <a:p>
                      <a:pPr algn="ctr"/>
                      <a:r>
                        <a:rPr sz="850" b="1" i="0">
                          <a:solidFill>
                            <a:srgbClr val="262626"/>
                          </a:solidFill>
                          <a:latin typeface="Arial"/>
                        </a:rPr>
                        <a:t>9:19</a:t>
                      </a:r>
                    </a:p>
                  </a:txBody>
                  <a:tcPr>
                    <a:solidFill>
                      <a:srgbClr val="F2F2F2"/>
                    </a:solidFill>
                  </a:tcPr>
                </a:tc>
                <a:tc>
                  <a:txBody>
                    <a:bodyPr/>
                    <a:lstStyle/>
                    <a:p>
                      <a:pPr algn="ctr"/>
                      <a:r>
                        <a:rPr sz="850" b="0" i="0">
                          <a:solidFill>
                            <a:srgbClr val="262626"/>
                          </a:solidFill>
                          <a:latin typeface="Arial"/>
                        </a:rPr>
                        <a:t>18:32</a:t>
                      </a:r>
                    </a:p>
                  </a:txBody>
                  <a:tcPr>
                    <a:solidFill>
                      <a:srgbClr val="F2F2F2"/>
                    </a:solidFill>
                  </a:tcPr>
                </a:tc>
                <a:tc>
                  <a:txBody>
                    <a:bodyPr/>
                    <a:lstStyle/>
                    <a:p>
                      <a:pPr algn="ctr"/>
                      <a:r>
                        <a:rPr sz="850" b="0" i="0">
                          <a:solidFill>
                            <a:srgbClr val="BFBFBF"/>
                          </a:solidFill>
                          <a:latin typeface="Arial"/>
                        </a:rPr>
                        <a:t>17/6</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0" i="0">
                          <a:solidFill>
                            <a:srgbClr val="262626"/>
                          </a:solidFill>
                          <a:latin typeface="Arial"/>
                        </a:rPr>
                        <a:t>James Corbett</a:t>
                      </a:r>
                    </a:p>
                  </a:txBody>
                  <a:tcPr>
                    <a:solidFill>
                      <a:srgbClr val="FFFFFF"/>
                    </a:solidFill>
                  </a:tcPr>
                </a:tc>
                <a:tc>
                  <a:txBody>
                    <a:bodyPr/>
                    <a:lstStyle/>
                    <a:p>
                      <a:pPr algn="ctr"/>
                      <a:r>
                        <a:rPr sz="850" b="1" i="0">
                          <a:solidFill>
                            <a:srgbClr val="262626"/>
                          </a:solidFill>
                          <a:latin typeface="Arial"/>
                        </a:rPr>
                        <a:t>56%</a:t>
                      </a:r>
                    </a:p>
                  </a:txBody>
                  <a:tcPr>
                    <a:solidFill>
                      <a:srgbClr val="FFFFFF"/>
                    </a:solidFill>
                  </a:tcPr>
                </a:tc>
                <a:tc>
                  <a:txBody>
                    <a:bodyPr/>
                    <a:lstStyle/>
                    <a:p>
                      <a:pPr algn="ctr"/>
                      <a:r>
                        <a:rPr sz="850" b="1" i="0">
                          <a:solidFill>
                            <a:srgbClr val="262626"/>
                          </a:solidFill>
                          <a:latin typeface="Arial"/>
                        </a:rPr>
                        <a:t>9:03</a:t>
                      </a:r>
                    </a:p>
                  </a:txBody>
                  <a:tcPr>
                    <a:solidFill>
                      <a:srgbClr val="FFFFFF"/>
                    </a:solidFill>
                  </a:tcPr>
                </a:tc>
                <a:tc>
                  <a:txBody>
                    <a:bodyPr/>
                    <a:lstStyle/>
                    <a:p>
                      <a:pPr algn="ctr"/>
                      <a:r>
                        <a:rPr sz="850" b="0" i="0">
                          <a:solidFill>
                            <a:srgbClr val="262626"/>
                          </a:solidFill>
                          <a:latin typeface="Arial"/>
                        </a:rPr>
                        <a:t>18:04</a:t>
                      </a:r>
                    </a:p>
                  </a:txBody>
                  <a:tcPr>
                    <a:solidFill>
                      <a:srgbClr val="FFFFFF"/>
                    </a:solidFill>
                  </a:tcPr>
                </a:tc>
                <a:tc>
                  <a:txBody>
                    <a:bodyPr/>
                    <a:lstStyle/>
                    <a:p>
                      <a:pPr algn="ctr"/>
                      <a:r>
                        <a:rPr sz="850" b="0" i="0">
                          <a:solidFill>
                            <a:srgbClr val="BFBFBF"/>
                          </a:solidFill>
                          <a:latin typeface="Arial"/>
                        </a:rPr>
                        <a:t>17/8</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Dylan Didier Campa Carranza</a:t>
                      </a:r>
                    </a:p>
                  </a:txBody>
                  <a:tcPr>
                    <a:solidFill>
                      <a:srgbClr val="F2F2F2"/>
                    </a:solidFill>
                  </a:tcPr>
                </a:tc>
                <a:tc>
                  <a:txBody>
                    <a:bodyPr/>
                    <a:lstStyle/>
                    <a:p>
                      <a:pPr algn="ctr"/>
                      <a:r>
                        <a:rPr sz="850" b="1" i="0">
                          <a:solidFill>
                            <a:srgbClr val="262626"/>
                          </a:solidFill>
                          <a:latin typeface="Arial"/>
                        </a:rPr>
                        <a:t>55%</a:t>
                      </a:r>
                    </a:p>
                  </a:txBody>
                  <a:tcPr>
                    <a:solidFill>
                      <a:srgbClr val="F2F2F2"/>
                    </a:solidFill>
                  </a:tcPr>
                </a:tc>
                <a:tc>
                  <a:txBody>
                    <a:bodyPr/>
                    <a:lstStyle/>
                    <a:p>
                      <a:pPr algn="ctr"/>
                      <a:r>
                        <a:rPr sz="850" b="1" i="0">
                          <a:solidFill>
                            <a:srgbClr val="262626"/>
                          </a:solidFill>
                          <a:latin typeface="Arial"/>
                        </a:rPr>
                        <a:t>9:07</a:t>
                      </a:r>
                    </a:p>
                  </a:txBody>
                  <a:tcPr>
                    <a:solidFill>
                      <a:srgbClr val="F2F2F2"/>
                    </a:solidFill>
                  </a:tcPr>
                </a:tc>
                <a:tc>
                  <a:txBody>
                    <a:bodyPr/>
                    <a:lstStyle/>
                    <a:p>
                      <a:pPr algn="ctr"/>
                      <a:r>
                        <a:rPr sz="850" b="0" i="0">
                          <a:solidFill>
                            <a:srgbClr val="262626"/>
                          </a:solidFill>
                          <a:latin typeface="Arial"/>
                        </a:rPr>
                        <a:t>16:41</a:t>
                      </a:r>
                    </a:p>
                  </a:txBody>
                  <a:tcPr>
                    <a:solidFill>
                      <a:srgbClr val="F2F2F2"/>
                    </a:solidFill>
                  </a:tcPr>
                </a:tc>
                <a:tc>
                  <a:txBody>
                    <a:bodyPr/>
                    <a:lstStyle/>
                    <a:p>
                      <a:pPr algn="ctr"/>
                      <a:r>
                        <a:rPr sz="850" b="0" i="0">
                          <a:solidFill>
                            <a:srgbClr val="BFBFBF"/>
                          </a:solidFill>
                          <a:latin typeface="Arial"/>
                        </a:rPr>
                        <a:t>18/4</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Badr Siwane</a:t>
                      </a:r>
                    </a:p>
                  </a:txBody>
                  <a:tcPr>
                    <a:solidFill>
                      <a:srgbClr val="FFFFFF"/>
                    </a:solidFill>
                  </a:tcPr>
                </a:tc>
                <a:tc>
                  <a:txBody>
                    <a:bodyPr/>
                    <a:lstStyle/>
                    <a:p>
                      <a:pPr algn="ctr"/>
                      <a:r>
                        <a:rPr sz="850" b="1" i="0">
                          <a:solidFill>
                            <a:srgbClr val="262626"/>
                          </a:solidFill>
                          <a:latin typeface="Arial"/>
                        </a:rPr>
                        <a:t>54%</a:t>
                      </a:r>
                    </a:p>
                  </a:txBody>
                  <a:tcPr>
                    <a:solidFill>
                      <a:srgbClr val="FFFFFF"/>
                    </a:solidFill>
                  </a:tcPr>
                </a:tc>
                <a:tc>
                  <a:txBody>
                    <a:bodyPr/>
                    <a:lstStyle/>
                    <a:p>
                      <a:pPr algn="ctr"/>
                      <a:r>
                        <a:rPr sz="850" b="1" i="0">
                          <a:solidFill>
                            <a:srgbClr val="262626"/>
                          </a:solidFill>
                          <a:latin typeface="Arial"/>
                        </a:rPr>
                        <a:t>10:52</a:t>
                      </a:r>
                    </a:p>
                  </a:txBody>
                  <a:tcPr>
                    <a:solidFill>
                      <a:srgbClr val="FFFFFF"/>
                    </a:solidFill>
                  </a:tcPr>
                </a:tc>
                <a:tc>
                  <a:txBody>
                    <a:bodyPr/>
                    <a:lstStyle/>
                    <a:p>
                      <a:pPr algn="ctr"/>
                      <a:r>
                        <a:rPr sz="850" b="0" i="0">
                          <a:solidFill>
                            <a:srgbClr val="262626"/>
                          </a:solidFill>
                          <a:latin typeface="Arial"/>
                        </a:rPr>
                        <a:t>18:22</a:t>
                      </a:r>
                    </a:p>
                  </a:txBody>
                  <a:tcPr>
                    <a:solidFill>
                      <a:srgbClr val="FFFFFF"/>
                    </a:solidFill>
                  </a:tcPr>
                </a:tc>
                <a:tc>
                  <a:txBody>
                    <a:bodyPr/>
                    <a:lstStyle/>
                    <a:p>
                      <a:pPr algn="ctr"/>
                      <a:r>
                        <a:rPr sz="850" b="0" i="0">
                          <a:solidFill>
                            <a:srgbClr val="BFBFBF"/>
                          </a:solidFill>
                          <a:latin typeface="Arial"/>
                        </a:rPr>
                        <a:t>20/8</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0" i="0">
                          <a:solidFill>
                            <a:srgbClr val="262626"/>
                          </a:solidFill>
                          <a:latin typeface="Arial"/>
                        </a:rPr>
                        <a:t>Tyler Smith</a:t>
                      </a:r>
                    </a:p>
                  </a:txBody>
                  <a:tcPr>
                    <a:solidFill>
                      <a:srgbClr val="F2F2F2"/>
                    </a:solidFill>
                  </a:tcPr>
                </a:tc>
                <a:tc>
                  <a:txBody>
                    <a:bodyPr/>
                    <a:lstStyle/>
                    <a:p>
                      <a:pPr algn="ctr"/>
                      <a:r>
                        <a:rPr sz="850" b="1" i="0">
                          <a:solidFill>
                            <a:srgbClr val="262626"/>
                          </a:solidFill>
                          <a:latin typeface="Arial"/>
                        </a:rPr>
                        <a:t>47%</a:t>
                      </a:r>
                    </a:p>
                  </a:txBody>
                  <a:tcPr>
                    <a:solidFill>
                      <a:srgbClr val="F2F2F2"/>
                    </a:solidFill>
                  </a:tcPr>
                </a:tc>
                <a:tc>
                  <a:txBody>
                    <a:bodyPr/>
                    <a:lstStyle/>
                    <a:p>
                      <a:pPr algn="ctr"/>
                      <a:r>
                        <a:rPr sz="850" b="1" i="0">
                          <a:solidFill>
                            <a:srgbClr val="262626"/>
                          </a:solidFill>
                          <a:latin typeface="Arial"/>
                        </a:rPr>
                        <a:t>9:30</a:t>
                      </a:r>
                    </a:p>
                  </a:txBody>
                  <a:tcPr>
                    <a:solidFill>
                      <a:srgbClr val="F2F2F2"/>
                    </a:solidFill>
                  </a:tcPr>
                </a:tc>
                <a:tc>
                  <a:txBody>
                    <a:bodyPr/>
                    <a:lstStyle/>
                    <a:p>
                      <a:pPr algn="ctr"/>
                      <a:r>
                        <a:rPr sz="850" b="0" i="0">
                          <a:solidFill>
                            <a:srgbClr val="262626"/>
                          </a:solidFill>
                          <a:latin typeface="Arial"/>
                        </a:rPr>
                        <a:t>17:41</a:t>
                      </a:r>
                    </a:p>
                  </a:txBody>
                  <a:tcPr>
                    <a:solidFill>
                      <a:srgbClr val="F2F2F2"/>
                    </a:solidFill>
                  </a:tcPr>
                </a:tc>
                <a:tc>
                  <a:txBody>
                    <a:bodyPr/>
                    <a:lstStyle/>
                    <a:p>
                      <a:pPr algn="ctr"/>
                      <a:r>
                        <a:rPr sz="850" b="0" i="0">
                          <a:solidFill>
                            <a:srgbClr val="BFBFBF"/>
                          </a:solidFill>
                          <a:latin typeface="Arial"/>
                        </a:rPr>
                        <a:t>12/7</a:t>
                      </a:r>
                    </a:p>
                  </a:txBody>
                  <a:tcPr>
                    <a:solidFill>
                      <a:srgbClr val="F2F2F2"/>
                    </a:solidFill>
                  </a:tcPr>
                </a:tc>
                <a:extLst>
                  <a:ext uri="{0D108BD9-81ED-4DB2-BD59-A6C34878D82A}">
                    <a16:rowId xmlns:a16="http://schemas.microsoft.com/office/drawing/2014/main" val="10014"/>
                  </a:ext>
                </a:extLst>
              </a:tr>
            </a:tbl>
          </a:graphicData>
        </a:graphic>
      </p:graphicFrame>
      <p:sp>
        <p:nvSpPr>
          <p:cNvPr id="13" name="Rectangle 12"/>
          <p:cNvSpPr/>
          <p:nvPr/>
        </p:nvSpPr>
        <p:spPr>
          <a:xfrm>
            <a:off x="6126480" y="150876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1536192"/>
            <a:ext cx="5806440" cy="219456"/>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15" name="Table 14"/>
          <p:cNvGraphicFramePr>
            <a:graphicFrameLocks noGrp="1"/>
          </p:cNvGraphicFramePr>
          <p:nvPr/>
        </p:nvGraphicFramePr>
        <p:xfrm>
          <a:off x="6126480" y="1828800"/>
          <a:ext cx="5806439" cy="3934968"/>
        </p:xfrm>
        <a:graphic>
          <a:graphicData uri="http://schemas.openxmlformats.org/drawingml/2006/table">
            <a:tbl>
              <a:tblPr firstRow="1" bandRow="1">
                <a:tableStyleId>{5C22544A-7EE6-4342-B048-85BDC9FD1C3A}</a:tableStyleId>
              </a:tblPr>
              <a:tblGrid>
                <a:gridCol w="341985">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950976">
                  <a:extLst>
                    <a:ext uri="{9D8B030D-6E8A-4147-A177-3AD203B41FA5}">
                      <a16:colId xmlns:a16="http://schemas.microsoft.com/office/drawing/2014/main" val="20003"/>
                    </a:ext>
                  </a:extLst>
                </a:gridCol>
                <a:gridCol w="950976">
                  <a:extLst>
                    <a:ext uri="{9D8B030D-6E8A-4147-A177-3AD203B41FA5}">
                      <a16:colId xmlns:a16="http://schemas.microsoft.com/office/drawing/2014/main" val="20004"/>
                    </a:ext>
                  </a:extLst>
                </a:gridCol>
                <a:gridCol w="956462">
                  <a:extLst>
                    <a:ext uri="{9D8B030D-6E8A-4147-A177-3AD203B41FA5}">
                      <a16:colId xmlns:a16="http://schemas.microsoft.com/office/drawing/2014/main" val="20005"/>
                    </a:ext>
                  </a:extLst>
                </a:gridCol>
              </a:tblGrid>
              <a:tr h="256032">
                <a:tc>
                  <a:txBody>
                    <a:bodyPr/>
                    <a:lstStyle/>
                    <a:p>
                      <a:pPr algn="ctr"/>
                      <a:r>
                        <a:rPr sz="850" b="1" i="0">
                          <a:solidFill>
                            <a:srgbClr val="FFFFFF"/>
                          </a:solidFill>
                          <a:latin typeface="Arial"/>
                        </a:rPr>
                        <a:t>#</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Lead %</a:t>
                      </a:r>
                    </a:p>
                  </a:txBody>
                  <a:tcPr>
                    <a:solidFill>
                      <a:srgbClr val="002060"/>
                    </a:solidFill>
                  </a:tcPr>
                </a:tc>
                <a:tc>
                  <a:txBody>
                    <a:bodyPr/>
                    <a:lstStyle/>
                    <a:p>
                      <a:pPr algn="ctr"/>
                      <a:r>
                        <a:rPr sz="850" b="1" i="0">
                          <a:solidFill>
                            <a:srgbClr val="FFFFFF"/>
                          </a:solidFill>
                          <a:latin typeface="Arial"/>
                        </a:rPr>
                        <a:t>EWMA Spr ▸</a:t>
                      </a:r>
                    </a:p>
                  </a:txBody>
                  <a:tcPr>
                    <a:solidFill>
                      <a:srgbClr val="002060"/>
                    </a:solidFill>
                  </a:tcPr>
                </a:tc>
                <a:tc>
                  <a:txBody>
                    <a:bodyPr/>
                    <a:lstStyle/>
                    <a:p>
                      <a:pPr algn="ctr"/>
                      <a:r>
                        <a:rPr sz="850" b="1" i="0">
                          <a:solidFill>
                            <a:srgbClr val="FFFFFF"/>
                          </a:solidFill>
                          <a:latin typeface="Arial"/>
                        </a:rPr>
                        <a:t>EWMA Std</a:t>
                      </a:r>
                    </a:p>
                  </a:txBody>
                  <a:tcPr>
                    <a:solidFill>
                      <a:srgbClr val="002060"/>
                    </a:solidFill>
                  </a:tcPr>
                </a:tc>
                <a:tc>
                  <a:txBody>
                    <a:bodyPr/>
                    <a:lstStyle/>
                    <a:p>
                      <a:pPr algn="ctr"/>
                      <a:r>
                        <a:rPr sz="850" b="1" i="0">
                          <a:solidFill>
                            <a:srgbClr val="FFFFFF"/>
                          </a:solidFill>
                          <a:latin typeface="Arial"/>
                        </a:rPr>
                        <a:t>Spr/Std</a:t>
                      </a:r>
                    </a:p>
                  </a:txBody>
                  <a:tcPr>
                    <a:solidFill>
                      <a:srgbClr val="002060"/>
                    </a:solidFill>
                  </a:tcPr>
                </a:tc>
                <a:extLst>
                  <a:ext uri="{0D108BD9-81ED-4DB2-BD59-A6C34878D82A}">
                    <a16:rowId xmlns:a16="http://schemas.microsoft.com/office/drawing/2014/main" val="10000"/>
                  </a:ext>
                </a:extLst>
              </a:tr>
              <a:tr h="256032">
                <a:tc>
                  <a:txBody>
                    <a:bodyPr/>
                    <a:lstStyle/>
                    <a:p>
                      <a:pPr algn="ctr"/>
                      <a:r>
                        <a:rPr sz="850" b="1" i="0">
                          <a:solidFill>
                            <a:srgbClr val="002060"/>
                          </a:solidFill>
                          <a:latin typeface="Arial"/>
                        </a:rPr>
                        <a:t>1</a:t>
                      </a:r>
                    </a:p>
                  </a:txBody>
                  <a:tcPr>
                    <a:solidFill>
                      <a:srgbClr val="FFFFFF"/>
                    </a:solidFill>
                  </a:tcPr>
                </a:tc>
                <a:tc>
                  <a:txBody>
                    <a:bodyPr/>
                    <a:lstStyle/>
                    <a:p>
                      <a:pPr algn="l"/>
                      <a:r>
                        <a:rPr sz="850" b="1" i="0">
                          <a:solidFill>
                            <a:srgbClr val="C00000"/>
                          </a:solidFill>
                          <a:latin typeface="Arial"/>
                        </a:rPr>
                        <a:t>Kelly Wetteland</a:t>
                      </a:r>
                    </a:p>
                  </a:txBody>
                  <a:tcPr>
                    <a:solidFill>
                      <a:srgbClr val="FFFFFF"/>
                    </a:solidFill>
                  </a:tcPr>
                </a:tc>
                <a:tc>
                  <a:txBody>
                    <a:bodyPr/>
                    <a:lstStyle/>
                    <a:p>
                      <a:pPr algn="ctr"/>
                      <a:r>
                        <a:rPr sz="850" b="1" i="0">
                          <a:solidFill>
                            <a:srgbClr val="262626"/>
                          </a:solidFill>
                          <a:latin typeface="Arial"/>
                        </a:rPr>
                        <a:t>80%</a:t>
                      </a:r>
                    </a:p>
                  </a:txBody>
                  <a:tcPr>
                    <a:solidFill>
                      <a:srgbClr val="FFFFFF"/>
                    </a:solidFill>
                  </a:tcPr>
                </a:tc>
                <a:tc>
                  <a:txBody>
                    <a:bodyPr/>
                    <a:lstStyle/>
                    <a:p>
                      <a:pPr algn="ctr"/>
                      <a:r>
                        <a:rPr sz="850" b="1" i="0">
                          <a:solidFill>
                            <a:srgbClr val="262626"/>
                          </a:solidFill>
                          <a:latin typeface="Arial"/>
                        </a:rPr>
                        <a:t>9:53</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tc>
                  <a:txBody>
                    <a:bodyPr/>
                    <a:lstStyle/>
                    <a:p>
                      <a:pPr algn="ctr"/>
                      <a:r>
                        <a:rPr sz="850" b="0" i="0">
                          <a:solidFill>
                            <a:srgbClr val="BFBFBF"/>
                          </a:solidFill>
                          <a:latin typeface="Arial"/>
                        </a:rPr>
                        <a:t>5/0</a:t>
                      </a:r>
                    </a:p>
                  </a:txBody>
                  <a:tcPr>
                    <a:solidFill>
                      <a:srgbClr val="FFFFFF"/>
                    </a:solidFill>
                  </a:tcPr>
                </a:tc>
                <a:extLst>
                  <a:ext uri="{0D108BD9-81ED-4DB2-BD59-A6C34878D82A}">
                    <a16:rowId xmlns:a16="http://schemas.microsoft.com/office/drawing/2014/main" val="10001"/>
                  </a:ext>
                </a:extLst>
              </a:tr>
              <a:tr h="256032">
                <a:tc>
                  <a:txBody>
                    <a:bodyPr/>
                    <a:lstStyle/>
                    <a:p>
                      <a:pPr algn="ctr"/>
                      <a:r>
                        <a:rPr sz="850" b="1" i="0">
                          <a:solidFill>
                            <a:srgbClr val="002060"/>
                          </a:solidFill>
                          <a:latin typeface="Arial"/>
                        </a:rPr>
                        <a:t>2</a:t>
                      </a:r>
                    </a:p>
                  </a:txBody>
                  <a:tcPr>
                    <a:solidFill>
                      <a:srgbClr val="F2F2F2"/>
                    </a:solidFill>
                  </a:tcPr>
                </a:tc>
                <a:tc>
                  <a:txBody>
                    <a:bodyPr/>
                    <a:lstStyle/>
                    <a:p>
                      <a:pPr algn="l"/>
                      <a:r>
                        <a:rPr sz="850" b="0" i="0">
                          <a:solidFill>
                            <a:srgbClr val="262626"/>
                          </a:solidFill>
                          <a:latin typeface="Arial"/>
                        </a:rPr>
                        <a:t>Cecilia Santamaria Surroca</a:t>
                      </a:r>
                    </a:p>
                  </a:txBody>
                  <a:tcPr>
                    <a:solidFill>
                      <a:srgbClr val="F2F2F2"/>
                    </a:solidFill>
                  </a:tcPr>
                </a:tc>
                <a:tc>
                  <a:txBody>
                    <a:bodyPr/>
                    <a:lstStyle/>
                    <a:p>
                      <a:pPr algn="ctr"/>
                      <a:r>
                        <a:rPr sz="850" b="1" i="0">
                          <a:solidFill>
                            <a:srgbClr val="262626"/>
                          </a:solidFill>
                          <a:latin typeface="Arial"/>
                        </a:rPr>
                        <a:t>74%</a:t>
                      </a:r>
                    </a:p>
                  </a:txBody>
                  <a:tcPr>
                    <a:solidFill>
                      <a:srgbClr val="F2F2F2"/>
                    </a:solidFill>
                  </a:tcPr>
                </a:tc>
                <a:tc>
                  <a:txBody>
                    <a:bodyPr/>
                    <a:lstStyle/>
                    <a:p>
                      <a:pPr algn="ctr"/>
                      <a:r>
                        <a:rPr sz="850" b="1" i="0">
                          <a:solidFill>
                            <a:srgbClr val="262626"/>
                          </a:solidFill>
                          <a:latin typeface="Arial"/>
                        </a:rPr>
                        <a:t>9:52</a:t>
                      </a:r>
                    </a:p>
                  </a:txBody>
                  <a:tcPr>
                    <a:solidFill>
                      <a:srgbClr val="F2F2F2"/>
                    </a:solidFill>
                  </a:tcPr>
                </a:tc>
                <a:tc>
                  <a:txBody>
                    <a:bodyPr/>
                    <a:lstStyle/>
                    <a:p>
                      <a:pPr algn="ctr"/>
                      <a:r>
                        <a:rPr sz="850" b="0" i="0">
                          <a:solidFill>
                            <a:srgbClr val="262626"/>
                          </a:solidFill>
                          <a:latin typeface="Arial"/>
                        </a:rPr>
                        <a:t>18:55</a:t>
                      </a:r>
                    </a:p>
                  </a:txBody>
                  <a:tcPr>
                    <a:solidFill>
                      <a:srgbClr val="F2F2F2"/>
                    </a:solidFill>
                  </a:tcPr>
                </a:tc>
                <a:tc>
                  <a:txBody>
                    <a:bodyPr/>
                    <a:lstStyle/>
                    <a:p>
                      <a:pPr algn="ctr"/>
                      <a:r>
                        <a:rPr sz="850" b="0" i="0">
                          <a:solidFill>
                            <a:srgbClr val="BFBFBF"/>
                          </a:solidFill>
                          <a:latin typeface="Arial"/>
                        </a:rPr>
                        <a:t>16/7</a:t>
                      </a:r>
                    </a:p>
                  </a:txBody>
                  <a:tcPr>
                    <a:solidFill>
                      <a:srgbClr val="F2F2F2"/>
                    </a:solidFill>
                  </a:tcPr>
                </a:tc>
                <a:extLst>
                  <a:ext uri="{0D108BD9-81ED-4DB2-BD59-A6C34878D82A}">
                    <a16:rowId xmlns:a16="http://schemas.microsoft.com/office/drawing/2014/main" val="10002"/>
                  </a:ext>
                </a:extLst>
              </a:tr>
              <a:tr h="256032">
                <a:tc>
                  <a:txBody>
                    <a:bodyPr/>
                    <a:lstStyle/>
                    <a:p>
                      <a:pPr algn="ctr"/>
                      <a:r>
                        <a:rPr sz="850" b="1" i="0">
                          <a:solidFill>
                            <a:srgbClr val="002060"/>
                          </a:solidFill>
                          <a:latin typeface="Arial"/>
                        </a:rPr>
                        <a:t>3</a:t>
                      </a:r>
                    </a:p>
                  </a:txBody>
                  <a:tcPr>
                    <a:solidFill>
                      <a:srgbClr val="FFFFFF"/>
                    </a:solidFill>
                  </a:tcPr>
                </a:tc>
                <a:tc>
                  <a:txBody>
                    <a:bodyPr/>
                    <a:lstStyle/>
                    <a:p>
                      <a:pPr algn="l"/>
                      <a:r>
                        <a:rPr sz="850" b="0" i="0">
                          <a:solidFill>
                            <a:srgbClr val="262626"/>
                          </a:solidFill>
                          <a:latin typeface="Arial"/>
                        </a:rPr>
                        <a:t>Rosa Elena Martinez Melchior</a:t>
                      </a:r>
                    </a:p>
                  </a:txBody>
                  <a:tcPr>
                    <a:solidFill>
                      <a:srgbClr val="FFFFFF"/>
                    </a:solidFill>
                  </a:tcPr>
                </a:tc>
                <a:tc>
                  <a:txBody>
                    <a:bodyPr/>
                    <a:lstStyle/>
                    <a:p>
                      <a:pPr algn="ctr"/>
                      <a:r>
                        <a:rPr sz="850" b="1" i="0">
                          <a:solidFill>
                            <a:srgbClr val="262626"/>
                          </a:solidFill>
                          <a:latin typeface="Arial"/>
                        </a:rPr>
                        <a:t>61%</a:t>
                      </a:r>
                    </a:p>
                  </a:txBody>
                  <a:tcPr>
                    <a:solidFill>
                      <a:srgbClr val="FFFFFF"/>
                    </a:solidFill>
                  </a:tcPr>
                </a:tc>
                <a:tc>
                  <a:txBody>
                    <a:bodyPr/>
                    <a:lstStyle/>
                    <a:p>
                      <a:pPr algn="ctr"/>
                      <a:r>
                        <a:rPr sz="850" b="1" i="0">
                          <a:solidFill>
                            <a:srgbClr val="262626"/>
                          </a:solidFill>
                          <a:latin typeface="Arial"/>
                        </a:rPr>
                        <a:t>10:08</a:t>
                      </a:r>
                    </a:p>
                  </a:txBody>
                  <a:tcPr>
                    <a:solidFill>
                      <a:srgbClr val="FFFFFF"/>
                    </a:solidFill>
                  </a:tcPr>
                </a:tc>
                <a:tc>
                  <a:txBody>
                    <a:bodyPr/>
                    <a:lstStyle/>
                    <a:p>
                      <a:pPr algn="ctr"/>
                      <a:r>
                        <a:rPr sz="850" b="0" i="0">
                          <a:solidFill>
                            <a:srgbClr val="262626"/>
                          </a:solidFill>
                          <a:latin typeface="Arial"/>
                        </a:rPr>
                        <a:t>20:33</a:t>
                      </a:r>
                    </a:p>
                  </a:txBody>
                  <a:tcPr>
                    <a:solidFill>
                      <a:srgbClr val="FFFFFF"/>
                    </a:solidFill>
                  </a:tcPr>
                </a:tc>
                <a:tc>
                  <a:txBody>
                    <a:bodyPr/>
                    <a:lstStyle/>
                    <a:p>
                      <a:pPr algn="ctr"/>
                      <a:r>
                        <a:rPr sz="850" b="0" i="0">
                          <a:solidFill>
                            <a:srgbClr val="BFBFBF"/>
                          </a:solidFill>
                          <a:latin typeface="Arial"/>
                        </a:rPr>
                        <a:t>17/11</a:t>
                      </a:r>
                    </a:p>
                  </a:txBody>
                  <a:tcPr>
                    <a:solidFill>
                      <a:srgbClr val="FFFFFF"/>
                    </a:solidFill>
                  </a:tcPr>
                </a:tc>
                <a:extLst>
                  <a:ext uri="{0D108BD9-81ED-4DB2-BD59-A6C34878D82A}">
                    <a16:rowId xmlns:a16="http://schemas.microsoft.com/office/drawing/2014/main" val="10003"/>
                  </a:ext>
                </a:extLst>
              </a:tr>
              <a:tr h="256032">
                <a:tc>
                  <a:txBody>
                    <a:bodyPr/>
                    <a:lstStyle/>
                    <a:p>
                      <a:pPr algn="ctr"/>
                      <a:r>
                        <a:rPr sz="850" b="1" i="0">
                          <a:solidFill>
                            <a:srgbClr val="002060"/>
                          </a:solidFill>
                          <a:latin typeface="Arial"/>
                        </a:rPr>
                        <a:t>4</a:t>
                      </a:r>
                    </a:p>
                  </a:txBody>
                  <a:tcPr>
                    <a:solidFill>
                      <a:srgbClr val="F2F2F2"/>
                    </a:solidFill>
                  </a:tcPr>
                </a:tc>
                <a:tc>
                  <a:txBody>
                    <a:bodyPr/>
                    <a:lstStyle/>
                    <a:p>
                      <a:pPr algn="l"/>
                      <a:r>
                        <a:rPr sz="850" b="0" i="0">
                          <a:solidFill>
                            <a:srgbClr val="262626"/>
                          </a:solidFill>
                          <a:latin typeface="Arial"/>
                        </a:rPr>
                        <a:t>Hollie Elliott</a:t>
                      </a:r>
                    </a:p>
                  </a:txBody>
                  <a:tcPr>
                    <a:solidFill>
                      <a:srgbClr val="F2F2F2"/>
                    </a:solidFill>
                  </a:tcPr>
                </a:tc>
                <a:tc>
                  <a:txBody>
                    <a:bodyPr/>
                    <a:lstStyle/>
                    <a:p>
                      <a:pPr algn="ctr"/>
                      <a:r>
                        <a:rPr sz="850" b="1" i="0">
                          <a:solidFill>
                            <a:srgbClr val="262626"/>
                          </a:solidFill>
                          <a:latin typeface="Arial"/>
                        </a:rPr>
                        <a:t>55%</a:t>
                      </a:r>
                    </a:p>
                  </a:txBody>
                  <a:tcPr>
                    <a:solidFill>
                      <a:srgbClr val="F2F2F2"/>
                    </a:solidFill>
                  </a:tcPr>
                </a:tc>
                <a:tc>
                  <a:txBody>
                    <a:bodyPr/>
                    <a:lstStyle/>
                    <a:p>
                      <a:pPr algn="ctr"/>
                      <a:r>
                        <a:rPr sz="850" b="1" i="0">
                          <a:solidFill>
                            <a:srgbClr val="262626"/>
                          </a:solidFill>
                          <a:latin typeface="Arial"/>
                        </a:rPr>
                        <a:t>9:44</a:t>
                      </a:r>
                    </a:p>
                  </a:txBody>
                  <a:tcPr>
                    <a:solidFill>
                      <a:srgbClr val="F2F2F2"/>
                    </a:solidFill>
                  </a:tcPr>
                </a:tc>
                <a:tc>
                  <a:txBody>
                    <a:bodyPr/>
                    <a:lstStyle/>
                    <a:p>
                      <a:pPr algn="ctr"/>
                      <a:r>
                        <a:rPr sz="850" b="0" i="0">
                          <a:solidFill>
                            <a:srgbClr val="262626"/>
                          </a:solidFill>
                          <a:latin typeface="Arial"/>
                        </a:rPr>
                        <a:t>19:19</a:t>
                      </a:r>
                    </a:p>
                  </a:txBody>
                  <a:tcPr>
                    <a:solidFill>
                      <a:srgbClr val="F2F2F2"/>
                    </a:solidFill>
                  </a:tcPr>
                </a:tc>
                <a:tc>
                  <a:txBody>
                    <a:bodyPr/>
                    <a:lstStyle/>
                    <a:p>
                      <a:pPr algn="ctr"/>
                      <a:r>
                        <a:rPr sz="850" b="0" i="0">
                          <a:solidFill>
                            <a:srgbClr val="BFBFBF"/>
                          </a:solidFill>
                          <a:latin typeface="Arial"/>
                        </a:rPr>
                        <a:t>14/6</a:t>
                      </a:r>
                    </a:p>
                  </a:txBody>
                  <a:tcPr>
                    <a:solidFill>
                      <a:srgbClr val="F2F2F2"/>
                    </a:solidFill>
                  </a:tcPr>
                </a:tc>
                <a:extLst>
                  <a:ext uri="{0D108BD9-81ED-4DB2-BD59-A6C34878D82A}">
                    <a16:rowId xmlns:a16="http://schemas.microsoft.com/office/drawing/2014/main" val="10004"/>
                  </a:ext>
                </a:extLst>
              </a:tr>
              <a:tr h="256032">
                <a:tc>
                  <a:txBody>
                    <a:bodyPr/>
                    <a:lstStyle/>
                    <a:p>
                      <a:pPr algn="ctr"/>
                      <a:r>
                        <a:rPr sz="850" b="1" i="0">
                          <a:solidFill>
                            <a:srgbClr val="002060"/>
                          </a:solidFill>
                          <a:latin typeface="Arial"/>
                        </a:rPr>
                        <a:t>5</a:t>
                      </a:r>
                    </a:p>
                  </a:txBody>
                  <a:tcPr>
                    <a:solidFill>
                      <a:srgbClr val="FFFFFF"/>
                    </a:solidFill>
                  </a:tcPr>
                </a:tc>
                <a:tc>
                  <a:txBody>
                    <a:bodyPr/>
                    <a:lstStyle/>
                    <a:p>
                      <a:pPr algn="l"/>
                      <a:r>
                        <a:rPr sz="850" b="0" i="0">
                          <a:solidFill>
                            <a:srgbClr val="262626"/>
                          </a:solidFill>
                          <a:latin typeface="Arial"/>
                        </a:rPr>
                        <a:t>Moira Miranda</a:t>
                      </a:r>
                    </a:p>
                  </a:txBody>
                  <a:tcPr>
                    <a:solidFill>
                      <a:srgbClr val="FFFFFF"/>
                    </a:solidFill>
                  </a:tcPr>
                </a:tc>
                <a:tc>
                  <a:txBody>
                    <a:bodyPr/>
                    <a:lstStyle/>
                    <a:p>
                      <a:pPr algn="ctr"/>
                      <a:r>
                        <a:rPr sz="850" b="1" i="0">
                          <a:solidFill>
                            <a:srgbClr val="262626"/>
                          </a:solidFill>
                          <a:latin typeface="Arial"/>
                        </a:rPr>
                        <a:t>53%</a:t>
                      </a:r>
                    </a:p>
                  </a:txBody>
                  <a:tcPr>
                    <a:solidFill>
                      <a:srgbClr val="FFFFFF"/>
                    </a:solidFill>
                  </a:tcPr>
                </a:tc>
                <a:tc>
                  <a:txBody>
                    <a:bodyPr/>
                    <a:lstStyle/>
                    <a:p>
                      <a:pPr algn="ctr"/>
                      <a:r>
                        <a:rPr sz="850" b="1" i="0">
                          <a:solidFill>
                            <a:srgbClr val="262626"/>
                          </a:solidFill>
                          <a:latin typeface="Arial"/>
                        </a:rPr>
                        <a:t>10:06</a:t>
                      </a:r>
                    </a:p>
                  </a:txBody>
                  <a:tcPr>
                    <a:solidFill>
                      <a:srgbClr val="FFFFFF"/>
                    </a:solidFill>
                  </a:tcPr>
                </a:tc>
                <a:tc>
                  <a:txBody>
                    <a:bodyPr/>
                    <a:lstStyle/>
                    <a:p>
                      <a:pPr algn="ctr"/>
                      <a:r>
                        <a:rPr sz="850" b="0" i="0">
                          <a:solidFill>
                            <a:srgbClr val="262626"/>
                          </a:solidFill>
                          <a:latin typeface="Arial"/>
                        </a:rPr>
                        <a:t>19:46</a:t>
                      </a:r>
                    </a:p>
                  </a:txBody>
                  <a:tcPr>
                    <a:solidFill>
                      <a:srgbClr val="FFFFFF"/>
                    </a:solidFill>
                  </a:tcPr>
                </a:tc>
                <a:tc>
                  <a:txBody>
                    <a:bodyPr/>
                    <a:lstStyle/>
                    <a:p>
                      <a:pPr algn="ctr"/>
                      <a:r>
                        <a:rPr sz="850" b="0" i="0">
                          <a:solidFill>
                            <a:srgbClr val="BFBFBF"/>
                          </a:solidFill>
                          <a:latin typeface="Arial"/>
                        </a:rPr>
                        <a:t>13/4</a:t>
                      </a:r>
                    </a:p>
                  </a:txBody>
                  <a:tcPr>
                    <a:solidFill>
                      <a:srgbClr val="FFFFFF"/>
                    </a:solidFill>
                  </a:tcPr>
                </a:tc>
                <a:extLst>
                  <a:ext uri="{0D108BD9-81ED-4DB2-BD59-A6C34878D82A}">
                    <a16:rowId xmlns:a16="http://schemas.microsoft.com/office/drawing/2014/main" val="10005"/>
                  </a:ext>
                </a:extLst>
              </a:tr>
              <a:tr h="256032">
                <a:tc>
                  <a:txBody>
                    <a:bodyPr/>
                    <a:lstStyle/>
                    <a:p>
                      <a:pPr algn="ctr"/>
                      <a:r>
                        <a:rPr sz="850" b="1" i="0">
                          <a:solidFill>
                            <a:srgbClr val="002060"/>
                          </a:solidFill>
                          <a:latin typeface="Arial"/>
                        </a:rPr>
                        <a:t>6</a:t>
                      </a:r>
                    </a:p>
                  </a:txBody>
                  <a:tcPr>
                    <a:solidFill>
                      <a:srgbClr val="F2F2F2"/>
                    </a:solidFill>
                  </a:tcPr>
                </a:tc>
                <a:tc>
                  <a:txBody>
                    <a:bodyPr/>
                    <a:lstStyle/>
                    <a:p>
                      <a:pPr algn="l"/>
                      <a:r>
                        <a:rPr sz="850" b="0" i="0">
                          <a:solidFill>
                            <a:srgbClr val="262626"/>
                          </a:solidFill>
                          <a:latin typeface="Arial"/>
                        </a:rPr>
                        <a:t>Tjasa Vrtacic</a:t>
                      </a:r>
                    </a:p>
                  </a:txBody>
                  <a:tcPr>
                    <a:solidFill>
                      <a:srgbClr val="F2F2F2"/>
                    </a:solidFill>
                  </a:tcPr>
                </a:tc>
                <a:tc>
                  <a:txBody>
                    <a:bodyPr/>
                    <a:lstStyle/>
                    <a:p>
                      <a:pPr algn="ctr"/>
                      <a:r>
                        <a:rPr sz="850" b="1" i="0">
                          <a:solidFill>
                            <a:srgbClr val="262626"/>
                          </a:solidFill>
                          <a:latin typeface="Arial"/>
                        </a:rPr>
                        <a:t>50%</a:t>
                      </a:r>
                    </a:p>
                  </a:txBody>
                  <a:tcPr>
                    <a:solidFill>
                      <a:srgbClr val="F2F2F2"/>
                    </a:solidFill>
                  </a:tcPr>
                </a:tc>
                <a:tc>
                  <a:txBody>
                    <a:bodyPr/>
                    <a:lstStyle/>
                    <a:p>
                      <a:pPr algn="ctr"/>
                      <a:r>
                        <a:rPr sz="850" b="1" i="0">
                          <a:solidFill>
                            <a:srgbClr val="262626"/>
                          </a:solidFill>
                          <a:latin typeface="Arial"/>
                        </a:rPr>
                        <a:t>9:56</a:t>
                      </a:r>
                    </a:p>
                  </a:txBody>
                  <a:tcPr>
                    <a:solidFill>
                      <a:srgbClr val="F2F2F2"/>
                    </a:solidFill>
                  </a:tcPr>
                </a:tc>
                <a:tc>
                  <a:txBody>
                    <a:bodyPr/>
                    <a:lstStyle/>
                    <a:p>
                      <a:pPr algn="ctr"/>
                      <a:r>
                        <a:rPr sz="850" b="0" i="0">
                          <a:solidFill>
                            <a:srgbClr val="262626"/>
                          </a:solidFill>
                          <a:latin typeface="Arial"/>
                        </a:rPr>
                        <a:t>19:03</a:t>
                      </a:r>
                    </a:p>
                  </a:txBody>
                  <a:tcPr>
                    <a:solidFill>
                      <a:srgbClr val="F2F2F2"/>
                    </a:solidFill>
                  </a:tcPr>
                </a:tc>
                <a:tc>
                  <a:txBody>
                    <a:bodyPr/>
                    <a:lstStyle/>
                    <a:p>
                      <a:pPr algn="ctr"/>
                      <a:r>
                        <a:rPr sz="850" b="0" i="0">
                          <a:solidFill>
                            <a:srgbClr val="BFBFBF"/>
                          </a:solidFill>
                          <a:latin typeface="Arial"/>
                        </a:rPr>
                        <a:t>12/2</a:t>
                      </a:r>
                    </a:p>
                  </a:txBody>
                  <a:tcPr>
                    <a:solidFill>
                      <a:srgbClr val="F2F2F2"/>
                    </a:solidFill>
                  </a:tcPr>
                </a:tc>
                <a:extLst>
                  <a:ext uri="{0D108BD9-81ED-4DB2-BD59-A6C34878D82A}">
                    <a16:rowId xmlns:a16="http://schemas.microsoft.com/office/drawing/2014/main" val="10006"/>
                  </a:ext>
                </a:extLst>
              </a:tr>
              <a:tr h="256032">
                <a:tc>
                  <a:txBody>
                    <a:bodyPr/>
                    <a:lstStyle/>
                    <a:p>
                      <a:pPr algn="ctr"/>
                      <a:r>
                        <a:rPr sz="850" b="1" i="0">
                          <a:solidFill>
                            <a:srgbClr val="002060"/>
                          </a:solidFill>
                          <a:latin typeface="Arial"/>
                        </a:rPr>
                        <a:t>7</a:t>
                      </a:r>
                    </a:p>
                  </a:txBody>
                  <a:tcPr>
                    <a:solidFill>
                      <a:srgbClr val="FFFFFF"/>
                    </a:solidFill>
                  </a:tcPr>
                </a:tc>
                <a:tc>
                  <a:txBody>
                    <a:bodyPr/>
                    <a:lstStyle/>
                    <a:p>
                      <a:pPr algn="l"/>
                      <a:r>
                        <a:rPr sz="850" b="1" i="0">
                          <a:solidFill>
                            <a:srgbClr val="C00000"/>
                          </a:solidFill>
                          <a:latin typeface="Arial"/>
                        </a:rPr>
                        <a:t>Danielle Orie</a:t>
                      </a:r>
                    </a:p>
                  </a:txBody>
                  <a:tcPr>
                    <a:solidFill>
                      <a:srgbClr val="FFFFFF"/>
                    </a:solidFill>
                  </a:tcPr>
                </a:tc>
                <a:tc>
                  <a:txBody>
                    <a:bodyPr/>
                    <a:lstStyle/>
                    <a:p>
                      <a:pPr algn="ctr"/>
                      <a:r>
                        <a:rPr sz="850" b="1" i="0">
                          <a:solidFill>
                            <a:srgbClr val="262626"/>
                          </a:solidFill>
                          <a:latin typeface="Arial"/>
                        </a:rPr>
                        <a:t>44%</a:t>
                      </a:r>
                    </a:p>
                  </a:txBody>
                  <a:tcPr>
                    <a:solidFill>
                      <a:srgbClr val="FFFFFF"/>
                    </a:solidFill>
                  </a:tcPr>
                </a:tc>
                <a:tc>
                  <a:txBody>
                    <a:bodyPr/>
                    <a:lstStyle/>
                    <a:p>
                      <a:pPr algn="ctr"/>
                      <a:r>
                        <a:rPr sz="850" b="1" i="0">
                          <a:solidFill>
                            <a:srgbClr val="262626"/>
                          </a:solidFill>
                          <a:latin typeface="Arial"/>
                        </a:rPr>
                        <a:t>9:45</a:t>
                      </a:r>
                    </a:p>
                  </a:txBody>
                  <a:tcPr>
                    <a:solidFill>
                      <a:srgbClr val="FFFFFF"/>
                    </a:solidFill>
                  </a:tcPr>
                </a:tc>
                <a:tc>
                  <a:txBody>
                    <a:bodyPr/>
                    <a:lstStyle/>
                    <a:p>
                      <a:pPr algn="ctr"/>
                      <a:r>
                        <a:rPr sz="850" b="0" i="0">
                          <a:solidFill>
                            <a:srgbClr val="262626"/>
                          </a:solidFill>
                          <a:latin typeface="Arial"/>
                        </a:rPr>
                        <a:t>19:55</a:t>
                      </a:r>
                    </a:p>
                  </a:txBody>
                  <a:tcPr>
                    <a:solidFill>
                      <a:srgbClr val="FFFFFF"/>
                    </a:solidFill>
                  </a:tcPr>
                </a:tc>
                <a:tc>
                  <a:txBody>
                    <a:bodyPr/>
                    <a:lstStyle/>
                    <a:p>
                      <a:pPr algn="ctr"/>
                      <a:r>
                        <a:rPr sz="850" b="0" i="0">
                          <a:solidFill>
                            <a:srgbClr val="BFBFBF"/>
                          </a:solidFill>
                          <a:latin typeface="Arial"/>
                        </a:rPr>
                        <a:t>12/4</a:t>
                      </a:r>
                    </a:p>
                  </a:txBody>
                  <a:tcPr>
                    <a:solidFill>
                      <a:srgbClr val="FFFFFF"/>
                    </a:solidFill>
                  </a:tcPr>
                </a:tc>
                <a:extLst>
                  <a:ext uri="{0D108BD9-81ED-4DB2-BD59-A6C34878D82A}">
                    <a16:rowId xmlns:a16="http://schemas.microsoft.com/office/drawing/2014/main" val="10007"/>
                  </a:ext>
                </a:extLst>
              </a:tr>
              <a:tr h="256032">
                <a:tc>
                  <a:txBody>
                    <a:bodyPr/>
                    <a:lstStyle/>
                    <a:p>
                      <a:pPr algn="ctr"/>
                      <a:r>
                        <a:rPr sz="850" b="1" i="0">
                          <a:solidFill>
                            <a:srgbClr val="002060"/>
                          </a:solidFill>
                          <a:latin typeface="Arial"/>
                        </a:rPr>
                        <a:t>8</a:t>
                      </a:r>
                    </a:p>
                  </a:txBody>
                  <a:tcPr>
                    <a:solidFill>
                      <a:srgbClr val="F2F2F2"/>
                    </a:solidFill>
                  </a:tcPr>
                </a:tc>
                <a:tc>
                  <a:txBody>
                    <a:bodyPr/>
                    <a:lstStyle/>
                    <a:p>
                      <a:pPr algn="l"/>
                      <a:r>
                        <a:rPr sz="850" b="0" i="0">
                          <a:solidFill>
                            <a:srgbClr val="262626"/>
                          </a:solidFill>
                          <a:latin typeface="Arial"/>
                        </a:rPr>
                        <a:t>Josephine Seerig</a:t>
                      </a:r>
                    </a:p>
                  </a:txBody>
                  <a:tcPr>
                    <a:solidFill>
                      <a:srgbClr val="F2F2F2"/>
                    </a:solidFill>
                  </a:tcPr>
                </a:tc>
                <a:tc>
                  <a:txBody>
                    <a:bodyPr/>
                    <a:lstStyle/>
                    <a:p>
                      <a:pPr algn="ctr"/>
                      <a:r>
                        <a:rPr sz="850" b="1" i="0">
                          <a:solidFill>
                            <a:srgbClr val="262626"/>
                          </a:solidFill>
                          <a:latin typeface="Arial"/>
                        </a:rPr>
                        <a:t>43%</a:t>
                      </a:r>
                    </a:p>
                  </a:txBody>
                  <a:tcPr>
                    <a:solidFill>
                      <a:srgbClr val="F2F2F2"/>
                    </a:solidFill>
                  </a:tcPr>
                </a:tc>
                <a:tc>
                  <a:txBody>
                    <a:bodyPr/>
                    <a:lstStyle/>
                    <a:p>
                      <a:pPr algn="ctr"/>
                      <a:r>
                        <a:rPr sz="850" b="1" i="0">
                          <a:solidFill>
                            <a:srgbClr val="262626"/>
                          </a:solidFill>
                          <a:latin typeface="Arial"/>
                        </a:rPr>
                        <a:t>10:36</a:t>
                      </a:r>
                    </a:p>
                  </a:txBody>
                  <a:tcPr>
                    <a:solidFill>
                      <a:srgbClr val="F2F2F2"/>
                    </a:solidFill>
                  </a:tcPr>
                </a:tc>
                <a:tc>
                  <a:txBody>
                    <a:bodyPr/>
                    <a:lstStyle/>
                    <a:p>
                      <a:pPr algn="ctr"/>
                      <a:r>
                        <a:rPr sz="850" b="0" i="0">
                          <a:solidFill>
                            <a:srgbClr val="262626"/>
                          </a:solidFill>
                          <a:latin typeface="Arial"/>
                        </a:rPr>
                        <a:t>20:05</a:t>
                      </a:r>
                    </a:p>
                  </a:txBody>
                  <a:tcPr>
                    <a:solidFill>
                      <a:srgbClr val="F2F2F2"/>
                    </a:solidFill>
                  </a:tcPr>
                </a:tc>
                <a:tc>
                  <a:txBody>
                    <a:bodyPr/>
                    <a:lstStyle/>
                    <a:p>
                      <a:pPr algn="ctr"/>
                      <a:r>
                        <a:rPr sz="850" b="0" i="0">
                          <a:solidFill>
                            <a:srgbClr val="BFBFBF"/>
                          </a:solidFill>
                          <a:latin typeface="Arial"/>
                        </a:rPr>
                        <a:t>11/3</a:t>
                      </a:r>
                    </a:p>
                  </a:txBody>
                  <a:tcPr>
                    <a:solidFill>
                      <a:srgbClr val="F2F2F2"/>
                    </a:solidFill>
                  </a:tcPr>
                </a:tc>
                <a:extLst>
                  <a:ext uri="{0D108BD9-81ED-4DB2-BD59-A6C34878D82A}">
                    <a16:rowId xmlns:a16="http://schemas.microsoft.com/office/drawing/2014/main" val="10008"/>
                  </a:ext>
                </a:extLst>
              </a:tr>
              <a:tr h="256032">
                <a:tc>
                  <a:txBody>
                    <a:bodyPr/>
                    <a:lstStyle/>
                    <a:p>
                      <a:pPr algn="ctr"/>
                      <a:r>
                        <a:rPr sz="850" b="1" i="0">
                          <a:solidFill>
                            <a:srgbClr val="002060"/>
                          </a:solidFill>
                          <a:latin typeface="Arial"/>
                        </a:rPr>
                        <a:t>9</a:t>
                      </a:r>
                    </a:p>
                  </a:txBody>
                  <a:tcPr>
                    <a:solidFill>
                      <a:srgbClr val="FFFFFF"/>
                    </a:solidFill>
                  </a:tcPr>
                </a:tc>
                <a:tc>
                  <a:txBody>
                    <a:bodyPr/>
                    <a:lstStyle/>
                    <a:p>
                      <a:pPr algn="l"/>
                      <a:r>
                        <a:rPr sz="850" b="0" i="0">
                          <a:solidFill>
                            <a:srgbClr val="262626"/>
                          </a:solidFill>
                          <a:latin typeface="Arial"/>
                        </a:rPr>
                        <a:t>Luisa Daniela Baca Vargas</a:t>
                      </a:r>
                    </a:p>
                  </a:txBody>
                  <a:tcPr>
                    <a:solidFill>
                      <a:srgbClr val="FFFFFF"/>
                    </a:solidFill>
                  </a:tcPr>
                </a:tc>
                <a:tc>
                  <a:txBody>
                    <a:bodyPr/>
                    <a:lstStyle/>
                    <a:p>
                      <a:pPr algn="ctr"/>
                      <a:r>
                        <a:rPr sz="850" b="1" i="0">
                          <a:solidFill>
                            <a:srgbClr val="262626"/>
                          </a:solidFill>
                          <a:latin typeface="Arial"/>
                        </a:rPr>
                        <a:t>43%</a:t>
                      </a:r>
                    </a:p>
                  </a:txBody>
                  <a:tcPr>
                    <a:solidFill>
                      <a:srgbClr val="FFFFFF"/>
                    </a:solidFill>
                  </a:tcPr>
                </a:tc>
                <a:tc>
                  <a:txBody>
                    <a:bodyPr/>
                    <a:lstStyle/>
                    <a:p>
                      <a:pPr algn="ctr"/>
                      <a:r>
                        <a:rPr sz="850" b="1" i="0">
                          <a:solidFill>
                            <a:srgbClr val="262626"/>
                          </a:solidFill>
                          <a:latin typeface="Arial"/>
                        </a:rPr>
                        <a:t>10:38</a:t>
                      </a:r>
                    </a:p>
                  </a:txBody>
                  <a:tcPr>
                    <a:solidFill>
                      <a:srgbClr val="FFFFFF"/>
                    </a:solidFill>
                  </a:tcPr>
                </a:tc>
                <a:tc>
                  <a:txBody>
                    <a:bodyPr/>
                    <a:lstStyle/>
                    <a:p>
                      <a:pPr algn="ctr"/>
                      <a:r>
                        <a:rPr sz="850" b="0" i="0">
                          <a:solidFill>
                            <a:srgbClr val="262626"/>
                          </a:solidFill>
                          <a:latin typeface="Arial"/>
                        </a:rPr>
                        <a:t>19:48</a:t>
                      </a:r>
                    </a:p>
                  </a:txBody>
                  <a:tcPr>
                    <a:solidFill>
                      <a:srgbClr val="FFFFFF"/>
                    </a:solidFill>
                  </a:tcPr>
                </a:tc>
                <a:tc>
                  <a:txBody>
                    <a:bodyPr/>
                    <a:lstStyle/>
                    <a:p>
                      <a:pPr algn="ctr"/>
                      <a:r>
                        <a:rPr sz="850" b="0" i="0">
                          <a:solidFill>
                            <a:srgbClr val="BFBFBF"/>
                          </a:solidFill>
                          <a:latin typeface="Arial"/>
                        </a:rPr>
                        <a:t>9/5</a:t>
                      </a:r>
                    </a:p>
                  </a:txBody>
                  <a:tcPr>
                    <a:solidFill>
                      <a:srgbClr val="FFFFFF"/>
                    </a:solidFill>
                  </a:tcPr>
                </a:tc>
                <a:extLst>
                  <a:ext uri="{0D108BD9-81ED-4DB2-BD59-A6C34878D82A}">
                    <a16:rowId xmlns:a16="http://schemas.microsoft.com/office/drawing/2014/main" val="10009"/>
                  </a:ext>
                </a:extLst>
              </a:tr>
              <a:tr h="256032">
                <a:tc>
                  <a:txBody>
                    <a:bodyPr/>
                    <a:lstStyle/>
                    <a:p>
                      <a:pPr algn="ctr"/>
                      <a:r>
                        <a:rPr sz="850" b="1" i="0">
                          <a:solidFill>
                            <a:srgbClr val="002060"/>
                          </a:solidFill>
                          <a:latin typeface="Arial"/>
                        </a:rPr>
                        <a:t>10</a:t>
                      </a:r>
                    </a:p>
                  </a:txBody>
                  <a:tcPr>
                    <a:solidFill>
                      <a:srgbClr val="F2F2F2"/>
                    </a:solidFill>
                  </a:tcPr>
                </a:tc>
                <a:tc>
                  <a:txBody>
                    <a:bodyPr/>
                    <a:lstStyle/>
                    <a:p>
                      <a:pPr algn="l"/>
                      <a:r>
                        <a:rPr sz="850" b="0" i="0">
                          <a:solidFill>
                            <a:srgbClr val="262626"/>
                          </a:solidFill>
                          <a:latin typeface="Arial"/>
                        </a:rPr>
                        <a:t>Melanie Santos</a:t>
                      </a:r>
                    </a:p>
                  </a:txBody>
                  <a:tcPr>
                    <a:solidFill>
                      <a:srgbClr val="F2F2F2"/>
                    </a:solidFill>
                  </a:tcPr>
                </a:tc>
                <a:tc>
                  <a:txBody>
                    <a:bodyPr/>
                    <a:lstStyle/>
                    <a:p>
                      <a:pPr algn="ctr"/>
                      <a:r>
                        <a:rPr sz="850" b="1" i="0">
                          <a:solidFill>
                            <a:srgbClr val="262626"/>
                          </a:solidFill>
                          <a:latin typeface="Arial"/>
                        </a:rPr>
                        <a:t>42%</a:t>
                      </a:r>
                    </a:p>
                  </a:txBody>
                  <a:tcPr>
                    <a:solidFill>
                      <a:srgbClr val="F2F2F2"/>
                    </a:solidFill>
                  </a:tcPr>
                </a:tc>
                <a:tc>
                  <a:txBody>
                    <a:bodyPr/>
                    <a:lstStyle/>
                    <a:p>
                      <a:pPr algn="ctr"/>
                      <a:r>
                        <a:rPr sz="850" b="1" i="0">
                          <a:solidFill>
                            <a:srgbClr val="262626"/>
                          </a:solidFill>
                          <a:latin typeface="Arial"/>
                        </a:rPr>
                        <a:t>10:04</a:t>
                      </a:r>
                    </a:p>
                  </a:txBody>
                  <a:tcPr>
                    <a:solidFill>
                      <a:srgbClr val="F2F2F2"/>
                    </a:solidFill>
                  </a:tcPr>
                </a:tc>
                <a:tc>
                  <a:txBody>
                    <a:bodyPr/>
                    <a:lstStyle/>
                    <a:p>
                      <a:pPr algn="ctr"/>
                      <a:r>
                        <a:rPr sz="850" b="0" i="0">
                          <a:solidFill>
                            <a:srgbClr val="262626"/>
                          </a:solidFill>
                          <a:latin typeface="Arial"/>
                        </a:rPr>
                        <a:t>19:08</a:t>
                      </a:r>
                    </a:p>
                  </a:txBody>
                  <a:tcPr>
                    <a:solidFill>
                      <a:srgbClr val="F2F2F2"/>
                    </a:solidFill>
                  </a:tcPr>
                </a:tc>
                <a:tc>
                  <a:txBody>
                    <a:bodyPr/>
                    <a:lstStyle/>
                    <a:p>
                      <a:pPr algn="ctr"/>
                      <a:r>
                        <a:rPr sz="850" b="0" i="0">
                          <a:solidFill>
                            <a:srgbClr val="BFBFBF"/>
                          </a:solidFill>
                          <a:latin typeface="Arial"/>
                        </a:rPr>
                        <a:t>9/10</a:t>
                      </a:r>
                    </a:p>
                  </a:txBody>
                  <a:tcPr>
                    <a:solidFill>
                      <a:srgbClr val="F2F2F2"/>
                    </a:solidFill>
                  </a:tcPr>
                </a:tc>
                <a:extLst>
                  <a:ext uri="{0D108BD9-81ED-4DB2-BD59-A6C34878D82A}">
                    <a16:rowId xmlns:a16="http://schemas.microsoft.com/office/drawing/2014/main" val="10010"/>
                  </a:ext>
                </a:extLst>
              </a:tr>
              <a:tr h="256032">
                <a:tc>
                  <a:txBody>
                    <a:bodyPr/>
                    <a:lstStyle/>
                    <a:p>
                      <a:pPr algn="ctr"/>
                      <a:r>
                        <a:rPr sz="850" b="1" i="0">
                          <a:solidFill>
                            <a:srgbClr val="002060"/>
                          </a:solidFill>
                          <a:latin typeface="Arial"/>
                        </a:rPr>
                        <a:t>11</a:t>
                      </a:r>
                    </a:p>
                  </a:txBody>
                  <a:tcPr>
                    <a:solidFill>
                      <a:srgbClr val="FFFFFF"/>
                    </a:solidFill>
                  </a:tcPr>
                </a:tc>
                <a:tc>
                  <a:txBody>
                    <a:bodyPr/>
                    <a:lstStyle/>
                    <a:p>
                      <a:pPr algn="l"/>
                      <a:r>
                        <a:rPr sz="850" b="0" i="0">
                          <a:solidFill>
                            <a:srgbClr val="262626"/>
                          </a:solidFill>
                          <a:latin typeface="Arial"/>
                        </a:rPr>
                        <a:t>Manami Hayashi</a:t>
                      </a:r>
                    </a:p>
                  </a:txBody>
                  <a:tcPr>
                    <a:solidFill>
                      <a:srgbClr val="FFFFFF"/>
                    </a:solidFill>
                  </a:tcPr>
                </a:tc>
                <a:tc>
                  <a:txBody>
                    <a:bodyPr/>
                    <a:lstStyle/>
                    <a:p>
                      <a:pPr algn="ctr"/>
                      <a:r>
                        <a:rPr sz="850" b="1" i="0">
                          <a:solidFill>
                            <a:srgbClr val="262626"/>
                          </a:solidFill>
                          <a:latin typeface="Arial"/>
                        </a:rPr>
                        <a:t>42%</a:t>
                      </a:r>
                    </a:p>
                  </a:txBody>
                  <a:tcPr>
                    <a:solidFill>
                      <a:srgbClr val="FFFFFF"/>
                    </a:solidFill>
                  </a:tcPr>
                </a:tc>
                <a:tc>
                  <a:txBody>
                    <a:bodyPr/>
                    <a:lstStyle/>
                    <a:p>
                      <a:pPr algn="ctr"/>
                      <a:r>
                        <a:rPr sz="850" b="1" i="0">
                          <a:solidFill>
                            <a:srgbClr val="262626"/>
                          </a:solidFill>
                          <a:latin typeface="Arial"/>
                        </a:rPr>
                        <a:t>9:56</a:t>
                      </a:r>
                    </a:p>
                  </a:txBody>
                  <a:tcPr>
                    <a:solidFill>
                      <a:srgbClr val="FFFFFF"/>
                    </a:solidFill>
                  </a:tcPr>
                </a:tc>
                <a:tc>
                  <a:txBody>
                    <a:bodyPr/>
                    <a:lstStyle/>
                    <a:p>
                      <a:pPr algn="ctr"/>
                      <a:r>
                        <a:rPr sz="850" b="0" i="0">
                          <a:solidFill>
                            <a:srgbClr val="262626"/>
                          </a:solidFill>
                          <a:latin typeface="Arial"/>
                        </a:rPr>
                        <a:t>20:06</a:t>
                      </a:r>
                    </a:p>
                  </a:txBody>
                  <a:tcPr>
                    <a:solidFill>
                      <a:srgbClr val="FFFFFF"/>
                    </a:solidFill>
                  </a:tcPr>
                </a:tc>
                <a:tc>
                  <a:txBody>
                    <a:bodyPr/>
                    <a:lstStyle/>
                    <a:p>
                      <a:pPr algn="ctr"/>
                      <a:r>
                        <a:rPr sz="850" b="0" i="0">
                          <a:solidFill>
                            <a:srgbClr val="BFBFBF"/>
                          </a:solidFill>
                          <a:latin typeface="Arial"/>
                        </a:rPr>
                        <a:t>17/7</a:t>
                      </a:r>
                    </a:p>
                  </a:txBody>
                  <a:tcPr>
                    <a:solidFill>
                      <a:srgbClr val="FFFFFF"/>
                    </a:solidFill>
                  </a:tcPr>
                </a:tc>
                <a:extLst>
                  <a:ext uri="{0D108BD9-81ED-4DB2-BD59-A6C34878D82A}">
                    <a16:rowId xmlns:a16="http://schemas.microsoft.com/office/drawing/2014/main" val="10011"/>
                  </a:ext>
                </a:extLst>
              </a:tr>
              <a:tr h="256032">
                <a:tc>
                  <a:txBody>
                    <a:bodyPr/>
                    <a:lstStyle/>
                    <a:p>
                      <a:pPr algn="ctr"/>
                      <a:r>
                        <a:rPr sz="850" b="1" i="0">
                          <a:solidFill>
                            <a:srgbClr val="002060"/>
                          </a:solidFill>
                          <a:latin typeface="Arial"/>
                        </a:rPr>
                        <a:t>12</a:t>
                      </a:r>
                    </a:p>
                  </a:txBody>
                  <a:tcPr>
                    <a:solidFill>
                      <a:srgbClr val="F2F2F2"/>
                    </a:solidFill>
                  </a:tcPr>
                </a:tc>
                <a:tc>
                  <a:txBody>
                    <a:bodyPr/>
                    <a:lstStyle/>
                    <a:p>
                      <a:pPr algn="l"/>
                      <a:r>
                        <a:rPr sz="850" b="0" i="0">
                          <a:solidFill>
                            <a:srgbClr val="262626"/>
                          </a:solidFill>
                          <a:latin typeface="Arial"/>
                        </a:rPr>
                        <a:t>Ivana Kuriackova</a:t>
                      </a:r>
                    </a:p>
                  </a:txBody>
                  <a:tcPr>
                    <a:solidFill>
                      <a:srgbClr val="F2F2F2"/>
                    </a:solidFill>
                  </a:tcPr>
                </a:tc>
                <a:tc>
                  <a:txBody>
                    <a:bodyPr/>
                    <a:lstStyle/>
                    <a:p>
                      <a:pPr algn="ctr"/>
                      <a:r>
                        <a:rPr sz="850" b="1" i="0">
                          <a:solidFill>
                            <a:srgbClr val="262626"/>
                          </a:solidFill>
                          <a:latin typeface="Arial"/>
                        </a:rPr>
                        <a:t>38%</a:t>
                      </a:r>
                    </a:p>
                  </a:txBody>
                  <a:tcPr>
                    <a:solidFill>
                      <a:srgbClr val="F2F2F2"/>
                    </a:solidFill>
                  </a:tcPr>
                </a:tc>
                <a:tc>
                  <a:txBody>
                    <a:bodyPr/>
                    <a:lstStyle/>
                    <a:p>
                      <a:pPr algn="ctr"/>
                      <a:r>
                        <a:rPr sz="850" b="1" i="0">
                          <a:solidFill>
                            <a:srgbClr val="262626"/>
                          </a:solidFill>
                          <a:latin typeface="Arial"/>
                        </a:rPr>
                        <a:t>10:13</a:t>
                      </a:r>
                    </a:p>
                  </a:txBody>
                  <a:tcPr>
                    <a:solidFill>
                      <a:srgbClr val="F2F2F2"/>
                    </a:solidFill>
                  </a:tcPr>
                </a:tc>
                <a:tc>
                  <a:txBody>
                    <a:bodyPr/>
                    <a:lstStyle/>
                    <a:p>
                      <a:pPr algn="ctr"/>
                      <a:r>
                        <a:rPr sz="850" b="0" i="0">
                          <a:solidFill>
                            <a:srgbClr val="262626"/>
                          </a:solidFill>
                          <a:latin typeface="Arial"/>
                        </a:rPr>
                        <a:t>20:26</a:t>
                      </a:r>
                    </a:p>
                  </a:txBody>
                  <a:tcPr>
                    <a:solidFill>
                      <a:srgbClr val="F2F2F2"/>
                    </a:solidFill>
                  </a:tcPr>
                </a:tc>
                <a:tc>
                  <a:txBody>
                    <a:bodyPr/>
                    <a:lstStyle/>
                    <a:p>
                      <a:pPr algn="ctr"/>
                      <a:r>
                        <a:rPr sz="850" b="0" i="0">
                          <a:solidFill>
                            <a:srgbClr val="BFBFBF"/>
                          </a:solidFill>
                          <a:latin typeface="Arial"/>
                        </a:rPr>
                        <a:t>9/17</a:t>
                      </a:r>
                    </a:p>
                  </a:txBody>
                  <a:tcPr>
                    <a:solidFill>
                      <a:srgbClr val="F2F2F2"/>
                    </a:solidFill>
                  </a:tcPr>
                </a:tc>
                <a:extLst>
                  <a:ext uri="{0D108BD9-81ED-4DB2-BD59-A6C34878D82A}">
                    <a16:rowId xmlns:a16="http://schemas.microsoft.com/office/drawing/2014/main" val="10012"/>
                  </a:ext>
                </a:extLst>
              </a:tr>
              <a:tr h="256032">
                <a:tc>
                  <a:txBody>
                    <a:bodyPr/>
                    <a:lstStyle/>
                    <a:p>
                      <a:pPr algn="ctr"/>
                      <a:r>
                        <a:rPr sz="850" b="1" i="0">
                          <a:solidFill>
                            <a:srgbClr val="002060"/>
                          </a:solidFill>
                          <a:latin typeface="Arial"/>
                        </a:rPr>
                        <a:t>13</a:t>
                      </a:r>
                    </a:p>
                  </a:txBody>
                  <a:tcPr>
                    <a:solidFill>
                      <a:srgbClr val="FFFFFF"/>
                    </a:solidFill>
                  </a:tcPr>
                </a:tc>
                <a:tc>
                  <a:txBody>
                    <a:bodyPr/>
                    <a:lstStyle/>
                    <a:p>
                      <a:pPr algn="l"/>
                      <a:r>
                        <a:rPr sz="850" b="0" i="0">
                          <a:solidFill>
                            <a:srgbClr val="262626"/>
                          </a:solidFill>
                          <a:latin typeface="Arial"/>
                        </a:rPr>
                        <a:t>Cecilia Perez</a:t>
                      </a:r>
                    </a:p>
                  </a:txBody>
                  <a:tcPr>
                    <a:solidFill>
                      <a:srgbClr val="FFFFFF"/>
                    </a:solidFill>
                  </a:tcPr>
                </a:tc>
                <a:tc>
                  <a:txBody>
                    <a:bodyPr/>
                    <a:lstStyle/>
                    <a:p>
                      <a:pPr algn="ctr"/>
                      <a:r>
                        <a:rPr sz="850" b="1" i="0">
                          <a:solidFill>
                            <a:srgbClr val="262626"/>
                          </a:solidFill>
                          <a:latin typeface="Arial"/>
                        </a:rPr>
                        <a:t>38%</a:t>
                      </a:r>
                    </a:p>
                  </a:txBody>
                  <a:tcPr>
                    <a:solidFill>
                      <a:srgbClr val="FFFFFF"/>
                    </a:solidFill>
                  </a:tcPr>
                </a:tc>
                <a:tc>
                  <a:txBody>
                    <a:bodyPr/>
                    <a:lstStyle/>
                    <a:p>
                      <a:pPr algn="ctr"/>
                      <a:r>
                        <a:rPr sz="850" b="1" i="0">
                          <a:solidFill>
                            <a:srgbClr val="262626"/>
                          </a:solidFill>
                          <a:latin typeface="Arial"/>
                        </a:rPr>
                        <a:t>10:31</a:t>
                      </a:r>
                    </a:p>
                  </a:txBody>
                  <a:tcPr>
                    <a:solidFill>
                      <a:srgbClr val="FFFFFF"/>
                    </a:solidFill>
                  </a:tcPr>
                </a:tc>
                <a:tc>
                  <a:txBody>
                    <a:bodyPr/>
                    <a:lstStyle/>
                    <a:p>
                      <a:pPr algn="ctr"/>
                      <a:r>
                        <a:rPr sz="850" b="0" i="0">
                          <a:solidFill>
                            <a:srgbClr val="262626"/>
                          </a:solidFill>
                          <a:latin typeface="Arial"/>
                        </a:rPr>
                        <a:t>19:36</a:t>
                      </a:r>
                    </a:p>
                  </a:txBody>
                  <a:tcPr>
                    <a:solidFill>
                      <a:srgbClr val="FFFFFF"/>
                    </a:solidFill>
                  </a:tcPr>
                </a:tc>
                <a:tc>
                  <a:txBody>
                    <a:bodyPr/>
                    <a:lstStyle/>
                    <a:p>
                      <a:pPr algn="ctr"/>
                      <a:r>
                        <a:rPr sz="850" b="0" i="0">
                          <a:solidFill>
                            <a:srgbClr val="BFBFBF"/>
                          </a:solidFill>
                          <a:latin typeface="Arial"/>
                        </a:rPr>
                        <a:t>16/5</a:t>
                      </a:r>
                    </a:p>
                  </a:txBody>
                  <a:tcPr>
                    <a:solidFill>
                      <a:srgbClr val="FFFFFF"/>
                    </a:solidFill>
                  </a:tcPr>
                </a:tc>
                <a:extLst>
                  <a:ext uri="{0D108BD9-81ED-4DB2-BD59-A6C34878D82A}">
                    <a16:rowId xmlns:a16="http://schemas.microsoft.com/office/drawing/2014/main" val="10013"/>
                  </a:ext>
                </a:extLst>
              </a:tr>
              <a:tr h="256032">
                <a:tc>
                  <a:txBody>
                    <a:bodyPr/>
                    <a:lstStyle/>
                    <a:p>
                      <a:pPr algn="ctr"/>
                      <a:r>
                        <a:rPr sz="850" b="1" i="0">
                          <a:solidFill>
                            <a:srgbClr val="002060"/>
                          </a:solidFill>
                          <a:latin typeface="Arial"/>
                        </a:rPr>
                        <a:t>14</a:t>
                      </a:r>
                    </a:p>
                  </a:txBody>
                  <a:tcPr>
                    <a:solidFill>
                      <a:srgbClr val="F2F2F2"/>
                    </a:solidFill>
                  </a:tcPr>
                </a:tc>
                <a:tc>
                  <a:txBody>
                    <a:bodyPr/>
                    <a:lstStyle/>
                    <a:p>
                      <a:pPr algn="l"/>
                      <a:r>
                        <a:rPr sz="850" b="0" i="0">
                          <a:solidFill>
                            <a:srgbClr val="262626"/>
                          </a:solidFill>
                          <a:latin typeface="Arial"/>
                        </a:rPr>
                        <a:t>Maria De Los Angeles Bonilla Garcia</a:t>
                      </a:r>
                    </a:p>
                  </a:txBody>
                  <a:tcPr>
                    <a:solidFill>
                      <a:srgbClr val="F2F2F2"/>
                    </a:solidFill>
                  </a:tcPr>
                </a:tc>
                <a:tc>
                  <a:txBody>
                    <a:bodyPr/>
                    <a:lstStyle/>
                    <a:p>
                      <a:pPr algn="ctr"/>
                      <a:r>
                        <a:rPr sz="850" b="1" i="0">
                          <a:solidFill>
                            <a:srgbClr val="262626"/>
                          </a:solidFill>
                          <a:latin typeface="Arial"/>
                        </a:rPr>
                        <a:t>36%</a:t>
                      </a:r>
                    </a:p>
                  </a:txBody>
                  <a:tcPr>
                    <a:solidFill>
                      <a:srgbClr val="F2F2F2"/>
                    </a:solidFill>
                  </a:tcPr>
                </a:tc>
                <a:tc>
                  <a:txBody>
                    <a:bodyPr/>
                    <a:lstStyle/>
                    <a:p>
                      <a:pPr algn="ctr"/>
                      <a:r>
                        <a:rPr sz="850" b="1" i="0">
                          <a:solidFill>
                            <a:srgbClr val="262626"/>
                          </a:solidFill>
                          <a:latin typeface="Arial"/>
                        </a:rPr>
                        <a:t>10:22</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tc>
                  <a:txBody>
                    <a:bodyPr/>
                    <a:lstStyle/>
                    <a:p>
                      <a:pPr algn="ctr"/>
                      <a:r>
                        <a:rPr sz="850" b="0" i="0">
                          <a:solidFill>
                            <a:srgbClr val="BFBFBF"/>
                          </a:solidFill>
                          <a:latin typeface="Arial"/>
                        </a:rPr>
                        <a:t>11/0</a:t>
                      </a:r>
                    </a:p>
                  </a:txBody>
                  <a:tcPr>
                    <a:solidFill>
                      <a:srgbClr val="F2F2F2"/>
                    </a:solidFill>
                  </a:tcPr>
                </a:tc>
                <a:extLst>
                  <a:ext uri="{0D108BD9-81ED-4DB2-BD59-A6C34878D82A}">
                    <a16:rowId xmlns:a16="http://schemas.microsoft.com/office/drawing/2014/main" val="10014"/>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USA World Rankings Snapshot</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384048"/>
          </a:xfrm>
          <a:prstGeom prst="rect">
            <a:avLst/>
          </a:prstGeom>
          <a:solidFill>
            <a:srgbClr val="F2F2F2"/>
          </a:solid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70432"/>
            <a:ext cx="11430000" cy="256032"/>
          </a:xfrm>
          <a:prstGeom prst="rect">
            <a:avLst/>
          </a:prstGeom>
          <a:noFill/>
        </p:spPr>
        <p:txBody>
          <a:bodyPr wrap="square">
            <a:spAutoFit/>
          </a:bodyPr>
          <a:lstStyle/>
          <a:p>
            <a:pPr algn="ctr"/>
            <a:r>
              <a:rPr sz="1200" b="1" i="0">
                <a:solidFill>
                  <a:srgbClr val="002060"/>
                </a:solidFill>
                <a:latin typeface="Arial"/>
              </a:rPr>
              <a:t>As of 2026-08-03   •   World Triathlon Rankings   •   Heading into Asuncion   •   Race tier: World Cup</a:t>
            </a:r>
          </a:p>
        </p:txBody>
      </p:sp>
      <p:sp>
        <p:nvSpPr>
          <p:cNvPr id="10" name="Rectangle 9"/>
          <p:cNvSpPr/>
          <p:nvPr/>
        </p:nvSpPr>
        <p:spPr>
          <a:xfrm>
            <a:off x="274320" y="160020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627632"/>
            <a:ext cx="11430000" cy="246888"/>
          </a:xfrm>
          <a:prstGeom prst="rect">
            <a:avLst/>
          </a:prstGeom>
          <a:noFill/>
        </p:spPr>
        <p:txBody>
          <a:bodyPr wrap="square">
            <a:spAutoFit/>
          </a:bodyPr>
          <a:lstStyle/>
          <a:p>
            <a:pPr algn="l"/>
            <a:r>
              <a:rPr sz="1200" b="1" i="0">
                <a:solidFill>
                  <a:srgbClr val="FFFFFF"/>
                </a:solidFill>
                <a:latin typeface="Arial"/>
              </a:rPr>
              <a:t>Max Points Available at this Race</a:t>
            </a:r>
          </a:p>
        </p:txBody>
      </p:sp>
      <p:sp>
        <p:nvSpPr>
          <p:cNvPr id="12" name="Rectangle 11"/>
          <p:cNvSpPr/>
          <p:nvPr/>
        </p:nvSpPr>
        <p:spPr>
          <a:xfrm>
            <a:off x="274320" y="1984248"/>
            <a:ext cx="1803196" cy="502920"/>
          </a:xfrm>
          <a:prstGeom prst="rect">
            <a:avLst/>
          </a:prstGeom>
          <a:solidFill>
            <a:srgbClr val="F2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011680"/>
            <a:ext cx="1803196" cy="182880"/>
          </a:xfrm>
          <a:prstGeom prst="rect">
            <a:avLst/>
          </a:prstGeom>
          <a:noFill/>
        </p:spPr>
        <p:txBody>
          <a:bodyPr wrap="square">
            <a:spAutoFit/>
          </a:bodyPr>
          <a:lstStyle/>
          <a:p>
            <a:pPr algn="ctr"/>
            <a:r>
              <a:rPr sz="900" b="1" i="0">
                <a:solidFill>
                  <a:srgbClr val="002060"/>
                </a:solidFill>
                <a:latin typeface="Arial"/>
              </a:rPr>
              <a:t>Win</a:t>
            </a:r>
          </a:p>
        </p:txBody>
      </p:sp>
      <p:sp>
        <p:nvSpPr>
          <p:cNvPr id="14" name="TextBox 13"/>
          <p:cNvSpPr txBox="1"/>
          <p:nvPr/>
        </p:nvSpPr>
        <p:spPr>
          <a:xfrm>
            <a:off x="274320" y="2185416"/>
            <a:ext cx="1803196" cy="292608"/>
          </a:xfrm>
          <a:prstGeom prst="rect">
            <a:avLst/>
          </a:prstGeom>
          <a:noFill/>
        </p:spPr>
        <p:txBody>
          <a:bodyPr wrap="square">
            <a:spAutoFit/>
          </a:bodyPr>
          <a:lstStyle/>
          <a:p>
            <a:pPr algn="ctr"/>
            <a:r>
              <a:rPr sz="1400" b="1" i="0">
                <a:solidFill>
                  <a:srgbClr val="C00000"/>
                </a:solidFill>
                <a:latin typeface="Arial"/>
              </a:rPr>
              <a:t>500 pts</a:t>
            </a:r>
          </a:p>
        </p:txBody>
      </p:sp>
      <p:sp>
        <p:nvSpPr>
          <p:cNvPr id="15" name="Rectangle 14"/>
          <p:cNvSpPr/>
          <p:nvPr/>
        </p:nvSpPr>
        <p:spPr>
          <a:xfrm>
            <a:off x="2242108"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42108" y="2011680"/>
            <a:ext cx="1803196" cy="182880"/>
          </a:xfrm>
          <a:prstGeom prst="rect">
            <a:avLst/>
          </a:prstGeom>
          <a:noFill/>
        </p:spPr>
        <p:txBody>
          <a:bodyPr wrap="square">
            <a:spAutoFit/>
          </a:bodyPr>
          <a:lstStyle/>
          <a:p>
            <a:pPr algn="ctr"/>
            <a:r>
              <a:rPr sz="900" b="1" i="0">
                <a:solidFill>
                  <a:srgbClr val="002060"/>
                </a:solidFill>
                <a:latin typeface="Arial"/>
              </a:rPr>
              <a:t>Podium</a:t>
            </a:r>
          </a:p>
        </p:txBody>
      </p:sp>
      <p:sp>
        <p:nvSpPr>
          <p:cNvPr id="17" name="TextBox 16"/>
          <p:cNvSpPr txBox="1"/>
          <p:nvPr/>
        </p:nvSpPr>
        <p:spPr>
          <a:xfrm>
            <a:off x="2242108" y="2185416"/>
            <a:ext cx="1803196" cy="292608"/>
          </a:xfrm>
          <a:prstGeom prst="rect">
            <a:avLst/>
          </a:prstGeom>
          <a:noFill/>
        </p:spPr>
        <p:txBody>
          <a:bodyPr wrap="square">
            <a:spAutoFit/>
          </a:bodyPr>
          <a:lstStyle/>
          <a:p>
            <a:pPr algn="ctr"/>
            <a:r>
              <a:rPr sz="1400" b="1" i="0">
                <a:solidFill>
                  <a:srgbClr val="002060"/>
                </a:solidFill>
                <a:latin typeface="Arial"/>
              </a:rPr>
              <a:t>427 pts</a:t>
            </a:r>
          </a:p>
        </p:txBody>
      </p:sp>
      <p:sp>
        <p:nvSpPr>
          <p:cNvPr id="18" name="Rectangle 17"/>
          <p:cNvSpPr/>
          <p:nvPr/>
        </p:nvSpPr>
        <p:spPr>
          <a:xfrm>
            <a:off x="4209896" y="1984248"/>
            <a:ext cx="1803196" cy="502920"/>
          </a:xfrm>
          <a:prstGeom prst="rect">
            <a:avLst/>
          </a:prstGeom>
          <a:solidFill>
            <a:srgbClr val="F2F2F2"/>
          </a:solidFill>
          <a:ln w="19050">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209896" y="2011680"/>
            <a:ext cx="1803196" cy="182880"/>
          </a:xfrm>
          <a:prstGeom prst="rect">
            <a:avLst/>
          </a:prstGeom>
          <a:noFill/>
        </p:spPr>
        <p:txBody>
          <a:bodyPr wrap="square">
            <a:spAutoFit/>
          </a:bodyPr>
          <a:lstStyle/>
          <a:p>
            <a:pPr algn="ctr"/>
            <a:r>
              <a:rPr sz="900" b="1" i="0">
                <a:solidFill>
                  <a:srgbClr val="002060"/>
                </a:solidFill>
                <a:latin typeface="Arial"/>
              </a:rPr>
              <a:t>Top 5</a:t>
            </a:r>
          </a:p>
        </p:txBody>
      </p:sp>
      <p:sp>
        <p:nvSpPr>
          <p:cNvPr id="20" name="TextBox 19"/>
          <p:cNvSpPr txBox="1"/>
          <p:nvPr/>
        </p:nvSpPr>
        <p:spPr>
          <a:xfrm>
            <a:off x="4209896" y="2185416"/>
            <a:ext cx="1803196" cy="292608"/>
          </a:xfrm>
          <a:prstGeom prst="rect">
            <a:avLst/>
          </a:prstGeom>
          <a:noFill/>
        </p:spPr>
        <p:txBody>
          <a:bodyPr wrap="square">
            <a:spAutoFit/>
          </a:bodyPr>
          <a:lstStyle/>
          <a:p>
            <a:pPr algn="ctr"/>
            <a:r>
              <a:rPr sz="1400" b="1" i="0">
                <a:solidFill>
                  <a:srgbClr val="002060"/>
                </a:solidFill>
                <a:latin typeface="Arial"/>
              </a:rPr>
              <a:t>366 pts</a:t>
            </a:r>
          </a:p>
        </p:txBody>
      </p:sp>
      <p:sp>
        <p:nvSpPr>
          <p:cNvPr id="21" name="Rectangle 20"/>
          <p:cNvSpPr/>
          <p:nvPr/>
        </p:nvSpPr>
        <p:spPr>
          <a:xfrm>
            <a:off x="6177684"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7684" y="2011680"/>
            <a:ext cx="1803196" cy="182880"/>
          </a:xfrm>
          <a:prstGeom prst="rect">
            <a:avLst/>
          </a:prstGeom>
          <a:noFill/>
        </p:spPr>
        <p:txBody>
          <a:bodyPr wrap="square">
            <a:spAutoFit/>
          </a:bodyPr>
          <a:lstStyle/>
          <a:p>
            <a:pPr algn="ctr"/>
            <a:r>
              <a:rPr sz="900" b="1" i="0">
                <a:solidFill>
                  <a:srgbClr val="002060"/>
                </a:solidFill>
                <a:latin typeface="Arial"/>
              </a:rPr>
              <a:t>Top 10</a:t>
            </a:r>
          </a:p>
        </p:txBody>
      </p:sp>
      <p:sp>
        <p:nvSpPr>
          <p:cNvPr id="23" name="TextBox 22"/>
          <p:cNvSpPr txBox="1"/>
          <p:nvPr/>
        </p:nvSpPr>
        <p:spPr>
          <a:xfrm>
            <a:off x="6177684" y="2185416"/>
            <a:ext cx="1803196" cy="292608"/>
          </a:xfrm>
          <a:prstGeom prst="rect">
            <a:avLst/>
          </a:prstGeom>
          <a:noFill/>
        </p:spPr>
        <p:txBody>
          <a:bodyPr wrap="square">
            <a:spAutoFit/>
          </a:bodyPr>
          <a:lstStyle/>
          <a:p>
            <a:pPr algn="ctr"/>
            <a:r>
              <a:rPr sz="1400" b="1" i="0">
                <a:solidFill>
                  <a:srgbClr val="BFBFBF"/>
                </a:solidFill>
                <a:latin typeface="Arial"/>
              </a:rPr>
              <a:t>247 pts</a:t>
            </a:r>
          </a:p>
        </p:txBody>
      </p:sp>
      <p:sp>
        <p:nvSpPr>
          <p:cNvPr id="24" name="Rectangle 23"/>
          <p:cNvSpPr/>
          <p:nvPr/>
        </p:nvSpPr>
        <p:spPr>
          <a:xfrm>
            <a:off x="8145472"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145472" y="2011680"/>
            <a:ext cx="1803196" cy="182880"/>
          </a:xfrm>
          <a:prstGeom prst="rect">
            <a:avLst/>
          </a:prstGeom>
          <a:noFill/>
        </p:spPr>
        <p:txBody>
          <a:bodyPr wrap="square">
            <a:spAutoFit/>
          </a:bodyPr>
          <a:lstStyle/>
          <a:p>
            <a:pPr algn="ctr"/>
            <a:r>
              <a:rPr sz="900" b="1" i="0">
                <a:solidFill>
                  <a:srgbClr val="002060"/>
                </a:solidFill>
                <a:latin typeface="Arial"/>
              </a:rPr>
              <a:t>Top 15</a:t>
            </a:r>
          </a:p>
        </p:txBody>
      </p:sp>
      <p:sp>
        <p:nvSpPr>
          <p:cNvPr id="26" name="TextBox 25"/>
          <p:cNvSpPr txBox="1"/>
          <p:nvPr/>
        </p:nvSpPr>
        <p:spPr>
          <a:xfrm>
            <a:off x="8145472" y="2185416"/>
            <a:ext cx="1803196" cy="292608"/>
          </a:xfrm>
          <a:prstGeom prst="rect">
            <a:avLst/>
          </a:prstGeom>
          <a:noFill/>
        </p:spPr>
        <p:txBody>
          <a:bodyPr wrap="square">
            <a:spAutoFit/>
          </a:bodyPr>
          <a:lstStyle/>
          <a:p>
            <a:pPr algn="ctr"/>
            <a:r>
              <a:rPr sz="1400" b="1" i="0">
                <a:solidFill>
                  <a:srgbClr val="BFBFBF"/>
                </a:solidFill>
                <a:latin typeface="Arial"/>
              </a:rPr>
              <a:t>167 pts</a:t>
            </a:r>
          </a:p>
        </p:txBody>
      </p:sp>
      <p:sp>
        <p:nvSpPr>
          <p:cNvPr id="27" name="Rectangle 26"/>
          <p:cNvSpPr/>
          <p:nvPr/>
        </p:nvSpPr>
        <p:spPr>
          <a:xfrm>
            <a:off x="10113260" y="1984248"/>
            <a:ext cx="1803196" cy="502920"/>
          </a:xfrm>
          <a:prstGeom prst="rect">
            <a:avLst/>
          </a:prstGeom>
          <a:solidFill>
            <a:srgbClr val="F2F2F2"/>
          </a:solidFill>
          <a:ln w="190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113260" y="2011680"/>
            <a:ext cx="1803196" cy="182880"/>
          </a:xfrm>
          <a:prstGeom prst="rect">
            <a:avLst/>
          </a:prstGeom>
          <a:noFill/>
        </p:spPr>
        <p:txBody>
          <a:bodyPr wrap="square">
            <a:spAutoFit/>
          </a:bodyPr>
          <a:lstStyle/>
          <a:p>
            <a:pPr algn="ctr"/>
            <a:r>
              <a:rPr sz="900" b="1" i="0">
                <a:solidFill>
                  <a:srgbClr val="002060"/>
                </a:solidFill>
                <a:latin typeface="Arial"/>
              </a:rPr>
              <a:t>Top 20</a:t>
            </a:r>
          </a:p>
        </p:txBody>
      </p:sp>
      <p:sp>
        <p:nvSpPr>
          <p:cNvPr id="29" name="TextBox 28"/>
          <p:cNvSpPr txBox="1"/>
          <p:nvPr/>
        </p:nvSpPr>
        <p:spPr>
          <a:xfrm>
            <a:off x="10113260" y="2185416"/>
            <a:ext cx="1803196" cy="292608"/>
          </a:xfrm>
          <a:prstGeom prst="rect">
            <a:avLst/>
          </a:prstGeom>
          <a:noFill/>
        </p:spPr>
        <p:txBody>
          <a:bodyPr wrap="square">
            <a:spAutoFit/>
          </a:bodyPr>
          <a:lstStyle/>
          <a:p>
            <a:pPr algn="ctr"/>
            <a:r>
              <a:rPr sz="1400" b="1" i="0">
                <a:solidFill>
                  <a:srgbClr val="BFBFBF"/>
                </a:solidFill>
                <a:latin typeface="Arial"/>
              </a:rPr>
              <a:t>113 pts</a:t>
            </a:r>
          </a:p>
        </p:txBody>
      </p:sp>
      <p:sp>
        <p:nvSpPr>
          <p:cNvPr id="30" name="Rectangle 29"/>
          <p:cNvSpPr/>
          <p:nvPr/>
        </p:nvSpPr>
        <p:spPr>
          <a:xfrm>
            <a:off x="27432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2633472"/>
            <a:ext cx="5788152" cy="237744"/>
          </a:xfrm>
          <a:prstGeom prst="rect">
            <a:avLst/>
          </a:prstGeom>
          <a:noFill/>
        </p:spPr>
        <p:txBody>
          <a:bodyPr wrap="square">
            <a:spAutoFit/>
          </a:bodyPr>
          <a:lstStyle/>
          <a:p>
            <a:pPr algn="ctr"/>
            <a:r>
              <a:rPr sz="1100" b="1" i="0">
                <a:solidFill>
                  <a:srgbClr val="FFFFFF"/>
                </a:solidFill>
                <a:latin typeface="Arial"/>
              </a:rPr>
              <a:t>ELITE MEN</a:t>
            </a:r>
          </a:p>
        </p:txBody>
      </p:sp>
      <p:graphicFrame>
        <p:nvGraphicFramePr>
          <p:cNvPr id="32" name="Table 31"/>
          <p:cNvGraphicFramePr>
            <a:graphicFrameLocks noGrp="1"/>
          </p:cNvGraphicFramePr>
          <p:nvPr/>
        </p:nvGraphicFramePr>
        <p:xfrm>
          <a:off x="27432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20</a:t>
                      </a:r>
                    </a:p>
                  </a:txBody>
                  <a:tcPr>
                    <a:solidFill>
                      <a:srgbClr val="FFFFFF"/>
                    </a:solidFill>
                  </a:tcPr>
                </a:tc>
                <a:tc>
                  <a:txBody>
                    <a:bodyPr/>
                    <a:lstStyle/>
                    <a:p>
                      <a:pPr algn="l"/>
                      <a:r>
                        <a:rPr sz="850" b="0" i="0">
                          <a:solidFill>
                            <a:srgbClr val="262626"/>
                          </a:solidFill>
                          <a:latin typeface="Arial"/>
                        </a:rPr>
                        <a:t>Reese Vannerson</a:t>
                      </a:r>
                    </a:p>
                  </a:txBody>
                  <a:tcPr>
                    <a:solidFill>
                      <a:srgbClr val="FFFFFF"/>
                    </a:solidFill>
                  </a:tcPr>
                </a:tc>
                <a:tc>
                  <a:txBody>
                    <a:bodyPr/>
                    <a:lstStyle/>
                    <a:p>
                      <a:pPr algn="ctr"/>
                      <a:r>
                        <a:rPr sz="850" b="0" i="0">
                          <a:solidFill>
                            <a:srgbClr val="262626"/>
                          </a:solidFill>
                          <a:latin typeface="Arial"/>
                        </a:rPr>
                        <a:t>2,911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21</a:t>
                      </a:r>
                    </a:p>
                  </a:txBody>
                  <a:tcPr>
                    <a:solidFill>
                      <a:srgbClr val="F2F2F2"/>
                    </a:solidFill>
                  </a:tcPr>
                </a:tc>
                <a:tc>
                  <a:txBody>
                    <a:bodyPr/>
                    <a:lstStyle/>
                    <a:p>
                      <a:pPr algn="l"/>
                      <a:r>
                        <a:rPr sz="850" b="0" i="0">
                          <a:solidFill>
                            <a:srgbClr val="262626"/>
                          </a:solidFill>
                          <a:latin typeface="Arial"/>
                        </a:rPr>
                        <a:t>John Reed</a:t>
                      </a:r>
                    </a:p>
                  </a:txBody>
                  <a:tcPr>
                    <a:solidFill>
                      <a:srgbClr val="F2F2F2"/>
                    </a:solidFill>
                  </a:tcPr>
                </a:tc>
                <a:tc>
                  <a:txBody>
                    <a:bodyPr/>
                    <a:lstStyle/>
                    <a:p>
                      <a:pPr algn="ctr"/>
                      <a:r>
                        <a:rPr sz="850" b="0" i="0">
                          <a:solidFill>
                            <a:srgbClr val="262626"/>
                          </a:solidFill>
                          <a:latin typeface="Arial"/>
                        </a:rPr>
                        <a:t>2,898</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27</a:t>
                      </a:r>
                    </a:p>
                  </a:txBody>
                  <a:tcPr>
                    <a:solidFill>
                      <a:srgbClr val="FFFFFF"/>
                    </a:solidFill>
                  </a:tcPr>
                </a:tc>
                <a:tc>
                  <a:txBody>
                    <a:bodyPr/>
                    <a:lstStyle/>
                    <a:p>
                      <a:pPr algn="l"/>
                      <a:r>
                        <a:rPr sz="850" b="0" i="0">
                          <a:solidFill>
                            <a:srgbClr val="262626"/>
                          </a:solidFill>
                          <a:latin typeface="Arial"/>
                        </a:rPr>
                        <a:t>Morgan Pearson</a:t>
                      </a:r>
                    </a:p>
                  </a:txBody>
                  <a:tcPr>
                    <a:solidFill>
                      <a:srgbClr val="FFFFFF"/>
                    </a:solidFill>
                  </a:tcPr>
                </a:tc>
                <a:tc>
                  <a:txBody>
                    <a:bodyPr/>
                    <a:lstStyle/>
                    <a:p>
                      <a:pPr algn="ctr"/>
                      <a:r>
                        <a:rPr sz="850" b="0" i="0">
                          <a:solidFill>
                            <a:srgbClr val="262626"/>
                          </a:solidFill>
                          <a:latin typeface="Arial"/>
                        </a:rPr>
                        <a:t>2,680</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42</a:t>
                      </a:r>
                    </a:p>
                  </a:txBody>
                  <a:tcPr>
                    <a:solidFill>
                      <a:srgbClr val="F2F2F2"/>
                    </a:solidFill>
                  </a:tcPr>
                </a:tc>
                <a:tc>
                  <a:txBody>
                    <a:bodyPr/>
                    <a:lstStyle/>
                    <a:p>
                      <a:pPr algn="l"/>
                      <a:r>
                        <a:rPr sz="850" b="0" i="0">
                          <a:solidFill>
                            <a:srgbClr val="262626"/>
                          </a:solidFill>
                          <a:latin typeface="Arial"/>
                        </a:rPr>
                        <a:t>Braxton Legg</a:t>
                      </a:r>
                    </a:p>
                  </a:txBody>
                  <a:tcPr>
                    <a:solidFill>
                      <a:srgbClr val="F2F2F2"/>
                    </a:solidFill>
                  </a:tcPr>
                </a:tc>
                <a:tc>
                  <a:txBody>
                    <a:bodyPr/>
                    <a:lstStyle/>
                    <a:p>
                      <a:pPr algn="ctr"/>
                      <a:r>
                        <a:rPr sz="850" b="0" i="0">
                          <a:solidFill>
                            <a:srgbClr val="262626"/>
                          </a:solidFill>
                          <a:latin typeface="Arial"/>
                        </a:rPr>
                        <a:t>2,442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52</a:t>
                      </a:r>
                    </a:p>
                  </a:txBody>
                  <a:tcPr>
                    <a:solidFill>
                      <a:srgbClr val="FFFFFF"/>
                    </a:solidFill>
                  </a:tcPr>
                </a:tc>
                <a:tc>
                  <a:txBody>
                    <a:bodyPr/>
                    <a:lstStyle/>
                    <a:p>
                      <a:pPr algn="l"/>
                      <a:r>
                        <a:rPr sz="850" b="0" i="0">
                          <a:solidFill>
                            <a:srgbClr val="262626"/>
                          </a:solidFill>
                          <a:latin typeface="Arial"/>
                        </a:rPr>
                        <a:t>Seth Rider</a:t>
                      </a:r>
                    </a:p>
                  </a:txBody>
                  <a:tcPr>
                    <a:solidFill>
                      <a:srgbClr val="FFFFFF"/>
                    </a:solidFill>
                  </a:tcPr>
                </a:tc>
                <a:tc>
                  <a:txBody>
                    <a:bodyPr/>
                    <a:lstStyle/>
                    <a:p>
                      <a:pPr algn="ctr"/>
                      <a:r>
                        <a:rPr sz="850" b="0" i="0">
                          <a:solidFill>
                            <a:srgbClr val="262626"/>
                          </a:solidFill>
                          <a:latin typeface="Arial"/>
                        </a:rPr>
                        <a:t>2,243</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53</a:t>
                      </a:r>
                    </a:p>
                  </a:txBody>
                  <a:tcPr>
                    <a:solidFill>
                      <a:srgbClr val="F2F2F2"/>
                    </a:solidFill>
                  </a:tcPr>
                </a:tc>
                <a:tc>
                  <a:txBody>
                    <a:bodyPr/>
                    <a:lstStyle/>
                    <a:p>
                      <a:pPr algn="l"/>
                      <a:r>
                        <a:rPr sz="850" b="0" i="0">
                          <a:solidFill>
                            <a:srgbClr val="262626"/>
                          </a:solidFill>
                          <a:latin typeface="Arial"/>
                        </a:rPr>
                        <a:t>Sullivan Middaugh</a:t>
                      </a:r>
                    </a:p>
                  </a:txBody>
                  <a:tcPr>
                    <a:solidFill>
                      <a:srgbClr val="F2F2F2"/>
                    </a:solidFill>
                  </a:tcPr>
                </a:tc>
                <a:tc>
                  <a:txBody>
                    <a:bodyPr/>
                    <a:lstStyle/>
                    <a:p>
                      <a:pPr algn="ctr"/>
                      <a:r>
                        <a:rPr sz="850" b="0" i="0">
                          <a:solidFill>
                            <a:srgbClr val="262626"/>
                          </a:solidFill>
                          <a:latin typeface="Arial"/>
                        </a:rPr>
                        <a:t>2,234</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72</a:t>
                      </a:r>
                    </a:p>
                  </a:txBody>
                  <a:tcPr>
                    <a:solidFill>
                      <a:srgbClr val="FFFFFF"/>
                    </a:solidFill>
                  </a:tcPr>
                </a:tc>
                <a:tc>
                  <a:txBody>
                    <a:bodyPr/>
                    <a:lstStyle/>
                    <a:p>
                      <a:pPr algn="l"/>
                      <a:r>
                        <a:rPr sz="850" b="0" i="0">
                          <a:solidFill>
                            <a:srgbClr val="262626"/>
                          </a:solidFill>
                          <a:latin typeface="Arial"/>
                        </a:rPr>
                        <a:t>Keller Norland</a:t>
                      </a:r>
                    </a:p>
                  </a:txBody>
                  <a:tcPr>
                    <a:solidFill>
                      <a:srgbClr val="FFFFFF"/>
                    </a:solidFill>
                  </a:tcPr>
                </a:tc>
                <a:tc>
                  <a:txBody>
                    <a:bodyPr/>
                    <a:lstStyle/>
                    <a:p>
                      <a:pPr algn="ctr"/>
                      <a:r>
                        <a:rPr sz="850" b="0" i="0">
                          <a:solidFill>
                            <a:srgbClr val="262626"/>
                          </a:solidFill>
                          <a:latin typeface="Arial"/>
                        </a:rPr>
                        <a:t>1,863</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77</a:t>
                      </a:r>
                    </a:p>
                  </a:txBody>
                  <a:tcPr>
                    <a:solidFill>
                      <a:srgbClr val="F2F2F2"/>
                    </a:solidFill>
                  </a:tcPr>
                </a:tc>
                <a:tc>
                  <a:txBody>
                    <a:bodyPr/>
                    <a:lstStyle/>
                    <a:p>
                      <a:pPr algn="l"/>
                      <a:r>
                        <a:rPr sz="850" b="0" i="0">
                          <a:solidFill>
                            <a:srgbClr val="262626"/>
                          </a:solidFill>
                          <a:latin typeface="Arial"/>
                        </a:rPr>
                        <a:t>Blake Bullard</a:t>
                      </a:r>
                    </a:p>
                  </a:txBody>
                  <a:tcPr>
                    <a:solidFill>
                      <a:srgbClr val="F2F2F2"/>
                    </a:solidFill>
                  </a:tcPr>
                </a:tc>
                <a:tc>
                  <a:txBody>
                    <a:bodyPr/>
                    <a:lstStyle/>
                    <a:p>
                      <a:pPr algn="ctr"/>
                      <a:r>
                        <a:rPr sz="850" b="0" i="0">
                          <a:solidFill>
                            <a:srgbClr val="262626"/>
                          </a:solidFill>
                          <a:latin typeface="Arial"/>
                        </a:rPr>
                        <a:t>1,761</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82</a:t>
                      </a:r>
                    </a:p>
                  </a:txBody>
                  <a:tcPr>
                    <a:solidFill>
                      <a:srgbClr val="FFFFFF"/>
                    </a:solidFill>
                  </a:tcPr>
                </a:tc>
                <a:tc>
                  <a:txBody>
                    <a:bodyPr/>
                    <a:lstStyle/>
                    <a:p>
                      <a:pPr algn="l"/>
                      <a:r>
                        <a:rPr sz="850" b="0" i="0">
                          <a:solidFill>
                            <a:srgbClr val="262626"/>
                          </a:solidFill>
                          <a:latin typeface="Arial"/>
                        </a:rPr>
                        <a:t>Chase McQueen</a:t>
                      </a:r>
                    </a:p>
                  </a:txBody>
                  <a:tcPr>
                    <a:solidFill>
                      <a:srgbClr val="FFFFFF"/>
                    </a:solidFill>
                  </a:tcPr>
                </a:tc>
                <a:tc>
                  <a:txBody>
                    <a:bodyPr/>
                    <a:lstStyle/>
                    <a:p>
                      <a:pPr algn="ctr"/>
                      <a:r>
                        <a:rPr sz="850" b="0" i="0">
                          <a:solidFill>
                            <a:srgbClr val="262626"/>
                          </a:solidFill>
                          <a:latin typeface="Arial"/>
                        </a:rPr>
                        <a:t>1,708</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107</a:t>
                      </a:r>
                    </a:p>
                  </a:txBody>
                  <a:tcPr>
                    <a:solidFill>
                      <a:srgbClr val="F2F2F2"/>
                    </a:solidFill>
                  </a:tcPr>
                </a:tc>
                <a:tc>
                  <a:txBody>
                    <a:bodyPr/>
                    <a:lstStyle/>
                    <a:p>
                      <a:pPr algn="l"/>
                      <a:r>
                        <a:rPr sz="850" b="0" i="0">
                          <a:solidFill>
                            <a:srgbClr val="262626"/>
                          </a:solidFill>
                          <a:latin typeface="Arial"/>
                        </a:rPr>
                        <a:t>Porter Middaugh</a:t>
                      </a:r>
                    </a:p>
                  </a:txBody>
                  <a:tcPr>
                    <a:solidFill>
                      <a:srgbClr val="F2F2F2"/>
                    </a:solidFill>
                  </a:tcPr>
                </a:tc>
                <a:tc>
                  <a:txBody>
                    <a:bodyPr/>
                    <a:lstStyle/>
                    <a:p>
                      <a:pPr algn="ctr"/>
                      <a:r>
                        <a:rPr sz="850" b="0" i="0">
                          <a:solidFill>
                            <a:srgbClr val="262626"/>
                          </a:solidFill>
                          <a:latin typeface="Arial"/>
                        </a:rPr>
                        <a:t>1,494</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112</a:t>
                      </a:r>
                    </a:p>
                  </a:txBody>
                  <a:tcPr>
                    <a:solidFill>
                      <a:srgbClr val="FFFFFF"/>
                    </a:solidFill>
                  </a:tcPr>
                </a:tc>
                <a:tc>
                  <a:txBody>
                    <a:bodyPr/>
                    <a:lstStyle/>
                    <a:p>
                      <a:pPr algn="l"/>
                      <a:r>
                        <a:rPr sz="850" b="0" i="0">
                          <a:solidFill>
                            <a:srgbClr val="262626"/>
                          </a:solidFill>
                          <a:latin typeface="Arial"/>
                        </a:rPr>
                        <a:t>Darr Smith</a:t>
                      </a:r>
                    </a:p>
                  </a:txBody>
                  <a:tcPr>
                    <a:solidFill>
                      <a:srgbClr val="FFFFFF"/>
                    </a:solidFill>
                  </a:tcPr>
                </a:tc>
                <a:tc>
                  <a:txBody>
                    <a:bodyPr/>
                    <a:lstStyle/>
                    <a:p>
                      <a:pPr algn="ctr"/>
                      <a:r>
                        <a:rPr sz="850" b="0" i="0">
                          <a:solidFill>
                            <a:srgbClr val="262626"/>
                          </a:solidFill>
                          <a:latin typeface="Arial"/>
                        </a:rPr>
                        <a:t>1,452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116</a:t>
                      </a:r>
                    </a:p>
                  </a:txBody>
                  <a:tcPr>
                    <a:solidFill>
                      <a:srgbClr val="F2F2F2"/>
                    </a:solidFill>
                  </a:tcPr>
                </a:tc>
                <a:tc>
                  <a:txBody>
                    <a:bodyPr/>
                    <a:lstStyle/>
                    <a:p>
                      <a:pPr algn="l"/>
                      <a:r>
                        <a:rPr sz="850" b="0" i="0">
                          <a:solidFill>
                            <a:srgbClr val="262626"/>
                          </a:solidFill>
                          <a:latin typeface="Arial"/>
                        </a:rPr>
                        <a:t>Zach Leachman</a:t>
                      </a:r>
                    </a:p>
                  </a:txBody>
                  <a:tcPr>
                    <a:solidFill>
                      <a:srgbClr val="F2F2F2"/>
                    </a:solidFill>
                  </a:tcPr>
                </a:tc>
                <a:tc>
                  <a:txBody>
                    <a:bodyPr/>
                    <a:lstStyle/>
                    <a:p>
                      <a:pPr algn="ctr"/>
                      <a:r>
                        <a:rPr sz="850" b="0" i="0">
                          <a:solidFill>
                            <a:srgbClr val="262626"/>
                          </a:solidFill>
                          <a:latin typeface="Arial"/>
                        </a:rPr>
                        <a:t>1,433</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173</a:t>
                      </a:r>
                    </a:p>
                  </a:txBody>
                  <a:tcPr>
                    <a:solidFill>
                      <a:srgbClr val="FFFFFF"/>
                    </a:solidFill>
                  </a:tcPr>
                </a:tc>
                <a:tc>
                  <a:txBody>
                    <a:bodyPr/>
                    <a:lstStyle/>
                    <a:p>
                      <a:pPr algn="l"/>
                      <a:r>
                        <a:rPr sz="850" b="0" i="0">
                          <a:solidFill>
                            <a:srgbClr val="262626"/>
                          </a:solidFill>
                          <a:latin typeface="Arial"/>
                        </a:rPr>
                        <a:t>Carter Stuhlmacher</a:t>
                      </a:r>
                    </a:p>
                  </a:txBody>
                  <a:tcPr>
                    <a:solidFill>
                      <a:srgbClr val="FFFFFF"/>
                    </a:solidFill>
                  </a:tcPr>
                </a:tc>
                <a:tc>
                  <a:txBody>
                    <a:bodyPr/>
                    <a:lstStyle/>
                    <a:p>
                      <a:pPr algn="ctr"/>
                      <a:r>
                        <a:rPr sz="850" b="0" i="0">
                          <a:solidFill>
                            <a:srgbClr val="262626"/>
                          </a:solidFill>
                          <a:latin typeface="Arial"/>
                        </a:rPr>
                        <a:t>1,041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280</a:t>
                      </a:r>
                    </a:p>
                  </a:txBody>
                  <a:tcPr>
                    <a:solidFill>
                      <a:srgbClr val="F2F2F2"/>
                    </a:solidFill>
                  </a:tcPr>
                </a:tc>
                <a:tc>
                  <a:txBody>
                    <a:bodyPr/>
                    <a:lstStyle/>
                    <a:p>
                      <a:pPr algn="l"/>
                      <a:r>
                        <a:rPr sz="850" b="0" i="0">
                          <a:solidFill>
                            <a:srgbClr val="262626"/>
                          </a:solidFill>
                          <a:latin typeface="Arial"/>
                        </a:rPr>
                        <a:t>Cole Jamieson </a:t>
                      </a:r>
                    </a:p>
                  </a:txBody>
                  <a:tcPr>
                    <a:solidFill>
                      <a:srgbClr val="F2F2F2"/>
                    </a:solidFill>
                  </a:tcPr>
                </a:tc>
                <a:tc>
                  <a:txBody>
                    <a:bodyPr/>
                    <a:lstStyle/>
                    <a:p>
                      <a:pPr algn="ctr"/>
                      <a:r>
                        <a:rPr sz="850" b="0" i="0">
                          <a:solidFill>
                            <a:srgbClr val="262626"/>
                          </a:solidFill>
                          <a:latin typeface="Arial"/>
                        </a:rPr>
                        <a:t>600</a:t>
                      </a:r>
                    </a:p>
                  </a:txBody>
                  <a:tcPr>
                    <a:solidFill>
                      <a:srgbClr val="F2F2F2"/>
                    </a:solidFill>
                  </a:tcPr>
                </a:tc>
                <a:tc>
                  <a:txBody>
                    <a:bodyPr/>
                    <a:lstStyle/>
                    <a:p>
                      <a:pPr algn="ctr"/>
                      <a:r>
                        <a:rPr sz="850" b="0" i="0">
                          <a:solidFill>
                            <a:srgbClr val="262626"/>
                          </a:solidFill>
                          <a:latin typeface="Arial"/>
                        </a:rPr>
                        <a:t>4</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381</a:t>
                      </a:r>
                    </a:p>
                  </a:txBody>
                  <a:tcPr>
                    <a:solidFill>
                      <a:srgbClr val="FFFFFF"/>
                    </a:solidFill>
                  </a:tcPr>
                </a:tc>
                <a:tc>
                  <a:txBody>
                    <a:bodyPr/>
                    <a:lstStyle/>
                    <a:p>
                      <a:pPr algn="l"/>
                      <a:r>
                        <a:rPr sz="850" b="0" i="0">
                          <a:solidFill>
                            <a:srgbClr val="262626"/>
                          </a:solidFill>
                          <a:latin typeface="Arial"/>
                        </a:rPr>
                        <a:t>Isaac Lamprecht</a:t>
                      </a:r>
                    </a:p>
                  </a:txBody>
                  <a:tcPr>
                    <a:solidFill>
                      <a:srgbClr val="FFFFFF"/>
                    </a:solidFill>
                  </a:tcPr>
                </a:tc>
                <a:tc>
                  <a:txBody>
                    <a:bodyPr/>
                    <a:lstStyle/>
                    <a:p>
                      <a:pPr algn="ctr"/>
                      <a:r>
                        <a:rPr sz="850" b="0" i="0">
                          <a:solidFill>
                            <a:srgbClr val="262626"/>
                          </a:solidFill>
                          <a:latin typeface="Arial"/>
                        </a:rPr>
                        <a:t>375</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15"/>
                  </a:ext>
                </a:extLst>
              </a:tr>
            </a:tbl>
          </a:graphicData>
        </a:graphic>
      </p:graphicFrame>
      <p:sp>
        <p:nvSpPr>
          <p:cNvPr id="33" name="Rectangle 32"/>
          <p:cNvSpPr/>
          <p:nvPr/>
        </p:nvSpPr>
        <p:spPr>
          <a:xfrm>
            <a:off x="6126480" y="2606040"/>
            <a:ext cx="5788152" cy="292608"/>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126480" y="2633472"/>
            <a:ext cx="5788152" cy="237744"/>
          </a:xfrm>
          <a:prstGeom prst="rect">
            <a:avLst/>
          </a:prstGeom>
          <a:noFill/>
        </p:spPr>
        <p:txBody>
          <a:bodyPr wrap="square">
            <a:spAutoFit/>
          </a:bodyPr>
          <a:lstStyle/>
          <a:p>
            <a:pPr algn="ctr"/>
            <a:r>
              <a:rPr sz="1100" b="1" i="0">
                <a:solidFill>
                  <a:srgbClr val="FFFFFF"/>
                </a:solidFill>
                <a:latin typeface="Arial"/>
              </a:rPr>
              <a:t>ELITE WOMEN</a:t>
            </a:r>
          </a:p>
        </p:txBody>
      </p:sp>
      <p:graphicFrame>
        <p:nvGraphicFramePr>
          <p:cNvPr id="35" name="Table 34"/>
          <p:cNvGraphicFramePr>
            <a:graphicFrameLocks noGrp="1"/>
          </p:cNvGraphicFramePr>
          <p:nvPr/>
        </p:nvGraphicFramePr>
        <p:xfrm>
          <a:off x="6126480" y="2935224"/>
          <a:ext cx="5787236" cy="3589020"/>
        </p:xfrm>
        <a:graphic>
          <a:graphicData uri="http://schemas.openxmlformats.org/drawingml/2006/table">
            <a:tbl>
              <a:tblPr firstRow="1" bandRow="1">
                <a:tableStyleId>{5C22544A-7EE6-4342-B048-85BDC9FD1C3A}</a:tableStyleId>
              </a:tblPr>
              <a:tblGrid>
                <a:gridCol w="783640">
                  <a:extLst>
                    <a:ext uri="{9D8B030D-6E8A-4147-A177-3AD203B41FA5}">
                      <a16:colId xmlns:a16="http://schemas.microsoft.com/office/drawing/2014/main" val="20000"/>
                    </a:ext>
                  </a:extLst>
                </a:gridCol>
                <a:gridCol w="2531973">
                  <a:extLst>
                    <a:ext uri="{9D8B030D-6E8A-4147-A177-3AD203B41FA5}">
                      <a16:colId xmlns:a16="http://schemas.microsoft.com/office/drawing/2014/main" val="20001"/>
                    </a:ext>
                  </a:extLst>
                </a:gridCol>
                <a:gridCol w="1145743">
                  <a:extLst>
                    <a:ext uri="{9D8B030D-6E8A-4147-A177-3AD203B41FA5}">
                      <a16:colId xmlns:a16="http://schemas.microsoft.com/office/drawing/2014/main" val="20002"/>
                    </a:ext>
                  </a:extLst>
                </a:gridCol>
                <a:gridCol w="662940">
                  <a:extLst>
                    <a:ext uri="{9D8B030D-6E8A-4147-A177-3AD203B41FA5}">
                      <a16:colId xmlns:a16="http://schemas.microsoft.com/office/drawing/2014/main" val="20003"/>
                    </a:ext>
                  </a:extLst>
                </a:gridCol>
                <a:gridCol w="662940">
                  <a:extLst>
                    <a:ext uri="{9D8B030D-6E8A-4147-A177-3AD203B41FA5}">
                      <a16:colId xmlns:a16="http://schemas.microsoft.com/office/drawing/2014/main" val="20004"/>
                    </a:ext>
                  </a:extLst>
                </a:gridCol>
              </a:tblGrid>
              <a:tr h="224028">
                <a:tc>
                  <a:txBody>
                    <a:bodyPr/>
                    <a:lstStyle/>
                    <a:p>
                      <a:pPr algn="ctr"/>
                      <a:r>
                        <a:rPr sz="900" b="1" i="0">
                          <a:solidFill>
                            <a:srgbClr val="FFFFFF"/>
                          </a:solidFill>
                          <a:latin typeface="Arial"/>
                        </a:rPr>
                        <a:t>Rank</a:t>
                      </a:r>
                    </a:p>
                  </a:txBody>
                  <a:tcPr>
                    <a:solidFill>
                      <a:srgbClr val="002060"/>
                    </a:solidFill>
                  </a:tcPr>
                </a:tc>
                <a:tc>
                  <a:txBody>
                    <a:bodyPr/>
                    <a:lstStyle/>
                    <a:p>
                      <a:pPr algn="l"/>
                      <a:r>
                        <a:rPr sz="900" b="1" i="0">
                          <a:solidFill>
                            <a:srgbClr val="FFFFFF"/>
                          </a:solidFill>
                          <a:latin typeface="Arial"/>
                        </a:rPr>
                        <a:t>Athlete</a:t>
                      </a:r>
                    </a:p>
                  </a:txBody>
                  <a:tcPr>
                    <a:solidFill>
                      <a:srgbClr val="002060"/>
                    </a:solidFill>
                  </a:tcPr>
                </a:tc>
                <a:tc>
                  <a:txBody>
                    <a:bodyPr/>
                    <a:lstStyle/>
                    <a:p>
                      <a:pPr algn="ctr"/>
                      <a:r>
                        <a:rPr sz="900" b="1" i="0">
                          <a:solidFill>
                            <a:srgbClr val="FFFFFF"/>
                          </a:solidFill>
                          <a:latin typeface="Arial"/>
                        </a:rPr>
                        <a:t>Points</a:t>
                      </a:r>
                    </a:p>
                  </a:txBody>
                  <a:tcPr>
                    <a:solidFill>
                      <a:srgbClr val="002060"/>
                    </a:solidFill>
                  </a:tcPr>
                </a:tc>
                <a:tc>
                  <a:txBody>
                    <a:bodyPr/>
                    <a:lstStyle/>
                    <a:p>
                      <a:pPr algn="ctr"/>
                      <a:r>
                        <a:rPr sz="900" b="1" i="0">
                          <a:solidFill>
                            <a:srgbClr val="FFFFFF"/>
                          </a:solidFill>
                          <a:latin typeface="Arial"/>
                        </a:rPr>
                        <a:t>Curr</a:t>
                      </a:r>
                    </a:p>
                  </a:txBody>
                  <a:tcPr>
                    <a:solidFill>
                      <a:srgbClr val="002060"/>
                    </a:solidFill>
                  </a:tcPr>
                </a:tc>
                <a:tc>
                  <a:txBody>
                    <a:bodyPr/>
                    <a:lstStyle/>
                    <a:p>
                      <a:pPr algn="ctr"/>
                      <a:r>
                        <a:rPr sz="900" b="1" i="0">
                          <a:solidFill>
                            <a:srgbClr val="FFFFFF"/>
                          </a:solidFill>
                          <a:latin typeface="Arial"/>
                        </a:rPr>
                        <a:t>Prev</a:t>
                      </a:r>
                    </a:p>
                  </a:txBody>
                  <a:tcPr>
                    <a:solidFill>
                      <a:srgbClr val="002060"/>
                    </a:solidFill>
                  </a:tcPr>
                </a:tc>
                <a:extLst>
                  <a:ext uri="{0D108BD9-81ED-4DB2-BD59-A6C34878D82A}">
                    <a16:rowId xmlns:a16="http://schemas.microsoft.com/office/drawing/2014/main" val="10000"/>
                  </a:ext>
                </a:extLst>
              </a:tr>
              <a:tr h="224028">
                <a:tc>
                  <a:txBody>
                    <a:bodyPr/>
                    <a:lstStyle/>
                    <a:p>
                      <a:pPr algn="ctr"/>
                      <a:r>
                        <a:rPr sz="850" b="1" i="0">
                          <a:solidFill>
                            <a:srgbClr val="262626"/>
                          </a:solidFill>
                          <a:latin typeface="Arial"/>
                        </a:rPr>
                        <a:t>9</a:t>
                      </a:r>
                    </a:p>
                  </a:txBody>
                  <a:tcPr>
                    <a:solidFill>
                      <a:srgbClr val="FFFFFF"/>
                    </a:solidFill>
                  </a:tcPr>
                </a:tc>
                <a:tc>
                  <a:txBody>
                    <a:bodyPr/>
                    <a:lstStyle/>
                    <a:p>
                      <a:pPr algn="l"/>
                      <a:r>
                        <a:rPr sz="850" b="0" i="0">
                          <a:solidFill>
                            <a:srgbClr val="262626"/>
                          </a:solidFill>
                          <a:latin typeface="Arial"/>
                        </a:rPr>
                        <a:t>Taylor Spivey</a:t>
                      </a:r>
                    </a:p>
                  </a:txBody>
                  <a:tcPr>
                    <a:solidFill>
                      <a:srgbClr val="FFFFFF"/>
                    </a:solidFill>
                  </a:tcPr>
                </a:tc>
                <a:tc>
                  <a:txBody>
                    <a:bodyPr/>
                    <a:lstStyle/>
                    <a:p>
                      <a:pPr algn="ctr"/>
                      <a:r>
                        <a:rPr sz="850" b="0" i="0">
                          <a:solidFill>
                            <a:srgbClr val="262626"/>
                          </a:solidFill>
                          <a:latin typeface="Arial"/>
                        </a:rPr>
                        <a:t>5,091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3</a:t>
                      </a:r>
                    </a:p>
                  </a:txBody>
                  <a:tcPr>
                    <a:solidFill>
                      <a:srgbClr val="FFFFFF"/>
                    </a:solidFill>
                  </a:tcPr>
                </a:tc>
                <a:extLst>
                  <a:ext uri="{0D108BD9-81ED-4DB2-BD59-A6C34878D82A}">
                    <a16:rowId xmlns:a16="http://schemas.microsoft.com/office/drawing/2014/main" val="10001"/>
                  </a:ext>
                </a:extLst>
              </a:tr>
              <a:tr h="224028">
                <a:tc>
                  <a:txBody>
                    <a:bodyPr/>
                    <a:lstStyle/>
                    <a:p>
                      <a:pPr algn="ctr"/>
                      <a:r>
                        <a:rPr sz="850" b="1" i="0">
                          <a:solidFill>
                            <a:srgbClr val="262626"/>
                          </a:solidFill>
                          <a:latin typeface="Arial"/>
                        </a:rPr>
                        <a:t>16</a:t>
                      </a:r>
                    </a:p>
                  </a:txBody>
                  <a:tcPr>
                    <a:solidFill>
                      <a:srgbClr val="F2F2F2"/>
                    </a:solidFill>
                  </a:tcPr>
                </a:tc>
                <a:tc>
                  <a:txBody>
                    <a:bodyPr/>
                    <a:lstStyle/>
                    <a:p>
                      <a:pPr algn="l"/>
                      <a:r>
                        <a:rPr sz="850" b="0" i="0">
                          <a:solidFill>
                            <a:srgbClr val="262626"/>
                          </a:solidFill>
                          <a:latin typeface="Arial"/>
                        </a:rPr>
                        <a:t>Gina Sereno</a:t>
                      </a:r>
                    </a:p>
                  </a:txBody>
                  <a:tcPr>
                    <a:solidFill>
                      <a:srgbClr val="F2F2F2"/>
                    </a:solidFill>
                  </a:tcPr>
                </a:tc>
                <a:tc>
                  <a:txBody>
                    <a:bodyPr/>
                    <a:lstStyle/>
                    <a:p>
                      <a:pPr algn="ctr"/>
                      <a:r>
                        <a:rPr sz="850" b="0" i="0">
                          <a:solidFill>
                            <a:srgbClr val="262626"/>
                          </a:solidFill>
                          <a:latin typeface="Arial"/>
                        </a:rPr>
                        <a:t>3,205</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2"/>
                  </a:ext>
                </a:extLst>
              </a:tr>
              <a:tr h="224028">
                <a:tc>
                  <a:txBody>
                    <a:bodyPr/>
                    <a:lstStyle/>
                    <a:p>
                      <a:pPr algn="ctr"/>
                      <a:r>
                        <a:rPr sz="850" b="1" i="0">
                          <a:solidFill>
                            <a:srgbClr val="262626"/>
                          </a:solidFill>
                          <a:latin typeface="Arial"/>
                        </a:rPr>
                        <a:t>26</a:t>
                      </a:r>
                    </a:p>
                  </a:txBody>
                  <a:tcPr>
                    <a:solidFill>
                      <a:srgbClr val="FFFFFF"/>
                    </a:solidFill>
                  </a:tcPr>
                </a:tc>
                <a:tc>
                  <a:txBody>
                    <a:bodyPr/>
                    <a:lstStyle/>
                    <a:p>
                      <a:pPr algn="l"/>
                      <a:r>
                        <a:rPr sz="850" b="0" i="0">
                          <a:solidFill>
                            <a:srgbClr val="262626"/>
                          </a:solidFill>
                          <a:latin typeface="Arial"/>
                        </a:rPr>
                        <a:t>Gwen Jorgensen</a:t>
                      </a:r>
                    </a:p>
                  </a:txBody>
                  <a:tcPr>
                    <a:solidFill>
                      <a:srgbClr val="FFFFFF"/>
                    </a:solidFill>
                  </a:tcPr>
                </a:tc>
                <a:tc>
                  <a:txBody>
                    <a:bodyPr/>
                    <a:lstStyle/>
                    <a:p>
                      <a:pPr algn="ctr"/>
                      <a:r>
                        <a:rPr sz="850" b="0" i="0">
                          <a:solidFill>
                            <a:srgbClr val="262626"/>
                          </a:solidFill>
                          <a:latin typeface="Arial"/>
                        </a:rPr>
                        <a:t>2,700</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3"/>
                  </a:ext>
                </a:extLst>
              </a:tr>
              <a:tr h="224028">
                <a:tc>
                  <a:txBody>
                    <a:bodyPr/>
                    <a:lstStyle/>
                    <a:p>
                      <a:pPr algn="ctr"/>
                      <a:r>
                        <a:rPr sz="850" b="1" i="0">
                          <a:solidFill>
                            <a:srgbClr val="262626"/>
                          </a:solidFill>
                          <a:latin typeface="Arial"/>
                        </a:rPr>
                        <a:t>38</a:t>
                      </a:r>
                    </a:p>
                  </a:txBody>
                  <a:tcPr>
                    <a:solidFill>
                      <a:srgbClr val="F2F2F2"/>
                    </a:solidFill>
                  </a:tcPr>
                </a:tc>
                <a:tc>
                  <a:txBody>
                    <a:bodyPr/>
                    <a:lstStyle/>
                    <a:p>
                      <a:pPr algn="l"/>
                      <a:r>
                        <a:rPr sz="850" b="0" i="0">
                          <a:solidFill>
                            <a:srgbClr val="262626"/>
                          </a:solidFill>
                          <a:latin typeface="Arial"/>
                        </a:rPr>
                        <a:t>Danielle Orie</a:t>
                      </a:r>
                    </a:p>
                  </a:txBody>
                  <a:tcPr>
                    <a:solidFill>
                      <a:srgbClr val="F2F2F2"/>
                    </a:solidFill>
                  </a:tcPr>
                </a:tc>
                <a:tc>
                  <a:txBody>
                    <a:bodyPr/>
                    <a:lstStyle/>
                    <a:p>
                      <a:pPr algn="ctr"/>
                      <a:r>
                        <a:rPr sz="850" b="0" i="0">
                          <a:solidFill>
                            <a:srgbClr val="262626"/>
                          </a:solidFill>
                          <a:latin typeface="Arial"/>
                        </a:rPr>
                        <a:t>2,432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4"/>
                  </a:ext>
                </a:extLst>
              </a:tr>
              <a:tr h="224028">
                <a:tc>
                  <a:txBody>
                    <a:bodyPr/>
                    <a:lstStyle/>
                    <a:p>
                      <a:pPr algn="ctr"/>
                      <a:r>
                        <a:rPr sz="850" b="1" i="0">
                          <a:solidFill>
                            <a:srgbClr val="262626"/>
                          </a:solidFill>
                          <a:latin typeface="Arial"/>
                        </a:rPr>
                        <a:t>40</a:t>
                      </a:r>
                    </a:p>
                  </a:txBody>
                  <a:tcPr>
                    <a:solidFill>
                      <a:srgbClr val="FFFFFF"/>
                    </a:solidFill>
                  </a:tcPr>
                </a:tc>
                <a:tc>
                  <a:txBody>
                    <a:bodyPr/>
                    <a:lstStyle/>
                    <a:p>
                      <a:pPr algn="l"/>
                      <a:r>
                        <a:rPr sz="850" b="0" i="0">
                          <a:solidFill>
                            <a:srgbClr val="262626"/>
                          </a:solidFill>
                          <a:latin typeface="Arial"/>
                        </a:rPr>
                        <a:t>Erika Ackerlund</a:t>
                      </a:r>
                    </a:p>
                  </a:txBody>
                  <a:tcPr>
                    <a:solidFill>
                      <a:srgbClr val="FFFFFF"/>
                    </a:solidFill>
                  </a:tcPr>
                </a:tc>
                <a:tc>
                  <a:txBody>
                    <a:bodyPr/>
                    <a:lstStyle/>
                    <a:p>
                      <a:pPr algn="ctr"/>
                      <a:r>
                        <a:rPr sz="850" b="0" i="0">
                          <a:solidFill>
                            <a:srgbClr val="262626"/>
                          </a:solidFill>
                          <a:latin typeface="Arial"/>
                        </a:rPr>
                        <a:t>2,341</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05"/>
                  </a:ext>
                </a:extLst>
              </a:tr>
              <a:tr h="224028">
                <a:tc>
                  <a:txBody>
                    <a:bodyPr/>
                    <a:lstStyle/>
                    <a:p>
                      <a:pPr algn="ctr"/>
                      <a:r>
                        <a:rPr sz="850" b="1" i="0">
                          <a:solidFill>
                            <a:srgbClr val="262626"/>
                          </a:solidFill>
                          <a:latin typeface="Arial"/>
                        </a:rPr>
                        <a:t>47</a:t>
                      </a:r>
                    </a:p>
                  </a:txBody>
                  <a:tcPr>
                    <a:solidFill>
                      <a:srgbClr val="F2F2F2"/>
                    </a:solidFill>
                  </a:tcPr>
                </a:tc>
                <a:tc>
                  <a:txBody>
                    <a:bodyPr/>
                    <a:lstStyle/>
                    <a:p>
                      <a:pPr algn="l"/>
                      <a:r>
                        <a:rPr sz="850" b="0" i="0">
                          <a:solidFill>
                            <a:srgbClr val="262626"/>
                          </a:solidFill>
                          <a:latin typeface="Arial"/>
                        </a:rPr>
                        <a:t>Kelly Wetteland</a:t>
                      </a:r>
                    </a:p>
                  </a:txBody>
                  <a:tcPr>
                    <a:solidFill>
                      <a:srgbClr val="F2F2F2"/>
                    </a:solidFill>
                  </a:tcPr>
                </a:tc>
                <a:tc>
                  <a:txBody>
                    <a:bodyPr/>
                    <a:lstStyle/>
                    <a:p>
                      <a:pPr algn="ctr"/>
                      <a:r>
                        <a:rPr sz="850" b="0" i="0">
                          <a:solidFill>
                            <a:srgbClr val="262626"/>
                          </a:solidFill>
                          <a:latin typeface="Arial"/>
                        </a:rPr>
                        <a:t>2,109</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3</a:t>
                      </a:r>
                    </a:p>
                  </a:txBody>
                  <a:tcPr>
                    <a:solidFill>
                      <a:srgbClr val="F2F2F2"/>
                    </a:solidFill>
                  </a:tcPr>
                </a:tc>
                <a:extLst>
                  <a:ext uri="{0D108BD9-81ED-4DB2-BD59-A6C34878D82A}">
                    <a16:rowId xmlns:a16="http://schemas.microsoft.com/office/drawing/2014/main" val="10006"/>
                  </a:ext>
                </a:extLst>
              </a:tr>
              <a:tr h="224028">
                <a:tc>
                  <a:txBody>
                    <a:bodyPr/>
                    <a:lstStyle/>
                    <a:p>
                      <a:pPr algn="ctr"/>
                      <a:r>
                        <a:rPr sz="850" b="1" i="0">
                          <a:solidFill>
                            <a:srgbClr val="262626"/>
                          </a:solidFill>
                          <a:latin typeface="Arial"/>
                        </a:rPr>
                        <a:t>52</a:t>
                      </a:r>
                    </a:p>
                  </a:txBody>
                  <a:tcPr>
                    <a:solidFill>
                      <a:srgbClr val="FFFFFF"/>
                    </a:solidFill>
                  </a:tcPr>
                </a:tc>
                <a:tc>
                  <a:txBody>
                    <a:bodyPr/>
                    <a:lstStyle/>
                    <a:p>
                      <a:pPr algn="l"/>
                      <a:r>
                        <a:rPr sz="850" b="0" i="0">
                          <a:solidFill>
                            <a:srgbClr val="262626"/>
                          </a:solidFill>
                          <a:latin typeface="Arial"/>
                        </a:rPr>
                        <a:t>Taylor Knibb</a:t>
                      </a:r>
                    </a:p>
                  </a:txBody>
                  <a:tcPr>
                    <a:solidFill>
                      <a:srgbClr val="FFFFFF"/>
                    </a:solidFill>
                  </a:tcPr>
                </a:tc>
                <a:tc>
                  <a:txBody>
                    <a:bodyPr/>
                    <a:lstStyle/>
                    <a:p>
                      <a:pPr algn="ctr"/>
                      <a:r>
                        <a:rPr sz="850" b="0" i="0">
                          <a:solidFill>
                            <a:srgbClr val="262626"/>
                          </a:solidFill>
                          <a:latin typeface="Arial"/>
                        </a:rPr>
                        <a:t>2,047</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tc>
                  <a:txBody>
                    <a:bodyPr/>
                    <a:lstStyle/>
                    <a:p>
                      <a:pPr algn="ctr"/>
                      <a:r>
                        <a:rPr sz="850" b="0" i="0">
                          <a:solidFill>
                            <a:srgbClr val="262626"/>
                          </a:solidFill>
                          <a:latin typeface="Arial"/>
                        </a:rPr>
                        <a:t>—</a:t>
                      </a:r>
                    </a:p>
                  </a:txBody>
                  <a:tcPr>
                    <a:solidFill>
                      <a:srgbClr val="FFFFFF"/>
                    </a:solidFill>
                  </a:tcPr>
                </a:tc>
                <a:extLst>
                  <a:ext uri="{0D108BD9-81ED-4DB2-BD59-A6C34878D82A}">
                    <a16:rowId xmlns:a16="http://schemas.microsoft.com/office/drawing/2014/main" val="10007"/>
                  </a:ext>
                </a:extLst>
              </a:tr>
              <a:tr h="224028">
                <a:tc>
                  <a:txBody>
                    <a:bodyPr/>
                    <a:lstStyle/>
                    <a:p>
                      <a:pPr algn="ctr"/>
                      <a:r>
                        <a:rPr sz="850" b="1" i="0">
                          <a:solidFill>
                            <a:srgbClr val="262626"/>
                          </a:solidFill>
                          <a:latin typeface="Arial"/>
                        </a:rPr>
                        <a:t>60</a:t>
                      </a:r>
                    </a:p>
                  </a:txBody>
                  <a:tcPr>
                    <a:solidFill>
                      <a:srgbClr val="F2F2F2"/>
                    </a:solidFill>
                  </a:tcPr>
                </a:tc>
                <a:tc>
                  <a:txBody>
                    <a:bodyPr/>
                    <a:lstStyle/>
                    <a:p>
                      <a:pPr algn="l"/>
                      <a:r>
                        <a:rPr sz="850" b="0" i="0">
                          <a:solidFill>
                            <a:srgbClr val="262626"/>
                          </a:solidFill>
                          <a:latin typeface="Arial"/>
                        </a:rPr>
                        <a:t>Naomi Ruff</a:t>
                      </a:r>
                    </a:p>
                  </a:txBody>
                  <a:tcPr>
                    <a:solidFill>
                      <a:srgbClr val="F2F2F2"/>
                    </a:solidFill>
                  </a:tcPr>
                </a:tc>
                <a:tc>
                  <a:txBody>
                    <a:bodyPr/>
                    <a:lstStyle/>
                    <a:p>
                      <a:pPr algn="ctr"/>
                      <a:r>
                        <a:rPr sz="850" b="0" i="0">
                          <a:solidFill>
                            <a:srgbClr val="262626"/>
                          </a:solidFill>
                          <a:latin typeface="Arial"/>
                        </a:rPr>
                        <a:t>1,997</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extLst>
                  <a:ext uri="{0D108BD9-81ED-4DB2-BD59-A6C34878D82A}">
                    <a16:rowId xmlns:a16="http://schemas.microsoft.com/office/drawing/2014/main" val="10008"/>
                  </a:ext>
                </a:extLst>
              </a:tr>
              <a:tr h="224028">
                <a:tc>
                  <a:txBody>
                    <a:bodyPr/>
                    <a:lstStyle/>
                    <a:p>
                      <a:pPr algn="ctr"/>
                      <a:r>
                        <a:rPr sz="850" b="1" i="0">
                          <a:solidFill>
                            <a:srgbClr val="262626"/>
                          </a:solidFill>
                          <a:latin typeface="Arial"/>
                        </a:rPr>
                        <a:t>86</a:t>
                      </a:r>
                    </a:p>
                  </a:txBody>
                  <a:tcPr>
                    <a:solidFill>
                      <a:srgbClr val="FFFFFF"/>
                    </a:solidFill>
                  </a:tcPr>
                </a:tc>
                <a:tc>
                  <a:txBody>
                    <a:bodyPr/>
                    <a:lstStyle/>
                    <a:p>
                      <a:pPr algn="l"/>
                      <a:r>
                        <a:rPr sz="850" b="0" i="0">
                          <a:solidFill>
                            <a:srgbClr val="262626"/>
                          </a:solidFill>
                          <a:latin typeface="Arial"/>
                        </a:rPr>
                        <a:t>Kirsten Kasper</a:t>
                      </a:r>
                    </a:p>
                  </a:txBody>
                  <a:tcPr>
                    <a:solidFill>
                      <a:srgbClr val="FFFFFF"/>
                    </a:solidFill>
                  </a:tcPr>
                </a:tc>
                <a:tc>
                  <a:txBody>
                    <a:bodyPr/>
                    <a:lstStyle/>
                    <a:p>
                      <a:pPr algn="ctr"/>
                      <a:r>
                        <a:rPr sz="850" b="0" i="0">
                          <a:solidFill>
                            <a:srgbClr val="262626"/>
                          </a:solidFill>
                          <a:latin typeface="Arial"/>
                        </a:rPr>
                        <a:t>1,551</a:t>
                      </a:r>
                    </a:p>
                  </a:txBody>
                  <a:tcPr>
                    <a:solidFill>
                      <a:srgbClr val="FFFFFF"/>
                    </a:solidFill>
                  </a:tcPr>
                </a:tc>
                <a:tc>
                  <a:txBody>
                    <a:bodyPr/>
                    <a:lstStyle/>
                    <a:p>
                      <a:pPr algn="ctr"/>
                      <a:r>
                        <a:rPr sz="850" b="0" i="0">
                          <a:solidFill>
                            <a:srgbClr val="262626"/>
                          </a:solidFill>
                          <a:latin typeface="Arial"/>
                        </a:rPr>
                        <a:t>5</a:t>
                      </a:r>
                    </a:p>
                  </a:txBody>
                  <a:tcPr>
                    <a:solidFill>
                      <a:srgbClr val="FFFFFF"/>
                    </a:solidFill>
                  </a:tcPr>
                </a:tc>
                <a:tc>
                  <a:txBody>
                    <a:bodyPr/>
                    <a:lstStyle/>
                    <a:p>
                      <a:pPr algn="ctr"/>
                      <a:r>
                        <a:rPr sz="850" b="0" i="0">
                          <a:solidFill>
                            <a:srgbClr val="262626"/>
                          </a:solidFill>
                          <a:latin typeface="Arial"/>
                        </a:rPr>
                        <a:t>2</a:t>
                      </a:r>
                    </a:p>
                  </a:txBody>
                  <a:tcPr>
                    <a:solidFill>
                      <a:srgbClr val="FFFFFF"/>
                    </a:solidFill>
                  </a:tcPr>
                </a:tc>
                <a:extLst>
                  <a:ext uri="{0D108BD9-81ED-4DB2-BD59-A6C34878D82A}">
                    <a16:rowId xmlns:a16="http://schemas.microsoft.com/office/drawing/2014/main" val="10009"/>
                  </a:ext>
                </a:extLst>
              </a:tr>
              <a:tr h="224028">
                <a:tc>
                  <a:txBody>
                    <a:bodyPr/>
                    <a:lstStyle/>
                    <a:p>
                      <a:pPr algn="ctr"/>
                      <a:r>
                        <a:rPr sz="850" b="1" i="0">
                          <a:solidFill>
                            <a:srgbClr val="262626"/>
                          </a:solidFill>
                          <a:latin typeface="Arial"/>
                        </a:rPr>
                        <a:t>87</a:t>
                      </a:r>
                    </a:p>
                  </a:txBody>
                  <a:tcPr>
                    <a:solidFill>
                      <a:srgbClr val="F2F2F2"/>
                    </a:solidFill>
                  </a:tcPr>
                </a:tc>
                <a:tc>
                  <a:txBody>
                    <a:bodyPr/>
                    <a:lstStyle/>
                    <a:p>
                      <a:pPr algn="l"/>
                      <a:r>
                        <a:rPr sz="850" b="0" i="0">
                          <a:solidFill>
                            <a:srgbClr val="262626"/>
                          </a:solidFill>
                          <a:latin typeface="Arial"/>
                        </a:rPr>
                        <a:t>Joy Gill</a:t>
                      </a:r>
                    </a:p>
                  </a:txBody>
                  <a:tcPr>
                    <a:solidFill>
                      <a:srgbClr val="F2F2F2"/>
                    </a:solidFill>
                  </a:tcPr>
                </a:tc>
                <a:tc>
                  <a:txBody>
                    <a:bodyPr/>
                    <a:lstStyle/>
                    <a:p>
                      <a:pPr algn="ctr"/>
                      <a:r>
                        <a:rPr sz="850" b="0" i="0">
                          <a:solidFill>
                            <a:srgbClr val="262626"/>
                          </a:solidFill>
                          <a:latin typeface="Arial"/>
                        </a:rPr>
                        <a:t>1,547</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5</a:t>
                      </a:r>
                    </a:p>
                  </a:txBody>
                  <a:tcPr>
                    <a:solidFill>
                      <a:srgbClr val="F2F2F2"/>
                    </a:solidFill>
                  </a:tcPr>
                </a:tc>
                <a:extLst>
                  <a:ext uri="{0D108BD9-81ED-4DB2-BD59-A6C34878D82A}">
                    <a16:rowId xmlns:a16="http://schemas.microsoft.com/office/drawing/2014/main" val="10010"/>
                  </a:ext>
                </a:extLst>
              </a:tr>
              <a:tr h="224028">
                <a:tc>
                  <a:txBody>
                    <a:bodyPr/>
                    <a:lstStyle/>
                    <a:p>
                      <a:pPr algn="ctr"/>
                      <a:r>
                        <a:rPr sz="850" b="1" i="0">
                          <a:solidFill>
                            <a:srgbClr val="262626"/>
                          </a:solidFill>
                          <a:latin typeface="Arial"/>
                        </a:rPr>
                        <a:t>88</a:t>
                      </a:r>
                    </a:p>
                  </a:txBody>
                  <a:tcPr>
                    <a:solidFill>
                      <a:srgbClr val="FFFFFF"/>
                    </a:solidFill>
                  </a:tcPr>
                </a:tc>
                <a:tc>
                  <a:txBody>
                    <a:bodyPr/>
                    <a:lstStyle/>
                    <a:p>
                      <a:pPr algn="l"/>
                      <a:r>
                        <a:rPr sz="850" b="0" i="0">
                          <a:solidFill>
                            <a:srgbClr val="262626"/>
                          </a:solidFill>
                          <a:latin typeface="Arial"/>
                        </a:rPr>
                        <a:t>Eleanor Beveridge</a:t>
                      </a:r>
                    </a:p>
                  </a:txBody>
                  <a:tcPr>
                    <a:solidFill>
                      <a:srgbClr val="FFFFFF"/>
                    </a:solidFill>
                  </a:tcPr>
                </a:tc>
                <a:tc>
                  <a:txBody>
                    <a:bodyPr/>
                    <a:lstStyle/>
                    <a:p>
                      <a:pPr algn="ctr"/>
                      <a:r>
                        <a:rPr sz="850" b="0" i="0">
                          <a:solidFill>
                            <a:srgbClr val="262626"/>
                          </a:solidFill>
                          <a:latin typeface="Arial"/>
                        </a:rPr>
                        <a:t>1,544</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1"/>
                  </a:ext>
                </a:extLst>
              </a:tr>
              <a:tr h="224028">
                <a:tc>
                  <a:txBody>
                    <a:bodyPr/>
                    <a:lstStyle/>
                    <a:p>
                      <a:pPr algn="ctr"/>
                      <a:r>
                        <a:rPr sz="850" b="1" i="0">
                          <a:solidFill>
                            <a:srgbClr val="262626"/>
                          </a:solidFill>
                          <a:latin typeface="Arial"/>
                        </a:rPr>
                        <a:t>113</a:t>
                      </a:r>
                    </a:p>
                  </a:txBody>
                  <a:tcPr>
                    <a:solidFill>
                      <a:srgbClr val="F2F2F2"/>
                    </a:solidFill>
                  </a:tcPr>
                </a:tc>
                <a:tc>
                  <a:txBody>
                    <a:bodyPr/>
                    <a:lstStyle/>
                    <a:p>
                      <a:pPr algn="l"/>
                      <a:r>
                        <a:rPr sz="850" b="0" i="0">
                          <a:solidFill>
                            <a:srgbClr val="262626"/>
                          </a:solidFill>
                          <a:latin typeface="Arial"/>
                        </a:rPr>
                        <a:t>Rachel Werking</a:t>
                      </a:r>
                    </a:p>
                  </a:txBody>
                  <a:tcPr>
                    <a:solidFill>
                      <a:srgbClr val="F2F2F2"/>
                    </a:solidFill>
                  </a:tcPr>
                </a:tc>
                <a:tc>
                  <a:txBody>
                    <a:bodyPr/>
                    <a:lstStyle/>
                    <a:p>
                      <a:pPr algn="ctr"/>
                      <a:r>
                        <a:rPr sz="850" b="0" i="0">
                          <a:solidFill>
                            <a:srgbClr val="262626"/>
                          </a:solidFill>
                          <a:latin typeface="Arial"/>
                        </a:rPr>
                        <a:t>1,302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2</a:t>
                      </a:r>
                    </a:p>
                  </a:txBody>
                  <a:tcPr>
                    <a:solidFill>
                      <a:srgbClr val="F2F2F2"/>
                    </a:solidFill>
                  </a:tcPr>
                </a:tc>
                <a:extLst>
                  <a:ext uri="{0D108BD9-81ED-4DB2-BD59-A6C34878D82A}">
                    <a16:rowId xmlns:a16="http://schemas.microsoft.com/office/drawing/2014/main" val="10012"/>
                  </a:ext>
                </a:extLst>
              </a:tr>
              <a:tr h="224028">
                <a:tc>
                  <a:txBody>
                    <a:bodyPr/>
                    <a:lstStyle/>
                    <a:p>
                      <a:pPr algn="ctr"/>
                      <a:r>
                        <a:rPr sz="850" b="1" i="0">
                          <a:solidFill>
                            <a:srgbClr val="262626"/>
                          </a:solidFill>
                          <a:latin typeface="Arial"/>
                        </a:rPr>
                        <a:t>124</a:t>
                      </a:r>
                    </a:p>
                  </a:txBody>
                  <a:tcPr>
                    <a:solidFill>
                      <a:srgbClr val="FFFFFF"/>
                    </a:solidFill>
                  </a:tcPr>
                </a:tc>
                <a:tc>
                  <a:txBody>
                    <a:bodyPr/>
                    <a:lstStyle/>
                    <a:p>
                      <a:pPr algn="l"/>
                      <a:r>
                        <a:rPr sz="850" b="0" i="0">
                          <a:solidFill>
                            <a:srgbClr val="262626"/>
                          </a:solidFill>
                          <a:latin typeface="Arial"/>
                        </a:rPr>
                        <a:t>Michelle Magnani</a:t>
                      </a:r>
                    </a:p>
                  </a:txBody>
                  <a:tcPr>
                    <a:solidFill>
                      <a:srgbClr val="FFFFFF"/>
                    </a:solidFill>
                  </a:tcPr>
                </a:tc>
                <a:tc>
                  <a:txBody>
                    <a:bodyPr/>
                    <a:lstStyle/>
                    <a:p>
                      <a:pPr algn="ctr"/>
                      <a:r>
                        <a:rPr sz="850" b="0" i="0">
                          <a:solidFill>
                            <a:srgbClr val="262626"/>
                          </a:solidFill>
                          <a:latin typeface="Arial"/>
                        </a:rPr>
                        <a:t>1,242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extLst>
                  <a:ext uri="{0D108BD9-81ED-4DB2-BD59-A6C34878D82A}">
                    <a16:rowId xmlns:a16="http://schemas.microsoft.com/office/drawing/2014/main" val="10013"/>
                  </a:ext>
                </a:extLst>
              </a:tr>
              <a:tr h="224028">
                <a:tc>
                  <a:txBody>
                    <a:bodyPr/>
                    <a:lstStyle/>
                    <a:p>
                      <a:pPr algn="ctr"/>
                      <a:r>
                        <a:rPr sz="850" b="1" i="0">
                          <a:solidFill>
                            <a:srgbClr val="262626"/>
                          </a:solidFill>
                          <a:latin typeface="Arial"/>
                        </a:rPr>
                        <a:t>159</a:t>
                      </a:r>
                    </a:p>
                  </a:txBody>
                  <a:tcPr>
                    <a:solidFill>
                      <a:srgbClr val="F2F2F2"/>
                    </a:solidFill>
                  </a:tcPr>
                </a:tc>
                <a:tc>
                  <a:txBody>
                    <a:bodyPr/>
                    <a:lstStyle/>
                    <a:p>
                      <a:pPr algn="l"/>
                      <a:r>
                        <a:rPr sz="850" b="0" i="0">
                          <a:solidFill>
                            <a:srgbClr val="262626"/>
                          </a:solidFill>
                          <a:latin typeface="Arial"/>
                        </a:rPr>
                        <a:t>Katie McCune</a:t>
                      </a:r>
                    </a:p>
                  </a:txBody>
                  <a:tcPr>
                    <a:solidFill>
                      <a:srgbClr val="F2F2F2"/>
                    </a:solidFill>
                  </a:tcPr>
                </a:tc>
                <a:tc>
                  <a:txBody>
                    <a:bodyPr/>
                    <a:lstStyle/>
                    <a:p>
                      <a:pPr algn="ctr"/>
                      <a:r>
                        <a:rPr sz="850" b="0" i="0">
                          <a:solidFill>
                            <a:srgbClr val="262626"/>
                          </a:solidFill>
                          <a:latin typeface="Arial"/>
                        </a:rPr>
                        <a:t>1,042</a:t>
                      </a:r>
                    </a:p>
                  </a:txBody>
                  <a:tcPr>
                    <a:solidFill>
                      <a:srgbClr val="F2F2F2"/>
                    </a:solidFill>
                  </a:tcPr>
                </a:tc>
                <a:tc>
                  <a:txBody>
                    <a:bodyPr/>
                    <a:lstStyle/>
                    <a:p>
                      <a:pPr algn="ctr"/>
                      <a:r>
                        <a:rPr sz="850" b="0" i="0">
                          <a:solidFill>
                            <a:srgbClr val="262626"/>
                          </a:solidFill>
                          <a:latin typeface="Arial"/>
                        </a:rPr>
                        <a:t>6</a:t>
                      </a:r>
                    </a:p>
                  </a:txBody>
                  <a:tcPr>
                    <a:solidFill>
                      <a:srgbClr val="F2F2F2"/>
                    </a:solidFill>
                  </a:tcPr>
                </a:tc>
                <a:tc>
                  <a:txBody>
                    <a:bodyPr/>
                    <a:lstStyle/>
                    <a:p>
                      <a:pPr algn="ctr"/>
                      <a:r>
                        <a:rPr sz="850" b="0" i="0">
                          <a:solidFill>
                            <a:srgbClr val="262626"/>
                          </a:solidFill>
                          <a:latin typeface="Arial"/>
                        </a:rPr>
                        <a:t>1</a:t>
                      </a:r>
                    </a:p>
                  </a:txBody>
                  <a:tcPr>
                    <a:solidFill>
                      <a:srgbClr val="F2F2F2"/>
                    </a:solidFill>
                  </a:tcPr>
                </a:tc>
                <a:extLst>
                  <a:ext uri="{0D108BD9-81ED-4DB2-BD59-A6C34878D82A}">
                    <a16:rowId xmlns:a16="http://schemas.microsoft.com/office/drawing/2014/main" val="10014"/>
                  </a:ext>
                </a:extLst>
              </a:tr>
              <a:tr h="224028">
                <a:tc>
                  <a:txBody>
                    <a:bodyPr/>
                    <a:lstStyle/>
                    <a:p>
                      <a:pPr algn="ctr"/>
                      <a:r>
                        <a:rPr sz="850" b="1" i="0">
                          <a:solidFill>
                            <a:srgbClr val="262626"/>
                          </a:solidFill>
                          <a:latin typeface="Arial"/>
                        </a:rPr>
                        <a:t>165</a:t>
                      </a:r>
                    </a:p>
                  </a:txBody>
                  <a:tcPr>
                    <a:solidFill>
                      <a:srgbClr val="FFFFFF"/>
                    </a:solidFill>
                  </a:tcPr>
                </a:tc>
                <a:tc>
                  <a:txBody>
                    <a:bodyPr/>
                    <a:lstStyle/>
                    <a:p>
                      <a:pPr algn="l"/>
                      <a:r>
                        <a:rPr sz="850" b="0" i="0">
                          <a:solidFill>
                            <a:srgbClr val="262626"/>
                          </a:solidFill>
                          <a:latin typeface="Arial"/>
                        </a:rPr>
                        <a:t>Ellison Wolfe</a:t>
                      </a:r>
                    </a:p>
                  </a:txBody>
                  <a:tcPr>
                    <a:solidFill>
                      <a:srgbClr val="FFFFFF"/>
                    </a:solidFill>
                  </a:tcPr>
                </a:tc>
                <a:tc>
                  <a:txBody>
                    <a:bodyPr/>
                    <a:lstStyle/>
                    <a:p>
                      <a:pPr algn="ctr"/>
                      <a:r>
                        <a:rPr sz="850" b="0" i="0">
                          <a:solidFill>
                            <a:srgbClr val="262626"/>
                          </a:solidFill>
                          <a:latin typeface="Arial"/>
                        </a:rPr>
                        <a:t>1,002</a:t>
                      </a:r>
                    </a:p>
                  </a:txBody>
                  <a:tcPr>
                    <a:solidFill>
                      <a:srgbClr val="FFFFFF"/>
                    </a:solidFill>
                  </a:tcPr>
                </a:tc>
                <a:tc>
                  <a:txBody>
                    <a:bodyPr/>
                    <a:lstStyle/>
                    <a:p>
                      <a:pPr algn="ctr"/>
                      <a:r>
                        <a:rPr sz="850" b="0" i="0">
                          <a:solidFill>
                            <a:srgbClr val="262626"/>
                          </a:solidFill>
                          <a:latin typeface="Arial"/>
                        </a:rPr>
                        <a:t>6</a:t>
                      </a:r>
                    </a:p>
                  </a:txBody>
                  <a:tcPr>
                    <a:solidFill>
                      <a:srgbClr val="FFFFFF"/>
                    </a:solidFill>
                  </a:tcPr>
                </a:tc>
                <a:tc>
                  <a:txBody>
                    <a:bodyPr/>
                    <a:lstStyle/>
                    <a:p>
                      <a:pPr algn="ctr"/>
                      <a:r>
                        <a:rPr sz="850" b="0" i="0">
                          <a:solidFill>
                            <a:srgbClr val="262626"/>
                          </a:solidFill>
                          <a:latin typeface="Arial"/>
                        </a:rPr>
                        <a:t>4</a:t>
                      </a:r>
                    </a:p>
                  </a:txBody>
                  <a:tcPr>
                    <a:solidFill>
                      <a:srgbClr val="FFFFFF"/>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9601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28600" y="45720"/>
            <a:ext cx="9601200" cy="594360"/>
          </a:xfrm>
          <a:prstGeom prst="rect">
            <a:avLst/>
          </a:prstGeom>
          <a:noFill/>
        </p:spPr>
        <p:txBody>
          <a:bodyPr wrap="square">
            <a:spAutoFit/>
          </a:bodyPr>
          <a:lstStyle/>
          <a:p>
            <a:pPr algn="l"/>
            <a:r>
              <a:rPr sz="2800" b="1" i="0">
                <a:solidFill>
                  <a:srgbClr val="FFFFFF"/>
                </a:solidFill>
                <a:latin typeface="Arial"/>
              </a:rPr>
              <a:t>Olympic Qualification Pace</a:t>
            </a:r>
          </a:p>
        </p:txBody>
      </p:sp>
      <p:sp>
        <p:nvSpPr>
          <p:cNvPr id="4" name="TextBox 3"/>
          <p:cNvSpPr txBox="1"/>
          <p:nvPr/>
        </p:nvSpPr>
        <p:spPr>
          <a:xfrm>
            <a:off x="228600" y="621792"/>
            <a:ext cx="9601200" cy="320040"/>
          </a:xfrm>
          <a:prstGeom prst="rect">
            <a:avLst/>
          </a:prstGeom>
          <a:noFill/>
        </p:spPr>
        <p:txBody>
          <a:bodyPr wrap="square">
            <a:spAutoFit/>
          </a:bodyPr>
          <a:lstStyle/>
          <a:p>
            <a:pPr algn="l"/>
            <a:r>
              <a:rPr sz="1200" b="0" i="0">
                <a:solidFill>
                  <a:srgbClr val="AABBDD"/>
                </a:solidFill>
                <a:latin typeface="Arial"/>
              </a:rPr>
              <a:t>Asuncion</a:t>
            </a:r>
          </a:p>
        </p:txBody>
      </p:sp>
      <p:sp>
        <p:nvSpPr>
          <p:cNvPr id="5" name="Rectangle 4"/>
          <p:cNvSpPr/>
          <p:nvPr/>
        </p:nvSpPr>
        <p:spPr>
          <a:xfrm>
            <a:off x="0" y="960120"/>
            <a:ext cx="12188952" cy="64008"/>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USA_Triathlon_Logo.jpg"/>
          <p:cNvPicPr>
            <a:picLocks noChangeAspect="1"/>
          </p:cNvPicPr>
          <p:nvPr/>
        </p:nvPicPr>
        <p:blipFill>
          <a:blip r:embed="rId2"/>
          <a:stretch>
            <a:fillRect/>
          </a:stretch>
        </p:blipFill>
        <p:spPr>
          <a:xfrm>
            <a:off x="10881360" y="27432"/>
            <a:ext cx="1234440" cy="914400"/>
          </a:xfrm>
          <a:prstGeom prst="rect">
            <a:avLst/>
          </a:prstGeom>
        </p:spPr>
      </p:pic>
      <p:sp>
        <p:nvSpPr>
          <p:cNvPr id="7" name="Rectangle 6"/>
          <p:cNvSpPr/>
          <p:nvPr/>
        </p:nvSpPr>
        <p:spPr>
          <a:xfrm>
            <a:off x="0" y="6720840"/>
            <a:ext cx="12188952" cy="137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097280"/>
            <a:ext cx="11640312" cy="664768"/>
          </a:xfrm>
          <a:prstGeom prst="rect">
            <a:avLst/>
          </a:prstGeom>
          <a:solidFill>
            <a:srgbClr val="0020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5760" y="1188720"/>
            <a:ext cx="11430000" cy="329184"/>
          </a:xfrm>
          <a:prstGeom prst="rect">
            <a:avLst/>
          </a:prstGeom>
          <a:noFill/>
        </p:spPr>
        <p:txBody>
          <a:bodyPr wrap="square">
            <a:spAutoFit/>
          </a:bodyPr>
          <a:lstStyle/>
          <a:p>
            <a:pPr algn="ctr"/>
            <a:r>
              <a:rPr sz="1500" b="1" i="0">
                <a:solidFill>
                  <a:srgbClr val="FFFFFF"/>
                </a:solidFill>
                <a:latin typeface="Arial"/>
              </a:rPr>
              <a:t>Paris 2024 OQR cutoff (30th): 3,626.69 pts   ÷   12-event cap =   302 pts / event on pace</a:t>
            </a:r>
          </a:p>
        </p:txBody>
      </p:sp>
      <p:sp>
        <p:nvSpPr>
          <p:cNvPr id="10" name="TextBox 9"/>
          <p:cNvSpPr txBox="1"/>
          <p:nvPr/>
        </p:nvSpPr>
        <p:spPr>
          <a:xfrm>
            <a:off x="365760" y="1458468"/>
            <a:ext cx="11430000" cy="329184"/>
          </a:xfrm>
          <a:prstGeom prst="rect">
            <a:avLst/>
          </a:prstGeom>
          <a:noFill/>
        </p:spPr>
        <p:txBody>
          <a:bodyPr wrap="square">
            <a:spAutoFit/>
          </a:bodyPr>
          <a:lstStyle/>
          <a:p>
            <a:pPr algn="ctr"/>
            <a:r>
              <a:rPr sz="1100" b="0" i="1">
                <a:solidFill>
                  <a:srgbClr val="AABBDD"/>
                </a:solidFill>
                <a:latin typeface="Arial"/>
              </a:rPr>
              <a:t>An athlete who averages ~302 pts per event across their best 12 events is on pace to clear the LA 2028 qualifying threshold.</a:t>
            </a:r>
          </a:p>
        </p:txBody>
      </p:sp>
      <p:sp>
        <p:nvSpPr>
          <p:cNvPr id="11" name="Rectangle 10"/>
          <p:cNvSpPr/>
          <p:nvPr/>
        </p:nvSpPr>
        <p:spPr>
          <a:xfrm>
            <a:off x="274320" y="1812340"/>
            <a:ext cx="11640312" cy="29260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65760" y="1839772"/>
            <a:ext cx="11430000" cy="237744"/>
          </a:xfrm>
          <a:prstGeom prst="rect">
            <a:avLst/>
          </a:prstGeom>
          <a:noFill/>
        </p:spPr>
        <p:txBody>
          <a:bodyPr wrap="square">
            <a:spAutoFit/>
          </a:bodyPr>
          <a:lstStyle/>
          <a:p>
            <a:pPr algn="ctr"/>
            <a:r>
              <a:rPr sz="1100" b="1" i="0">
                <a:solidFill>
                  <a:srgbClr val="FFFFFF"/>
                </a:solidFill>
                <a:latin typeface="Arial"/>
              </a:rPr>
              <a:t>FINISH POSITION AT EACH TIER THAT HITS 302-PT PACE</a:t>
            </a:r>
          </a:p>
        </p:txBody>
      </p:sp>
      <p:graphicFrame>
        <p:nvGraphicFramePr>
          <p:cNvPr id="13" name="Table 12"/>
          <p:cNvGraphicFramePr>
            <a:graphicFrameLocks noGrp="1"/>
          </p:cNvGraphicFramePr>
          <p:nvPr>
            <p:extLst>
              <p:ext uri="{D42A27DB-BD31-4B8C-83A1-F6EECF244321}">
                <p14:modId xmlns:p14="http://schemas.microsoft.com/office/powerpoint/2010/main" val="420835544"/>
              </p:ext>
            </p:extLst>
          </p:nvPr>
        </p:nvGraphicFramePr>
        <p:xfrm>
          <a:off x="274320" y="2190168"/>
          <a:ext cx="11640309" cy="1171347"/>
        </p:xfrm>
        <a:graphic>
          <a:graphicData uri="http://schemas.openxmlformats.org/drawingml/2006/table">
            <a:tbl>
              <a:tblPr firstRow="1" bandRow="1">
                <a:tableStyleId>{5C22544A-7EE6-4342-B048-85BDC9FD1C3A}</a:tableStyleId>
              </a:tblPr>
              <a:tblGrid>
                <a:gridCol w="4399178">
                  <a:extLst>
                    <a:ext uri="{9D8B030D-6E8A-4147-A177-3AD203B41FA5}">
                      <a16:colId xmlns:a16="http://schemas.microsoft.com/office/drawing/2014/main" val="20000"/>
                    </a:ext>
                  </a:extLst>
                </a:gridCol>
                <a:gridCol w="1375257">
                  <a:extLst>
                    <a:ext uri="{9D8B030D-6E8A-4147-A177-3AD203B41FA5}">
                      <a16:colId xmlns:a16="http://schemas.microsoft.com/office/drawing/2014/main" val="20001"/>
                    </a:ext>
                  </a:extLst>
                </a:gridCol>
                <a:gridCol w="2200046">
                  <a:extLst>
                    <a:ext uri="{9D8B030D-6E8A-4147-A177-3AD203B41FA5}">
                      <a16:colId xmlns:a16="http://schemas.microsoft.com/office/drawing/2014/main" val="20002"/>
                    </a:ext>
                  </a:extLst>
                </a:gridCol>
                <a:gridCol w="2749600">
                  <a:extLst>
                    <a:ext uri="{9D8B030D-6E8A-4147-A177-3AD203B41FA5}">
                      <a16:colId xmlns:a16="http://schemas.microsoft.com/office/drawing/2014/main" val="20003"/>
                    </a:ext>
                  </a:extLst>
                </a:gridCol>
                <a:gridCol w="916228">
                  <a:extLst>
                    <a:ext uri="{9D8B030D-6E8A-4147-A177-3AD203B41FA5}">
                      <a16:colId xmlns:a16="http://schemas.microsoft.com/office/drawing/2014/main" val="20004"/>
                    </a:ext>
                  </a:extLst>
                </a:gridCol>
              </a:tblGrid>
              <a:tr h="390449">
                <a:tc>
                  <a:txBody>
                    <a:bodyPr/>
                    <a:lstStyle/>
                    <a:p>
                      <a:pPr algn="l"/>
                      <a:r>
                        <a:rPr sz="950" b="1" i="0">
                          <a:solidFill>
                            <a:srgbClr val="FFFFFF"/>
                          </a:solidFill>
                          <a:latin typeface="Arial"/>
                        </a:rPr>
                        <a:t>Tier</a:t>
                      </a:r>
                    </a:p>
                  </a:txBody>
                  <a:tcPr>
                    <a:solidFill>
                      <a:srgbClr val="002060"/>
                    </a:solidFill>
                  </a:tcPr>
                </a:tc>
                <a:tc>
                  <a:txBody>
                    <a:bodyPr/>
                    <a:lstStyle/>
                    <a:p>
                      <a:pPr algn="ctr"/>
                      <a:r>
                        <a:rPr sz="950" b="1" i="0">
                          <a:solidFill>
                            <a:srgbClr val="FFFFFF"/>
                          </a:solidFill>
                          <a:latin typeface="Arial"/>
                        </a:rPr>
                        <a:t>Win pts</a:t>
                      </a:r>
                    </a:p>
                  </a:txBody>
                  <a:tcPr>
                    <a:solidFill>
                      <a:srgbClr val="002060"/>
                    </a:solidFill>
                  </a:tcPr>
                </a:tc>
                <a:tc>
                  <a:txBody>
                    <a:bodyPr/>
                    <a:lstStyle/>
                    <a:p>
                      <a:pPr algn="ctr"/>
                      <a:r>
                        <a:rPr sz="950" b="1" i="0">
                          <a:solidFill>
                            <a:srgbClr val="FFFFFF"/>
                          </a:solidFill>
                          <a:latin typeface="Arial"/>
                        </a:rPr>
                        <a:t>Last on-pace pos</a:t>
                      </a:r>
                    </a:p>
                  </a:txBody>
                  <a:tcPr>
                    <a:solidFill>
                      <a:srgbClr val="002060"/>
                    </a:solidFill>
                  </a:tcPr>
                </a:tc>
                <a:tc>
                  <a:txBody>
                    <a:bodyPr/>
                    <a:lstStyle/>
                    <a:p>
                      <a:pPr algn="ctr"/>
                      <a:r>
                        <a:rPr sz="950" b="1" i="0">
                          <a:solidFill>
                            <a:srgbClr val="FFFFFF"/>
                          </a:solidFill>
                          <a:latin typeface="Arial"/>
                        </a:rPr>
                        <a:t>First off-pace pos (pts)</a:t>
                      </a:r>
                    </a:p>
                  </a:txBody>
                  <a:tcPr>
                    <a:solidFill>
                      <a:srgbClr val="002060"/>
                    </a:solidFill>
                  </a:tcPr>
                </a:tc>
                <a:tc>
                  <a:txBody>
                    <a:bodyPr/>
                    <a:lstStyle/>
                    <a:p>
                      <a:pPr algn="ctr"/>
                      <a:r>
                        <a:rPr sz="950" b="1" i="0">
                          <a:solidFill>
                            <a:srgbClr val="FFFFFF"/>
                          </a:solidFill>
                          <a:latin typeface="Arial"/>
                        </a:rPr>
                        <a:t>Verdict</a:t>
                      </a:r>
                    </a:p>
                  </a:txBody>
                  <a:tcPr>
                    <a:solidFill>
                      <a:srgbClr val="002060"/>
                    </a:solidFill>
                  </a:tcPr>
                </a:tc>
                <a:extLst>
                  <a:ext uri="{0D108BD9-81ED-4DB2-BD59-A6C34878D82A}">
                    <a16:rowId xmlns:a16="http://schemas.microsoft.com/office/drawing/2014/main" val="10000"/>
                  </a:ext>
                </a:extLst>
              </a:tr>
              <a:tr h="390449">
                <a:tc>
                  <a:txBody>
                    <a:bodyPr/>
                    <a:lstStyle/>
                    <a:p>
                      <a:pPr algn="l"/>
                      <a:r>
                        <a:rPr sz="950" b="0" i="0">
                          <a:solidFill>
                            <a:srgbClr val="262626"/>
                          </a:solidFill>
                          <a:latin typeface="Arial"/>
                        </a:rPr>
                        <a:t>World Championship Series</a:t>
                      </a:r>
                    </a:p>
                  </a:txBody>
                  <a:tcPr>
                    <a:solidFill>
                      <a:srgbClr val="FFFFFF"/>
                    </a:solidFill>
                  </a:tcPr>
                </a:tc>
                <a:tc>
                  <a:txBody>
                    <a:bodyPr/>
                    <a:lstStyle/>
                    <a:p>
                      <a:pPr algn="ctr"/>
                      <a:r>
                        <a:rPr sz="950" b="1" i="0">
                          <a:solidFill>
                            <a:srgbClr val="262626"/>
                          </a:solidFill>
                          <a:latin typeface="Arial"/>
                        </a:rPr>
                        <a:t>1000</a:t>
                      </a:r>
                    </a:p>
                  </a:txBody>
                  <a:tcPr>
                    <a:solidFill>
                      <a:srgbClr val="FFFFFF"/>
                    </a:solidFill>
                  </a:tcPr>
                </a:tc>
                <a:tc>
                  <a:txBody>
                    <a:bodyPr/>
                    <a:lstStyle/>
                    <a:p>
                      <a:pPr algn="ctr"/>
                      <a:r>
                        <a:rPr sz="950" b="1" i="0">
                          <a:solidFill>
                            <a:srgbClr val="262626"/>
                          </a:solidFill>
                          <a:latin typeface="Arial"/>
                        </a:rPr>
                        <a:t>#16</a:t>
                      </a:r>
                    </a:p>
                  </a:txBody>
                  <a:tcPr>
                    <a:solidFill>
                      <a:srgbClr val="FFFFFF"/>
                    </a:solidFill>
                  </a:tcPr>
                </a:tc>
                <a:tc>
                  <a:txBody>
                    <a:bodyPr/>
                    <a:lstStyle/>
                    <a:p>
                      <a:pPr algn="ctr"/>
                      <a:r>
                        <a:rPr sz="950" b="0" i="0">
                          <a:solidFill>
                            <a:srgbClr val="262626"/>
                          </a:solidFill>
                          <a:latin typeface="Arial"/>
                        </a:rPr>
                        <a:t>#17 (287 pts)</a:t>
                      </a:r>
                    </a:p>
                  </a:txBody>
                  <a:tcPr>
                    <a:solidFill>
                      <a:srgbClr val="FFFFFF"/>
                    </a:solidFill>
                  </a:tcPr>
                </a:tc>
                <a:tc>
                  <a:txBody>
                    <a:bodyPr/>
                    <a:lstStyle/>
                    <a:p>
                      <a:pPr algn="ctr"/>
                      <a:r>
                        <a:rPr sz="950" b="1" i="0">
                          <a:solidFill>
                            <a:srgbClr val="1B7F3A"/>
                          </a:solidFill>
                          <a:latin typeface="Arial"/>
                        </a:rPr>
                        <a:t>Top 16</a:t>
                      </a:r>
                    </a:p>
                  </a:txBody>
                  <a:tcPr>
                    <a:solidFill>
                      <a:srgbClr val="FFFFFF"/>
                    </a:solidFill>
                  </a:tcPr>
                </a:tc>
                <a:extLst>
                  <a:ext uri="{0D108BD9-81ED-4DB2-BD59-A6C34878D82A}">
                    <a16:rowId xmlns:a16="http://schemas.microsoft.com/office/drawing/2014/main" val="10001"/>
                  </a:ext>
                </a:extLst>
              </a:tr>
              <a:tr h="390449">
                <a:tc>
                  <a:txBody>
                    <a:bodyPr/>
                    <a:lstStyle/>
                    <a:p>
                      <a:pPr algn="l"/>
                      <a:r>
                        <a:rPr sz="950" b="0" i="0">
                          <a:solidFill>
                            <a:srgbClr val="262626"/>
                          </a:solidFill>
                          <a:latin typeface="Arial"/>
                        </a:rPr>
                        <a:t>World Cup</a:t>
                      </a:r>
                    </a:p>
                  </a:txBody>
                  <a:tcPr>
                    <a:solidFill>
                      <a:srgbClr val="F2F2F2"/>
                    </a:solidFill>
                  </a:tcPr>
                </a:tc>
                <a:tc>
                  <a:txBody>
                    <a:bodyPr/>
                    <a:lstStyle/>
                    <a:p>
                      <a:pPr algn="ctr"/>
                      <a:r>
                        <a:rPr sz="950" b="1" i="0">
                          <a:solidFill>
                            <a:srgbClr val="262626"/>
                          </a:solidFill>
                          <a:latin typeface="Arial"/>
                        </a:rPr>
                        <a:t>500</a:t>
                      </a:r>
                    </a:p>
                  </a:txBody>
                  <a:tcPr>
                    <a:solidFill>
                      <a:srgbClr val="F2F2F2"/>
                    </a:solidFill>
                  </a:tcPr>
                </a:tc>
                <a:tc>
                  <a:txBody>
                    <a:bodyPr/>
                    <a:lstStyle/>
                    <a:p>
                      <a:pPr algn="ctr"/>
                      <a:r>
                        <a:rPr sz="950" b="1" i="0">
                          <a:solidFill>
                            <a:srgbClr val="262626"/>
                          </a:solidFill>
                          <a:latin typeface="Arial"/>
                        </a:rPr>
                        <a:t>#7</a:t>
                      </a:r>
                    </a:p>
                  </a:txBody>
                  <a:tcPr>
                    <a:solidFill>
                      <a:srgbClr val="F2F2F2"/>
                    </a:solidFill>
                  </a:tcPr>
                </a:tc>
                <a:tc>
                  <a:txBody>
                    <a:bodyPr/>
                    <a:lstStyle/>
                    <a:p>
                      <a:pPr algn="ctr"/>
                      <a:r>
                        <a:rPr sz="950" b="0" i="0">
                          <a:solidFill>
                            <a:srgbClr val="262626"/>
                          </a:solidFill>
                          <a:latin typeface="Arial"/>
                        </a:rPr>
                        <a:t>#8 (290 pts)</a:t>
                      </a:r>
                    </a:p>
                  </a:txBody>
                  <a:tcPr>
                    <a:solidFill>
                      <a:srgbClr val="F2F2F2"/>
                    </a:solidFill>
                  </a:tcPr>
                </a:tc>
                <a:tc>
                  <a:txBody>
                    <a:bodyPr/>
                    <a:lstStyle/>
                    <a:p>
                      <a:pPr algn="ctr"/>
                      <a:r>
                        <a:rPr sz="950" b="1" i="0" dirty="0">
                          <a:solidFill>
                            <a:srgbClr val="1B7F3A"/>
                          </a:solidFill>
                          <a:latin typeface="Arial"/>
                        </a:rPr>
                        <a:t>Top 7</a:t>
                      </a:r>
                    </a:p>
                  </a:txBody>
                  <a:tcPr>
                    <a:solidFill>
                      <a:srgbClr val="F2F2F2"/>
                    </a:solidFill>
                  </a:tcPr>
                </a:tc>
                <a:extLst>
                  <a:ext uri="{0D108BD9-81ED-4DB2-BD59-A6C34878D82A}">
                    <a16:rowId xmlns:a16="http://schemas.microsoft.com/office/drawing/2014/main" val="10002"/>
                  </a:ext>
                </a:extLst>
              </a:tr>
            </a:tbl>
          </a:graphicData>
        </a:graphic>
      </p:graphicFrame>
      <p:sp>
        <p:nvSpPr>
          <p:cNvPr id="14" name="Rectangle 13"/>
          <p:cNvSpPr/>
          <p:nvPr/>
        </p:nvSpPr>
        <p:spPr>
          <a:xfrm>
            <a:off x="27432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74320" y="3639312"/>
            <a:ext cx="5806440" cy="219456"/>
          </a:xfrm>
          <a:prstGeom prst="rect">
            <a:avLst/>
          </a:prstGeom>
          <a:noFill/>
        </p:spPr>
        <p:txBody>
          <a:bodyPr wrap="square">
            <a:spAutoFit/>
          </a:bodyPr>
          <a:lstStyle/>
          <a:p>
            <a:pPr algn="ctr"/>
            <a:r>
              <a:rPr sz="1100" b="1" i="0">
                <a:solidFill>
                  <a:srgbClr val="FFFFFF"/>
                </a:solidFill>
                <a:latin typeface="Arial"/>
              </a:rPr>
              <a:t>USA MEN</a:t>
            </a:r>
          </a:p>
        </p:txBody>
      </p:sp>
      <p:graphicFrame>
        <p:nvGraphicFramePr>
          <p:cNvPr id="16" name="Table 15"/>
          <p:cNvGraphicFramePr>
            <a:graphicFrameLocks noGrp="1"/>
          </p:cNvGraphicFramePr>
          <p:nvPr/>
        </p:nvGraphicFramePr>
        <p:xfrm>
          <a:off x="27432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13</a:t>
                      </a:r>
                    </a:p>
                  </a:txBody>
                  <a:tcPr>
                    <a:solidFill>
                      <a:srgbClr val="FFFFFF"/>
                    </a:solidFill>
                  </a:tcPr>
                </a:tc>
                <a:tc>
                  <a:txBody>
                    <a:bodyPr/>
                    <a:lstStyle/>
                    <a:p>
                      <a:pPr algn="l"/>
                      <a:r>
                        <a:rPr sz="750" b="0" i="0">
                          <a:solidFill>
                            <a:srgbClr val="262626"/>
                          </a:solidFill>
                          <a:latin typeface="Arial"/>
                        </a:rPr>
                        <a:t>Reese Vannerson</a:t>
                      </a:r>
                    </a:p>
                  </a:txBody>
                  <a:tcPr>
                    <a:solidFill>
                      <a:srgbClr val="FFFFFF"/>
                    </a:solidFill>
                  </a:tcPr>
                </a:tc>
                <a:tc>
                  <a:txBody>
                    <a:bodyPr/>
                    <a:lstStyle/>
                    <a:p>
                      <a:pPr algn="ctr"/>
                      <a:r>
                        <a:rPr sz="750" b="1" i="0">
                          <a:solidFill>
                            <a:srgbClr val="262626"/>
                          </a:solidFill>
                          <a:latin typeface="Arial"/>
                        </a:rPr>
                        <a:t>1,479</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3</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369</a:t>
                      </a:r>
                    </a:p>
                  </a:txBody>
                  <a:tcPr>
                    <a:solidFill>
                      <a:srgbClr val="FFFFFF"/>
                    </a:solidFill>
                  </a:tcPr>
                </a:tc>
                <a:tc>
                  <a:txBody>
                    <a:bodyPr/>
                    <a:lstStyle/>
                    <a:p>
                      <a:pPr algn="ctr"/>
                      <a:r>
                        <a:rPr sz="750" b="1" i="0">
                          <a:solidFill>
                            <a:srgbClr val="1B7F3A"/>
                          </a:solidFill>
                          <a:latin typeface="Arial"/>
                        </a:rPr>
                        <a:t>4,439</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16</a:t>
                      </a:r>
                    </a:p>
                  </a:txBody>
                  <a:tcPr>
                    <a:solidFill>
                      <a:srgbClr val="F2F2F2"/>
                    </a:solidFill>
                  </a:tcPr>
                </a:tc>
                <a:tc>
                  <a:txBody>
                    <a:bodyPr/>
                    <a:lstStyle/>
                    <a:p>
                      <a:pPr algn="l"/>
                      <a:r>
                        <a:rPr sz="750" b="0" i="0">
                          <a:solidFill>
                            <a:srgbClr val="262626"/>
                          </a:solidFill>
                          <a:latin typeface="Arial"/>
                        </a:rPr>
                        <a:t>Seth Rider</a:t>
                      </a:r>
                    </a:p>
                  </a:txBody>
                  <a:tcPr>
                    <a:solidFill>
                      <a:srgbClr val="F2F2F2"/>
                    </a:solidFill>
                  </a:tcPr>
                </a:tc>
                <a:tc>
                  <a:txBody>
                    <a:bodyPr/>
                    <a:lstStyle/>
                    <a:p>
                      <a:pPr algn="ctr"/>
                      <a:r>
                        <a:rPr sz="750" b="1" i="0">
                          <a:solidFill>
                            <a:srgbClr val="262626"/>
                          </a:solidFill>
                          <a:latin typeface="Arial"/>
                        </a:rPr>
                        <a:t>1,341</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335</a:t>
                      </a:r>
                    </a:p>
                  </a:txBody>
                  <a:tcPr>
                    <a:solidFill>
                      <a:srgbClr val="F2F2F2"/>
                    </a:solidFill>
                  </a:tcPr>
                </a:tc>
                <a:tc>
                  <a:txBody>
                    <a:bodyPr/>
                    <a:lstStyle/>
                    <a:p>
                      <a:pPr algn="ctr"/>
                      <a:r>
                        <a:rPr sz="750" b="1" i="0">
                          <a:solidFill>
                            <a:srgbClr val="1B7F3A"/>
                          </a:solidFill>
                          <a:latin typeface="Arial"/>
                        </a:rPr>
                        <a:t>4,023</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17</a:t>
                      </a:r>
                    </a:p>
                  </a:txBody>
                  <a:tcPr>
                    <a:solidFill>
                      <a:srgbClr val="FFFFFF"/>
                    </a:solidFill>
                  </a:tcPr>
                </a:tc>
                <a:tc>
                  <a:txBody>
                    <a:bodyPr/>
                    <a:lstStyle/>
                    <a:p>
                      <a:pPr algn="l"/>
                      <a:r>
                        <a:rPr sz="750" b="0" i="0">
                          <a:solidFill>
                            <a:srgbClr val="262626"/>
                          </a:solidFill>
                          <a:latin typeface="Arial"/>
                        </a:rPr>
                        <a:t>Sullivan Middaugh</a:t>
                      </a:r>
                    </a:p>
                  </a:txBody>
                  <a:tcPr>
                    <a:solidFill>
                      <a:srgbClr val="FFFFFF"/>
                    </a:solidFill>
                  </a:tcPr>
                </a:tc>
                <a:tc>
                  <a:txBody>
                    <a:bodyPr/>
                    <a:lstStyle/>
                    <a:p>
                      <a:pPr algn="ctr"/>
                      <a:r>
                        <a:rPr sz="750" b="1" i="0">
                          <a:solidFill>
                            <a:srgbClr val="262626"/>
                          </a:solidFill>
                          <a:latin typeface="Arial"/>
                        </a:rPr>
                        <a:t>1,305</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326</a:t>
                      </a:r>
                    </a:p>
                  </a:txBody>
                  <a:tcPr>
                    <a:solidFill>
                      <a:srgbClr val="FFFFFF"/>
                    </a:solidFill>
                  </a:tcPr>
                </a:tc>
                <a:tc>
                  <a:txBody>
                    <a:bodyPr/>
                    <a:lstStyle/>
                    <a:p>
                      <a:pPr algn="ctr"/>
                      <a:r>
                        <a:rPr sz="750" b="1" i="0">
                          <a:solidFill>
                            <a:srgbClr val="1B7F3A"/>
                          </a:solidFill>
                          <a:latin typeface="Arial"/>
                        </a:rPr>
                        <a:t>3,916</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18</a:t>
                      </a:r>
                    </a:p>
                  </a:txBody>
                  <a:tcPr>
                    <a:solidFill>
                      <a:srgbClr val="F2F2F2"/>
                    </a:solidFill>
                  </a:tcPr>
                </a:tc>
                <a:tc>
                  <a:txBody>
                    <a:bodyPr/>
                    <a:lstStyle/>
                    <a:p>
                      <a:pPr algn="l"/>
                      <a:r>
                        <a:rPr sz="750" b="0" i="0">
                          <a:solidFill>
                            <a:srgbClr val="262626"/>
                          </a:solidFill>
                          <a:latin typeface="Arial"/>
                        </a:rPr>
                        <a:t>Braxton Legg</a:t>
                      </a:r>
                    </a:p>
                  </a:txBody>
                  <a:tcPr>
                    <a:solidFill>
                      <a:srgbClr val="F2F2F2"/>
                    </a:solidFill>
                  </a:tcPr>
                </a:tc>
                <a:tc>
                  <a:txBody>
                    <a:bodyPr/>
                    <a:lstStyle/>
                    <a:p>
                      <a:pPr algn="ctr"/>
                      <a:r>
                        <a:rPr sz="750" b="1" i="0">
                          <a:solidFill>
                            <a:srgbClr val="262626"/>
                          </a:solidFill>
                          <a:latin typeface="Arial"/>
                        </a:rPr>
                        <a:t>1,274</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318</a:t>
                      </a:r>
                    </a:p>
                  </a:txBody>
                  <a:tcPr>
                    <a:solidFill>
                      <a:srgbClr val="F2F2F2"/>
                    </a:solidFill>
                  </a:tcPr>
                </a:tc>
                <a:tc>
                  <a:txBody>
                    <a:bodyPr/>
                    <a:lstStyle/>
                    <a:p>
                      <a:pPr algn="ctr"/>
                      <a:r>
                        <a:rPr sz="750" b="1" i="0">
                          <a:solidFill>
                            <a:srgbClr val="1B7F3A"/>
                          </a:solidFill>
                          <a:latin typeface="Arial"/>
                        </a:rPr>
                        <a:t>3,823</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33</a:t>
                      </a:r>
                    </a:p>
                  </a:txBody>
                  <a:tcPr>
                    <a:solidFill>
                      <a:srgbClr val="FFFFFF"/>
                    </a:solidFill>
                  </a:tcPr>
                </a:tc>
                <a:tc>
                  <a:txBody>
                    <a:bodyPr/>
                    <a:lstStyle/>
                    <a:p>
                      <a:pPr algn="l"/>
                      <a:r>
                        <a:rPr sz="750" b="0" i="0">
                          <a:solidFill>
                            <a:srgbClr val="262626"/>
                          </a:solidFill>
                          <a:latin typeface="Arial"/>
                        </a:rPr>
                        <a:t>Morgan Pearson</a:t>
                      </a:r>
                    </a:p>
                  </a:txBody>
                  <a:tcPr>
                    <a:solidFill>
                      <a:srgbClr val="FFFFFF"/>
                    </a:solidFill>
                  </a:tcPr>
                </a:tc>
                <a:tc>
                  <a:txBody>
                    <a:bodyPr/>
                    <a:lstStyle/>
                    <a:p>
                      <a:pPr algn="ctr"/>
                      <a:r>
                        <a:rPr sz="750" b="1" i="0">
                          <a:solidFill>
                            <a:srgbClr val="262626"/>
                          </a:solidFill>
                          <a:latin typeface="Arial"/>
                        </a:rPr>
                        <a:t>904</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452</a:t>
                      </a:r>
                    </a:p>
                  </a:txBody>
                  <a:tcPr>
                    <a:solidFill>
                      <a:srgbClr val="FFFFFF"/>
                    </a:solidFill>
                  </a:tcPr>
                </a:tc>
                <a:tc>
                  <a:txBody>
                    <a:bodyPr/>
                    <a:lstStyle/>
                    <a:p>
                      <a:pPr algn="ctr"/>
                      <a:r>
                        <a:rPr sz="750" b="1" i="0">
                          <a:solidFill>
                            <a:srgbClr val="1B7F3A"/>
                          </a:solidFill>
                          <a:latin typeface="Arial"/>
                        </a:rPr>
                        <a:t>5,425</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39</a:t>
                      </a:r>
                    </a:p>
                  </a:txBody>
                  <a:tcPr>
                    <a:solidFill>
                      <a:srgbClr val="F2F2F2"/>
                    </a:solidFill>
                  </a:tcPr>
                </a:tc>
                <a:tc>
                  <a:txBody>
                    <a:bodyPr/>
                    <a:lstStyle/>
                    <a:p>
                      <a:pPr algn="l"/>
                      <a:r>
                        <a:rPr sz="750" b="0" i="0">
                          <a:solidFill>
                            <a:srgbClr val="262626"/>
                          </a:solidFill>
                          <a:latin typeface="Arial"/>
                        </a:rPr>
                        <a:t>Chase McQueen</a:t>
                      </a:r>
                    </a:p>
                  </a:txBody>
                  <a:tcPr>
                    <a:solidFill>
                      <a:srgbClr val="F2F2F2"/>
                    </a:solidFill>
                  </a:tcPr>
                </a:tc>
                <a:tc>
                  <a:txBody>
                    <a:bodyPr/>
                    <a:lstStyle/>
                    <a:p>
                      <a:pPr algn="ctr"/>
                      <a:r>
                        <a:rPr sz="750" b="1" i="0">
                          <a:solidFill>
                            <a:srgbClr val="262626"/>
                          </a:solidFill>
                          <a:latin typeface="Arial"/>
                        </a:rPr>
                        <a:t>816</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3</a:t>
                      </a:r>
                    </a:p>
                  </a:txBody>
                  <a:tcPr>
                    <a:solidFill>
                      <a:srgbClr val="F2F2F2"/>
                    </a:solidFill>
                  </a:tcPr>
                </a:tc>
                <a:tc>
                  <a:txBody>
                    <a:bodyPr/>
                    <a:lstStyle/>
                    <a:p>
                      <a:pPr algn="ctr"/>
                      <a:r>
                        <a:rPr sz="750" b="0" i="0">
                          <a:solidFill>
                            <a:srgbClr val="262626"/>
                          </a:solidFill>
                          <a:latin typeface="Arial"/>
                        </a:rPr>
                        <a:t>204</a:t>
                      </a:r>
                    </a:p>
                  </a:txBody>
                  <a:tcPr>
                    <a:solidFill>
                      <a:srgbClr val="F2F2F2"/>
                    </a:solidFill>
                  </a:tcPr>
                </a:tc>
                <a:tc>
                  <a:txBody>
                    <a:bodyPr/>
                    <a:lstStyle/>
                    <a:p>
                      <a:pPr algn="ctr"/>
                      <a:r>
                        <a:rPr sz="750" b="1" i="0">
                          <a:solidFill>
                            <a:srgbClr val="262626"/>
                          </a:solidFill>
                          <a:latin typeface="Arial"/>
                        </a:rPr>
                        <a:t>2,450</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48</a:t>
                      </a:r>
                    </a:p>
                  </a:txBody>
                  <a:tcPr>
                    <a:solidFill>
                      <a:srgbClr val="FFFFFF"/>
                    </a:solidFill>
                  </a:tcPr>
                </a:tc>
                <a:tc>
                  <a:txBody>
                    <a:bodyPr/>
                    <a:lstStyle/>
                    <a:p>
                      <a:pPr algn="l"/>
                      <a:r>
                        <a:rPr sz="750" b="0" i="0">
                          <a:solidFill>
                            <a:srgbClr val="262626"/>
                          </a:solidFill>
                          <a:latin typeface="Arial"/>
                        </a:rPr>
                        <a:t>Keller Norland</a:t>
                      </a:r>
                    </a:p>
                  </a:txBody>
                  <a:tcPr>
                    <a:solidFill>
                      <a:srgbClr val="FFFFFF"/>
                    </a:solidFill>
                  </a:tcPr>
                </a:tc>
                <a:tc>
                  <a:txBody>
                    <a:bodyPr/>
                    <a:lstStyle/>
                    <a:p>
                      <a:pPr algn="ctr"/>
                      <a:r>
                        <a:rPr sz="750" b="1" i="0">
                          <a:solidFill>
                            <a:srgbClr val="262626"/>
                          </a:solidFill>
                          <a:latin typeface="Arial"/>
                        </a:rPr>
                        <a:t>748</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374</a:t>
                      </a:r>
                    </a:p>
                  </a:txBody>
                  <a:tcPr>
                    <a:solidFill>
                      <a:srgbClr val="FFFFFF"/>
                    </a:solidFill>
                  </a:tcPr>
                </a:tc>
                <a:tc>
                  <a:txBody>
                    <a:bodyPr/>
                    <a:lstStyle/>
                    <a:p>
                      <a:pPr algn="ctr"/>
                      <a:r>
                        <a:rPr sz="750" b="1" i="0">
                          <a:solidFill>
                            <a:srgbClr val="1B7F3A"/>
                          </a:solidFill>
                          <a:latin typeface="Arial"/>
                        </a:rPr>
                        <a:t>4,493</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54</a:t>
                      </a:r>
                    </a:p>
                  </a:txBody>
                  <a:tcPr>
                    <a:solidFill>
                      <a:srgbClr val="F2F2F2"/>
                    </a:solidFill>
                  </a:tcPr>
                </a:tc>
                <a:tc>
                  <a:txBody>
                    <a:bodyPr/>
                    <a:lstStyle/>
                    <a:p>
                      <a:pPr algn="l"/>
                      <a:r>
                        <a:rPr sz="750" b="0" i="0">
                          <a:solidFill>
                            <a:srgbClr val="262626"/>
                          </a:solidFill>
                          <a:latin typeface="Arial"/>
                        </a:rPr>
                        <a:t>John Reed</a:t>
                      </a:r>
                    </a:p>
                  </a:txBody>
                  <a:tcPr>
                    <a:solidFill>
                      <a:srgbClr val="F2F2F2"/>
                    </a:solidFill>
                  </a:tcPr>
                </a:tc>
                <a:tc>
                  <a:txBody>
                    <a:bodyPr/>
                    <a:lstStyle/>
                    <a:p>
                      <a:pPr algn="ctr"/>
                      <a:r>
                        <a:rPr sz="750" b="1" i="0">
                          <a:solidFill>
                            <a:srgbClr val="262626"/>
                          </a:solidFill>
                          <a:latin typeface="Arial"/>
                        </a:rPr>
                        <a:t>599</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299</a:t>
                      </a:r>
                    </a:p>
                  </a:txBody>
                  <a:tcPr>
                    <a:solidFill>
                      <a:srgbClr val="F2F2F2"/>
                    </a:solidFill>
                  </a:tcPr>
                </a:tc>
                <a:tc>
                  <a:txBody>
                    <a:bodyPr/>
                    <a:lstStyle/>
                    <a:p>
                      <a:pPr algn="ctr"/>
                      <a:r>
                        <a:rPr sz="750" b="1" i="0">
                          <a:solidFill>
                            <a:srgbClr val="262626"/>
                          </a:solidFill>
                          <a:latin typeface="Arial"/>
                        </a:rPr>
                        <a:t>3,598</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61</a:t>
                      </a:r>
                    </a:p>
                  </a:txBody>
                  <a:tcPr>
                    <a:solidFill>
                      <a:srgbClr val="FFFFFF"/>
                    </a:solidFill>
                  </a:tcPr>
                </a:tc>
                <a:tc>
                  <a:txBody>
                    <a:bodyPr/>
                    <a:lstStyle/>
                    <a:p>
                      <a:pPr algn="l"/>
                      <a:r>
                        <a:rPr sz="750" b="0" i="0">
                          <a:solidFill>
                            <a:srgbClr val="262626"/>
                          </a:solidFill>
                          <a:latin typeface="Arial"/>
                        </a:rPr>
                        <a:t>Blake Bullard</a:t>
                      </a:r>
                    </a:p>
                  </a:txBody>
                  <a:tcPr>
                    <a:solidFill>
                      <a:srgbClr val="FFFFFF"/>
                    </a:solidFill>
                  </a:tcPr>
                </a:tc>
                <a:tc>
                  <a:txBody>
                    <a:bodyPr/>
                    <a:lstStyle/>
                    <a:p>
                      <a:pPr algn="ctr"/>
                      <a:r>
                        <a:rPr sz="750" b="1" i="0">
                          <a:solidFill>
                            <a:srgbClr val="262626"/>
                          </a:solidFill>
                          <a:latin typeface="Arial"/>
                        </a:rPr>
                        <a:t>513</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3</a:t>
                      </a:r>
                    </a:p>
                  </a:txBody>
                  <a:tcPr>
                    <a:solidFill>
                      <a:srgbClr val="FFFFFF"/>
                    </a:solidFill>
                  </a:tcPr>
                </a:tc>
                <a:tc>
                  <a:txBody>
                    <a:bodyPr/>
                    <a:lstStyle/>
                    <a:p>
                      <a:pPr algn="ctr"/>
                      <a:r>
                        <a:rPr sz="750" b="0" i="0">
                          <a:solidFill>
                            <a:srgbClr val="262626"/>
                          </a:solidFill>
                          <a:latin typeface="Arial"/>
                        </a:rPr>
                        <a:t>171</a:t>
                      </a:r>
                    </a:p>
                  </a:txBody>
                  <a:tcPr>
                    <a:solidFill>
                      <a:srgbClr val="FFFFFF"/>
                    </a:solidFill>
                  </a:tcPr>
                </a:tc>
                <a:tc>
                  <a:txBody>
                    <a:bodyPr/>
                    <a:lstStyle/>
                    <a:p>
                      <a:pPr algn="ctr"/>
                      <a:r>
                        <a:rPr sz="750" b="1" i="0">
                          <a:solidFill>
                            <a:srgbClr val="262626"/>
                          </a:solidFill>
                          <a:latin typeface="Arial"/>
                        </a:rPr>
                        <a:t>2,055</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64</a:t>
                      </a:r>
                    </a:p>
                  </a:txBody>
                  <a:tcPr>
                    <a:solidFill>
                      <a:srgbClr val="F2F2F2"/>
                    </a:solidFill>
                  </a:tcPr>
                </a:tc>
                <a:tc>
                  <a:txBody>
                    <a:bodyPr/>
                    <a:lstStyle/>
                    <a:p>
                      <a:pPr algn="l"/>
                      <a:r>
                        <a:rPr sz="750" b="0" i="0">
                          <a:solidFill>
                            <a:srgbClr val="262626"/>
                          </a:solidFill>
                          <a:latin typeface="Arial"/>
                        </a:rPr>
                        <a:t>Porter Middaugh</a:t>
                      </a:r>
                    </a:p>
                  </a:txBody>
                  <a:tcPr>
                    <a:solidFill>
                      <a:srgbClr val="F2F2F2"/>
                    </a:solidFill>
                  </a:tcPr>
                </a:tc>
                <a:tc>
                  <a:txBody>
                    <a:bodyPr/>
                    <a:lstStyle/>
                    <a:p>
                      <a:pPr algn="ctr"/>
                      <a:r>
                        <a:rPr sz="750" b="1" i="0">
                          <a:solidFill>
                            <a:srgbClr val="262626"/>
                          </a:solidFill>
                          <a:latin typeface="Arial"/>
                        </a:rPr>
                        <a:t>453</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1</a:t>
                      </a:r>
                    </a:p>
                  </a:txBody>
                  <a:tcPr>
                    <a:solidFill>
                      <a:srgbClr val="F2F2F2"/>
                    </a:solidFill>
                  </a:tcPr>
                </a:tc>
                <a:tc>
                  <a:txBody>
                    <a:bodyPr/>
                    <a:lstStyle/>
                    <a:p>
                      <a:pPr algn="ctr"/>
                      <a:r>
                        <a:rPr sz="750" b="0" i="0">
                          <a:solidFill>
                            <a:srgbClr val="262626"/>
                          </a:solidFill>
                          <a:latin typeface="Arial"/>
                        </a:rPr>
                        <a:t>226</a:t>
                      </a:r>
                    </a:p>
                  </a:txBody>
                  <a:tcPr>
                    <a:solidFill>
                      <a:srgbClr val="F2F2F2"/>
                    </a:solidFill>
                  </a:tcPr>
                </a:tc>
                <a:tc>
                  <a:txBody>
                    <a:bodyPr/>
                    <a:lstStyle/>
                    <a:p>
                      <a:pPr algn="ctr"/>
                      <a:r>
                        <a:rPr sz="750" b="1" i="0">
                          <a:solidFill>
                            <a:srgbClr val="262626"/>
                          </a:solidFill>
                          <a:latin typeface="Arial"/>
                        </a:rPr>
                        <a:t>2,722</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98</a:t>
                      </a:r>
                    </a:p>
                  </a:txBody>
                  <a:tcPr>
                    <a:solidFill>
                      <a:srgbClr val="FFFFFF"/>
                    </a:solidFill>
                  </a:tcPr>
                </a:tc>
                <a:tc>
                  <a:txBody>
                    <a:bodyPr/>
                    <a:lstStyle/>
                    <a:p>
                      <a:pPr algn="l"/>
                      <a:r>
                        <a:rPr sz="750" b="0" i="0">
                          <a:solidFill>
                            <a:srgbClr val="262626"/>
                          </a:solidFill>
                          <a:latin typeface="Arial"/>
                        </a:rPr>
                        <a:t>Zach Leachman</a:t>
                      </a:r>
                    </a:p>
                  </a:txBody>
                  <a:tcPr>
                    <a:solidFill>
                      <a:srgbClr val="FFFFFF"/>
                    </a:solidFill>
                  </a:tcPr>
                </a:tc>
                <a:tc>
                  <a:txBody>
                    <a:bodyPr/>
                    <a:lstStyle/>
                    <a:p>
                      <a:pPr algn="ctr"/>
                      <a:r>
                        <a:rPr sz="750" b="1" i="0">
                          <a:solidFill>
                            <a:srgbClr val="262626"/>
                          </a:solidFill>
                          <a:latin typeface="Arial"/>
                        </a:rPr>
                        <a:t>212</a:t>
                      </a:r>
                    </a:p>
                  </a:txBody>
                  <a:tcPr>
                    <a:solidFill>
                      <a:srgbClr val="FFFFFF"/>
                    </a:solidFill>
                  </a:tcPr>
                </a:tc>
                <a:tc>
                  <a:txBody>
                    <a:bodyPr/>
                    <a:lstStyle/>
                    <a:p>
                      <a:pPr algn="ctr"/>
                      <a:r>
                        <a:rPr sz="750" b="0" i="0">
                          <a:solidFill>
                            <a:srgbClr val="262626"/>
                          </a:solidFill>
                          <a:latin typeface="Arial"/>
                        </a:rPr>
                        <a:t>1</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212</a:t>
                      </a:r>
                    </a:p>
                  </a:txBody>
                  <a:tcPr>
                    <a:solidFill>
                      <a:srgbClr val="FFFFFF"/>
                    </a:solidFill>
                  </a:tcPr>
                </a:tc>
                <a:tc>
                  <a:txBody>
                    <a:bodyPr/>
                    <a:lstStyle/>
                    <a:p>
                      <a:pPr algn="ctr"/>
                      <a:r>
                        <a:rPr sz="750" b="1" i="0">
                          <a:solidFill>
                            <a:srgbClr val="262626"/>
                          </a:solidFill>
                          <a:latin typeface="Arial"/>
                        </a:rPr>
                        <a:t>2,545</a:t>
                      </a:r>
                    </a:p>
                  </a:txBody>
                  <a:tcPr>
                    <a:solidFill>
                      <a:srgbClr val="FFFFFF"/>
                    </a:solidFill>
                  </a:tcPr>
                </a:tc>
                <a:extLst>
                  <a:ext uri="{0D108BD9-81ED-4DB2-BD59-A6C34878D82A}">
                    <a16:rowId xmlns:a16="http://schemas.microsoft.com/office/drawing/2014/main" val="10011"/>
                  </a:ext>
                </a:extLst>
              </a:tr>
            </a:tbl>
          </a:graphicData>
        </a:graphic>
      </p:graphicFrame>
      <p:sp>
        <p:nvSpPr>
          <p:cNvPr id="17" name="Rectangle 16"/>
          <p:cNvSpPr/>
          <p:nvPr/>
        </p:nvSpPr>
        <p:spPr>
          <a:xfrm>
            <a:off x="6126480" y="3611880"/>
            <a:ext cx="5806440" cy="27432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3639312"/>
            <a:ext cx="5806440" cy="219456"/>
          </a:xfrm>
          <a:prstGeom prst="rect">
            <a:avLst/>
          </a:prstGeom>
          <a:noFill/>
        </p:spPr>
        <p:txBody>
          <a:bodyPr wrap="square">
            <a:spAutoFit/>
          </a:bodyPr>
          <a:lstStyle/>
          <a:p>
            <a:pPr algn="ctr"/>
            <a:r>
              <a:rPr sz="1100" b="1" i="0">
                <a:solidFill>
                  <a:srgbClr val="FFFFFF"/>
                </a:solidFill>
                <a:latin typeface="Arial"/>
              </a:rPr>
              <a:t>USA WOMEN</a:t>
            </a:r>
          </a:p>
        </p:txBody>
      </p:sp>
      <p:graphicFrame>
        <p:nvGraphicFramePr>
          <p:cNvPr id="19" name="Table 18"/>
          <p:cNvGraphicFramePr>
            <a:graphicFrameLocks noGrp="1"/>
          </p:cNvGraphicFramePr>
          <p:nvPr/>
        </p:nvGraphicFramePr>
        <p:xfrm>
          <a:off x="6126480" y="3931920"/>
          <a:ext cx="5806440" cy="24841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502920">
                  <a:extLst>
                    <a:ext uri="{9D8B030D-6E8A-4147-A177-3AD203B41FA5}">
                      <a16:colId xmlns:a16="http://schemas.microsoft.com/office/drawing/2014/main" val="20003"/>
                    </a:ext>
                  </a:extLst>
                </a:gridCol>
                <a:gridCol w="411480">
                  <a:extLst>
                    <a:ext uri="{9D8B030D-6E8A-4147-A177-3AD203B41FA5}">
                      <a16:colId xmlns:a16="http://schemas.microsoft.com/office/drawing/2014/main" val="20004"/>
                    </a:ext>
                  </a:extLst>
                </a:gridCol>
                <a:gridCol w="411480">
                  <a:extLst>
                    <a:ext uri="{9D8B030D-6E8A-4147-A177-3AD203B41FA5}">
                      <a16:colId xmlns:a16="http://schemas.microsoft.com/office/drawing/2014/main" val="20005"/>
                    </a:ext>
                  </a:extLst>
                </a:gridCol>
                <a:gridCol w="685800">
                  <a:extLst>
                    <a:ext uri="{9D8B030D-6E8A-4147-A177-3AD203B41FA5}">
                      <a16:colId xmlns:a16="http://schemas.microsoft.com/office/drawing/2014/main" val="20006"/>
                    </a:ext>
                  </a:extLst>
                </a:gridCol>
                <a:gridCol w="731520">
                  <a:extLst>
                    <a:ext uri="{9D8B030D-6E8A-4147-A177-3AD203B41FA5}">
                      <a16:colId xmlns:a16="http://schemas.microsoft.com/office/drawing/2014/main" val="20007"/>
                    </a:ext>
                  </a:extLst>
                </a:gridCol>
              </a:tblGrid>
              <a:tr h="201168">
                <a:tc>
                  <a:txBody>
                    <a:bodyPr/>
                    <a:lstStyle/>
                    <a:p>
                      <a:pPr algn="ctr"/>
                      <a:r>
                        <a:rPr sz="850" b="1" i="0">
                          <a:solidFill>
                            <a:srgbClr val="FFFFFF"/>
                          </a:solidFill>
                          <a:latin typeface="Arial"/>
                        </a:rPr>
                        <a:t>Rk</a:t>
                      </a:r>
                    </a:p>
                  </a:txBody>
                  <a:tcPr>
                    <a:solidFill>
                      <a:srgbClr val="002060"/>
                    </a:solidFill>
                  </a:tcPr>
                </a:tc>
                <a:tc>
                  <a:txBody>
                    <a:bodyPr/>
                    <a:lstStyle/>
                    <a:p>
                      <a:pPr algn="l"/>
                      <a:r>
                        <a:rPr sz="850" b="1" i="0">
                          <a:solidFill>
                            <a:srgbClr val="FFFFFF"/>
                          </a:solidFill>
                          <a:latin typeface="Arial"/>
                        </a:rPr>
                        <a:t>Athlete</a:t>
                      </a:r>
                    </a:p>
                  </a:txBody>
                  <a:tcPr>
                    <a:solidFill>
                      <a:srgbClr val="002060"/>
                    </a:solidFill>
                  </a:tcPr>
                </a:tc>
                <a:tc>
                  <a:txBody>
                    <a:bodyPr/>
                    <a:lstStyle/>
                    <a:p>
                      <a:pPr algn="ctr"/>
                      <a:r>
                        <a:rPr sz="850" b="1" i="0">
                          <a:solidFill>
                            <a:srgbClr val="FFFFFF"/>
                          </a:solidFill>
                          <a:latin typeface="Arial"/>
                        </a:rPr>
                        <a:t>Total</a:t>
                      </a:r>
                    </a:p>
                  </a:txBody>
                  <a:tcPr>
                    <a:solidFill>
                      <a:srgbClr val="002060"/>
                    </a:solidFill>
                  </a:tcPr>
                </a:tc>
                <a:tc>
                  <a:txBody>
                    <a:bodyPr/>
                    <a:lstStyle/>
                    <a:p>
                      <a:pPr algn="ctr"/>
                      <a:r>
                        <a:rPr sz="850" b="1" i="0">
                          <a:solidFill>
                            <a:srgbClr val="FFFFFF"/>
                          </a:solidFill>
                          <a:latin typeface="Arial"/>
                        </a:rPr>
                        <a:t>Races</a:t>
                      </a:r>
                    </a:p>
                  </a:txBody>
                  <a:tcPr>
                    <a:solidFill>
                      <a:srgbClr val="002060"/>
                    </a:solidFill>
                  </a:tcPr>
                </a:tc>
                <a:tc>
                  <a:txBody>
                    <a:bodyPr/>
                    <a:lstStyle/>
                    <a:p>
                      <a:pPr algn="ctr"/>
                      <a:r>
                        <a:rPr sz="850" b="1" i="0">
                          <a:solidFill>
                            <a:srgbClr val="FFFFFF"/>
                          </a:solidFill>
                          <a:latin typeface="Arial"/>
                        </a:rPr>
                        <a:t>On</a:t>
                      </a:r>
                    </a:p>
                  </a:txBody>
                  <a:tcPr>
                    <a:solidFill>
                      <a:srgbClr val="002060"/>
                    </a:solidFill>
                  </a:tcPr>
                </a:tc>
                <a:tc>
                  <a:txBody>
                    <a:bodyPr/>
                    <a:lstStyle/>
                    <a:p>
                      <a:pPr algn="ctr"/>
                      <a:r>
                        <a:rPr sz="850" b="1" i="0">
                          <a:solidFill>
                            <a:srgbClr val="FFFFFF"/>
                          </a:solidFill>
                          <a:latin typeface="Arial"/>
                        </a:rPr>
                        <a:t>Off</a:t>
                      </a:r>
                    </a:p>
                  </a:txBody>
                  <a:tcPr>
                    <a:solidFill>
                      <a:srgbClr val="002060"/>
                    </a:solidFill>
                  </a:tcPr>
                </a:tc>
                <a:tc>
                  <a:txBody>
                    <a:bodyPr/>
                    <a:lstStyle/>
                    <a:p>
                      <a:pPr algn="ctr"/>
                      <a:r>
                        <a:rPr sz="850" b="1" i="0">
                          <a:solidFill>
                            <a:srgbClr val="FFFFFF"/>
                          </a:solidFill>
                          <a:latin typeface="Arial"/>
                        </a:rPr>
                        <a:t>Pace</a:t>
                      </a:r>
                    </a:p>
                  </a:txBody>
                  <a:tcPr>
                    <a:solidFill>
                      <a:srgbClr val="002060"/>
                    </a:solidFill>
                  </a:tcPr>
                </a:tc>
                <a:tc>
                  <a:txBody>
                    <a:bodyPr/>
                    <a:lstStyle/>
                    <a:p>
                      <a:pPr algn="ctr"/>
                      <a:r>
                        <a:rPr sz="850" b="1" i="0">
                          <a:solidFill>
                            <a:srgbClr val="FFFFFF"/>
                          </a:solidFill>
                          <a:latin typeface="Arial"/>
                        </a:rPr>
                        <a:t>Proj @12</a:t>
                      </a:r>
                    </a:p>
                  </a:txBody>
                  <a:tcPr>
                    <a:solidFill>
                      <a:srgbClr val="002060"/>
                    </a:solidFill>
                  </a:tcPr>
                </a:tc>
                <a:extLst>
                  <a:ext uri="{0D108BD9-81ED-4DB2-BD59-A6C34878D82A}">
                    <a16:rowId xmlns:a16="http://schemas.microsoft.com/office/drawing/2014/main" val="10000"/>
                  </a:ext>
                </a:extLst>
              </a:tr>
              <a:tr h="201168">
                <a:tc>
                  <a:txBody>
                    <a:bodyPr/>
                    <a:lstStyle/>
                    <a:p>
                      <a:pPr algn="ctr"/>
                      <a:r>
                        <a:rPr sz="750" b="1" i="0">
                          <a:solidFill>
                            <a:srgbClr val="262626"/>
                          </a:solidFill>
                          <a:latin typeface="Arial"/>
                        </a:rPr>
                        <a:t>9</a:t>
                      </a:r>
                    </a:p>
                  </a:txBody>
                  <a:tcPr>
                    <a:solidFill>
                      <a:srgbClr val="FFFFFF"/>
                    </a:solidFill>
                  </a:tcPr>
                </a:tc>
                <a:tc>
                  <a:txBody>
                    <a:bodyPr/>
                    <a:lstStyle/>
                    <a:p>
                      <a:pPr algn="l"/>
                      <a:r>
                        <a:rPr sz="750" b="0" i="0">
                          <a:solidFill>
                            <a:srgbClr val="262626"/>
                          </a:solidFill>
                          <a:latin typeface="Arial"/>
                        </a:rPr>
                        <a:t>Taylor Knibb</a:t>
                      </a:r>
                    </a:p>
                  </a:txBody>
                  <a:tcPr>
                    <a:solidFill>
                      <a:srgbClr val="FFFFFF"/>
                    </a:solidFill>
                  </a:tcPr>
                </a:tc>
                <a:tc>
                  <a:txBody>
                    <a:bodyPr/>
                    <a:lstStyle/>
                    <a:p>
                      <a:pPr algn="ctr"/>
                      <a:r>
                        <a:rPr sz="750" b="1" i="0">
                          <a:solidFill>
                            <a:srgbClr val="262626"/>
                          </a:solidFill>
                          <a:latin typeface="Arial"/>
                        </a:rPr>
                        <a:t>2,047</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4</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511</a:t>
                      </a:r>
                    </a:p>
                  </a:txBody>
                  <a:tcPr>
                    <a:solidFill>
                      <a:srgbClr val="FFFFFF"/>
                    </a:solidFill>
                  </a:tcPr>
                </a:tc>
                <a:tc>
                  <a:txBody>
                    <a:bodyPr/>
                    <a:lstStyle/>
                    <a:p>
                      <a:pPr algn="ctr"/>
                      <a:r>
                        <a:rPr sz="750" b="1" i="0">
                          <a:solidFill>
                            <a:srgbClr val="1B7F3A"/>
                          </a:solidFill>
                          <a:latin typeface="Arial"/>
                        </a:rPr>
                        <a:t>6,142</a:t>
                      </a:r>
                    </a:p>
                  </a:txBody>
                  <a:tcPr>
                    <a:solidFill>
                      <a:srgbClr val="FFFFFF"/>
                    </a:solidFill>
                  </a:tcPr>
                </a:tc>
                <a:extLst>
                  <a:ext uri="{0D108BD9-81ED-4DB2-BD59-A6C34878D82A}">
                    <a16:rowId xmlns:a16="http://schemas.microsoft.com/office/drawing/2014/main" val="10001"/>
                  </a:ext>
                </a:extLst>
              </a:tr>
              <a:tr h="201168">
                <a:tc>
                  <a:txBody>
                    <a:bodyPr/>
                    <a:lstStyle/>
                    <a:p>
                      <a:pPr algn="ctr"/>
                      <a:r>
                        <a:rPr sz="750" b="1" i="0">
                          <a:solidFill>
                            <a:srgbClr val="262626"/>
                          </a:solidFill>
                          <a:latin typeface="Arial"/>
                        </a:rPr>
                        <a:t>13</a:t>
                      </a:r>
                    </a:p>
                  </a:txBody>
                  <a:tcPr>
                    <a:solidFill>
                      <a:srgbClr val="F2F2F2"/>
                    </a:solidFill>
                  </a:tcPr>
                </a:tc>
                <a:tc>
                  <a:txBody>
                    <a:bodyPr/>
                    <a:lstStyle/>
                    <a:p>
                      <a:pPr algn="l"/>
                      <a:r>
                        <a:rPr sz="750" b="0" i="0">
                          <a:solidFill>
                            <a:srgbClr val="262626"/>
                          </a:solidFill>
                          <a:latin typeface="Arial"/>
                        </a:rPr>
                        <a:t>Taylor Spivey</a:t>
                      </a:r>
                    </a:p>
                  </a:txBody>
                  <a:tcPr>
                    <a:solidFill>
                      <a:srgbClr val="F2F2F2"/>
                    </a:solidFill>
                  </a:tcPr>
                </a:tc>
                <a:tc>
                  <a:txBody>
                    <a:bodyPr/>
                    <a:lstStyle/>
                    <a:p>
                      <a:pPr algn="ctr"/>
                      <a:r>
                        <a:rPr sz="750" b="1" i="0">
                          <a:solidFill>
                            <a:srgbClr val="262626"/>
                          </a:solidFill>
                          <a:latin typeface="Arial"/>
                        </a:rPr>
                        <a:t>1,795</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3</a:t>
                      </a:r>
                    </a:p>
                  </a:txBody>
                  <a:tcPr>
                    <a:solidFill>
                      <a:srgbClr val="F2F2F2"/>
                    </a:solidFill>
                  </a:tcPr>
                </a:tc>
                <a:tc>
                  <a:txBody>
                    <a:bodyPr/>
                    <a:lstStyle/>
                    <a:p>
                      <a:pPr algn="ctr"/>
                      <a:r>
                        <a:rPr sz="750" b="1" i="0">
                          <a:solidFill>
                            <a:srgbClr val="C00000"/>
                          </a:solidFill>
                          <a:latin typeface="Arial"/>
                        </a:rPr>
                        <a:t>0</a:t>
                      </a:r>
                    </a:p>
                  </a:txBody>
                  <a:tcPr>
                    <a:solidFill>
                      <a:srgbClr val="F2F2F2"/>
                    </a:solidFill>
                  </a:tcPr>
                </a:tc>
                <a:tc>
                  <a:txBody>
                    <a:bodyPr/>
                    <a:lstStyle/>
                    <a:p>
                      <a:pPr algn="ctr"/>
                      <a:r>
                        <a:rPr sz="750" b="0" i="0">
                          <a:solidFill>
                            <a:srgbClr val="262626"/>
                          </a:solidFill>
                          <a:latin typeface="Arial"/>
                        </a:rPr>
                        <a:t>598</a:t>
                      </a:r>
                    </a:p>
                  </a:txBody>
                  <a:tcPr>
                    <a:solidFill>
                      <a:srgbClr val="F2F2F2"/>
                    </a:solidFill>
                  </a:tcPr>
                </a:tc>
                <a:tc>
                  <a:txBody>
                    <a:bodyPr/>
                    <a:lstStyle/>
                    <a:p>
                      <a:pPr algn="ctr"/>
                      <a:r>
                        <a:rPr sz="750" b="1" i="0">
                          <a:solidFill>
                            <a:srgbClr val="1B7F3A"/>
                          </a:solidFill>
                          <a:latin typeface="Arial"/>
                        </a:rPr>
                        <a:t>7,180</a:t>
                      </a:r>
                    </a:p>
                  </a:txBody>
                  <a:tcPr>
                    <a:solidFill>
                      <a:srgbClr val="F2F2F2"/>
                    </a:solidFill>
                  </a:tcPr>
                </a:tc>
                <a:extLst>
                  <a:ext uri="{0D108BD9-81ED-4DB2-BD59-A6C34878D82A}">
                    <a16:rowId xmlns:a16="http://schemas.microsoft.com/office/drawing/2014/main" val="10002"/>
                  </a:ext>
                </a:extLst>
              </a:tr>
              <a:tr h="201168">
                <a:tc>
                  <a:txBody>
                    <a:bodyPr/>
                    <a:lstStyle/>
                    <a:p>
                      <a:pPr algn="ctr"/>
                      <a:r>
                        <a:rPr sz="750" b="1" i="0">
                          <a:solidFill>
                            <a:srgbClr val="262626"/>
                          </a:solidFill>
                          <a:latin typeface="Arial"/>
                        </a:rPr>
                        <a:t>15</a:t>
                      </a:r>
                    </a:p>
                  </a:txBody>
                  <a:tcPr>
                    <a:solidFill>
                      <a:srgbClr val="FFFFFF"/>
                    </a:solidFill>
                  </a:tcPr>
                </a:tc>
                <a:tc>
                  <a:txBody>
                    <a:bodyPr/>
                    <a:lstStyle/>
                    <a:p>
                      <a:pPr algn="l"/>
                      <a:r>
                        <a:rPr sz="750" b="0" i="0">
                          <a:solidFill>
                            <a:srgbClr val="262626"/>
                          </a:solidFill>
                          <a:latin typeface="Arial"/>
                        </a:rPr>
                        <a:t>Gina Sereno</a:t>
                      </a:r>
                    </a:p>
                  </a:txBody>
                  <a:tcPr>
                    <a:solidFill>
                      <a:srgbClr val="FFFFFF"/>
                    </a:solidFill>
                  </a:tcPr>
                </a:tc>
                <a:tc>
                  <a:txBody>
                    <a:bodyPr/>
                    <a:lstStyle/>
                    <a:p>
                      <a:pPr algn="ctr"/>
                      <a:r>
                        <a:rPr sz="750" b="1" i="0">
                          <a:solidFill>
                            <a:srgbClr val="262626"/>
                          </a:solidFill>
                          <a:latin typeface="Arial"/>
                        </a:rPr>
                        <a:t>1,450</a:t>
                      </a:r>
                    </a:p>
                  </a:txBody>
                  <a:tcPr>
                    <a:solidFill>
                      <a:srgbClr val="FFFFFF"/>
                    </a:solidFill>
                  </a:tcPr>
                </a:tc>
                <a:tc>
                  <a:txBody>
                    <a:bodyPr/>
                    <a:lstStyle/>
                    <a:p>
                      <a:pPr algn="ctr"/>
                      <a:r>
                        <a:rPr sz="750" b="0" i="0">
                          <a:solidFill>
                            <a:srgbClr val="262626"/>
                          </a:solidFill>
                          <a:latin typeface="Arial"/>
                        </a:rPr>
                        <a:t>4</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362</a:t>
                      </a:r>
                    </a:p>
                  </a:txBody>
                  <a:tcPr>
                    <a:solidFill>
                      <a:srgbClr val="FFFFFF"/>
                    </a:solidFill>
                  </a:tcPr>
                </a:tc>
                <a:tc>
                  <a:txBody>
                    <a:bodyPr/>
                    <a:lstStyle/>
                    <a:p>
                      <a:pPr algn="ctr"/>
                      <a:r>
                        <a:rPr sz="750" b="1" i="0">
                          <a:solidFill>
                            <a:srgbClr val="1B7F3A"/>
                          </a:solidFill>
                          <a:latin typeface="Arial"/>
                        </a:rPr>
                        <a:t>4,351</a:t>
                      </a:r>
                    </a:p>
                  </a:txBody>
                  <a:tcPr>
                    <a:solidFill>
                      <a:srgbClr val="FFFFFF"/>
                    </a:solidFill>
                  </a:tcPr>
                </a:tc>
                <a:extLst>
                  <a:ext uri="{0D108BD9-81ED-4DB2-BD59-A6C34878D82A}">
                    <a16:rowId xmlns:a16="http://schemas.microsoft.com/office/drawing/2014/main" val="10003"/>
                  </a:ext>
                </a:extLst>
              </a:tr>
              <a:tr h="201168">
                <a:tc>
                  <a:txBody>
                    <a:bodyPr/>
                    <a:lstStyle/>
                    <a:p>
                      <a:pPr algn="ctr"/>
                      <a:r>
                        <a:rPr sz="750" b="1" i="0">
                          <a:solidFill>
                            <a:srgbClr val="262626"/>
                          </a:solidFill>
                          <a:latin typeface="Arial"/>
                        </a:rPr>
                        <a:t>19</a:t>
                      </a:r>
                    </a:p>
                  </a:txBody>
                  <a:tcPr>
                    <a:solidFill>
                      <a:srgbClr val="F2F2F2"/>
                    </a:solidFill>
                  </a:tcPr>
                </a:tc>
                <a:tc>
                  <a:txBody>
                    <a:bodyPr/>
                    <a:lstStyle/>
                    <a:p>
                      <a:pPr algn="l"/>
                      <a:r>
                        <a:rPr sz="750" b="0" i="0">
                          <a:solidFill>
                            <a:srgbClr val="262626"/>
                          </a:solidFill>
                          <a:latin typeface="Arial"/>
                        </a:rPr>
                        <a:t>Danielle Orie</a:t>
                      </a:r>
                    </a:p>
                  </a:txBody>
                  <a:tcPr>
                    <a:solidFill>
                      <a:srgbClr val="F2F2F2"/>
                    </a:solidFill>
                  </a:tcPr>
                </a:tc>
                <a:tc>
                  <a:txBody>
                    <a:bodyPr/>
                    <a:lstStyle/>
                    <a:p>
                      <a:pPr algn="ctr"/>
                      <a:r>
                        <a:rPr sz="750" b="1" i="0">
                          <a:solidFill>
                            <a:srgbClr val="262626"/>
                          </a:solidFill>
                          <a:latin typeface="Arial"/>
                        </a:rPr>
                        <a:t>1,146</a:t>
                      </a:r>
                    </a:p>
                  </a:txBody>
                  <a:tcPr>
                    <a:solidFill>
                      <a:srgbClr val="F2F2F2"/>
                    </a:solidFill>
                  </a:tcPr>
                </a:tc>
                <a:tc>
                  <a:txBody>
                    <a:bodyPr/>
                    <a:lstStyle/>
                    <a:p>
                      <a:pPr algn="ctr"/>
                      <a:r>
                        <a:rPr sz="750" b="0" i="0">
                          <a:solidFill>
                            <a:srgbClr val="262626"/>
                          </a:solidFill>
                          <a:latin typeface="Arial"/>
                        </a:rPr>
                        <a:t>4</a:t>
                      </a:r>
                    </a:p>
                  </a:txBody>
                  <a:tcPr>
                    <a:solidFill>
                      <a:srgbClr val="F2F2F2"/>
                    </a:solidFill>
                  </a:tcPr>
                </a:tc>
                <a:tc>
                  <a:txBody>
                    <a:bodyPr/>
                    <a:lstStyle/>
                    <a:p>
                      <a:pPr algn="ctr"/>
                      <a:r>
                        <a:rPr sz="750" b="1" i="0">
                          <a:solidFill>
                            <a:srgbClr val="1B7F3A"/>
                          </a:solidFill>
                          <a:latin typeface="Arial"/>
                        </a:rPr>
                        <a:t>2</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286</a:t>
                      </a:r>
                    </a:p>
                  </a:txBody>
                  <a:tcPr>
                    <a:solidFill>
                      <a:srgbClr val="F2F2F2"/>
                    </a:solidFill>
                  </a:tcPr>
                </a:tc>
                <a:tc>
                  <a:txBody>
                    <a:bodyPr/>
                    <a:lstStyle/>
                    <a:p>
                      <a:pPr algn="ctr"/>
                      <a:r>
                        <a:rPr sz="750" b="1" i="0">
                          <a:solidFill>
                            <a:srgbClr val="262626"/>
                          </a:solidFill>
                          <a:latin typeface="Arial"/>
                        </a:rPr>
                        <a:t>3,439</a:t>
                      </a:r>
                    </a:p>
                  </a:txBody>
                  <a:tcPr>
                    <a:solidFill>
                      <a:srgbClr val="F2F2F2"/>
                    </a:solidFill>
                  </a:tcPr>
                </a:tc>
                <a:extLst>
                  <a:ext uri="{0D108BD9-81ED-4DB2-BD59-A6C34878D82A}">
                    <a16:rowId xmlns:a16="http://schemas.microsoft.com/office/drawing/2014/main" val="10004"/>
                  </a:ext>
                </a:extLst>
              </a:tr>
              <a:tr h="201168">
                <a:tc>
                  <a:txBody>
                    <a:bodyPr/>
                    <a:lstStyle/>
                    <a:p>
                      <a:pPr algn="ctr"/>
                      <a:r>
                        <a:rPr sz="750" b="1" i="0">
                          <a:solidFill>
                            <a:srgbClr val="262626"/>
                          </a:solidFill>
                          <a:latin typeface="Arial"/>
                        </a:rPr>
                        <a:t>25</a:t>
                      </a:r>
                    </a:p>
                  </a:txBody>
                  <a:tcPr>
                    <a:solidFill>
                      <a:srgbClr val="FFFFFF"/>
                    </a:solidFill>
                  </a:tcPr>
                </a:tc>
                <a:tc>
                  <a:txBody>
                    <a:bodyPr/>
                    <a:lstStyle/>
                    <a:p>
                      <a:pPr algn="l"/>
                      <a:r>
                        <a:rPr sz="750" b="0" i="0">
                          <a:solidFill>
                            <a:srgbClr val="262626"/>
                          </a:solidFill>
                          <a:latin typeface="Arial"/>
                        </a:rPr>
                        <a:t>Kelly Wetteland</a:t>
                      </a:r>
                    </a:p>
                  </a:txBody>
                  <a:tcPr>
                    <a:solidFill>
                      <a:srgbClr val="FFFFFF"/>
                    </a:solidFill>
                  </a:tcPr>
                </a:tc>
                <a:tc>
                  <a:txBody>
                    <a:bodyPr/>
                    <a:lstStyle/>
                    <a:p>
                      <a:pPr algn="ctr"/>
                      <a:r>
                        <a:rPr sz="750" b="1" i="0">
                          <a:solidFill>
                            <a:srgbClr val="262626"/>
                          </a:solidFill>
                          <a:latin typeface="Arial"/>
                        </a:rPr>
                        <a:t>925</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2</a:t>
                      </a:r>
                    </a:p>
                  </a:txBody>
                  <a:tcPr>
                    <a:solidFill>
                      <a:srgbClr val="FFFFFF"/>
                    </a:solidFill>
                  </a:tcPr>
                </a:tc>
                <a:tc>
                  <a:txBody>
                    <a:bodyPr/>
                    <a:lstStyle/>
                    <a:p>
                      <a:pPr algn="ctr"/>
                      <a:r>
                        <a:rPr sz="750" b="1" i="0">
                          <a:solidFill>
                            <a:srgbClr val="C00000"/>
                          </a:solidFill>
                          <a:latin typeface="Arial"/>
                        </a:rPr>
                        <a:t>0</a:t>
                      </a:r>
                    </a:p>
                  </a:txBody>
                  <a:tcPr>
                    <a:solidFill>
                      <a:srgbClr val="FFFFFF"/>
                    </a:solidFill>
                  </a:tcPr>
                </a:tc>
                <a:tc>
                  <a:txBody>
                    <a:bodyPr/>
                    <a:lstStyle/>
                    <a:p>
                      <a:pPr algn="ctr"/>
                      <a:r>
                        <a:rPr sz="750" b="0" i="0">
                          <a:solidFill>
                            <a:srgbClr val="262626"/>
                          </a:solidFill>
                          <a:latin typeface="Arial"/>
                        </a:rPr>
                        <a:t>462</a:t>
                      </a:r>
                    </a:p>
                  </a:txBody>
                  <a:tcPr>
                    <a:solidFill>
                      <a:srgbClr val="FFFFFF"/>
                    </a:solidFill>
                  </a:tcPr>
                </a:tc>
                <a:tc>
                  <a:txBody>
                    <a:bodyPr/>
                    <a:lstStyle/>
                    <a:p>
                      <a:pPr algn="ctr"/>
                      <a:r>
                        <a:rPr sz="750" b="1" i="0">
                          <a:solidFill>
                            <a:srgbClr val="1B7F3A"/>
                          </a:solidFill>
                          <a:latin typeface="Arial"/>
                        </a:rPr>
                        <a:t>5,550</a:t>
                      </a:r>
                    </a:p>
                  </a:txBody>
                  <a:tcPr>
                    <a:solidFill>
                      <a:srgbClr val="FFFFFF"/>
                    </a:solidFill>
                  </a:tcPr>
                </a:tc>
                <a:extLst>
                  <a:ext uri="{0D108BD9-81ED-4DB2-BD59-A6C34878D82A}">
                    <a16:rowId xmlns:a16="http://schemas.microsoft.com/office/drawing/2014/main" val="10005"/>
                  </a:ext>
                </a:extLst>
              </a:tr>
              <a:tr h="201168">
                <a:tc>
                  <a:txBody>
                    <a:bodyPr/>
                    <a:lstStyle/>
                    <a:p>
                      <a:pPr algn="ctr"/>
                      <a:r>
                        <a:rPr sz="750" b="1" i="0">
                          <a:solidFill>
                            <a:srgbClr val="262626"/>
                          </a:solidFill>
                          <a:latin typeface="Arial"/>
                        </a:rPr>
                        <a:t>29</a:t>
                      </a:r>
                    </a:p>
                  </a:txBody>
                  <a:tcPr>
                    <a:solidFill>
                      <a:srgbClr val="F2F2F2"/>
                    </a:solidFill>
                  </a:tcPr>
                </a:tc>
                <a:tc>
                  <a:txBody>
                    <a:bodyPr/>
                    <a:lstStyle/>
                    <a:p>
                      <a:pPr algn="l"/>
                      <a:r>
                        <a:rPr sz="750" b="0" i="0">
                          <a:solidFill>
                            <a:srgbClr val="262626"/>
                          </a:solidFill>
                          <a:latin typeface="Arial"/>
                        </a:rPr>
                        <a:t>Naomi Ruff</a:t>
                      </a:r>
                    </a:p>
                  </a:txBody>
                  <a:tcPr>
                    <a:solidFill>
                      <a:srgbClr val="F2F2F2"/>
                    </a:solidFill>
                  </a:tcPr>
                </a:tc>
                <a:tc>
                  <a:txBody>
                    <a:bodyPr/>
                    <a:lstStyle/>
                    <a:p>
                      <a:pPr algn="ctr"/>
                      <a:r>
                        <a:rPr sz="750" b="1" i="0">
                          <a:solidFill>
                            <a:srgbClr val="262626"/>
                          </a:solidFill>
                          <a:latin typeface="Arial"/>
                        </a:rPr>
                        <a:t>882</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1</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294</a:t>
                      </a:r>
                    </a:p>
                  </a:txBody>
                  <a:tcPr>
                    <a:solidFill>
                      <a:srgbClr val="F2F2F2"/>
                    </a:solidFill>
                  </a:tcPr>
                </a:tc>
                <a:tc>
                  <a:txBody>
                    <a:bodyPr/>
                    <a:lstStyle/>
                    <a:p>
                      <a:pPr algn="ctr"/>
                      <a:r>
                        <a:rPr sz="750" b="1" i="0">
                          <a:solidFill>
                            <a:srgbClr val="262626"/>
                          </a:solidFill>
                          <a:latin typeface="Arial"/>
                        </a:rPr>
                        <a:t>3,530</a:t>
                      </a:r>
                    </a:p>
                  </a:txBody>
                  <a:tcPr>
                    <a:solidFill>
                      <a:srgbClr val="F2F2F2"/>
                    </a:solidFill>
                  </a:tcPr>
                </a:tc>
                <a:extLst>
                  <a:ext uri="{0D108BD9-81ED-4DB2-BD59-A6C34878D82A}">
                    <a16:rowId xmlns:a16="http://schemas.microsoft.com/office/drawing/2014/main" val="10006"/>
                  </a:ext>
                </a:extLst>
              </a:tr>
              <a:tr h="201168">
                <a:tc>
                  <a:txBody>
                    <a:bodyPr/>
                    <a:lstStyle/>
                    <a:p>
                      <a:pPr algn="ctr"/>
                      <a:r>
                        <a:rPr sz="750" b="1" i="0">
                          <a:solidFill>
                            <a:srgbClr val="262626"/>
                          </a:solidFill>
                          <a:latin typeface="Arial"/>
                        </a:rPr>
                        <a:t>41</a:t>
                      </a:r>
                    </a:p>
                  </a:txBody>
                  <a:tcPr>
                    <a:solidFill>
                      <a:srgbClr val="FFFFFF"/>
                    </a:solidFill>
                  </a:tcPr>
                </a:tc>
                <a:tc>
                  <a:txBody>
                    <a:bodyPr/>
                    <a:lstStyle/>
                    <a:p>
                      <a:pPr algn="l"/>
                      <a:r>
                        <a:rPr sz="750" b="0" i="0">
                          <a:solidFill>
                            <a:srgbClr val="262626"/>
                          </a:solidFill>
                          <a:latin typeface="Arial"/>
                        </a:rPr>
                        <a:t>Erika Ackerlund</a:t>
                      </a:r>
                    </a:p>
                  </a:txBody>
                  <a:tcPr>
                    <a:solidFill>
                      <a:srgbClr val="FFFFFF"/>
                    </a:solidFill>
                  </a:tcPr>
                </a:tc>
                <a:tc>
                  <a:txBody>
                    <a:bodyPr/>
                    <a:lstStyle/>
                    <a:p>
                      <a:pPr algn="ctr"/>
                      <a:r>
                        <a:rPr sz="750" b="1" i="0">
                          <a:solidFill>
                            <a:srgbClr val="262626"/>
                          </a:solidFill>
                          <a:latin typeface="Arial"/>
                        </a:rPr>
                        <a:t>720</a:t>
                      </a:r>
                    </a:p>
                  </a:txBody>
                  <a:tcPr>
                    <a:solidFill>
                      <a:srgbClr val="FFFFFF"/>
                    </a:solidFill>
                  </a:tcPr>
                </a:tc>
                <a:tc>
                  <a:txBody>
                    <a:bodyPr/>
                    <a:lstStyle/>
                    <a:p>
                      <a:pPr algn="ctr"/>
                      <a:r>
                        <a:rPr sz="750" b="0" i="0">
                          <a:solidFill>
                            <a:srgbClr val="262626"/>
                          </a:solidFill>
                          <a:latin typeface="Arial"/>
                        </a:rPr>
                        <a:t>3</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240</a:t>
                      </a:r>
                    </a:p>
                  </a:txBody>
                  <a:tcPr>
                    <a:solidFill>
                      <a:srgbClr val="FFFFFF"/>
                    </a:solidFill>
                  </a:tcPr>
                </a:tc>
                <a:tc>
                  <a:txBody>
                    <a:bodyPr/>
                    <a:lstStyle/>
                    <a:p>
                      <a:pPr algn="ctr"/>
                      <a:r>
                        <a:rPr sz="750" b="1" i="0">
                          <a:solidFill>
                            <a:srgbClr val="262626"/>
                          </a:solidFill>
                          <a:latin typeface="Arial"/>
                        </a:rPr>
                        <a:t>2,882</a:t>
                      </a:r>
                    </a:p>
                  </a:txBody>
                  <a:tcPr>
                    <a:solidFill>
                      <a:srgbClr val="FFFFFF"/>
                    </a:solidFill>
                  </a:tcPr>
                </a:tc>
                <a:extLst>
                  <a:ext uri="{0D108BD9-81ED-4DB2-BD59-A6C34878D82A}">
                    <a16:rowId xmlns:a16="http://schemas.microsoft.com/office/drawing/2014/main" val="10007"/>
                  </a:ext>
                </a:extLst>
              </a:tr>
              <a:tr h="201168">
                <a:tc>
                  <a:txBody>
                    <a:bodyPr/>
                    <a:lstStyle/>
                    <a:p>
                      <a:pPr algn="ctr"/>
                      <a:r>
                        <a:rPr sz="750" b="1" i="0">
                          <a:solidFill>
                            <a:srgbClr val="262626"/>
                          </a:solidFill>
                          <a:latin typeface="Arial"/>
                        </a:rPr>
                        <a:t>52</a:t>
                      </a:r>
                    </a:p>
                  </a:txBody>
                  <a:tcPr>
                    <a:solidFill>
                      <a:srgbClr val="F2F2F2"/>
                    </a:solidFill>
                  </a:tcPr>
                </a:tc>
                <a:tc>
                  <a:txBody>
                    <a:bodyPr/>
                    <a:lstStyle/>
                    <a:p>
                      <a:pPr algn="l"/>
                      <a:r>
                        <a:rPr sz="750" b="0" i="0">
                          <a:solidFill>
                            <a:srgbClr val="262626"/>
                          </a:solidFill>
                          <a:latin typeface="Arial"/>
                        </a:rPr>
                        <a:t>Eleanor Beveridge</a:t>
                      </a:r>
                    </a:p>
                  </a:txBody>
                  <a:tcPr>
                    <a:solidFill>
                      <a:srgbClr val="F2F2F2"/>
                    </a:solidFill>
                  </a:tcPr>
                </a:tc>
                <a:tc>
                  <a:txBody>
                    <a:bodyPr/>
                    <a:lstStyle/>
                    <a:p>
                      <a:pPr algn="ctr"/>
                      <a:r>
                        <a:rPr sz="750" b="1" i="0">
                          <a:solidFill>
                            <a:srgbClr val="262626"/>
                          </a:solidFill>
                          <a:latin typeface="Arial"/>
                        </a:rPr>
                        <a:t>567</a:t>
                      </a:r>
                    </a:p>
                  </a:txBody>
                  <a:tcPr>
                    <a:solidFill>
                      <a:srgbClr val="F2F2F2"/>
                    </a:solidFill>
                  </a:tcPr>
                </a:tc>
                <a:tc>
                  <a:txBody>
                    <a:bodyPr/>
                    <a:lstStyle/>
                    <a:p>
                      <a:pPr algn="ctr"/>
                      <a:r>
                        <a:rPr sz="750" b="0" i="0">
                          <a:solidFill>
                            <a:srgbClr val="262626"/>
                          </a:solidFill>
                          <a:latin typeface="Arial"/>
                        </a:rPr>
                        <a:t>3</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3</a:t>
                      </a:r>
                    </a:p>
                  </a:txBody>
                  <a:tcPr>
                    <a:solidFill>
                      <a:srgbClr val="F2F2F2"/>
                    </a:solidFill>
                  </a:tcPr>
                </a:tc>
                <a:tc>
                  <a:txBody>
                    <a:bodyPr/>
                    <a:lstStyle/>
                    <a:p>
                      <a:pPr algn="ctr"/>
                      <a:r>
                        <a:rPr sz="750" b="0" i="0">
                          <a:solidFill>
                            <a:srgbClr val="262626"/>
                          </a:solidFill>
                          <a:latin typeface="Arial"/>
                        </a:rPr>
                        <a:t>189</a:t>
                      </a:r>
                    </a:p>
                  </a:txBody>
                  <a:tcPr>
                    <a:solidFill>
                      <a:srgbClr val="F2F2F2"/>
                    </a:solidFill>
                  </a:tcPr>
                </a:tc>
                <a:tc>
                  <a:txBody>
                    <a:bodyPr/>
                    <a:lstStyle/>
                    <a:p>
                      <a:pPr algn="ctr"/>
                      <a:r>
                        <a:rPr sz="750" b="1" i="0">
                          <a:solidFill>
                            <a:srgbClr val="262626"/>
                          </a:solidFill>
                          <a:latin typeface="Arial"/>
                        </a:rPr>
                        <a:t>2,269</a:t>
                      </a:r>
                    </a:p>
                  </a:txBody>
                  <a:tcPr>
                    <a:solidFill>
                      <a:srgbClr val="F2F2F2"/>
                    </a:solidFill>
                  </a:tcPr>
                </a:tc>
                <a:extLst>
                  <a:ext uri="{0D108BD9-81ED-4DB2-BD59-A6C34878D82A}">
                    <a16:rowId xmlns:a16="http://schemas.microsoft.com/office/drawing/2014/main" val="10008"/>
                  </a:ext>
                </a:extLst>
              </a:tr>
              <a:tr h="201168">
                <a:tc>
                  <a:txBody>
                    <a:bodyPr/>
                    <a:lstStyle/>
                    <a:p>
                      <a:pPr algn="ctr"/>
                      <a:r>
                        <a:rPr sz="750" b="1" i="0">
                          <a:solidFill>
                            <a:srgbClr val="262626"/>
                          </a:solidFill>
                          <a:latin typeface="Arial"/>
                        </a:rPr>
                        <a:t>54</a:t>
                      </a:r>
                    </a:p>
                  </a:txBody>
                  <a:tcPr>
                    <a:solidFill>
                      <a:srgbClr val="FFFFFF"/>
                    </a:solidFill>
                  </a:tcPr>
                </a:tc>
                <a:tc>
                  <a:txBody>
                    <a:bodyPr/>
                    <a:lstStyle/>
                    <a:p>
                      <a:pPr algn="l"/>
                      <a:r>
                        <a:rPr sz="750" b="0" i="0">
                          <a:solidFill>
                            <a:srgbClr val="262626"/>
                          </a:solidFill>
                          <a:latin typeface="Arial"/>
                        </a:rPr>
                        <a:t>Gwen Jorgensen</a:t>
                      </a:r>
                    </a:p>
                  </a:txBody>
                  <a:tcPr>
                    <a:solidFill>
                      <a:srgbClr val="FFFFFF"/>
                    </a:solidFill>
                  </a:tcPr>
                </a:tc>
                <a:tc>
                  <a:txBody>
                    <a:bodyPr/>
                    <a:lstStyle/>
                    <a:p>
                      <a:pPr algn="ctr"/>
                      <a:r>
                        <a:rPr sz="750" b="1" i="0">
                          <a:solidFill>
                            <a:srgbClr val="262626"/>
                          </a:solidFill>
                          <a:latin typeface="Arial"/>
                        </a:rPr>
                        <a:t>556</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1</a:t>
                      </a:r>
                    </a:p>
                  </a:txBody>
                  <a:tcPr>
                    <a:solidFill>
                      <a:srgbClr val="FFFFFF"/>
                    </a:solidFill>
                  </a:tcPr>
                </a:tc>
                <a:tc>
                  <a:txBody>
                    <a:bodyPr/>
                    <a:lstStyle/>
                    <a:p>
                      <a:pPr algn="ctr"/>
                      <a:r>
                        <a:rPr sz="750" b="1" i="0">
                          <a:solidFill>
                            <a:srgbClr val="C00000"/>
                          </a:solidFill>
                          <a:latin typeface="Arial"/>
                        </a:rPr>
                        <a:t>1</a:t>
                      </a:r>
                    </a:p>
                  </a:txBody>
                  <a:tcPr>
                    <a:solidFill>
                      <a:srgbClr val="FFFFFF"/>
                    </a:solidFill>
                  </a:tcPr>
                </a:tc>
                <a:tc>
                  <a:txBody>
                    <a:bodyPr/>
                    <a:lstStyle/>
                    <a:p>
                      <a:pPr algn="ctr"/>
                      <a:r>
                        <a:rPr sz="750" b="0" i="0">
                          <a:solidFill>
                            <a:srgbClr val="262626"/>
                          </a:solidFill>
                          <a:latin typeface="Arial"/>
                        </a:rPr>
                        <a:t>278</a:t>
                      </a:r>
                    </a:p>
                  </a:txBody>
                  <a:tcPr>
                    <a:solidFill>
                      <a:srgbClr val="FFFFFF"/>
                    </a:solidFill>
                  </a:tcPr>
                </a:tc>
                <a:tc>
                  <a:txBody>
                    <a:bodyPr/>
                    <a:lstStyle/>
                    <a:p>
                      <a:pPr algn="ctr"/>
                      <a:r>
                        <a:rPr sz="750" b="1" i="0">
                          <a:solidFill>
                            <a:srgbClr val="262626"/>
                          </a:solidFill>
                          <a:latin typeface="Arial"/>
                        </a:rPr>
                        <a:t>3,337</a:t>
                      </a:r>
                    </a:p>
                  </a:txBody>
                  <a:tcPr>
                    <a:solidFill>
                      <a:srgbClr val="FFFFFF"/>
                    </a:solidFill>
                  </a:tcPr>
                </a:tc>
                <a:extLst>
                  <a:ext uri="{0D108BD9-81ED-4DB2-BD59-A6C34878D82A}">
                    <a16:rowId xmlns:a16="http://schemas.microsoft.com/office/drawing/2014/main" val="10009"/>
                  </a:ext>
                </a:extLst>
              </a:tr>
              <a:tr h="201168">
                <a:tc>
                  <a:txBody>
                    <a:bodyPr/>
                    <a:lstStyle/>
                    <a:p>
                      <a:pPr algn="ctr"/>
                      <a:r>
                        <a:rPr sz="750" b="1" i="0">
                          <a:solidFill>
                            <a:srgbClr val="262626"/>
                          </a:solidFill>
                          <a:latin typeface="Arial"/>
                        </a:rPr>
                        <a:t>84</a:t>
                      </a:r>
                    </a:p>
                  </a:txBody>
                  <a:tcPr>
                    <a:solidFill>
                      <a:srgbClr val="F2F2F2"/>
                    </a:solidFill>
                  </a:tcPr>
                </a:tc>
                <a:tc>
                  <a:txBody>
                    <a:bodyPr/>
                    <a:lstStyle/>
                    <a:p>
                      <a:pPr algn="l"/>
                      <a:r>
                        <a:rPr sz="750" b="0" i="0">
                          <a:solidFill>
                            <a:srgbClr val="262626"/>
                          </a:solidFill>
                          <a:latin typeface="Arial"/>
                        </a:rPr>
                        <a:t>Rachel Werking</a:t>
                      </a:r>
                    </a:p>
                  </a:txBody>
                  <a:tcPr>
                    <a:solidFill>
                      <a:srgbClr val="F2F2F2"/>
                    </a:solidFill>
                  </a:tcPr>
                </a:tc>
                <a:tc>
                  <a:txBody>
                    <a:bodyPr/>
                    <a:lstStyle/>
                    <a:p>
                      <a:pPr algn="ctr"/>
                      <a:r>
                        <a:rPr sz="750" b="1" i="0">
                          <a:solidFill>
                            <a:srgbClr val="262626"/>
                          </a:solidFill>
                          <a:latin typeface="Arial"/>
                        </a:rPr>
                        <a:t>271</a:t>
                      </a:r>
                    </a:p>
                  </a:txBody>
                  <a:tcPr>
                    <a:solidFill>
                      <a:srgbClr val="F2F2F2"/>
                    </a:solidFill>
                  </a:tcPr>
                </a:tc>
                <a:tc>
                  <a:txBody>
                    <a:bodyPr/>
                    <a:lstStyle/>
                    <a:p>
                      <a:pPr algn="ctr"/>
                      <a:r>
                        <a:rPr sz="750" b="0" i="0">
                          <a:solidFill>
                            <a:srgbClr val="262626"/>
                          </a:solidFill>
                          <a:latin typeface="Arial"/>
                        </a:rPr>
                        <a:t>2</a:t>
                      </a:r>
                    </a:p>
                  </a:txBody>
                  <a:tcPr>
                    <a:solidFill>
                      <a:srgbClr val="F2F2F2"/>
                    </a:solidFill>
                  </a:tcPr>
                </a:tc>
                <a:tc>
                  <a:txBody>
                    <a:bodyPr/>
                    <a:lstStyle/>
                    <a:p>
                      <a:pPr algn="ctr"/>
                      <a:r>
                        <a:rPr sz="750" b="1" i="0">
                          <a:solidFill>
                            <a:srgbClr val="1B7F3A"/>
                          </a:solidFill>
                          <a:latin typeface="Arial"/>
                        </a:rPr>
                        <a:t>0</a:t>
                      </a:r>
                    </a:p>
                  </a:txBody>
                  <a:tcPr>
                    <a:solidFill>
                      <a:srgbClr val="F2F2F2"/>
                    </a:solidFill>
                  </a:tcPr>
                </a:tc>
                <a:tc>
                  <a:txBody>
                    <a:bodyPr/>
                    <a:lstStyle/>
                    <a:p>
                      <a:pPr algn="ctr"/>
                      <a:r>
                        <a:rPr sz="750" b="1" i="0">
                          <a:solidFill>
                            <a:srgbClr val="C00000"/>
                          </a:solidFill>
                          <a:latin typeface="Arial"/>
                        </a:rPr>
                        <a:t>2</a:t>
                      </a:r>
                    </a:p>
                  </a:txBody>
                  <a:tcPr>
                    <a:solidFill>
                      <a:srgbClr val="F2F2F2"/>
                    </a:solidFill>
                  </a:tcPr>
                </a:tc>
                <a:tc>
                  <a:txBody>
                    <a:bodyPr/>
                    <a:lstStyle/>
                    <a:p>
                      <a:pPr algn="ctr"/>
                      <a:r>
                        <a:rPr sz="750" b="0" i="0">
                          <a:solidFill>
                            <a:srgbClr val="262626"/>
                          </a:solidFill>
                          <a:latin typeface="Arial"/>
                        </a:rPr>
                        <a:t>135</a:t>
                      </a:r>
                    </a:p>
                  </a:txBody>
                  <a:tcPr>
                    <a:solidFill>
                      <a:srgbClr val="F2F2F2"/>
                    </a:solidFill>
                  </a:tcPr>
                </a:tc>
                <a:tc>
                  <a:txBody>
                    <a:bodyPr/>
                    <a:lstStyle/>
                    <a:p>
                      <a:pPr algn="ctr"/>
                      <a:r>
                        <a:rPr sz="750" b="1" i="0">
                          <a:solidFill>
                            <a:srgbClr val="262626"/>
                          </a:solidFill>
                          <a:latin typeface="Arial"/>
                        </a:rPr>
                        <a:t>1,629</a:t>
                      </a:r>
                    </a:p>
                  </a:txBody>
                  <a:tcPr>
                    <a:solidFill>
                      <a:srgbClr val="F2F2F2"/>
                    </a:solidFill>
                  </a:tcPr>
                </a:tc>
                <a:extLst>
                  <a:ext uri="{0D108BD9-81ED-4DB2-BD59-A6C34878D82A}">
                    <a16:rowId xmlns:a16="http://schemas.microsoft.com/office/drawing/2014/main" val="10010"/>
                  </a:ext>
                </a:extLst>
              </a:tr>
              <a:tr h="201168">
                <a:tc>
                  <a:txBody>
                    <a:bodyPr/>
                    <a:lstStyle/>
                    <a:p>
                      <a:pPr algn="ctr"/>
                      <a:r>
                        <a:rPr sz="750" b="1" i="0">
                          <a:solidFill>
                            <a:srgbClr val="262626"/>
                          </a:solidFill>
                          <a:latin typeface="Arial"/>
                        </a:rPr>
                        <a:t>104</a:t>
                      </a:r>
                    </a:p>
                  </a:txBody>
                  <a:tcPr>
                    <a:solidFill>
                      <a:srgbClr val="FFFFFF"/>
                    </a:solidFill>
                  </a:tcPr>
                </a:tc>
                <a:tc>
                  <a:txBody>
                    <a:bodyPr/>
                    <a:lstStyle/>
                    <a:p>
                      <a:pPr algn="l"/>
                      <a:r>
                        <a:rPr sz="750" b="0" i="0">
                          <a:solidFill>
                            <a:srgbClr val="262626"/>
                          </a:solidFill>
                          <a:latin typeface="Arial"/>
                        </a:rPr>
                        <a:t>Joy Gill</a:t>
                      </a:r>
                    </a:p>
                  </a:txBody>
                  <a:tcPr>
                    <a:solidFill>
                      <a:srgbClr val="FFFFFF"/>
                    </a:solidFill>
                  </a:tcPr>
                </a:tc>
                <a:tc>
                  <a:txBody>
                    <a:bodyPr/>
                    <a:lstStyle/>
                    <a:p>
                      <a:pPr algn="ctr"/>
                      <a:r>
                        <a:rPr sz="750" b="1" i="0">
                          <a:solidFill>
                            <a:srgbClr val="262626"/>
                          </a:solidFill>
                          <a:latin typeface="Arial"/>
                        </a:rPr>
                        <a:t>200</a:t>
                      </a:r>
                    </a:p>
                  </a:txBody>
                  <a:tcPr>
                    <a:solidFill>
                      <a:srgbClr val="FFFFFF"/>
                    </a:solidFill>
                  </a:tcPr>
                </a:tc>
                <a:tc>
                  <a:txBody>
                    <a:bodyPr/>
                    <a:lstStyle/>
                    <a:p>
                      <a:pPr algn="ctr"/>
                      <a:r>
                        <a:rPr sz="750" b="0" i="0">
                          <a:solidFill>
                            <a:srgbClr val="262626"/>
                          </a:solidFill>
                          <a:latin typeface="Arial"/>
                        </a:rPr>
                        <a:t>2</a:t>
                      </a:r>
                    </a:p>
                  </a:txBody>
                  <a:tcPr>
                    <a:solidFill>
                      <a:srgbClr val="FFFFFF"/>
                    </a:solidFill>
                  </a:tcPr>
                </a:tc>
                <a:tc>
                  <a:txBody>
                    <a:bodyPr/>
                    <a:lstStyle/>
                    <a:p>
                      <a:pPr algn="ctr"/>
                      <a:r>
                        <a:rPr sz="750" b="1" i="0">
                          <a:solidFill>
                            <a:srgbClr val="1B7F3A"/>
                          </a:solidFill>
                          <a:latin typeface="Arial"/>
                        </a:rPr>
                        <a:t>0</a:t>
                      </a:r>
                    </a:p>
                  </a:txBody>
                  <a:tcPr>
                    <a:solidFill>
                      <a:srgbClr val="FFFFFF"/>
                    </a:solidFill>
                  </a:tcPr>
                </a:tc>
                <a:tc>
                  <a:txBody>
                    <a:bodyPr/>
                    <a:lstStyle/>
                    <a:p>
                      <a:pPr algn="ctr"/>
                      <a:r>
                        <a:rPr sz="750" b="1" i="0">
                          <a:solidFill>
                            <a:srgbClr val="C00000"/>
                          </a:solidFill>
                          <a:latin typeface="Arial"/>
                        </a:rPr>
                        <a:t>2</a:t>
                      </a:r>
                    </a:p>
                  </a:txBody>
                  <a:tcPr>
                    <a:solidFill>
                      <a:srgbClr val="FFFFFF"/>
                    </a:solidFill>
                  </a:tcPr>
                </a:tc>
                <a:tc>
                  <a:txBody>
                    <a:bodyPr/>
                    <a:lstStyle/>
                    <a:p>
                      <a:pPr algn="ctr"/>
                      <a:r>
                        <a:rPr sz="750" b="0" i="0">
                          <a:solidFill>
                            <a:srgbClr val="262626"/>
                          </a:solidFill>
                          <a:latin typeface="Arial"/>
                        </a:rPr>
                        <a:t>100</a:t>
                      </a:r>
                    </a:p>
                  </a:txBody>
                  <a:tcPr>
                    <a:solidFill>
                      <a:srgbClr val="FFFFFF"/>
                    </a:solidFill>
                  </a:tcPr>
                </a:tc>
                <a:tc>
                  <a:txBody>
                    <a:bodyPr/>
                    <a:lstStyle/>
                    <a:p>
                      <a:pPr algn="ctr"/>
                      <a:r>
                        <a:rPr sz="750" b="1" i="0">
                          <a:solidFill>
                            <a:srgbClr val="262626"/>
                          </a:solidFill>
                          <a:latin typeface="Arial"/>
                        </a:rPr>
                        <a:t>1,203</a:t>
                      </a:r>
                    </a:p>
                  </a:txBody>
                  <a:tcPr>
                    <a:solidFill>
                      <a:srgbClr val="FFFFFF"/>
                    </a:solidFill>
                  </a:tcPr>
                </a:tc>
                <a:extLst>
                  <a:ext uri="{0D108BD9-81ED-4DB2-BD59-A6C34878D82A}">
                    <a16:rowId xmlns:a16="http://schemas.microsoft.com/office/drawing/2014/main" val="10011"/>
                  </a:ext>
                </a:extLst>
              </a:tr>
            </a:tbl>
          </a:graphicData>
        </a:graphic>
      </p:graphicFrame>
      <p:sp>
        <p:nvSpPr>
          <p:cNvPr id="20" name="TextBox 19"/>
          <p:cNvSpPr txBox="1"/>
          <p:nvPr/>
        </p:nvSpPr>
        <p:spPr>
          <a:xfrm>
            <a:off x="274320" y="6419088"/>
            <a:ext cx="11640312" cy="274320"/>
          </a:xfrm>
          <a:prstGeom prst="rect">
            <a:avLst/>
          </a:prstGeom>
          <a:noFill/>
        </p:spPr>
        <p:txBody>
          <a:bodyPr wrap="square">
            <a:spAutoFit/>
          </a:bodyPr>
          <a:lstStyle/>
          <a:p>
            <a:pPr algn="ctr"/>
            <a:r>
              <a:rPr sz="800" b="0" i="1">
                <a:solidFill>
                  <a:srgbClr val="BFBFBF"/>
                </a:solidFill>
                <a:latin typeface="Arial"/>
              </a:rPr>
              <a:t>On = events scoring ≥ pace.  Off = events &lt; pace.  Pace = total breakdown pts ÷ events raced.  Proj @12 = current total + (avg pts × remaining events to cap); green if ≥ Paris cutoff.  Cutoff estimate: Paris 2024 = 3,627 pts / 12 events = 302 pts/event.  Tier positions use a geometric 0.925 points model.  Source: World Triathlon rankings database.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2553</TotalTime>
  <Words>2229</Words>
  <Application>Microsoft Office PowerPoint</Application>
  <PresentationFormat>Custom</PresentationFormat>
  <Paragraphs>846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 High</cp:lastModifiedBy>
  <cp:revision>2</cp:revision>
  <dcterms:created xsi:type="dcterms:W3CDTF">2013-01-27T09:14:16Z</dcterms:created>
  <dcterms:modified xsi:type="dcterms:W3CDTF">2026-08-05T18:54:57Z</dcterms:modified>
  <cp:category/>
</cp:coreProperties>
</file>