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1430000" y="0"/>
            <a:ext cx="758952" cy="685800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3749039"/>
            <a:ext cx="1078992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A_Triathlon_Logo.jpg"/>
          <p:cNvPicPr>
            <a:picLocks noChangeAspect="1"/>
          </p:cNvPicPr>
          <p:nvPr/>
        </p:nvPicPr>
        <p:blipFill>
          <a:blip r:embed="rId2"/>
          <a:stretch>
            <a:fillRect/>
          </a:stretch>
        </p:blipFill>
        <p:spPr>
          <a:xfrm>
            <a:off x="548640" y="365760"/>
            <a:ext cx="1920240" cy="1463040"/>
          </a:xfrm>
          <a:prstGeom prst="rect">
            <a:avLst/>
          </a:prstGeom>
        </p:spPr>
      </p:pic>
      <p:sp>
        <p:nvSpPr>
          <p:cNvPr id="6" name="TextBox 5"/>
          <p:cNvSpPr txBox="1"/>
          <p:nvPr/>
        </p:nvSpPr>
        <p:spPr>
          <a:xfrm>
            <a:off x="457200" y="1828800"/>
            <a:ext cx="10789920" cy="1280160"/>
          </a:xfrm>
          <a:prstGeom prst="rect">
            <a:avLst/>
          </a:prstGeom>
          <a:noFill/>
        </p:spPr>
        <p:txBody>
          <a:bodyPr wrap="square">
            <a:spAutoFit/>
          </a:bodyPr>
          <a:lstStyle/>
          <a:p>
            <a:pPr algn="ctr"/>
            <a:r>
              <a:rPr sz="5400" b="1" i="0">
                <a:solidFill>
                  <a:srgbClr val="FFFFFF"/>
                </a:solidFill>
                <a:latin typeface="Arial"/>
              </a:rPr>
              <a:t>ASUNCION RACE PREVIEW</a:t>
            </a:r>
          </a:p>
        </p:txBody>
      </p:sp>
      <p:sp>
        <p:nvSpPr>
          <p:cNvPr id="7" name="TextBox 6"/>
          <p:cNvSpPr txBox="1"/>
          <p:nvPr/>
        </p:nvSpPr>
        <p:spPr>
          <a:xfrm>
            <a:off x="457200" y="3931920"/>
            <a:ext cx="10789920" cy="548640"/>
          </a:xfrm>
          <a:prstGeom prst="rect">
            <a:avLst/>
          </a:prstGeom>
          <a:noFill/>
        </p:spPr>
        <p:txBody>
          <a:bodyPr wrap="square">
            <a:spAutoFit/>
          </a:bodyPr>
          <a:lstStyle/>
          <a:p>
            <a:pPr algn="ctr"/>
            <a:r>
              <a:rPr sz="1800" b="0" i="0">
                <a:solidFill>
                  <a:srgbClr val="AABBDD"/>
                </a:solidFill>
                <a:latin typeface="Arial"/>
              </a:rPr>
              <a:t>Elite Analysis  ·  August 4 – 9, 2026</a:t>
            </a:r>
          </a:p>
        </p:txBody>
      </p:sp>
      <p:sp>
        <p:nvSpPr>
          <p:cNvPr id="8" name="TextBox 7"/>
          <p:cNvSpPr txBox="1"/>
          <p:nvPr/>
        </p:nvSpPr>
        <p:spPr>
          <a:xfrm>
            <a:off x="457200" y="4572000"/>
            <a:ext cx="10789920" cy="457200"/>
          </a:xfrm>
          <a:prstGeom prst="rect">
            <a:avLst/>
          </a:prstGeom>
          <a:noFill/>
        </p:spPr>
        <p:txBody>
          <a:bodyPr wrap="square">
            <a:spAutoFit/>
          </a:bodyPr>
          <a:lstStyle/>
          <a:p>
            <a:pPr algn="ctr"/>
            <a:r>
              <a:rPr sz="1400" b="0" i="0">
                <a:solidFill>
                  <a:srgbClr val="8090B0"/>
                </a:solidFill>
                <a:latin typeface="Arial"/>
              </a:rPr>
              <a:t>USA Triathlon High Performance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Week Schedule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Asuncion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97280"/>
            <a:ext cx="11640312" cy="384048"/>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61288"/>
            <a:ext cx="11430000" cy="274320"/>
          </a:xfrm>
          <a:prstGeom prst="rect">
            <a:avLst/>
          </a:prstGeom>
          <a:noFill/>
        </p:spPr>
        <p:txBody>
          <a:bodyPr wrap="square">
            <a:spAutoFit/>
          </a:bodyPr>
          <a:lstStyle/>
          <a:p>
            <a:pPr algn="ctr"/>
            <a:r>
              <a:rPr sz="1300" b="1" i="0">
                <a:solidFill>
                  <a:srgbClr val="002060"/>
                </a:solidFill>
                <a:latin typeface="Arial"/>
              </a:rPr>
              <a:t>August 4 – 9, 2026   •   La Isla del Delta, Nueva Asunción (guide states UTC-4; verify — Paraguay moved to permanent UTC-3 in 2024)</a:t>
            </a:r>
          </a:p>
        </p:txBody>
      </p:sp>
      <p:sp>
        <p:nvSpPr>
          <p:cNvPr id="10" name="Rectangle 9"/>
          <p:cNvSpPr/>
          <p:nvPr/>
        </p:nvSpPr>
        <p:spPr>
          <a:xfrm>
            <a:off x="274320"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728216"/>
            <a:ext cx="2555748" cy="201168"/>
          </a:xfrm>
          <a:prstGeom prst="rect">
            <a:avLst/>
          </a:prstGeom>
          <a:noFill/>
        </p:spPr>
        <p:txBody>
          <a:bodyPr wrap="square">
            <a:spAutoFit/>
          </a:bodyPr>
          <a:lstStyle/>
          <a:p>
            <a:pPr algn="ctr"/>
            <a:r>
              <a:rPr sz="1200" b="1" i="0">
                <a:solidFill>
                  <a:srgbClr val="FFFFFF"/>
                </a:solidFill>
                <a:latin typeface="Arial"/>
              </a:rPr>
              <a:t>Tue-Fri • Aug 4-7</a:t>
            </a:r>
          </a:p>
        </p:txBody>
      </p:sp>
      <p:sp>
        <p:nvSpPr>
          <p:cNvPr id="12" name="TextBox 11"/>
          <p:cNvSpPr txBox="1"/>
          <p:nvPr/>
        </p:nvSpPr>
        <p:spPr>
          <a:xfrm>
            <a:off x="365760" y="1929384"/>
            <a:ext cx="2555748" cy="201168"/>
          </a:xfrm>
          <a:prstGeom prst="rect">
            <a:avLst/>
          </a:prstGeom>
          <a:noFill/>
        </p:spPr>
        <p:txBody>
          <a:bodyPr wrap="square">
            <a:spAutoFit/>
          </a:bodyPr>
          <a:lstStyle/>
          <a:p>
            <a:pPr algn="ctr"/>
            <a:r>
              <a:rPr sz="950" b="0" i="1">
                <a:solidFill>
                  <a:srgbClr val="AABBDD"/>
                </a:solidFill>
                <a:latin typeface="Arial"/>
              </a:rPr>
              <a:t>Non-Official Training</a:t>
            </a:r>
          </a:p>
        </p:txBody>
      </p:sp>
      <p:graphicFrame>
        <p:nvGraphicFramePr>
          <p:cNvPr id="13" name="Table 12"/>
          <p:cNvGraphicFramePr>
            <a:graphicFrameLocks noGrp="1"/>
          </p:cNvGraphicFramePr>
          <p:nvPr/>
        </p:nvGraphicFramePr>
        <p:xfrm>
          <a:off x="274320" y="2240280"/>
          <a:ext cx="2738627" cy="2011680"/>
        </p:xfrm>
        <a:graphic>
          <a:graphicData uri="http://schemas.openxmlformats.org/drawingml/2006/table">
            <a:tbl>
              <a:tblPr firstRow="1" bandRow="1">
                <a:tableStyleId>{5C22544A-7EE6-4342-B048-85BDC9FD1C3A}</a:tableStyleId>
              </a:tblPr>
              <a:tblGrid>
                <a:gridCol w="985906"/>
                <a:gridCol w="1752721"/>
              </a:tblGrid>
              <a:tr h="502920">
                <a:tc>
                  <a:txBody>
                    <a:bodyPr wrap="none"/>
                    <a:lstStyle/>
                    <a:p>
                      <a:pPr algn="ctr"/>
                      <a:r>
                        <a:rPr sz="1000" b="0" i="0">
                          <a:solidFill>
                            <a:srgbClr val="262626"/>
                          </a:solidFill>
                          <a:latin typeface="Arial"/>
                        </a:rPr>
                        <a:t>07:00 – 11:00</a:t>
                      </a:r>
                    </a:p>
                  </a:txBody>
                  <a:tcPr>
                    <a:solidFill>
                      <a:srgbClr val="F2F2F2"/>
                    </a:solidFill>
                  </a:tcPr>
                </a:tc>
                <a:tc>
                  <a:txBody>
                    <a:bodyPr wrap="none"/>
                    <a:lstStyle/>
                    <a:p>
                      <a:pPr algn="l"/>
                      <a:r>
                        <a:rPr sz="1000" b="0" i="0">
                          <a:solidFill>
                            <a:srgbClr val="262626"/>
                          </a:solidFill>
                          <a:latin typeface="Arial"/>
                        </a:rPr>
                        <a:t>Swim — COP Olympic Aquatic Centre</a:t>
                      </a:r>
                    </a:p>
                  </a:txBody>
                  <a:tcPr>
                    <a:solidFill>
                      <a:srgbClr val="F2F2F2"/>
                    </a:solidFill>
                  </a:tcPr>
                </a:tc>
              </a:tr>
              <a:tr h="502920">
                <a:tc>
                  <a:txBody>
                    <a:bodyPr wrap="none"/>
                    <a:lstStyle/>
                    <a:p>
                      <a:pPr algn="ctr"/>
                      <a:r>
                        <a:rPr sz="1000" b="0" i="0">
                          <a:solidFill>
                            <a:srgbClr val="262626"/>
                          </a:solidFill>
                          <a:latin typeface="Arial"/>
                        </a:rPr>
                        <a:t>14:00 – 16:00</a:t>
                      </a:r>
                    </a:p>
                  </a:txBody>
                  <a:tcPr>
                    <a:solidFill>
                      <a:srgbClr val="FFFFFF"/>
                    </a:solidFill>
                  </a:tcPr>
                </a:tc>
                <a:tc>
                  <a:txBody>
                    <a:bodyPr wrap="none"/>
                    <a:lstStyle/>
                    <a:p>
                      <a:pPr algn="l"/>
                      <a:r>
                        <a:rPr sz="1000" b="0" i="0">
                          <a:solidFill>
                            <a:srgbClr val="262626"/>
                          </a:solidFill>
                          <a:latin typeface="Arial"/>
                        </a:rPr>
                        <a:t>Run — COP Athletics Track</a:t>
                      </a:r>
                    </a:p>
                  </a:txBody>
                  <a:tcPr>
                    <a:solidFill>
                      <a:srgbClr val="FFFFFF"/>
                    </a:solidFill>
                  </a:tcPr>
                </a:tc>
              </a:tr>
              <a:tr h="502920">
                <a:tc>
                  <a:txBody>
                    <a:bodyPr wrap="none"/>
                    <a:lstStyle/>
                    <a:p>
                      <a:pPr algn="ctr"/>
                      <a:r>
                        <a:rPr sz="1000" b="0" i="0">
                          <a:solidFill>
                            <a:srgbClr val="262626"/>
                          </a:solidFill>
                          <a:latin typeface="Arial"/>
                        </a:rPr>
                        <a:t>(any time)</a:t>
                      </a:r>
                    </a:p>
                  </a:txBody>
                  <a:tcPr>
                    <a:solidFill>
                      <a:srgbClr val="F2F2F2"/>
                    </a:solidFill>
                  </a:tcPr>
                </a:tc>
                <a:tc>
                  <a:txBody>
                    <a:bodyPr wrap="none"/>
                    <a:lstStyle/>
                    <a:p>
                      <a:pPr algn="l"/>
                      <a:r>
                        <a:rPr sz="1000" b="0" i="0">
                          <a:solidFill>
                            <a:srgbClr val="262626"/>
                          </a:solidFill>
                          <a:latin typeface="Arial"/>
                        </a:rPr>
                        <a:t>Bike/run — Costanera Norte is the only recommended road option</a:t>
                      </a:r>
                    </a:p>
                  </a:txBody>
                  <a:tcPr>
                    <a:solidFill>
                      <a:srgbClr val="F2F2F2"/>
                    </a:solidFill>
                  </a:tcPr>
                </a:tc>
              </a:tr>
              <a:tr h="502920">
                <a:tc>
                  <a:txBody>
                    <a:bodyPr wrap="none"/>
                    <a:lstStyle/>
                    <a:p>
                      <a:pPr algn="ctr"/>
                      <a:r>
                        <a:rPr sz="1000" b="0" i="0">
                          <a:solidFill>
                            <a:srgbClr val="262626"/>
                          </a:solidFill>
                          <a:latin typeface="Arial"/>
                        </a:rPr>
                        <a:t>—</a:t>
                      </a:r>
                    </a:p>
                  </a:txBody>
                  <a:tcPr>
                    <a:solidFill>
                      <a:srgbClr val="FFFFFF"/>
                    </a:solidFill>
                  </a:tcPr>
                </a:tc>
                <a:tc>
                  <a:txBody>
                    <a:bodyPr wrap="none"/>
                    <a:lstStyle/>
                    <a:p>
                      <a:pPr algn="l"/>
                      <a:r>
                        <a:rPr sz="1000" b="0" i="0">
                          <a:solidFill>
                            <a:srgbClr val="262626"/>
                          </a:solidFill>
                          <a:latin typeface="Arial"/>
                        </a:rPr>
                        <a:t>⚠ Race venue CLOSED all week: no course access until Saturday</a:t>
                      </a:r>
                    </a:p>
                  </a:txBody>
                  <a:tcPr>
                    <a:solidFill>
                      <a:srgbClr val="FFFFFF"/>
                    </a:solidFill>
                  </a:tcPr>
                </a:tc>
              </a:tr>
            </a:tbl>
          </a:graphicData>
        </a:graphic>
      </p:graphicFrame>
      <p:sp>
        <p:nvSpPr>
          <p:cNvPr id="14" name="Rectangle 13"/>
          <p:cNvSpPr/>
          <p:nvPr/>
        </p:nvSpPr>
        <p:spPr>
          <a:xfrm>
            <a:off x="3241548"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2988" y="1728216"/>
            <a:ext cx="2555748" cy="201168"/>
          </a:xfrm>
          <a:prstGeom prst="rect">
            <a:avLst/>
          </a:prstGeom>
          <a:noFill/>
        </p:spPr>
        <p:txBody>
          <a:bodyPr wrap="square">
            <a:spAutoFit/>
          </a:bodyPr>
          <a:lstStyle/>
          <a:p>
            <a:pPr algn="ctr"/>
            <a:r>
              <a:rPr sz="1200" b="1" i="0">
                <a:solidFill>
                  <a:srgbClr val="FFFFFF"/>
                </a:solidFill>
                <a:latin typeface="Arial"/>
              </a:rPr>
              <a:t>Sat • Aug 8</a:t>
            </a:r>
          </a:p>
        </p:txBody>
      </p:sp>
      <p:sp>
        <p:nvSpPr>
          <p:cNvPr id="16" name="TextBox 15"/>
          <p:cNvSpPr txBox="1"/>
          <p:nvPr/>
        </p:nvSpPr>
        <p:spPr>
          <a:xfrm>
            <a:off x="3332988" y="1929384"/>
            <a:ext cx="2555748" cy="201168"/>
          </a:xfrm>
          <a:prstGeom prst="rect">
            <a:avLst/>
          </a:prstGeom>
          <a:noFill/>
        </p:spPr>
        <p:txBody>
          <a:bodyPr wrap="square">
            <a:spAutoFit/>
          </a:bodyPr>
          <a:lstStyle/>
          <a:p>
            <a:pPr algn="ctr"/>
            <a:r>
              <a:rPr sz="950" b="0" i="1">
                <a:solidFill>
                  <a:srgbClr val="AABBDD"/>
                </a:solidFill>
                <a:latin typeface="Arial"/>
              </a:rPr>
              <a:t>Familiarization &amp; Briefing</a:t>
            </a:r>
          </a:p>
        </p:txBody>
      </p:sp>
      <p:graphicFrame>
        <p:nvGraphicFramePr>
          <p:cNvPr id="17" name="Table 16"/>
          <p:cNvGraphicFramePr>
            <a:graphicFrameLocks noGrp="1"/>
          </p:cNvGraphicFramePr>
          <p:nvPr/>
        </p:nvGraphicFramePr>
        <p:xfrm>
          <a:off x="3241548" y="2240280"/>
          <a:ext cx="2738627" cy="3017520"/>
        </p:xfrm>
        <a:graphic>
          <a:graphicData uri="http://schemas.openxmlformats.org/drawingml/2006/table">
            <a:tbl>
              <a:tblPr firstRow="1" bandRow="1">
                <a:tableStyleId>{5C22544A-7EE6-4342-B048-85BDC9FD1C3A}</a:tableStyleId>
              </a:tblPr>
              <a:tblGrid>
                <a:gridCol w="985906"/>
                <a:gridCol w="1752721"/>
              </a:tblGrid>
              <a:tr h="502920">
                <a:tc>
                  <a:txBody>
                    <a:bodyPr wrap="none"/>
                    <a:lstStyle/>
                    <a:p>
                      <a:pPr algn="ctr"/>
                      <a:r>
                        <a:rPr sz="1000" b="0" i="0">
                          <a:solidFill>
                            <a:srgbClr val="262626"/>
                          </a:solidFill>
                          <a:latin typeface="Arial"/>
                        </a:rPr>
                        <a:t>07:00 – 07:15</a:t>
                      </a:r>
                    </a:p>
                  </a:txBody>
                  <a:tcPr>
                    <a:solidFill>
                      <a:srgbClr val="F2F2F2"/>
                    </a:solidFill>
                  </a:tcPr>
                </a:tc>
                <a:tc>
                  <a:txBody>
                    <a:bodyPr wrap="none"/>
                    <a:lstStyle/>
                    <a:p>
                      <a:pPr algn="l"/>
                      <a:r>
                        <a:rPr sz="1000" b="0" i="0">
                          <a:solidFill>
                            <a:srgbClr val="262626"/>
                          </a:solidFill>
                          <a:latin typeface="Arial"/>
                        </a:rPr>
                        <a:t>Call time at Hotel Esplendor</a:t>
                      </a:r>
                    </a:p>
                  </a:txBody>
                  <a:tcPr>
                    <a:solidFill>
                      <a:srgbClr val="F2F2F2"/>
                    </a:solidFill>
                  </a:tcPr>
                </a:tc>
              </a:tr>
              <a:tr h="502920">
                <a:tc>
                  <a:txBody>
                    <a:bodyPr wrap="none"/>
                    <a:lstStyle/>
                    <a:p>
                      <a:pPr algn="ctr"/>
                      <a:r>
                        <a:rPr sz="1000" b="0" i="0">
                          <a:solidFill>
                            <a:srgbClr val="262626"/>
                          </a:solidFill>
                          <a:latin typeface="Arial"/>
                        </a:rPr>
                        <a:t>08:35 – 08:40</a:t>
                      </a:r>
                    </a:p>
                  </a:txBody>
                  <a:tcPr>
                    <a:solidFill>
                      <a:srgbClr val="FFFFFF"/>
                    </a:solidFill>
                  </a:tcPr>
                </a:tc>
                <a:tc>
                  <a:txBody>
                    <a:bodyPr wrap="none"/>
                    <a:lstStyle/>
                    <a:p>
                      <a:pPr algn="l"/>
                      <a:r>
                        <a:rPr sz="1000" b="0" i="0">
                          <a:solidFill>
                            <a:srgbClr val="262626"/>
                          </a:solidFill>
                          <a:latin typeface="Arial"/>
                        </a:rPr>
                        <a:t>Departure from hotel  →  arrive El Delta 09:20-09:30</a:t>
                      </a:r>
                    </a:p>
                  </a:txBody>
                  <a:tcPr>
                    <a:solidFill>
                      <a:srgbClr val="FFFFFF"/>
                    </a:solidFill>
                  </a:tcPr>
                </a:tc>
              </a:tr>
              <a:tr h="502920">
                <a:tc>
                  <a:txBody>
                    <a:bodyPr wrap="none"/>
                    <a:lstStyle/>
                    <a:p>
                      <a:pPr algn="ctr"/>
                      <a:r>
                        <a:rPr sz="1000" b="0" i="0">
                          <a:solidFill>
                            <a:srgbClr val="262626"/>
                          </a:solidFill>
                          <a:latin typeface="Arial"/>
                        </a:rPr>
                        <a:t>10:00 – 10:30</a:t>
                      </a:r>
                    </a:p>
                  </a:txBody>
                  <a:tcPr>
                    <a:solidFill>
                      <a:srgbClr val="F2F2F2"/>
                    </a:solidFill>
                  </a:tcPr>
                </a:tc>
                <a:tc>
                  <a:txBody>
                    <a:bodyPr wrap="none"/>
                    <a:lstStyle/>
                    <a:p>
                      <a:pPr algn="l"/>
                      <a:r>
                        <a:rPr sz="1000" b="0" i="0">
                          <a:solidFill>
                            <a:srgbClr val="262626"/>
                          </a:solidFill>
                          <a:latin typeface="Arial"/>
                        </a:rPr>
                        <a:t>Bike course familiarization (closed circuit)</a:t>
                      </a:r>
                    </a:p>
                  </a:txBody>
                  <a:tcPr>
                    <a:solidFill>
                      <a:srgbClr val="F2F2F2"/>
                    </a:solidFill>
                  </a:tcPr>
                </a:tc>
              </a:tr>
              <a:tr h="502920">
                <a:tc>
                  <a:txBody>
                    <a:bodyPr wrap="none"/>
                    <a:lstStyle/>
                    <a:p>
                      <a:pPr algn="ctr"/>
                      <a:r>
                        <a:rPr sz="1000" b="0" i="0">
                          <a:solidFill>
                            <a:srgbClr val="262626"/>
                          </a:solidFill>
                          <a:latin typeface="Arial"/>
                        </a:rPr>
                        <a:t>10:45 – 11:30</a:t>
                      </a:r>
                    </a:p>
                  </a:txBody>
                  <a:tcPr>
                    <a:solidFill>
                      <a:srgbClr val="FFFFFF"/>
                    </a:solidFill>
                  </a:tcPr>
                </a:tc>
                <a:tc>
                  <a:txBody>
                    <a:bodyPr wrap="none"/>
                    <a:lstStyle/>
                    <a:p>
                      <a:pPr algn="l"/>
                      <a:r>
                        <a:rPr sz="1000" b="0" i="0">
                          <a:solidFill>
                            <a:srgbClr val="262626"/>
                          </a:solidFill>
                          <a:latin typeface="Arial"/>
                        </a:rPr>
                        <a:t>Swim course familiarization (marked area)</a:t>
                      </a:r>
                    </a:p>
                  </a:txBody>
                  <a:tcPr>
                    <a:solidFill>
                      <a:srgbClr val="FFFFFF"/>
                    </a:solidFill>
                  </a:tcPr>
                </a:tc>
              </a:tr>
              <a:tr h="502920">
                <a:tc>
                  <a:txBody>
                    <a:bodyPr wrap="none"/>
                    <a:lstStyle/>
                    <a:p>
                      <a:pPr algn="ctr"/>
                      <a:r>
                        <a:rPr sz="1000" b="0" i="0">
                          <a:solidFill>
                            <a:srgbClr val="262626"/>
                          </a:solidFill>
                          <a:latin typeface="Arial"/>
                        </a:rPr>
                        <a:t>13:40 – 13:50</a:t>
                      </a:r>
                    </a:p>
                  </a:txBody>
                  <a:tcPr>
                    <a:solidFill>
                      <a:srgbClr val="F2F2F2"/>
                    </a:solidFill>
                  </a:tcPr>
                </a:tc>
                <a:tc>
                  <a:txBody>
                    <a:bodyPr wrap="none"/>
                    <a:lstStyle/>
                    <a:p>
                      <a:pPr algn="l"/>
                      <a:r>
                        <a:rPr sz="1000" b="0" i="0">
                          <a:solidFill>
                            <a:srgbClr val="262626"/>
                          </a:solidFill>
                          <a:latin typeface="Arial"/>
                        </a:rPr>
                        <a:t>Departure from venue  →  arrive hotel 14:45-14:55</a:t>
                      </a:r>
                    </a:p>
                  </a:txBody>
                  <a:tcPr>
                    <a:solidFill>
                      <a:srgbClr val="F2F2F2"/>
                    </a:solidFill>
                  </a:tcPr>
                </a:tc>
              </a:tr>
              <a:tr h="502920">
                <a:tc>
                  <a:txBody>
                    <a:bodyPr wrap="none"/>
                    <a:lstStyle/>
                    <a:p>
                      <a:pPr algn="ctr"/>
                      <a:r>
                        <a:rPr sz="1000" b="1" i="0">
                          <a:solidFill>
                            <a:srgbClr val="C00000"/>
                          </a:solidFill>
                          <a:latin typeface="Arial"/>
                        </a:rPr>
                        <a:t>16:00 – 17:00</a:t>
                      </a:r>
                    </a:p>
                  </a:txBody>
                  <a:tcPr>
                    <a:solidFill>
                      <a:srgbClr val="FDECEC"/>
                    </a:solidFill>
                  </a:tcPr>
                </a:tc>
                <a:tc>
                  <a:txBody>
                    <a:bodyPr wrap="none"/>
                    <a:lstStyle/>
                    <a:p>
                      <a:pPr algn="l"/>
                      <a:r>
                        <a:rPr sz="1000" b="1" i="0">
                          <a:solidFill>
                            <a:srgbClr val="C00000"/>
                          </a:solidFill>
                          <a:latin typeface="Arial"/>
                        </a:rPr>
                        <a:t>★ Mandatory Athlete Briefing — COP</a:t>
                      </a:r>
                    </a:p>
                  </a:txBody>
                  <a:tcPr>
                    <a:solidFill>
                      <a:srgbClr val="FDECEC"/>
                    </a:solidFill>
                  </a:tcPr>
                </a:tc>
              </a:tr>
            </a:tbl>
          </a:graphicData>
        </a:graphic>
      </p:graphicFrame>
      <p:sp>
        <p:nvSpPr>
          <p:cNvPr id="18" name="Rectangle 17"/>
          <p:cNvSpPr/>
          <p:nvPr/>
        </p:nvSpPr>
        <p:spPr>
          <a:xfrm>
            <a:off x="6208776"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0216" y="1728216"/>
            <a:ext cx="2555748" cy="201168"/>
          </a:xfrm>
          <a:prstGeom prst="rect">
            <a:avLst/>
          </a:prstGeom>
          <a:noFill/>
        </p:spPr>
        <p:txBody>
          <a:bodyPr wrap="square">
            <a:spAutoFit/>
          </a:bodyPr>
          <a:lstStyle/>
          <a:p>
            <a:pPr algn="ctr"/>
            <a:r>
              <a:rPr sz="1200" b="1" i="0">
                <a:solidFill>
                  <a:srgbClr val="FFFFFF"/>
                </a:solidFill>
                <a:latin typeface="Arial"/>
              </a:rPr>
              <a:t>Sun • Aug 9</a:t>
            </a:r>
          </a:p>
        </p:txBody>
      </p:sp>
      <p:sp>
        <p:nvSpPr>
          <p:cNvPr id="20" name="TextBox 19"/>
          <p:cNvSpPr txBox="1"/>
          <p:nvPr/>
        </p:nvSpPr>
        <p:spPr>
          <a:xfrm>
            <a:off x="6300216" y="1929384"/>
            <a:ext cx="2555748" cy="201168"/>
          </a:xfrm>
          <a:prstGeom prst="rect">
            <a:avLst/>
          </a:prstGeom>
          <a:noFill/>
        </p:spPr>
        <p:txBody>
          <a:bodyPr wrap="square">
            <a:spAutoFit/>
          </a:bodyPr>
          <a:lstStyle/>
          <a:p>
            <a:pPr algn="ctr"/>
            <a:r>
              <a:rPr sz="950" b="0" i="1">
                <a:solidFill>
                  <a:srgbClr val="AABBDD"/>
                </a:solidFill>
                <a:latin typeface="Arial"/>
              </a:rPr>
              <a:t>ELITE WOMEN — STANDARD</a:t>
            </a:r>
          </a:p>
        </p:txBody>
      </p:sp>
      <p:graphicFrame>
        <p:nvGraphicFramePr>
          <p:cNvPr id="21" name="Table 20"/>
          <p:cNvGraphicFramePr>
            <a:graphicFrameLocks noGrp="1"/>
          </p:cNvGraphicFramePr>
          <p:nvPr/>
        </p:nvGraphicFramePr>
        <p:xfrm>
          <a:off x="6208776" y="2240280"/>
          <a:ext cx="2738627" cy="4023360"/>
        </p:xfrm>
        <a:graphic>
          <a:graphicData uri="http://schemas.openxmlformats.org/drawingml/2006/table">
            <a:tbl>
              <a:tblPr firstRow="1" bandRow="1">
                <a:tableStyleId>{5C22544A-7EE6-4342-B048-85BDC9FD1C3A}</a:tableStyleId>
              </a:tblPr>
              <a:tblGrid>
                <a:gridCol w="985906"/>
                <a:gridCol w="1752721"/>
              </a:tblGrid>
              <a:tr h="502920">
                <a:tc>
                  <a:txBody>
                    <a:bodyPr wrap="none"/>
                    <a:lstStyle/>
                    <a:p>
                      <a:pPr algn="ctr"/>
                      <a:r>
                        <a:rPr sz="1000" b="0" i="0">
                          <a:solidFill>
                            <a:srgbClr val="262626"/>
                          </a:solidFill>
                          <a:latin typeface="Arial"/>
                        </a:rPr>
                        <a:t>04:30</a:t>
                      </a:r>
                    </a:p>
                  </a:txBody>
                  <a:tcPr>
                    <a:solidFill>
                      <a:srgbClr val="F2F2F2"/>
                    </a:solidFill>
                  </a:tcPr>
                </a:tc>
                <a:tc>
                  <a:txBody>
                    <a:bodyPr wrap="none"/>
                    <a:lstStyle/>
                    <a:p>
                      <a:pPr algn="l"/>
                      <a:r>
                        <a:rPr sz="1000" b="0" i="0">
                          <a:solidFill>
                            <a:srgbClr val="262626"/>
                          </a:solidFill>
                          <a:latin typeface="Arial"/>
                        </a:rPr>
                        <a:t>Call time at Hotel Esplendor (Women)</a:t>
                      </a:r>
                    </a:p>
                  </a:txBody>
                  <a:tcPr>
                    <a:solidFill>
                      <a:srgbClr val="F2F2F2"/>
                    </a:solidFill>
                  </a:tcPr>
                </a:tc>
              </a:tr>
              <a:tr h="502920">
                <a:tc>
                  <a:txBody>
                    <a:bodyPr wrap="none"/>
                    <a:lstStyle/>
                    <a:p>
                      <a:pPr algn="ctr"/>
                      <a:r>
                        <a:rPr sz="1000" b="0" i="0">
                          <a:solidFill>
                            <a:srgbClr val="262626"/>
                          </a:solidFill>
                          <a:latin typeface="Arial"/>
                        </a:rPr>
                        <a:t>05:30</a:t>
                      </a:r>
                    </a:p>
                  </a:txBody>
                  <a:tcPr>
                    <a:solidFill>
                      <a:srgbClr val="FFFFFF"/>
                    </a:solidFill>
                  </a:tcPr>
                </a:tc>
                <a:tc>
                  <a:txBody>
                    <a:bodyPr wrap="none"/>
                    <a:lstStyle/>
                    <a:p>
                      <a:pPr algn="l"/>
                      <a:r>
                        <a:rPr sz="1000" b="0" i="0">
                          <a:solidFill>
                            <a:srgbClr val="262626"/>
                          </a:solidFill>
                          <a:latin typeface="Arial"/>
                        </a:rPr>
                        <a:t>Departure from hotel  →  arrive El Delta 06:00</a:t>
                      </a:r>
                    </a:p>
                  </a:txBody>
                  <a:tcPr>
                    <a:solidFill>
                      <a:srgbClr val="FFFFFF"/>
                    </a:solidFill>
                  </a:tcPr>
                </a:tc>
              </a:tr>
              <a:tr h="502920">
                <a:tc>
                  <a:txBody>
                    <a:bodyPr wrap="none"/>
                    <a:lstStyle/>
                    <a:p>
                      <a:pPr algn="ctr"/>
                      <a:r>
                        <a:rPr sz="1000" b="0" i="0">
                          <a:solidFill>
                            <a:srgbClr val="262626"/>
                          </a:solidFill>
                          <a:latin typeface="Arial"/>
                        </a:rPr>
                        <a:t>06:00 – 06:45</a:t>
                      </a:r>
                    </a:p>
                  </a:txBody>
                  <a:tcPr>
                    <a:solidFill>
                      <a:srgbClr val="F2F2F2"/>
                    </a:solidFill>
                  </a:tcPr>
                </a:tc>
                <a:tc>
                  <a:txBody>
                    <a:bodyPr wrap="none"/>
                    <a:lstStyle/>
                    <a:p>
                      <a:pPr algn="l"/>
                      <a:r>
                        <a:rPr sz="1000" b="0" i="0">
                          <a:solidFill>
                            <a:srgbClr val="262626"/>
                          </a:solidFill>
                          <a:latin typeface="Arial"/>
                        </a:rPr>
                        <a:t>Athletes' Lounge opens — check-in</a:t>
                      </a:r>
                    </a:p>
                  </a:txBody>
                  <a:tcPr>
                    <a:solidFill>
                      <a:srgbClr val="F2F2F2"/>
                    </a:solidFill>
                  </a:tcPr>
                </a:tc>
              </a:tr>
              <a:tr h="502920">
                <a:tc>
                  <a:txBody>
                    <a:bodyPr wrap="none"/>
                    <a:lstStyle/>
                    <a:p>
                      <a:pPr algn="ctr"/>
                      <a:r>
                        <a:rPr sz="1000" b="0" i="0">
                          <a:solidFill>
                            <a:srgbClr val="262626"/>
                          </a:solidFill>
                          <a:latin typeface="Arial"/>
                        </a:rPr>
                        <a:t>06:10 – 07:00</a:t>
                      </a:r>
                    </a:p>
                  </a:txBody>
                  <a:tcPr>
                    <a:solidFill>
                      <a:srgbClr val="FFFFFF"/>
                    </a:solidFill>
                  </a:tcPr>
                </a:tc>
                <a:tc>
                  <a:txBody>
                    <a:bodyPr wrap="none"/>
                    <a:lstStyle/>
                    <a:p>
                      <a:pPr algn="l"/>
                      <a:r>
                        <a:rPr sz="1000" b="0" i="0">
                          <a:solidFill>
                            <a:srgbClr val="262626"/>
                          </a:solidFill>
                          <a:latin typeface="Arial"/>
                        </a:rPr>
                        <a:t>Transition area check-in</a:t>
                      </a:r>
                    </a:p>
                  </a:txBody>
                  <a:tcPr>
                    <a:solidFill>
                      <a:srgbClr val="FFFFFF"/>
                    </a:solidFill>
                  </a:tcPr>
                </a:tc>
              </a:tr>
              <a:tr h="502920">
                <a:tc>
                  <a:txBody>
                    <a:bodyPr wrap="none"/>
                    <a:lstStyle/>
                    <a:p>
                      <a:pPr algn="ctr"/>
                      <a:r>
                        <a:rPr sz="1000" b="0" i="0">
                          <a:solidFill>
                            <a:srgbClr val="262626"/>
                          </a:solidFill>
                          <a:latin typeface="Arial"/>
                        </a:rPr>
                        <a:t>06:45 – 07:15</a:t>
                      </a:r>
                    </a:p>
                  </a:txBody>
                  <a:tcPr>
                    <a:solidFill>
                      <a:srgbClr val="F2F2F2"/>
                    </a:solidFill>
                  </a:tcPr>
                </a:tc>
                <a:tc>
                  <a:txBody>
                    <a:bodyPr wrap="none"/>
                    <a:lstStyle/>
                    <a:p>
                      <a:pPr algn="l"/>
                      <a:r>
                        <a:rPr sz="1000" b="0" i="0">
                          <a:solidFill>
                            <a:srgbClr val="262626"/>
                          </a:solidFill>
                          <a:latin typeface="Arial"/>
                        </a:rPr>
                        <a:t>Swim warm-up</a:t>
                      </a:r>
                    </a:p>
                  </a:txBody>
                  <a:tcPr>
                    <a:solidFill>
                      <a:srgbClr val="F2F2F2"/>
                    </a:solidFill>
                  </a:tcPr>
                </a:tc>
              </a:tr>
              <a:tr h="502920">
                <a:tc>
                  <a:txBody>
                    <a:bodyPr wrap="none"/>
                    <a:lstStyle/>
                    <a:p>
                      <a:pPr algn="ctr"/>
                      <a:r>
                        <a:rPr sz="1000" b="0" i="0">
                          <a:solidFill>
                            <a:srgbClr val="262626"/>
                          </a:solidFill>
                          <a:latin typeface="Arial"/>
                        </a:rPr>
                        <a:t>07:20</a:t>
                      </a:r>
                    </a:p>
                  </a:txBody>
                  <a:tcPr>
                    <a:solidFill>
                      <a:srgbClr val="FFFFFF"/>
                    </a:solidFill>
                  </a:tcPr>
                </a:tc>
                <a:tc>
                  <a:txBody>
                    <a:bodyPr wrap="none"/>
                    <a:lstStyle/>
                    <a:p>
                      <a:pPr algn="l"/>
                      <a:r>
                        <a:rPr sz="1000" b="0" i="0">
                          <a:solidFill>
                            <a:srgbClr val="262626"/>
                          </a:solidFill>
                          <a:latin typeface="Arial"/>
                        </a:rPr>
                        <a:t>Athletes' introduction</a:t>
                      </a:r>
                    </a:p>
                  </a:txBody>
                  <a:tcPr>
                    <a:solidFill>
                      <a:srgbClr val="FFFFFF"/>
                    </a:solidFill>
                  </a:tcPr>
                </a:tc>
              </a:tr>
              <a:tr h="502920">
                <a:tc>
                  <a:txBody>
                    <a:bodyPr wrap="none"/>
                    <a:lstStyle/>
                    <a:p>
                      <a:pPr algn="ctr"/>
                      <a:r>
                        <a:rPr sz="1000" b="1" i="0">
                          <a:solidFill>
                            <a:srgbClr val="C00000"/>
                          </a:solidFill>
                          <a:latin typeface="Arial"/>
                        </a:rPr>
                        <a:t>07:30</a:t>
                      </a:r>
                    </a:p>
                  </a:txBody>
                  <a:tcPr>
                    <a:solidFill>
                      <a:srgbClr val="FDECEC"/>
                    </a:solidFill>
                  </a:tcPr>
                </a:tc>
                <a:tc>
                  <a:txBody>
                    <a:bodyPr wrap="none"/>
                    <a:lstStyle/>
                    <a:p>
                      <a:pPr algn="l"/>
                      <a:r>
                        <a:rPr sz="1000" b="1" i="0">
                          <a:solidFill>
                            <a:srgbClr val="C00000"/>
                          </a:solidFill>
                          <a:latin typeface="Arial"/>
                        </a:rPr>
                        <a:t>★ ELITE WOMEN START — 1500 / 40 / 10</a:t>
                      </a:r>
                    </a:p>
                  </a:txBody>
                  <a:tcPr>
                    <a:solidFill>
                      <a:srgbClr val="FDECEC"/>
                    </a:solidFill>
                  </a:tcPr>
                </a:tc>
              </a:tr>
              <a:tr h="502920">
                <a:tc>
                  <a:txBody>
                    <a:bodyPr wrap="none"/>
                    <a:lstStyle/>
                    <a:p>
                      <a:pPr algn="ctr"/>
                      <a:r>
                        <a:rPr sz="1000" b="0" i="0">
                          <a:solidFill>
                            <a:srgbClr val="262626"/>
                          </a:solidFill>
                          <a:latin typeface="Arial"/>
                        </a:rPr>
                        <a:t>~09:30</a:t>
                      </a:r>
                    </a:p>
                  </a:txBody>
                  <a:tcPr>
                    <a:solidFill>
                      <a:srgbClr val="FFFFFF"/>
                    </a:solidFill>
                  </a:tcPr>
                </a:tc>
                <a:tc>
                  <a:txBody>
                    <a:bodyPr wrap="none"/>
                    <a:lstStyle/>
                    <a:p>
                      <a:pPr algn="l"/>
                      <a:r>
                        <a:rPr sz="1000" b="0" i="0">
                          <a:solidFill>
                            <a:srgbClr val="262626"/>
                          </a:solidFill>
                          <a:latin typeface="Arial"/>
                        </a:rPr>
                        <a:t>Projected finish</a:t>
                      </a:r>
                    </a:p>
                  </a:txBody>
                  <a:tcPr>
                    <a:solidFill>
                      <a:srgbClr val="FFFFFF"/>
                    </a:solidFill>
                  </a:tcPr>
                </a:tc>
              </a:tr>
            </a:tbl>
          </a:graphicData>
        </a:graphic>
      </p:graphicFrame>
      <p:sp>
        <p:nvSpPr>
          <p:cNvPr id="22" name="Rectangle 21"/>
          <p:cNvSpPr/>
          <p:nvPr/>
        </p:nvSpPr>
        <p:spPr>
          <a:xfrm>
            <a:off x="9176004"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67444" y="1728216"/>
            <a:ext cx="2555748" cy="201168"/>
          </a:xfrm>
          <a:prstGeom prst="rect">
            <a:avLst/>
          </a:prstGeom>
          <a:noFill/>
        </p:spPr>
        <p:txBody>
          <a:bodyPr wrap="square">
            <a:spAutoFit/>
          </a:bodyPr>
          <a:lstStyle/>
          <a:p>
            <a:pPr algn="ctr"/>
            <a:r>
              <a:rPr sz="1200" b="1" i="0">
                <a:solidFill>
                  <a:srgbClr val="FFFFFF"/>
                </a:solidFill>
                <a:latin typeface="Arial"/>
              </a:rPr>
              <a:t>Sun • Aug 9</a:t>
            </a:r>
          </a:p>
        </p:txBody>
      </p:sp>
      <p:sp>
        <p:nvSpPr>
          <p:cNvPr id="24" name="TextBox 23"/>
          <p:cNvSpPr txBox="1"/>
          <p:nvPr/>
        </p:nvSpPr>
        <p:spPr>
          <a:xfrm>
            <a:off x="9267444" y="1929384"/>
            <a:ext cx="2555748" cy="201168"/>
          </a:xfrm>
          <a:prstGeom prst="rect">
            <a:avLst/>
          </a:prstGeom>
          <a:noFill/>
        </p:spPr>
        <p:txBody>
          <a:bodyPr wrap="square">
            <a:spAutoFit/>
          </a:bodyPr>
          <a:lstStyle/>
          <a:p>
            <a:pPr algn="ctr"/>
            <a:r>
              <a:rPr sz="950" b="0" i="1">
                <a:solidFill>
                  <a:srgbClr val="AABBDD"/>
                </a:solidFill>
                <a:latin typeface="Arial"/>
              </a:rPr>
              <a:t>ELITE MEN — STANDARD</a:t>
            </a:r>
          </a:p>
        </p:txBody>
      </p:sp>
      <p:graphicFrame>
        <p:nvGraphicFramePr>
          <p:cNvPr id="25" name="Table 24"/>
          <p:cNvGraphicFramePr>
            <a:graphicFrameLocks noGrp="1"/>
          </p:cNvGraphicFramePr>
          <p:nvPr/>
        </p:nvGraphicFramePr>
        <p:xfrm>
          <a:off x="9176004" y="2240280"/>
          <a:ext cx="2738627" cy="4023360"/>
        </p:xfrm>
        <a:graphic>
          <a:graphicData uri="http://schemas.openxmlformats.org/drawingml/2006/table">
            <a:tbl>
              <a:tblPr firstRow="1" bandRow="1">
                <a:tableStyleId>{5C22544A-7EE6-4342-B048-85BDC9FD1C3A}</a:tableStyleId>
              </a:tblPr>
              <a:tblGrid>
                <a:gridCol w="985906"/>
                <a:gridCol w="1752721"/>
              </a:tblGrid>
              <a:tr h="502920">
                <a:tc>
                  <a:txBody>
                    <a:bodyPr wrap="none"/>
                    <a:lstStyle/>
                    <a:p>
                      <a:pPr algn="ctr"/>
                      <a:r>
                        <a:rPr sz="1000" b="0" i="0">
                          <a:solidFill>
                            <a:srgbClr val="262626"/>
                          </a:solidFill>
                          <a:latin typeface="Arial"/>
                        </a:rPr>
                        <a:t>06:35</a:t>
                      </a:r>
                    </a:p>
                  </a:txBody>
                  <a:tcPr>
                    <a:solidFill>
                      <a:srgbClr val="F2F2F2"/>
                    </a:solidFill>
                  </a:tcPr>
                </a:tc>
                <a:tc>
                  <a:txBody>
                    <a:bodyPr wrap="none"/>
                    <a:lstStyle/>
                    <a:p>
                      <a:pPr algn="l"/>
                      <a:r>
                        <a:rPr sz="1000" b="0" i="0">
                          <a:solidFill>
                            <a:srgbClr val="262626"/>
                          </a:solidFill>
                          <a:latin typeface="Arial"/>
                        </a:rPr>
                        <a:t>Call time at Hotel Esplendor (Men)</a:t>
                      </a:r>
                    </a:p>
                  </a:txBody>
                  <a:tcPr>
                    <a:solidFill>
                      <a:srgbClr val="F2F2F2"/>
                    </a:solidFill>
                  </a:tcPr>
                </a:tc>
              </a:tr>
              <a:tr h="502920">
                <a:tc>
                  <a:txBody>
                    <a:bodyPr wrap="none"/>
                    <a:lstStyle/>
                    <a:p>
                      <a:pPr algn="ctr"/>
                      <a:r>
                        <a:rPr sz="1000" b="0" i="0">
                          <a:solidFill>
                            <a:srgbClr val="262626"/>
                          </a:solidFill>
                          <a:latin typeface="Arial"/>
                        </a:rPr>
                        <a:t>07:50 – 07:55</a:t>
                      </a:r>
                    </a:p>
                  </a:txBody>
                  <a:tcPr>
                    <a:solidFill>
                      <a:srgbClr val="FFFFFF"/>
                    </a:solidFill>
                  </a:tcPr>
                </a:tc>
                <a:tc>
                  <a:txBody>
                    <a:bodyPr wrap="none"/>
                    <a:lstStyle/>
                    <a:p>
                      <a:pPr algn="l"/>
                      <a:r>
                        <a:rPr sz="1000" b="0" i="0">
                          <a:solidFill>
                            <a:srgbClr val="262626"/>
                          </a:solidFill>
                          <a:latin typeface="Arial"/>
                        </a:rPr>
                        <a:t>Departure from hotel  →  arrive El Delta 08:00-08:20</a:t>
                      </a:r>
                    </a:p>
                  </a:txBody>
                  <a:tcPr>
                    <a:solidFill>
                      <a:srgbClr val="FFFFFF"/>
                    </a:solidFill>
                  </a:tcPr>
                </a:tc>
              </a:tr>
              <a:tr h="502920">
                <a:tc>
                  <a:txBody>
                    <a:bodyPr wrap="none"/>
                    <a:lstStyle/>
                    <a:p>
                      <a:pPr algn="ctr"/>
                      <a:r>
                        <a:rPr sz="1000" b="0" i="0">
                          <a:solidFill>
                            <a:srgbClr val="262626"/>
                          </a:solidFill>
                          <a:latin typeface="Arial"/>
                        </a:rPr>
                        <a:t>09:00 – 09:45</a:t>
                      </a:r>
                    </a:p>
                  </a:txBody>
                  <a:tcPr>
                    <a:solidFill>
                      <a:srgbClr val="F2F2F2"/>
                    </a:solidFill>
                  </a:tcPr>
                </a:tc>
                <a:tc>
                  <a:txBody>
                    <a:bodyPr wrap="none"/>
                    <a:lstStyle/>
                    <a:p>
                      <a:pPr algn="l"/>
                      <a:r>
                        <a:rPr sz="1000" b="0" i="0">
                          <a:solidFill>
                            <a:srgbClr val="262626"/>
                          </a:solidFill>
                          <a:latin typeface="Arial"/>
                        </a:rPr>
                        <a:t>Athletes' Lounge opens — check-in</a:t>
                      </a:r>
                    </a:p>
                  </a:txBody>
                  <a:tcPr>
                    <a:solidFill>
                      <a:srgbClr val="F2F2F2"/>
                    </a:solidFill>
                  </a:tcPr>
                </a:tc>
              </a:tr>
              <a:tr h="502920">
                <a:tc>
                  <a:txBody>
                    <a:bodyPr wrap="none"/>
                    <a:lstStyle/>
                    <a:p>
                      <a:pPr algn="ctr"/>
                      <a:r>
                        <a:rPr sz="1000" b="0" i="0">
                          <a:solidFill>
                            <a:srgbClr val="262626"/>
                          </a:solidFill>
                          <a:latin typeface="Arial"/>
                        </a:rPr>
                        <a:t>09:10 – 10:00</a:t>
                      </a:r>
                    </a:p>
                  </a:txBody>
                  <a:tcPr>
                    <a:solidFill>
                      <a:srgbClr val="FFFFFF"/>
                    </a:solidFill>
                  </a:tcPr>
                </a:tc>
                <a:tc>
                  <a:txBody>
                    <a:bodyPr wrap="none"/>
                    <a:lstStyle/>
                    <a:p>
                      <a:pPr algn="l"/>
                      <a:r>
                        <a:rPr sz="1000" b="0" i="0">
                          <a:solidFill>
                            <a:srgbClr val="262626"/>
                          </a:solidFill>
                          <a:latin typeface="Arial"/>
                        </a:rPr>
                        <a:t>Transition area check-in</a:t>
                      </a:r>
                    </a:p>
                  </a:txBody>
                  <a:tcPr>
                    <a:solidFill>
                      <a:srgbClr val="FFFFFF"/>
                    </a:solidFill>
                  </a:tcPr>
                </a:tc>
              </a:tr>
              <a:tr h="502920">
                <a:tc>
                  <a:txBody>
                    <a:bodyPr wrap="none"/>
                    <a:lstStyle/>
                    <a:p>
                      <a:pPr algn="ctr"/>
                      <a:r>
                        <a:rPr sz="1000" b="0" i="0">
                          <a:solidFill>
                            <a:srgbClr val="262626"/>
                          </a:solidFill>
                          <a:latin typeface="Arial"/>
                        </a:rPr>
                        <a:t>09:45 – 10:15</a:t>
                      </a:r>
                    </a:p>
                  </a:txBody>
                  <a:tcPr>
                    <a:solidFill>
                      <a:srgbClr val="F2F2F2"/>
                    </a:solidFill>
                  </a:tcPr>
                </a:tc>
                <a:tc>
                  <a:txBody>
                    <a:bodyPr wrap="none"/>
                    <a:lstStyle/>
                    <a:p>
                      <a:pPr algn="l"/>
                      <a:r>
                        <a:rPr sz="1000" b="0" i="0">
                          <a:solidFill>
                            <a:srgbClr val="262626"/>
                          </a:solidFill>
                          <a:latin typeface="Arial"/>
                        </a:rPr>
                        <a:t>Swim warm-up</a:t>
                      </a:r>
                    </a:p>
                  </a:txBody>
                  <a:tcPr>
                    <a:solidFill>
                      <a:srgbClr val="F2F2F2"/>
                    </a:solidFill>
                  </a:tcPr>
                </a:tc>
              </a:tr>
              <a:tr h="502920">
                <a:tc>
                  <a:txBody>
                    <a:bodyPr wrap="none"/>
                    <a:lstStyle/>
                    <a:p>
                      <a:pPr algn="ctr"/>
                      <a:r>
                        <a:rPr sz="1000" b="0" i="0">
                          <a:solidFill>
                            <a:srgbClr val="262626"/>
                          </a:solidFill>
                          <a:latin typeface="Arial"/>
                        </a:rPr>
                        <a:t>10:20</a:t>
                      </a:r>
                    </a:p>
                  </a:txBody>
                  <a:tcPr>
                    <a:solidFill>
                      <a:srgbClr val="FFFFFF"/>
                    </a:solidFill>
                  </a:tcPr>
                </a:tc>
                <a:tc>
                  <a:txBody>
                    <a:bodyPr wrap="none"/>
                    <a:lstStyle/>
                    <a:p>
                      <a:pPr algn="l"/>
                      <a:r>
                        <a:rPr sz="1000" b="0" i="0">
                          <a:solidFill>
                            <a:srgbClr val="262626"/>
                          </a:solidFill>
                          <a:latin typeface="Arial"/>
                        </a:rPr>
                        <a:t>Athletes' introduction</a:t>
                      </a:r>
                    </a:p>
                  </a:txBody>
                  <a:tcPr>
                    <a:solidFill>
                      <a:srgbClr val="FFFFFF"/>
                    </a:solidFill>
                  </a:tcPr>
                </a:tc>
              </a:tr>
              <a:tr h="502920">
                <a:tc>
                  <a:txBody>
                    <a:bodyPr wrap="none"/>
                    <a:lstStyle/>
                    <a:p>
                      <a:pPr algn="ctr"/>
                      <a:r>
                        <a:rPr sz="1000" b="1" i="0">
                          <a:solidFill>
                            <a:srgbClr val="C00000"/>
                          </a:solidFill>
                          <a:latin typeface="Arial"/>
                        </a:rPr>
                        <a:t>10:30</a:t>
                      </a:r>
                    </a:p>
                  </a:txBody>
                  <a:tcPr>
                    <a:solidFill>
                      <a:srgbClr val="FDECEC"/>
                    </a:solidFill>
                  </a:tcPr>
                </a:tc>
                <a:tc>
                  <a:txBody>
                    <a:bodyPr wrap="none"/>
                    <a:lstStyle/>
                    <a:p>
                      <a:pPr algn="l"/>
                      <a:r>
                        <a:rPr sz="1000" b="1" i="0">
                          <a:solidFill>
                            <a:srgbClr val="C00000"/>
                          </a:solidFill>
                          <a:latin typeface="Arial"/>
                        </a:rPr>
                        <a:t>★ ELITE MEN START — 1500 / 40 / 10</a:t>
                      </a:r>
                    </a:p>
                  </a:txBody>
                  <a:tcPr>
                    <a:solidFill>
                      <a:srgbClr val="FDECEC"/>
                    </a:solidFill>
                  </a:tcPr>
                </a:tc>
              </a:tr>
              <a:tr h="502920">
                <a:tc>
                  <a:txBody>
                    <a:bodyPr wrap="none"/>
                    <a:lstStyle/>
                    <a:p>
                      <a:pPr algn="ctr"/>
                      <a:r>
                        <a:rPr sz="1000" b="0" i="0">
                          <a:solidFill>
                            <a:srgbClr val="262626"/>
                          </a:solidFill>
                          <a:latin typeface="Arial"/>
                        </a:rPr>
                        <a:t>12:30</a:t>
                      </a:r>
                    </a:p>
                  </a:txBody>
                  <a:tcPr>
                    <a:solidFill>
                      <a:srgbClr val="FFFFFF"/>
                    </a:solidFill>
                  </a:tcPr>
                </a:tc>
                <a:tc>
                  <a:txBody>
                    <a:bodyPr wrap="none"/>
                    <a:lstStyle/>
                    <a:p>
                      <a:pPr algn="l"/>
                      <a:r>
                        <a:rPr sz="1000" b="0" i="0">
                          <a:solidFill>
                            <a:srgbClr val="262626"/>
                          </a:solidFill>
                          <a:latin typeface="Arial"/>
                        </a:rPr>
                        <a:t>Award ceremony — Elite Women &amp; Elite Men</a:t>
                      </a:r>
                    </a:p>
                  </a:txBody>
                  <a:tcPr>
                    <a:solidFill>
                      <a:srgbClr val="FFFFFF"/>
                    </a:solidFill>
                  </a:tcPr>
                </a:tc>
              </a:tr>
            </a:tbl>
          </a:graphicData>
        </a:graphic>
      </p:graphicFrame>
      <p:sp>
        <p:nvSpPr>
          <p:cNvPr id="26" name="TextBox 25"/>
          <p:cNvSpPr txBox="1"/>
          <p:nvPr/>
        </p:nvSpPr>
        <p:spPr>
          <a:xfrm>
            <a:off x="274320" y="6355080"/>
            <a:ext cx="11640312" cy="274320"/>
          </a:xfrm>
          <a:prstGeom prst="rect">
            <a:avLst/>
          </a:prstGeom>
          <a:noFill/>
        </p:spPr>
        <p:txBody>
          <a:bodyPr wrap="square">
            <a:spAutoFit/>
          </a:bodyPr>
          <a:lstStyle/>
          <a:p>
            <a:pPr algn="ctr"/>
            <a:r>
              <a:rPr sz="900" b="0" i="1">
                <a:solidFill>
                  <a:srgbClr val="BFBFBF"/>
                </a:solidFill>
                <a:latin typeface="Arial"/>
              </a:rPr>
              <a:t>Times La Isla del Delta, Nueva Asunción (guide states UTC-4; verify — Paraguay moved to permanent UTC-3 in 2024). Schedule confirmed from World Triathlon race-info page / athlete guide; subject to organiser updates.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Key Course Differentiators</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Asuncion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097280"/>
            <a:ext cx="6035040" cy="502920"/>
          </a:xfrm>
          <a:prstGeom prst="rect">
            <a:avLst/>
          </a:prstGeom>
          <a:noFill/>
        </p:spPr>
        <p:txBody>
          <a:bodyPr wrap="square">
            <a:spAutoFit/>
          </a:bodyPr>
          <a:lstStyle/>
          <a:p>
            <a:pPr algn="l"/>
            <a:r>
              <a:rPr sz="2000" b="1" i="0">
                <a:solidFill>
                  <a:srgbClr val="002060"/>
                </a:solidFill>
                <a:latin typeface="Arial"/>
              </a:rPr>
              <a:t>ASUNCION</a:t>
            </a:r>
          </a:p>
        </p:txBody>
      </p:sp>
      <p:sp>
        <p:nvSpPr>
          <p:cNvPr id="9" name="TextBox 8"/>
          <p:cNvSpPr txBox="1"/>
          <p:nvPr/>
        </p:nvSpPr>
        <p:spPr>
          <a:xfrm>
            <a:off x="274320" y="1627632"/>
            <a:ext cx="6035040" cy="1234440"/>
          </a:xfrm>
          <a:prstGeom prst="rect">
            <a:avLst/>
          </a:prstGeom>
          <a:noFill/>
        </p:spPr>
        <p:txBody>
          <a:bodyPr wrap="square">
            <a:spAutoFit/>
          </a:bodyPr>
          <a:lstStyle/>
          <a:p>
            <a:pPr algn="l"/>
            <a:r>
              <a:rPr sz="1100" b="0" i="0">
                <a:solidFill>
                  <a:srgbClr val="262626"/>
                </a:solidFill>
                <a:latin typeface="Arial"/>
              </a:rPr>
              <a:t>The 2026 World Triathlon Cup Asunción is the first World Triathlon elite race ever staged at this venue, and Paraguay's first World Cup. It runs on La Isla del Delta in Nueva Asunción, across the Héroes del Chaco bridge from the capital. Two things make it unusual on the 2026 calendar. First, it is a STANDARD-distance World Cup (1500 m / 40 km / 10 km) at a time when most Cups are sprints, so it rewards a different athlete profile. Second, the course is flat in all three disciplines, on a closed avenue with long straights and few turns, which points to a large intact bike pack and a run-off finish. There is no historical race data at this venue, so every read here comes from the athlete guide and course flyers rather than past results.</a:t>
            </a:r>
          </a:p>
        </p:txBody>
      </p:sp>
      <p:sp>
        <p:nvSpPr>
          <p:cNvPr id="10" name="Rectangle 9"/>
          <p:cNvSpPr/>
          <p:nvPr/>
        </p:nvSpPr>
        <p:spPr>
          <a:xfrm>
            <a:off x="274320" y="2971800"/>
            <a:ext cx="603504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2990088"/>
            <a:ext cx="5669280" cy="274320"/>
          </a:xfrm>
          <a:prstGeom prst="rect">
            <a:avLst/>
          </a:prstGeom>
          <a:noFill/>
        </p:spPr>
        <p:txBody>
          <a:bodyPr wrap="square">
            <a:spAutoFit/>
          </a:bodyPr>
          <a:lstStyle/>
          <a:p>
            <a:pPr algn="l"/>
            <a:r>
              <a:rPr sz="1200" b="1" i="0">
                <a:solidFill>
                  <a:srgbClr val="FFFFFF"/>
                </a:solidFill>
                <a:latin typeface="Arial"/>
              </a:rPr>
              <a:t>COURSE FEATURES</a:t>
            </a:r>
          </a:p>
        </p:txBody>
      </p:sp>
      <p:sp>
        <p:nvSpPr>
          <p:cNvPr id="12" name="TextBox 11"/>
          <p:cNvSpPr txBox="1"/>
          <p:nvPr/>
        </p:nvSpPr>
        <p:spPr>
          <a:xfrm>
            <a:off x="365760" y="3383280"/>
            <a:ext cx="5852160" cy="640080"/>
          </a:xfrm>
          <a:prstGeom prst="rect">
            <a:avLst/>
          </a:prstGeom>
          <a:noFill/>
        </p:spPr>
        <p:txBody>
          <a:bodyPr wrap="square">
            <a:spAutoFit/>
          </a:bodyPr>
          <a:lstStyle/>
          <a:p>
            <a:pPr algn="l"/>
            <a:r>
              <a:rPr sz="1100" b="0" i="0">
                <a:solidFill>
                  <a:srgbClr val="262626"/>
                </a:solidFill>
                <a:latin typeface="Arial"/>
              </a:rPr>
              <a:t>•  STANDARD distance (1500 m / 40 km / 10 km) — not a sprint. Different pacing and fuelling plan from most 2026 Cups.</a:t>
            </a:r>
          </a:p>
        </p:txBody>
      </p:sp>
      <p:sp>
        <p:nvSpPr>
          <p:cNvPr id="13" name="TextBox 12"/>
          <p:cNvSpPr txBox="1"/>
          <p:nvPr/>
        </p:nvSpPr>
        <p:spPr>
          <a:xfrm>
            <a:off x="365760" y="4041648"/>
            <a:ext cx="5852160" cy="640080"/>
          </a:xfrm>
          <a:prstGeom prst="rect">
            <a:avLst/>
          </a:prstGeom>
          <a:noFill/>
        </p:spPr>
        <p:txBody>
          <a:bodyPr wrap="square">
            <a:spAutoFit/>
          </a:bodyPr>
          <a:lstStyle/>
          <a:p>
            <a:pPr algn="l"/>
            <a:r>
              <a:rPr sz="1100" b="0" i="0">
                <a:solidFill>
                  <a:srgbClr val="262626"/>
                </a:solidFill>
                <a:latin typeface="Arial"/>
              </a:rPr>
              <a:t>•  Flat across all three legs: 2 × 750 m lagoon swim, 6 × 6.66 km closed-avenue bike, 4 × 2.35 km + 600 m run.</a:t>
            </a:r>
          </a:p>
        </p:txBody>
      </p:sp>
      <p:sp>
        <p:nvSpPr>
          <p:cNvPr id="14" name="TextBox 13"/>
          <p:cNvSpPr txBox="1"/>
          <p:nvPr/>
        </p:nvSpPr>
        <p:spPr>
          <a:xfrm>
            <a:off x="365760" y="4700016"/>
            <a:ext cx="5852160" cy="640080"/>
          </a:xfrm>
          <a:prstGeom prst="rect">
            <a:avLst/>
          </a:prstGeom>
          <a:noFill/>
        </p:spPr>
        <p:txBody>
          <a:bodyPr wrap="square">
            <a:spAutoFit/>
          </a:bodyPr>
          <a:lstStyle/>
          <a:p>
            <a:pPr algn="l"/>
            <a:r>
              <a:rPr sz="1100" b="0" i="0">
                <a:solidFill>
                  <a:srgbClr val="262626"/>
                </a:solidFill>
                <a:latin typeface="Arial"/>
              </a:rPr>
              <a:t>•  Wetsuit call is live: 18–22 °C forecast straddles the 20 °C elite cut-off. Pack both.</a:t>
            </a:r>
          </a:p>
        </p:txBody>
      </p:sp>
      <p:sp>
        <p:nvSpPr>
          <p:cNvPr id="15" name="TextBox 14"/>
          <p:cNvSpPr txBox="1"/>
          <p:nvPr/>
        </p:nvSpPr>
        <p:spPr>
          <a:xfrm>
            <a:off x="365760" y="5358384"/>
            <a:ext cx="5852160" cy="640080"/>
          </a:xfrm>
          <a:prstGeom prst="rect">
            <a:avLst/>
          </a:prstGeom>
          <a:noFill/>
        </p:spPr>
        <p:txBody>
          <a:bodyPr wrap="square">
            <a:spAutoFit/>
          </a:bodyPr>
          <a:lstStyle/>
          <a:p>
            <a:pPr algn="l"/>
            <a:r>
              <a:rPr sz="1100" b="0" i="0">
                <a:solidFill>
                  <a:srgbClr val="262626"/>
                </a:solidFill>
                <a:latin typeface="Arial"/>
              </a:rPr>
              <a:t>•  August is Paraguayan winter — cool morning starts (Women 07:30, Men 10:30), both finishing before the daily max. Cold-weather warm-up kit matters more than cooling kit.</a:t>
            </a:r>
          </a:p>
        </p:txBody>
      </p:sp>
      <p:sp>
        <p:nvSpPr>
          <p:cNvPr id="16" name="Rectangle 15"/>
          <p:cNvSpPr/>
          <p:nvPr/>
        </p:nvSpPr>
        <p:spPr>
          <a:xfrm>
            <a:off x="6583680" y="1097280"/>
            <a:ext cx="530352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9400" y="1115568"/>
            <a:ext cx="4937760" cy="274320"/>
          </a:xfrm>
          <a:prstGeom prst="rect">
            <a:avLst/>
          </a:prstGeom>
          <a:noFill/>
        </p:spPr>
        <p:txBody>
          <a:bodyPr wrap="square">
            <a:spAutoFit/>
          </a:bodyPr>
          <a:lstStyle/>
          <a:p>
            <a:pPr algn="l"/>
            <a:r>
              <a:rPr sz="1200" b="1" i="0">
                <a:solidFill>
                  <a:srgbClr val="FFFFFF"/>
                </a:solidFill>
                <a:latin typeface="Arial"/>
              </a:rPr>
              <a:t>COURSE AT A GLANCE</a:t>
            </a:r>
          </a:p>
        </p:txBody>
      </p:sp>
      <p:sp>
        <p:nvSpPr>
          <p:cNvPr id="18" name="TextBox 17"/>
          <p:cNvSpPr txBox="1"/>
          <p:nvPr/>
        </p:nvSpPr>
        <p:spPr>
          <a:xfrm>
            <a:off x="6675120" y="1508760"/>
            <a:ext cx="1828800" cy="320040"/>
          </a:xfrm>
          <a:prstGeom prst="rect">
            <a:avLst/>
          </a:prstGeom>
          <a:noFill/>
        </p:spPr>
        <p:txBody>
          <a:bodyPr wrap="square">
            <a:spAutoFit/>
          </a:bodyPr>
          <a:lstStyle/>
          <a:p>
            <a:pPr algn="l"/>
            <a:r>
              <a:rPr sz="1200" b="1" i="0">
                <a:solidFill>
                  <a:srgbClr val="002060"/>
                </a:solidFill>
                <a:latin typeface="Arial"/>
              </a:rPr>
              <a:t>Swim:</a:t>
            </a:r>
          </a:p>
        </p:txBody>
      </p:sp>
      <p:sp>
        <p:nvSpPr>
          <p:cNvPr id="19" name="TextBox 18"/>
          <p:cNvSpPr txBox="1"/>
          <p:nvPr/>
        </p:nvSpPr>
        <p:spPr>
          <a:xfrm>
            <a:off x="8229600" y="1508760"/>
            <a:ext cx="3657600" cy="320040"/>
          </a:xfrm>
          <a:prstGeom prst="rect">
            <a:avLst/>
          </a:prstGeom>
          <a:noFill/>
        </p:spPr>
        <p:txBody>
          <a:bodyPr wrap="square">
            <a:spAutoFit/>
          </a:bodyPr>
          <a:lstStyle/>
          <a:p>
            <a:pPr algn="l"/>
            <a:r>
              <a:rPr sz="1200" b="0" i="0">
                <a:solidFill>
                  <a:srgbClr val="262626"/>
                </a:solidFill>
                <a:latin typeface="Arial"/>
              </a:rPr>
              <a:t>1.5 km – 2 laps × 750 m</a:t>
            </a:r>
          </a:p>
        </p:txBody>
      </p:sp>
      <p:sp>
        <p:nvSpPr>
          <p:cNvPr id="20" name="TextBox 19"/>
          <p:cNvSpPr txBox="1"/>
          <p:nvPr/>
        </p:nvSpPr>
        <p:spPr>
          <a:xfrm>
            <a:off x="6675120" y="1847088"/>
            <a:ext cx="1828800" cy="320040"/>
          </a:xfrm>
          <a:prstGeom prst="rect">
            <a:avLst/>
          </a:prstGeom>
          <a:noFill/>
        </p:spPr>
        <p:txBody>
          <a:bodyPr wrap="square">
            <a:spAutoFit/>
          </a:bodyPr>
          <a:lstStyle/>
          <a:p>
            <a:pPr algn="l"/>
            <a:r>
              <a:rPr sz="1200" b="1" i="0">
                <a:solidFill>
                  <a:srgbClr val="002060"/>
                </a:solidFill>
                <a:latin typeface="Arial"/>
              </a:rPr>
              <a:t>Bike:</a:t>
            </a:r>
          </a:p>
        </p:txBody>
      </p:sp>
      <p:sp>
        <p:nvSpPr>
          <p:cNvPr id="21" name="TextBox 20"/>
          <p:cNvSpPr txBox="1"/>
          <p:nvPr/>
        </p:nvSpPr>
        <p:spPr>
          <a:xfrm>
            <a:off x="8229600" y="1847088"/>
            <a:ext cx="3657600" cy="320040"/>
          </a:xfrm>
          <a:prstGeom prst="rect">
            <a:avLst/>
          </a:prstGeom>
          <a:noFill/>
        </p:spPr>
        <p:txBody>
          <a:bodyPr wrap="square">
            <a:spAutoFit/>
          </a:bodyPr>
          <a:lstStyle/>
          <a:p>
            <a:pPr algn="l"/>
            <a:r>
              <a:rPr sz="1200" b="0" i="0">
                <a:solidFill>
                  <a:srgbClr val="262626"/>
                </a:solidFill>
                <a:latin typeface="Arial"/>
              </a:rPr>
              <a:t>39.96 km – 6 laps × 6.66 km</a:t>
            </a:r>
          </a:p>
        </p:txBody>
      </p:sp>
      <p:sp>
        <p:nvSpPr>
          <p:cNvPr id="22" name="TextBox 21"/>
          <p:cNvSpPr txBox="1"/>
          <p:nvPr/>
        </p:nvSpPr>
        <p:spPr>
          <a:xfrm>
            <a:off x="6675120" y="2185415"/>
            <a:ext cx="1828800" cy="320040"/>
          </a:xfrm>
          <a:prstGeom prst="rect">
            <a:avLst/>
          </a:prstGeom>
          <a:noFill/>
        </p:spPr>
        <p:txBody>
          <a:bodyPr wrap="square">
            <a:spAutoFit/>
          </a:bodyPr>
          <a:lstStyle/>
          <a:p>
            <a:pPr algn="l"/>
            <a:r>
              <a:rPr sz="1200" b="1" i="0">
                <a:solidFill>
                  <a:srgbClr val="002060"/>
                </a:solidFill>
                <a:latin typeface="Arial"/>
              </a:rPr>
              <a:t>Run:</a:t>
            </a:r>
          </a:p>
        </p:txBody>
      </p:sp>
      <p:sp>
        <p:nvSpPr>
          <p:cNvPr id="23" name="TextBox 22"/>
          <p:cNvSpPr txBox="1"/>
          <p:nvPr/>
        </p:nvSpPr>
        <p:spPr>
          <a:xfrm>
            <a:off x="8229600" y="2185415"/>
            <a:ext cx="3657600" cy="320040"/>
          </a:xfrm>
          <a:prstGeom prst="rect">
            <a:avLst/>
          </a:prstGeom>
          <a:noFill/>
        </p:spPr>
        <p:txBody>
          <a:bodyPr wrap="square">
            <a:spAutoFit/>
          </a:bodyPr>
          <a:lstStyle/>
          <a:p>
            <a:pPr algn="l"/>
            <a:r>
              <a:rPr sz="1200" b="0" i="0">
                <a:solidFill>
                  <a:srgbClr val="262626"/>
                </a:solidFill>
                <a:latin typeface="Arial"/>
              </a:rPr>
              <a:t>10 km – 4 laps × 2.35 km</a:t>
            </a:r>
          </a:p>
        </p:txBody>
      </p:sp>
      <p:sp>
        <p:nvSpPr>
          <p:cNvPr id="24" name="TextBox 23"/>
          <p:cNvSpPr txBox="1"/>
          <p:nvPr/>
        </p:nvSpPr>
        <p:spPr>
          <a:xfrm>
            <a:off x="6675120" y="2523744"/>
            <a:ext cx="1828800" cy="320040"/>
          </a:xfrm>
          <a:prstGeom prst="rect">
            <a:avLst/>
          </a:prstGeom>
          <a:noFill/>
        </p:spPr>
        <p:txBody>
          <a:bodyPr wrap="square">
            <a:spAutoFit/>
          </a:bodyPr>
          <a:lstStyle/>
          <a:p>
            <a:pPr algn="l"/>
            <a:r>
              <a:rPr sz="1200" b="1" i="0">
                <a:solidFill>
                  <a:srgbClr val="002060"/>
                </a:solidFill>
                <a:latin typeface="Arial"/>
              </a:rPr>
              <a:t>Format:</a:t>
            </a:r>
          </a:p>
        </p:txBody>
      </p:sp>
      <p:sp>
        <p:nvSpPr>
          <p:cNvPr id="25" name="TextBox 24"/>
          <p:cNvSpPr txBox="1"/>
          <p:nvPr/>
        </p:nvSpPr>
        <p:spPr>
          <a:xfrm>
            <a:off x="8229600" y="2523744"/>
            <a:ext cx="3657600" cy="320040"/>
          </a:xfrm>
          <a:prstGeom prst="rect">
            <a:avLst/>
          </a:prstGeom>
          <a:noFill/>
        </p:spPr>
        <p:txBody>
          <a:bodyPr wrap="square">
            <a:spAutoFit/>
          </a:bodyPr>
          <a:lstStyle/>
          <a:p>
            <a:pPr algn="l"/>
            <a:r>
              <a:rPr sz="1200" b="0" i="0">
                <a:solidFill>
                  <a:srgbClr val="262626"/>
                </a:solidFill>
                <a:latin typeface="Arial"/>
              </a:rPr>
              <a:t>Standard Distance (World Cup)</a:t>
            </a:r>
          </a:p>
        </p:txBody>
      </p:sp>
      <p:sp>
        <p:nvSpPr>
          <p:cNvPr id="26" name="TextBox 25"/>
          <p:cNvSpPr txBox="1"/>
          <p:nvPr/>
        </p:nvSpPr>
        <p:spPr>
          <a:xfrm>
            <a:off x="6675120" y="2862072"/>
            <a:ext cx="1828800" cy="320040"/>
          </a:xfrm>
          <a:prstGeom prst="rect">
            <a:avLst/>
          </a:prstGeom>
          <a:noFill/>
        </p:spPr>
        <p:txBody>
          <a:bodyPr wrap="square">
            <a:spAutoFit/>
          </a:bodyPr>
          <a:lstStyle/>
          <a:p>
            <a:pPr algn="l"/>
            <a:r>
              <a:rPr sz="1200" b="1" i="0">
                <a:solidFill>
                  <a:srgbClr val="002060"/>
                </a:solidFill>
                <a:latin typeface="Arial"/>
              </a:rPr>
              <a:t>Bike Laps:</a:t>
            </a:r>
          </a:p>
        </p:txBody>
      </p:sp>
      <p:sp>
        <p:nvSpPr>
          <p:cNvPr id="27" name="TextBox 26"/>
          <p:cNvSpPr txBox="1"/>
          <p:nvPr/>
        </p:nvSpPr>
        <p:spPr>
          <a:xfrm>
            <a:off x="8229600" y="2862072"/>
            <a:ext cx="3657600" cy="320040"/>
          </a:xfrm>
          <a:prstGeom prst="rect">
            <a:avLst/>
          </a:prstGeom>
          <a:noFill/>
        </p:spPr>
        <p:txBody>
          <a:bodyPr wrap="square">
            <a:spAutoFit/>
          </a:bodyPr>
          <a:lstStyle/>
          <a:p>
            <a:pPr algn="l"/>
            <a:r>
              <a:rPr sz="1200" b="0" i="0">
                <a:solidFill>
                  <a:srgbClr val="262626"/>
                </a:solidFill>
                <a:latin typeface="Arial"/>
              </a:rPr>
              <a:t>6</a:t>
            </a:r>
          </a:p>
        </p:txBody>
      </p:sp>
      <p:sp>
        <p:nvSpPr>
          <p:cNvPr id="28" name="TextBox 27"/>
          <p:cNvSpPr txBox="1"/>
          <p:nvPr/>
        </p:nvSpPr>
        <p:spPr>
          <a:xfrm>
            <a:off x="6675120" y="3200400"/>
            <a:ext cx="1828800" cy="320040"/>
          </a:xfrm>
          <a:prstGeom prst="rect">
            <a:avLst/>
          </a:prstGeom>
          <a:noFill/>
        </p:spPr>
        <p:txBody>
          <a:bodyPr wrap="square">
            <a:spAutoFit/>
          </a:bodyPr>
          <a:lstStyle/>
          <a:p>
            <a:pPr algn="l"/>
            <a:r>
              <a:rPr sz="1200" b="1" i="0">
                <a:solidFill>
                  <a:srgbClr val="002060"/>
                </a:solidFill>
                <a:latin typeface="Arial"/>
              </a:rPr>
              <a:t>Run Laps:</a:t>
            </a:r>
          </a:p>
        </p:txBody>
      </p:sp>
      <p:sp>
        <p:nvSpPr>
          <p:cNvPr id="29" name="TextBox 28"/>
          <p:cNvSpPr txBox="1"/>
          <p:nvPr/>
        </p:nvSpPr>
        <p:spPr>
          <a:xfrm>
            <a:off x="8229600" y="3200400"/>
            <a:ext cx="3657600" cy="320040"/>
          </a:xfrm>
          <a:prstGeom prst="rect">
            <a:avLst/>
          </a:prstGeom>
          <a:noFill/>
        </p:spPr>
        <p:txBody>
          <a:bodyPr wrap="square">
            <a:spAutoFit/>
          </a:bodyPr>
          <a:lstStyle/>
          <a:p>
            <a:pPr algn="l"/>
            <a:r>
              <a:rPr sz="1200" b="0" i="0">
                <a:solidFill>
                  <a:srgbClr val="262626"/>
                </a:solidFill>
                <a:latin typeface="Arial"/>
              </a:rPr>
              <a:t>4</a:t>
            </a:r>
          </a:p>
        </p:txBody>
      </p:sp>
      <p:sp>
        <p:nvSpPr>
          <p:cNvPr id="30" name="Rectangle 29"/>
          <p:cNvSpPr/>
          <p:nvPr/>
        </p:nvSpPr>
        <p:spPr>
          <a:xfrm>
            <a:off x="6583680" y="3657600"/>
            <a:ext cx="530352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9400" y="3675887"/>
            <a:ext cx="4937760" cy="274320"/>
          </a:xfrm>
          <a:prstGeom prst="rect">
            <a:avLst/>
          </a:prstGeom>
          <a:noFill/>
        </p:spPr>
        <p:txBody>
          <a:bodyPr wrap="square">
            <a:spAutoFit/>
          </a:bodyPr>
          <a:lstStyle/>
          <a:p>
            <a:pPr algn="l"/>
            <a:r>
              <a:rPr sz="1200" b="1" i="0">
                <a:solidFill>
                  <a:srgbClr val="FFFFFF"/>
                </a:solidFill>
                <a:latin typeface="Arial"/>
              </a:rPr>
              <a:t>QUICK LINKS</a:t>
            </a:r>
          </a:p>
        </p:txBody>
      </p:sp>
      <p:sp>
        <p:nvSpPr>
          <p:cNvPr id="32" name="TextBox 31"/>
          <p:cNvSpPr txBox="1"/>
          <p:nvPr/>
        </p:nvSpPr>
        <p:spPr>
          <a:xfrm>
            <a:off x="6675120" y="4069080"/>
            <a:ext cx="5120640" cy="274320"/>
          </a:xfrm>
          <a:prstGeom prst="rect">
            <a:avLst/>
          </a:prstGeom>
          <a:noFill/>
        </p:spPr>
        <p:txBody>
          <a:bodyPr wrap="square">
            <a:spAutoFit/>
          </a:bodyPr>
          <a:lstStyle/>
          <a:p>
            <a:pPr algn="l"/>
            <a:r>
              <a:rPr sz="1100" b="1" i="0">
                <a:solidFill>
                  <a:srgbClr val="002060"/>
                </a:solidFill>
                <a:latin typeface="Arial"/>
              </a:rPr>
              <a:t>Current Race Info:</a:t>
            </a:r>
          </a:p>
        </p:txBody>
      </p:sp>
      <p:sp>
        <p:nvSpPr>
          <p:cNvPr id="33" name="TextBox 32"/>
          <p:cNvSpPr txBox="1"/>
          <p:nvPr/>
        </p:nvSpPr>
        <p:spPr>
          <a:xfrm>
            <a:off x="6675120" y="4370832"/>
            <a:ext cx="5120640" cy="384048"/>
          </a:xfrm>
          <a:prstGeom prst="rect">
            <a:avLst/>
          </a:prstGeom>
          <a:noFill/>
        </p:spPr>
        <p:txBody>
          <a:bodyPr wrap="square">
            <a:spAutoFit/>
          </a:bodyPr>
          <a:lstStyle/>
          <a:p>
            <a:pPr algn="l"/>
            <a:r>
              <a:rPr sz="1000" b="0" i="1">
                <a:solidFill>
                  <a:srgbClr val="262626"/>
                </a:solidFill>
                <a:latin typeface="Arial"/>
              </a:rPr>
              <a:t>Race Info | 2026 World Triathlon Cup Asunción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Course Profile &amp; Map</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Asuncion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15568"/>
            <a:ext cx="5669280" cy="333756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148840"/>
            <a:ext cx="5303520" cy="914400"/>
          </a:xfrm>
          <a:prstGeom prst="rect">
            <a:avLst/>
          </a:prstGeom>
          <a:noFill/>
        </p:spPr>
        <p:txBody>
          <a:bodyPr wrap="square">
            <a:spAutoFit/>
          </a:bodyPr>
          <a:lstStyle/>
          <a:p>
            <a:pPr algn="ctr"/>
            <a:r>
              <a:rPr sz="1000" b="0" i="1">
                <a:solidFill>
                  <a:srgbClr val="BFBFBF"/>
                </a:solidFill>
                <a:latin typeface="Arial"/>
              </a:rPr>
              <a:t>[PLACEHOLDER: Insert upcoming course map or race photo here]
Right-click → Replace Image, or paste screenshot
of the World Triathlon course map PDF.</a:t>
            </a:r>
          </a:p>
        </p:txBody>
      </p:sp>
      <p:sp>
        <p:nvSpPr>
          <p:cNvPr id="10" name="TextBox 9"/>
          <p:cNvSpPr txBox="1"/>
          <p:nvPr/>
        </p:nvSpPr>
        <p:spPr>
          <a:xfrm>
            <a:off x="274320" y="4507992"/>
            <a:ext cx="5669280" cy="274320"/>
          </a:xfrm>
          <a:prstGeom prst="rect">
            <a:avLst/>
          </a:prstGeom>
          <a:noFill/>
        </p:spPr>
        <p:txBody>
          <a:bodyPr wrap="square">
            <a:spAutoFit/>
          </a:bodyPr>
          <a:lstStyle/>
          <a:p>
            <a:pPr algn="ctr"/>
            <a:r>
              <a:rPr sz="1200" b="1" i="0">
                <a:solidFill>
                  <a:srgbClr val="002060"/>
                </a:solidFill>
                <a:latin typeface="Arial"/>
              </a:rPr>
              <a:t>2026 Course</a:t>
            </a:r>
          </a:p>
        </p:txBody>
      </p:sp>
      <p:sp>
        <p:nvSpPr>
          <p:cNvPr id="11" name="TextBox 10"/>
          <p:cNvSpPr txBox="1"/>
          <p:nvPr/>
        </p:nvSpPr>
        <p:spPr>
          <a:xfrm>
            <a:off x="274320" y="4773168"/>
            <a:ext cx="5669280" cy="246888"/>
          </a:xfrm>
          <a:prstGeom prst="rect">
            <a:avLst/>
          </a:prstGeom>
          <a:noFill/>
        </p:spPr>
        <p:txBody>
          <a:bodyPr wrap="square">
            <a:spAutoFit/>
          </a:bodyPr>
          <a:lstStyle/>
          <a:p>
            <a:pPr algn="ctr"/>
            <a:r>
              <a:rPr sz="900" b="0" i="1">
                <a:solidFill>
                  <a:srgbClr val="BFBFBF"/>
                </a:solidFill>
                <a:latin typeface="Arial"/>
              </a:rPr>
              <a:t>Source: [PLACEHOLDER: World Triathlon event page URL]</a:t>
            </a:r>
          </a:p>
        </p:txBody>
      </p:sp>
      <p:sp>
        <p:nvSpPr>
          <p:cNvPr id="12" name="Rectangle 11"/>
          <p:cNvSpPr/>
          <p:nvPr/>
        </p:nvSpPr>
        <p:spPr>
          <a:xfrm>
            <a:off x="6263640" y="1115568"/>
            <a:ext cx="5669280" cy="333756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2148840"/>
            <a:ext cx="5303520" cy="914400"/>
          </a:xfrm>
          <a:prstGeom prst="rect">
            <a:avLst/>
          </a:prstGeom>
          <a:noFill/>
        </p:spPr>
        <p:txBody>
          <a:bodyPr wrap="square">
            <a:spAutoFit/>
          </a:bodyPr>
          <a:lstStyle/>
          <a:p>
            <a:pPr algn="ctr"/>
            <a:r>
              <a:rPr sz="1000" b="0" i="1">
                <a:solidFill>
                  <a:srgbClr val="BFBFBF"/>
                </a:solidFill>
                <a:latin typeface="Arial"/>
              </a:rPr>
              <a:t>[PLACEHOLDER: Insert previous year course map or race photo here]
Right-click → Replace Image, or paste screenshot
of the World Triathlon course map PDF.</a:t>
            </a:r>
          </a:p>
        </p:txBody>
      </p:sp>
      <p:sp>
        <p:nvSpPr>
          <p:cNvPr id="14" name="TextBox 13"/>
          <p:cNvSpPr txBox="1"/>
          <p:nvPr/>
        </p:nvSpPr>
        <p:spPr>
          <a:xfrm>
            <a:off x="6263640" y="4507992"/>
            <a:ext cx="5669280" cy="274320"/>
          </a:xfrm>
          <a:prstGeom prst="rect">
            <a:avLst/>
          </a:prstGeom>
          <a:noFill/>
        </p:spPr>
        <p:txBody>
          <a:bodyPr wrap="square">
            <a:spAutoFit/>
          </a:bodyPr>
          <a:lstStyle/>
          <a:p>
            <a:pPr algn="ctr"/>
            <a:r>
              <a:rPr sz="1200" b="1" i="0">
                <a:solidFill>
                  <a:srgbClr val="002060"/>
                </a:solidFill>
                <a:latin typeface="Arial"/>
              </a:rPr>
              <a:t>2025 Course</a:t>
            </a:r>
          </a:p>
        </p:txBody>
      </p:sp>
      <p:sp>
        <p:nvSpPr>
          <p:cNvPr id="15" name="TextBox 14"/>
          <p:cNvSpPr txBox="1"/>
          <p:nvPr/>
        </p:nvSpPr>
        <p:spPr>
          <a:xfrm>
            <a:off x="6263640" y="4773168"/>
            <a:ext cx="5669280" cy="246888"/>
          </a:xfrm>
          <a:prstGeom prst="rect">
            <a:avLst/>
          </a:prstGeom>
          <a:noFill/>
        </p:spPr>
        <p:txBody>
          <a:bodyPr wrap="square">
            <a:spAutoFit/>
          </a:bodyPr>
          <a:lstStyle/>
          <a:p>
            <a:pPr algn="ctr"/>
            <a:r>
              <a:rPr sz="900" b="0" i="1">
                <a:solidFill>
                  <a:srgbClr val="BFBFBF"/>
                </a:solidFill>
                <a:latin typeface="Arial"/>
              </a:rPr>
              <a:t>Source: [PLACEHOLDER: World Triathlon event page URL]</a:t>
            </a:r>
          </a:p>
        </p:txBody>
      </p:sp>
      <p:graphicFrame>
        <p:nvGraphicFramePr>
          <p:cNvPr id="16" name="Table 15"/>
          <p:cNvGraphicFramePr>
            <a:graphicFrameLocks noGrp="1"/>
          </p:cNvGraphicFramePr>
          <p:nvPr/>
        </p:nvGraphicFramePr>
        <p:xfrm>
          <a:off x="274320" y="4956048"/>
          <a:ext cx="11640312" cy="1645920"/>
        </p:xfrm>
        <a:graphic>
          <a:graphicData uri="http://schemas.openxmlformats.org/drawingml/2006/table">
            <a:tbl>
              <a:tblPr firstRow="1" bandRow="1">
                <a:tableStyleId>{5C22544A-7EE6-4342-B048-85BDC9FD1C3A}</a:tableStyleId>
              </a:tblPr>
              <a:tblGrid>
                <a:gridCol w="1463040"/>
                <a:gridCol w="1554480"/>
                <a:gridCol w="914400"/>
                <a:gridCol w="7708392"/>
              </a:tblGrid>
              <a:tr h="411480">
                <a:tc>
                  <a:txBody>
                    <a:bodyPr wrap="none"/>
                    <a:lstStyle/>
                    <a:p>
                      <a:pPr algn="ctr"/>
                      <a:r>
                        <a:rPr sz="1100" b="1" i="0">
                          <a:solidFill>
                            <a:srgbClr val="FFFFFF"/>
                          </a:solidFill>
                          <a:latin typeface="Arial"/>
                        </a:rPr>
                        <a:t>Discipline</a:t>
                      </a:r>
                    </a:p>
                  </a:txBody>
                  <a:tcPr>
                    <a:solidFill>
                      <a:srgbClr val="002060"/>
                    </a:solidFill>
                  </a:tcPr>
                </a:tc>
                <a:tc>
                  <a:txBody>
                    <a:bodyPr wrap="none"/>
                    <a:lstStyle/>
                    <a:p>
                      <a:pPr algn="ctr"/>
                      <a:r>
                        <a:rPr sz="1100" b="1" i="0">
                          <a:solidFill>
                            <a:srgbClr val="FFFFFF"/>
                          </a:solidFill>
                          <a:latin typeface="Arial"/>
                        </a:rPr>
                        <a:t>Distance</a:t>
                      </a:r>
                    </a:p>
                  </a:txBody>
                  <a:tcPr>
                    <a:solidFill>
                      <a:srgbClr val="002060"/>
                    </a:solidFill>
                  </a:tcPr>
                </a:tc>
                <a:tc>
                  <a:txBody>
                    <a:bodyPr wrap="none"/>
                    <a:lstStyle/>
                    <a:p>
                      <a:pPr algn="ctr"/>
                      <a:r>
                        <a:rPr sz="1100" b="1" i="0">
                          <a:solidFill>
                            <a:srgbClr val="FFFFFF"/>
                          </a:solidFill>
                          <a:latin typeface="Arial"/>
                        </a:rPr>
                        <a:t>Laps</a:t>
                      </a:r>
                    </a:p>
                  </a:txBody>
                  <a:tcPr>
                    <a:solidFill>
                      <a:srgbClr val="002060"/>
                    </a:solidFill>
                  </a:tcPr>
                </a:tc>
                <a:tc>
                  <a:txBody>
                    <a:bodyPr wrap="none"/>
                    <a:lstStyle/>
                    <a:p>
                      <a:pPr algn="l"/>
                      <a:r>
                        <a:rPr sz="1100" b="1" i="0">
                          <a:solidFill>
                            <a:srgbClr val="FFFFFF"/>
                          </a:solidFill>
                          <a:latin typeface="Arial"/>
                        </a:rPr>
                        <a:t>Terrain / Notes</a:t>
                      </a:r>
                    </a:p>
                  </a:txBody>
                  <a:tcPr>
                    <a:solidFill>
                      <a:srgbClr val="002060"/>
                    </a:solidFill>
                  </a:tcPr>
                </a:tc>
              </a:tr>
              <a:tr h="411480">
                <a:tc>
                  <a:txBody>
                    <a:bodyPr wrap="none"/>
                    <a:lstStyle/>
                    <a:p>
                      <a:pPr algn="ctr"/>
                      <a:r>
                        <a:rPr sz="1000" b="0" i="0">
                          <a:solidFill>
                            <a:srgbClr val="262626"/>
                          </a:solidFill>
                          <a:latin typeface="Arial"/>
                        </a:rPr>
                        <a:t>Swim</a:t>
                      </a:r>
                    </a:p>
                  </a:txBody>
                  <a:tcPr>
                    <a:solidFill>
                      <a:srgbClr val="FFFFFF"/>
                    </a:solidFill>
                  </a:tcPr>
                </a:tc>
                <a:tc>
                  <a:txBody>
                    <a:bodyPr wrap="none"/>
                    <a:lstStyle/>
                    <a:p>
                      <a:pPr algn="ctr"/>
                      <a:r>
                        <a:rPr sz="1000" b="0" i="0">
                          <a:solidFill>
                            <a:srgbClr val="262626"/>
                          </a:solidFill>
                          <a:latin typeface="Arial"/>
                        </a:rPr>
                        <a:t>—</a:t>
                      </a:r>
                    </a:p>
                  </a:txBody>
                  <a:tcPr>
                    <a:solidFill>
                      <a:srgbClr val="FFFFFF"/>
                    </a:solidFill>
                  </a:tcPr>
                </a:tc>
                <a:tc>
                  <a:txBody>
                    <a:bodyPr wrap="none"/>
                    <a:lstStyle/>
                    <a:p>
                      <a:pPr algn="ctr"/>
                      <a:r>
                        <a:rPr sz="1000" b="0" i="0">
                          <a:solidFill>
                            <a:srgbClr val="262626"/>
                          </a:solidFill>
                          <a:latin typeface="Arial"/>
                        </a:rPr>
                        <a:t>—</a:t>
                      </a:r>
                    </a:p>
                  </a:txBody>
                  <a:tcPr>
                    <a:solidFill>
                      <a:srgbClr val="FFFFFF"/>
                    </a:solidFill>
                  </a:tcPr>
                </a:tc>
                <a:tc>
                  <a:txBody>
                    <a:bodyPr wrap="none"/>
                    <a:lstStyle/>
                    <a:p>
                      <a:pPr algn="l"/>
                      <a:r>
                        <a:rPr sz="1000" b="0" i="0">
                          <a:solidFill>
                            <a:srgbClr val="262626"/>
                          </a:solidFill>
                          <a:latin typeface="Arial"/>
                        </a:rPr>
                        <a:t>[PLACEHOLDER: e.g. Open-water, Bay of Asuncion]</a:t>
                      </a:r>
                    </a:p>
                  </a:txBody>
                  <a:tcPr>
                    <a:solidFill>
                      <a:srgbClr val="FFFFFF"/>
                    </a:solidFill>
                  </a:tcPr>
                </a:tc>
              </a:tr>
              <a:tr h="411480">
                <a:tc>
                  <a:txBody>
                    <a:bodyPr wrap="none"/>
                    <a:lstStyle/>
                    <a:p>
                      <a:pPr algn="ctr"/>
                      <a:r>
                        <a:rPr sz="1000" b="0" i="0">
                          <a:solidFill>
                            <a:srgbClr val="262626"/>
                          </a:solidFill>
                          <a:latin typeface="Arial"/>
                        </a:rPr>
                        <a:t>Bike</a:t>
                      </a:r>
                    </a:p>
                  </a:txBody>
                  <a:tcPr>
                    <a:solidFill>
                      <a:srgbClr val="F2F2F2"/>
                    </a:solidFill>
                  </a:tcPr>
                </a:tc>
                <a:tc>
                  <a:txBody>
                    <a:bodyPr wrap="none"/>
                    <a:lstStyle/>
                    <a:p>
                      <a:pPr algn="ctr"/>
                      <a:r>
                        <a:rPr sz="1000" b="0" i="0">
                          <a:solidFill>
                            <a:srgbClr val="262626"/>
                          </a:solidFill>
                          <a:latin typeface="Arial"/>
                        </a:rPr>
                        <a:t>—</a:t>
                      </a:r>
                    </a:p>
                  </a:txBody>
                  <a:tcPr>
                    <a:solidFill>
                      <a:srgbClr val="F2F2F2"/>
                    </a:solidFill>
                  </a:tcPr>
                </a:tc>
                <a:tc>
                  <a:txBody>
                    <a:bodyPr wrap="none"/>
                    <a:lstStyle/>
                    <a:p>
                      <a:pPr algn="ctr"/>
                      <a:r>
                        <a:rPr sz="1000" b="0" i="0">
                          <a:solidFill>
                            <a:srgbClr val="262626"/>
                          </a:solidFill>
                          <a:latin typeface="Arial"/>
                        </a:rPr>
                        <a:t>—</a:t>
                      </a:r>
                    </a:p>
                  </a:txBody>
                  <a:tcPr>
                    <a:solidFill>
                      <a:srgbClr val="F2F2F2"/>
                    </a:solidFill>
                  </a:tcPr>
                </a:tc>
                <a:tc>
                  <a:txBody>
                    <a:bodyPr wrap="none"/>
                    <a:lstStyle/>
                    <a:p>
                      <a:pPr algn="l"/>
                      <a:r>
                        <a:rPr sz="1000" b="0" i="0">
                          <a:solidFill>
                            <a:srgbClr val="262626"/>
                          </a:solidFill>
                          <a:latin typeface="Arial"/>
                        </a:rPr>
                        <a:t>[PLACEHOLDER: e.g. Flat coastal road circuit, closed course]</a:t>
                      </a:r>
                    </a:p>
                  </a:txBody>
                  <a:tcPr>
                    <a:solidFill>
                      <a:srgbClr val="F2F2F2"/>
                    </a:solidFill>
                  </a:tcPr>
                </a:tc>
              </a:tr>
              <a:tr h="411480">
                <a:tc>
                  <a:txBody>
                    <a:bodyPr wrap="none"/>
                    <a:lstStyle/>
                    <a:p>
                      <a:pPr algn="ctr"/>
                      <a:r>
                        <a:rPr sz="1000" b="0" i="0">
                          <a:solidFill>
                            <a:srgbClr val="262626"/>
                          </a:solidFill>
                          <a:latin typeface="Arial"/>
                        </a:rPr>
                        <a:t>Run</a:t>
                      </a:r>
                    </a:p>
                  </a:txBody>
                  <a:tcPr>
                    <a:solidFill>
                      <a:srgbClr val="FFFFFF"/>
                    </a:solidFill>
                  </a:tcPr>
                </a:tc>
                <a:tc>
                  <a:txBody>
                    <a:bodyPr wrap="none"/>
                    <a:lstStyle/>
                    <a:p>
                      <a:pPr algn="ctr"/>
                      <a:r>
                        <a:rPr sz="1000" b="0" i="0">
                          <a:solidFill>
                            <a:srgbClr val="262626"/>
                          </a:solidFill>
                          <a:latin typeface="Arial"/>
                        </a:rPr>
                        <a:t>—</a:t>
                      </a:r>
                    </a:p>
                  </a:txBody>
                  <a:tcPr>
                    <a:solidFill>
                      <a:srgbClr val="FFFFFF"/>
                    </a:solidFill>
                  </a:tcPr>
                </a:tc>
                <a:tc>
                  <a:txBody>
                    <a:bodyPr wrap="none"/>
                    <a:lstStyle/>
                    <a:p>
                      <a:pPr algn="ctr"/>
                      <a:r>
                        <a:rPr sz="1000" b="0" i="0">
                          <a:solidFill>
                            <a:srgbClr val="262626"/>
                          </a:solidFill>
                          <a:latin typeface="Arial"/>
                        </a:rPr>
                        <a:t>—</a:t>
                      </a:r>
                    </a:p>
                  </a:txBody>
                  <a:tcPr>
                    <a:solidFill>
                      <a:srgbClr val="FFFFFF"/>
                    </a:solidFill>
                  </a:tcPr>
                </a:tc>
                <a:tc>
                  <a:txBody>
                    <a:bodyPr wrap="none"/>
                    <a:lstStyle/>
                    <a:p>
                      <a:pPr algn="l"/>
                      <a:r>
                        <a:rPr sz="1000" b="0" i="0">
                          <a:solidFill>
                            <a:srgbClr val="262626"/>
                          </a:solidFill>
                          <a:latin typeface="Arial"/>
                        </a:rPr>
                        <a:t>[PLACEHOLDER: e.g. Flat multi-lap, cobblestone city-centre finish]</a:t>
                      </a: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Swim Course Profile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Asuncion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suncion_swim_course.png"/>
          <p:cNvPicPr>
            <a:picLocks noChangeAspect="1"/>
          </p:cNvPicPr>
          <p:nvPr/>
        </p:nvPicPr>
        <p:blipFill>
          <a:blip r:embed="rId3"/>
          <a:stretch>
            <a:fillRect/>
          </a:stretch>
        </p:blipFill>
        <p:spPr>
          <a:xfrm>
            <a:off x="274320" y="1143000"/>
            <a:ext cx="5120640" cy="3840480"/>
          </a:xfrm>
          <a:prstGeom prst="rect">
            <a:avLst/>
          </a:prstGeom>
        </p:spPr>
      </p:pic>
      <p:sp>
        <p:nvSpPr>
          <p:cNvPr id="9" name="TextBox 8"/>
          <p:cNvSpPr txBox="1"/>
          <p:nvPr/>
        </p:nvSpPr>
        <p:spPr>
          <a:xfrm>
            <a:off x="274320" y="5029200"/>
            <a:ext cx="5120640" cy="228600"/>
          </a:xfrm>
          <a:prstGeom prst="rect">
            <a:avLst/>
          </a:prstGeom>
          <a:noFill/>
        </p:spPr>
        <p:txBody>
          <a:bodyPr wrap="square">
            <a:spAutoFit/>
          </a:bodyPr>
          <a:lstStyle/>
          <a:p>
            <a:pPr algn="ctr"/>
            <a:r>
              <a:rPr sz="900" b="0" i="1">
                <a:solidFill>
                  <a:srgbClr val="BFBFBF"/>
                </a:solidFill>
                <a:latin typeface="Arial"/>
              </a:rPr>
              <a:t>Source: 2026 World Triathlon Cup Asunción Athlete's Guide + official swimming course flyer — 9 Aug 2026</a:t>
            </a:r>
          </a:p>
        </p:txBody>
      </p:sp>
      <p:sp>
        <p:nvSpPr>
          <p:cNvPr id="10" name="Rectangle 9"/>
          <p:cNvSpPr/>
          <p:nvPr/>
        </p:nvSpPr>
        <p:spPr>
          <a:xfrm>
            <a:off x="5577840" y="1143000"/>
            <a:ext cx="6309360" cy="8229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0" y="1252728"/>
            <a:ext cx="6309360" cy="365760"/>
          </a:xfrm>
          <a:prstGeom prst="rect">
            <a:avLst/>
          </a:prstGeom>
          <a:noFill/>
        </p:spPr>
        <p:txBody>
          <a:bodyPr wrap="square">
            <a:spAutoFit/>
          </a:bodyPr>
          <a:lstStyle/>
          <a:p>
            <a:pPr algn="ctr"/>
            <a:r>
              <a:rPr sz="2200" b="1" i="0">
                <a:solidFill>
                  <a:srgbClr val="FFFFFF"/>
                </a:solidFill>
                <a:latin typeface="Arial"/>
              </a:rPr>
              <a:t>1.5 km   •   2 × 750 m</a:t>
            </a:r>
          </a:p>
        </p:txBody>
      </p:sp>
      <p:sp>
        <p:nvSpPr>
          <p:cNvPr id="12" name="TextBox 11"/>
          <p:cNvSpPr txBox="1"/>
          <p:nvPr/>
        </p:nvSpPr>
        <p:spPr>
          <a:xfrm>
            <a:off x="5577840" y="1636776"/>
            <a:ext cx="6309360" cy="292608"/>
          </a:xfrm>
          <a:prstGeom prst="rect">
            <a:avLst/>
          </a:prstGeom>
          <a:noFill/>
        </p:spPr>
        <p:txBody>
          <a:bodyPr wrap="square">
            <a:spAutoFit/>
          </a:bodyPr>
          <a:lstStyle/>
          <a:p>
            <a:pPr algn="ctr"/>
            <a:r>
              <a:rPr sz="1100" b="0" i="1">
                <a:solidFill>
                  <a:srgbClr val="AABBDD"/>
                </a:solidFill>
                <a:latin typeface="Arial"/>
              </a:rPr>
              <a:t>Sheltered inland lagoon — fresh water, calm</a:t>
            </a:r>
          </a:p>
        </p:txBody>
      </p:sp>
      <p:sp>
        <p:nvSpPr>
          <p:cNvPr id="13" name="Rectangle 12"/>
          <p:cNvSpPr/>
          <p:nvPr/>
        </p:nvSpPr>
        <p:spPr>
          <a:xfrm>
            <a:off x="562356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0" y="2139696"/>
            <a:ext cx="1920240" cy="201168"/>
          </a:xfrm>
          <a:prstGeom prst="rect">
            <a:avLst/>
          </a:prstGeom>
          <a:noFill/>
        </p:spPr>
        <p:txBody>
          <a:bodyPr wrap="square">
            <a:spAutoFit/>
          </a:bodyPr>
          <a:lstStyle/>
          <a:p>
            <a:pPr algn="ctr"/>
            <a:r>
              <a:rPr sz="900" b="1" i="0">
                <a:solidFill>
                  <a:srgbClr val="002060"/>
                </a:solidFill>
                <a:latin typeface="Arial"/>
              </a:rPr>
              <a:t>Distance</a:t>
            </a:r>
          </a:p>
        </p:txBody>
      </p:sp>
      <p:sp>
        <p:nvSpPr>
          <p:cNvPr id="15" name="TextBox 14"/>
          <p:cNvSpPr txBox="1"/>
          <p:nvPr/>
        </p:nvSpPr>
        <p:spPr>
          <a:xfrm>
            <a:off x="5669280" y="2340864"/>
            <a:ext cx="1920240" cy="347472"/>
          </a:xfrm>
          <a:prstGeom prst="rect">
            <a:avLst/>
          </a:prstGeom>
          <a:noFill/>
        </p:spPr>
        <p:txBody>
          <a:bodyPr wrap="square">
            <a:spAutoFit/>
          </a:bodyPr>
          <a:lstStyle/>
          <a:p>
            <a:pPr algn="ctr"/>
            <a:r>
              <a:rPr sz="1400" b="1" i="0">
                <a:solidFill>
                  <a:srgbClr val="262626"/>
                </a:solidFill>
                <a:latin typeface="Arial"/>
              </a:rPr>
              <a:t>1.5 km</a:t>
            </a:r>
          </a:p>
        </p:txBody>
      </p:sp>
      <p:sp>
        <p:nvSpPr>
          <p:cNvPr id="16" name="Rectangle 15"/>
          <p:cNvSpPr/>
          <p:nvPr/>
        </p:nvSpPr>
        <p:spPr>
          <a:xfrm>
            <a:off x="772668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139696"/>
            <a:ext cx="1920240" cy="201168"/>
          </a:xfrm>
          <a:prstGeom prst="rect">
            <a:avLst/>
          </a:prstGeom>
          <a:noFill/>
        </p:spPr>
        <p:txBody>
          <a:bodyPr wrap="square">
            <a:spAutoFit/>
          </a:bodyPr>
          <a:lstStyle/>
          <a:p>
            <a:pPr algn="ctr"/>
            <a:r>
              <a:rPr sz="900" b="1" i="0">
                <a:solidFill>
                  <a:srgbClr val="002060"/>
                </a:solidFill>
                <a:latin typeface="Arial"/>
              </a:rPr>
              <a:t>Layout</a:t>
            </a:r>
          </a:p>
        </p:txBody>
      </p:sp>
      <p:sp>
        <p:nvSpPr>
          <p:cNvPr id="18" name="TextBox 17"/>
          <p:cNvSpPr txBox="1"/>
          <p:nvPr/>
        </p:nvSpPr>
        <p:spPr>
          <a:xfrm>
            <a:off x="7772400" y="2340864"/>
            <a:ext cx="1920240" cy="347472"/>
          </a:xfrm>
          <a:prstGeom prst="rect">
            <a:avLst/>
          </a:prstGeom>
          <a:noFill/>
        </p:spPr>
        <p:txBody>
          <a:bodyPr wrap="square">
            <a:spAutoFit/>
          </a:bodyPr>
          <a:lstStyle/>
          <a:p>
            <a:pPr algn="ctr"/>
            <a:r>
              <a:rPr sz="1400" b="1" i="0">
                <a:solidFill>
                  <a:srgbClr val="262626"/>
                </a:solidFill>
                <a:latin typeface="Arial"/>
              </a:rPr>
              <a:t>Delta lagoon</a:t>
            </a:r>
          </a:p>
        </p:txBody>
      </p:sp>
      <p:sp>
        <p:nvSpPr>
          <p:cNvPr id="19" name="Rectangle 18"/>
          <p:cNvSpPr/>
          <p:nvPr/>
        </p:nvSpPr>
        <p:spPr>
          <a:xfrm>
            <a:off x="982980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0" y="2139696"/>
            <a:ext cx="1920240" cy="201168"/>
          </a:xfrm>
          <a:prstGeom prst="rect">
            <a:avLst/>
          </a:prstGeom>
          <a:noFill/>
        </p:spPr>
        <p:txBody>
          <a:bodyPr wrap="square">
            <a:spAutoFit/>
          </a:bodyPr>
          <a:lstStyle/>
          <a:p>
            <a:pPr algn="ctr"/>
            <a:r>
              <a:rPr sz="900" b="1" i="0">
                <a:solidFill>
                  <a:srgbClr val="002060"/>
                </a:solidFill>
                <a:latin typeface="Arial"/>
              </a:rPr>
              <a:t>Start</a:t>
            </a:r>
          </a:p>
        </p:txBody>
      </p:sp>
      <p:sp>
        <p:nvSpPr>
          <p:cNvPr id="21" name="TextBox 20"/>
          <p:cNvSpPr txBox="1"/>
          <p:nvPr/>
        </p:nvSpPr>
        <p:spPr>
          <a:xfrm>
            <a:off x="9875520" y="2340864"/>
            <a:ext cx="1920240" cy="347472"/>
          </a:xfrm>
          <a:prstGeom prst="rect">
            <a:avLst/>
          </a:prstGeom>
          <a:noFill/>
        </p:spPr>
        <p:txBody>
          <a:bodyPr wrap="square">
            <a:spAutoFit/>
          </a:bodyPr>
          <a:lstStyle/>
          <a:p>
            <a:pPr algn="ctr"/>
            <a:r>
              <a:rPr sz="1400" b="1" i="0">
                <a:solidFill>
                  <a:srgbClr val="262626"/>
                </a:solidFill>
                <a:latin typeface="Arial"/>
              </a:rPr>
              <a:t>Floating pontoon (Candock) start</a:t>
            </a:r>
          </a:p>
        </p:txBody>
      </p:sp>
      <p:sp>
        <p:nvSpPr>
          <p:cNvPr id="22" name="Rectangle 21"/>
          <p:cNvSpPr/>
          <p:nvPr/>
        </p:nvSpPr>
        <p:spPr>
          <a:xfrm>
            <a:off x="562356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0" y="2852928"/>
            <a:ext cx="1920240" cy="201168"/>
          </a:xfrm>
          <a:prstGeom prst="rect">
            <a:avLst/>
          </a:prstGeom>
          <a:noFill/>
        </p:spPr>
        <p:txBody>
          <a:bodyPr wrap="square">
            <a:spAutoFit/>
          </a:bodyPr>
          <a:lstStyle/>
          <a:p>
            <a:pPr algn="ctr"/>
            <a:r>
              <a:rPr sz="900" b="1" i="0">
                <a:solidFill>
                  <a:srgbClr val="002060"/>
                </a:solidFill>
                <a:latin typeface="Arial"/>
              </a:rPr>
              <a:t>Water Temp</a:t>
            </a:r>
          </a:p>
        </p:txBody>
      </p:sp>
      <p:sp>
        <p:nvSpPr>
          <p:cNvPr id="24" name="TextBox 23"/>
          <p:cNvSpPr txBox="1"/>
          <p:nvPr/>
        </p:nvSpPr>
        <p:spPr>
          <a:xfrm>
            <a:off x="5669280" y="3054096"/>
            <a:ext cx="1920240" cy="347472"/>
          </a:xfrm>
          <a:prstGeom prst="rect">
            <a:avLst/>
          </a:prstGeom>
          <a:noFill/>
        </p:spPr>
        <p:txBody>
          <a:bodyPr wrap="square">
            <a:spAutoFit/>
          </a:bodyPr>
          <a:lstStyle/>
          <a:p>
            <a:pPr algn="ctr"/>
            <a:r>
              <a:rPr sz="1400" b="1" i="0">
                <a:solidFill>
                  <a:srgbClr val="262626"/>
                </a:solidFill>
                <a:latin typeface="Arial"/>
              </a:rPr>
              <a:t>18.0–22.0 °C (expected)</a:t>
            </a:r>
          </a:p>
        </p:txBody>
      </p:sp>
      <p:sp>
        <p:nvSpPr>
          <p:cNvPr id="25" name="Rectangle 24"/>
          <p:cNvSpPr/>
          <p:nvPr/>
        </p:nvSpPr>
        <p:spPr>
          <a:xfrm>
            <a:off x="772668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2852928"/>
            <a:ext cx="1920240" cy="201168"/>
          </a:xfrm>
          <a:prstGeom prst="rect">
            <a:avLst/>
          </a:prstGeom>
          <a:noFill/>
        </p:spPr>
        <p:txBody>
          <a:bodyPr wrap="square">
            <a:spAutoFit/>
          </a:bodyPr>
          <a:lstStyle/>
          <a:p>
            <a:pPr algn="ctr"/>
            <a:r>
              <a:rPr sz="900" b="1" i="0">
                <a:solidFill>
                  <a:srgbClr val="002060"/>
                </a:solidFill>
                <a:latin typeface="Arial"/>
              </a:rPr>
              <a:t>Wetsuit</a:t>
            </a:r>
          </a:p>
        </p:txBody>
      </p:sp>
      <p:sp>
        <p:nvSpPr>
          <p:cNvPr id="27" name="TextBox 26"/>
          <p:cNvSpPr txBox="1"/>
          <p:nvPr/>
        </p:nvSpPr>
        <p:spPr>
          <a:xfrm>
            <a:off x="7772400" y="3054096"/>
            <a:ext cx="1920240" cy="347472"/>
          </a:xfrm>
          <a:prstGeom prst="rect">
            <a:avLst/>
          </a:prstGeom>
          <a:noFill/>
        </p:spPr>
        <p:txBody>
          <a:bodyPr wrap="square">
            <a:spAutoFit/>
          </a:bodyPr>
          <a:lstStyle/>
          <a:p>
            <a:pPr algn="ctr"/>
            <a:r>
              <a:rPr sz="1400" b="1" i="0">
                <a:solidFill>
                  <a:srgbClr val="262626"/>
                </a:solidFill>
                <a:latin typeface="Arial"/>
              </a:rPr>
              <a:t>Straddles cut-off (18–22 °C)</a:t>
            </a:r>
          </a:p>
        </p:txBody>
      </p:sp>
      <p:sp>
        <p:nvSpPr>
          <p:cNvPr id="28" name="Rectangle 27"/>
          <p:cNvSpPr/>
          <p:nvPr/>
        </p:nvSpPr>
        <p:spPr>
          <a:xfrm>
            <a:off x="982980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75520" y="2852928"/>
            <a:ext cx="1920240" cy="201168"/>
          </a:xfrm>
          <a:prstGeom prst="rect">
            <a:avLst/>
          </a:prstGeom>
          <a:noFill/>
        </p:spPr>
        <p:txBody>
          <a:bodyPr wrap="square">
            <a:spAutoFit/>
          </a:bodyPr>
          <a:lstStyle/>
          <a:p>
            <a:pPr algn="ctr"/>
            <a:r>
              <a:rPr sz="900" b="1" i="0">
                <a:solidFill>
                  <a:srgbClr val="002060"/>
                </a:solidFill>
                <a:latin typeface="Arial"/>
              </a:rPr>
              <a:t>Lap Count</a:t>
            </a:r>
          </a:p>
        </p:txBody>
      </p:sp>
      <p:sp>
        <p:nvSpPr>
          <p:cNvPr id="30" name="TextBox 29"/>
          <p:cNvSpPr txBox="1"/>
          <p:nvPr/>
        </p:nvSpPr>
        <p:spPr>
          <a:xfrm>
            <a:off x="9875520" y="3054096"/>
            <a:ext cx="1920240" cy="347472"/>
          </a:xfrm>
          <a:prstGeom prst="rect">
            <a:avLst/>
          </a:prstGeom>
          <a:noFill/>
        </p:spPr>
        <p:txBody>
          <a:bodyPr wrap="square">
            <a:spAutoFit/>
          </a:bodyPr>
          <a:lstStyle/>
          <a:p>
            <a:pPr algn="ctr"/>
            <a:r>
              <a:rPr sz="1400" b="1" i="0">
                <a:solidFill>
                  <a:srgbClr val="262626"/>
                </a:solidFill>
                <a:latin typeface="Arial"/>
              </a:rPr>
              <a:t>2</a:t>
            </a:r>
          </a:p>
        </p:txBody>
      </p:sp>
      <p:sp>
        <p:nvSpPr>
          <p:cNvPr id="31" name="Rectangle 30"/>
          <p:cNvSpPr/>
          <p:nvPr/>
        </p:nvSpPr>
        <p:spPr>
          <a:xfrm>
            <a:off x="5577840" y="3611880"/>
            <a:ext cx="6309360" cy="2926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0" y="3639312"/>
            <a:ext cx="6126480" cy="237744"/>
          </a:xfrm>
          <a:prstGeom prst="rect">
            <a:avLst/>
          </a:prstGeom>
          <a:noFill/>
        </p:spPr>
        <p:txBody>
          <a:bodyPr wrap="square">
            <a:spAutoFit/>
          </a:bodyPr>
          <a:lstStyle/>
          <a:p>
            <a:pPr algn="l"/>
            <a:r>
              <a:rPr sz="1200" b="1" i="0">
                <a:solidFill>
                  <a:srgbClr val="FFFFFF"/>
                </a:solidFill>
                <a:latin typeface="Arial"/>
              </a:rPr>
              <a:t>Tactical Notes</a:t>
            </a:r>
          </a:p>
        </p:txBody>
      </p:sp>
      <p:sp>
        <p:nvSpPr>
          <p:cNvPr id="33" name="TextBox 32"/>
          <p:cNvSpPr txBox="1"/>
          <p:nvPr/>
        </p:nvSpPr>
        <p:spPr>
          <a:xfrm>
            <a:off x="5669280" y="3977640"/>
            <a:ext cx="6126480" cy="310896"/>
          </a:xfrm>
          <a:prstGeom prst="rect">
            <a:avLst/>
          </a:prstGeom>
          <a:noFill/>
        </p:spPr>
        <p:txBody>
          <a:bodyPr wrap="square">
            <a:spAutoFit/>
          </a:bodyPr>
          <a:lstStyle/>
          <a:p>
            <a:pPr algn="l"/>
            <a:r>
              <a:rPr sz="1050" b="0" i="0">
                <a:solidFill>
                  <a:srgbClr val="262626"/>
                </a:solidFill>
                <a:latin typeface="Arial"/>
              </a:rPr>
              <a:t>•  Standard-distance swim: 2 × 750 m loops in the Delta lagoon, not the Paraguay River — sheltered, no current</a:t>
            </a:r>
          </a:p>
        </p:txBody>
      </p:sp>
      <p:sp>
        <p:nvSpPr>
          <p:cNvPr id="34" name="TextBox 33"/>
          <p:cNvSpPr txBox="1"/>
          <p:nvPr/>
        </p:nvSpPr>
        <p:spPr>
          <a:xfrm>
            <a:off x="5669280" y="4270248"/>
            <a:ext cx="6126480" cy="310896"/>
          </a:xfrm>
          <a:prstGeom prst="rect">
            <a:avLst/>
          </a:prstGeom>
          <a:noFill/>
        </p:spPr>
        <p:txBody>
          <a:bodyPr wrap="square">
            <a:spAutoFit/>
          </a:bodyPr>
          <a:lstStyle/>
          <a:p>
            <a:pPr algn="l"/>
            <a:r>
              <a:rPr sz="1050" b="0" i="0">
                <a:solidFill>
                  <a:srgbClr val="262626"/>
                </a:solidFill>
                <a:latin typeface="Arial"/>
              </a:rPr>
              <a:t>•  In-water start from floating Candock platforms rather than a beach or pontoon run-in</a:t>
            </a:r>
          </a:p>
        </p:txBody>
      </p:sp>
      <p:sp>
        <p:nvSpPr>
          <p:cNvPr id="35" name="TextBox 34"/>
          <p:cNvSpPr txBox="1"/>
          <p:nvPr/>
        </p:nvSpPr>
        <p:spPr>
          <a:xfrm>
            <a:off x="5669280" y="4562856"/>
            <a:ext cx="6126480" cy="310896"/>
          </a:xfrm>
          <a:prstGeom prst="rect">
            <a:avLst/>
          </a:prstGeom>
          <a:noFill/>
        </p:spPr>
        <p:txBody>
          <a:bodyPr wrap="square">
            <a:spAutoFit/>
          </a:bodyPr>
          <a:lstStyle/>
          <a:p>
            <a:pPr algn="l"/>
            <a:r>
              <a:rPr sz="1050" b="0" i="0">
                <a:solidFill>
                  <a:srgbClr val="262626"/>
                </a:solidFill>
                <a:latin typeface="Arial"/>
              </a:rPr>
              <a:t>•  Two laps means an Australian-style exit or turn per lap — sighting and re-acceleration off each turn matters more than a single-loop sprint swim</a:t>
            </a:r>
          </a:p>
        </p:txBody>
      </p:sp>
      <p:sp>
        <p:nvSpPr>
          <p:cNvPr id="36" name="TextBox 35"/>
          <p:cNvSpPr txBox="1"/>
          <p:nvPr/>
        </p:nvSpPr>
        <p:spPr>
          <a:xfrm>
            <a:off x="5669280" y="4855464"/>
            <a:ext cx="6126480" cy="310896"/>
          </a:xfrm>
          <a:prstGeom prst="rect">
            <a:avLst/>
          </a:prstGeom>
          <a:noFill/>
        </p:spPr>
        <p:txBody>
          <a:bodyPr wrap="square">
            <a:spAutoFit/>
          </a:bodyPr>
          <a:lstStyle/>
          <a:p>
            <a:pPr algn="l"/>
            <a:r>
              <a:rPr sz="1050" b="0" i="0">
                <a:solidFill>
                  <a:srgbClr val="262626"/>
                </a:solidFill>
                <a:latin typeface="Arial"/>
              </a:rPr>
              <a:t>•  Wetsuit call is a live tactical variable: 18–22 °C forecast sits right on the 20 °C elite cut-off</a:t>
            </a:r>
          </a:p>
        </p:txBody>
      </p:sp>
      <p:sp>
        <p:nvSpPr>
          <p:cNvPr id="37" name="TextBox 36"/>
          <p:cNvSpPr txBox="1"/>
          <p:nvPr/>
        </p:nvSpPr>
        <p:spPr>
          <a:xfrm>
            <a:off x="5669280" y="5148072"/>
            <a:ext cx="6126480" cy="310896"/>
          </a:xfrm>
          <a:prstGeom prst="rect">
            <a:avLst/>
          </a:prstGeom>
          <a:noFill/>
        </p:spPr>
        <p:txBody>
          <a:bodyPr wrap="square">
            <a:spAutoFit/>
          </a:bodyPr>
          <a:lstStyle/>
          <a:p>
            <a:pPr algn="l"/>
            <a:r>
              <a:rPr sz="1050" b="0" i="0">
                <a:solidFill>
                  <a:srgbClr val="262626"/>
                </a:solidFill>
                <a:latin typeface="Arial"/>
              </a:rPr>
              <a:t>•  Women's 07:30 start swims the coldest water of the day; men at 10:30 get three more hours of warming, so the two races will not necessarily get the same wetsuit ruling</a:t>
            </a:r>
          </a:p>
        </p:txBody>
      </p:sp>
      <p:sp>
        <p:nvSpPr>
          <p:cNvPr id="38" name="TextBox 37"/>
          <p:cNvSpPr txBox="1"/>
          <p:nvPr/>
        </p:nvSpPr>
        <p:spPr>
          <a:xfrm>
            <a:off x="5669280" y="5440680"/>
            <a:ext cx="6126480" cy="310896"/>
          </a:xfrm>
          <a:prstGeom prst="rect">
            <a:avLst/>
          </a:prstGeom>
          <a:noFill/>
        </p:spPr>
        <p:txBody>
          <a:bodyPr wrap="square">
            <a:spAutoFit/>
          </a:bodyPr>
          <a:lstStyle/>
          <a:p>
            <a:pPr algn="l"/>
            <a:r>
              <a:rPr sz="1050" b="0" i="0">
                <a:solidFill>
                  <a:srgbClr val="262626"/>
                </a:solidFill>
                <a:latin typeface="Arial"/>
              </a:rPr>
              <a:t>•  Swim familiarization is Saturday 10:45–11:30 only — the venue is closed to athletes on all other days</a:t>
            </a:r>
          </a:p>
        </p:txBody>
      </p:sp>
      <p:sp>
        <p:nvSpPr>
          <p:cNvPr id="39" name="Rectangle 38"/>
          <p:cNvSpPr/>
          <p:nvPr/>
        </p:nvSpPr>
        <p:spPr>
          <a:xfrm>
            <a:off x="274320" y="6035040"/>
            <a:ext cx="11640312" cy="292608"/>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080760"/>
            <a:ext cx="11430000" cy="228600"/>
          </a:xfrm>
          <a:prstGeom prst="rect">
            <a:avLst/>
          </a:prstGeom>
          <a:noFill/>
        </p:spPr>
        <p:txBody>
          <a:bodyPr wrap="square">
            <a:spAutoFit/>
          </a:bodyPr>
          <a:lstStyle/>
          <a:p>
            <a:pPr algn="l"/>
            <a:r>
              <a:rPr sz="950" b="0" i="1">
                <a:solidFill>
                  <a:srgbClr val="262626"/>
                </a:solidFill>
                <a:latin typeface="Arial"/>
              </a:rPr>
              <a:t>Not in race brief: Buoy count and turn configuration (not published in the guide)  •  Measured water quality data (not published; lagoon is a managed development water body)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Bike Course Profile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Asuncion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suncion_bike_course.png"/>
          <p:cNvPicPr>
            <a:picLocks noChangeAspect="1"/>
          </p:cNvPicPr>
          <p:nvPr/>
        </p:nvPicPr>
        <p:blipFill>
          <a:blip r:embed="rId3"/>
          <a:stretch>
            <a:fillRect/>
          </a:stretch>
        </p:blipFill>
        <p:spPr>
          <a:xfrm>
            <a:off x="274320" y="1143000"/>
            <a:ext cx="5120640" cy="3291840"/>
          </a:xfrm>
          <a:prstGeom prst="rect">
            <a:avLst/>
          </a:prstGeom>
        </p:spPr>
      </p:pic>
      <p:sp>
        <p:nvSpPr>
          <p:cNvPr id="9" name="TextBox 8"/>
          <p:cNvSpPr txBox="1"/>
          <p:nvPr/>
        </p:nvSpPr>
        <p:spPr>
          <a:xfrm>
            <a:off x="274320" y="4480560"/>
            <a:ext cx="5120640" cy="228600"/>
          </a:xfrm>
          <a:prstGeom prst="rect">
            <a:avLst/>
          </a:prstGeom>
          <a:noFill/>
        </p:spPr>
        <p:txBody>
          <a:bodyPr wrap="square">
            <a:spAutoFit/>
          </a:bodyPr>
          <a:lstStyle/>
          <a:p>
            <a:pPr algn="ctr"/>
            <a:r>
              <a:rPr sz="900" b="0" i="1">
                <a:solidFill>
                  <a:srgbClr val="BFBFBF"/>
                </a:solidFill>
                <a:latin typeface="Arial"/>
              </a:rPr>
              <a:t>Source: 2026 World Triathlon Cup Asunción Athlete's Guide + official cycling course flyer — 9 Aug 2026</a:t>
            </a:r>
          </a:p>
        </p:txBody>
      </p:sp>
      <p:sp>
        <p:nvSpPr>
          <p:cNvPr id="10" name="Rectangle 9"/>
          <p:cNvSpPr/>
          <p:nvPr/>
        </p:nvSpPr>
        <p:spPr>
          <a:xfrm>
            <a:off x="5577840" y="1143000"/>
            <a:ext cx="6309360" cy="8229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0" y="1252728"/>
            <a:ext cx="6309360" cy="365760"/>
          </a:xfrm>
          <a:prstGeom prst="rect">
            <a:avLst/>
          </a:prstGeom>
          <a:noFill/>
        </p:spPr>
        <p:txBody>
          <a:bodyPr wrap="square">
            <a:spAutoFit/>
          </a:bodyPr>
          <a:lstStyle/>
          <a:p>
            <a:pPr algn="ctr"/>
            <a:r>
              <a:rPr sz="2200" b="1" i="0">
                <a:solidFill>
                  <a:srgbClr val="FFFFFF"/>
                </a:solidFill>
                <a:latin typeface="Arial"/>
              </a:rPr>
              <a:t>39.96 km   •   6 × 6.66 km loops</a:t>
            </a:r>
          </a:p>
        </p:txBody>
      </p:sp>
      <p:sp>
        <p:nvSpPr>
          <p:cNvPr id="12" name="TextBox 11"/>
          <p:cNvSpPr txBox="1"/>
          <p:nvPr/>
        </p:nvSpPr>
        <p:spPr>
          <a:xfrm>
            <a:off x="5577840" y="1636776"/>
            <a:ext cx="6309360" cy="292608"/>
          </a:xfrm>
          <a:prstGeom prst="rect">
            <a:avLst/>
          </a:prstGeom>
          <a:noFill/>
        </p:spPr>
        <p:txBody>
          <a:bodyPr wrap="square">
            <a:spAutoFit/>
          </a:bodyPr>
          <a:lstStyle/>
          <a:p>
            <a:pPr algn="ctr"/>
            <a:r>
              <a:rPr sz="1100" b="0" i="1">
                <a:solidFill>
                  <a:srgbClr val="AABBDD"/>
                </a:solidFill>
                <a:latin typeface="Arial"/>
              </a:rPr>
              <a:t>Closed avenue on La Isla del Delta — smooth tarmac, traffic-free</a:t>
            </a:r>
          </a:p>
        </p:txBody>
      </p:sp>
      <p:sp>
        <p:nvSpPr>
          <p:cNvPr id="13" name="Rectangle 12"/>
          <p:cNvSpPr/>
          <p:nvPr/>
        </p:nvSpPr>
        <p:spPr>
          <a:xfrm>
            <a:off x="562356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0" y="2139696"/>
            <a:ext cx="1920240" cy="201168"/>
          </a:xfrm>
          <a:prstGeom prst="rect">
            <a:avLst/>
          </a:prstGeom>
          <a:noFill/>
        </p:spPr>
        <p:txBody>
          <a:bodyPr wrap="square">
            <a:spAutoFit/>
          </a:bodyPr>
          <a:lstStyle/>
          <a:p>
            <a:pPr algn="ctr"/>
            <a:r>
              <a:rPr sz="900" b="1" i="0">
                <a:solidFill>
                  <a:srgbClr val="002060"/>
                </a:solidFill>
                <a:latin typeface="Arial"/>
              </a:rPr>
              <a:t>Elevation / Lap</a:t>
            </a:r>
          </a:p>
        </p:txBody>
      </p:sp>
      <p:sp>
        <p:nvSpPr>
          <p:cNvPr id="15" name="TextBox 14"/>
          <p:cNvSpPr txBox="1"/>
          <p:nvPr/>
        </p:nvSpPr>
        <p:spPr>
          <a:xfrm>
            <a:off x="5669280" y="2340864"/>
            <a:ext cx="1920240" cy="347472"/>
          </a:xfrm>
          <a:prstGeom prst="rect">
            <a:avLst/>
          </a:prstGeom>
          <a:noFill/>
        </p:spPr>
        <p:txBody>
          <a:bodyPr wrap="square">
            <a:spAutoFit/>
          </a:bodyPr>
          <a:lstStyle/>
          <a:p>
            <a:pPr algn="ctr"/>
            <a:r>
              <a:rPr sz="1500" b="1" i="0">
                <a:solidFill>
                  <a:srgbClr val="262626"/>
                </a:solidFill>
                <a:latin typeface="Arial"/>
              </a:rPr>
              <a:t>Flat (no data)</a:t>
            </a:r>
          </a:p>
        </p:txBody>
      </p:sp>
      <p:sp>
        <p:nvSpPr>
          <p:cNvPr id="16" name="Rectangle 15"/>
          <p:cNvSpPr/>
          <p:nvPr/>
        </p:nvSpPr>
        <p:spPr>
          <a:xfrm>
            <a:off x="772668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139696"/>
            <a:ext cx="1920240" cy="201168"/>
          </a:xfrm>
          <a:prstGeom prst="rect">
            <a:avLst/>
          </a:prstGeom>
          <a:noFill/>
        </p:spPr>
        <p:txBody>
          <a:bodyPr wrap="square">
            <a:spAutoFit/>
          </a:bodyPr>
          <a:lstStyle/>
          <a:p>
            <a:pPr algn="ctr"/>
            <a:r>
              <a:rPr sz="900" b="1" i="0">
                <a:solidFill>
                  <a:srgbClr val="002060"/>
                </a:solidFill>
                <a:latin typeface="Arial"/>
              </a:rPr>
              <a:t>Total Climb</a:t>
            </a:r>
          </a:p>
        </p:txBody>
      </p:sp>
      <p:sp>
        <p:nvSpPr>
          <p:cNvPr id="18" name="TextBox 17"/>
          <p:cNvSpPr txBox="1"/>
          <p:nvPr/>
        </p:nvSpPr>
        <p:spPr>
          <a:xfrm>
            <a:off x="7772400" y="2340864"/>
            <a:ext cx="1920240" cy="347472"/>
          </a:xfrm>
          <a:prstGeom prst="rect">
            <a:avLst/>
          </a:prstGeom>
          <a:noFill/>
        </p:spPr>
        <p:txBody>
          <a:bodyPr wrap="square">
            <a:spAutoFit/>
          </a:bodyPr>
          <a:lstStyle/>
          <a:p>
            <a:pPr algn="ctr"/>
            <a:r>
              <a:rPr sz="1500" b="1" i="0">
                <a:solidFill>
                  <a:srgbClr val="262626"/>
                </a:solidFill>
                <a:latin typeface="Arial"/>
              </a:rPr>
              <a:t>—</a:t>
            </a:r>
          </a:p>
        </p:txBody>
      </p:sp>
      <p:sp>
        <p:nvSpPr>
          <p:cNvPr id="19" name="Rectangle 18"/>
          <p:cNvSpPr/>
          <p:nvPr/>
        </p:nvSpPr>
        <p:spPr>
          <a:xfrm>
            <a:off x="982980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0" y="2139696"/>
            <a:ext cx="1920240" cy="201168"/>
          </a:xfrm>
          <a:prstGeom prst="rect">
            <a:avLst/>
          </a:prstGeom>
          <a:noFill/>
        </p:spPr>
        <p:txBody>
          <a:bodyPr wrap="square">
            <a:spAutoFit/>
          </a:bodyPr>
          <a:lstStyle/>
          <a:p>
            <a:pPr algn="ctr"/>
            <a:r>
              <a:rPr sz="900" b="1" i="0">
                <a:solidFill>
                  <a:srgbClr val="002060"/>
                </a:solidFill>
                <a:latin typeface="Arial"/>
              </a:rPr>
              <a:t>Avg Grade</a:t>
            </a:r>
          </a:p>
        </p:txBody>
      </p:sp>
      <p:sp>
        <p:nvSpPr>
          <p:cNvPr id="21" name="TextBox 20"/>
          <p:cNvSpPr txBox="1"/>
          <p:nvPr/>
        </p:nvSpPr>
        <p:spPr>
          <a:xfrm>
            <a:off x="9875520" y="2340864"/>
            <a:ext cx="1920240" cy="347472"/>
          </a:xfrm>
          <a:prstGeom prst="rect">
            <a:avLst/>
          </a:prstGeom>
          <a:noFill/>
        </p:spPr>
        <p:txBody>
          <a:bodyPr wrap="square">
            <a:spAutoFit/>
          </a:bodyPr>
          <a:lstStyle/>
          <a:p>
            <a:pPr algn="ctr"/>
            <a:r>
              <a:rPr sz="1500" b="1" i="0">
                <a:solidFill>
                  <a:srgbClr val="262626"/>
                </a:solidFill>
                <a:latin typeface="Arial"/>
              </a:rPr>
              <a:t>—</a:t>
            </a:r>
          </a:p>
        </p:txBody>
      </p:sp>
      <p:sp>
        <p:nvSpPr>
          <p:cNvPr id="22" name="Rectangle 21"/>
          <p:cNvSpPr/>
          <p:nvPr/>
        </p:nvSpPr>
        <p:spPr>
          <a:xfrm>
            <a:off x="562356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0" y="2852928"/>
            <a:ext cx="1920240" cy="201168"/>
          </a:xfrm>
          <a:prstGeom prst="rect">
            <a:avLst/>
          </a:prstGeom>
          <a:noFill/>
        </p:spPr>
        <p:txBody>
          <a:bodyPr wrap="square">
            <a:spAutoFit/>
          </a:bodyPr>
          <a:lstStyle/>
          <a:p>
            <a:pPr algn="ctr"/>
            <a:r>
              <a:rPr sz="900" b="1" i="0">
                <a:solidFill>
                  <a:srgbClr val="002060"/>
                </a:solidFill>
                <a:latin typeface="Arial"/>
              </a:rPr>
              <a:t>Max Climb Grade</a:t>
            </a:r>
          </a:p>
        </p:txBody>
      </p:sp>
      <p:sp>
        <p:nvSpPr>
          <p:cNvPr id="24" name="TextBox 23"/>
          <p:cNvSpPr txBox="1"/>
          <p:nvPr/>
        </p:nvSpPr>
        <p:spPr>
          <a:xfrm>
            <a:off x="5669280" y="3054096"/>
            <a:ext cx="1920240" cy="347472"/>
          </a:xfrm>
          <a:prstGeom prst="rect">
            <a:avLst/>
          </a:prstGeom>
          <a:noFill/>
        </p:spPr>
        <p:txBody>
          <a:bodyPr wrap="square">
            <a:spAutoFit/>
          </a:bodyPr>
          <a:lstStyle/>
          <a:p>
            <a:pPr algn="ctr"/>
            <a:r>
              <a:rPr sz="1500" b="1" i="0">
                <a:solidFill>
                  <a:srgbClr val="262626"/>
                </a:solidFill>
                <a:latin typeface="Arial"/>
              </a:rPr>
              <a:t>—</a:t>
            </a:r>
          </a:p>
        </p:txBody>
      </p:sp>
      <p:sp>
        <p:nvSpPr>
          <p:cNvPr id="25" name="Rectangle 24"/>
          <p:cNvSpPr/>
          <p:nvPr/>
        </p:nvSpPr>
        <p:spPr>
          <a:xfrm>
            <a:off x="772668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2852928"/>
            <a:ext cx="1920240" cy="201168"/>
          </a:xfrm>
          <a:prstGeom prst="rect">
            <a:avLst/>
          </a:prstGeom>
          <a:noFill/>
        </p:spPr>
        <p:txBody>
          <a:bodyPr wrap="square">
            <a:spAutoFit/>
          </a:bodyPr>
          <a:lstStyle/>
          <a:p>
            <a:pPr algn="ctr"/>
            <a:r>
              <a:rPr sz="900" b="1" i="0">
                <a:solidFill>
                  <a:srgbClr val="002060"/>
                </a:solidFill>
                <a:latin typeface="Arial"/>
              </a:rPr>
              <a:t>Wind</a:t>
            </a:r>
          </a:p>
        </p:txBody>
      </p:sp>
      <p:sp>
        <p:nvSpPr>
          <p:cNvPr id="27" name="TextBox 26"/>
          <p:cNvSpPr txBox="1"/>
          <p:nvPr/>
        </p:nvSpPr>
        <p:spPr>
          <a:xfrm>
            <a:off x="7772400" y="3054096"/>
            <a:ext cx="1920240" cy="347472"/>
          </a:xfrm>
          <a:prstGeom prst="rect">
            <a:avLst/>
          </a:prstGeom>
          <a:noFill/>
        </p:spPr>
        <p:txBody>
          <a:bodyPr wrap="square">
            <a:spAutoFit/>
          </a:bodyPr>
          <a:lstStyle/>
          <a:p>
            <a:pPr algn="ctr"/>
            <a:r>
              <a:rPr sz="1500" b="1" i="0">
                <a:solidFill>
                  <a:srgbClr val="262626"/>
                </a:solidFill>
                <a:latin typeface="Arial"/>
              </a:rPr>
              <a:t>Open riverside / floodplain terrain — little shelter, wind is the main variable on a flat course</a:t>
            </a:r>
          </a:p>
        </p:txBody>
      </p:sp>
      <p:sp>
        <p:nvSpPr>
          <p:cNvPr id="28" name="Rectangle 27"/>
          <p:cNvSpPr/>
          <p:nvPr/>
        </p:nvSpPr>
        <p:spPr>
          <a:xfrm>
            <a:off x="982980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75520" y="2852928"/>
            <a:ext cx="1920240" cy="201168"/>
          </a:xfrm>
          <a:prstGeom prst="rect">
            <a:avLst/>
          </a:prstGeom>
          <a:noFill/>
        </p:spPr>
        <p:txBody>
          <a:bodyPr wrap="square">
            <a:spAutoFit/>
          </a:bodyPr>
          <a:lstStyle/>
          <a:p>
            <a:pPr algn="ctr"/>
            <a:r>
              <a:rPr sz="900" b="1" i="0">
                <a:solidFill>
                  <a:srgbClr val="002060"/>
                </a:solidFill>
                <a:latin typeface="Arial"/>
              </a:rPr>
              <a:t>Loops</a:t>
            </a:r>
          </a:p>
        </p:txBody>
      </p:sp>
      <p:sp>
        <p:nvSpPr>
          <p:cNvPr id="30" name="TextBox 29"/>
          <p:cNvSpPr txBox="1"/>
          <p:nvPr/>
        </p:nvSpPr>
        <p:spPr>
          <a:xfrm>
            <a:off x="9875520" y="3054096"/>
            <a:ext cx="1920240" cy="347472"/>
          </a:xfrm>
          <a:prstGeom prst="rect">
            <a:avLst/>
          </a:prstGeom>
          <a:noFill/>
        </p:spPr>
        <p:txBody>
          <a:bodyPr wrap="square">
            <a:spAutoFit/>
          </a:bodyPr>
          <a:lstStyle/>
          <a:p>
            <a:pPr algn="ctr"/>
            <a:r>
              <a:rPr sz="1500" b="1" i="0">
                <a:solidFill>
                  <a:srgbClr val="262626"/>
                </a:solidFill>
                <a:latin typeface="Arial"/>
              </a:rPr>
              <a:t>6 × 6.66 km</a:t>
            </a:r>
          </a:p>
        </p:txBody>
      </p:sp>
      <p:sp>
        <p:nvSpPr>
          <p:cNvPr id="31" name="Rectangle 30"/>
          <p:cNvSpPr/>
          <p:nvPr/>
        </p:nvSpPr>
        <p:spPr>
          <a:xfrm>
            <a:off x="5577840" y="3703320"/>
            <a:ext cx="6309360" cy="2926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0" y="3730752"/>
            <a:ext cx="6126480" cy="237744"/>
          </a:xfrm>
          <a:prstGeom prst="rect">
            <a:avLst/>
          </a:prstGeom>
          <a:noFill/>
        </p:spPr>
        <p:txBody>
          <a:bodyPr wrap="square">
            <a:spAutoFit/>
          </a:bodyPr>
          <a:lstStyle/>
          <a:p>
            <a:pPr algn="l"/>
            <a:r>
              <a:rPr sz="1200" b="1" i="0">
                <a:solidFill>
                  <a:srgbClr val="FFFFFF"/>
                </a:solidFill>
                <a:latin typeface="Arial"/>
              </a:rPr>
              <a:t>Tactical Implications</a:t>
            </a:r>
          </a:p>
        </p:txBody>
      </p:sp>
      <p:sp>
        <p:nvSpPr>
          <p:cNvPr id="33" name="TextBox 32"/>
          <p:cNvSpPr txBox="1"/>
          <p:nvPr/>
        </p:nvSpPr>
        <p:spPr>
          <a:xfrm>
            <a:off x="5669280" y="4069080"/>
            <a:ext cx="6126480" cy="310896"/>
          </a:xfrm>
          <a:prstGeom prst="rect">
            <a:avLst/>
          </a:prstGeom>
          <a:noFill/>
        </p:spPr>
        <p:txBody>
          <a:bodyPr wrap="square">
            <a:spAutoFit/>
          </a:bodyPr>
          <a:lstStyle/>
          <a:p>
            <a:pPr algn="l"/>
            <a:r>
              <a:rPr sz="1050" b="0" i="0">
                <a:solidFill>
                  <a:srgbClr val="262626"/>
                </a:solidFill>
                <a:latin typeface="Arial"/>
              </a:rPr>
              <a:t>•  Standard-distance bike: 6 × 6.66 km laps = 39.96 km on a closed main avenue through the Delta development</a:t>
            </a:r>
          </a:p>
        </p:txBody>
      </p:sp>
      <p:sp>
        <p:nvSpPr>
          <p:cNvPr id="34" name="TextBox 33"/>
          <p:cNvSpPr txBox="1"/>
          <p:nvPr/>
        </p:nvSpPr>
        <p:spPr>
          <a:xfrm>
            <a:off x="5669280" y="4361688"/>
            <a:ext cx="6126480" cy="310896"/>
          </a:xfrm>
          <a:prstGeom prst="rect">
            <a:avLst/>
          </a:prstGeom>
          <a:noFill/>
        </p:spPr>
        <p:txBody>
          <a:bodyPr wrap="square">
            <a:spAutoFit/>
          </a:bodyPr>
          <a:lstStyle/>
          <a:p>
            <a:pPr algn="l"/>
            <a:r>
              <a:rPr sz="1050" b="0" i="0">
                <a:solidFill>
                  <a:srgbClr val="262626"/>
                </a:solidFill>
                <a:latin typeface="Arial"/>
              </a:rPr>
              <a:t>•  Flat throughout with no published elevation — this is a pure power and positioning course, not a selection course</a:t>
            </a:r>
          </a:p>
        </p:txBody>
      </p:sp>
      <p:sp>
        <p:nvSpPr>
          <p:cNvPr id="35" name="TextBox 34"/>
          <p:cNvSpPr txBox="1"/>
          <p:nvPr/>
        </p:nvSpPr>
        <p:spPr>
          <a:xfrm>
            <a:off x="5669280" y="4654296"/>
            <a:ext cx="6126480" cy="310896"/>
          </a:xfrm>
          <a:prstGeom prst="rect">
            <a:avLst/>
          </a:prstGeom>
          <a:noFill/>
        </p:spPr>
        <p:txBody>
          <a:bodyPr wrap="square">
            <a:spAutoFit/>
          </a:bodyPr>
          <a:lstStyle/>
          <a:p>
            <a:pPr algn="l"/>
            <a:r>
              <a:rPr sz="1050" b="0" i="0">
                <a:solidFill>
                  <a:srgbClr val="262626"/>
                </a:solidFill>
                <a:latin typeface="Arial"/>
              </a:rPr>
              <a:t>•  Long out-and-back shape with the Zona Operativa (transition) mid-course; few technical features beyond the end turnarounds</a:t>
            </a:r>
          </a:p>
        </p:txBody>
      </p:sp>
      <p:sp>
        <p:nvSpPr>
          <p:cNvPr id="36" name="TextBox 35"/>
          <p:cNvSpPr txBox="1"/>
          <p:nvPr/>
        </p:nvSpPr>
        <p:spPr>
          <a:xfrm>
            <a:off x="5669280" y="4946904"/>
            <a:ext cx="6126480" cy="310896"/>
          </a:xfrm>
          <a:prstGeom prst="rect">
            <a:avLst/>
          </a:prstGeom>
          <a:noFill/>
        </p:spPr>
        <p:txBody>
          <a:bodyPr wrap="square">
            <a:spAutoFit/>
          </a:bodyPr>
          <a:lstStyle/>
          <a:p>
            <a:pPr algn="l"/>
            <a:r>
              <a:rPr sz="1050" b="0" i="0">
                <a:solidFill>
                  <a:srgbClr val="262626"/>
                </a:solidFill>
                <a:latin typeface="Arial"/>
              </a:rPr>
              <a:t>•  Flat + 6 laps + a 40 km distance strongly favours large packs forming and staying together to T2</a:t>
            </a:r>
          </a:p>
        </p:txBody>
      </p:sp>
      <p:sp>
        <p:nvSpPr>
          <p:cNvPr id="37" name="TextBox 36"/>
          <p:cNvSpPr txBox="1"/>
          <p:nvPr/>
        </p:nvSpPr>
        <p:spPr>
          <a:xfrm>
            <a:off x="5669280" y="5239512"/>
            <a:ext cx="6126480" cy="310896"/>
          </a:xfrm>
          <a:prstGeom prst="rect">
            <a:avLst/>
          </a:prstGeom>
          <a:noFill/>
        </p:spPr>
        <p:txBody>
          <a:bodyPr wrap="square">
            <a:spAutoFit/>
          </a:bodyPr>
          <a:lstStyle/>
          <a:p>
            <a:pPr algn="l"/>
            <a:r>
              <a:rPr sz="1050" b="0" i="0">
                <a:solidFill>
                  <a:srgbClr val="262626"/>
                </a:solidFill>
                <a:latin typeface="Arial"/>
              </a:rPr>
              <a:t>•  Single wheel station on course (guide does not specify neutral wheel inventory) — confirm placement at Saturday's briefing</a:t>
            </a:r>
          </a:p>
        </p:txBody>
      </p:sp>
      <p:sp>
        <p:nvSpPr>
          <p:cNvPr id="38" name="TextBox 37"/>
          <p:cNvSpPr txBox="1"/>
          <p:nvPr/>
        </p:nvSpPr>
        <p:spPr>
          <a:xfrm>
            <a:off x="5669280" y="5532120"/>
            <a:ext cx="6126480" cy="310896"/>
          </a:xfrm>
          <a:prstGeom prst="rect">
            <a:avLst/>
          </a:prstGeom>
          <a:noFill/>
        </p:spPr>
        <p:txBody>
          <a:bodyPr wrap="square">
            <a:spAutoFit/>
          </a:bodyPr>
          <a:lstStyle/>
          <a:p>
            <a:pPr algn="l"/>
            <a:r>
              <a:rPr sz="1050" b="0" i="0">
                <a:solidFill>
                  <a:srgbClr val="262626"/>
                </a:solidFill>
                <a:latin typeface="Arial"/>
              </a:rPr>
              <a:t>•  Open floodplain with minimal tree cover: crosswind exposure on the long straights is the realistic pack-splitting mechanism</a:t>
            </a:r>
          </a:p>
        </p:txBody>
      </p:sp>
      <p:sp>
        <p:nvSpPr>
          <p:cNvPr id="39" name="Rectangle 38"/>
          <p:cNvSpPr/>
          <p:nvPr/>
        </p:nvSpPr>
        <p:spPr>
          <a:xfrm>
            <a:off x="274320" y="5120640"/>
            <a:ext cx="11640312" cy="141732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74320" y="5577840"/>
            <a:ext cx="11640312" cy="548640"/>
          </a:xfrm>
          <a:prstGeom prst="rect">
            <a:avLst/>
          </a:prstGeom>
          <a:noFill/>
        </p:spPr>
        <p:txBody>
          <a:bodyPr wrap="square">
            <a:spAutoFit/>
          </a:bodyPr>
          <a:lstStyle/>
          <a:p>
            <a:pPr algn="ctr"/>
            <a:r>
              <a:rPr sz="1100" b="0" i="1">
                <a:solidFill>
                  <a:srgbClr val="BFBFBF"/>
                </a:solidFill>
                <a:latin typeface="Arial"/>
              </a:rPr>
              <a:t>Flat course — published profile shows no significant climbs.
No elevation chart synthesized; if a race GPS FIT becomes available, real contours will replace this block.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Run Course Profile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Asuncion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suncion_run_course.png"/>
          <p:cNvPicPr>
            <a:picLocks noChangeAspect="1"/>
          </p:cNvPicPr>
          <p:nvPr/>
        </p:nvPicPr>
        <p:blipFill>
          <a:blip r:embed="rId3"/>
          <a:stretch>
            <a:fillRect/>
          </a:stretch>
        </p:blipFill>
        <p:spPr>
          <a:xfrm>
            <a:off x="274320" y="1143000"/>
            <a:ext cx="5120640" cy="3840480"/>
          </a:xfrm>
          <a:prstGeom prst="rect">
            <a:avLst/>
          </a:prstGeom>
        </p:spPr>
      </p:pic>
      <p:sp>
        <p:nvSpPr>
          <p:cNvPr id="9" name="TextBox 8"/>
          <p:cNvSpPr txBox="1"/>
          <p:nvPr/>
        </p:nvSpPr>
        <p:spPr>
          <a:xfrm>
            <a:off x="274320" y="5029200"/>
            <a:ext cx="5120640" cy="228600"/>
          </a:xfrm>
          <a:prstGeom prst="rect">
            <a:avLst/>
          </a:prstGeom>
          <a:noFill/>
        </p:spPr>
        <p:txBody>
          <a:bodyPr wrap="square">
            <a:spAutoFit/>
          </a:bodyPr>
          <a:lstStyle/>
          <a:p>
            <a:pPr algn="ctr"/>
            <a:r>
              <a:rPr sz="900" b="0" i="1">
                <a:solidFill>
                  <a:srgbClr val="BFBFBF"/>
                </a:solidFill>
                <a:latin typeface="Arial"/>
              </a:rPr>
              <a:t>Source: 2026 World Triathlon Cup Asunción Athlete's Guide + official running course flyer — 9 Aug 2026</a:t>
            </a:r>
          </a:p>
        </p:txBody>
      </p:sp>
      <p:sp>
        <p:nvSpPr>
          <p:cNvPr id="10" name="Rectangle 9"/>
          <p:cNvSpPr/>
          <p:nvPr/>
        </p:nvSpPr>
        <p:spPr>
          <a:xfrm>
            <a:off x="5577840" y="1143000"/>
            <a:ext cx="6309360" cy="8229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0" y="1252728"/>
            <a:ext cx="6309360" cy="365760"/>
          </a:xfrm>
          <a:prstGeom prst="rect">
            <a:avLst/>
          </a:prstGeom>
          <a:noFill/>
        </p:spPr>
        <p:txBody>
          <a:bodyPr wrap="square">
            <a:spAutoFit/>
          </a:bodyPr>
          <a:lstStyle/>
          <a:p>
            <a:pPr algn="ctr"/>
            <a:r>
              <a:rPr sz="2200" b="1" i="0">
                <a:solidFill>
                  <a:srgbClr val="FFFFFF"/>
                </a:solidFill>
                <a:latin typeface="Arial"/>
              </a:rPr>
              <a:t>10.0 km   •   4 × 2.4 km</a:t>
            </a:r>
          </a:p>
        </p:txBody>
      </p:sp>
      <p:sp>
        <p:nvSpPr>
          <p:cNvPr id="12" name="TextBox 11"/>
          <p:cNvSpPr txBox="1"/>
          <p:nvPr/>
        </p:nvSpPr>
        <p:spPr>
          <a:xfrm>
            <a:off x="5577840" y="1636776"/>
            <a:ext cx="6309360" cy="292608"/>
          </a:xfrm>
          <a:prstGeom prst="rect">
            <a:avLst/>
          </a:prstGeom>
          <a:noFill/>
        </p:spPr>
        <p:txBody>
          <a:bodyPr wrap="square">
            <a:spAutoFit/>
          </a:bodyPr>
          <a:lstStyle/>
          <a:p>
            <a:pPr algn="ctr"/>
            <a:r>
              <a:rPr sz="1100" b="0" i="1">
                <a:solidFill>
                  <a:srgbClr val="AABBDD"/>
                </a:solidFill>
                <a:latin typeface="Arial"/>
              </a:rPr>
              <a:t>Paved closed avenue alongside the lagoon and river frontage</a:t>
            </a:r>
          </a:p>
        </p:txBody>
      </p:sp>
      <p:sp>
        <p:nvSpPr>
          <p:cNvPr id="13" name="Rectangle 12"/>
          <p:cNvSpPr/>
          <p:nvPr/>
        </p:nvSpPr>
        <p:spPr>
          <a:xfrm>
            <a:off x="562356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0" y="2139696"/>
            <a:ext cx="1920240" cy="201168"/>
          </a:xfrm>
          <a:prstGeom prst="rect">
            <a:avLst/>
          </a:prstGeom>
          <a:noFill/>
        </p:spPr>
        <p:txBody>
          <a:bodyPr wrap="square">
            <a:spAutoFit/>
          </a:bodyPr>
          <a:lstStyle/>
          <a:p>
            <a:pPr algn="ctr"/>
            <a:r>
              <a:rPr sz="900" b="1" i="0">
                <a:solidFill>
                  <a:srgbClr val="002060"/>
                </a:solidFill>
                <a:latin typeface="Arial"/>
              </a:rPr>
              <a:t>Distance</a:t>
            </a:r>
          </a:p>
        </p:txBody>
      </p:sp>
      <p:sp>
        <p:nvSpPr>
          <p:cNvPr id="15" name="TextBox 14"/>
          <p:cNvSpPr txBox="1"/>
          <p:nvPr/>
        </p:nvSpPr>
        <p:spPr>
          <a:xfrm>
            <a:off x="5669280" y="2340864"/>
            <a:ext cx="1920240" cy="347472"/>
          </a:xfrm>
          <a:prstGeom prst="rect">
            <a:avLst/>
          </a:prstGeom>
          <a:noFill/>
        </p:spPr>
        <p:txBody>
          <a:bodyPr wrap="square">
            <a:spAutoFit/>
          </a:bodyPr>
          <a:lstStyle/>
          <a:p>
            <a:pPr algn="ctr"/>
            <a:r>
              <a:rPr sz="1400" b="1" i="0">
                <a:solidFill>
                  <a:srgbClr val="262626"/>
                </a:solidFill>
                <a:latin typeface="Arial"/>
              </a:rPr>
              <a:t>10.0 km</a:t>
            </a:r>
          </a:p>
        </p:txBody>
      </p:sp>
      <p:sp>
        <p:nvSpPr>
          <p:cNvPr id="16" name="Rectangle 15"/>
          <p:cNvSpPr/>
          <p:nvPr/>
        </p:nvSpPr>
        <p:spPr>
          <a:xfrm>
            <a:off x="772668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139696"/>
            <a:ext cx="1920240" cy="201168"/>
          </a:xfrm>
          <a:prstGeom prst="rect">
            <a:avLst/>
          </a:prstGeom>
          <a:noFill/>
        </p:spPr>
        <p:txBody>
          <a:bodyPr wrap="square">
            <a:spAutoFit/>
          </a:bodyPr>
          <a:lstStyle/>
          <a:p>
            <a:pPr algn="ctr"/>
            <a:r>
              <a:rPr sz="900" b="1" i="0">
                <a:solidFill>
                  <a:srgbClr val="002060"/>
                </a:solidFill>
                <a:latin typeface="Arial"/>
              </a:rPr>
              <a:t>Lap Structure</a:t>
            </a:r>
          </a:p>
        </p:txBody>
      </p:sp>
      <p:sp>
        <p:nvSpPr>
          <p:cNvPr id="18" name="TextBox 17"/>
          <p:cNvSpPr txBox="1"/>
          <p:nvPr/>
        </p:nvSpPr>
        <p:spPr>
          <a:xfrm>
            <a:off x="7772400" y="2340864"/>
            <a:ext cx="1920240" cy="347472"/>
          </a:xfrm>
          <a:prstGeom prst="rect">
            <a:avLst/>
          </a:prstGeom>
          <a:noFill/>
        </p:spPr>
        <p:txBody>
          <a:bodyPr wrap="square">
            <a:spAutoFit/>
          </a:bodyPr>
          <a:lstStyle/>
          <a:p>
            <a:pPr algn="ctr"/>
            <a:r>
              <a:rPr sz="1400" b="1" i="0">
                <a:solidFill>
                  <a:srgbClr val="262626"/>
                </a:solidFill>
                <a:latin typeface="Arial"/>
              </a:rPr>
              <a:t>4 × 2.4 km</a:t>
            </a:r>
          </a:p>
        </p:txBody>
      </p:sp>
      <p:sp>
        <p:nvSpPr>
          <p:cNvPr id="19" name="Rectangle 18"/>
          <p:cNvSpPr/>
          <p:nvPr/>
        </p:nvSpPr>
        <p:spPr>
          <a:xfrm>
            <a:off x="982980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0" y="2139696"/>
            <a:ext cx="1920240" cy="201168"/>
          </a:xfrm>
          <a:prstGeom prst="rect">
            <a:avLst/>
          </a:prstGeom>
          <a:noFill/>
        </p:spPr>
        <p:txBody>
          <a:bodyPr wrap="square">
            <a:spAutoFit/>
          </a:bodyPr>
          <a:lstStyle/>
          <a:p>
            <a:pPr algn="ctr"/>
            <a:r>
              <a:rPr sz="900" b="1" i="0">
                <a:solidFill>
                  <a:srgbClr val="002060"/>
                </a:solidFill>
                <a:latin typeface="Arial"/>
              </a:rPr>
              <a:t>Total Climb</a:t>
            </a:r>
          </a:p>
        </p:txBody>
      </p:sp>
      <p:sp>
        <p:nvSpPr>
          <p:cNvPr id="21" name="TextBox 20"/>
          <p:cNvSpPr txBox="1"/>
          <p:nvPr/>
        </p:nvSpPr>
        <p:spPr>
          <a:xfrm>
            <a:off x="9875520" y="2340864"/>
            <a:ext cx="1920240" cy="347472"/>
          </a:xfrm>
          <a:prstGeom prst="rect">
            <a:avLst/>
          </a:prstGeom>
          <a:noFill/>
        </p:spPr>
        <p:txBody>
          <a:bodyPr wrap="square">
            <a:spAutoFit/>
          </a:bodyPr>
          <a:lstStyle/>
          <a:p>
            <a:pPr algn="ctr"/>
            <a:r>
              <a:rPr sz="1400" b="1" i="0">
                <a:solidFill>
                  <a:srgbClr val="262626"/>
                </a:solidFill>
                <a:latin typeface="Arial"/>
              </a:rPr>
              <a:t>Not published</a:t>
            </a:r>
          </a:p>
        </p:txBody>
      </p:sp>
      <p:sp>
        <p:nvSpPr>
          <p:cNvPr id="22" name="Rectangle 21"/>
          <p:cNvSpPr/>
          <p:nvPr/>
        </p:nvSpPr>
        <p:spPr>
          <a:xfrm>
            <a:off x="562356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0" y="2852928"/>
            <a:ext cx="1920240" cy="201168"/>
          </a:xfrm>
          <a:prstGeom prst="rect">
            <a:avLst/>
          </a:prstGeom>
          <a:noFill/>
        </p:spPr>
        <p:txBody>
          <a:bodyPr wrap="square">
            <a:spAutoFit/>
          </a:bodyPr>
          <a:lstStyle/>
          <a:p>
            <a:pPr algn="ctr"/>
            <a:r>
              <a:rPr sz="900" b="1" i="0">
                <a:solidFill>
                  <a:srgbClr val="002060"/>
                </a:solidFill>
                <a:latin typeface="Arial"/>
              </a:rPr>
              <a:t>Avg Grade</a:t>
            </a:r>
          </a:p>
        </p:txBody>
      </p:sp>
      <p:sp>
        <p:nvSpPr>
          <p:cNvPr id="24" name="TextBox 23"/>
          <p:cNvSpPr txBox="1"/>
          <p:nvPr/>
        </p:nvSpPr>
        <p:spPr>
          <a:xfrm>
            <a:off x="5669280" y="3054096"/>
            <a:ext cx="1920240" cy="347472"/>
          </a:xfrm>
          <a:prstGeom prst="rect">
            <a:avLst/>
          </a:prstGeom>
          <a:noFill/>
        </p:spPr>
        <p:txBody>
          <a:bodyPr wrap="square">
            <a:spAutoFit/>
          </a:bodyPr>
          <a:lstStyle/>
          <a:p>
            <a:pPr algn="ctr"/>
            <a:r>
              <a:rPr sz="1400" b="1" i="0">
                <a:solidFill>
                  <a:srgbClr val="262626"/>
                </a:solidFill>
                <a:latin typeface="Arial"/>
              </a:rPr>
              <a:t>—</a:t>
            </a:r>
          </a:p>
        </p:txBody>
      </p:sp>
      <p:sp>
        <p:nvSpPr>
          <p:cNvPr id="25" name="Rectangle 24"/>
          <p:cNvSpPr/>
          <p:nvPr/>
        </p:nvSpPr>
        <p:spPr>
          <a:xfrm>
            <a:off x="772668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2852928"/>
            <a:ext cx="1920240" cy="201168"/>
          </a:xfrm>
          <a:prstGeom prst="rect">
            <a:avLst/>
          </a:prstGeom>
          <a:noFill/>
        </p:spPr>
        <p:txBody>
          <a:bodyPr wrap="square">
            <a:spAutoFit/>
          </a:bodyPr>
          <a:lstStyle/>
          <a:p>
            <a:pPr algn="ctr"/>
            <a:r>
              <a:rPr sz="900" b="1" i="0">
                <a:solidFill>
                  <a:srgbClr val="002060"/>
                </a:solidFill>
                <a:latin typeface="Arial"/>
              </a:rPr>
              <a:t>Max ▲ / ▼</a:t>
            </a:r>
          </a:p>
        </p:txBody>
      </p:sp>
      <p:sp>
        <p:nvSpPr>
          <p:cNvPr id="27" name="TextBox 26"/>
          <p:cNvSpPr txBox="1"/>
          <p:nvPr/>
        </p:nvSpPr>
        <p:spPr>
          <a:xfrm>
            <a:off x="7772400" y="3054096"/>
            <a:ext cx="1920240" cy="347472"/>
          </a:xfrm>
          <a:prstGeom prst="rect">
            <a:avLst/>
          </a:prstGeom>
          <a:noFill/>
        </p:spPr>
        <p:txBody>
          <a:bodyPr wrap="square">
            <a:spAutoFit/>
          </a:bodyPr>
          <a:lstStyle/>
          <a:p>
            <a:pPr algn="ctr"/>
            <a:r>
              <a:rPr sz="1400" b="1" i="0">
                <a:solidFill>
                  <a:srgbClr val="262626"/>
                </a:solidFill>
                <a:latin typeface="Arial"/>
              </a:rPr>
              <a:t>Not published</a:t>
            </a:r>
          </a:p>
        </p:txBody>
      </p:sp>
      <p:sp>
        <p:nvSpPr>
          <p:cNvPr id="28" name="Rectangle 27"/>
          <p:cNvSpPr/>
          <p:nvPr/>
        </p:nvSpPr>
        <p:spPr>
          <a:xfrm>
            <a:off x="982980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75520" y="2852928"/>
            <a:ext cx="1920240" cy="201168"/>
          </a:xfrm>
          <a:prstGeom prst="rect">
            <a:avLst/>
          </a:prstGeom>
          <a:noFill/>
        </p:spPr>
        <p:txBody>
          <a:bodyPr wrap="square">
            <a:spAutoFit/>
          </a:bodyPr>
          <a:lstStyle/>
          <a:p>
            <a:pPr algn="ctr"/>
            <a:r>
              <a:rPr sz="900" b="1" i="0">
                <a:solidFill>
                  <a:srgbClr val="002060"/>
                </a:solidFill>
                <a:latin typeface="Arial"/>
              </a:rPr>
              <a:t>Heat Risk</a:t>
            </a:r>
          </a:p>
        </p:txBody>
      </p:sp>
      <p:sp>
        <p:nvSpPr>
          <p:cNvPr id="30" name="TextBox 29"/>
          <p:cNvSpPr txBox="1"/>
          <p:nvPr/>
        </p:nvSpPr>
        <p:spPr>
          <a:xfrm>
            <a:off x="9875520" y="3054096"/>
            <a:ext cx="1920240" cy="347472"/>
          </a:xfrm>
          <a:prstGeom prst="rect">
            <a:avLst/>
          </a:prstGeom>
          <a:noFill/>
        </p:spPr>
        <p:txBody>
          <a:bodyPr wrap="square">
            <a:spAutoFit/>
          </a:bodyPr>
          <a:lstStyle/>
          <a:p>
            <a:pPr algn="ctr"/>
            <a:r>
              <a:rPr sz="1400" b="1" i="0">
                <a:solidFill>
                  <a:srgbClr val="262626"/>
                </a:solidFill>
                <a:latin typeface="Arial"/>
              </a:rPr>
              <a:t>LOW — August is Paraguayan winter (see Race-Day Weather slide)</a:t>
            </a:r>
          </a:p>
        </p:txBody>
      </p:sp>
      <p:sp>
        <p:nvSpPr>
          <p:cNvPr id="31" name="Rectangle 30"/>
          <p:cNvSpPr/>
          <p:nvPr/>
        </p:nvSpPr>
        <p:spPr>
          <a:xfrm>
            <a:off x="5577840" y="3611880"/>
            <a:ext cx="6309360" cy="2926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0" y="3639312"/>
            <a:ext cx="6126480" cy="237744"/>
          </a:xfrm>
          <a:prstGeom prst="rect">
            <a:avLst/>
          </a:prstGeom>
          <a:noFill/>
        </p:spPr>
        <p:txBody>
          <a:bodyPr wrap="square">
            <a:spAutoFit/>
          </a:bodyPr>
          <a:lstStyle/>
          <a:p>
            <a:pPr algn="l"/>
            <a:r>
              <a:rPr sz="1200" b="1" i="0">
                <a:solidFill>
                  <a:srgbClr val="FFFFFF"/>
                </a:solidFill>
                <a:latin typeface="Arial"/>
              </a:rPr>
              <a:t>Tactical Notes</a:t>
            </a:r>
          </a:p>
        </p:txBody>
      </p:sp>
      <p:sp>
        <p:nvSpPr>
          <p:cNvPr id="33" name="TextBox 32"/>
          <p:cNvSpPr txBox="1"/>
          <p:nvPr/>
        </p:nvSpPr>
        <p:spPr>
          <a:xfrm>
            <a:off x="5669280" y="3977640"/>
            <a:ext cx="6126480" cy="310896"/>
          </a:xfrm>
          <a:prstGeom prst="rect">
            <a:avLst/>
          </a:prstGeom>
          <a:noFill/>
        </p:spPr>
        <p:txBody>
          <a:bodyPr wrap="square">
            <a:spAutoFit/>
          </a:bodyPr>
          <a:lstStyle/>
          <a:p>
            <a:pPr algn="l"/>
            <a:r>
              <a:rPr sz="1050" b="0" i="0">
                <a:solidFill>
                  <a:srgbClr val="262626"/>
                </a:solidFill>
                <a:latin typeface="Arial"/>
              </a:rPr>
              <a:t>•  Standard-distance run: 4 × 2.35 km laps plus a final 600 m spur = 10 km, described as flat</a:t>
            </a:r>
          </a:p>
        </p:txBody>
      </p:sp>
      <p:sp>
        <p:nvSpPr>
          <p:cNvPr id="34" name="TextBox 33"/>
          <p:cNvSpPr txBox="1"/>
          <p:nvPr/>
        </p:nvSpPr>
        <p:spPr>
          <a:xfrm>
            <a:off x="5669280" y="4270248"/>
            <a:ext cx="6126480" cy="310896"/>
          </a:xfrm>
          <a:prstGeom prst="rect">
            <a:avLst/>
          </a:prstGeom>
          <a:noFill/>
        </p:spPr>
        <p:txBody>
          <a:bodyPr wrap="square">
            <a:spAutoFit/>
          </a:bodyPr>
          <a:lstStyle/>
          <a:p>
            <a:pPr algn="l"/>
            <a:r>
              <a:rPr sz="1050" b="0" i="0">
                <a:solidFill>
                  <a:srgbClr val="262626"/>
                </a:solidFill>
                <a:latin typeface="Arial"/>
              </a:rPr>
              <a:t>•  Long straight out-and-back shape along the avenue — very few turns, so pace is honest and gaps are visible from a long way back</a:t>
            </a:r>
          </a:p>
        </p:txBody>
      </p:sp>
      <p:sp>
        <p:nvSpPr>
          <p:cNvPr id="35" name="TextBox 34"/>
          <p:cNvSpPr txBox="1"/>
          <p:nvPr/>
        </p:nvSpPr>
        <p:spPr>
          <a:xfrm>
            <a:off x="5669280" y="4562856"/>
            <a:ext cx="6126480" cy="310896"/>
          </a:xfrm>
          <a:prstGeom prst="rect">
            <a:avLst/>
          </a:prstGeom>
          <a:noFill/>
        </p:spPr>
        <p:txBody>
          <a:bodyPr wrap="square">
            <a:spAutoFit/>
          </a:bodyPr>
          <a:lstStyle/>
          <a:p>
            <a:pPr algn="l"/>
            <a:r>
              <a:rPr sz="1050" b="0" i="0">
                <a:solidFill>
                  <a:srgbClr val="262626"/>
                </a:solidFill>
                <a:latin typeface="Arial"/>
              </a:rPr>
              <a:t>•  Penalty box sits near transition and is passed every lap — bike drafting tickets are unusually costly over 4 laps</a:t>
            </a:r>
          </a:p>
        </p:txBody>
      </p:sp>
      <p:sp>
        <p:nvSpPr>
          <p:cNvPr id="36" name="TextBox 35"/>
          <p:cNvSpPr txBox="1"/>
          <p:nvPr/>
        </p:nvSpPr>
        <p:spPr>
          <a:xfrm>
            <a:off x="5669280" y="4855464"/>
            <a:ext cx="6126480" cy="310896"/>
          </a:xfrm>
          <a:prstGeom prst="rect">
            <a:avLst/>
          </a:prstGeom>
          <a:noFill/>
        </p:spPr>
        <p:txBody>
          <a:bodyPr wrap="square">
            <a:spAutoFit/>
          </a:bodyPr>
          <a:lstStyle/>
          <a:p>
            <a:pPr algn="l"/>
            <a:r>
              <a:rPr sz="1050" b="0" i="0">
                <a:solidFill>
                  <a:srgbClr val="262626"/>
                </a:solidFill>
                <a:latin typeface="Arial"/>
              </a:rPr>
              <a:t>•  Flat, non-technical and fast: on this profile the race is most likely decided by run legs off a large intact bike pack</a:t>
            </a:r>
          </a:p>
        </p:txBody>
      </p:sp>
      <p:sp>
        <p:nvSpPr>
          <p:cNvPr id="37" name="TextBox 36"/>
          <p:cNvSpPr txBox="1"/>
          <p:nvPr/>
        </p:nvSpPr>
        <p:spPr>
          <a:xfrm>
            <a:off x="5669280" y="5148072"/>
            <a:ext cx="6126480" cy="310896"/>
          </a:xfrm>
          <a:prstGeom prst="rect">
            <a:avLst/>
          </a:prstGeom>
          <a:noFill/>
        </p:spPr>
        <p:txBody>
          <a:bodyPr wrap="square">
            <a:spAutoFit/>
          </a:bodyPr>
          <a:lstStyle/>
          <a:p>
            <a:pPr algn="l"/>
            <a:r>
              <a:rPr sz="1050" b="0" i="0">
                <a:solidFill>
                  <a:srgbClr val="262626"/>
                </a:solidFill>
                <a:latin typeface="Arial"/>
              </a:rPr>
              <a:t>•  August is winter here: both races run in the cool morning and finish by ~12:20, well before the daily maximum. Heat is not the limiter this race normally is in a Cup</a:t>
            </a:r>
          </a:p>
        </p:txBody>
      </p:sp>
      <p:sp>
        <p:nvSpPr>
          <p:cNvPr id="38" name="TextBox 37"/>
          <p:cNvSpPr txBox="1"/>
          <p:nvPr/>
        </p:nvSpPr>
        <p:spPr>
          <a:xfrm>
            <a:off x="5669280" y="5440680"/>
            <a:ext cx="6126480" cy="310896"/>
          </a:xfrm>
          <a:prstGeom prst="rect">
            <a:avLst/>
          </a:prstGeom>
          <a:noFill/>
        </p:spPr>
        <p:txBody>
          <a:bodyPr wrap="square">
            <a:spAutoFit/>
          </a:bodyPr>
          <a:lstStyle/>
          <a:p>
            <a:pPr algn="l"/>
            <a:r>
              <a:rPr sz="1050" b="0" i="0">
                <a:solidFill>
                  <a:srgbClr val="262626"/>
                </a:solidFill>
                <a:latin typeface="Arial"/>
              </a:rPr>
              <a:t>•  Climatology puts the men's 10:30 start a few degrees warmer than the women's 07:30, but the gap varies year to year — the Race-Day Weather slide carries the live forecast and governs</a:t>
            </a:r>
          </a:p>
        </p:txBody>
      </p:sp>
      <p:sp>
        <p:nvSpPr>
          <p:cNvPr id="39" name="Rectangle 38"/>
          <p:cNvSpPr/>
          <p:nvPr/>
        </p:nvSpPr>
        <p:spPr>
          <a:xfrm>
            <a:off x="274320" y="6035040"/>
            <a:ext cx="11640312" cy="292608"/>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080760"/>
            <a:ext cx="11430000" cy="228600"/>
          </a:xfrm>
          <a:prstGeom prst="rect">
            <a:avLst/>
          </a:prstGeom>
          <a:noFill/>
        </p:spPr>
        <p:txBody>
          <a:bodyPr wrap="square">
            <a:spAutoFit/>
          </a:bodyPr>
          <a:lstStyle/>
          <a:p>
            <a:pPr algn="l"/>
            <a:r>
              <a:rPr sz="950" b="0" i="1">
                <a:solidFill>
                  <a:srgbClr val="262626"/>
                </a:solidFill>
                <a:latin typeface="Arial"/>
              </a:rPr>
              <a:t>Not in race brief: Aid station count and placement (not specified in the guide)  •  Elevation profile (course stated as flat, no published grade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Race-Day Weather Outlook</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Asuncion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97280"/>
            <a:ext cx="11640312" cy="384048"/>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61288"/>
            <a:ext cx="11430000" cy="274320"/>
          </a:xfrm>
          <a:prstGeom prst="rect">
            <a:avLst/>
          </a:prstGeom>
          <a:noFill/>
        </p:spPr>
        <p:txBody>
          <a:bodyPr wrap="square">
            <a:spAutoFit/>
          </a:bodyPr>
          <a:lstStyle/>
          <a:p>
            <a:pPr algn="ctr"/>
            <a:r>
              <a:rPr sz="1200" b="1" i="0">
                <a:solidFill>
                  <a:srgbClr val="002060"/>
                </a:solidFill>
                <a:latin typeface="Arial"/>
              </a:rPr>
              <a:t>2026-08-09   •   Forward forecast — Open-Meteo (≤16 days)</a:t>
            </a:r>
          </a:p>
        </p:txBody>
      </p:sp>
      <p:pic>
        <p:nvPicPr>
          <p:cNvPr id="10" name="Picture 9" descr="image.png"/>
          <p:cNvPicPr>
            <a:picLocks noChangeAspect="1"/>
          </p:cNvPicPr>
          <p:nvPr/>
        </p:nvPicPr>
        <p:blipFill>
          <a:blip r:embed="rId3"/>
          <a:stretch>
            <a:fillRect/>
          </a:stretch>
        </p:blipFill>
        <p:spPr>
          <a:xfrm>
            <a:off x="274320" y="1600200"/>
            <a:ext cx="7040880" cy="3108960"/>
          </a:xfrm>
          <a:prstGeom prst="rect">
            <a:avLst/>
          </a:prstGeom>
        </p:spPr>
      </p:pic>
      <p:sp>
        <p:nvSpPr>
          <p:cNvPr id="11" name="Rectangle 10"/>
          <p:cNvSpPr/>
          <p:nvPr/>
        </p:nvSpPr>
        <p:spPr>
          <a:xfrm>
            <a:off x="7498079" y="1645920"/>
            <a:ext cx="4416552"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19" y="1682496"/>
            <a:ext cx="4233672" cy="246888"/>
          </a:xfrm>
          <a:prstGeom prst="rect">
            <a:avLst/>
          </a:prstGeom>
          <a:noFill/>
        </p:spPr>
        <p:txBody>
          <a:bodyPr wrap="square">
            <a:spAutoFit/>
          </a:bodyPr>
          <a:lstStyle/>
          <a:p>
            <a:pPr algn="ctr"/>
            <a:r>
              <a:rPr sz="1100" b="1" i="0">
                <a:solidFill>
                  <a:srgbClr val="FFFFFF"/>
                </a:solidFill>
                <a:latin typeface="Arial"/>
              </a:rPr>
              <a:t>Elite Women — 07:30</a:t>
            </a:r>
          </a:p>
        </p:txBody>
      </p:sp>
      <p:sp>
        <p:nvSpPr>
          <p:cNvPr id="13" name="Rectangle 12"/>
          <p:cNvSpPr/>
          <p:nvPr/>
        </p:nvSpPr>
        <p:spPr>
          <a:xfrm>
            <a:off x="7516367" y="20116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34655" y="2039112"/>
            <a:ext cx="1399032" cy="182880"/>
          </a:xfrm>
          <a:prstGeom prst="rect">
            <a:avLst/>
          </a:prstGeom>
          <a:noFill/>
        </p:spPr>
        <p:txBody>
          <a:bodyPr wrap="square">
            <a:spAutoFit/>
          </a:bodyPr>
          <a:lstStyle/>
          <a:p>
            <a:pPr algn="ctr"/>
            <a:r>
              <a:rPr sz="800" b="1" i="0">
                <a:solidFill>
                  <a:srgbClr val="002060"/>
                </a:solidFill>
                <a:latin typeface="Arial"/>
              </a:rPr>
              <a:t>Temperature</a:t>
            </a:r>
          </a:p>
        </p:txBody>
      </p:sp>
      <p:sp>
        <p:nvSpPr>
          <p:cNvPr id="15" name="TextBox 14"/>
          <p:cNvSpPr txBox="1"/>
          <p:nvPr/>
        </p:nvSpPr>
        <p:spPr>
          <a:xfrm>
            <a:off x="7534655" y="2212848"/>
            <a:ext cx="1399032" cy="310896"/>
          </a:xfrm>
          <a:prstGeom prst="rect">
            <a:avLst/>
          </a:prstGeom>
          <a:noFill/>
        </p:spPr>
        <p:txBody>
          <a:bodyPr wrap="square">
            <a:spAutoFit/>
          </a:bodyPr>
          <a:lstStyle/>
          <a:p>
            <a:pPr algn="ctr"/>
            <a:r>
              <a:rPr sz="1200" b="1" i="0">
                <a:solidFill>
                  <a:srgbClr val="262626"/>
                </a:solidFill>
                <a:latin typeface="Arial"/>
              </a:rPr>
              <a:t>14.8 °C</a:t>
            </a:r>
          </a:p>
        </p:txBody>
      </p:sp>
      <p:sp>
        <p:nvSpPr>
          <p:cNvPr id="16" name="Rectangle 15"/>
          <p:cNvSpPr/>
          <p:nvPr/>
        </p:nvSpPr>
        <p:spPr>
          <a:xfrm>
            <a:off x="8988551" y="20116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06839" y="2039112"/>
            <a:ext cx="1399032" cy="182880"/>
          </a:xfrm>
          <a:prstGeom prst="rect">
            <a:avLst/>
          </a:prstGeom>
          <a:noFill/>
        </p:spPr>
        <p:txBody>
          <a:bodyPr wrap="square">
            <a:spAutoFit/>
          </a:bodyPr>
          <a:lstStyle/>
          <a:p>
            <a:pPr algn="ctr"/>
            <a:r>
              <a:rPr sz="800" b="1" i="0">
                <a:solidFill>
                  <a:srgbClr val="002060"/>
                </a:solidFill>
                <a:latin typeface="Arial"/>
              </a:rPr>
              <a:t>Apparent / Heat</a:t>
            </a:r>
          </a:p>
        </p:txBody>
      </p:sp>
      <p:sp>
        <p:nvSpPr>
          <p:cNvPr id="18" name="TextBox 17"/>
          <p:cNvSpPr txBox="1"/>
          <p:nvPr/>
        </p:nvSpPr>
        <p:spPr>
          <a:xfrm>
            <a:off x="9006839" y="2212848"/>
            <a:ext cx="1399032" cy="310896"/>
          </a:xfrm>
          <a:prstGeom prst="rect">
            <a:avLst/>
          </a:prstGeom>
          <a:noFill/>
        </p:spPr>
        <p:txBody>
          <a:bodyPr wrap="square">
            <a:spAutoFit/>
          </a:bodyPr>
          <a:lstStyle/>
          <a:p>
            <a:pPr algn="ctr"/>
            <a:r>
              <a:rPr sz="1200" b="1" i="0">
                <a:solidFill>
                  <a:srgbClr val="262626"/>
                </a:solidFill>
                <a:latin typeface="Arial"/>
              </a:rPr>
              <a:t>12.4 °C</a:t>
            </a:r>
          </a:p>
        </p:txBody>
      </p:sp>
      <p:sp>
        <p:nvSpPr>
          <p:cNvPr id="19" name="Rectangle 18"/>
          <p:cNvSpPr/>
          <p:nvPr/>
        </p:nvSpPr>
        <p:spPr>
          <a:xfrm>
            <a:off x="10460735" y="20116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79023" y="2039112"/>
            <a:ext cx="1399032" cy="182880"/>
          </a:xfrm>
          <a:prstGeom prst="rect">
            <a:avLst/>
          </a:prstGeom>
          <a:noFill/>
        </p:spPr>
        <p:txBody>
          <a:bodyPr wrap="square">
            <a:spAutoFit/>
          </a:bodyPr>
          <a:lstStyle/>
          <a:p>
            <a:pPr algn="ctr"/>
            <a:r>
              <a:rPr sz="800" b="1" i="0">
                <a:solidFill>
                  <a:srgbClr val="002060"/>
                </a:solidFill>
                <a:latin typeface="Arial"/>
              </a:rPr>
              <a:t>Humidity</a:t>
            </a:r>
          </a:p>
        </p:txBody>
      </p:sp>
      <p:sp>
        <p:nvSpPr>
          <p:cNvPr id="21" name="TextBox 20"/>
          <p:cNvSpPr txBox="1"/>
          <p:nvPr/>
        </p:nvSpPr>
        <p:spPr>
          <a:xfrm>
            <a:off x="10479023" y="2212848"/>
            <a:ext cx="1399032" cy="310896"/>
          </a:xfrm>
          <a:prstGeom prst="rect">
            <a:avLst/>
          </a:prstGeom>
          <a:noFill/>
        </p:spPr>
        <p:txBody>
          <a:bodyPr wrap="square">
            <a:spAutoFit/>
          </a:bodyPr>
          <a:lstStyle/>
          <a:p>
            <a:pPr algn="ctr"/>
            <a:r>
              <a:rPr sz="1200" b="1" i="0">
                <a:solidFill>
                  <a:srgbClr val="262626"/>
                </a:solidFill>
                <a:latin typeface="Arial"/>
              </a:rPr>
              <a:t>72%</a:t>
            </a:r>
          </a:p>
        </p:txBody>
      </p:sp>
      <p:sp>
        <p:nvSpPr>
          <p:cNvPr id="22" name="Rectangle 21"/>
          <p:cNvSpPr/>
          <p:nvPr/>
        </p:nvSpPr>
        <p:spPr>
          <a:xfrm>
            <a:off x="7516367" y="25786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4655" y="2606040"/>
            <a:ext cx="1399032" cy="182880"/>
          </a:xfrm>
          <a:prstGeom prst="rect">
            <a:avLst/>
          </a:prstGeom>
          <a:noFill/>
        </p:spPr>
        <p:txBody>
          <a:bodyPr wrap="square">
            <a:spAutoFit/>
          </a:bodyPr>
          <a:lstStyle/>
          <a:p>
            <a:pPr algn="ctr"/>
            <a:r>
              <a:rPr sz="800" b="1" i="0">
                <a:solidFill>
                  <a:srgbClr val="002060"/>
                </a:solidFill>
                <a:latin typeface="Arial"/>
              </a:rPr>
              <a:t>Wind</a:t>
            </a:r>
          </a:p>
        </p:txBody>
      </p:sp>
      <p:sp>
        <p:nvSpPr>
          <p:cNvPr id="24" name="TextBox 23"/>
          <p:cNvSpPr txBox="1"/>
          <p:nvPr/>
        </p:nvSpPr>
        <p:spPr>
          <a:xfrm>
            <a:off x="7534655" y="2779776"/>
            <a:ext cx="1399032" cy="310896"/>
          </a:xfrm>
          <a:prstGeom prst="rect">
            <a:avLst/>
          </a:prstGeom>
          <a:noFill/>
        </p:spPr>
        <p:txBody>
          <a:bodyPr wrap="square">
            <a:spAutoFit/>
          </a:bodyPr>
          <a:lstStyle/>
          <a:p>
            <a:pPr algn="ctr"/>
            <a:r>
              <a:rPr sz="1200" b="1" i="0">
                <a:solidFill>
                  <a:srgbClr val="262626"/>
                </a:solidFill>
                <a:latin typeface="Arial"/>
              </a:rPr>
              <a:t>16.1 km/h</a:t>
            </a:r>
          </a:p>
        </p:txBody>
      </p:sp>
      <p:sp>
        <p:nvSpPr>
          <p:cNvPr id="25" name="Rectangle 24"/>
          <p:cNvSpPr/>
          <p:nvPr/>
        </p:nvSpPr>
        <p:spPr>
          <a:xfrm>
            <a:off x="8988551" y="25786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39" y="2606040"/>
            <a:ext cx="1399032" cy="182880"/>
          </a:xfrm>
          <a:prstGeom prst="rect">
            <a:avLst/>
          </a:prstGeom>
          <a:noFill/>
        </p:spPr>
        <p:txBody>
          <a:bodyPr wrap="square">
            <a:spAutoFit/>
          </a:bodyPr>
          <a:lstStyle/>
          <a:p>
            <a:pPr algn="ctr"/>
            <a:r>
              <a:rPr sz="800" b="1" i="0">
                <a:solidFill>
                  <a:srgbClr val="002060"/>
                </a:solidFill>
                <a:latin typeface="Arial"/>
              </a:rPr>
              <a:t>UV peak</a:t>
            </a:r>
          </a:p>
        </p:txBody>
      </p:sp>
      <p:sp>
        <p:nvSpPr>
          <p:cNvPr id="27" name="TextBox 26"/>
          <p:cNvSpPr txBox="1"/>
          <p:nvPr/>
        </p:nvSpPr>
        <p:spPr>
          <a:xfrm>
            <a:off x="9006839" y="2779776"/>
            <a:ext cx="1399032" cy="310896"/>
          </a:xfrm>
          <a:prstGeom prst="rect">
            <a:avLst/>
          </a:prstGeom>
          <a:noFill/>
        </p:spPr>
        <p:txBody>
          <a:bodyPr wrap="square">
            <a:spAutoFit/>
          </a:bodyPr>
          <a:lstStyle/>
          <a:p>
            <a:pPr algn="ctr"/>
            <a:r>
              <a:rPr sz="1200" b="1" i="0">
                <a:solidFill>
                  <a:srgbClr val="262626"/>
                </a:solidFill>
                <a:latin typeface="Arial"/>
              </a:rPr>
              <a:t>0.9</a:t>
            </a:r>
          </a:p>
        </p:txBody>
      </p:sp>
      <p:sp>
        <p:nvSpPr>
          <p:cNvPr id="28" name="Rectangle 27"/>
          <p:cNvSpPr/>
          <p:nvPr/>
        </p:nvSpPr>
        <p:spPr>
          <a:xfrm>
            <a:off x="10460735" y="25786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79023" y="2606040"/>
            <a:ext cx="1399032" cy="182880"/>
          </a:xfrm>
          <a:prstGeom prst="rect">
            <a:avLst/>
          </a:prstGeom>
          <a:noFill/>
        </p:spPr>
        <p:txBody>
          <a:bodyPr wrap="square">
            <a:spAutoFit/>
          </a:bodyPr>
          <a:lstStyle/>
          <a:p>
            <a:pPr algn="ctr"/>
            <a:r>
              <a:rPr sz="800" b="1" i="0">
                <a:solidFill>
                  <a:srgbClr val="002060"/>
                </a:solidFill>
                <a:latin typeface="Arial"/>
              </a:rPr>
              <a:t>Heat Stress</a:t>
            </a:r>
          </a:p>
        </p:txBody>
      </p:sp>
      <p:sp>
        <p:nvSpPr>
          <p:cNvPr id="30" name="TextBox 29"/>
          <p:cNvSpPr txBox="1"/>
          <p:nvPr/>
        </p:nvSpPr>
        <p:spPr>
          <a:xfrm>
            <a:off x="10479023" y="2779776"/>
            <a:ext cx="1399032" cy="310896"/>
          </a:xfrm>
          <a:prstGeom prst="rect">
            <a:avLst/>
          </a:prstGeom>
          <a:noFill/>
        </p:spPr>
        <p:txBody>
          <a:bodyPr wrap="square">
            <a:spAutoFit/>
          </a:bodyPr>
          <a:lstStyle/>
          <a:p>
            <a:pPr algn="ctr"/>
            <a:r>
              <a:rPr sz="1200" b="1" i="0">
                <a:solidFill>
                  <a:srgbClr val="1B7F3A"/>
                </a:solidFill>
                <a:latin typeface="Arial"/>
              </a:rPr>
              <a:t>LOW</a:t>
            </a:r>
          </a:p>
        </p:txBody>
      </p:sp>
      <p:sp>
        <p:nvSpPr>
          <p:cNvPr id="31" name="Rectangle 30"/>
          <p:cNvSpPr/>
          <p:nvPr/>
        </p:nvSpPr>
        <p:spPr>
          <a:xfrm>
            <a:off x="7498079" y="3246120"/>
            <a:ext cx="4416552"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19" y="3282696"/>
            <a:ext cx="4233672" cy="246888"/>
          </a:xfrm>
          <a:prstGeom prst="rect">
            <a:avLst/>
          </a:prstGeom>
          <a:noFill/>
        </p:spPr>
        <p:txBody>
          <a:bodyPr wrap="square">
            <a:spAutoFit/>
          </a:bodyPr>
          <a:lstStyle/>
          <a:p>
            <a:pPr algn="ctr"/>
            <a:r>
              <a:rPr sz="1100" b="1" i="0">
                <a:solidFill>
                  <a:srgbClr val="FFFFFF"/>
                </a:solidFill>
                <a:latin typeface="Arial"/>
              </a:rPr>
              <a:t>Elite Men — 10:30</a:t>
            </a:r>
          </a:p>
        </p:txBody>
      </p:sp>
      <p:sp>
        <p:nvSpPr>
          <p:cNvPr id="33" name="Rectangle 32"/>
          <p:cNvSpPr/>
          <p:nvPr/>
        </p:nvSpPr>
        <p:spPr>
          <a:xfrm>
            <a:off x="7516367" y="36118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34655" y="3639312"/>
            <a:ext cx="1399032" cy="182880"/>
          </a:xfrm>
          <a:prstGeom prst="rect">
            <a:avLst/>
          </a:prstGeom>
          <a:noFill/>
        </p:spPr>
        <p:txBody>
          <a:bodyPr wrap="square">
            <a:spAutoFit/>
          </a:bodyPr>
          <a:lstStyle/>
          <a:p>
            <a:pPr algn="ctr"/>
            <a:r>
              <a:rPr sz="800" b="1" i="0">
                <a:solidFill>
                  <a:srgbClr val="002060"/>
                </a:solidFill>
                <a:latin typeface="Arial"/>
              </a:rPr>
              <a:t>Temperature</a:t>
            </a:r>
          </a:p>
        </p:txBody>
      </p:sp>
      <p:sp>
        <p:nvSpPr>
          <p:cNvPr id="35" name="TextBox 34"/>
          <p:cNvSpPr txBox="1"/>
          <p:nvPr/>
        </p:nvSpPr>
        <p:spPr>
          <a:xfrm>
            <a:off x="7534655" y="3813048"/>
            <a:ext cx="1399032" cy="310896"/>
          </a:xfrm>
          <a:prstGeom prst="rect">
            <a:avLst/>
          </a:prstGeom>
          <a:noFill/>
        </p:spPr>
        <p:txBody>
          <a:bodyPr wrap="square">
            <a:spAutoFit/>
          </a:bodyPr>
          <a:lstStyle/>
          <a:p>
            <a:pPr algn="ctr"/>
            <a:r>
              <a:rPr sz="1200" b="1" i="0">
                <a:solidFill>
                  <a:srgbClr val="262626"/>
                </a:solidFill>
                <a:latin typeface="Arial"/>
              </a:rPr>
              <a:t>15.3 °C</a:t>
            </a:r>
          </a:p>
        </p:txBody>
      </p:sp>
      <p:sp>
        <p:nvSpPr>
          <p:cNvPr id="36" name="Rectangle 35"/>
          <p:cNvSpPr/>
          <p:nvPr/>
        </p:nvSpPr>
        <p:spPr>
          <a:xfrm>
            <a:off x="8988551" y="36118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06839" y="3639312"/>
            <a:ext cx="1399032" cy="182880"/>
          </a:xfrm>
          <a:prstGeom prst="rect">
            <a:avLst/>
          </a:prstGeom>
          <a:noFill/>
        </p:spPr>
        <p:txBody>
          <a:bodyPr wrap="square">
            <a:spAutoFit/>
          </a:bodyPr>
          <a:lstStyle/>
          <a:p>
            <a:pPr algn="ctr"/>
            <a:r>
              <a:rPr sz="800" b="1" i="0">
                <a:solidFill>
                  <a:srgbClr val="002060"/>
                </a:solidFill>
                <a:latin typeface="Arial"/>
              </a:rPr>
              <a:t>Apparent / Heat</a:t>
            </a:r>
          </a:p>
        </p:txBody>
      </p:sp>
      <p:sp>
        <p:nvSpPr>
          <p:cNvPr id="38" name="TextBox 37"/>
          <p:cNvSpPr txBox="1"/>
          <p:nvPr/>
        </p:nvSpPr>
        <p:spPr>
          <a:xfrm>
            <a:off x="9006839" y="3813048"/>
            <a:ext cx="1399032" cy="310896"/>
          </a:xfrm>
          <a:prstGeom prst="rect">
            <a:avLst/>
          </a:prstGeom>
          <a:noFill/>
        </p:spPr>
        <p:txBody>
          <a:bodyPr wrap="square">
            <a:spAutoFit/>
          </a:bodyPr>
          <a:lstStyle/>
          <a:p>
            <a:pPr algn="ctr"/>
            <a:r>
              <a:rPr sz="1200" b="1" i="0">
                <a:solidFill>
                  <a:srgbClr val="262626"/>
                </a:solidFill>
                <a:latin typeface="Arial"/>
              </a:rPr>
              <a:t>12.9 °C</a:t>
            </a:r>
          </a:p>
        </p:txBody>
      </p:sp>
      <p:sp>
        <p:nvSpPr>
          <p:cNvPr id="39" name="Rectangle 38"/>
          <p:cNvSpPr/>
          <p:nvPr/>
        </p:nvSpPr>
        <p:spPr>
          <a:xfrm>
            <a:off x="10460735" y="3611880"/>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79023" y="3639312"/>
            <a:ext cx="1399032" cy="182880"/>
          </a:xfrm>
          <a:prstGeom prst="rect">
            <a:avLst/>
          </a:prstGeom>
          <a:noFill/>
        </p:spPr>
        <p:txBody>
          <a:bodyPr wrap="square">
            <a:spAutoFit/>
          </a:bodyPr>
          <a:lstStyle/>
          <a:p>
            <a:pPr algn="ctr"/>
            <a:r>
              <a:rPr sz="800" b="1" i="0">
                <a:solidFill>
                  <a:srgbClr val="002060"/>
                </a:solidFill>
                <a:latin typeface="Arial"/>
              </a:rPr>
              <a:t>Humidity</a:t>
            </a:r>
          </a:p>
        </p:txBody>
      </p:sp>
      <p:sp>
        <p:nvSpPr>
          <p:cNvPr id="41" name="TextBox 40"/>
          <p:cNvSpPr txBox="1"/>
          <p:nvPr/>
        </p:nvSpPr>
        <p:spPr>
          <a:xfrm>
            <a:off x="10479023" y="3813048"/>
            <a:ext cx="1399032" cy="310896"/>
          </a:xfrm>
          <a:prstGeom prst="rect">
            <a:avLst/>
          </a:prstGeom>
          <a:noFill/>
        </p:spPr>
        <p:txBody>
          <a:bodyPr wrap="square">
            <a:spAutoFit/>
          </a:bodyPr>
          <a:lstStyle/>
          <a:p>
            <a:pPr algn="ctr"/>
            <a:r>
              <a:rPr sz="1200" b="1" i="0">
                <a:solidFill>
                  <a:srgbClr val="262626"/>
                </a:solidFill>
                <a:latin typeface="Arial"/>
              </a:rPr>
              <a:t>68%</a:t>
            </a:r>
          </a:p>
        </p:txBody>
      </p:sp>
      <p:sp>
        <p:nvSpPr>
          <p:cNvPr id="42" name="Rectangle 41"/>
          <p:cNvSpPr/>
          <p:nvPr/>
        </p:nvSpPr>
        <p:spPr>
          <a:xfrm>
            <a:off x="7516367" y="41788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534655" y="4206240"/>
            <a:ext cx="1399032" cy="182880"/>
          </a:xfrm>
          <a:prstGeom prst="rect">
            <a:avLst/>
          </a:prstGeom>
          <a:noFill/>
        </p:spPr>
        <p:txBody>
          <a:bodyPr wrap="square">
            <a:spAutoFit/>
          </a:bodyPr>
          <a:lstStyle/>
          <a:p>
            <a:pPr algn="ctr"/>
            <a:r>
              <a:rPr sz="800" b="1" i="0">
                <a:solidFill>
                  <a:srgbClr val="002060"/>
                </a:solidFill>
                <a:latin typeface="Arial"/>
              </a:rPr>
              <a:t>Wind</a:t>
            </a:r>
          </a:p>
        </p:txBody>
      </p:sp>
      <p:sp>
        <p:nvSpPr>
          <p:cNvPr id="44" name="TextBox 43"/>
          <p:cNvSpPr txBox="1"/>
          <p:nvPr/>
        </p:nvSpPr>
        <p:spPr>
          <a:xfrm>
            <a:off x="7534655" y="4379976"/>
            <a:ext cx="1399032" cy="310896"/>
          </a:xfrm>
          <a:prstGeom prst="rect">
            <a:avLst/>
          </a:prstGeom>
          <a:noFill/>
        </p:spPr>
        <p:txBody>
          <a:bodyPr wrap="square">
            <a:spAutoFit/>
          </a:bodyPr>
          <a:lstStyle/>
          <a:p>
            <a:pPr algn="ctr"/>
            <a:r>
              <a:rPr sz="1200" b="1" i="0">
                <a:solidFill>
                  <a:srgbClr val="262626"/>
                </a:solidFill>
                <a:latin typeface="Arial"/>
              </a:rPr>
              <a:t>15.3 km/h</a:t>
            </a:r>
          </a:p>
        </p:txBody>
      </p:sp>
      <p:sp>
        <p:nvSpPr>
          <p:cNvPr id="45" name="Rectangle 44"/>
          <p:cNvSpPr/>
          <p:nvPr/>
        </p:nvSpPr>
        <p:spPr>
          <a:xfrm>
            <a:off x="8988551" y="41788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06839" y="4206240"/>
            <a:ext cx="1399032" cy="182880"/>
          </a:xfrm>
          <a:prstGeom prst="rect">
            <a:avLst/>
          </a:prstGeom>
          <a:noFill/>
        </p:spPr>
        <p:txBody>
          <a:bodyPr wrap="square">
            <a:spAutoFit/>
          </a:bodyPr>
          <a:lstStyle/>
          <a:p>
            <a:pPr algn="ctr"/>
            <a:r>
              <a:rPr sz="800" b="1" i="0">
                <a:solidFill>
                  <a:srgbClr val="002060"/>
                </a:solidFill>
                <a:latin typeface="Arial"/>
              </a:rPr>
              <a:t>UV peak</a:t>
            </a:r>
          </a:p>
        </p:txBody>
      </p:sp>
      <p:sp>
        <p:nvSpPr>
          <p:cNvPr id="47" name="TextBox 46"/>
          <p:cNvSpPr txBox="1"/>
          <p:nvPr/>
        </p:nvSpPr>
        <p:spPr>
          <a:xfrm>
            <a:off x="9006839" y="4379976"/>
            <a:ext cx="1399032" cy="310896"/>
          </a:xfrm>
          <a:prstGeom prst="rect">
            <a:avLst/>
          </a:prstGeom>
          <a:noFill/>
        </p:spPr>
        <p:txBody>
          <a:bodyPr wrap="square">
            <a:spAutoFit/>
          </a:bodyPr>
          <a:lstStyle/>
          <a:p>
            <a:pPr algn="ctr"/>
            <a:r>
              <a:rPr sz="1200" b="1" i="0">
                <a:solidFill>
                  <a:srgbClr val="262626"/>
                </a:solidFill>
                <a:latin typeface="Arial"/>
              </a:rPr>
              <a:t>4.6</a:t>
            </a:r>
          </a:p>
        </p:txBody>
      </p:sp>
      <p:sp>
        <p:nvSpPr>
          <p:cNvPr id="48" name="Rectangle 47"/>
          <p:cNvSpPr/>
          <p:nvPr/>
        </p:nvSpPr>
        <p:spPr>
          <a:xfrm>
            <a:off x="10460735" y="4178808"/>
            <a:ext cx="1435608" cy="530352"/>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479023" y="4206240"/>
            <a:ext cx="1399032" cy="182880"/>
          </a:xfrm>
          <a:prstGeom prst="rect">
            <a:avLst/>
          </a:prstGeom>
          <a:noFill/>
        </p:spPr>
        <p:txBody>
          <a:bodyPr wrap="square">
            <a:spAutoFit/>
          </a:bodyPr>
          <a:lstStyle/>
          <a:p>
            <a:pPr algn="ctr"/>
            <a:r>
              <a:rPr sz="800" b="1" i="0">
                <a:solidFill>
                  <a:srgbClr val="002060"/>
                </a:solidFill>
                <a:latin typeface="Arial"/>
              </a:rPr>
              <a:t>Heat Stress</a:t>
            </a:r>
          </a:p>
        </p:txBody>
      </p:sp>
      <p:sp>
        <p:nvSpPr>
          <p:cNvPr id="50" name="TextBox 49"/>
          <p:cNvSpPr txBox="1"/>
          <p:nvPr/>
        </p:nvSpPr>
        <p:spPr>
          <a:xfrm>
            <a:off x="10479023" y="4379976"/>
            <a:ext cx="1399032" cy="310896"/>
          </a:xfrm>
          <a:prstGeom prst="rect">
            <a:avLst/>
          </a:prstGeom>
          <a:noFill/>
        </p:spPr>
        <p:txBody>
          <a:bodyPr wrap="square">
            <a:spAutoFit/>
          </a:bodyPr>
          <a:lstStyle/>
          <a:p>
            <a:pPr algn="ctr"/>
            <a:r>
              <a:rPr sz="1200" b="1" i="0">
                <a:solidFill>
                  <a:srgbClr val="1B7F3A"/>
                </a:solidFill>
                <a:latin typeface="Arial"/>
              </a:rPr>
              <a:t>LOW</a:t>
            </a:r>
          </a:p>
        </p:txBody>
      </p:sp>
      <p:sp>
        <p:nvSpPr>
          <p:cNvPr id="51" name="Rectangle 50"/>
          <p:cNvSpPr/>
          <p:nvPr/>
        </p:nvSpPr>
        <p:spPr>
          <a:xfrm>
            <a:off x="274320" y="4846320"/>
            <a:ext cx="11640312" cy="2926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5760" y="4873752"/>
            <a:ext cx="11430000" cy="237744"/>
          </a:xfrm>
          <a:prstGeom prst="rect">
            <a:avLst/>
          </a:prstGeom>
          <a:noFill/>
        </p:spPr>
        <p:txBody>
          <a:bodyPr wrap="square">
            <a:spAutoFit/>
          </a:bodyPr>
          <a:lstStyle/>
          <a:p>
            <a:pPr algn="l"/>
            <a:r>
              <a:rPr sz="1200" b="1" i="0">
                <a:solidFill>
                  <a:srgbClr val="FFFFFF"/>
                </a:solidFill>
                <a:latin typeface="Arial"/>
              </a:rPr>
              <a:t>Hydration &amp; Cooling Cues</a:t>
            </a:r>
          </a:p>
        </p:txBody>
      </p:sp>
      <p:sp>
        <p:nvSpPr>
          <p:cNvPr id="53" name="TextBox 52"/>
          <p:cNvSpPr txBox="1"/>
          <p:nvPr/>
        </p:nvSpPr>
        <p:spPr>
          <a:xfrm>
            <a:off x="365760" y="5212080"/>
            <a:ext cx="11430000" cy="310896"/>
          </a:xfrm>
          <a:prstGeom prst="rect">
            <a:avLst/>
          </a:prstGeom>
          <a:noFill/>
        </p:spPr>
        <p:txBody>
          <a:bodyPr wrap="square">
            <a:spAutoFit/>
          </a:bodyPr>
          <a:lstStyle/>
          <a:p>
            <a:pPr algn="l"/>
            <a:r>
              <a:rPr sz="1050" b="0" i="0">
                <a:solidFill>
                  <a:srgbClr val="262626"/>
                </a:solidFill>
                <a:latin typeface="Arial"/>
              </a:rPr>
              <a:t>•  Cool to mild outlook — standard fluid plan (~500 ml/h), no special pre-cooling required</a:t>
            </a:r>
          </a:p>
        </p:txBody>
      </p:sp>
      <p:sp>
        <p:nvSpPr>
          <p:cNvPr id="54" name="TextBox 53"/>
          <p:cNvSpPr txBox="1"/>
          <p:nvPr/>
        </p:nvSpPr>
        <p:spPr>
          <a:xfrm>
            <a:off x="365760" y="5504688"/>
            <a:ext cx="11430000" cy="310896"/>
          </a:xfrm>
          <a:prstGeom prst="rect">
            <a:avLst/>
          </a:prstGeom>
          <a:noFill/>
        </p:spPr>
        <p:txBody>
          <a:bodyPr wrap="square">
            <a:spAutoFit/>
          </a:bodyPr>
          <a:lstStyle/>
          <a:p>
            <a:pPr algn="l"/>
            <a:r>
              <a:rPr sz="1050" b="0" i="0">
                <a:solidFill>
                  <a:srgbClr val="262626"/>
                </a:solidFill>
                <a:latin typeface="Arial"/>
              </a:rPr>
              <a:t>•  Notable wind (16 km/h) — drafting protection matters on exposed coastal bike sections; sight more frequently in chop</a:t>
            </a:r>
          </a:p>
        </p:txBody>
      </p:sp>
      <p:sp>
        <p:nvSpPr>
          <p:cNvPr id="55" name="TextBox 54"/>
          <p:cNvSpPr txBox="1"/>
          <p:nvPr/>
        </p:nvSpPr>
        <p:spPr>
          <a:xfrm>
            <a:off x="365760" y="5797296"/>
            <a:ext cx="11430000" cy="310896"/>
          </a:xfrm>
          <a:prstGeom prst="rect">
            <a:avLst/>
          </a:prstGeom>
          <a:noFill/>
        </p:spPr>
        <p:txBody>
          <a:bodyPr wrap="square">
            <a:spAutoFit/>
          </a:bodyPr>
          <a:lstStyle/>
          <a:p>
            <a:pPr algn="l"/>
            <a:r>
              <a:rPr sz="1050" b="0" i="0">
                <a:solidFill>
                  <a:srgbClr val="262626"/>
                </a:solidFill>
                <a:latin typeface="Arial"/>
              </a:rPr>
              <a:t>•  Cold air pre-race — extended warm-up + warm clothing to lounge; wetsuit decision likely tilts mandatory if water tracks the same direction</a:t>
            </a:r>
          </a:p>
        </p:txBody>
      </p:sp>
      <p:sp>
        <p:nvSpPr>
          <p:cNvPr id="56" name="TextBox 55"/>
          <p:cNvSpPr txBox="1"/>
          <p:nvPr/>
        </p:nvSpPr>
        <p:spPr>
          <a:xfrm>
            <a:off x="274320" y="6446520"/>
            <a:ext cx="11640312" cy="228600"/>
          </a:xfrm>
          <a:prstGeom prst="rect">
            <a:avLst/>
          </a:prstGeom>
          <a:noFill/>
        </p:spPr>
        <p:txBody>
          <a:bodyPr wrap="square">
            <a:spAutoFit/>
          </a:bodyPr>
          <a:lstStyle/>
          <a:p>
            <a:pPr algn="ctr"/>
            <a:r>
              <a:rPr sz="900" b="0" i="1">
                <a:solidFill>
                  <a:srgbClr val="BFBFBF"/>
                </a:solidFill>
                <a:latin typeface="Arial"/>
              </a:rPr>
              <a:t>Data source: Open-Meteo. Forecast refreshes every run. Historical Race Conditions slide shows what actually happened in prior years.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Travel &amp; Arrival Load</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Denver, CO → Asunción race week</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97280"/>
            <a:ext cx="11640312" cy="960120"/>
          </a:xfrm>
          <a:prstGeom prst="rect">
            <a:avLst/>
          </a:prstGeom>
          <a:solidFill>
            <a:srgbClr val="E9EFF9"/>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61288"/>
            <a:ext cx="11430000" cy="274320"/>
          </a:xfrm>
          <a:prstGeom prst="rect">
            <a:avLst/>
          </a:prstGeom>
          <a:noFill/>
        </p:spPr>
        <p:txBody>
          <a:bodyPr wrap="square">
            <a:spAutoFit/>
          </a:bodyPr>
          <a:lstStyle/>
          <a:p>
            <a:pPr algn="ctr"/>
            <a:r>
              <a:rPr sz="1200" b="1" i="0">
                <a:solidFill>
                  <a:srgbClr val="002060"/>
                </a:solidFill>
                <a:latin typeface="Arial"/>
              </a:rPr>
              <a:t>Core travel read</a:t>
            </a:r>
          </a:p>
        </p:txBody>
      </p:sp>
      <p:sp>
        <p:nvSpPr>
          <p:cNvPr id="10" name="TextBox 9"/>
          <p:cNvSpPr txBox="1"/>
          <p:nvPr/>
        </p:nvSpPr>
        <p:spPr>
          <a:xfrm>
            <a:off x="457200" y="1444752"/>
            <a:ext cx="11247120" cy="566928"/>
          </a:xfrm>
          <a:prstGeom prst="rect">
            <a:avLst/>
          </a:prstGeom>
          <a:noFill/>
        </p:spPr>
        <p:txBody>
          <a:bodyPr wrap="square">
            <a:spAutoFit/>
          </a:bodyPr>
          <a:lstStyle/>
          <a:p>
            <a:pPr algn="ctr"/>
            <a:r>
              <a:rPr sz="1050" b="0" i="0">
                <a:solidFill>
                  <a:srgbClr val="262626"/>
                </a:solidFill>
                <a:latin typeface="Arial"/>
              </a:rPr>
              <a:t>Denver → Asunción is a long-haul with no nonstop option; realistic routings connect through Panama City (PTY, Copa), Lima (LIM), São Paulo (GRU) or Miami (MIA), typically 16–22 h door to door with an overnight leg. VERIFY THE TIME ZONE: the athlete guide lists Paraguay as GMT-4, but Paraguay moved to permanent UTC-3 in October 2024, which would make it +3 h from Denver (MDT), not +2 h. Confirm before booking race-morning logistics. The venue is 15 km from the official hotel across the Héroes del Chaco bridge and is CLOSED except on familiarization day and race day, so there is no course access midweek. Official LOC transfers run to a fixed timetable — women's race-day call time at the hotel is 04:30.</a:t>
            </a:r>
          </a:p>
        </p:txBody>
      </p:sp>
      <p:sp>
        <p:nvSpPr>
          <p:cNvPr id="11" name="Rectangle 10"/>
          <p:cNvSpPr/>
          <p:nvPr/>
        </p:nvSpPr>
        <p:spPr>
          <a:xfrm>
            <a:off x="274320"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 y="2286000"/>
            <a:ext cx="2072030" cy="201168"/>
          </a:xfrm>
          <a:prstGeom prst="rect">
            <a:avLst/>
          </a:prstGeom>
          <a:noFill/>
        </p:spPr>
        <p:txBody>
          <a:bodyPr wrap="square">
            <a:spAutoFit/>
          </a:bodyPr>
          <a:lstStyle/>
          <a:p>
            <a:pPr algn="ctr"/>
            <a:r>
              <a:rPr sz="1000" b="1" i="0">
                <a:solidFill>
                  <a:srgbClr val="002060"/>
                </a:solidFill>
                <a:latin typeface="Arial"/>
              </a:rPr>
              <a:t>Primary route</a:t>
            </a:r>
          </a:p>
        </p:txBody>
      </p:sp>
      <p:sp>
        <p:nvSpPr>
          <p:cNvPr id="13" name="TextBox 12"/>
          <p:cNvSpPr txBox="1"/>
          <p:nvPr/>
        </p:nvSpPr>
        <p:spPr>
          <a:xfrm>
            <a:off x="347472" y="2496312"/>
            <a:ext cx="2072030" cy="292608"/>
          </a:xfrm>
          <a:prstGeom prst="rect">
            <a:avLst/>
          </a:prstGeom>
          <a:noFill/>
        </p:spPr>
        <p:txBody>
          <a:bodyPr wrap="square">
            <a:spAutoFit/>
          </a:bodyPr>
          <a:lstStyle/>
          <a:p>
            <a:pPr algn="ctr"/>
            <a:r>
              <a:rPr sz="1400" b="1" i="0">
                <a:solidFill>
                  <a:srgbClr val="262626"/>
                </a:solidFill>
                <a:latin typeface="Arial"/>
              </a:rPr>
              <a:t>DEN → ASU</a:t>
            </a:r>
          </a:p>
        </p:txBody>
      </p:sp>
      <p:sp>
        <p:nvSpPr>
          <p:cNvPr id="14" name="TextBox 13"/>
          <p:cNvSpPr txBox="1"/>
          <p:nvPr/>
        </p:nvSpPr>
        <p:spPr>
          <a:xfrm>
            <a:off x="347472" y="2807208"/>
            <a:ext cx="2072030" cy="256032"/>
          </a:xfrm>
          <a:prstGeom prst="rect">
            <a:avLst/>
          </a:prstGeom>
          <a:noFill/>
        </p:spPr>
        <p:txBody>
          <a:bodyPr wrap="square">
            <a:spAutoFit/>
          </a:bodyPr>
          <a:lstStyle/>
          <a:p>
            <a:pPr algn="ctr"/>
            <a:r>
              <a:rPr sz="900" b="0" i="1">
                <a:solidFill>
                  <a:srgbClr val="BFBFBF"/>
                </a:solidFill>
                <a:latin typeface="Arial"/>
              </a:rPr>
              <a:t>1–2 stops (PTY/LIM/GRU/MIA)</a:t>
            </a:r>
          </a:p>
        </p:txBody>
      </p:sp>
      <p:sp>
        <p:nvSpPr>
          <p:cNvPr id="15" name="Rectangle 14"/>
          <p:cNvSpPr/>
          <p:nvPr/>
        </p:nvSpPr>
        <p:spPr>
          <a:xfrm>
            <a:off x="2629814"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02966" y="2286000"/>
            <a:ext cx="2072030" cy="201168"/>
          </a:xfrm>
          <a:prstGeom prst="rect">
            <a:avLst/>
          </a:prstGeom>
          <a:noFill/>
        </p:spPr>
        <p:txBody>
          <a:bodyPr wrap="square">
            <a:spAutoFit/>
          </a:bodyPr>
          <a:lstStyle/>
          <a:p>
            <a:pPr algn="ctr"/>
            <a:r>
              <a:rPr sz="1000" b="1" i="0">
                <a:solidFill>
                  <a:srgbClr val="002060"/>
                </a:solidFill>
                <a:latin typeface="Arial"/>
              </a:rPr>
              <a:t>Time zones</a:t>
            </a:r>
          </a:p>
        </p:txBody>
      </p:sp>
      <p:sp>
        <p:nvSpPr>
          <p:cNvPr id="17" name="TextBox 16"/>
          <p:cNvSpPr txBox="1"/>
          <p:nvPr/>
        </p:nvSpPr>
        <p:spPr>
          <a:xfrm>
            <a:off x="2702966" y="2496312"/>
            <a:ext cx="2072030" cy="292608"/>
          </a:xfrm>
          <a:prstGeom prst="rect">
            <a:avLst/>
          </a:prstGeom>
          <a:noFill/>
        </p:spPr>
        <p:txBody>
          <a:bodyPr wrap="square">
            <a:spAutoFit/>
          </a:bodyPr>
          <a:lstStyle/>
          <a:p>
            <a:pPr algn="ctr"/>
            <a:r>
              <a:rPr sz="1400" b="1" i="0">
                <a:solidFill>
                  <a:srgbClr val="262626"/>
                </a:solidFill>
                <a:latin typeface="Arial"/>
              </a:rPr>
              <a:t>+2h or +3h</a:t>
            </a:r>
          </a:p>
        </p:txBody>
      </p:sp>
      <p:sp>
        <p:nvSpPr>
          <p:cNvPr id="18" name="TextBox 17"/>
          <p:cNvSpPr txBox="1"/>
          <p:nvPr/>
        </p:nvSpPr>
        <p:spPr>
          <a:xfrm>
            <a:off x="2702966" y="2807208"/>
            <a:ext cx="2072030" cy="256032"/>
          </a:xfrm>
          <a:prstGeom prst="rect">
            <a:avLst/>
          </a:prstGeom>
          <a:noFill/>
        </p:spPr>
        <p:txBody>
          <a:bodyPr wrap="square">
            <a:spAutoFit/>
          </a:bodyPr>
          <a:lstStyle/>
          <a:p>
            <a:pPr algn="ctr"/>
            <a:r>
              <a:rPr sz="900" b="0" i="1">
                <a:solidFill>
                  <a:srgbClr val="BFBFBF"/>
                </a:solidFill>
                <a:latin typeface="Arial"/>
              </a:rPr>
              <a:t>Guide says UTC-4; verify UTC-3</a:t>
            </a:r>
          </a:p>
        </p:txBody>
      </p:sp>
      <p:sp>
        <p:nvSpPr>
          <p:cNvPr id="19" name="Rectangle 18"/>
          <p:cNvSpPr/>
          <p:nvPr/>
        </p:nvSpPr>
        <p:spPr>
          <a:xfrm>
            <a:off x="4985308"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58460" y="2286000"/>
            <a:ext cx="2072030" cy="201168"/>
          </a:xfrm>
          <a:prstGeom prst="rect">
            <a:avLst/>
          </a:prstGeom>
          <a:noFill/>
        </p:spPr>
        <p:txBody>
          <a:bodyPr wrap="square">
            <a:spAutoFit/>
          </a:bodyPr>
          <a:lstStyle/>
          <a:p>
            <a:pPr algn="ctr"/>
            <a:r>
              <a:rPr sz="1000" b="1" i="0">
                <a:solidFill>
                  <a:srgbClr val="002060"/>
                </a:solidFill>
                <a:latin typeface="Arial"/>
              </a:rPr>
              <a:t>Airport Transfer</a:t>
            </a:r>
          </a:p>
        </p:txBody>
      </p:sp>
      <p:sp>
        <p:nvSpPr>
          <p:cNvPr id="21" name="TextBox 20"/>
          <p:cNvSpPr txBox="1"/>
          <p:nvPr/>
        </p:nvSpPr>
        <p:spPr>
          <a:xfrm>
            <a:off x="5058460" y="2496312"/>
            <a:ext cx="2072030" cy="292608"/>
          </a:xfrm>
          <a:prstGeom prst="rect">
            <a:avLst/>
          </a:prstGeom>
          <a:noFill/>
        </p:spPr>
        <p:txBody>
          <a:bodyPr wrap="square">
            <a:spAutoFit/>
          </a:bodyPr>
          <a:lstStyle/>
          <a:p>
            <a:pPr algn="ctr"/>
            <a:r>
              <a:rPr sz="1400" b="1" i="0">
                <a:solidFill>
                  <a:srgbClr val="262626"/>
                </a:solidFill>
                <a:latin typeface="Arial"/>
              </a:rPr>
              <a:t>ASU → Esplendor</a:t>
            </a:r>
          </a:p>
        </p:txBody>
      </p:sp>
      <p:sp>
        <p:nvSpPr>
          <p:cNvPr id="22" name="TextBox 21"/>
          <p:cNvSpPr txBox="1"/>
          <p:nvPr/>
        </p:nvSpPr>
        <p:spPr>
          <a:xfrm>
            <a:off x="5058460" y="2807208"/>
            <a:ext cx="2072030" cy="256032"/>
          </a:xfrm>
          <a:prstGeom prst="rect">
            <a:avLst/>
          </a:prstGeom>
          <a:noFill/>
        </p:spPr>
        <p:txBody>
          <a:bodyPr wrap="square">
            <a:spAutoFit/>
          </a:bodyPr>
          <a:lstStyle/>
          <a:p>
            <a:pPr algn="ctr"/>
            <a:r>
              <a:rPr sz="900" b="0" i="1">
                <a:solidFill>
                  <a:srgbClr val="BFBFBF"/>
                </a:solidFill>
                <a:latin typeface="Arial"/>
              </a:rPr>
              <a:t>~6 km / 15 min by car</a:t>
            </a:r>
          </a:p>
        </p:txBody>
      </p:sp>
      <p:sp>
        <p:nvSpPr>
          <p:cNvPr id="23" name="Rectangle 22"/>
          <p:cNvSpPr/>
          <p:nvPr/>
        </p:nvSpPr>
        <p:spPr>
          <a:xfrm>
            <a:off x="7340803"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3955" y="2286000"/>
            <a:ext cx="2072030" cy="201168"/>
          </a:xfrm>
          <a:prstGeom prst="rect">
            <a:avLst/>
          </a:prstGeom>
          <a:noFill/>
        </p:spPr>
        <p:txBody>
          <a:bodyPr wrap="square">
            <a:spAutoFit/>
          </a:bodyPr>
          <a:lstStyle/>
          <a:p>
            <a:pPr algn="ctr"/>
            <a:r>
              <a:rPr sz="1000" b="1" i="0">
                <a:solidFill>
                  <a:srgbClr val="002060"/>
                </a:solidFill>
                <a:latin typeface="Arial"/>
              </a:rPr>
              <a:t>Hotel → Venue</a:t>
            </a:r>
          </a:p>
        </p:txBody>
      </p:sp>
      <p:sp>
        <p:nvSpPr>
          <p:cNvPr id="25" name="TextBox 24"/>
          <p:cNvSpPr txBox="1"/>
          <p:nvPr/>
        </p:nvSpPr>
        <p:spPr>
          <a:xfrm>
            <a:off x="7413955" y="2496312"/>
            <a:ext cx="2072030" cy="292608"/>
          </a:xfrm>
          <a:prstGeom prst="rect">
            <a:avLst/>
          </a:prstGeom>
          <a:noFill/>
        </p:spPr>
        <p:txBody>
          <a:bodyPr wrap="square">
            <a:spAutoFit/>
          </a:bodyPr>
          <a:lstStyle/>
          <a:p>
            <a:pPr algn="ctr"/>
            <a:r>
              <a:rPr sz="1400" b="1" i="0">
                <a:solidFill>
                  <a:srgbClr val="262626"/>
                </a:solidFill>
                <a:latin typeface="Arial"/>
              </a:rPr>
              <a:t>~15 km / 25-35 min</a:t>
            </a:r>
          </a:p>
        </p:txBody>
      </p:sp>
      <p:sp>
        <p:nvSpPr>
          <p:cNvPr id="26" name="TextBox 25"/>
          <p:cNvSpPr txBox="1"/>
          <p:nvPr/>
        </p:nvSpPr>
        <p:spPr>
          <a:xfrm>
            <a:off x="7413955" y="2807208"/>
            <a:ext cx="2072030" cy="256032"/>
          </a:xfrm>
          <a:prstGeom prst="rect">
            <a:avLst/>
          </a:prstGeom>
          <a:noFill/>
        </p:spPr>
        <p:txBody>
          <a:bodyPr wrap="square">
            <a:spAutoFit/>
          </a:bodyPr>
          <a:lstStyle/>
          <a:p>
            <a:pPr algn="ctr"/>
            <a:r>
              <a:rPr sz="900" b="0" i="1">
                <a:solidFill>
                  <a:srgbClr val="BFBFBF"/>
                </a:solidFill>
                <a:latin typeface="Arial"/>
              </a:rPr>
              <a:t>Traffic dependent, via bridge</a:t>
            </a:r>
          </a:p>
        </p:txBody>
      </p:sp>
      <p:sp>
        <p:nvSpPr>
          <p:cNvPr id="27" name="Rectangle 26"/>
          <p:cNvSpPr/>
          <p:nvPr/>
        </p:nvSpPr>
        <p:spPr>
          <a:xfrm>
            <a:off x="9696297"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69449" y="2286000"/>
            <a:ext cx="2072030" cy="201168"/>
          </a:xfrm>
          <a:prstGeom prst="rect">
            <a:avLst/>
          </a:prstGeom>
          <a:noFill/>
        </p:spPr>
        <p:txBody>
          <a:bodyPr wrap="square">
            <a:spAutoFit/>
          </a:bodyPr>
          <a:lstStyle/>
          <a:p>
            <a:pPr algn="ctr"/>
            <a:r>
              <a:rPr sz="1000" b="1" i="0">
                <a:solidFill>
                  <a:srgbClr val="002060"/>
                </a:solidFill>
                <a:latin typeface="Arial"/>
              </a:rPr>
              <a:t>Race-day call</a:t>
            </a:r>
          </a:p>
        </p:txBody>
      </p:sp>
      <p:sp>
        <p:nvSpPr>
          <p:cNvPr id="29" name="TextBox 28"/>
          <p:cNvSpPr txBox="1"/>
          <p:nvPr/>
        </p:nvSpPr>
        <p:spPr>
          <a:xfrm>
            <a:off x="9769449" y="2496312"/>
            <a:ext cx="2072030" cy="292608"/>
          </a:xfrm>
          <a:prstGeom prst="rect">
            <a:avLst/>
          </a:prstGeom>
          <a:noFill/>
        </p:spPr>
        <p:txBody>
          <a:bodyPr wrap="square">
            <a:spAutoFit/>
          </a:bodyPr>
          <a:lstStyle/>
          <a:p>
            <a:pPr algn="ctr"/>
            <a:r>
              <a:rPr sz="1400" b="1" i="0">
                <a:solidFill>
                  <a:srgbClr val="262626"/>
                </a:solidFill>
                <a:latin typeface="Arial"/>
              </a:rPr>
              <a:t>04:30 (W) / 06:35 (M)</a:t>
            </a:r>
          </a:p>
        </p:txBody>
      </p:sp>
      <p:sp>
        <p:nvSpPr>
          <p:cNvPr id="30" name="TextBox 29"/>
          <p:cNvSpPr txBox="1"/>
          <p:nvPr/>
        </p:nvSpPr>
        <p:spPr>
          <a:xfrm>
            <a:off x="9769449" y="2807208"/>
            <a:ext cx="2072030" cy="256032"/>
          </a:xfrm>
          <a:prstGeom prst="rect">
            <a:avLst/>
          </a:prstGeom>
          <a:noFill/>
        </p:spPr>
        <p:txBody>
          <a:bodyPr wrap="square">
            <a:spAutoFit/>
          </a:bodyPr>
          <a:lstStyle/>
          <a:p>
            <a:pPr algn="ctr"/>
            <a:r>
              <a:rPr sz="900" b="0" i="1">
                <a:solidFill>
                  <a:srgbClr val="BFBFBF"/>
                </a:solidFill>
                <a:latin typeface="Arial"/>
              </a:rPr>
              <a:t>At Hotel Esplendor</a:t>
            </a:r>
          </a:p>
        </p:txBody>
      </p:sp>
      <p:sp>
        <p:nvSpPr>
          <p:cNvPr id="31" name="Rectangle 30"/>
          <p:cNvSpPr/>
          <p:nvPr/>
        </p:nvSpPr>
        <p:spPr>
          <a:xfrm>
            <a:off x="274320" y="3291840"/>
            <a:ext cx="5669280" cy="237744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401568"/>
            <a:ext cx="5394960" cy="292608"/>
          </a:xfrm>
          <a:prstGeom prst="rect">
            <a:avLst/>
          </a:prstGeom>
          <a:noFill/>
        </p:spPr>
        <p:txBody>
          <a:bodyPr wrap="square">
            <a:spAutoFit/>
          </a:bodyPr>
          <a:lstStyle/>
          <a:p>
            <a:pPr algn="ctr"/>
            <a:r>
              <a:rPr sz="1300" b="1" i="0">
                <a:solidFill>
                  <a:srgbClr val="002060"/>
                </a:solidFill>
                <a:latin typeface="Arial"/>
              </a:rPr>
              <a:t>Host Hotel / Official Accommodation</a:t>
            </a:r>
          </a:p>
        </p:txBody>
      </p:sp>
      <p:sp>
        <p:nvSpPr>
          <p:cNvPr id="33" name="TextBox 32"/>
          <p:cNvSpPr txBox="1"/>
          <p:nvPr/>
        </p:nvSpPr>
        <p:spPr>
          <a:xfrm>
            <a:off x="438912" y="3749040"/>
            <a:ext cx="5340096" cy="329184"/>
          </a:xfrm>
          <a:prstGeom prst="rect">
            <a:avLst/>
          </a:prstGeom>
          <a:noFill/>
        </p:spPr>
        <p:txBody>
          <a:bodyPr wrap="square">
            <a:spAutoFit/>
          </a:bodyPr>
          <a:lstStyle/>
          <a:p>
            <a:pPr algn="l"/>
            <a:r>
              <a:rPr sz="1000" b="0" i="0">
                <a:solidFill>
                  <a:srgbClr val="262626"/>
                </a:solidFill>
                <a:latin typeface="Arial"/>
              </a:rPr>
              <a:t>•  Official hotel: Esplendor by Wyndham Asunción, in the corporate centre of Asunción. Booking codes and event rates listed as TBD in the guide.</a:t>
            </a:r>
          </a:p>
        </p:txBody>
      </p:sp>
      <p:sp>
        <p:nvSpPr>
          <p:cNvPr id="34" name="TextBox 33"/>
          <p:cNvSpPr txBox="1"/>
          <p:nvPr/>
        </p:nvSpPr>
        <p:spPr>
          <a:xfrm>
            <a:off x="438912" y="4059936"/>
            <a:ext cx="5340096" cy="329184"/>
          </a:xfrm>
          <a:prstGeom prst="rect">
            <a:avLst/>
          </a:prstGeom>
          <a:noFill/>
        </p:spPr>
        <p:txBody>
          <a:bodyPr wrap="square">
            <a:spAutoFit/>
          </a:bodyPr>
          <a:lstStyle/>
          <a:p>
            <a:pPr algn="l"/>
            <a:r>
              <a:rPr sz="1000" b="0" i="0">
                <a:solidFill>
                  <a:srgbClr val="262626"/>
                </a:solidFill>
                <a:latin typeface="Arial"/>
              </a:rPr>
              <a:t>•  Hotel is ~15 km / 25–35 min from the Delta venue — the longest hotel-to-venue transfer of the current preview set; budget for traffic.</a:t>
            </a:r>
          </a:p>
        </p:txBody>
      </p:sp>
      <p:sp>
        <p:nvSpPr>
          <p:cNvPr id="35" name="TextBox 34"/>
          <p:cNvSpPr txBox="1"/>
          <p:nvPr/>
        </p:nvSpPr>
        <p:spPr>
          <a:xfrm>
            <a:off x="438912" y="4370832"/>
            <a:ext cx="5340096" cy="329184"/>
          </a:xfrm>
          <a:prstGeom prst="rect">
            <a:avLst/>
          </a:prstGeom>
          <a:noFill/>
        </p:spPr>
        <p:txBody>
          <a:bodyPr wrap="square">
            <a:spAutoFit/>
          </a:bodyPr>
          <a:lstStyle/>
          <a:p>
            <a:pPr algn="l"/>
            <a:r>
              <a:rPr sz="1000" b="0" i="0">
                <a:solidFill>
                  <a:srgbClr val="262626"/>
                </a:solidFill>
                <a:latin typeface="Arial"/>
              </a:rPr>
              <a:t>•  Reference hospital: Sanatorio Santa Bárbara (~4 km / 10–15 min from the hotel), +595 21 299 388. Venue medical is free; private hospital care is athlete-paid, so carry insurance.</a:t>
            </a:r>
          </a:p>
        </p:txBody>
      </p:sp>
      <p:sp>
        <p:nvSpPr>
          <p:cNvPr id="36" name="TextBox 35"/>
          <p:cNvSpPr txBox="1"/>
          <p:nvPr/>
        </p:nvSpPr>
        <p:spPr>
          <a:xfrm>
            <a:off x="438912" y="4681728"/>
            <a:ext cx="5340096" cy="329184"/>
          </a:xfrm>
          <a:prstGeom prst="rect">
            <a:avLst/>
          </a:prstGeom>
          <a:noFill/>
        </p:spPr>
        <p:txBody>
          <a:bodyPr wrap="square">
            <a:spAutoFit/>
          </a:bodyPr>
          <a:lstStyle/>
          <a:p>
            <a:pPr algn="l"/>
            <a:r>
              <a:rPr sz="1000" b="0" i="0">
                <a:solidFill>
                  <a:srgbClr val="262626"/>
                </a:solidFill>
                <a:latin typeface="Arial"/>
              </a:rPr>
              <a:t>•  Non-official training: COP Olympic Aquatic Centre (swim, Tue-Fri 07:00–11:00) and COP athletics track (Tue-Fri 14:00–16:00). Costanera Norte is the only recommended road ride/run.</a:t>
            </a:r>
          </a:p>
        </p:txBody>
      </p:sp>
      <p:sp>
        <p:nvSpPr>
          <p:cNvPr id="37" name="Rectangle 36"/>
          <p:cNvSpPr/>
          <p:nvPr/>
        </p:nvSpPr>
        <p:spPr>
          <a:xfrm>
            <a:off x="6217920" y="3291840"/>
            <a:ext cx="5669280" cy="237744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55080" y="3401568"/>
            <a:ext cx="5394960" cy="292608"/>
          </a:xfrm>
          <a:prstGeom prst="rect">
            <a:avLst/>
          </a:prstGeom>
          <a:noFill/>
        </p:spPr>
        <p:txBody>
          <a:bodyPr wrap="square">
            <a:spAutoFit/>
          </a:bodyPr>
          <a:lstStyle/>
          <a:p>
            <a:pPr algn="ctr"/>
            <a:r>
              <a:rPr sz="1300" b="1" i="0">
                <a:solidFill>
                  <a:srgbClr val="002060"/>
                </a:solidFill>
                <a:latin typeface="Arial"/>
              </a:rPr>
              <a:t>Food / Money / Practical Notes</a:t>
            </a:r>
          </a:p>
        </p:txBody>
      </p:sp>
      <p:sp>
        <p:nvSpPr>
          <p:cNvPr id="39" name="TextBox 38"/>
          <p:cNvSpPr txBox="1"/>
          <p:nvPr/>
        </p:nvSpPr>
        <p:spPr>
          <a:xfrm>
            <a:off x="6382512" y="3749040"/>
            <a:ext cx="5340096" cy="329184"/>
          </a:xfrm>
          <a:prstGeom prst="rect">
            <a:avLst/>
          </a:prstGeom>
          <a:noFill/>
        </p:spPr>
        <p:txBody>
          <a:bodyPr wrap="square">
            <a:spAutoFit/>
          </a:bodyPr>
          <a:lstStyle/>
          <a:p>
            <a:pPr algn="l"/>
            <a:r>
              <a:rPr sz="1000" b="0" i="0">
                <a:solidFill>
                  <a:srgbClr val="262626"/>
                </a:solidFill>
                <a:latin typeface="Arial"/>
              </a:rPr>
              <a:t>•  Shopping del Sol (~1 km) and Paseo La Galería (~1.5 km) sit next to the hotel: supermarkets, food courts, pharmacies, ATMs and exchange offices.</a:t>
            </a:r>
          </a:p>
        </p:txBody>
      </p:sp>
      <p:sp>
        <p:nvSpPr>
          <p:cNvPr id="40" name="TextBox 39"/>
          <p:cNvSpPr txBox="1"/>
          <p:nvPr/>
        </p:nvSpPr>
        <p:spPr>
          <a:xfrm>
            <a:off x="6382512" y="4059936"/>
            <a:ext cx="5340096" cy="329184"/>
          </a:xfrm>
          <a:prstGeom prst="rect">
            <a:avLst/>
          </a:prstGeom>
          <a:noFill/>
        </p:spPr>
        <p:txBody>
          <a:bodyPr wrap="square">
            <a:spAutoFit/>
          </a:bodyPr>
          <a:lstStyle/>
          <a:p>
            <a:pPr algn="l"/>
            <a:r>
              <a:rPr sz="1000" b="0" i="0">
                <a:solidFill>
                  <a:srgbClr val="262626"/>
                </a:solidFill>
                <a:latin typeface="Arial"/>
              </a:rPr>
              <a:t>•  Reference prices: food-court meal Gs. 35–60k (USD 5–8), mid-range restaurant Gs. 70–120k (USD 9–16), bottled water Gs. 5–8k.</a:t>
            </a:r>
          </a:p>
        </p:txBody>
      </p:sp>
      <p:sp>
        <p:nvSpPr>
          <p:cNvPr id="41" name="TextBox 40"/>
          <p:cNvSpPr txBox="1"/>
          <p:nvPr/>
        </p:nvSpPr>
        <p:spPr>
          <a:xfrm>
            <a:off x="6382512" y="4370832"/>
            <a:ext cx="5340096" cy="329184"/>
          </a:xfrm>
          <a:prstGeom prst="rect">
            <a:avLst/>
          </a:prstGeom>
          <a:noFill/>
        </p:spPr>
        <p:txBody>
          <a:bodyPr wrap="square">
            <a:spAutoFit/>
          </a:bodyPr>
          <a:lstStyle/>
          <a:p>
            <a:pPr algn="l"/>
            <a:r>
              <a:rPr sz="1000" b="0" i="0">
                <a:solidFill>
                  <a:srgbClr val="262626"/>
                </a:solidFill>
                <a:latin typeface="Arial"/>
              </a:rPr>
              <a:t>•  Bottled water is recommended for visitors. Cash is guaraníes only for taxis and small purchases; cards work at hotels, malls and ride apps.</a:t>
            </a:r>
          </a:p>
        </p:txBody>
      </p:sp>
      <p:sp>
        <p:nvSpPr>
          <p:cNvPr id="42" name="TextBox 41"/>
          <p:cNvSpPr txBox="1"/>
          <p:nvPr/>
        </p:nvSpPr>
        <p:spPr>
          <a:xfrm>
            <a:off x="6382512" y="4681728"/>
            <a:ext cx="5340096" cy="329184"/>
          </a:xfrm>
          <a:prstGeom prst="rect">
            <a:avLst/>
          </a:prstGeom>
          <a:noFill/>
        </p:spPr>
        <p:txBody>
          <a:bodyPr wrap="square">
            <a:spAutoFit/>
          </a:bodyPr>
          <a:lstStyle/>
          <a:p>
            <a:pPr algn="l"/>
            <a:r>
              <a:rPr sz="1000" b="0" i="0">
                <a:solidFill>
                  <a:srgbClr val="262626"/>
                </a:solidFill>
                <a:latin typeface="Arial"/>
              </a:rPr>
              <a:t>•  Ride-hailing (Bolt cheapest, plus Uber and local MUV) is well covered: ~USD 2–5 in-city, USD 8–12 airport run. Electricity 220 V 50 Hz, plug type C (European two-pin).</a:t>
            </a:r>
          </a:p>
        </p:txBody>
      </p:sp>
      <p:sp>
        <p:nvSpPr>
          <p:cNvPr id="43" name="TextBox 42"/>
          <p:cNvSpPr txBox="1"/>
          <p:nvPr/>
        </p:nvSpPr>
        <p:spPr>
          <a:xfrm>
            <a:off x="6382512" y="4992624"/>
            <a:ext cx="5340096" cy="329184"/>
          </a:xfrm>
          <a:prstGeom prst="rect">
            <a:avLst/>
          </a:prstGeom>
          <a:noFill/>
        </p:spPr>
        <p:txBody>
          <a:bodyPr wrap="square">
            <a:spAutoFit/>
          </a:bodyPr>
          <a:lstStyle/>
          <a:p>
            <a:pPr algn="l"/>
            <a:r>
              <a:rPr sz="1000" b="0" i="0">
                <a:solidFill>
                  <a:srgbClr val="262626"/>
                </a:solidFill>
                <a:latin typeface="Arial"/>
              </a:rPr>
              <a:t>•  LOC advises AGAINST riding on open roads in the city — bike safety is explicitly the athlete's own responsibility outside the venue.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Environmental Risk Profile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Asuncion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274320" y="1170432"/>
          <a:ext cx="4709158" cy="402336"/>
        </p:xfrm>
        <a:graphic>
          <a:graphicData uri="http://schemas.openxmlformats.org/drawingml/2006/table">
            <a:tbl>
              <a:tblPr firstRow="1" bandRow="1">
                <a:tableStyleId>{5C22544A-7EE6-4342-B048-85BDC9FD1C3A}</a:tableStyleId>
              </a:tblPr>
              <a:tblGrid>
                <a:gridCol w="612190"/>
                <a:gridCol w="800557"/>
                <a:gridCol w="894740"/>
                <a:gridCol w="800557"/>
                <a:gridCol w="800557"/>
                <a:gridCol w="800557"/>
              </a:tblGrid>
              <a:tr h="402336">
                <a:tc>
                  <a:txBody>
                    <a:bodyPr wrap="none"/>
                    <a:lstStyle/>
                    <a:p>
                      <a:pPr algn="ctr"/>
                      <a:r>
                        <a:rPr sz="1000" b="1" i="0">
                          <a:solidFill>
                            <a:srgbClr val="FFFFFF"/>
                          </a:solidFill>
                          <a:latin typeface="Arial"/>
                        </a:rPr>
                        <a:t>Year</a:t>
                      </a:r>
                    </a:p>
                  </a:txBody>
                  <a:tcPr>
                    <a:solidFill>
                      <a:srgbClr val="002060"/>
                    </a:solidFill>
                  </a:tcPr>
                </a:tc>
                <a:tc>
                  <a:txBody>
                    <a:bodyPr wrap="none"/>
                    <a:lstStyle/>
                    <a:p>
                      <a:pPr algn="ctr"/>
                      <a:r>
                        <a:rPr sz="1000" b="1" i="0">
                          <a:solidFill>
                            <a:srgbClr val="FFFFFF"/>
                          </a:solidFill>
                          <a:latin typeface="Arial"/>
                        </a:rPr>
                        <a:t>Date</a:t>
                      </a:r>
                    </a:p>
                  </a:txBody>
                  <a:tcPr>
                    <a:solidFill>
                      <a:srgbClr val="002060"/>
                    </a:solidFill>
                  </a:tcPr>
                </a:tc>
                <a:tc>
                  <a:txBody>
                    <a:bodyPr wrap="none"/>
                    <a:lstStyle/>
                    <a:p>
                      <a:pPr algn="ctr"/>
                      <a:r>
                        <a:rPr sz="1000" b="1" i="0">
                          <a:solidFill>
                            <a:srgbClr val="FFFFFF"/>
                          </a:solidFill>
                          <a:latin typeface="Arial"/>
                        </a:rPr>
                        <a:t>Air Temp</a:t>
                      </a:r>
                    </a:p>
                  </a:txBody>
                  <a:tcPr>
                    <a:solidFill>
                      <a:srgbClr val="002060"/>
                    </a:solidFill>
                  </a:tcPr>
                </a:tc>
                <a:tc>
                  <a:txBody>
                    <a:bodyPr wrap="none"/>
                    <a:lstStyle/>
                    <a:p>
                      <a:pPr algn="ctr"/>
                      <a:r>
                        <a:rPr sz="1000" b="1" i="0">
                          <a:solidFill>
                            <a:srgbClr val="FFFFFF"/>
                          </a:solidFill>
                          <a:latin typeface="Arial"/>
                        </a:rPr>
                        <a:t>Humidity</a:t>
                      </a:r>
                    </a:p>
                  </a:txBody>
                  <a:tcPr>
                    <a:solidFill>
                      <a:srgbClr val="002060"/>
                    </a:solidFill>
                  </a:tcPr>
                </a:tc>
                <a:tc>
                  <a:txBody>
                    <a:bodyPr wrap="none"/>
                    <a:lstStyle/>
                    <a:p>
                      <a:pPr algn="ctr"/>
                      <a:r>
                        <a:rPr sz="1000" b="1" i="0">
                          <a:solidFill>
                            <a:srgbClr val="FFFFFF"/>
                          </a:solidFill>
                          <a:latin typeface="Arial"/>
                        </a:rPr>
                        <a:t>Wind km/h</a:t>
                      </a:r>
                    </a:p>
                  </a:txBody>
                  <a:tcPr>
                    <a:solidFill>
                      <a:srgbClr val="002060"/>
                    </a:solidFill>
                  </a:tcPr>
                </a:tc>
                <a:tc>
                  <a:txBody>
                    <a:bodyPr wrap="none"/>
                    <a:lstStyle/>
                    <a:p>
                      <a:pPr algn="ctr"/>
                      <a:r>
                        <a:rPr sz="1000" b="1" i="0">
                          <a:solidFill>
                            <a:srgbClr val="FFFFFF"/>
                          </a:solidFill>
                          <a:latin typeface="Arial"/>
                        </a:rPr>
                        <a:t>Precip mm</a:t>
                      </a:r>
                    </a:p>
                  </a:txBody>
                  <a:tcPr>
                    <a:solidFill>
                      <a:srgbClr val="002060"/>
                    </a:solidFill>
                  </a:tcPr>
                </a:tc>
              </a:tr>
            </a:tbl>
          </a:graphicData>
        </a:graphic>
      </p:graphicFrame>
      <p:sp>
        <p:nvSpPr>
          <p:cNvPr id="9" name="Rectangle 8"/>
          <p:cNvSpPr/>
          <p:nvPr/>
        </p:nvSpPr>
        <p:spPr>
          <a:xfrm>
            <a:off x="274320" y="1078992"/>
            <a:ext cx="4709160" cy="914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088136"/>
            <a:ext cx="4572000" cy="91440"/>
          </a:xfrm>
          <a:prstGeom prst="rect">
            <a:avLst/>
          </a:prstGeom>
          <a:noFill/>
        </p:spPr>
        <p:txBody>
          <a:bodyPr wrap="square">
            <a:spAutoFit/>
          </a:bodyPr>
          <a:lstStyle/>
          <a:p>
            <a:pPr algn="l"/>
            <a:r>
              <a:rPr sz="950" b="1" i="0">
                <a:solidFill>
                  <a:srgbClr val="002060"/>
                </a:solidFill>
                <a:latin typeface="Arial"/>
              </a:rPr>
              <a:t>RACE-DAY WEATHER (07:00–12:00 local)</a:t>
            </a:r>
          </a:p>
        </p:txBody>
      </p:sp>
      <p:graphicFrame>
        <p:nvGraphicFramePr>
          <p:cNvPr id="11" name="Table 10"/>
          <p:cNvGraphicFramePr>
            <a:graphicFrameLocks noGrp="1"/>
          </p:cNvGraphicFramePr>
          <p:nvPr/>
        </p:nvGraphicFramePr>
        <p:xfrm>
          <a:off x="5166360" y="1170432"/>
          <a:ext cx="4069078" cy="402336"/>
        </p:xfrm>
        <a:graphic>
          <a:graphicData uri="http://schemas.openxmlformats.org/drawingml/2006/table">
            <a:tbl>
              <a:tblPr firstRow="1" bandRow="1">
                <a:tableStyleId>{5C22544A-7EE6-4342-B048-85BDC9FD1C3A}</a:tableStyleId>
              </a:tblPr>
              <a:tblGrid>
                <a:gridCol w="629738"/>
                <a:gridCol w="823504"/>
                <a:gridCol w="726621"/>
                <a:gridCol w="823504"/>
                <a:gridCol w="1065711"/>
              </a:tblGrid>
              <a:tr h="402336">
                <a:tc>
                  <a:txBody>
                    <a:bodyPr wrap="none"/>
                    <a:lstStyle/>
                    <a:p>
                      <a:pPr algn="ctr"/>
                      <a:r>
                        <a:rPr sz="1000" b="1" i="0">
                          <a:solidFill>
                            <a:srgbClr val="FFFFFF"/>
                          </a:solidFill>
                          <a:latin typeface="Arial"/>
                        </a:rPr>
                        <a:t>Year</a:t>
                      </a:r>
                    </a:p>
                  </a:txBody>
                  <a:tcPr>
                    <a:solidFill>
                      <a:srgbClr val="002060"/>
                    </a:solidFill>
                  </a:tcPr>
                </a:tc>
                <a:tc>
                  <a:txBody>
                    <a:bodyPr wrap="none"/>
                    <a:lstStyle/>
                    <a:p>
                      <a:pPr algn="ctr"/>
                      <a:r>
                        <a:rPr sz="1000" b="1" i="0">
                          <a:solidFill>
                            <a:srgbClr val="FFFFFF"/>
                          </a:solidFill>
                          <a:latin typeface="Arial"/>
                        </a:rPr>
                        <a:t>PM2.5</a:t>
                      </a:r>
                    </a:p>
                  </a:txBody>
                  <a:tcPr>
                    <a:solidFill>
                      <a:srgbClr val="002060"/>
                    </a:solidFill>
                  </a:tcPr>
                </a:tc>
                <a:tc>
                  <a:txBody>
                    <a:bodyPr wrap="none"/>
                    <a:lstStyle/>
                    <a:p>
                      <a:pPr algn="ctr"/>
                      <a:r>
                        <a:rPr sz="1000" b="1" i="0">
                          <a:solidFill>
                            <a:srgbClr val="FFFFFF"/>
                          </a:solidFill>
                          <a:latin typeface="Arial"/>
                        </a:rPr>
                        <a:t>EU AQI</a:t>
                      </a:r>
                    </a:p>
                  </a:txBody>
                  <a:tcPr>
                    <a:solidFill>
                      <a:srgbClr val="002060"/>
                    </a:solidFill>
                  </a:tcPr>
                </a:tc>
                <a:tc>
                  <a:txBody>
                    <a:bodyPr wrap="none"/>
                    <a:lstStyle/>
                    <a:p>
                      <a:pPr algn="ctr"/>
                      <a:r>
                        <a:rPr sz="1000" b="1" i="0">
                          <a:solidFill>
                            <a:srgbClr val="FFFFFF"/>
                          </a:solidFill>
                          <a:latin typeface="Arial"/>
                        </a:rPr>
                        <a:t>UV Index</a:t>
                      </a:r>
                    </a:p>
                  </a:txBody>
                  <a:tcPr>
                    <a:solidFill>
                      <a:srgbClr val="002060"/>
                    </a:solidFill>
                  </a:tcPr>
                </a:tc>
                <a:tc>
                  <a:txBody>
                    <a:bodyPr wrap="none"/>
                    <a:lstStyle/>
                    <a:p>
                      <a:pPr algn="ctr"/>
                      <a:r>
                        <a:rPr sz="1000" b="1" i="0">
                          <a:solidFill>
                            <a:srgbClr val="FFFFFF"/>
                          </a:solidFill>
                          <a:latin typeface="Arial"/>
                        </a:rPr>
                        <a:t>Risk</a:t>
                      </a:r>
                    </a:p>
                  </a:txBody>
                  <a:tcPr>
                    <a:solidFill>
                      <a:srgbClr val="002060"/>
                    </a:solidFill>
                  </a:tcPr>
                </a:tc>
              </a:tr>
            </a:tbl>
          </a:graphicData>
        </a:graphic>
      </p:graphicFrame>
      <p:sp>
        <p:nvSpPr>
          <p:cNvPr id="12" name="TextBox 11"/>
          <p:cNvSpPr txBox="1"/>
          <p:nvPr/>
        </p:nvSpPr>
        <p:spPr>
          <a:xfrm>
            <a:off x="5212080" y="1088136"/>
            <a:ext cx="3931920" cy="91440"/>
          </a:xfrm>
          <a:prstGeom prst="rect">
            <a:avLst/>
          </a:prstGeom>
          <a:noFill/>
        </p:spPr>
        <p:txBody>
          <a:bodyPr wrap="square">
            <a:spAutoFit/>
          </a:bodyPr>
          <a:lstStyle/>
          <a:p>
            <a:pPr algn="l"/>
            <a:r>
              <a:rPr sz="950" b="1" i="0">
                <a:solidFill>
                  <a:srgbClr val="002060"/>
                </a:solidFill>
                <a:latin typeface="Arial"/>
              </a:rPr>
              <a:t>AIR QUALITY (Open-Meteo archive)</a:t>
            </a:r>
          </a:p>
        </p:txBody>
      </p:sp>
      <p:sp>
        <p:nvSpPr>
          <p:cNvPr id="13" name="Rectangle 12"/>
          <p:cNvSpPr/>
          <p:nvPr/>
        </p:nvSpPr>
        <p:spPr>
          <a:xfrm>
            <a:off x="274320" y="1801368"/>
            <a:ext cx="11640312" cy="32004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1819656"/>
            <a:ext cx="11155680" cy="274320"/>
          </a:xfrm>
          <a:prstGeom prst="rect">
            <a:avLst/>
          </a:prstGeom>
          <a:noFill/>
        </p:spPr>
        <p:txBody>
          <a:bodyPr wrap="square">
            <a:spAutoFit/>
          </a:bodyPr>
          <a:lstStyle/>
          <a:p>
            <a:pPr algn="l"/>
            <a:r>
              <a:rPr sz="1200" b="1" i="0">
                <a:solidFill>
                  <a:srgbClr val="FFFFFF"/>
                </a:solidFill>
                <a:latin typeface="Arial"/>
              </a:rPr>
              <a:t>HEALTH &amp; WATER QUALITY RISK FACTORS</a:t>
            </a:r>
          </a:p>
        </p:txBody>
      </p:sp>
      <p:sp>
        <p:nvSpPr>
          <p:cNvPr id="15" name="TextBox 14"/>
          <p:cNvSpPr txBox="1"/>
          <p:nvPr/>
        </p:nvSpPr>
        <p:spPr>
          <a:xfrm>
            <a:off x="365760" y="2185416"/>
            <a:ext cx="11430000" cy="1122426"/>
          </a:xfrm>
          <a:prstGeom prst="rect">
            <a:avLst/>
          </a:prstGeom>
          <a:noFill/>
        </p:spPr>
        <p:txBody>
          <a:bodyPr wrap="square">
            <a:spAutoFit/>
          </a:bodyPr>
          <a:lstStyle/>
          <a:p>
            <a:pPr algn="l"/>
            <a:r>
              <a:rPr sz="1000" b="0" i="0">
                <a:solidFill>
                  <a:srgbClr val="262626"/>
                </a:solidFill>
                <a:latin typeface="Arial"/>
              </a:rPr>
              <a:t>• Water Quality: [PLACEHOLDER: Historical water quality data for Asuncion — e.g. bacterial counts, EU Bathing Water Directive status, known algae / pollution events. Check local environmental agency reports for May race window.]</a:t>
            </a:r>
          </a:p>
        </p:txBody>
      </p:sp>
      <p:sp>
        <p:nvSpPr>
          <p:cNvPr id="16" name="TextBox 15"/>
          <p:cNvSpPr txBox="1"/>
          <p:nvPr/>
        </p:nvSpPr>
        <p:spPr>
          <a:xfrm>
            <a:off x="365760" y="3307842"/>
            <a:ext cx="11430000" cy="1122426"/>
          </a:xfrm>
          <a:prstGeom prst="rect">
            <a:avLst/>
          </a:prstGeom>
          <a:noFill/>
        </p:spPr>
        <p:txBody>
          <a:bodyPr wrap="square">
            <a:spAutoFit/>
          </a:bodyPr>
          <a:lstStyle/>
          <a:p>
            <a:pPr algn="l"/>
            <a:r>
              <a:rPr sz="1000" b="0" i="0">
                <a:solidFill>
                  <a:srgbClr val="262626"/>
                </a:solidFill>
                <a:latin typeface="Arial"/>
              </a:rPr>
              <a:t>• Athlete Health Incidents: [PLACEHOLDER: Any known GI illness, respiratory, or heat-related incidents at this or comparable venues. E.g. Sunderland 2023 — reported GI illness post-swim for multiple athletes.]</a:t>
            </a:r>
          </a:p>
        </p:txBody>
      </p:sp>
      <p:sp>
        <p:nvSpPr>
          <p:cNvPr id="17" name="TextBox 16"/>
          <p:cNvSpPr txBox="1"/>
          <p:nvPr/>
        </p:nvSpPr>
        <p:spPr>
          <a:xfrm>
            <a:off x="365760" y="4430268"/>
            <a:ext cx="11430000" cy="1122426"/>
          </a:xfrm>
          <a:prstGeom prst="rect">
            <a:avLst/>
          </a:prstGeom>
          <a:noFill/>
        </p:spPr>
        <p:txBody>
          <a:bodyPr wrap="square">
            <a:spAutoFit/>
          </a:bodyPr>
          <a:lstStyle/>
          <a:p>
            <a:pPr algn="l"/>
            <a:r>
              <a:rPr sz="1000" b="0" i="0">
                <a:solidFill>
                  <a:srgbClr val="262626"/>
                </a:solidFill>
                <a:latin typeface="Arial"/>
              </a:rPr>
              <a:t>• Water Temperature: [PLACEHOLDER: Historical open-water temperature for Asuncion in May (not available from Open-Meteo; check Copernicus Marine / NOAA or WT historical results).]</a:t>
            </a:r>
          </a:p>
        </p:txBody>
      </p:sp>
      <p:sp>
        <p:nvSpPr>
          <p:cNvPr id="18" name="TextBox 17"/>
          <p:cNvSpPr txBox="1"/>
          <p:nvPr/>
        </p:nvSpPr>
        <p:spPr>
          <a:xfrm>
            <a:off x="365760" y="5552694"/>
            <a:ext cx="11430000" cy="1122426"/>
          </a:xfrm>
          <a:prstGeom prst="rect">
            <a:avLst/>
          </a:prstGeom>
          <a:noFill/>
        </p:spPr>
        <p:txBody>
          <a:bodyPr wrap="square">
            <a:spAutoFit/>
          </a:bodyPr>
          <a:lstStyle/>
          <a:p>
            <a:pPr algn="l"/>
            <a:r>
              <a:rPr sz="1000" b="0" i="0">
                <a:solidFill>
                  <a:srgbClr val="262626"/>
                </a:solidFill>
                <a:latin typeface="Arial"/>
              </a:rPr>
              <a:t>• Heat / Humidity Risk: Auto-derived from above table — flag if humidity &gt;70% or air temp &gt;25°C at race time.</a:t>
            </a:r>
          </a:p>
        </p:txBody>
      </p:sp>
      <p:sp>
        <p:nvSpPr>
          <p:cNvPr id="19" name="TextBox 18"/>
          <p:cNvSpPr txBox="1"/>
          <p:nvPr/>
        </p:nvSpPr>
        <p:spPr>
          <a:xfrm>
            <a:off x="274320" y="6565392"/>
            <a:ext cx="11640312" cy="201168"/>
          </a:xfrm>
          <a:prstGeom prst="rect">
            <a:avLst/>
          </a:prstGeom>
          <a:noFill/>
        </p:spPr>
        <p:txBody>
          <a:bodyPr wrap="square">
            <a:spAutoFit/>
          </a:bodyPr>
          <a:lstStyle/>
          <a:p>
            <a:pPr algn="l"/>
            <a:r>
              <a:rPr sz="800" b="0" i="1">
                <a:solidFill>
                  <a:srgbClr val="BFBFBF"/>
                </a:solidFill>
                <a:latin typeface="Arial"/>
              </a:rPr>
              <a:t>Weather and AQ data: Open-Meteo historical archive (archive-api.open-meteo.com). EU AQI: Good ≤20, Fair ≤40, Moderate ≤60, Poor ≤80, Very Poor &gt;80.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Who to Watch — Asuncion Race Week</a:t>
            </a:r>
          </a:p>
        </p:txBody>
      </p:sp>
      <p:sp>
        <p:nvSpPr>
          <p:cNvPr id="4" name="Rectangle 3"/>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6" name="Rectangle 5"/>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1188720"/>
            <a:ext cx="5669280" cy="3657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234440"/>
            <a:ext cx="5486400" cy="292608"/>
          </a:xfrm>
          <a:prstGeom prst="rect">
            <a:avLst/>
          </a:prstGeom>
          <a:noFill/>
        </p:spPr>
        <p:txBody>
          <a:bodyPr wrap="square">
            <a:spAutoFit/>
          </a:bodyPr>
          <a:lstStyle/>
          <a:p>
            <a:pPr algn="ctr"/>
            <a:r>
              <a:rPr sz="1400" b="1" i="0">
                <a:solidFill>
                  <a:srgbClr val="FFFFFF"/>
                </a:solidFill>
                <a:latin typeface="Arial"/>
              </a:rPr>
              <a:t>ELITE MEN</a:t>
            </a:r>
          </a:p>
        </p:txBody>
      </p:sp>
      <p:sp>
        <p:nvSpPr>
          <p:cNvPr id="9" name="Rectangle 8"/>
          <p:cNvSpPr/>
          <p:nvPr/>
        </p:nvSpPr>
        <p:spPr>
          <a:xfrm>
            <a:off x="274320" y="1645920"/>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664208"/>
            <a:ext cx="5486400" cy="237744"/>
          </a:xfrm>
          <a:prstGeom prst="rect">
            <a:avLst/>
          </a:prstGeom>
          <a:noFill/>
        </p:spPr>
        <p:txBody>
          <a:bodyPr wrap="square">
            <a:spAutoFit/>
          </a:bodyPr>
          <a:lstStyle/>
          <a:p>
            <a:pPr algn="l"/>
            <a:r>
              <a:rPr sz="1100" b="1" i="0">
                <a:solidFill>
                  <a:srgbClr val="FFFFFF"/>
                </a:solidFill>
                <a:latin typeface="Arial"/>
              </a:rPr>
              <a:t>Top 10 Ranked on Startlist</a:t>
            </a:r>
          </a:p>
        </p:txBody>
      </p:sp>
      <p:graphicFrame>
        <p:nvGraphicFramePr>
          <p:cNvPr id="11" name="Table 10"/>
          <p:cNvGraphicFramePr>
            <a:graphicFrameLocks noGrp="1"/>
          </p:cNvGraphicFramePr>
          <p:nvPr/>
        </p:nvGraphicFramePr>
        <p:xfrm>
          <a:off x="274320" y="1965960"/>
          <a:ext cx="5486400" cy="2907792"/>
        </p:xfrm>
        <a:graphic>
          <a:graphicData uri="http://schemas.openxmlformats.org/drawingml/2006/table">
            <a:tbl>
              <a:tblPr firstRow="1" bandRow="1">
                <a:tableStyleId>{5C22544A-7EE6-4342-B048-85BDC9FD1C3A}</a:tableStyleId>
              </a:tblPr>
              <a:tblGrid>
                <a:gridCol w="731520"/>
                <a:gridCol w="3291840"/>
                <a:gridCol w="1463040"/>
              </a:tblGrid>
              <a:tr h="264344">
                <a:tc>
                  <a:txBody>
                    <a:bodyPr wrap="none"/>
                    <a:lstStyle/>
                    <a:p>
                      <a:pPr algn="ctr"/>
                      <a:r>
                        <a:rPr sz="1000" b="1" i="0">
                          <a:solidFill>
                            <a:srgbClr val="FFFFFF"/>
                          </a:solidFill>
                          <a:latin typeface="Arial"/>
                        </a:rPr>
                        <a:t>Rank</a:t>
                      </a:r>
                    </a:p>
                  </a:txBody>
                  <a:tcPr>
                    <a:solidFill>
                      <a:srgbClr val="002060"/>
                    </a:solidFill>
                  </a:tcPr>
                </a:tc>
                <a:tc>
                  <a:txBody>
                    <a:bodyPr wrap="none"/>
                    <a:lstStyle/>
                    <a:p>
                      <a:pPr algn="ctr"/>
                      <a:r>
                        <a:rPr sz="1000" b="1" i="0">
                          <a:solidFill>
                            <a:srgbClr val="FFFFFF"/>
                          </a:solidFill>
                          <a:latin typeface="Arial"/>
                        </a:rPr>
                        <a:t>Athlete</a:t>
                      </a:r>
                    </a:p>
                  </a:txBody>
                  <a:tcPr>
                    <a:solidFill>
                      <a:srgbClr val="002060"/>
                    </a:solidFill>
                  </a:tcPr>
                </a:tc>
                <a:tc>
                  <a:txBody>
                    <a:bodyPr wrap="none"/>
                    <a:lstStyle/>
                    <a:p>
                      <a:pPr algn="ctr"/>
                      <a:r>
                        <a:rPr sz="1000" b="1" i="0">
                          <a:solidFill>
                            <a:srgbClr val="FFFFFF"/>
                          </a:solidFill>
                          <a:latin typeface="Arial"/>
                        </a:rPr>
                        <a:t>Points</a:t>
                      </a:r>
                    </a:p>
                  </a:txBody>
                  <a:tcPr>
                    <a:solidFill>
                      <a:srgbClr val="002060"/>
                    </a:solidFill>
                  </a:tcPr>
                </a:tc>
              </a:tr>
              <a:tr h="264344">
                <a:tc>
                  <a:txBody>
                    <a:bodyPr wrap="none"/>
                    <a:lstStyle/>
                    <a:p>
                      <a:pPr algn="ctr"/>
                      <a:r>
                        <a:rPr sz="1000" b="1" i="0">
                          <a:solidFill>
                            <a:srgbClr val="262626"/>
                          </a:solidFill>
                          <a:latin typeface="Arial"/>
                        </a:rPr>
                        <a:t>20</a:t>
                      </a:r>
                    </a:p>
                  </a:txBody>
                  <a:tcPr>
                    <a:solidFill>
                      <a:srgbClr val="FFFFFF"/>
                    </a:solidFill>
                  </a:tcPr>
                </a:tc>
                <a:tc>
                  <a:txBody>
                    <a:bodyPr wrap="none"/>
                    <a:lstStyle/>
                    <a:p>
                      <a:pPr algn="l"/>
                      <a:r>
                        <a:rPr sz="1000" b="0" i="0">
                          <a:solidFill>
                            <a:srgbClr val="262626"/>
                          </a:solidFill>
                          <a:latin typeface="Arial"/>
                        </a:rPr>
                        <a:t>Reese Vannerson</a:t>
                      </a:r>
                    </a:p>
                  </a:txBody>
                  <a:tcPr>
                    <a:solidFill>
                      <a:srgbClr val="FFFFFF"/>
                    </a:solidFill>
                  </a:tcPr>
                </a:tc>
                <a:tc>
                  <a:txBody>
                    <a:bodyPr wrap="none"/>
                    <a:lstStyle/>
                    <a:p>
                      <a:pPr algn="ctr"/>
                      <a:r>
                        <a:rPr sz="1000" b="0" i="0">
                          <a:solidFill>
                            <a:srgbClr val="262626"/>
                          </a:solidFill>
                          <a:latin typeface="Arial"/>
                        </a:rPr>
                        <a:t>2,911</a:t>
                      </a:r>
                    </a:p>
                  </a:txBody>
                  <a:tcPr>
                    <a:solidFill>
                      <a:srgbClr val="FFFFFF"/>
                    </a:solidFill>
                  </a:tcPr>
                </a:tc>
              </a:tr>
              <a:tr h="264344">
                <a:tc>
                  <a:txBody>
                    <a:bodyPr wrap="none"/>
                    <a:lstStyle/>
                    <a:p>
                      <a:pPr algn="ctr"/>
                      <a:r>
                        <a:rPr sz="1000" b="1" i="0">
                          <a:solidFill>
                            <a:srgbClr val="262626"/>
                          </a:solidFill>
                          <a:latin typeface="Arial"/>
                        </a:rPr>
                        <a:t>37</a:t>
                      </a:r>
                    </a:p>
                  </a:txBody>
                  <a:tcPr>
                    <a:solidFill>
                      <a:srgbClr val="F2F2F2"/>
                    </a:solidFill>
                  </a:tcPr>
                </a:tc>
                <a:tc>
                  <a:txBody>
                    <a:bodyPr wrap="none"/>
                    <a:lstStyle/>
                    <a:p>
                      <a:pPr algn="l"/>
                      <a:r>
                        <a:rPr sz="1000" b="0" i="0">
                          <a:solidFill>
                            <a:srgbClr val="262626"/>
                          </a:solidFill>
                          <a:latin typeface="Arial"/>
                        </a:rPr>
                        <a:t>Jawad Abdelmoula</a:t>
                      </a:r>
                    </a:p>
                  </a:txBody>
                  <a:tcPr>
                    <a:solidFill>
                      <a:srgbClr val="F2F2F2"/>
                    </a:solidFill>
                  </a:tcPr>
                </a:tc>
                <a:tc>
                  <a:txBody>
                    <a:bodyPr wrap="none"/>
                    <a:lstStyle/>
                    <a:p>
                      <a:pPr algn="ctr"/>
                      <a:r>
                        <a:rPr sz="1000" b="0" i="0">
                          <a:solidFill>
                            <a:srgbClr val="262626"/>
                          </a:solidFill>
                          <a:latin typeface="Arial"/>
                        </a:rPr>
                        <a:t>2,532</a:t>
                      </a:r>
                    </a:p>
                  </a:txBody>
                  <a:tcPr>
                    <a:solidFill>
                      <a:srgbClr val="F2F2F2"/>
                    </a:solidFill>
                  </a:tcPr>
                </a:tc>
              </a:tr>
              <a:tr h="264344">
                <a:tc>
                  <a:txBody>
                    <a:bodyPr wrap="none"/>
                    <a:lstStyle/>
                    <a:p>
                      <a:pPr algn="ctr"/>
                      <a:r>
                        <a:rPr sz="1000" b="1" i="0">
                          <a:solidFill>
                            <a:srgbClr val="262626"/>
                          </a:solidFill>
                          <a:latin typeface="Arial"/>
                        </a:rPr>
                        <a:t>40</a:t>
                      </a:r>
                    </a:p>
                  </a:txBody>
                  <a:tcPr>
                    <a:solidFill>
                      <a:srgbClr val="FFFFFF"/>
                    </a:solidFill>
                  </a:tcPr>
                </a:tc>
                <a:tc>
                  <a:txBody>
                    <a:bodyPr wrap="none"/>
                    <a:lstStyle/>
                    <a:p>
                      <a:pPr algn="l"/>
                      <a:r>
                        <a:rPr sz="1000" b="0" i="0">
                          <a:solidFill>
                            <a:srgbClr val="262626"/>
                          </a:solidFill>
                          <a:latin typeface="Arial"/>
                        </a:rPr>
                        <a:t>Mathis Beaulieu</a:t>
                      </a:r>
                    </a:p>
                  </a:txBody>
                  <a:tcPr>
                    <a:solidFill>
                      <a:srgbClr val="FFFFFF"/>
                    </a:solidFill>
                  </a:tcPr>
                </a:tc>
                <a:tc>
                  <a:txBody>
                    <a:bodyPr wrap="none"/>
                    <a:lstStyle/>
                    <a:p>
                      <a:pPr algn="ctr"/>
                      <a:r>
                        <a:rPr sz="1000" b="0" i="0">
                          <a:solidFill>
                            <a:srgbClr val="262626"/>
                          </a:solidFill>
                          <a:latin typeface="Arial"/>
                        </a:rPr>
                        <a:t>2,488</a:t>
                      </a:r>
                    </a:p>
                  </a:txBody>
                  <a:tcPr>
                    <a:solidFill>
                      <a:srgbClr val="FFFFFF"/>
                    </a:solidFill>
                  </a:tcPr>
                </a:tc>
              </a:tr>
              <a:tr h="264344">
                <a:tc>
                  <a:txBody>
                    <a:bodyPr wrap="none"/>
                    <a:lstStyle/>
                    <a:p>
                      <a:pPr algn="ctr"/>
                      <a:r>
                        <a:rPr sz="1000" b="1" i="0">
                          <a:solidFill>
                            <a:srgbClr val="262626"/>
                          </a:solidFill>
                          <a:latin typeface="Arial"/>
                        </a:rPr>
                        <a:t>42</a:t>
                      </a:r>
                    </a:p>
                  </a:txBody>
                  <a:tcPr>
                    <a:solidFill>
                      <a:srgbClr val="F2F2F2"/>
                    </a:solidFill>
                  </a:tcPr>
                </a:tc>
                <a:tc>
                  <a:txBody>
                    <a:bodyPr wrap="none"/>
                    <a:lstStyle/>
                    <a:p>
                      <a:pPr algn="l"/>
                      <a:r>
                        <a:rPr sz="1000" b="0" i="0">
                          <a:solidFill>
                            <a:srgbClr val="262626"/>
                          </a:solidFill>
                          <a:latin typeface="Arial"/>
                        </a:rPr>
                        <a:t>Braxton Legg</a:t>
                      </a:r>
                    </a:p>
                  </a:txBody>
                  <a:tcPr>
                    <a:solidFill>
                      <a:srgbClr val="F2F2F2"/>
                    </a:solidFill>
                  </a:tcPr>
                </a:tc>
                <a:tc>
                  <a:txBody>
                    <a:bodyPr wrap="none"/>
                    <a:lstStyle/>
                    <a:p>
                      <a:pPr algn="ctr"/>
                      <a:r>
                        <a:rPr sz="1000" b="0" i="0">
                          <a:solidFill>
                            <a:srgbClr val="262626"/>
                          </a:solidFill>
                          <a:latin typeface="Arial"/>
                        </a:rPr>
                        <a:t>2,442</a:t>
                      </a:r>
                    </a:p>
                  </a:txBody>
                  <a:tcPr>
                    <a:solidFill>
                      <a:srgbClr val="F2F2F2"/>
                    </a:solidFill>
                  </a:tcPr>
                </a:tc>
              </a:tr>
              <a:tr h="264344">
                <a:tc>
                  <a:txBody>
                    <a:bodyPr wrap="none"/>
                    <a:lstStyle/>
                    <a:p>
                      <a:pPr algn="ctr"/>
                      <a:r>
                        <a:rPr sz="1000" b="1" i="0">
                          <a:solidFill>
                            <a:srgbClr val="262626"/>
                          </a:solidFill>
                          <a:latin typeface="Arial"/>
                        </a:rPr>
                        <a:t>53</a:t>
                      </a:r>
                    </a:p>
                  </a:txBody>
                  <a:tcPr>
                    <a:solidFill>
                      <a:srgbClr val="FFFFFF"/>
                    </a:solidFill>
                  </a:tcPr>
                </a:tc>
                <a:tc>
                  <a:txBody>
                    <a:bodyPr wrap="none"/>
                    <a:lstStyle/>
                    <a:p>
                      <a:pPr algn="l"/>
                      <a:r>
                        <a:rPr sz="1000" b="0" i="0">
                          <a:solidFill>
                            <a:srgbClr val="262626"/>
                          </a:solidFill>
                          <a:latin typeface="Arial"/>
                        </a:rPr>
                        <a:t>Sullivan Middaugh</a:t>
                      </a:r>
                    </a:p>
                  </a:txBody>
                  <a:tcPr>
                    <a:solidFill>
                      <a:srgbClr val="FFFFFF"/>
                    </a:solidFill>
                  </a:tcPr>
                </a:tc>
                <a:tc>
                  <a:txBody>
                    <a:bodyPr wrap="none"/>
                    <a:lstStyle/>
                    <a:p>
                      <a:pPr algn="ctr"/>
                      <a:r>
                        <a:rPr sz="1000" b="0" i="0">
                          <a:solidFill>
                            <a:srgbClr val="262626"/>
                          </a:solidFill>
                          <a:latin typeface="Arial"/>
                        </a:rPr>
                        <a:t>2,234</a:t>
                      </a:r>
                    </a:p>
                  </a:txBody>
                  <a:tcPr>
                    <a:solidFill>
                      <a:srgbClr val="FFFFFF"/>
                    </a:solidFill>
                  </a:tcPr>
                </a:tc>
              </a:tr>
              <a:tr h="264344">
                <a:tc>
                  <a:txBody>
                    <a:bodyPr wrap="none"/>
                    <a:lstStyle/>
                    <a:p>
                      <a:pPr algn="ctr"/>
                      <a:r>
                        <a:rPr sz="1000" b="1" i="0">
                          <a:solidFill>
                            <a:srgbClr val="262626"/>
                          </a:solidFill>
                          <a:latin typeface="Arial"/>
                        </a:rPr>
                        <a:t>61</a:t>
                      </a:r>
                    </a:p>
                  </a:txBody>
                  <a:tcPr>
                    <a:solidFill>
                      <a:srgbClr val="F2F2F2"/>
                    </a:solidFill>
                  </a:tcPr>
                </a:tc>
                <a:tc>
                  <a:txBody>
                    <a:bodyPr wrap="none"/>
                    <a:lstStyle/>
                    <a:p>
                      <a:pPr algn="l"/>
                      <a:r>
                        <a:rPr sz="1000" b="0" i="0">
                          <a:solidFill>
                            <a:srgbClr val="262626"/>
                          </a:solidFill>
                          <a:latin typeface="Arial"/>
                        </a:rPr>
                        <a:t>Liam Donnelly</a:t>
                      </a:r>
                    </a:p>
                  </a:txBody>
                  <a:tcPr>
                    <a:solidFill>
                      <a:srgbClr val="F2F2F2"/>
                    </a:solidFill>
                  </a:tcPr>
                </a:tc>
                <a:tc>
                  <a:txBody>
                    <a:bodyPr wrap="none"/>
                    <a:lstStyle/>
                    <a:p>
                      <a:pPr algn="ctr"/>
                      <a:r>
                        <a:rPr sz="1000" b="0" i="0">
                          <a:solidFill>
                            <a:srgbClr val="262626"/>
                          </a:solidFill>
                          <a:latin typeface="Arial"/>
                        </a:rPr>
                        <a:t>2,032</a:t>
                      </a:r>
                    </a:p>
                  </a:txBody>
                  <a:tcPr>
                    <a:solidFill>
                      <a:srgbClr val="F2F2F2"/>
                    </a:solidFill>
                  </a:tcPr>
                </a:tc>
              </a:tr>
              <a:tr h="264344">
                <a:tc>
                  <a:txBody>
                    <a:bodyPr wrap="none"/>
                    <a:lstStyle/>
                    <a:p>
                      <a:pPr algn="ctr"/>
                      <a:r>
                        <a:rPr sz="1000" b="1" i="0">
                          <a:solidFill>
                            <a:srgbClr val="262626"/>
                          </a:solidFill>
                          <a:latin typeface="Arial"/>
                        </a:rPr>
                        <a:t>66</a:t>
                      </a:r>
                    </a:p>
                  </a:txBody>
                  <a:tcPr>
                    <a:solidFill>
                      <a:srgbClr val="FFFFFF"/>
                    </a:solidFill>
                  </a:tcPr>
                </a:tc>
                <a:tc>
                  <a:txBody>
                    <a:bodyPr wrap="none"/>
                    <a:lstStyle/>
                    <a:p>
                      <a:pPr algn="l"/>
                      <a:r>
                        <a:rPr sz="1000" b="0" i="0">
                          <a:solidFill>
                            <a:srgbClr val="262626"/>
                          </a:solidFill>
                          <a:latin typeface="Arial"/>
                        </a:rPr>
                        <a:t>Andree Buc</a:t>
                      </a:r>
                    </a:p>
                  </a:txBody>
                  <a:tcPr>
                    <a:solidFill>
                      <a:srgbClr val="FFFFFF"/>
                    </a:solidFill>
                  </a:tcPr>
                </a:tc>
                <a:tc>
                  <a:txBody>
                    <a:bodyPr wrap="none"/>
                    <a:lstStyle/>
                    <a:p>
                      <a:pPr algn="ctr"/>
                      <a:r>
                        <a:rPr sz="1000" b="0" i="0">
                          <a:solidFill>
                            <a:srgbClr val="262626"/>
                          </a:solidFill>
                          <a:latin typeface="Arial"/>
                        </a:rPr>
                        <a:t>1,955</a:t>
                      </a:r>
                    </a:p>
                  </a:txBody>
                  <a:tcPr>
                    <a:solidFill>
                      <a:srgbClr val="FFFFFF"/>
                    </a:solidFill>
                  </a:tcPr>
                </a:tc>
              </a:tr>
              <a:tr h="264344">
                <a:tc>
                  <a:txBody>
                    <a:bodyPr wrap="none"/>
                    <a:lstStyle/>
                    <a:p>
                      <a:pPr algn="ctr"/>
                      <a:r>
                        <a:rPr sz="1000" b="1" i="0">
                          <a:solidFill>
                            <a:srgbClr val="262626"/>
                          </a:solidFill>
                          <a:latin typeface="Arial"/>
                        </a:rPr>
                        <a:t>69</a:t>
                      </a:r>
                    </a:p>
                  </a:txBody>
                  <a:tcPr>
                    <a:solidFill>
                      <a:srgbClr val="F2F2F2"/>
                    </a:solidFill>
                  </a:tcPr>
                </a:tc>
                <a:tc>
                  <a:txBody>
                    <a:bodyPr wrap="none"/>
                    <a:lstStyle/>
                    <a:p>
                      <a:pPr algn="l"/>
                      <a:r>
                        <a:rPr sz="1000" b="0" i="0">
                          <a:solidFill>
                            <a:srgbClr val="262626"/>
                          </a:solidFill>
                          <a:latin typeface="Arial"/>
                        </a:rPr>
                        <a:t>Kazushi Jozuka</a:t>
                      </a:r>
                    </a:p>
                  </a:txBody>
                  <a:tcPr>
                    <a:solidFill>
                      <a:srgbClr val="F2F2F2"/>
                    </a:solidFill>
                  </a:tcPr>
                </a:tc>
                <a:tc>
                  <a:txBody>
                    <a:bodyPr wrap="none"/>
                    <a:lstStyle/>
                    <a:p>
                      <a:pPr algn="ctr"/>
                      <a:r>
                        <a:rPr sz="1000" b="0" i="0">
                          <a:solidFill>
                            <a:srgbClr val="262626"/>
                          </a:solidFill>
                          <a:latin typeface="Arial"/>
                        </a:rPr>
                        <a:t>1,917</a:t>
                      </a:r>
                    </a:p>
                  </a:txBody>
                  <a:tcPr>
                    <a:solidFill>
                      <a:srgbClr val="F2F2F2"/>
                    </a:solidFill>
                  </a:tcPr>
                </a:tc>
              </a:tr>
              <a:tr h="264344">
                <a:tc>
                  <a:txBody>
                    <a:bodyPr wrap="none"/>
                    <a:lstStyle/>
                    <a:p>
                      <a:pPr algn="ctr"/>
                      <a:r>
                        <a:rPr sz="1000" b="1" i="0">
                          <a:solidFill>
                            <a:srgbClr val="262626"/>
                          </a:solidFill>
                          <a:latin typeface="Arial"/>
                        </a:rPr>
                        <a:t>71</a:t>
                      </a:r>
                    </a:p>
                  </a:txBody>
                  <a:tcPr>
                    <a:solidFill>
                      <a:srgbClr val="FFFFFF"/>
                    </a:solidFill>
                  </a:tcPr>
                </a:tc>
                <a:tc>
                  <a:txBody>
                    <a:bodyPr wrap="none"/>
                    <a:lstStyle/>
                    <a:p>
                      <a:pPr algn="l"/>
                      <a:r>
                        <a:rPr sz="1000" b="0" i="0">
                          <a:solidFill>
                            <a:srgbClr val="262626"/>
                          </a:solidFill>
                          <a:latin typeface="Arial"/>
                        </a:rPr>
                        <a:t>James Corbett</a:t>
                      </a:r>
                    </a:p>
                  </a:txBody>
                  <a:tcPr>
                    <a:solidFill>
                      <a:srgbClr val="FFFFFF"/>
                    </a:solidFill>
                  </a:tcPr>
                </a:tc>
                <a:tc>
                  <a:txBody>
                    <a:bodyPr wrap="none"/>
                    <a:lstStyle/>
                    <a:p>
                      <a:pPr algn="ctr"/>
                      <a:r>
                        <a:rPr sz="1000" b="0" i="0">
                          <a:solidFill>
                            <a:srgbClr val="262626"/>
                          </a:solidFill>
                          <a:latin typeface="Arial"/>
                        </a:rPr>
                        <a:t>1,885</a:t>
                      </a:r>
                    </a:p>
                  </a:txBody>
                  <a:tcPr>
                    <a:solidFill>
                      <a:srgbClr val="FFFFFF"/>
                    </a:solidFill>
                  </a:tcPr>
                </a:tc>
              </a:tr>
              <a:tr h="264352">
                <a:tc>
                  <a:txBody>
                    <a:bodyPr wrap="none"/>
                    <a:lstStyle/>
                    <a:p>
                      <a:pPr algn="ctr"/>
                      <a:r>
                        <a:rPr sz="1000" b="1" i="0">
                          <a:solidFill>
                            <a:srgbClr val="262626"/>
                          </a:solidFill>
                          <a:latin typeface="Arial"/>
                        </a:rPr>
                        <a:t>72</a:t>
                      </a:r>
                    </a:p>
                  </a:txBody>
                  <a:tcPr>
                    <a:solidFill>
                      <a:srgbClr val="F2F2F2"/>
                    </a:solidFill>
                  </a:tcPr>
                </a:tc>
                <a:tc>
                  <a:txBody>
                    <a:bodyPr wrap="none"/>
                    <a:lstStyle/>
                    <a:p>
                      <a:pPr algn="l"/>
                      <a:r>
                        <a:rPr sz="1000" b="0" i="0">
                          <a:solidFill>
                            <a:srgbClr val="262626"/>
                          </a:solidFill>
                          <a:latin typeface="Arial"/>
                        </a:rPr>
                        <a:t>Keller Norland</a:t>
                      </a:r>
                    </a:p>
                  </a:txBody>
                  <a:tcPr>
                    <a:solidFill>
                      <a:srgbClr val="F2F2F2"/>
                    </a:solidFill>
                  </a:tcPr>
                </a:tc>
                <a:tc>
                  <a:txBody>
                    <a:bodyPr wrap="none"/>
                    <a:lstStyle/>
                    <a:p>
                      <a:pPr algn="ctr"/>
                      <a:r>
                        <a:rPr sz="1000" b="0" i="0">
                          <a:solidFill>
                            <a:srgbClr val="262626"/>
                          </a:solidFill>
                          <a:latin typeface="Arial"/>
                        </a:rPr>
                        <a:t>1,863</a:t>
                      </a:r>
                    </a:p>
                  </a:txBody>
                  <a:tcPr>
                    <a:solidFill>
                      <a:srgbClr val="F2F2F2"/>
                    </a:solidFill>
                  </a:tcPr>
                </a:tc>
              </a:tr>
            </a:tbl>
          </a:graphicData>
        </a:graphic>
      </p:graphicFrame>
      <p:sp>
        <p:nvSpPr>
          <p:cNvPr id="12" name="Rectangle 11"/>
          <p:cNvSpPr/>
          <p:nvPr/>
        </p:nvSpPr>
        <p:spPr>
          <a:xfrm>
            <a:off x="274320" y="5056632"/>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5074920"/>
            <a:ext cx="5486400" cy="237744"/>
          </a:xfrm>
          <a:prstGeom prst="rect">
            <a:avLst/>
          </a:prstGeom>
          <a:noFill/>
        </p:spPr>
        <p:txBody>
          <a:bodyPr wrap="square">
            <a:spAutoFit/>
          </a:bodyPr>
          <a:lstStyle/>
          <a:p>
            <a:pPr algn="l"/>
            <a:r>
              <a:rPr sz="1100" b="1" i="0">
                <a:solidFill>
                  <a:srgbClr val="FFFFFF"/>
                </a:solidFill>
                <a:latin typeface="Arial"/>
              </a:rPr>
              <a:t>Returning Podium Athletes on Startlist</a:t>
            </a:r>
          </a:p>
        </p:txBody>
      </p:sp>
      <p:sp>
        <p:nvSpPr>
          <p:cNvPr id="14" name="TextBox 13"/>
          <p:cNvSpPr txBox="1"/>
          <p:nvPr/>
        </p:nvSpPr>
        <p:spPr>
          <a:xfrm>
            <a:off x="365760" y="5468112"/>
            <a:ext cx="5486400" cy="457200"/>
          </a:xfrm>
          <a:prstGeom prst="rect">
            <a:avLst/>
          </a:prstGeom>
          <a:noFill/>
        </p:spPr>
        <p:txBody>
          <a:bodyPr wrap="square">
            <a:spAutoFit/>
          </a:bodyPr>
          <a:lstStyle/>
          <a:p>
            <a:pPr algn="l"/>
            <a:r>
              <a:rPr sz="1050" b="0" i="1">
                <a:solidFill>
                  <a:srgbClr val="262626"/>
                </a:solidFill>
                <a:latin typeface="Arial"/>
              </a:rPr>
              <a:t>No prior race history at this venue.</a:t>
            </a:r>
          </a:p>
        </p:txBody>
      </p:sp>
      <p:sp>
        <p:nvSpPr>
          <p:cNvPr id="15" name="Rectangle 14"/>
          <p:cNvSpPr/>
          <p:nvPr/>
        </p:nvSpPr>
        <p:spPr>
          <a:xfrm>
            <a:off x="6217920" y="1188720"/>
            <a:ext cx="5669280" cy="3657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234440"/>
            <a:ext cx="5486400" cy="292608"/>
          </a:xfrm>
          <a:prstGeom prst="rect">
            <a:avLst/>
          </a:prstGeom>
          <a:noFill/>
        </p:spPr>
        <p:txBody>
          <a:bodyPr wrap="square">
            <a:spAutoFit/>
          </a:bodyPr>
          <a:lstStyle/>
          <a:p>
            <a:pPr algn="ctr"/>
            <a:r>
              <a:rPr sz="1400" b="1" i="0">
                <a:solidFill>
                  <a:srgbClr val="FFFFFF"/>
                </a:solidFill>
                <a:latin typeface="Arial"/>
              </a:rPr>
              <a:t>ELITE WOMEN</a:t>
            </a:r>
          </a:p>
        </p:txBody>
      </p:sp>
      <p:sp>
        <p:nvSpPr>
          <p:cNvPr id="17" name="Rectangle 16"/>
          <p:cNvSpPr/>
          <p:nvPr/>
        </p:nvSpPr>
        <p:spPr>
          <a:xfrm>
            <a:off x="6217920" y="1645920"/>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1664208"/>
            <a:ext cx="5486400" cy="237744"/>
          </a:xfrm>
          <a:prstGeom prst="rect">
            <a:avLst/>
          </a:prstGeom>
          <a:noFill/>
        </p:spPr>
        <p:txBody>
          <a:bodyPr wrap="square">
            <a:spAutoFit/>
          </a:bodyPr>
          <a:lstStyle/>
          <a:p>
            <a:pPr algn="l"/>
            <a:r>
              <a:rPr sz="1100" b="1" i="0">
                <a:solidFill>
                  <a:srgbClr val="FFFFFF"/>
                </a:solidFill>
                <a:latin typeface="Arial"/>
              </a:rPr>
              <a:t>Top 10 Ranked on Startlist</a:t>
            </a:r>
          </a:p>
        </p:txBody>
      </p:sp>
      <p:graphicFrame>
        <p:nvGraphicFramePr>
          <p:cNvPr id="19" name="Table 18"/>
          <p:cNvGraphicFramePr>
            <a:graphicFrameLocks noGrp="1"/>
          </p:cNvGraphicFramePr>
          <p:nvPr/>
        </p:nvGraphicFramePr>
        <p:xfrm>
          <a:off x="6217920" y="1965960"/>
          <a:ext cx="5486400" cy="2907792"/>
        </p:xfrm>
        <a:graphic>
          <a:graphicData uri="http://schemas.openxmlformats.org/drawingml/2006/table">
            <a:tbl>
              <a:tblPr firstRow="1" bandRow="1">
                <a:tableStyleId>{5C22544A-7EE6-4342-B048-85BDC9FD1C3A}</a:tableStyleId>
              </a:tblPr>
              <a:tblGrid>
                <a:gridCol w="731520"/>
                <a:gridCol w="3291840"/>
                <a:gridCol w="1463040"/>
              </a:tblGrid>
              <a:tr h="264344">
                <a:tc>
                  <a:txBody>
                    <a:bodyPr wrap="none"/>
                    <a:lstStyle/>
                    <a:p>
                      <a:pPr algn="ctr"/>
                      <a:r>
                        <a:rPr sz="1000" b="1" i="0">
                          <a:solidFill>
                            <a:srgbClr val="FFFFFF"/>
                          </a:solidFill>
                          <a:latin typeface="Arial"/>
                        </a:rPr>
                        <a:t>Rank</a:t>
                      </a:r>
                    </a:p>
                  </a:txBody>
                  <a:tcPr>
                    <a:solidFill>
                      <a:srgbClr val="002060"/>
                    </a:solidFill>
                  </a:tcPr>
                </a:tc>
                <a:tc>
                  <a:txBody>
                    <a:bodyPr wrap="none"/>
                    <a:lstStyle/>
                    <a:p>
                      <a:pPr algn="ctr"/>
                      <a:r>
                        <a:rPr sz="1000" b="1" i="0">
                          <a:solidFill>
                            <a:srgbClr val="FFFFFF"/>
                          </a:solidFill>
                          <a:latin typeface="Arial"/>
                        </a:rPr>
                        <a:t>Athlete</a:t>
                      </a:r>
                    </a:p>
                  </a:txBody>
                  <a:tcPr>
                    <a:solidFill>
                      <a:srgbClr val="002060"/>
                    </a:solidFill>
                  </a:tcPr>
                </a:tc>
                <a:tc>
                  <a:txBody>
                    <a:bodyPr wrap="none"/>
                    <a:lstStyle/>
                    <a:p>
                      <a:pPr algn="ctr"/>
                      <a:r>
                        <a:rPr sz="1000" b="1" i="0">
                          <a:solidFill>
                            <a:srgbClr val="FFFFFF"/>
                          </a:solidFill>
                          <a:latin typeface="Arial"/>
                        </a:rPr>
                        <a:t>Points</a:t>
                      </a:r>
                    </a:p>
                  </a:txBody>
                  <a:tcPr>
                    <a:solidFill>
                      <a:srgbClr val="002060"/>
                    </a:solidFill>
                  </a:tcPr>
                </a:tc>
              </a:tr>
              <a:tr h="264344">
                <a:tc>
                  <a:txBody>
                    <a:bodyPr wrap="none"/>
                    <a:lstStyle/>
                    <a:p>
                      <a:pPr algn="ctr"/>
                      <a:r>
                        <a:rPr sz="1000" b="1" i="0">
                          <a:solidFill>
                            <a:srgbClr val="262626"/>
                          </a:solidFill>
                          <a:latin typeface="Arial"/>
                        </a:rPr>
                        <a:t>30</a:t>
                      </a:r>
                    </a:p>
                  </a:txBody>
                  <a:tcPr>
                    <a:solidFill>
                      <a:srgbClr val="FFFFFF"/>
                    </a:solidFill>
                  </a:tcPr>
                </a:tc>
                <a:tc>
                  <a:txBody>
                    <a:bodyPr wrap="none"/>
                    <a:lstStyle/>
                    <a:p>
                      <a:pPr algn="l"/>
                      <a:r>
                        <a:rPr sz="1000" b="0" i="0">
                          <a:solidFill>
                            <a:srgbClr val="262626"/>
                          </a:solidFill>
                          <a:latin typeface="Arial"/>
                        </a:rPr>
                        <a:t>Verena Steinhauser</a:t>
                      </a:r>
                    </a:p>
                  </a:txBody>
                  <a:tcPr>
                    <a:solidFill>
                      <a:srgbClr val="FFFFFF"/>
                    </a:solidFill>
                  </a:tcPr>
                </a:tc>
                <a:tc>
                  <a:txBody>
                    <a:bodyPr wrap="none"/>
                    <a:lstStyle/>
                    <a:p>
                      <a:pPr algn="ctr"/>
                      <a:r>
                        <a:rPr sz="1000" b="0" i="0">
                          <a:solidFill>
                            <a:srgbClr val="262626"/>
                          </a:solidFill>
                          <a:latin typeface="Arial"/>
                        </a:rPr>
                        <a:t>2,627</a:t>
                      </a:r>
                    </a:p>
                  </a:txBody>
                  <a:tcPr>
                    <a:solidFill>
                      <a:srgbClr val="FFFFFF"/>
                    </a:solidFill>
                  </a:tcPr>
                </a:tc>
              </a:tr>
              <a:tr h="264344">
                <a:tc>
                  <a:txBody>
                    <a:bodyPr wrap="none"/>
                    <a:lstStyle/>
                    <a:p>
                      <a:pPr algn="ctr"/>
                      <a:r>
                        <a:rPr sz="1000" b="1" i="0">
                          <a:solidFill>
                            <a:srgbClr val="262626"/>
                          </a:solidFill>
                          <a:latin typeface="Arial"/>
                        </a:rPr>
                        <a:t>31</a:t>
                      </a:r>
                    </a:p>
                  </a:txBody>
                  <a:tcPr>
                    <a:solidFill>
                      <a:srgbClr val="F2F2F2"/>
                    </a:solidFill>
                  </a:tcPr>
                </a:tc>
                <a:tc>
                  <a:txBody>
                    <a:bodyPr wrap="none"/>
                    <a:lstStyle/>
                    <a:p>
                      <a:pPr algn="l"/>
                      <a:r>
                        <a:rPr sz="1000" b="0" i="0">
                          <a:solidFill>
                            <a:srgbClr val="262626"/>
                          </a:solidFill>
                          <a:latin typeface="Arial"/>
                        </a:rPr>
                        <a:t>Manami Hayashi</a:t>
                      </a:r>
                    </a:p>
                  </a:txBody>
                  <a:tcPr>
                    <a:solidFill>
                      <a:srgbClr val="F2F2F2"/>
                    </a:solidFill>
                  </a:tcPr>
                </a:tc>
                <a:tc>
                  <a:txBody>
                    <a:bodyPr wrap="none"/>
                    <a:lstStyle/>
                    <a:p>
                      <a:pPr algn="ctr"/>
                      <a:r>
                        <a:rPr sz="1000" b="0" i="0">
                          <a:solidFill>
                            <a:srgbClr val="262626"/>
                          </a:solidFill>
                          <a:latin typeface="Arial"/>
                        </a:rPr>
                        <a:t>2,572</a:t>
                      </a:r>
                    </a:p>
                  </a:txBody>
                  <a:tcPr>
                    <a:solidFill>
                      <a:srgbClr val="F2F2F2"/>
                    </a:solidFill>
                  </a:tcPr>
                </a:tc>
              </a:tr>
              <a:tr h="264344">
                <a:tc>
                  <a:txBody>
                    <a:bodyPr wrap="none"/>
                    <a:lstStyle/>
                    <a:p>
                      <a:pPr algn="ctr"/>
                      <a:r>
                        <a:rPr sz="1000" b="1" i="0">
                          <a:solidFill>
                            <a:srgbClr val="262626"/>
                          </a:solidFill>
                          <a:latin typeface="Arial"/>
                        </a:rPr>
                        <a:t>34</a:t>
                      </a:r>
                    </a:p>
                  </a:txBody>
                  <a:tcPr>
                    <a:solidFill>
                      <a:srgbClr val="FFFFFF"/>
                    </a:solidFill>
                  </a:tcPr>
                </a:tc>
                <a:tc>
                  <a:txBody>
                    <a:bodyPr wrap="none"/>
                    <a:lstStyle/>
                    <a:p>
                      <a:pPr algn="l"/>
                      <a:r>
                        <a:rPr sz="1000" b="0" i="0">
                          <a:solidFill>
                            <a:srgbClr val="262626"/>
                          </a:solidFill>
                          <a:latin typeface="Arial"/>
                        </a:rPr>
                        <a:t>Zuzana Michalickova</a:t>
                      </a:r>
                    </a:p>
                  </a:txBody>
                  <a:tcPr>
                    <a:solidFill>
                      <a:srgbClr val="FFFFFF"/>
                    </a:solidFill>
                  </a:tcPr>
                </a:tc>
                <a:tc>
                  <a:txBody>
                    <a:bodyPr wrap="none"/>
                    <a:lstStyle/>
                    <a:p>
                      <a:pPr algn="ctr"/>
                      <a:r>
                        <a:rPr sz="1000" b="0" i="0">
                          <a:solidFill>
                            <a:srgbClr val="262626"/>
                          </a:solidFill>
                          <a:latin typeface="Arial"/>
                        </a:rPr>
                        <a:t>2,443</a:t>
                      </a:r>
                    </a:p>
                  </a:txBody>
                  <a:tcPr>
                    <a:solidFill>
                      <a:srgbClr val="FFFFFF"/>
                    </a:solidFill>
                  </a:tcPr>
                </a:tc>
              </a:tr>
              <a:tr h="264344">
                <a:tc>
                  <a:txBody>
                    <a:bodyPr wrap="none"/>
                    <a:lstStyle/>
                    <a:p>
                      <a:pPr algn="ctr"/>
                      <a:r>
                        <a:rPr sz="1000" b="1" i="0">
                          <a:solidFill>
                            <a:srgbClr val="262626"/>
                          </a:solidFill>
                          <a:latin typeface="Arial"/>
                        </a:rPr>
                        <a:t>38</a:t>
                      </a:r>
                    </a:p>
                  </a:txBody>
                  <a:tcPr>
                    <a:solidFill>
                      <a:srgbClr val="F2F2F2"/>
                    </a:solidFill>
                  </a:tcPr>
                </a:tc>
                <a:tc>
                  <a:txBody>
                    <a:bodyPr wrap="none"/>
                    <a:lstStyle/>
                    <a:p>
                      <a:pPr algn="l"/>
                      <a:r>
                        <a:rPr sz="1000" b="0" i="0">
                          <a:solidFill>
                            <a:srgbClr val="262626"/>
                          </a:solidFill>
                          <a:latin typeface="Arial"/>
                        </a:rPr>
                        <a:t>Danielle Orie</a:t>
                      </a:r>
                    </a:p>
                  </a:txBody>
                  <a:tcPr>
                    <a:solidFill>
                      <a:srgbClr val="F2F2F2"/>
                    </a:solidFill>
                  </a:tcPr>
                </a:tc>
                <a:tc>
                  <a:txBody>
                    <a:bodyPr wrap="none"/>
                    <a:lstStyle/>
                    <a:p>
                      <a:pPr algn="ctr"/>
                      <a:r>
                        <a:rPr sz="1000" b="0" i="0">
                          <a:solidFill>
                            <a:srgbClr val="262626"/>
                          </a:solidFill>
                          <a:latin typeface="Arial"/>
                        </a:rPr>
                        <a:t>2,432</a:t>
                      </a:r>
                    </a:p>
                  </a:txBody>
                  <a:tcPr>
                    <a:solidFill>
                      <a:srgbClr val="F2F2F2"/>
                    </a:solidFill>
                  </a:tcPr>
                </a:tc>
              </a:tr>
              <a:tr h="264344">
                <a:tc>
                  <a:txBody>
                    <a:bodyPr wrap="none"/>
                    <a:lstStyle/>
                    <a:p>
                      <a:pPr algn="ctr"/>
                      <a:r>
                        <a:rPr sz="1000" b="1" i="0">
                          <a:solidFill>
                            <a:srgbClr val="262626"/>
                          </a:solidFill>
                          <a:latin typeface="Arial"/>
                        </a:rPr>
                        <a:t>43</a:t>
                      </a:r>
                    </a:p>
                  </a:txBody>
                  <a:tcPr>
                    <a:solidFill>
                      <a:srgbClr val="FFFFFF"/>
                    </a:solidFill>
                  </a:tcPr>
                </a:tc>
                <a:tc>
                  <a:txBody>
                    <a:bodyPr wrap="none"/>
                    <a:lstStyle/>
                    <a:p>
                      <a:pPr algn="l"/>
                      <a:r>
                        <a:rPr sz="1000" b="0" i="0">
                          <a:solidFill>
                            <a:srgbClr val="262626"/>
                          </a:solidFill>
                          <a:latin typeface="Arial"/>
                        </a:rPr>
                        <a:t>Beatrice Mallozzi</a:t>
                      </a:r>
                    </a:p>
                  </a:txBody>
                  <a:tcPr>
                    <a:solidFill>
                      <a:srgbClr val="FFFFFF"/>
                    </a:solidFill>
                  </a:tcPr>
                </a:tc>
                <a:tc>
                  <a:txBody>
                    <a:bodyPr wrap="none"/>
                    <a:lstStyle/>
                    <a:p>
                      <a:pPr algn="ctr"/>
                      <a:r>
                        <a:rPr sz="1000" b="0" i="0">
                          <a:solidFill>
                            <a:srgbClr val="262626"/>
                          </a:solidFill>
                          <a:latin typeface="Arial"/>
                        </a:rPr>
                        <a:t>2,267</a:t>
                      </a:r>
                    </a:p>
                  </a:txBody>
                  <a:tcPr>
                    <a:solidFill>
                      <a:srgbClr val="FFFFFF"/>
                    </a:solidFill>
                  </a:tcPr>
                </a:tc>
              </a:tr>
              <a:tr h="264344">
                <a:tc>
                  <a:txBody>
                    <a:bodyPr wrap="none"/>
                    <a:lstStyle/>
                    <a:p>
                      <a:pPr algn="ctr"/>
                      <a:r>
                        <a:rPr sz="1000" b="1" i="0">
                          <a:solidFill>
                            <a:srgbClr val="262626"/>
                          </a:solidFill>
                          <a:latin typeface="Arial"/>
                        </a:rPr>
                        <a:t>44</a:t>
                      </a:r>
                    </a:p>
                  </a:txBody>
                  <a:tcPr>
                    <a:solidFill>
                      <a:srgbClr val="F2F2F2"/>
                    </a:solidFill>
                  </a:tcPr>
                </a:tc>
                <a:tc>
                  <a:txBody>
                    <a:bodyPr wrap="none"/>
                    <a:lstStyle/>
                    <a:p>
                      <a:pPr algn="l"/>
                      <a:r>
                        <a:rPr sz="1000" b="0" i="0">
                          <a:solidFill>
                            <a:srgbClr val="262626"/>
                          </a:solidFill>
                          <a:latin typeface="Arial"/>
                        </a:rPr>
                        <a:t>Mariana Vargem</a:t>
                      </a:r>
                    </a:p>
                  </a:txBody>
                  <a:tcPr>
                    <a:solidFill>
                      <a:srgbClr val="F2F2F2"/>
                    </a:solidFill>
                  </a:tcPr>
                </a:tc>
                <a:tc>
                  <a:txBody>
                    <a:bodyPr wrap="none"/>
                    <a:lstStyle/>
                    <a:p>
                      <a:pPr algn="ctr"/>
                      <a:r>
                        <a:rPr sz="1000" b="0" i="0">
                          <a:solidFill>
                            <a:srgbClr val="262626"/>
                          </a:solidFill>
                          <a:latin typeface="Arial"/>
                        </a:rPr>
                        <a:t>2,210</a:t>
                      </a:r>
                    </a:p>
                  </a:txBody>
                  <a:tcPr>
                    <a:solidFill>
                      <a:srgbClr val="F2F2F2"/>
                    </a:solidFill>
                  </a:tcPr>
                </a:tc>
              </a:tr>
              <a:tr h="264344">
                <a:tc>
                  <a:txBody>
                    <a:bodyPr wrap="none"/>
                    <a:lstStyle/>
                    <a:p>
                      <a:pPr algn="ctr"/>
                      <a:r>
                        <a:rPr sz="1000" b="1" i="0">
                          <a:solidFill>
                            <a:srgbClr val="262626"/>
                          </a:solidFill>
                          <a:latin typeface="Arial"/>
                        </a:rPr>
                        <a:t>47</a:t>
                      </a:r>
                    </a:p>
                  </a:txBody>
                  <a:tcPr>
                    <a:solidFill>
                      <a:srgbClr val="FFFFFF"/>
                    </a:solidFill>
                  </a:tcPr>
                </a:tc>
                <a:tc>
                  <a:txBody>
                    <a:bodyPr wrap="none"/>
                    <a:lstStyle/>
                    <a:p>
                      <a:pPr algn="l"/>
                      <a:r>
                        <a:rPr sz="1000" b="0" i="0">
                          <a:solidFill>
                            <a:srgbClr val="262626"/>
                          </a:solidFill>
                          <a:latin typeface="Arial"/>
                        </a:rPr>
                        <a:t>Kelly Wetteland</a:t>
                      </a:r>
                    </a:p>
                  </a:txBody>
                  <a:tcPr>
                    <a:solidFill>
                      <a:srgbClr val="FFFFFF"/>
                    </a:solidFill>
                  </a:tcPr>
                </a:tc>
                <a:tc>
                  <a:txBody>
                    <a:bodyPr wrap="none"/>
                    <a:lstStyle/>
                    <a:p>
                      <a:pPr algn="ctr"/>
                      <a:r>
                        <a:rPr sz="1000" b="0" i="0">
                          <a:solidFill>
                            <a:srgbClr val="262626"/>
                          </a:solidFill>
                          <a:latin typeface="Arial"/>
                        </a:rPr>
                        <a:t>2,109</a:t>
                      </a:r>
                    </a:p>
                  </a:txBody>
                  <a:tcPr>
                    <a:solidFill>
                      <a:srgbClr val="FFFFFF"/>
                    </a:solidFill>
                  </a:tcPr>
                </a:tc>
              </a:tr>
              <a:tr h="264344">
                <a:tc>
                  <a:txBody>
                    <a:bodyPr wrap="none"/>
                    <a:lstStyle/>
                    <a:p>
                      <a:pPr algn="ctr"/>
                      <a:r>
                        <a:rPr sz="1000" b="1" i="0">
                          <a:solidFill>
                            <a:srgbClr val="262626"/>
                          </a:solidFill>
                          <a:latin typeface="Arial"/>
                        </a:rPr>
                        <a:t>50</a:t>
                      </a:r>
                    </a:p>
                  </a:txBody>
                  <a:tcPr>
                    <a:solidFill>
                      <a:srgbClr val="F2F2F2"/>
                    </a:solidFill>
                  </a:tcPr>
                </a:tc>
                <a:tc>
                  <a:txBody>
                    <a:bodyPr wrap="none"/>
                    <a:lstStyle/>
                    <a:p>
                      <a:pPr algn="l"/>
                      <a:r>
                        <a:rPr sz="1000" b="0" i="0">
                          <a:solidFill>
                            <a:srgbClr val="262626"/>
                          </a:solidFill>
                          <a:latin typeface="Arial"/>
                        </a:rPr>
                        <a:t>Angelica Prestia</a:t>
                      </a:r>
                    </a:p>
                  </a:txBody>
                  <a:tcPr>
                    <a:solidFill>
                      <a:srgbClr val="F2F2F2"/>
                    </a:solidFill>
                  </a:tcPr>
                </a:tc>
                <a:tc>
                  <a:txBody>
                    <a:bodyPr wrap="none"/>
                    <a:lstStyle/>
                    <a:p>
                      <a:pPr algn="ctr"/>
                      <a:r>
                        <a:rPr sz="1000" b="0" i="0">
                          <a:solidFill>
                            <a:srgbClr val="262626"/>
                          </a:solidFill>
                          <a:latin typeface="Arial"/>
                        </a:rPr>
                        <a:t>2,091</a:t>
                      </a:r>
                    </a:p>
                  </a:txBody>
                  <a:tcPr>
                    <a:solidFill>
                      <a:srgbClr val="F2F2F2"/>
                    </a:solidFill>
                  </a:tcPr>
                </a:tc>
              </a:tr>
              <a:tr h="264344">
                <a:tc>
                  <a:txBody>
                    <a:bodyPr wrap="none"/>
                    <a:lstStyle/>
                    <a:p>
                      <a:pPr algn="ctr"/>
                      <a:r>
                        <a:rPr sz="1000" b="1" i="0">
                          <a:solidFill>
                            <a:srgbClr val="262626"/>
                          </a:solidFill>
                          <a:latin typeface="Arial"/>
                        </a:rPr>
                        <a:t>59</a:t>
                      </a:r>
                    </a:p>
                  </a:txBody>
                  <a:tcPr>
                    <a:solidFill>
                      <a:srgbClr val="FFFFFF"/>
                    </a:solidFill>
                  </a:tcPr>
                </a:tc>
                <a:tc>
                  <a:txBody>
                    <a:bodyPr wrap="none"/>
                    <a:lstStyle/>
                    <a:p>
                      <a:pPr algn="l"/>
                      <a:r>
                        <a:rPr sz="1000" b="0" i="0">
                          <a:solidFill>
                            <a:srgbClr val="262626"/>
                          </a:solidFill>
                          <a:latin typeface="Arial"/>
                        </a:rPr>
                        <a:t>Mako Hiraizumi</a:t>
                      </a:r>
                    </a:p>
                  </a:txBody>
                  <a:tcPr>
                    <a:solidFill>
                      <a:srgbClr val="FFFFFF"/>
                    </a:solidFill>
                  </a:tcPr>
                </a:tc>
                <a:tc>
                  <a:txBody>
                    <a:bodyPr wrap="none"/>
                    <a:lstStyle/>
                    <a:p>
                      <a:pPr algn="ctr"/>
                      <a:r>
                        <a:rPr sz="1000" b="0" i="0">
                          <a:solidFill>
                            <a:srgbClr val="262626"/>
                          </a:solidFill>
                          <a:latin typeface="Arial"/>
                        </a:rPr>
                        <a:t>1,998</a:t>
                      </a:r>
                    </a:p>
                  </a:txBody>
                  <a:tcPr>
                    <a:solidFill>
                      <a:srgbClr val="FFFFFF"/>
                    </a:solidFill>
                  </a:tcPr>
                </a:tc>
              </a:tr>
              <a:tr h="264352">
                <a:tc>
                  <a:txBody>
                    <a:bodyPr wrap="none"/>
                    <a:lstStyle/>
                    <a:p>
                      <a:pPr algn="ctr"/>
                      <a:r>
                        <a:rPr sz="1000" b="1" i="0">
                          <a:solidFill>
                            <a:srgbClr val="262626"/>
                          </a:solidFill>
                          <a:latin typeface="Arial"/>
                        </a:rPr>
                        <a:t>64</a:t>
                      </a:r>
                    </a:p>
                  </a:txBody>
                  <a:tcPr>
                    <a:solidFill>
                      <a:srgbClr val="F2F2F2"/>
                    </a:solidFill>
                  </a:tcPr>
                </a:tc>
                <a:tc>
                  <a:txBody>
                    <a:bodyPr wrap="none"/>
                    <a:lstStyle/>
                    <a:p>
                      <a:pPr algn="l"/>
                      <a:r>
                        <a:rPr sz="1000" b="0" i="0">
                          <a:solidFill>
                            <a:srgbClr val="262626"/>
                          </a:solidFill>
                          <a:latin typeface="Arial"/>
                        </a:rPr>
                        <a:t>Shanae Williams</a:t>
                      </a:r>
                    </a:p>
                  </a:txBody>
                  <a:tcPr>
                    <a:solidFill>
                      <a:srgbClr val="F2F2F2"/>
                    </a:solidFill>
                  </a:tcPr>
                </a:tc>
                <a:tc>
                  <a:txBody>
                    <a:bodyPr wrap="none"/>
                    <a:lstStyle/>
                    <a:p>
                      <a:pPr algn="ctr"/>
                      <a:r>
                        <a:rPr sz="1000" b="0" i="0">
                          <a:solidFill>
                            <a:srgbClr val="262626"/>
                          </a:solidFill>
                          <a:latin typeface="Arial"/>
                        </a:rPr>
                        <a:t>1,916</a:t>
                      </a:r>
                    </a:p>
                  </a:txBody>
                  <a:tcPr>
                    <a:solidFill>
                      <a:srgbClr val="F2F2F2"/>
                    </a:solidFill>
                  </a:tcPr>
                </a:tc>
              </a:tr>
            </a:tbl>
          </a:graphicData>
        </a:graphic>
      </p:graphicFrame>
      <p:sp>
        <p:nvSpPr>
          <p:cNvPr id="20" name="Rectangle 19"/>
          <p:cNvSpPr/>
          <p:nvPr/>
        </p:nvSpPr>
        <p:spPr>
          <a:xfrm>
            <a:off x="6217920" y="5056632"/>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5074920"/>
            <a:ext cx="5486400" cy="237744"/>
          </a:xfrm>
          <a:prstGeom prst="rect">
            <a:avLst/>
          </a:prstGeom>
          <a:noFill/>
        </p:spPr>
        <p:txBody>
          <a:bodyPr wrap="square">
            <a:spAutoFit/>
          </a:bodyPr>
          <a:lstStyle/>
          <a:p>
            <a:pPr algn="l"/>
            <a:r>
              <a:rPr sz="1100" b="1" i="0">
                <a:solidFill>
                  <a:srgbClr val="FFFFFF"/>
                </a:solidFill>
                <a:latin typeface="Arial"/>
              </a:rPr>
              <a:t>Returning Podium Athletes on Startlist</a:t>
            </a:r>
          </a:p>
        </p:txBody>
      </p:sp>
      <p:sp>
        <p:nvSpPr>
          <p:cNvPr id="22" name="TextBox 21"/>
          <p:cNvSpPr txBox="1"/>
          <p:nvPr/>
        </p:nvSpPr>
        <p:spPr>
          <a:xfrm>
            <a:off x="6309360" y="5468112"/>
            <a:ext cx="5486400" cy="457200"/>
          </a:xfrm>
          <a:prstGeom prst="rect">
            <a:avLst/>
          </a:prstGeom>
          <a:noFill/>
        </p:spPr>
        <p:txBody>
          <a:bodyPr wrap="square">
            <a:spAutoFit/>
          </a:bodyPr>
          <a:lstStyle/>
          <a:p>
            <a:pPr algn="l"/>
            <a:r>
              <a:rPr sz="1050" b="0" i="1">
                <a:solidFill>
                  <a:srgbClr val="262626"/>
                </a:solidFill>
                <a:latin typeface="Arial"/>
              </a:rPr>
              <a:t>No prior race history at this venue.</a:t>
            </a:r>
          </a:p>
        </p:txBody>
      </p:sp>
      <p:sp>
        <p:nvSpPr>
          <p:cNvPr id="23" name="TextBox 22"/>
          <p:cNvSpPr txBox="1"/>
          <p:nvPr/>
        </p:nvSpPr>
        <p:spPr>
          <a:xfrm>
            <a:off x="274320" y="6446520"/>
            <a:ext cx="11640312" cy="228600"/>
          </a:xfrm>
          <a:prstGeom prst="rect">
            <a:avLst/>
          </a:prstGeom>
          <a:noFill/>
        </p:spPr>
        <p:txBody>
          <a:bodyPr wrap="square">
            <a:spAutoFit/>
          </a:bodyPr>
          <a:lstStyle/>
          <a:p>
            <a:pPr algn="ctr"/>
            <a:r>
              <a:rPr sz="900" b="0" i="1">
                <a:solidFill>
                  <a:srgbClr val="BFBFBF"/>
                </a:solidFill>
                <a:latin typeface="Arial"/>
              </a:rPr>
              <a:t>Rankings = current World Triathlon rankings snapshot; startlist intersect uses program_entries when available.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Top Swim Threats</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Asuncion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78992"/>
            <a:ext cx="11640312" cy="32004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15568"/>
            <a:ext cx="11430000" cy="246888"/>
          </a:xfrm>
          <a:prstGeom prst="rect">
            <a:avLst/>
          </a:prstGeom>
          <a:noFill/>
        </p:spPr>
        <p:txBody>
          <a:bodyPr wrap="square">
            <a:spAutoFit/>
          </a:bodyPr>
          <a:lstStyle/>
          <a:p>
            <a:pPr algn="ctr"/>
            <a:r>
              <a:rPr sz="1000" b="1" i="0">
                <a:solidFill>
                  <a:srgbClr val="002060"/>
                </a:solidFill>
                <a:latin typeface="Arial"/>
              </a:rPr>
              <a:t>Ranked by Lead Pack % (within 15 s of swim leader — robust to course speed)   •   EWMA swim split (span-5) shown per distance; Sprint = this race   •   WTCS / World Cup / Continental, last 4 yrs</a:t>
            </a:r>
          </a:p>
        </p:txBody>
      </p:sp>
      <p:sp>
        <p:nvSpPr>
          <p:cNvPr id="10" name="Rectangle 9"/>
          <p:cNvSpPr/>
          <p:nvPr/>
        </p:nvSpPr>
        <p:spPr>
          <a:xfrm>
            <a:off x="274320" y="150876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1536192"/>
            <a:ext cx="5806440" cy="219456"/>
          </a:xfrm>
          <a:prstGeom prst="rect">
            <a:avLst/>
          </a:prstGeom>
          <a:noFill/>
        </p:spPr>
        <p:txBody>
          <a:bodyPr wrap="square">
            <a:spAutoFit/>
          </a:bodyPr>
          <a:lstStyle/>
          <a:p>
            <a:pPr algn="ctr"/>
            <a:r>
              <a:rPr sz="1100" b="1" i="0">
                <a:solidFill>
                  <a:srgbClr val="FFFFFF"/>
                </a:solidFill>
                <a:latin typeface="Arial"/>
              </a:rPr>
              <a:t>ELITE MEN</a:t>
            </a:r>
          </a:p>
        </p:txBody>
      </p:sp>
      <p:graphicFrame>
        <p:nvGraphicFramePr>
          <p:cNvPr id="12" name="Table 11"/>
          <p:cNvGraphicFramePr>
            <a:graphicFrameLocks noGrp="1"/>
          </p:cNvGraphicFramePr>
          <p:nvPr/>
        </p:nvGraphicFramePr>
        <p:xfrm>
          <a:off x="274320" y="1828800"/>
          <a:ext cx="5806439" cy="3840480"/>
        </p:xfrm>
        <a:graphic>
          <a:graphicData uri="http://schemas.openxmlformats.org/drawingml/2006/table">
            <a:tbl>
              <a:tblPr firstRow="1" bandRow="1">
                <a:tableStyleId>{5C22544A-7EE6-4342-B048-85BDC9FD1C3A}</a:tableStyleId>
              </a:tblPr>
              <a:tblGrid>
                <a:gridCol w="341985"/>
                <a:gridCol w="1783080"/>
                <a:gridCol w="822960"/>
                <a:gridCol w="950976"/>
                <a:gridCol w="950976"/>
                <a:gridCol w="956462"/>
              </a:tblGrid>
              <a:tr h="256032">
                <a:tc>
                  <a:txBody>
                    <a:bodyPr wrap="none"/>
                    <a:lstStyle/>
                    <a:p>
                      <a:pPr algn="ctr"/>
                      <a:r>
                        <a:rPr sz="850" b="1" i="0">
                          <a:solidFill>
                            <a:srgbClr val="FFFFFF"/>
                          </a:solidFill>
                          <a:latin typeface="Arial"/>
                        </a:rPr>
                        <a:t>#</a:t>
                      </a:r>
                    </a:p>
                  </a:txBody>
                  <a:tcPr>
                    <a:solidFill>
                      <a:srgbClr val="002060"/>
                    </a:solidFill>
                  </a:tcPr>
                </a:tc>
                <a:tc>
                  <a:txBody>
                    <a:bodyPr wrap="none"/>
                    <a:lstStyle/>
                    <a:p>
                      <a:pPr algn="l"/>
                      <a:r>
                        <a:rPr sz="850" b="1" i="0">
                          <a:solidFill>
                            <a:srgbClr val="FFFFFF"/>
                          </a:solidFill>
                          <a:latin typeface="Arial"/>
                        </a:rPr>
                        <a:t>Athlete</a:t>
                      </a:r>
                    </a:p>
                  </a:txBody>
                  <a:tcPr>
                    <a:solidFill>
                      <a:srgbClr val="002060"/>
                    </a:solidFill>
                  </a:tcPr>
                </a:tc>
                <a:tc>
                  <a:txBody>
                    <a:bodyPr wrap="none"/>
                    <a:lstStyle/>
                    <a:p>
                      <a:pPr algn="ctr"/>
                      <a:r>
                        <a:rPr sz="850" b="1" i="0">
                          <a:solidFill>
                            <a:srgbClr val="FFFFFF"/>
                          </a:solidFill>
                          <a:latin typeface="Arial"/>
                        </a:rPr>
                        <a:t>Lead %</a:t>
                      </a:r>
                    </a:p>
                  </a:txBody>
                  <a:tcPr>
                    <a:solidFill>
                      <a:srgbClr val="002060"/>
                    </a:solidFill>
                  </a:tcPr>
                </a:tc>
                <a:tc>
                  <a:txBody>
                    <a:bodyPr wrap="none"/>
                    <a:lstStyle/>
                    <a:p>
                      <a:pPr algn="ctr"/>
                      <a:r>
                        <a:rPr sz="850" b="1" i="0">
                          <a:solidFill>
                            <a:srgbClr val="FFFFFF"/>
                          </a:solidFill>
                          <a:latin typeface="Arial"/>
                        </a:rPr>
                        <a:t>EWMA Spr ▸</a:t>
                      </a:r>
                    </a:p>
                  </a:txBody>
                  <a:tcPr>
                    <a:solidFill>
                      <a:srgbClr val="002060"/>
                    </a:solidFill>
                  </a:tcPr>
                </a:tc>
                <a:tc>
                  <a:txBody>
                    <a:bodyPr wrap="none"/>
                    <a:lstStyle/>
                    <a:p>
                      <a:pPr algn="ctr"/>
                      <a:r>
                        <a:rPr sz="850" b="1" i="0">
                          <a:solidFill>
                            <a:srgbClr val="FFFFFF"/>
                          </a:solidFill>
                          <a:latin typeface="Arial"/>
                        </a:rPr>
                        <a:t>EWMA Std</a:t>
                      </a:r>
                    </a:p>
                  </a:txBody>
                  <a:tcPr>
                    <a:solidFill>
                      <a:srgbClr val="002060"/>
                    </a:solidFill>
                  </a:tcPr>
                </a:tc>
                <a:tc>
                  <a:txBody>
                    <a:bodyPr wrap="none"/>
                    <a:lstStyle/>
                    <a:p>
                      <a:pPr algn="ctr"/>
                      <a:r>
                        <a:rPr sz="850" b="1" i="0">
                          <a:solidFill>
                            <a:srgbClr val="FFFFFF"/>
                          </a:solidFill>
                          <a:latin typeface="Arial"/>
                        </a:rPr>
                        <a:t>Spr/Std</a:t>
                      </a:r>
                    </a:p>
                  </a:txBody>
                  <a:tcPr>
                    <a:solidFill>
                      <a:srgbClr val="002060"/>
                    </a:solidFill>
                  </a:tcPr>
                </a:tc>
              </a:tr>
              <a:tr h="256032">
                <a:tc>
                  <a:txBody>
                    <a:bodyPr wrap="none"/>
                    <a:lstStyle/>
                    <a:p>
                      <a:pPr algn="ctr"/>
                      <a:r>
                        <a:rPr sz="850" b="1" i="0">
                          <a:solidFill>
                            <a:srgbClr val="002060"/>
                          </a:solidFill>
                          <a:latin typeface="Arial"/>
                        </a:rPr>
                        <a:t>1</a:t>
                      </a:r>
                    </a:p>
                  </a:txBody>
                  <a:tcPr>
                    <a:solidFill>
                      <a:srgbClr val="FFFFFF"/>
                    </a:solidFill>
                  </a:tcPr>
                </a:tc>
                <a:tc>
                  <a:txBody>
                    <a:bodyPr wrap="none"/>
                    <a:lstStyle/>
                    <a:p>
                      <a:pPr algn="l"/>
                      <a:r>
                        <a:rPr sz="850" b="0" i="0">
                          <a:solidFill>
                            <a:srgbClr val="262626"/>
                          </a:solidFill>
                          <a:latin typeface="Arial"/>
                        </a:rPr>
                        <a:t>Aiden Longcroft-Harris</a:t>
                      </a:r>
                    </a:p>
                  </a:txBody>
                  <a:tcPr>
                    <a:solidFill>
                      <a:srgbClr val="FFFFFF"/>
                    </a:solidFill>
                  </a:tcPr>
                </a:tc>
                <a:tc>
                  <a:txBody>
                    <a:bodyPr wrap="none"/>
                    <a:lstStyle/>
                    <a:p>
                      <a:pPr algn="ctr"/>
                      <a:r>
                        <a:rPr sz="850" b="1" i="0">
                          <a:solidFill>
                            <a:srgbClr val="262626"/>
                          </a:solidFill>
                          <a:latin typeface="Arial"/>
                        </a:rPr>
                        <a:t>96%</a:t>
                      </a:r>
                    </a:p>
                  </a:txBody>
                  <a:tcPr>
                    <a:solidFill>
                      <a:srgbClr val="FFFFFF"/>
                    </a:solidFill>
                  </a:tcPr>
                </a:tc>
                <a:tc>
                  <a:txBody>
                    <a:bodyPr wrap="none"/>
                    <a:lstStyle/>
                    <a:p>
                      <a:pPr algn="ctr"/>
                      <a:r>
                        <a:rPr sz="850" b="1" i="0">
                          <a:solidFill>
                            <a:srgbClr val="262626"/>
                          </a:solidFill>
                          <a:latin typeface="Arial"/>
                        </a:rPr>
                        <a:t>9:32</a:t>
                      </a:r>
                    </a:p>
                  </a:txBody>
                  <a:tcPr>
                    <a:solidFill>
                      <a:srgbClr val="FFFFFF"/>
                    </a:solidFill>
                  </a:tcPr>
                </a:tc>
                <a:tc>
                  <a:txBody>
                    <a:bodyPr wrap="none"/>
                    <a:lstStyle/>
                    <a:p>
                      <a:pPr algn="ctr"/>
                      <a:r>
                        <a:rPr sz="850" b="0" i="0">
                          <a:solidFill>
                            <a:srgbClr val="262626"/>
                          </a:solidFill>
                          <a:latin typeface="Arial"/>
                        </a:rPr>
                        <a:t>17:51</a:t>
                      </a:r>
                    </a:p>
                  </a:txBody>
                  <a:tcPr>
                    <a:solidFill>
                      <a:srgbClr val="FFFFFF"/>
                    </a:solidFill>
                  </a:tcPr>
                </a:tc>
                <a:tc>
                  <a:txBody>
                    <a:bodyPr wrap="none"/>
                    <a:lstStyle/>
                    <a:p>
                      <a:pPr algn="ctr"/>
                      <a:r>
                        <a:rPr sz="850" b="0" i="0">
                          <a:solidFill>
                            <a:srgbClr val="BFBFBF"/>
                          </a:solidFill>
                          <a:latin typeface="Arial"/>
                        </a:rPr>
                        <a:t>15/8</a:t>
                      </a:r>
                    </a:p>
                  </a:txBody>
                  <a:tcPr>
                    <a:solidFill>
                      <a:srgbClr val="FFFFFF"/>
                    </a:solidFill>
                  </a:tcPr>
                </a:tc>
              </a:tr>
              <a:tr h="256032">
                <a:tc>
                  <a:txBody>
                    <a:bodyPr wrap="none"/>
                    <a:lstStyle/>
                    <a:p>
                      <a:pPr algn="ctr"/>
                      <a:r>
                        <a:rPr sz="850" b="1" i="0">
                          <a:solidFill>
                            <a:srgbClr val="002060"/>
                          </a:solidFill>
                          <a:latin typeface="Arial"/>
                        </a:rPr>
                        <a:t>2</a:t>
                      </a:r>
                    </a:p>
                  </a:txBody>
                  <a:tcPr>
                    <a:solidFill>
                      <a:srgbClr val="F2F2F2"/>
                    </a:solidFill>
                  </a:tcPr>
                </a:tc>
                <a:tc>
                  <a:txBody>
                    <a:bodyPr wrap="none"/>
                    <a:lstStyle/>
                    <a:p>
                      <a:pPr algn="l"/>
                      <a:r>
                        <a:rPr sz="850" b="0" i="0">
                          <a:solidFill>
                            <a:srgbClr val="262626"/>
                          </a:solidFill>
                          <a:latin typeface="Arial"/>
                        </a:rPr>
                        <a:t>Ramón Armando Matute</a:t>
                      </a:r>
                    </a:p>
                  </a:txBody>
                  <a:tcPr>
                    <a:solidFill>
                      <a:srgbClr val="F2F2F2"/>
                    </a:solidFill>
                  </a:tcPr>
                </a:tc>
                <a:tc>
                  <a:txBody>
                    <a:bodyPr wrap="none"/>
                    <a:lstStyle/>
                    <a:p>
                      <a:pPr algn="ctr"/>
                      <a:r>
                        <a:rPr sz="850" b="1" i="0">
                          <a:solidFill>
                            <a:srgbClr val="262626"/>
                          </a:solidFill>
                          <a:latin typeface="Arial"/>
                        </a:rPr>
                        <a:t>95%</a:t>
                      </a:r>
                    </a:p>
                  </a:txBody>
                  <a:tcPr>
                    <a:solidFill>
                      <a:srgbClr val="F2F2F2"/>
                    </a:solidFill>
                  </a:tcPr>
                </a:tc>
                <a:tc>
                  <a:txBody>
                    <a:bodyPr wrap="none"/>
                    <a:lstStyle/>
                    <a:p>
                      <a:pPr algn="ctr"/>
                      <a:r>
                        <a:rPr sz="850" b="1" i="0">
                          <a:solidFill>
                            <a:srgbClr val="262626"/>
                          </a:solidFill>
                          <a:latin typeface="Arial"/>
                        </a:rPr>
                        <a:t>9:12</a:t>
                      </a:r>
                    </a:p>
                  </a:txBody>
                  <a:tcPr>
                    <a:solidFill>
                      <a:srgbClr val="F2F2F2"/>
                    </a:solidFill>
                  </a:tcPr>
                </a:tc>
                <a:tc>
                  <a:txBody>
                    <a:bodyPr wrap="none"/>
                    <a:lstStyle/>
                    <a:p>
                      <a:pPr algn="ctr"/>
                      <a:r>
                        <a:rPr sz="850" b="0" i="0">
                          <a:solidFill>
                            <a:srgbClr val="262626"/>
                          </a:solidFill>
                          <a:latin typeface="Arial"/>
                        </a:rPr>
                        <a:t>18:27</a:t>
                      </a:r>
                    </a:p>
                  </a:txBody>
                  <a:tcPr>
                    <a:solidFill>
                      <a:srgbClr val="F2F2F2"/>
                    </a:solidFill>
                  </a:tcPr>
                </a:tc>
                <a:tc>
                  <a:txBody>
                    <a:bodyPr wrap="none"/>
                    <a:lstStyle/>
                    <a:p>
                      <a:pPr algn="ctr"/>
                      <a:r>
                        <a:rPr sz="850" b="0" i="0">
                          <a:solidFill>
                            <a:srgbClr val="BFBFBF"/>
                          </a:solidFill>
                          <a:latin typeface="Arial"/>
                        </a:rPr>
                        <a:t>16/5</a:t>
                      </a:r>
                    </a:p>
                  </a:txBody>
                  <a:tcPr>
                    <a:solidFill>
                      <a:srgbClr val="F2F2F2"/>
                    </a:solidFill>
                  </a:tcPr>
                </a:tc>
              </a:tr>
              <a:tr h="256032">
                <a:tc>
                  <a:txBody>
                    <a:bodyPr wrap="none"/>
                    <a:lstStyle/>
                    <a:p>
                      <a:pPr algn="ctr"/>
                      <a:r>
                        <a:rPr sz="850" b="1" i="0">
                          <a:solidFill>
                            <a:srgbClr val="002060"/>
                          </a:solidFill>
                          <a:latin typeface="Arial"/>
                        </a:rPr>
                        <a:t>3</a:t>
                      </a:r>
                    </a:p>
                  </a:txBody>
                  <a:tcPr>
                    <a:solidFill>
                      <a:srgbClr val="FFFFFF"/>
                    </a:solidFill>
                  </a:tcPr>
                </a:tc>
                <a:tc>
                  <a:txBody>
                    <a:bodyPr wrap="none"/>
                    <a:lstStyle/>
                    <a:p>
                      <a:pPr algn="l"/>
                      <a:r>
                        <a:rPr sz="850" b="0" i="0">
                          <a:solidFill>
                            <a:srgbClr val="262626"/>
                          </a:solidFill>
                          <a:latin typeface="Arial"/>
                        </a:rPr>
                        <a:t>Pietro Giovannini</a:t>
                      </a:r>
                    </a:p>
                  </a:txBody>
                  <a:tcPr>
                    <a:solidFill>
                      <a:srgbClr val="FFFFFF"/>
                    </a:solidFill>
                  </a:tcPr>
                </a:tc>
                <a:tc>
                  <a:txBody>
                    <a:bodyPr wrap="none"/>
                    <a:lstStyle/>
                    <a:p>
                      <a:pPr algn="ctr"/>
                      <a:r>
                        <a:rPr sz="850" b="1" i="0">
                          <a:solidFill>
                            <a:srgbClr val="262626"/>
                          </a:solidFill>
                          <a:latin typeface="Arial"/>
                        </a:rPr>
                        <a:t>92%</a:t>
                      </a:r>
                    </a:p>
                  </a:txBody>
                  <a:tcPr>
                    <a:solidFill>
                      <a:srgbClr val="FFFFFF"/>
                    </a:solidFill>
                  </a:tcPr>
                </a:tc>
                <a:tc>
                  <a:txBody>
                    <a:bodyPr wrap="none"/>
                    <a:lstStyle/>
                    <a:p>
                      <a:pPr algn="ctr"/>
                      <a:r>
                        <a:rPr sz="850" b="1" i="0">
                          <a:solidFill>
                            <a:srgbClr val="262626"/>
                          </a:solidFill>
                          <a:latin typeface="Arial"/>
                        </a:rPr>
                        <a:t>8:49</a:t>
                      </a:r>
                    </a:p>
                  </a:txBody>
                  <a:tcPr>
                    <a:solidFill>
                      <a:srgbClr val="FFFFFF"/>
                    </a:solidFill>
                  </a:tcPr>
                </a:tc>
                <a:tc>
                  <a:txBody>
                    <a:bodyPr wrap="none"/>
                    <a:lstStyle/>
                    <a:p>
                      <a:pPr algn="ctr"/>
                      <a:r>
                        <a:rPr sz="850" b="0" i="0">
                          <a:solidFill>
                            <a:srgbClr val="262626"/>
                          </a:solidFill>
                          <a:latin typeface="Arial"/>
                        </a:rPr>
                        <a:t>17:59</a:t>
                      </a:r>
                    </a:p>
                  </a:txBody>
                  <a:tcPr>
                    <a:solidFill>
                      <a:srgbClr val="FFFFFF"/>
                    </a:solidFill>
                  </a:tcPr>
                </a:tc>
                <a:tc>
                  <a:txBody>
                    <a:bodyPr wrap="none"/>
                    <a:lstStyle/>
                    <a:p>
                      <a:pPr algn="ctr"/>
                      <a:r>
                        <a:rPr sz="850" b="0" i="0">
                          <a:solidFill>
                            <a:srgbClr val="BFBFBF"/>
                          </a:solidFill>
                          <a:latin typeface="Arial"/>
                        </a:rPr>
                        <a:t>8/5</a:t>
                      </a:r>
                    </a:p>
                  </a:txBody>
                  <a:tcPr>
                    <a:solidFill>
                      <a:srgbClr val="FFFFFF"/>
                    </a:solidFill>
                  </a:tcPr>
                </a:tc>
              </a:tr>
              <a:tr h="256032">
                <a:tc>
                  <a:txBody>
                    <a:bodyPr wrap="none"/>
                    <a:lstStyle/>
                    <a:p>
                      <a:pPr algn="ctr"/>
                      <a:r>
                        <a:rPr sz="850" b="1" i="0">
                          <a:solidFill>
                            <a:srgbClr val="002060"/>
                          </a:solidFill>
                          <a:latin typeface="Arial"/>
                        </a:rPr>
                        <a:t>4</a:t>
                      </a:r>
                    </a:p>
                  </a:txBody>
                  <a:tcPr>
                    <a:solidFill>
                      <a:srgbClr val="F2F2F2"/>
                    </a:solidFill>
                  </a:tcPr>
                </a:tc>
                <a:tc>
                  <a:txBody>
                    <a:bodyPr wrap="none"/>
                    <a:lstStyle/>
                    <a:p>
                      <a:pPr algn="l"/>
                      <a:r>
                        <a:rPr sz="850" b="0" i="0">
                          <a:solidFill>
                            <a:srgbClr val="262626"/>
                          </a:solidFill>
                          <a:latin typeface="Arial"/>
                        </a:rPr>
                        <a:t>Dylan McCullough</a:t>
                      </a:r>
                    </a:p>
                  </a:txBody>
                  <a:tcPr>
                    <a:solidFill>
                      <a:srgbClr val="F2F2F2"/>
                    </a:solidFill>
                  </a:tcPr>
                </a:tc>
                <a:tc>
                  <a:txBody>
                    <a:bodyPr wrap="none"/>
                    <a:lstStyle/>
                    <a:p>
                      <a:pPr algn="ctr"/>
                      <a:r>
                        <a:rPr sz="850" b="1" i="0">
                          <a:solidFill>
                            <a:srgbClr val="262626"/>
                          </a:solidFill>
                          <a:latin typeface="Arial"/>
                        </a:rPr>
                        <a:t>85%</a:t>
                      </a:r>
                    </a:p>
                  </a:txBody>
                  <a:tcPr>
                    <a:solidFill>
                      <a:srgbClr val="F2F2F2"/>
                    </a:solidFill>
                  </a:tcPr>
                </a:tc>
                <a:tc>
                  <a:txBody>
                    <a:bodyPr wrap="none"/>
                    <a:lstStyle/>
                    <a:p>
                      <a:pPr algn="ctr"/>
                      <a:r>
                        <a:rPr sz="850" b="1" i="0">
                          <a:solidFill>
                            <a:srgbClr val="262626"/>
                          </a:solidFill>
                          <a:latin typeface="Arial"/>
                        </a:rPr>
                        <a:t>8:30</a:t>
                      </a:r>
                    </a:p>
                  </a:txBody>
                  <a:tcPr>
                    <a:solidFill>
                      <a:srgbClr val="F2F2F2"/>
                    </a:solidFill>
                  </a:tcPr>
                </a:tc>
                <a:tc>
                  <a:txBody>
                    <a:bodyPr wrap="none"/>
                    <a:lstStyle/>
                    <a:p>
                      <a:pPr algn="ctr"/>
                      <a:r>
                        <a:rPr sz="850" b="0" i="0">
                          <a:solidFill>
                            <a:srgbClr val="262626"/>
                          </a:solidFill>
                          <a:latin typeface="Arial"/>
                        </a:rPr>
                        <a:t>17:25</a:t>
                      </a:r>
                    </a:p>
                  </a:txBody>
                  <a:tcPr>
                    <a:solidFill>
                      <a:srgbClr val="F2F2F2"/>
                    </a:solidFill>
                  </a:tcPr>
                </a:tc>
                <a:tc>
                  <a:txBody>
                    <a:bodyPr wrap="none"/>
                    <a:lstStyle/>
                    <a:p>
                      <a:pPr algn="ctr"/>
                      <a:r>
                        <a:rPr sz="850" b="0" i="0">
                          <a:solidFill>
                            <a:srgbClr val="BFBFBF"/>
                          </a:solidFill>
                          <a:latin typeface="Arial"/>
                        </a:rPr>
                        <a:t>13/7</a:t>
                      </a:r>
                    </a:p>
                  </a:txBody>
                  <a:tcPr>
                    <a:solidFill>
                      <a:srgbClr val="F2F2F2"/>
                    </a:solidFill>
                  </a:tcPr>
                </a:tc>
              </a:tr>
              <a:tr h="256032">
                <a:tc>
                  <a:txBody>
                    <a:bodyPr wrap="none"/>
                    <a:lstStyle/>
                    <a:p>
                      <a:pPr algn="ctr"/>
                      <a:r>
                        <a:rPr sz="850" b="1" i="0">
                          <a:solidFill>
                            <a:srgbClr val="002060"/>
                          </a:solidFill>
                          <a:latin typeface="Arial"/>
                        </a:rPr>
                        <a:t>5</a:t>
                      </a:r>
                    </a:p>
                  </a:txBody>
                  <a:tcPr>
                    <a:solidFill>
                      <a:srgbClr val="FFFFFF"/>
                    </a:solidFill>
                  </a:tcPr>
                </a:tc>
                <a:tc>
                  <a:txBody>
                    <a:bodyPr wrap="none"/>
                    <a:lstStyle/>
                    <a:p>
                      <a:pPr algn="l"/>
                      <a:r>
                        <a:rPr sz="850" b="0" i="0">
                          <a:solidFill>
                            <a:srgbClr val="262626"/>
                          </a:solidFill>
                          <a:latin typeface="Arial"/>
                        </a:rPr>
                        <a:t>Kevin Tarek Viñuela Gonzalez</a:t>
                      </a:r>
                    </a:p>
                  </a:txBody>
                  <a:tcPr>
                    <a:solidFill>
                      <a:srgbClr val="FFFFFF"/>
                    </a:solidFill>
                  </a:tcPr>
                </a:tc>
                <a:tc>
                  <a:txBody>
                    <a:bodyPr wrap="none"/>
                    <a:lstStyle/>
                    <a:p>
                      <a:pPr algn="ctr"/>
                      <a:r>
                        <a:rPr sz="850" b="1" i="0">
                          <a:solidFill>
                            <a:srgbClr val="262626"/>
                          </a:solidFill>
                          <a:latin typeface="Arial"/>
                        </a:rPr>
                        <a:t>74%</a:t>
                      </a:r>
                    </a:p>
                  </a:txBody>
                  <a:tcPr>
                    <a:solidFill>
                      <a:srgbClr val="FFFFFF"/>
                    </a:solidFill>
                  </a:tcPr>
                </a:tc>
                <a:tc>
                  <a:txBody>
                    <a:bodyPr wrap="none"/>
                    <a:lstStyle/>
                    <a:p>
                      <a:pPr algn="ctr"/>
                      <a:r>
                        <a:rPr sz="850" b="1" i="0">
                          <a:solidFill>
                            <a:srgbClr val="262626"/>
                          </a:solidFill>
                          <a:latin typeface="Arial"/>
                        </a:rPr>
                        <a:t>9:07</a:t>
                      </a:r>
                    </a:p>
                  </a:txBody>
                  <a:tcPr>
                    <a:solidFill>
                      <a:srgbClr val="FFFFFF"/>
                    </a:solidFill>
                  </a:tcPr>
                </a:tc>
                <a:tc>
                  <a:txBody>
                    <a:bodyPr wrap="none"/>
                    <a:lstStyle/>
                    <a:p>
                      <a:pPr algn="ctr"/>
                      <a:r>
                        <a:rPr sz="850" b="0" i="0">
                          <a:solidFill>
                            <a:srgbClr val="262626"/>
                          </a:solidFill>
                          <a:latin typeface="Arial"/>
                        </a:rPr>
                        <a:t>17:04</a:t>
                      </a:r>
                    </a:p>
                  </a:txBody>
                  <a:tcPr>
                    <a:solidFill>
                      <a:srgbClr val="FFFFFF"/>
                    </a:solidFill>
                  </a:tcPr>
                </a:tc>
                <a:tc>
                  <a:txBody>
                    <a:bodyPr wrap="none"/>
                    <a:lstStyle/>
                    <a:p>
                      <a:pPr algn="ctr"/>
                      <a:r>
                        <a:rPr sz="850" b="0" i="0">
                          <a:solidFill>
                            <a:srgbClr val="BFBFBF"/>
                          </a:solidFill>
                          <a:latin typeface="Arial"/>
                        </a:rPr>
                        <a:t>14/13</a:t>
                      </a:r>
                    </a:p>
                  </a:txBody>
                  <a:tcPr>
                    <a:solidFill>
                      <a:srgbClr val="FFFFFF"/>
                    </a:solidFill>
                  </a:tcPr>
                </a:tc>
              </a:tr>
              <a:tr h="256032">
                <a:tc>
                  <a:txBody>
                    <a:bodyPr wrap="none"/>
                    <a:lstStyle/>
                    <a:p>
                      <a:pPr algn="ctr"/>
                      <a:r>
                        <a:rPr sz="850" b="1" i="0">
                          <a:solidFill>
                            <a:srgbClr val="002060"/>
                          </a:solidFill>
                          <a:latin typeface="Arial"/>
                        </a:rPr>
                        <a:t>6</a:t>
                      </a:r>
                    </a:p>
                  </a:txBody>
                  <a:tcPr>
                    <a:solidFill>
                      <a:srgbClr val="F2F2F2"/>
                    </a:solidFill>
                  </a:tcPr>
                </a:tc>
                <a:tc>
                  <a:txBody>
                    <a:bodyPr wrap="none"/>
                    <a:lstStyle/>
                    <a:p>
                      <a:pPr algn="l"/>
                      <a:r>
                        <a:rPr sz="850" b="0" i="0">
                          <a:solidFill>
                            <a:srgbClr val="262626"/>
                          </a:solidFill>
                          <a:latin typeface="Arial"/>
                        </a:rPr>
                        <a:t>Filip Vilenica</a:t>
                      </a:r>
                    </a:p>
                  </a:txBody>
                  <a:tcPr>
                    <a:solidFill>
                      <a:srgbClr val="F2F2F2"/>
                    </a:solidFill>
                  </a:tcPr>
                </a:tc>
                <a:tc>
                  <a:txBody>
                    <a:bodyPr wrap="none"/>
                    <a:lstStyle/>
                    <a:p>
                      <a:pPr algn="ctr"/>
                      <a:r>
                        <a:rPr sz="850" b="1" i="0">
                          <a:solidFill>
                            <a:srgbClr val="262626"/>
                          </a:solidFill>
                          <a:latin typeface="Arial"/>
                        </a:rPr>
                        <a:t>67%</a:t>
                      </a:r>
                    </a:p>
                  </a:txBody>
                  <a:tcPr>
                    <a:solidFill>
                      <a:srgbClr val="F2F2F2"/>
                    </a:solidFill>
                  </a:tcPr>
                </a:tc>
                <a:tc>
                  <a:txBody>
                    <a:bodyPr wrap="none"/>
                    <a:lstStyle/>
                    <a:p>
                      <a:pPr algn="ctr"/>
                      <a:r>
                        <a:rPr sz="850" b="1" i="0">
                          <a:solidFill>
                            <a:srgbClr val="262626"/>
                          </a:solidFill>
                          <a:latin typeface="Arial"/>
                        </a:rPr>
                        <a:t>9:11</a:t>
                      </a:r>
                    </a:p>
                  </a:txBody>
                  <a:tcPr>
                    <a:solidFill>
                      <a:srgbClr val="F2F2F2"/>
                    </a:solidFill>
                  </a:tcPr>
                </a:tc>
                <a:tc>
                  <a:txBody>
                    <a:bodyPr wrap="none"/>
                    <a:lstStyle/>
                    <a:p>
                      <a:pPr algn="ctr"/>
                      <a:r>
                        <a:rPr sz="850" b="0" i="0">
                          <a:solidFill>
                            <a:srgbClr val="262626"/>
                          </a:solidFill>
                          <a:latin typeface="Arial"/>
                        </a:rPr>
                        <a:t>—</a:t>
                      </a:r>
                    </a:p>
                  </a:txBody>
                  <a:tcPr>
                    <a:solidFill>
                      <a:srgbClr val="F2F2F2"/>
                    </a:solidFill>
                  </a:tcPr>
                </a:tc>
                <a:tc>
                  <a:txBody>
                    <a:bodyPr wrap="none"/>
                    <a:lstStyle/>
                    <a:p>
                      <a:pPr algn="ctr"/>
                      <a:r>
                        <a:rPr sz="850" b="0" i="0">
                          <a:solidFill>
                            <a:srgbClr val="BFBFBF"/>
                          </a:solidFill>
                          <a:latin typeface="Arial"/>
                        </a:rPr>
                        <a:t>3/0</a:t>
                      </a:r>
                    </a:p>
                  </a:txBody>
                  <a:tcPr>
                    <a:solidFill>
                      <a:srgbClr val="F2F2F2"/>
                    </a:solidFill>
                  </a:tcPr>
                </a:tc>
              </a:tr>
              <a:tr h="256032">
                <a:tc>
                  <a:txBody>
                    <a:bodyPr wrap="none"/>
                    <a:lstStyle/>
                    <a:p>
                      <a:pPr algn="ctr"/>
                      <a:r>
                        <a:rPr sz="850" b="1" i="0">
                          <a:solidFill>
                            <a:srgbClr val="002060"/>
                          </a:solidFill>
                          <a:latin typeface="Arial"/>
                        </a:rPr>
                        <a:t>7</a:t>
                      </a:r>
                    </a:p>
                  </a:txBody>
                  <a:tcPr>
                    <a:solidFill>
                      <a:srgbClr val="FFFFFF"/>
                    </a:solidFill>
                  </a:tcPr>
                </a:tc>
                <a:tc>
                  <a:txBody>
                    <a:bodyPr wrap="none"/>
                    <a:lstStyle/>
                    <a:p>
                      <a:pPr algn="l"/>
                      <a:r>
                        <a:rPr sz="850" b="0" i="0">
                          <a:solidFill>
                            <a:srgbClr val="262626"/>
                          </a:solidFill>
                          <a:latin typeface="Arial"/>
                        </a:rPr>
                        <a:t>Martin Demuth</a:t>
                      </a:r>
                    </a:p>
                  </a:txBody>
                  <a:tcPr>
                    <a:solidFill>
                      <a:srgbClr val="FFFFFF"/>
                    </a:solidFill>
                  </a:tcPr>
                </a:tc>
                <a:tc>
                  <a:txBody>
                    <a:bodyPr wrap="none"/>
                    <a:lstStyle/>
                    <a:p>
                      <a:pPr algn="ctr"/>
                      <a:r>
                        <a:rPr sz="850" b="1" i="0">
                          <a:solidFill>
                            <a:srgbClr val="262626"/>
                          </a:solidFill>
                          <a:latin typeface="Arial"/>
                        </a:rPr>
                        <a:t>64%</a:t>
                      </a:r>
                    </a:p>
                  </a:txBody>
                  <a:tcPr>
                    <a:solidFill>
                      <a:srgbClr val="FFFFFF"/>
                    </a:solidFill>
                  </a:tcPr>
                </a:tc>
                <a:tc>
                  <a:txBody>
                    <a:bodyPr wrap="none"/>
                    <a:lstStyle/>
                    <a:p>
                      <a:pPr algn="ctr"/>
                      <a:r>
                        <a:rPr sz="850" b="1" i="0">
                          <a:solidFill>
                            <a:srgbClr val="262626"/>
                          </a:solidFill>
                          <a:latin typeface="Arial"/>
                        </a:rPr>
                        <a:t>9:07</a:t>
                      </a:r>
                    </a:p>
                  </a:txBody>
                  <a:tcPr>
                    <a:solidFill>
                      <a:srgbClr val="FFFFFF"/>
                    </a:solidFill>
                  </a:tcPr>
                </a:tc>
                <a:tc>
                  <a:txBody>
                    <a:bodyPr wrap="none"/>
                    <a:lstStyle/>
                    <a:p>
                      <a:pPr algn="ctr"/>
                      <a:r>
                        <a:rPr sz="850" b="0" i="0">
                          <a:solidFill>
                            <a:srgbClr val="262626"/>
                          </a:solidFill>
                          <a:latin typeface="Arial"/>
                        </a:rPr>
                        <a:t>17:15</a:t>
                      </a:r>
                    </a:p>
                  </a:txBody>
                  <a:tcPr>
                    <a:solidFill>
                      <a:srgbClr val="FFFFFF"/>
                    </a:solidFill>
                  </a:tcPr>
                </a:tc>
                <a:tc>
                  <a:txBody>
                    <a:bodyPr wrap="none"/>
                    <a:lstStyle/>
                    <a:p>
                      <a:pPr algn="ctr"/>
                      <a:r>
                        <a:rPr sz="850" b="0" i="0">
                          <a:solidFill>
                            <a:srgbClr val="BFBFBF"/>
                          </a:solidFill>
                          <a:latin typeface="Arial"/>
                        </a:rPr>
                        <a:t>16/12</a:t>
                      </a:r>
                    </a:p>
                  </a:txBody>
                  <a:tcPr>
                    <a:solidFill>
                      <a:srgbClr val="FFFFFF"/>
                    </a:solidFill>
                  </a:tcPr>
                </a:tc>
              </a:tr>
              <a:tr h="256032">
                <a:tc>
                  <a:txBody>
                    <a:bodyPr wrap="none"/>
                    <a:lstStyle/>
                    <a:p>
                      <a:pPr algn="ctr"/>
                      <a:r>
                        <a:rPr sz="850" b="1" i="0">
                          <a:solidFill>
                            <a:srgbClr val="002060"/>
                          </a:solidFill>
                          <a:latin typeface="Arial"/>
                        </a:rPr>
                        <a:t>8</a:t>
                      </a:r>
                    </a:p>
                  </a:txBody>
                  <a:tcPr>
                    <a:solidFill>
                      <a:srgbClr val="F2F2F2"/>
                    </a:solidFill>
                  </a:tcPr>
                </a:tc>
                <a:tc>
                  <a:txBody>
                    <a:bodyPr wrap="none"/>
                    <a:lstStyle/>
                    <a:p>
                      <a:pPr algn="l"/>
                      <a:r>
                        <a:rPr sz="850" b="0" i="0">
                          <a:solidFill>
                            <a:srgbClr val="262626"/>
                          </a:solidFill>
                          <a:latin typeface="Arial"/>
                        </a:rPr>
                        <a:t>Gabriel Terán Carvajal</a:t>
                      </a:r>
                    </a:p>
                  </a:txBody>
                  <a:tcPr>
                    <a:solidFill>
                      <a:srgbClr val="F2F2F2"/>
                    </a:solidFill>
                  </a:tcPr>
                </a:tc>
                <a:tc>
                  <a:txBody>
                    <a:bodyPr wrap="none"/>
                    <a:lstStyle/>
                    <a:p>
                      <a:pPr algn="ctr"/>
                      <a:r>
                        <a:rPr sz="850" b="1" i="0">
                          <a:solidFill>
                            <a:srgbClr val="262626"/>
                          </a:solidFill>
                          <a:latin typeface="Arial"/>
                        </a:rPr>
                        <a:t>64%</a:t>
                      </a:r>
                    </a:p>
                  </a:txBody>
                  <a:tcPr>
                    <a:solidFill>
                      <a:srgbClr val="F2F2F2"/>
                    </a:solidFill>
                  </a:tcPr>
                </a:tc>
                <a:tc>
                  <a:txBody>
                    <a:bodyPr wrap="none"/>
                    <a:lstStyle/>
                    <a:p>
                      <a:pPr algn="ctr"/>
                      <a:r>
                        <a:rPr sz="850" b="1" i="0">
                          <a:solidFill>
                            <a:srgbClr val="262626"/>
                          </a:solidFill>
                          <a:latin typeface="Arial"/>
                        </a:rPr>
                        <a:t>8:57</a:t>
                      </a:r>
                    </a:p>
                  </a:txBody>
                  <a:tcPr>
                    <a:solidFill>
                      <a:srgbClr val="F2F2F2"/>
                    </a:solidFill>
                  </a:tcPr>
                </a:tc>
                <a:tc>
                  <a:txBody>
                    <a:bodyPr wrap="none"/>
                    <a:lstStyle/>
                    <a:p>
                      <a:pPr algn="ctr"/>
                      <a:r>
                        <a:rPr sz="850" b="0" i="0">
                          <a:solidFill>
                            <a:srgbClr val="262626"/>
                          </a:solidFill>
                          <a:latin typeface="Arial"/>
                        </a:rPr>
                        <a:t>18:40</a:t>
                      </a:r>
                    </a:p>
                  </a:txBody>
                  <a:tcPr>
                    <a:solidFill>
                      <a:srgbClr val="F2F2F2"/>
                    </a:solidFill>
                  </a:tcPr>
                </a:tc>
                <a:tc>
                  <a:txBody>
                    <a:bodyPr wrap="none"/>
                    <a:lstStyle/>
                    <a:p>
                      <a:pPr algn="ctr"/>
                      <a:r>
                        <a:rPr sz="850" b="0" i="0">
                          <a:solidFill>
                            <a:srgbClr val="BFBFBF"/>
                          </a:solidFill>
                          <a:latin typeface="Arial"/>
                        </a:rPr>
                        <a:t>19/6</a:t>
                      </a:r>
                    </a:p>
                  </a:txBody>
                  <a:tcPr>
                    <a:solidFill>
                      <a:srgbClr val="F2F2F2"/>
                    </a:solidFill>
                  </a:tcPr>
                </a:tc>
              </a:tr>
              <a:tr h="256032">
                <a:tc>
                  <a:txBody>
                    <a:bodyPr wrap="none"/>
                    <a:lstStyle/>
                    <a:p>
                      <a:pPr algn="ctr"/>
                      <a:r>
                        <a:rPr sz="850" b="1" i="0">
                          <a:solidFill>
                            <a:srgbClr val="002060"/>
                          </a:solidFill>
                          <a:latin typeface="Arial"/>
                        </a:rPr>
                        <a:t>9</a:t>
                      </a:r>
                    </a:p>
                  </a:txBody>
                  <a:tcPr>
                    <a:solidFill>
                      <a:srgbClr val="FFFFFF"/>
                    </a:solidFill>
                  </a:tcPr>
                </a:tc>
                <a:tc>
                  <a:txBody>
                    <a:bodyPr wrap="none"/>
                    <a:lstStyle/>
                    <a:p>
                      <a:pPr algn="l"/>
                      <a:r>
                        <a:rPr sz="850" b="1" i="0">
                          <a:solidFill>
                            <a:srgbClr val="C00000"/>
                          </a:solidFill>
                          <a:latin typeface="Arial"/>
                        </a:rPr>
                        <a:t>Braxton Legg</a:t>
                      </a:r>
                    </a:p>
                  </a:txBody>
                  <a:tcPr>
                    <a:solidFill>
                      <a:srgbClr val="FFFFFF"/>
                    </a:solidFill>
                  </a:tcPr>
                </a:tc>
                <a:tc>
                  <a:txBody>
                    <a:bodyPr wrap="none"/>
                    <a:lstStyle/>
                    <a:p>
                      <a:pPr algn="ctr"/>
                      <a:r>
                        <a:rPr sz="850" b="1" i="0">
                          <a:solidFill>
                            <a:srgbClr val="262626"/>
                          </a:solidFill>
                          <a:latin typeface="Arial"/>
                        </a:rPr>
                        <a:t>64%</a:t>
                      </a:r>
                    </a:p>
                  </a:txBody>
                  <a:tcPr>
                    <a:solidFill>
                      <a:srgbClr val="FFFFFF"/>
                    </a:solidFill>
                  </a:tcPr>
                </a:tc>
                <a:tc>
                  <a:txBody>
                    <a:bodyPr wrap="none"/>
                    <a:lstStyle/>
                    <a:p>
                      <a:pPr algn="ctr"/>
                      <a:r>
                        <a:rPr sz="850" b="1" i="0">
                          <a:solidFill>
                            <a:srgbClr val="262626"/>
                          </a:solidFill>
                          <a:latin typeface="Arial"/>
                        </a:rPr>
                        <a:t>8:53</a:t>
                      </a:r>
                    </a:p>
                  </a:txBody>
                  <a:tcPr>
                    <a:solidFill>
                      <a:srgbClr val="FFFFFF"/>
                    </a:solidFill>
                  </a:tcPr>
                </a:tc>
                <a:tc>
                  <a:txBody>
                    <a:bodyPr wrap="none"/>
                    <a:lstStyle/>
                    <a:p>
                      <a:pPr algn="ctr"/>
                      <a:r>
                        <a:rPr sz="850" b="0" i="0">
                          <a:solidFill>
                            <a:srgbClr val="262626"/>
                          </a:solidFill>
                          <a:latin typeface="Arial"/>
                        </a:rPr>
                        <a:t>18:46</a:t>
                      </a:r>
                    </a:p>
                  </a:txBody>
                  <a:tcPr>
                    <a:solidFill>
                      <a:srgbClr val="FFFFFF"/>
                    </a:solidFill>
                  </a:tcPr>
                </a:tc>
                <a:tc>
                  <a:txBody>
                    <a:bodyPr wrap="none"/>
                    <a:lstStyle/>
                    <a:p>
                      <a:pPr algn="ctr"/>
                      <a:r>
                        <a:rPr sz="850" b="0" i="0">
                          <a:solidFill>
                            <a:srgbClr val="BFBFBF"/>
                          </a:solidFill>
                          <a:latin typeface="Arial"/>
                        </a:rPr>
                        <a:t>10/1</a:t>
                      </a:r>
                    </a:p>
                  </a:txBody>
                  <a:tcPr>
                    <a:solidFill>
                      <a:srgbClr val="FFFFFF"/>
                    </a:solidFill>
                  </a:tcPr>
                </a:tc>
              </a:tr>
              <a:tr h="256032">
                <a:tc>
                  <a:txBody>
                    <a:bodyPr wrap="none"/>
                    <a:lstStyle/>
                    <a:p>
                      <a:pPr algn="ctr"/>
                      <a:r>
                        <a:rPr sz="850" b="1" i="0">
                          <a:solidFill>
                            <a:srgbClr val="002060"/>
                          </a:solidFill>
                          <a:latin typeface="Arial"/>
                        </a:rPr>
                        <a:t>10</a:t>
                      </a:r>
                    </a:p>
                  </a:txBody>
                  <a:tcPr>
                    <a:solidFill>
                      <a:srgbClr val="F2F2F2"/>
                    </a:solidFill>
                  </a:tcPr>
                </a:tc>
                <a:tc>
                  <a:txBody>
                    <a:bodyPr wrap="none"/>
                    <a:lstStyle/>
                    <a:p>
                      <a:pPr algn="l"/>
                      <a:r>
                        <a:rPr sz="850" b="0" i="0">
                          <a:solidFill>
                            <a:srgbClr val="262626"/>
                          </a:solidFill>
                          <a:latin typeface="Arial"/>
                        </a:rPr>
                        <a:t>Kauê Willy</a:t>
                      </a:r>
                    </a:p>
                  </a:txBody>
                  <a:tcPr>
                    <a:solidFill>
                      <a:srgbClr val="F2F2F2"/>
                    </a:solidFill>
                  </a:tcPr>
                </a:tc>
                <a:tc>
                  <a:txBody>
                    <a:bodyPr wrap="none"/>
                    <a:lstStyle/>
                    <a:p>
                      <a:pPr algn="ctr"/>
                      <a:r>
                        <a:rPr sz="850" b="1" i="0">
                          <a:solidFill>
                            <a:srgbClr val="262626"/>
                          </a:solidFill>
                          <a:latin typeface="Arial"/>
                        </a:rPr>
                        <a:t>57%</a:t>
                      </a:r>
                    </a:p>
                  </a:txBody>
                  <a:tcPr>
                    <a:solidFill>
                      <a:srgbClr val="F2F2F2"/>
                    </a:solidFill>
                  </a:tcPr>
                </a:tc>
                <a:tc>
                  <a:txBody>
                    <a:bodyPr wrap="none"/>
                    <a:lstStyle/>
                    <a:p>
                      <a:pPr algn="ctr"/>
                      <a:r>
                        <a:rPr sz="850" b="1" i="0">
                          <a:solidFill>
                            <a:srgbClr val="262626"/>
                          </a:solidFill>
                          <a:latin typeface="Arial"/>
                        </a:rPr>
                        <a:t>9:19</a:t>
                      </a:r>
                    </a:p>
                  </a:txBody>
                  <a:tcPr>
                    <a:solidFill>
                      <a:srgbClr val="F2F2F2"/>
                    </a:solidFill>
                  </a:tcPr>
                </a:tc>
                <a:tc>
                  <a:txBody>
                    <a:bodyPr wrap="none"/>
                    <a:lstStyle/>
                    <a:p>
                      <a:pPr algn="ctr"/>
                      <a:r>
                        <a:rPr sz="850" b="0" i="0">
                          <a:solidFill>
                            <a:srgbClr val="262626"/>
                          </a:solidFill>
                          <a:latin typeface="Arial"/>
                        </a:rPr>
                        <a:t>18:32</a:t>
                      </a:r>
                    </a:p>
                  </a:txBody>
                  <a:tcPr>
                    <a:solidFill>
                      <a:srgbClr val="F2F2F2"/>
                    </a:solidFill>
                  </a:tcPr>
                </a:tc>
                <a:tc>
                  <a:txBody>
                    <a:bodyPr wrap="none"/>
                    <a:lstStyle/>
                    <a:p>
                      <a:pPr algn="ctr"/>
                      <a:r>
                        <a:rPr sz="850" b="0" i="0">
                          <a:solidFill>
                            <a:srgbClr val="BFBFBF"/>
                          </a:solidFill>
                          <a:latin typeface="Arial"/>
                        </a:rPr>
                        <a:t>17/6</a:t>
                      </a:r>
                    </a:p>
                  </a:txBody>
                  <a:tcPr>
                    <a:solidFill>
                      <a:srgbClr val="F2F2F2"/>
                    </a:solidFill>
                  </a:tcPr>
                </a:tc>
              </a:tr>
              <a:tr h="256032">
                <a:tc>
                  <a:txBody>
                    <a:bodyPr wrap="none"/>
                    <a:lstStyle/>
                    <a:p>
                      <a:pPr algn="ctr"/>
                      <a:r>
                        <a:rPr sz="850" b="1" i="0">
                          <a:solidFill>
                            <a:srgbClr val="002060"/>
                          </a:solidFill>
                          <a:latin typeface="Arial"/>
                        </a:rPr>
                        <a:t>11</a:t>
                      </a:r>
                    </a:p>
                  </a:txBody>
                  <a:tcPr>
                    <a:solidFill>
                      <a:srgbClr val="FFFFFF"/>
                    </a:solidFill>
                  </a:tcPr>
                </a:tc>
                <a:tc>
                  <a:txBody>
                    <a:bodyPr wrap="none"/>
                    <a:lstStyle/>
                    <a:p>
                      <a:pPr algn="l"/>
                      <a:r>
                        <a:rPr sz="850" b="0" i="0">
                          <a:solidFill>
                            <a:srgbClr val="262626"/>
                          </a:solidFill>
                          <a:latin typeface="Arial"/>
                        </a:rPr>
                        <a:t>James Corbett</a:t>
                      </a:r>
                    </a:p>
                  </a:txBody>
                  <a:tcPr>
                    <a:solidFill>
                      <a:srgbClr val="FFFFFF"/>
                    </a:solidFill>
                  </a:tcPr>
                </a:tc>
                <a:tc>
                  <a:txBody>
                    <a:bodyPr wrap="none"/>
                    <a:lstStyle/>
                    <a:p>
                      <a:pPr algn="ctr"/>
                      <a:r>
                        <a:rPr sz="850" b="1" i="0">
                          <a:solidFill>
                            <a:srgbClr val="262626"/>
                          </a:solidFill>
                          <a:latin typeface="Arial"/>
                        </a:rPr>
                        <a:t>56%</a:t>
                      </a:r>
                    </a:p>
                  </a:txBody>
                  <a:tcPr>
                    <a:solidFill>
                      <a:srgbClr val="FFFFFF"/>
                    </a:solidFill>
                  </a:tcPr>
                </a:tc>
                <a:tc>
                  <a:txBody>
                    <a:bodyPr wrap="none"/>
                    <a:lstStyle/>
                    <a:p>
                      <a:pPr algn="ctr"/>
                      <a:r>
                        <a:rPr sz="850" b="1" i="0">
                          <a:solidFill>
                            <a:srgbClr val="262626"/>
                          </a:solidFill>
                          <a:latin typeface="Arial"/>
                        </a:rPr>
                        <a:t>9:03</a:t>
                      </a:r>
                    </a:p>
                  </a:txBody>
                  <a:tcPr>
                    <a:solidFill>
                      <a:srgbClr val="FFFFFF"/>
                    </a:solidFill>
                  </a:tcPr>
                </a:tc>
                <a:tc>
                  <a:txBody>
                    <a:bodyPr wrap="none"/>
                    <a:lstStyle/>
                    <a:p>
                      <a:pPr algn="ctr"/>
                      <a:r>
                        <a:rPr sz="850" b="0" i="0">
                          <a:solidFill>
                            <a:srgbClr val="262626"/>
                          </a:solidFill>
                          <a:latin typeface="Arial"/>
                        </a:rPr>
                        <a:t>18:04</a:t>
                      </a:r>
                    </a:p>
                  </a:txBody>
                  <a:tcPr>
                    <a:solidFill>
                      <a:srgbClr val="FFFFFF"/>
                    </a:solidFill>
                  </a:tcPr>
                </a:tc>
                <a:tc>
                  <a:txBody>
                    <a:bodyPr wrap="none"/>
                    <a:lstStyle/>
                    <a:p>
                      <a:pPr algn="ctr"/>
                      <a:r>
                        <a:rPr sz="850" b="0" i="0">
                          <a:solidFill>
                            <a:srgbClr val="BFBFBF"/>
                          </a:solidFill>
                          <a:latin typeface="Arial"/>
                        </a:rPr>
                        <a:t>17/8</a:t>
                      </a:r>
                    </a:p>
                  </a:txBody>
                  <a:tcPr>
                    <a:solidFill>
                      <a:srgbClr val="FFFFFF"/>
                    </a:solidFill>
                  </a:tcPr>
                </a:tc>
              </a:tr>
              <a:tr h="256032">
                <a:tc>
                  <a:txBody>
                    <a:bodyPr wrap="none"/>
                    <a:lstStyle/>
                    <a:p>
                      <a:pPr algn="ctr"/>
                      <a:r>
                        <a:rPr sz="850" b="1" i="0">
                          <a:solidFill>
                            <a:srgbClr val="002060"/>
                          </a:solidFill>
                          <a:latin typeface="Arial"/>
                        </a:rPr>
                        <a:t>12</a:t>
                      </a:r>
                    </a:p>
                  </a:txBody>
                  <a:tcPr>
                    <a:solidFill>
                      <a:srgbClr val="F2F2F2"/>
                    </a:solidFill>
                  </a:tcPr>
                </a:tc>
                <a:tc>
                  <a:txBody>
                    <a:bodyPr wrap="none"/>
                    <a:lstStyle/>
                    <a:p>
                      <a:pPr algn="l"/>
                      <a:r>
                        <a:rPr sz="850" b="0" i="0">
                          <a:solidFill>
                            <a:srgbClr val="262626"/>
                          </a:solidFill>
                          <a:latin typeface="Arial"/>
                        </a:rPr>
                        <a:t>Dylan Didier Campa Carranza</a:t>
                      </a:r>
                    </a:p>
                  </a:txBody>
                  <a:tcPr>
                    <a:solidFill>
                      <a:srgbClr val="F2F2F2"/>
                    </a:solidFill>
                  </a:tcPr>
                </a:tc>
                <a:tc>
                  <a:txBody>
                    <a:bodyPr wrap="none"/>
                    <a:lstStyle/>
                    <a:p>
                      <a:pPr algn="ctr"/>
                      <a:r>
                        <a:rPr sz="850" b="1" i="0">
                          <a:solidFill>
                            <a:srgbClr val="262626"/>
                          </a:solidFill>
                          <a:latin typeface="Arial"/>
                        </a:rPr>
                        <a:t>55%</a:t>
                      </a:r>
                    </a:p>
                  </a:txBody>
                  <a:tcPr>
                    <a:solidFill>
                      <a:srgbClr val="F2F2F2"/>
                    </a:solidFill>
                  </a:tcPr>
                </a:tc>
                <a:tc>
                  <a:txBody>
                    <a:bodyPr wrap="none"/>
                    <a:lstStyle/>
                    <a:p>
                      <a:pPr algn="ctr"/>
                      <a:r>
                        <a:rPr sz="850" b="1" i="0">
                          <a:solidFill>
                            <a:srgbClr val="262626"/>
                          </a:solidFill>
                          <a:latin typeface="Arial"/>
                        </a:rPr>
                        <a:t>9:07</a:t>
                      </a:r>
                    </a:p>
                  </a:txBody>
                  <a:tcPr>
                    <a:solidFill>
                      <a:srgbClr val="F2F2F2"/>
                    </a:solidFill>
                  </a:tcPr>
                </a:tc>
                <a:tc>
                  <a:txBody>
                    <a:bodyPr wrap="none"/>
                    <a:lstStyle/>
                    <a:p>
                      <a:pPr algn="ctr"/>
                      <a:r>
                        <a:rPr sz="850" b="0" i="0">
                          <a:solidFill>
                            <a:srgbClr val="262626"/>
                          </a:solidFill>
                          <a:latin typeface="Arial"/>
                        </a:rPr>
                        <a:t>16:41</a:t>
                      </a:r>
                    </a:p>
                  </a:txBody>
                  <a:tcPr>
                    <a:solidFill>
                      <a:srgbClr val="F2F2F2"/>
                    </a:solidFill>
                  </a:tcPr>
                </a:tc>
                <a:tc>
                  <a:txBody>
                    <a:bodyPr wrap="none"/>
                    <a:lstStyle/>
                    <a:p>
                      <a:pPr algn="ctr"/>
                      <a:r>
                        <a:rPr sz="850" b="0" i="0">
                          <a:solidFill>
                            <a:srgbClr val="BFBFBF"/>
                          </a:solidFill>
                          <a:latin typeface="Arial"/>
                        </a:rPr>
                        <a:t>18/4</a:t>
                      </a:r>
                    </a:p>
                  </a:txBody>
                  <a:tcPr>
                    <a:solidFill>
                      <a:srgbClr val="F2F2F2"/>
                    </a:solidFill>
                  </a:tcPr>
                </a:tc>
              </a:tr>
              <a:tr h="256032">
                <a:tc>
                  <a:txBody>
                    <a:bodyPr wrap="none"/>
                    <a:lstStyle/>
                    <a:p>
                      <a:pPr algn="ctr"/>
                      <a:r>
                        <a:rPr sz="850" b="1" i="0">
                          <a:solidFill>
                            <a:srgbClr val="002060"/>
                          </a:solidFill>
                          <a:latin typeface="Arial"/>
                        </a:rPr>
                        <a:t>13</a:t>
                      </a:r>
                    </a:p>
                  </a:txBody>
                  <a:tcPr>
                    <a:solidFill>
                      <a:srgbClr val="FFFFFF"/>
                    </a:solidFill>
                  </a:tcPr>
                </a:tc>
                <a:tc>
                  <a:txBody>
                    <a:bodyPr wrap="none"/>
                    <a:lstStyle/>
                    <a:p>
                      <a:pPr algn="l"/>
                      <a:r>
                        <a:rPr sz="850" b="0" i="0">
                          <a:solidFill>
                            <a:srgbClr val="262626"/>
                          </a:solidFill>
                          <a:latin typeface="Arial"/>
                        </a:rPr>
                        <a:t>Badr Siwane</a:t>
                      </a:r>
                    </a:p>
                  </a:txBody>
                  <a:tcPr>
                    <a:solidFill>
                      <a:srgbClr val="FFFFFF"/>
                    </a:solidFill>
                  </a:tcPr>
                </a:tc>
                <a:tc>
                  <a:txBody>
                    <a:bodyPr wrap="none"/>
                    <a:lstStyle/>
                    <a:p>
                      <a:pPr algn="ctr"/>
                      <a:r>
                        <a:rPr sz="850" b="1" i="0">
                          <a:solidFill>
                            <a:srgbClr val="262626"/>
                          </a:solidFill>
                          <a:latin typeface="Arial"/>
                        </a:rPr>
                        <a:t>54%</a:t>
                      </a:r>
                    </a:p>
                  </a:txBody>
                  <a:tcPr>
                    <a:solidFill>
                      <a:srgbClr val="FFFFFF"/>
                    </a:solidFill>
                  </a:tcPr>
                </a:tc>
                <a:tc>
                  <a:txBody>
                    <a:bodyPr wrap="none"/>
                    <a:lstStyle/>
                    <a:p>
                      <a:pPr algn="ctr"/>
                      <a:r>
                        <a:rPr sz="850" b="1" i="0">
                          <a:solidFill>
                            <a:srgbClr val="262626"/>
                          </a:solidFill>
                          <a:latin typeface="Arial"/>
                        </a:rPr>
                        <a:t>10:52</a:t>
                      </a:r>
                    </a:p>
                  </a:txBody>
                  <a:tcPr>
                    <a:solidFill>
                      <a:srgbClr val="FFFFFF"/>
                    </a:solidFill>
                  </a:tcPr>
                </a:tc>
                <a:tc>
                  <a:txBody>
                    <a:bodyPr wrap="none"/>
                    <a:lstStyle/>
                    <a:p>
                      <a:pPr algn="ctr"/>
                      <a:r>
                        <a:rPr sz="850" b="0" i="0">
                          <a:solidFill>
                            <a:srgbClr val="262626"/>
                          </a:solidFill>
                          <a:latin typeface="Arial"/>
                        </a:rPr>
                        <a:t>18:22</a:t>
                      </a:r>
                    </a:p>
                  </a:txBody>
                  <a:tcPr>
                    <a:solidFill>
                      <a:srgbClr val="FFFFFF"/>
                    </a:solidFill>
                  </a:tcPr>
                </a:tc>
                <a:tc>
                  <a:txBody>
                    <a:bodyPr wrap="none"/>
                    <a:lstStyle/>
                    <a:p>
                      <a:pPr algn="ctr"/>
                      <a:r>
                        <a:rPr sz="850" b="0" i="0">
                          <a:solidFill>
                            <a:srgbClr val="BFBFBF"/>
                          </a:solidFill>
                          <a:latin typeface="Arial"/>
                        </a:rPr>
                        <a:t>20/8</a:t>
                      </a:r>
                    </a:p>
                  </a:txBody>
                  <a:tcPr>
                    <a:solidFill>
                      <a:srgbClr val="FFFFFF"/>
                    </a:solidFill>
                  </a:tcPr>
                </a:tc>
              </a:tr>
              <a:tr h="256032">
                <a:tc>
                  <a:txBody>
                    <a:bodyPr wrap="none"/>
                    <a:lstStyle/>
                    <a:p>
                      <a:pPr algn="ctr"/>
                      <a:r>
                        <a:rPr sz="850" b="1" i="0">
                          <a:solidFill>
                            <a:srgbClr val="002060"/>
                          </a:solidFill>
                          <a:latin typeface="Arial"/>
                        </a:rPr>
                        <a:t>14</a:t>
                      </a:r>
                    </a:p>
                  </a:txBody>
                  <a:tcPr>
                    <a:solidFill>
                      <a:srgbClr val="F2F2F2"/>
                    </a:solidFill>
                  </a:tcPr>
                </a:tc>
                <a:tc>
                  <a:txBody>
                    <a:bodyPr wrap="none"/>
                    <a:lstStyle/>
                    <a:p>
                      <a:pPr algn="l"/>
                      <a:r>
                        <a:rPr sz="850" b="0" i="0">
                          <a:solidFill>
                            <a:srgbClr val="262626"/>
                          </a:solidFill>
                          <a:latin typeface="Arial"/>
                        </a:rPr>
                        <a:t>Tyler Smith</a:t>
                      </a:r>
                    </a:p>
                  </a:txBody>
                  <a:tcPr>
                    <a:solidFill>
                      <a:srgbClr val="F2F2F2"/>
                    </a:solidFill>
                  </a:tcPr>
                </a:tc>
                <a:tc>
                  <a:txBody>
                    <a:bodyPr wrap="none"/>
                    <a:lstStyle/>
                    <a:p>
                      <a:pPr algn="ctr"/>
                      <a:r>
                        <a:rPr sz="850" b="1" i="0">
                          <a:solidFill>
                            <a:srgbClr val="262626"/>
                          </a:solidFill>
                          <a:latin typeface="Arial"/>
                        </a:rPr>
                        <a:t>47%</a:t>
                      </a:r>
                    </a:p>
                  </a:txBody>
                  <a:tcPr>
                    <a:solidFill>
                      <a:srgbClr val="F2F2F2"/>
                    </a:solidFill>
                  </a:tcPr>
                </a:tc>
                <a:tc>
                  <a:txBody>
                    <a:bodyPr wrap="none"/>
                    <a:lstStyle/>
                    <a:p>
                      <a:pPr algn="ctr"/>
                      <a:r>
                        <a:rPr sz="850" b="1" i="0">
                          <a:solidFill>
                            <a:srgbClr val="262626"/>
                          </a:solidFill>
                          <a:latin typeface="Arial"/>
                        </a:rPr>
                        <a:t>9:30</a:t>
                      </a:r>
                    </a:p>
                  </a:txBody>
                  <a:tcPr>
                    <a:solidFill>
                      <a:srgbClr val="F2F2F2"/>
                    </a:solidFill>
                  </a:tcPr>
                </a:tc>
                <a:tc>
                  <a:txBody>
                    <a:bodyPr wrap="none"/>
                    <a:lstStyle/>
                    <a:p>
                      <a:pPr algn="ctr"/>
                      <a:r>
                        <a:rPr sz="850" b="0" i="0">
                          <a:solidFill>
                            <a:srgbClr val="262626"/>
                          </a:solidFill>
                          <a:latin typeface="Arial"/>
                        </a:rPr>
                        <a:t>17:41</a:t>
                      </a:r>
                    </a:p>
                  </a:txBody>
                  <a:tcPr>
                    <a:solidFill>
                      <a:srgbClr val="F2F2F2"/>
                    </a:solidFill>
                  </a:tcPr>
                </a:tc>
                <a:tc>
                  <a:txBody>
                    <a:bodyPr wrap="none"/>
                    <a:lstStyle/>
                    <a:p>
                      <a:pPr algn="ctr"/>
                      <a:r>
                        <a:rPr sz="850" b="0" i="0">
                          <a:solidFill>
                            <a:srgbClr val="BFBFBF"/>
                          </a:solidFill>
                          <a:latin typeface="Arial"/>
                        </a:rPr>
                        <a:t>12/7</a:t>
                      </a:r>
                    </a:p>
                  </a:txBody>
                  <a:tcPr>
                    <a:solidFill>
                      <a:srgbClr val="F2F2F2"/>
                    </a:solidFill>
                  </a:tcPr>
                </a:tc>
              </a:tr>
            </a:tbl>
          </a:graphicData>
        </a:graphic>
      </p:graphicFrame>
      <p:sp>
        <p:nvSpPr>
          <p:cNvPr id="13" name="Rectangle 12"/>
          <p:cNvSpPr/>
          <p:nvPr/>
        </p:nvSpPr>
        <p:spPr>
          <a:xfrm>
            <a:off x="6126480" y="150876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0" y="1536192"/>
            <a:ext cx="5806440" cy="219456"/>
          </a:xfrm>
          <a:prstGeom prst="rect">
            <a:avLst/>
          </a:prstGeom>
          <a:noFill/>
        </p:spPr>
        <p:txBody>
          <a:bodyPr wrap="square">
            <a:spAutoFit/>
          </a:bodyPr>
          <a:lstStyle/>
          <a:p>
            <a:pPr algn="ctr"/>
            <a:r>
              <a:rPr sz="1100" b="1" i="0">
                <a:solidFill>
                  <a:srgbClr val="FFFFFF"/>
                </a:solidFill>
                <a:latin typeface="Arial"/>
              </a:rPr>
              <a:t>ELITE WOMEN</a:t>
            </a:r>
          </a:p>
        </p:txBody>
      </p:sp>
      <p:graphicFrame>
        <p:nvGraphicFramePr>
          <p:cNvPr id="15" name="Table 14"/>
          <p:cNvGraphicFramePr>
            <a:graphicFrameLocks noGrp="1"/>
          </p:cNvGraphicFramePr>
          <p:nvPr/>
        </p:nvGraphicFramePr>
        <p:xfrm>
          <a:off x="6126480" y="1828800"/>
          <a:ext cx="5806439" cy="3840480"/>
        </p:xfrm>
        <a:graphic>
          <a:graphicData uri="http://schemas.openxmlformats.org/drawingml/2006/table">
            <a:tbl>
              <a:tblPr firstRow="1" bandRow="1">
                <a:tableStyleId>{5C22544A-7EE6-4342-B048-85BDC9FD1C3A}</a:tableStyleId>
              </a:tblPr>
              <a:tblGrid>
                <a:gridCol w="341985"/>
                <a:gridCol w="1783080"/>
                <a:gridCol w="822960"/>
                <a:gridCol w="950976"/>
                <a:gridCol w="950976"/>
                <a:gridCol w="956462"/>
              </a:tblGrid>
              <a:tr h="256032">
                <a:tc>
                  <a:txBody>
                    <a:bodyPr wrap="none"/>
                    <a:lstStyle/>
                    <a:p>
                      <a:pPr algn="ctr"/>
                      <a:r>
                        <a:rPr sz="850" b="1" i="0">
                          <a:solidFill>
                            <a:srgbClr val="FFFFFF"/>
                          </a:solidFill>
                          <a:latin typeface="Arial"/>
                        </a:rPr>
                        <a:t>#</a:t>
                      </a:r>
                    </a:p>
                  </a:txBody>
                  <a:tcPr>
                    <a:solidFill>
                      <a:srgbClr val="002060"/>
                    </a:solidFill>
                  </a:tcPr>
                </a:tc>
                <a:tc>
                  <a:txBody>
                    <a:bodyPr wrap="none"/>
                    <a:lstStyle/>
                    <a:p>
                      <a:pPr algn="l"/>
                      <a:r>
                        <a:rPr sz="850" b="1" i="0">
                          <a:solidFill>
                            <a:srgbClr val="FFFFFF"/>
                          </a:solidFill>
                          <a:latin typeface="Arial"/>
                        </a:rPr>
                        <a:t>Athlete</a:t>
                      </a:r>
                    </a:p>
                  </a:txBody>
                  <a:tcPr>
                    <a:solidFill>
                      <a:srgbClr val="002060"/>
                    </a:solidFill>
                  </a:tcPr>
                </a:tc>
                <a:tc>
                  <a:txBody>
                    <a:bodyPr wrap="none"/>
                    <a:lstStyle/>
                    <a:p>
                      <a:pPr algn="ctr"/>
                      <a:r>
                        <a:rPr sz="850" b="1" i="0">
                          <a:solidFill>
                            <a:srgbClr val="FFFFFF"/>
                          </a:solidFill>
                          <a:latin typeface="Arial"/>
                        </a:rPr>
                        <a:t>Lead %</a:t>
                      </a:r>
                    </a:p>
                  </a:txBody>
                  <a:tcPr>
                    <a:solidFill>
                      <a:srgbClr val="002060"/>
                    </a:solidFill>
                  </a:tcPr>
                </a:tc>
                <a:tc>
                  <a:txBody>
                    <a:bodyPr wrap="none"/>
                    <a:lstStyle/>
                    <a:p>
                      <a:pPr algn="ctr"/>
                      <a:r>
                        <a:rPr sz="850" b="1" i="0">
                          <a:solidFill>
                            <a:srgbClr val="FFFFFF"/>
                          </a:solidFill>
                          <a:latin typeface="Arial"/>
                        </a:rPr>
                        <a:t>EWMA Spr ▸</a:t>
                      </a:r>
                    </a:p>
                  </a:txBody>
                  <a:tcPr>
                    <a:solidFill>
                      <a:srgbClr val="002060"/>
                    </a:solidFill>
                  </a:tcPr>
                </a:tc>
                <a:tc>
                  <a:txBody>
                    <a:bodyPr wrap="none"/>
                    <a:lstStyle/>
                    <a:p>
                      <a:pPr algn="ctr"/>
                      <a:r>
                        <a:rPr sz="850" b="1" i="0">
                          <a:solidFill>
                            <a:srgbClr val="FFFFFF"/>
                          </a:solidFill>
                          <a:latin typeface="Arial"/>
                        </a:rPr>
                        <a:t>EWMA Std</a:t>
                      </a:r>
                    </a:p>
                  </a:txBody>
                  <a:tcPr>
                    <a:solidFill>
                      <a:srgbClr val="002060"/>
                    </a:solidFill>
                  </a:tcPr>
                </a:tc>
                <a:tc>
                  <a:txBody>
                    <a:bodyPr wrap="none"/>
                    <a:lstStyle/>
                    <a:p>
                      <a:pPr algn="ctr"/>
                      <a:r>
                        <a:rPr sz="850" b="1" i="0">
                          <a:solidFill>
                            <a:srgbClr val="FFFFFF"/>
                          </a:solidFill>
                          <a:latin typeface="Arial"/>
                        </a:rPr>
                        <a:t>Spr/Std</a:t>
                      </a:r>
                    </a:p>
                  </a:txBody>
                  <a:tcPr>
                    <a:solidFill>
                      <a:srgbClr val="002060"/>
                    </a:solidFill>
                  </a:tcPr>
                </a:tc>
              </a:tr>
              <a:tr h="256032">
                <a:tc>
                  <a:txBody>
                    <a:bodyPr wrap="none"/>
                    <a:lstStyle/>
                    <a:p>
                      <a:pPr algn="ctr"/>
                      <a:r>
                        <a:rPr sz="850" b="1" i="0">
                          <a:solidFill>
                            <a:srgbClr val="002060"/>
                          </a:solidFill>
                          <a:latin typeface="Arial"/>
                        </a:rPr>
                        <a:t>1</a:t>
                      </a:r>
                    </a:p>
                  </a:txBody>
                  <a:tcPr>
                    <a:solidFill>
                      <a:srgbClr val="FFFFFF"/>
                    </a:solidFill>
                  </a:tcPr>
                </a:tc>
                <a:tc>
                  <a:txBody>
                    <a:bodyPr wrap="none"/>
                    <a:lstStyle/>
                    <a:p>
                      <a:pPr algn="l"/>
                      <a:r>
                        <a:rPr sz="850" b="1" i="0">
                          <a:solidFill>
                            <a:srgbClr val="C00000"/>
                          </a:solidFill>
                          <a:latin typeface="Arial"/>
                        </a:rPr>
                        <a:t>Kelly Wetteland</a:t>
                      </a:r>
                    </a:p>
                  </a:txBody>
                  <a:tcPr>
                    <a:solidFill>
                      <a:srgbClr val="FFFFFF"/>
                    </a:solidFill>
                  </a:tcPr>
                </a:tc>
                <a:tc>
                  <a:txBody>
                    <a:bodyPr wrap="none"/>
                    <a:lstStyle/>
                    <a:p>
                      <a:pPr algn="ctr"/>
                      <a:r>
                        <a:rPr sz="850" b="1" i="0">
                          <a:solidFill>
                            <a:srgbClr val="262626"/>
                          </a:solidFill>
                          <a:latin typeface="Arial"/>
                        </a:rPr>
                        <a:t>80%</a:t>
                      </a:r>
                    </a:p>
                  </a:txBody>
                  <a:tcPr>
                    <a:solidFill>
                      <a:srgbClr val="FFFFFF"/>
                    </a:solidFill>
                  </a:tcPr>
                </a:tc>
                <a:tc>
                  <a:txBody>
                    <a:bodyPr wrap="none"/>
                    <a:lstStyle/>
                    <a:p>
                      <a:pPr algn="ctr"/>
                      <a:r>
                        <a:rPr sz="850" b="1" i="0">
                          <a:solidFill>
                            <a:srgbClr val="262626"/>
                          </a:solidFill>
                          <a:latin typeface="Arial"/>
                        </a:rPr>
                        <a:t>9:53</a:t>
                      </a:r>
                    </a:p>
                  </a:txBody>
                  <a:tcPr>
                    <a:solidFill>
                      <a:srgbClr val="FFFFFF"/>
                    </a:solidFill>
                  </a:tcPr>
                </a:tc>
                <a:tc>
                  <a:txBody>
                    <a:bodyPr wrap="none"/>
                    <a:lstStyle/>
                    <a:p>
                      <a:pPr algn="ctr"/>
                      <a:r>
                        <a:rPr sz="850" b="0" i="0">
                          <a:solidFill>
                            <a:srgbClr val="262626"/>
                          </a:solidFill>
                          <a:latin typeface="Arial"/>
                        </a:rPr>
                        <a:t>—</a:t>
                      </a:r>
                    </a:p>
                  </a:txBody>
                  <a:tcPr>
                    <a:solidFill>
                      <a:srgbClr val="FFFFFF"/>
                    </a:solidFill>
                  </a:tcPr>
                </a:tc>
                <a:tc>
                  <a:txBody>
                    <a:bodyPr wrap="none"/>
                    <a:lstStyle/>
                    <a:p>
                      <a:pPr algn="ctr"/>
                      <a:r>
                        <a:rPr sz="850" b="0" i="0">
                          <a:solidFill>
                            <a:srgbClr val="BFBFBF"/>
                          </a:solidFill>
                          <a:latin typeface="Arial"/>
                        </a:rPr>
                        <a:t>5/0</a:t>
                      </a:r>
                    </a:p>
                  </a:txBody>
                  <a:tcPr>
                    <a:solidFill>
                      <a:srgbClr val="FFFFFF"/>
                    </a:solidFill>
                  </a:tcPr>
                </a:tc>
              </a:tr>
              <a:tr h="256032">
                <a:tc>
                  <a:txBody>
                    <a:bodyPr wrap="none"/>
                    <a:lstStyle/>
                    <a:p>
                      <a:pPr algn="ctr"/>
                      <a:r>
                        <a:rPr sz="850" b="1" i="0">
                          <a:solidFill>
                            <a:srgbClr val="002060"/>
                          </a:solidFill>
                          <a:latin typeface="Arial"/>
                        </a:rPr>
                        <a:t>2</a:t>
                      </a:r>
                    </a:p>
                  </a:txBody>
                  <a:tcPr>
                    <a:solidFill>
                      <a:srgbClr val="F2F2F2"/>
                    </a:solidFill>
                  </a:tcPr>
                </a:tc>
                <a:tc>
                  <a:txBody>
                    <a:bodyPr wrap="none"/>
                    <a:lstStyle/>
                    <a:p>
                      <a:pPr algn="l"/>
                      <a:r>
                        <a:rPr sz="850" b="0" i="0">
                          <a:solidFill>
                            <a:srgbClr val="262626"/>
                          </a:solidFill>
                          <a:latin typeface="Arial"/>
                        </a:rPr>
                        <a:t>Cecilia Santamaria Surroca</a:t>
                      </a:r>
                    </a:p>
                  </a:txBody>
                  <a:tcPr>
                    <a:solidFill>
                      <a:srgbClr val="F2F2F2"/>
                    </a:solidFill>
                  </a:tcPr>
                </a:tc>
                <a:tc>
                  <a:txBody>
                    <a:bodyPr wrap="none"/>
                    <a:lstStyle/>
                    <a:p>
                      <a:pPr algn="ctr"/>
                      <a:r>
                        <a:rPr sz="850" b="1" i="0">
                          <a:solidFill>
                            <a:srgbClr val="262626"/>
                          </a:solidFill>
                          <a:latin typeface="Arial"/>
                        </a:rPr>
                        <a:t>74%</a:t>
                      </a:r>
                    </a:p>
                  </a:txBody>
                  <a:tcPr>
                    <a:solidFill>
                      <a:srgbClr val="F2F2F2"/>
                    </a:solidFill>
                  </a:tcPr>
                </a:tc>
                <a:tc>
                  <a:txBody>
                    <a:bodyPr wrap="none"/>
                    <a:lstStyle/>
                    <a:p>
                      <a:pPr algn="ctr"/>
                      <a:r>
                        <a:rPr sz="850" b="1" i="0">
                          <a:solidFill>
                            <a:srgbClr val="262626"/>
                          </a:solidFill>
                          <a:latin typeface="Arial"/>
                        </a:rPr>
                        <a:t>9:52</a:t>
                      </a:r>
                    </a:p>
                  </a:txBody>
                  <a:tcPr>
                    <a:solidFill>
                      <a:srgbClr val="F2F2F2"/>
                    </a:solidFill>
                  </a:tcPr>
                </a:tc>
                <a:tc>
                  <a:txBody>
                    <a:bodyPr wrap="none"/>
                    <a:lstStyle/>
                    <a:p>
                      <a:pPr algn="ctr"/>
                      <a:r>
                        <a:rPr sz="850" b="0" i="0">
                          <a:solidFill>
                            <a:srgbClr val="262626"/>
                          </a:solidFill>
                          <a:latin typeface="Arial"/>
                        </a:rPr>
                        <a:t>18:55</a:t>
                      </a:r>
                    </a:p>
                  </a:txBody>
                  <a:tcPr>
                    <a:solidFill>
                      <a:srgbClr val="F2F2F2"/>
                    </a:solidFill>
                  </a:tcPr>
                </a:tc>
                <a:tc>
                  <a:txBody>
                    <a:bodyPr wrap="none"/>
                    <a:lstStyle/>
                    <a:p>
                      <a:pPr algn="ctr"/>
                      <a:r>
                        <a:rPr sz="850" b="0" i="0">
                          <a:solidFill>
                            <a:srgbClr val="BFBFBF"/>
                          </a:solidFill>
                          <a:latin typeface="Arial"/>
                        </a:rPr>
                        <a:t>16/7</a:t>
                      </a:r>
                    </a:p>
                  </a:txBody>
                  <a:tcPr>
                    <a:solidFill>
                      <a:srgbClr val="F2F2F2"/>
                    </a:solidFill>
                  </a:tcPr>
                </a:tc>
              </a:tr>
              <a:tr h="256032">
                <a:tc>
                  <a:txBody>
                    <a:bodyPr wrap="none"/>
                    <a:lstStyle/>
                    <a:p>
                      <a:pPr algn="ctr"/>
                      <a:r>
                        <a:rPr sz="850" b="1" i="0">
                          <a:solidFill>
                            <a:srgbClr val="002060"/>
                          </a:solidFill>
                          <a:latin typeface="Arial"/>
                        </a:rPr>
                        <a:t>3</a:t>
                      </a:r>
                    </a:p>
                  </a:txBody>
                  <a:tcPr>
                    <a:solidFill>
                      <a:srgbClr val="FFFFFF"/>
                    </a:solidFill>
                  </a:tcPr>
                </a:tc>
                <a:tc>
                  <a:txBody>
                    <a:bodyPr wrap="none"/>
                    <a:lstStyle/>
                    <a:p>
                      <a:pPr algn="l"/>
                      <a:r>
                        <a:rPr sz="850" b="0" i="0">
                          <a:solidFill>
                            <a:srgbClr val="262626"/>
                          </a:solidFill>
                          <a:latin typeface="Arial"/>
                        </a:rPr>
                        <a:t>Rosa Elena Martinez Melchior</a:t>
                      </a:r>
                    </a:p>
                  </a:txBody>
                  <a:tcPr>
                    <a:solidFill>
                      <a:srgbClr val="FFFFFF"/>
                    </a:solidFill>
                  </a:tcPr>
                </a:tc>
                <a:tc>
                  <a:txBody>
                    <a:bodyPr wrap="none"/>
                    <a:lstStyle/>
                    <a:p>
                      <a:pPr algn="ctr"/>
                      <a:r>
                        <a:rPr sz="850" b="1" i="0">
                          <a:solidFill>
                            <a:srgbClr val="262626"/>
                          </a:solidFill>
                          <a:latin typeface="Arial"/>
                        </a:rPr>
                        <a:t>61%</a:t>
                      </a:r>
                    </a:p>
                  </a:txBody>
                  <a:tcPr>
                    <a:solidFill>
                      <a:srgbClr val="FFFFFF"/>
                    </a:solidFill>
                  </a:tcPr>
                </a:tc>
                <a:tc>
                  <a:txBody>
                    <a:bodyPr wrap="none"/>
                    <a:lstStyle/>
                    <a:p>
                      <a:pPr algn="ctr"/>
                      <a:r>
                        <a:rPr sz="850" b="1" i="0">
                          <a:solidFill>
                            <a:srgbClr val="262626"/>
                          </a:solidFill>
                          <a:latin typeface="Arial"/>
                        </a:rPr>
                        <a:t>10:08</a:t>
                      </a:r>
                    </a:p>
                  </a:txBody>
                  <a:tcPr>
                    <a:solidFill>
                      <a:srgbClr val="FFFFFF"/>
                    </a:solidFill>
                  </a:tcPr>
                </a:tc>
                <a:tc>
                  <a:txBody>
                    <a:bodyPr wrap="none"/>
                    <a:lstStyle/>
                    <a:p>
                      <a:pPr algn="ctr"/>
                      <a:r>
                        <a:rPr sz="850" b="0" i="0">
                          <a:solidFill>
                            <a:srgbClr val="262626"/>
                          </a:solidFill>
                          <a:latin typeface="Arial"/>
                        </a:rPr>
                        <a:t>20:33</a:t>
                      </a:r>
                    </a:p>
                  </a:txBody>
                  <a:tcPr>
                    <a:solidFill>
                      <a:srgbClr val="FFFFFF"/>
                    </a:solidFill>
                  </a:tcPr>
                </a:tc>
                <a:tc>
                  <a:txBody>
                    <a:bodyPr wrap="none"/>
                    <a:lstStyle/>
                    <a:p>
                      <a:pPr algn="ctr"/>
                      <a:r>
                        <a:rPr sz="850" b="0" i="0">
                          <a:solidFill>
                            <a:srgbClr val="BFBFBF"/>
                          </a:solidFill>
                          <a:latin typeface="Arial"/>
                        </a:rPr>
                        <a:t>17/11</a:t>
                      </a:r>
                    </a:p>
                  </a:txBody>
                  <a:tcPr>
                    <a:solidFill>
                      <a:srgbClr val="FFFFFF"/>
                    </a:solidFill>
                  </a:tcPr>
                </a:tc>
              </a:tr>
              <a:tr h="256032">
                <a:tc>
                  <a:txBody>
                    <a:bodyPr wrap="none"/>
                    <a:lstStyle/>
                    <a:p>
                      <a:pPr algn="ctr"/>
                      <a:r>
                        <a:rPr sz="850" b="1" i="0">
                          <a:solidFill>
                            <a:srgbClr val="002060"/>
                          </a:solidFill>
                          <a:latin typeface="Arial"/>
                        </a:rPr>
                        <a:t>4</a:t>
                      </a:r>
                    </a:p>
                  </a:txBody>
                  <a:tcPr>
                    <a:solidFill>
                      <a:srgbClr val="F2F2F2"/>
                    </a:solidFill>
                  </a:tcPr>
                </a:tc>
                <a:tc>
                  <a:txBody>
                    <a:bodyPr wrap="none"/>
                    <a:lstStyle/>
                    <a:p>
                      <a:pPr algn="l"/>
                      <a:r>
                        <a:rPr sz="850" b="0" i="0">
                          <a:solidFill>
                            <a:srgbClr val="262626"/>
                          </a:solidFill>
                          <a:latin typeface="Arial"/>
                        </a:rPr>
                        <a:t>Hollie Elliott</a:t>
                      </a:r>
                    </a:p>
                  </a:txBody>
                  <a:tcPr>
                    <a:solidFill>
                      <a:srgbClr val="F2F2F2"/>
                    </a:solidFill>
                  </a:tcPr>
                </a:tc>
                <a:tc>
                  <a:txBody>
                    <a:bodyPr wrap="none"/>
                    <a:lstStyle/>
                    <a:p>
                      <a:pPr algn="ctr"/>
                      <a:r>
                        <a:rPr sz="850" b="1" i="0">
                          <a:solidFill>
                            <a:srgbClr val="262626"/>
                          </a:solidFill>
                          <a:latin typeface="Arial"/>
                        </a:rPr>
                        <a:t>55%</a:t>
                      </a:r>
                    </a:p>
                  </a:txBody>
                  <a:tcPr>
                    <a:solidFill>
                      <a:srgbClr val="F2F2F2"/>
                    </a:solidFill>
                  </a:tcPr>
                </a:tc>
                <a:tc>
                  <a:txBody>
                    <a:bodyPr wrap="none"/>
                    <a:lstStyle/>
                    <a:p>
                      <a:pPr algn="ctr"/>
                      <a:r>
                        <a:rPr sz="850" b="1" i="0">
                          <a:solidFill>
                            <a:srgbClr val="262626"/>
                          </a:solidFill>
                          <a:latin typeface="Arial"/>
                        </a:rPr>
                        <a:t>9:44</a:t>
                      </a:r>
                    </a:p>
                  </a:txBody>
                  <a:tcPr>
                    <a:solidFill>
                      <a:srgbClr val="F2F2F2"/>
                    </a:solidFill>
                  </a:tcPr>
                </a:tc>
                <a:tc>
                  <a:txBody>
                    <a:bodyPr wrap="none"/>
                    <a:lstStyle/>
                    <a:p>
                      <a:pPr algn="ctr"/>
                      <a:r>
                        <a:rPr sz="850" b="0" i="0">
                          <a:solidFill>
                            <a:srgbClr val="262626"/>
                          </a:solidFill>
                          <a:latin typeface="Arial"/>
                        </a:rPr>
                        <a:t>19:19</a:t>
                      </a:r>
                    </a:p>
                  </a:txBody>
                  <a:tcPr>
                    <a:solidFill>
                      <a:srgbClr val="F2F2F2"/>
                    </a:solidFill>
                  </a:tcPr>
                </a:tc>
                <a:tc>
                  <a:txBody>
                    <a:bodyPr wrap="none"/>
                    <a:lstStyle/>
                    <a:p>
                      <a:pPr algn="ctr"/>
                      <a:r>
                        <a:rPr sz="850" b="0" i="0">
                          <a:solidFill>
                            <a:srgbClr val="BFBFBF"/>
                          </a:solidFill>
                          <a:latin typeface="Arial"/>
                        </a:rPr>
                        <a:t>14/6</a:t>
                      </a:r>
                    </a:p>
                  </a:txBody>
                  <a:tcPr>
                    <a:solidFill>
                      <a:srgbClr val="F2F2F2"/>
                    </a:solidFill>
                  </a:tcPr>
                </a:tc>
              </a:tr>
              <a:tr h="256032">
                <a:tc>
                  <a:txBody>
                    <a:bodyPr wrap="none"/>
                    <a:lstStyle/>
                    <a:p>
                      <a:pPr algn="ctr"/>
                      <a:r>
                        <a:rPr sz="850" b="1" i="0">
                          <a:solidFill>
                            <a:srgbClr val="002060"/>
                          </a:solidFill>
                          <a:latin typeface="Arial"/>
                        </a:rPr>
                        <a:t>5</a:t>
                      </a:r>
                    </a:p>
                  </a:txBody>
                  <a:tcPr>
                    <a:solidFill>
                      <a:srgbClr val="FFFFFF"/>
                    </a:solidFill>
                  </a:tcPr>
                </a:tc>
                <a:tc>
                  <a:txBody>
                    <a:bodyPr wrap="none"/>
                    <a:lstStyle/>
                    <a:p>
                      <a:pPr algn="l"/>
                      <a:r>
                        <a:rPr sz="850" b="0" i="0">
                          <a:solidFill>
                            <a:srgbClr val="262626"/>
                          </a:solidFill>
                          <a:latin typeface="Arial"/>
                        </a:rPr>
                        <a:t>Moira Miranda</a:t>
                      </a:r>
                    </a:p>
                  </a:txBody>
                  <a:tcPr>
                    <a:solidFill>
                      <a:srgbClr val="FFFFFF"/>
                    </a:solidFill>
                  </a:tcPr>
                </a:tc>
                <a:tc>
                  <a:txBody>
                    <a:bodyPr wrap="none"/>
                    <a:lstStyle/>
                    <a:p>
                      <a:pPr algn="ctr"/>
                      <a:r>
                        <a:rPr sz="850" b="1" i="0">
                          <a:solidFill>
                            <a:srgbClr val="262626"/>
                          </a:solidFill>
                          <a:latin typeface="Arial"/>
                        </a:rPr>
                        <a:t>53%</a:t>
                      </a:r>
                    </a:p>
                  </a:txBody>
                  <a:tcPr>
                    <a:solidFill>
                      <a:srgbClr val="FFFFFF"/>
                    </a:solidFill>
                  </a:tcPr>
                </a:tc>
                <a:tc>
                  <a:txBody>
                    <a:bodyPr wrap="none"/>
                    <a:lstStyle/>
                    <a:p>
                      <a:pPr algn="ctr"/>
                      <a:r>
                        <a:rPr sz="850" b="1" i="0">
                          <a:solidFill>
                            <a:srgbClr val="262626"/>
                          </a:solidFill>
                          <a:latin typeface="Arial"/>
                        </a:rPr>
                        <a:t>10:06</a:t>
                      </a:r>
                    </a:p>
                  </a:txBody>
                  <a:tcPr>
                    <a:solidFill>
                      <a:srgbClr val="FFFFFF"/>
                    </a:solidFill>
                  </a:tcPr>
                </a:tc>
                <a:tc>
                  <a:txBody>
                    <a:bodyPr wrap="none"/>
                    <a:lstStyle/>
                    <a:p>
                      <a:pPr algn="ctr"/>
                      <a:r>
                        <a:rPr sz="850" b="0" i="0">
                          <a:solidFill>
                            <a:srgbClr val="262626"/>
                          </a:solidFill>
                          <a:latin typeface="Arial"/>
                        </a:rPr>
                        <a:t>19:46</a:t>
                      </a:r>
                    </a:p>
                  </a:txBody>
                  <a:tcPr>
                    <a:solidFill>
                      <a:srgbClr val="FFFFFF"/>
                    </a:solidFill>
                  </a:tcPr>
                </a:tc>
                <a:tc>
                  <a:txBody>
                    <a:bodyPr wrap="none"/>
                    <a:lstStyle/>
                    <a:p>
                      <a:pPr algn="ctr"/>
                      <a:r>
                        <a:rPr sz="850" b="0" i="0">
                          <a:solidFill>
                            <a:srgbClr val="BFBFBF"/>
                          </a:solidFill>
                          <a:latin typeface="Arial"/>
                        </a:rPr>
                        <a:t>13/4</a:t>
                      </a:r>
                    </a:p>
                  </a:txBody>
                  <a:tcPr>
                    <a:solidFill>
                      <a:srgbClr val="FFFFFF"/>
                    </a:solidFill>
                  </a:tcPr>
                </a:tc>
              </a:tr>
              <a:tr h="256032">
                <a:tc>
                  <a:txBody>
                    <a:bodyPr wrap="none"/>
                    <a:lstStyle/>
                    <a:p>
                      <a:pPr algn="ctr"/>
                      <a:r>
                        <a:rPr sz="850" b="1" i="0">
                          <a:solidFill>
                            <a:srgbClr val="002060"/>
                          </a:solidFill>
                          <a:latin typeface="Arial"/>
                        </a:rPr>
                        <a:t>6</a:t>
                      </a:r>
                    </a:p>
                  </a:txBody>
                  <a:tcPr>
                    <a:solidFill>
                      <a:srgbClr val="F2F2F2"/>
                    </a:solidFill>
                  </a:tcPr>
                </a:tc>
                <a:tc>
                  <a:txBody>
                    <a:bodyPr wrap="none"/>
                    <a:lstStyle/>
                    <a:p>
                      <a:pPr algn="l"/>
                      <a:r>
                        <a:rPr sz="850" b="0" i="0">
                          <a:solidFill>
                            <a:srgbClr val="262626"/>
                          </a:solidFill>
                          <a:latin typeface="Arial"/>
                        </a:rPr>
                        <a:t>Tjasa Vrtacic</a:t>
                      </a:r>
                    </a:p>
                  </a:txBody>
                  <a:tcPr>
                    <a:solidFill>
                      <a:srgbClr val="F2F2F2"/>
                    </a:solidFill>
                  </a:tcPr>
                </a:tc>
                <a:tc>
                  <a:txBody>
                    <a:bodyPr wrap="none"/>
                    <a:lstStyle/>
                    <a:p>
                      <a:pPr algn="ctr"/>
                      <a:r>
                        <a:rPr sz="850" b="1" i="0">
                          <a:solidFill>
                            <a:srgbClr val="262626"/>
                          </a:solidFill>
                          <a:latin typeface="Arial"/>
                        </a:rPr>
                        <a:t>50%</a:t>
                      </a:r>
                    </a:p>
                  </a:txBody>
                  <a:tcPr>
                    <a:solidFill>
                      <a:srgbClr val="F2F2F2"/>
                    </a:solidFill>
                  </a:tcPr>
                </a:tc>
                <a:tc>
                  <a:txBody>
                    <a:bodyPr wrap="none"/>
                    <a:lstStyle/>
                    <a:p>
                      <a:pPr algn="ctr"/>
                      <a:r>
                        <a:rPr sz="850" b="1" i="0">
                          <a:solidFill>
                            <a:srgbClr val="262626"/>
                          </a:solidFill>
                          <a:latin typeface="Arial"/>
                        </a:rPr>
                        <a:t>9:56</a:t>
                      </a:r>
                    </a:p>
                  </a:txBody>
                  <a:tcPr>
                    <a:solidFill>
                      <a:srgbClr val="F2F2F2"/>
                    </a:solidFill>
                  </a:tcPr>
                </a:tc>
                <a:tc>
                  <a:txBody>
                    <a:bodyPr wrap="none"/>
                    <a:lstStyle/>
                    <a:p>
                      <a:pPr algn="ctr"/>
                      <a:r>
                        <a:rPr sz="850" b="0" i="0">
                          <a:solidFill>
                            <a:srgbClr val="262626"/>
                          </a:solidFill>
                          <a:latin typeface="Arial"/>
                        </a:rPr>
                        <a:t>19:03</a:t>
                      </a:r>
                    </a:p>
                  </a:txBody>
                  <a:tcPr>
                    <a:solidFill>
                      <a:srgbClr val="F2F2F2"/>
                    </a:solidFill>
                  </a:tcPr>
                </a:tc>
                <a:tc>
                  <a:txBody>
                    <a:bodyPr wrap="none"/>
                    <a:lstStyle/>
                    <a:p>
                      <a:pPr algn="ctr"/>
                      <a:r>
                        <a:rPr sz="850" b="0" i="0">
                          <a:solidFill>
                            <a:srgbClr val="BFBFBF"/>
                          </a:solidFill>
                          <a:latin typeface="Arial"/>
                        </a:rPr>
                        <a:t>12/2</a:t>
                      </a:r>
                    </a:p>
                  </a:txBody>
                  <a:tcPr>
                    <a:solidFill>
                      <a:srgbClr val="F2F2F2"/>
                    </a:solidFill>
                  </a:tcPr>
                </a:tc>
              </a:tr>
              <a:tr h="256032">
                <a:tc>
                  <a:txBody>
                    <a:bodyPr wrap="none"/>
                    <a:lstStyle/>
                    <a:p>
                      <a:pPr algn="ctr"/>
                      <a:r>
                        <a:rPr sz="850" b="1" i="0">
                          <a:solidFill>
                            <a:srgbClr val="002060"/>
                          </a:solidFill>
                          <a:latin typeface="Arial"/>
                        </a:rPr>
                        <a:t>7</a:t>
                      </a:r>
                    </a:p>
                  </a:txBody>
                  <a:tcPr>
                    <a:solidFill>
                      <a:srgbClr val="FFFFFF"/>
                    </a:solidFill>
                  </a:tcPr>
                </a:tc>
                <a:tc>
                  <a:txBody>
                    <a:bodyPr wrap="none"/>
                    <a:lstStyle/>
                    <a:p>
                      <a:pPr algn="l"/>
                      <a:r>
                        <a:rPr sz="850" b="1" i="0">
                          <a:solidFill>
                            <a:srgbClr val="C00000"/>
                          </a:solidFill>
                          <a:latin typeface="Arial"/>
                        </a:rPr>
                        <a:t>Danielle Orie</a:t>
                      </a:r>
                    </a:p>
                  </a:txBody>
                  <a:tcPr>
                    <a:solidFill>
                      <a:srgbClr val="FFFFFF"/>
                    </a:solidFill>
                  </a:tcPr>
                </a:tc>
                <a:tc>
                  <a:txBody>
                    <a:bodyPr wrap="none"/>
                    <a:lstStyle/>
                    <a:p>
                      <a:pPr algn="ctr"/>
                      <a:r>
                        <a:rPr sz="850" b="1" i="0">
                          <a:solidFill>
                            <a:srgbClr val="262626"/>
                          </a:solidFill>
                          <a:latin typeface="Arial"/>
                        </a:rPr>
                        <a:t>44%</a:t>
                      </a:r>
                    </a:p>
                  </a:txBody>
                  <a:tcPr>
                    <a:solidFill>
                      <a:srgbClr val="FFFFFF"/>
                    </a:solidFill>
                  </a:tcPr>
                </a:tc>
                <a:tc>
                  <a:txBody>
                    <a:bodyPr wrap="none"/>
                    <a:lstStyle/>
                    <a:p>
                      <a:pPr algn="ctr"/>
                      <a:r>
                        <a:rPr sz="850" b="1" i="0">
                          <a:solidFill>
                            <a:srgbClr val="262626"/>
                          </a:solidFill>
                          <a:latin typeface="Arial"/>
                        </a:rPr>
                        <a:t>9:45</a:t>
                      </a:r>
                    </a:p>
                  </a:txBody>
                  <a:tcPr>
                    <a:solidFill>
                      <a:srgbClr val="FFFFFF"/>
                    </a:solidFill>
                  </a:tcPr>
                </a:tc>
                <a:tc>
                  <a:txBody>
                    <a:bodyPr wrap="none"/>
                    <a:lstStyle/>
                    <a:p>
                      <a:pPr algn="ctr"/>
                      <a:r>
                        <a:rPr sz="850" b="0" i="0">
                          <a:solidFill>
                            <a:srgbClr val="262626"/>
                          </a:solidFill>
                          <a:latin typeface="Arial"/>
                        </a:rPr>
                        <a:t>19:55</a:t>
                      </a:r>
                    </a:p>
                  </a:txBody>
                  <a:tcPr>
                    <a:solidFill>
                      <a:srgbClr val="FFFFFF"/>
                    </a:solidFill>
                  </a:tcPr>
                </a:tc>
                <a:tc>
                  <a:txBody>
                    <a:bodyPr wrap="none"/>
                    <a:lstStyle/>
                    <a:p>
                      <a:pPr algn="ctr"/>
                      <a:r>
                        <a:rPr sz="850" b="0" i="0">
                          <a:solidFill>
                            <a:srgbClr val="BFBFBF"/>
                          </a:solidFill>
                          <a:latin typeface="Arial"/>
                        </a:rPr>
                        <a:t>12/4</a:t>
                      </a:r>
                    </a:p>
                  </a:txBody>
                  <a:tcPr>
                    <a:solidFill>
                      <a:srgbClr val="FFFFFF"/>
                    </a:solidFill>
                  </a:tcPr>
                </a:tc>
              </a:tr>
              <a:tr h="256032">
                <a:tc>
                  <a:txBody>
                    <a:bodyPr wrap="none"/>
                    <a:lstStyle/>
                    <a:p>
                      <a:pPr algn="ctr"/>
                      <a:r>
                        <a:rPr sz="850" b="1" i="0">
                          <a:solidFill>
                            <a:srgbClr val="002060"/>
                          </a:solidFill>
                          <a:latin typeface="Arial"/>
                        </a:rPr>
                        <a:t>8</a:t>
                      </a:r>
                    </a:p>
                  </a:txBody>
                  <a:tcPr>
                    <a:solidFill>
                      <a:srgbClr val="F2F2F2"/>
                    </a:solidFill>
                  </a:tcPr>
                </a:tc>
                <a:tc>
                  <a:txBody>
                    <a:bodyPr wrap="none"/>
                    <a:lstStyle/>
                    <a:p>
                      <a:pPr algn="l"/>
                      <a:r>
                        <a:rPr sz="850" b="0" i="0">
                          <a:solidFill>
                            <a:srgbClr val="262626"/>
                          </a:solidFill>
                          <a:latin typeface="Arial"/>
                        </a:rPr>
                        <a:t>Josephine Seerig</a:t>
                      </a:r>
                    </a:p>
                  </a:txBody>
                  <a:tcPr>
                    <a:solidFill>
                      <a:srgbClr val="F2F2F2"/>
                    </a:solidFill>
                  </a:tcPr>
                </a:tc>
                <a:tc>
                  <a:txBody>
                    <a:bodyPr wrap="none"/>
                    <a:lstStyle/>
                    <a:p>
                      <a:pPr algn="ctr"/>
                      <a:r>
                        <a:rPr sz="850" b="1" i="0">
                          <a:solidFill>
                            <a:srgbClr val="262626"/>
                          </a:solidFill>
                          <a:latin typeface="Arial"/>
                        </a:rPr>
                        <a:t>43%</a:t>
                      </a:r>
                    </a:p>
                  </a:txBody>
                  <a:tcPr>
                    <a:solidFill>
                      <a:srgbClr val="F2F2F2"/>
                    </a:solidFill>
                  </a:tcPr>
                </a:tc>
                <a:tc>
                  <a:txBody>
                    <a:bodyPr wrap="none"/>
                    <a:lstStyle/>
                    <a:p>
                      <a:pPr algn="ctr"/>
                      <a:r>
                        <a:rPr sz="850" b="1" i="0">
                          <a:solidFill>
                            <a:srgbClr val="262626"/>
                          </a:solidFill>
                          <a:latin typeface="Arial"/>
                        </a:rPr>
                        <a:t>10:36</a:t>
                      </a:r>
                    </a:p>
                  </a:txBody>
                  <a:tcPr>
                    <a:solidFill>
                      <a:srgbClr val="F2F2F2"/>
                    </a:solidFill>
                  </a:tcPr>
                </a:tc>
                <a:tc>
                  <a:txBody>
                    <a:bodyPr wrap="none"/>
                    <a:lstStyle/>
                    <a:p>
                      <a:pPr algn="ctr"/>
                      <a:r>
                        <a:rPr sz="850" b="0" i="0">
                          <a:solidFill>
                            <a:srgbClr val="262626"/>
                          </a:solidFill>
                          <a:latin typeface="Arial"/>
                        </a:rPr>
                        <a:t>20:05</a:t>
                      </a:r>
                    </a:p>
                  </a:txBody>
                  <a:tcPr>
                    <a:solidFill>
                      <a:srgbClr val="F2F2F2"/>
                    </a:solidFill>
                  </a:tcPr>
                </a:tc>
                <a:tc>
                  <a:txBody>
                    <a:bodyPr wrap="none"/>
                    <a:lstStyle/>
                    <a:p>
                      <a:pPr algn="ctr"/>
                      <a:r>
                        <a:rPr sz="850" b="0" i="0">
                          <a:solidFill>
                            <a:srgbClr val="BFBFBF"/>
                          </a:solidFill>
                          <a:latin typeface="Arial"/>
                        </a:rPr>
                        <a:t>11/3</a:t>
                      </a:r>
                    </a:p>
                  </a:txBody>
                  <a:tcPr>
                    <a:solidFill>
                      <a:srgbClr val="F2F2F2"/>
                    </a:solidFill>
                  </a:tcPr>
                </a:tc>
              </a:tr>
              <a:tr h="256032">
                <a:tc>
                  <a:txBody>
                    <a:bodyPr wrap="none"/>
                    <a:lstStyle/>
                    <a:p>
                      <a:pPr algn="ctr"/>
                      <a:r>
                        <a:rPr sz="850" b="1" i="0">
                          <a:solidFill>
                            <a:srgbClr val="002060"/>
                          </a:solidFill>
                          <a:latin typeface="Arial"/>
                        </a:rPr>
                        <a:t>9</a:t>
                      </a:r>
                    </a:p>
                  </a:txBody>
                  <a:tcPr>
                    <a:solidFill>
                      <a:srgbClr val="FFFFFF"/>
                    </a:solidFill>
                  </a:tcPr>
                </a:tc>
                <a:tc>
                  <a:txBody>
                    <a:bodyPr wrap="none"/>
                    <a:lstStyle/>
                    <a:p>
                      <a:pPr algn="l"/>
                      <a:r>
                        <a:rPr sz="850" b="0" i="0">
                          <a:solidFill>
                            <a:srgbClr val="262626"/>
                          </a:solidFill>
                          <a:latin typeface="Arial"/>
                        </a:rPr>
                        <a:t>Luisa Daniela Baca Vargas</a:t>
                      </a:r>
                    </a:p>
                  </a:txBody>
                  <a:tcPr>
                    <a:solidFill>
                      <a:srgbClr val="FFFFFF"/>
                    </a:solidFill>
                  </a:tcPr>
                </a:tc>
                <a:tc>
                  <a:txBody>
                    <a:bodyPr wrap="none"/>
                    <a:lstStyle/>
                    <a:p>
                      <a:pPr algn="ctr"/>
                      <a:r>
                        <a:rPr sz="850" b="1" i="0">
                          <a:solidFill>
                            <a:srgbClr val="262626"/>
                          </a:solidFill>
                          <a:latin typeface="Arial"/>
                        </a:rPr>
                        <a:t>43%</a:t>
                      </a:r>
                    </a:p>
                  </a:txBody>
                  <a:tcPr>
                    <a:solidFill>
                      <a:srgbClr val="FFFFFF"/>
                    </a:solidFill>
                  </a:tcPr>
                </a:tc>
                <a:tc>
                  <a:txBody>
                    <a:bodyPr wrap="none"/>
                    <a:lstStyle/>
                    <a:p>
                      <a:pPr algn="ctr"/>
                      <a:r>
                        <a:rPr sz="850" b="1" i="0">
                          <a:solidFill>
                            <a:srgbClr val="262626"/>
                          </a:solidFill>
                          <a:latin typeface="Arial"/>
                        </a:rPr>
                        <a:t>10:38</a:t>
                      </a:r>
                    </a:p>
                  </a:txBody>
                  <a:tcPr>
                    <a:solidFill>
                      <a:srgbClr val="FFFFFF"/>
                    </a:solidFill>
                  </a:tcPr>
                </a:tc>
                <a:tc>
                  <a:txBody>
                    <a:bodyPr wrap="none"/>
                    <a:lstStyle/>
                    <a:p>
                      <a:pPr algn="ctr"/>
                      <a:r>
                        <a:rPr sz="850" b="0" i="0">
                          <a:solidFill>
                            <a:srgbClr val="262626"/>
                          </a:solidFill>
                          <a:latin typeface="Arial"/>
                        </a:rPr>
                        <a:t>19:48</a:t>
                      </a:r>
                    </a:p>
                  </a:txBody>
                  <a:tcPr>
                    <a:solidFill>
                      <a:srgbClr val="FFFFFF"/>
                    </a:solidFill>
                  </a:tcPr>
                </a:tc>
                <a:tc>
                  <a:txBody>
                    <a:bodyPr wrap="none"/>
                    <a:lstStyle/>
                    <a:p>
                      <a:pPr algn="ctr"/>
                      <a:r>
                        <a:rPr sz="850" b="0" i="0">
                          <a:solidFill>
                            <a:srgbClr val="BFBFBF"/>
                          </a:solidFill>
                          <a:latin typeface="Arial"/>
                        </a:rPr>
                        <a:t>9/5</a:t>
                      </a:r>
                    </a:p>
                  </a:txBody>
                  <a:tcPr>
                    <a:solidFill>
                      <a:srgbClr val="FFFFFF"/>
                    </a:solidFill>
                  </a:tcPr>
                </a:tc>
              </a:tr>
              <a:tr h="256032">
                <a:tc>
                  <a:txBody>
                    <a:bodyPr wrap="none"/>
                    <a:lstStyle/>
                    <a:p>
                      <a:pPr algn="ctr"/>
                      <a:r>
                        <a:rPr sz="850" b="1" i="0">
                          <a:solidFill>
                            <a:srgbClr val="002060"/>
                          </a:solidFill>
                          <a:latin typeface="Arial"/>
                        </a:rPr>
                        <a:t>10</a:t>
                      </a:r>
                    </a:p>
                  </a:txBody>
                  <a:tcPr>
                    <a:solidFill>
                      <a:srgbClr val="F2F2F2"/>
                    </a:solidFill>
                  </a:tcPr>
                </a:tc>
                <a:tc>
                  <a:txBody>
                    <a:bodyPr wrap="none"/>
                    <a:lstStyle/>
                    <a:p>
                      <a:pPr algn="l"/>
                      <a:r>
                        <a:rPr sz="850" b="0" i="0">
                          <a:solidFill>
                            <a:srgbClr val="262626"/>
                          </a:solidFill>
                          <a:latin typeface="Arial"/>
                        </a:rPr>
                        <a:t>Melanie Santos</a:t>
                      </a:r>
                    </a:p>
                  </a:txBody>
                  <a:tcPr>
                    <a:solidFill>
                      <a:srgbClr val="F2F2F2"/>
                    </a:solidFill>
                  </a:tcPr>
                </a:tc>
                <a:tc>
                  <a:txBody>
                    <a:bodyPr wrap="none"/>
                    <a:lstStyle/>
                    <a:p>
                      <a:pPr algn="ctr"/>
                      <a:r>
                        <a:rPr sz="850" b="1" i="0">
                          <a:solidFill>
                            <a:srgbClr val="262626"/>
                          </a:solidFill>
                          <a:latin typeface="Arial"/>
                        </a:rPr>
                        <a:t>42%</a:t>
                      </a:r>
                    </a:p>
                  </a:txBody>
                  <a:tcPr>
                    <a:solidFill>
                      <a:srgbClr val="F2F2F2"/>
                    </a:solidFill>
                  </a:tcPr>
                </a:tc>
                <a:tc>
                  <a:txBody>
                    <a:bodyPr wrap="none"/>
                    <a:lstStyle/>
                    <a:p>
                      <a:pPr algn="ctr"/>
                      <a:r>
                        <a:rPr sz="850" b="1" i="0">
                          <a:solidFill>
                            <a:srgbClr val="262626"/>
                          </a:solidFill>
                          <a:latin typeface="Arial"/>
                        </a:rPr>
                        <a:t>10:04</a:t>
                      </a:r>
                    </a:p>
                  </a:txBody>
                  <a:tcPr>
                    <a:solidFill>
                      <a:srgbClr val="F2F2F2"/>
                    </a:solidFill>
                  </a:tcPr>
                </a:tc>
                <a:tc>
                  <a:txBody>
                    <a:bodyPr wrap="none"/>
                    <a:lstStyle/>
                    <a:p>
                      <a:pPr algn="ctr"/>
                      <a:r>
                        <a:rPr sz="850" b="0" i="0">
                          <a:solidFill>
                            <a:srgbClr val="262626"/>
                          </a:solidFill>
                          <a:latin typeface="Arial"/>
                        </a:rPr>
                        <a:t>19:08</a:t>
                      </a:r>
                    </a:p>
                  </a:txBody>
                  <a:tcPr>
                    <a:solidFill>
                      <a:srgbClr val="F2F2F2"/>
                    </a:solidFill>
                  </a:tcPr>
                </a:tc>
                <a:tc>
                  <a:txBody>
                    <a:bodyPr wrap="none"/>
                    <a:lstStyle/>
                    <a:p>
                      <a:pPr algn="ctr"/>
                      <a:r>
                        <a:rPr sz="850" b="0" i="0">
                          <a:solidFill>
                            <a:srgbClr val="BFBFBF"/>
                          </a:solidFill>
                          <a:latin typeface="Arial"/>
                        </a:rPr>
                        <a:t>9/10</a:t>
                      </a:r>
                    </a:p>
                  </a:txBody>
                  <a:tcPr>
                    <a:solidFill>
                      <a:srgbClr val="F2F2F2"/>
                    </a:solidFill>
                  </a:tcPr>
                </a:tc>
              </a:tr>
              <a:tr h="256032">
                <a:tc>
                  <a:txBody>
                    <a:bodyPr wrap="none"/>
                    <a:lstStyle/>
                    <a:p>
                      <a:pPr algn="ctr"/>
                      <a:r>
                        <a:rPr sz="850" b="1" i="0">
                          <a:solidFill>
                            <a:srgbClr val="002060"/>
                          </a:solidFill>
                          <a:latin typeface="Arial"/>
                        </a:rPr>
                        <a:t>11</a:t>
                      </a:r>
                    </a:p>
                  </a:txBody>
                  <a:tcPr>
                    <a:solidFill>
                      <a:srgbClr val="FFFFFF"/>
                    </a:solidFill>
                  </a:tcPr>
                </a:tc>
                <a:tc>
                  <a:txBody>
                    <a:bodyPr wrap="none"/>
                    <a:lstStyle/>
                    <a:p>
                      <a:pPr algn="l"/>
                      <a:r>
                        <a:rPr sz="850" b="0" i="0">
                          <a:solidFill>
                            <a:srgbClr val="262626"/>
                          </a:solidFill>
                          <a:latin typeface="Arial"/>
                        </a:rPr>
                        <a:t>Manami Hayashi</a:t>
                      </a:r>
                    </a:p>
                  </a:txBody>
                  <a:tcPr>
                    <a:solidFill>
                      <a:srgbClr val="FFFFFF"/>
                    </a:solidFill>
                  </a:tcPr>
                </a:tc>
                <a:tc>
                  <a:txBody>
                    <a:bodyPr wrap="none"/>
                    <a:lstStyle/>
                    <a:p>
                      <a:pPr algn="ctr"/>
                      <a:r>
                        <a:rPr sz="850" b="1" i="0">
                          <a:solidFill>
                            <a:srgbClr val="262626"/>
                          </a:solidFill>
                          <a:latin typeface="Arial"/>
                        </a:rPr>
                        <a:t>42%</a:t>
                      </a:r>
                    </a:p>
                  </a:txBody>
                  <a:tcPr>
                    <a:solidFill>
                      <a:srgbClr val="FFFFFF"/>
                    </a:solidFill>
                  </a:tcPr>
                </a:tc>
                <a:tc>
                  <a:txBody>
                    <a:bodyPr wrap="none"/>
                    <a:lstStyle/>
                    <a:p>
                      <a:pPr algn="ctr"/>
                      <a:r>
                        <a:rPr sz="850" b="1" i="0">
                          <a:solidFill>
                            <a:srgbClr val="262626"/>
                          </a:solidFill>
                          <a:latin typeface="Arial"/>
                        </a:rPr>
                        <a:t>9:56</a:t>
                      </a:r>
                    </a:p>
                  </a:txBody>
                  <a:tcPr>
                    <a:solidFill>
                      <a:srgbClr val="FFFFFF"/>
                    </a:solidFill>
                  </a:tcPr>
                </a:tc>
                <a:tc>
                  <a:txBody>
                    <a:bodyPr wrap="none"/>
                    <a:lstStyle/>
                    <a:p>
                      <a:pPr algn="ctr"/>
                      <a:r>
                        <a:rPr sz="850" b="0" i="0">
                          <a:solidFill>
                            <a:srgbClr val="262626"/>
                          </a:solidFill>
                          <a:latin typeface="Arial"/>
                        </a:rPr>
                        <a:t>20:06</a:t>
                      </a:r>
                    </a:p>
                  </a:txBody>
                  <a:tcPr>
                    <a:solidFill>
                      <a:srgbClr val="FFFFFF"/>
                    </a:solidFill>
                  </a:tcPr>
                </a:tc>
                <a:tc>
                  <a:txBody>
                    <a:bodyPr wrap="none"/>
                    <a:lstStyle/>
                    <a:p>
                      <a:pPr algn="ctr"/>
                      <a:r>
                        <a:rPr sz="850" b="0" i="0">
                          <a:solidFill>
                            <a:srgbClr val="BFBFBF"/>
                          </a:solidFill>
                          <a:latin typeface="Arial"/>
                        </a:rPr>
                        <a:t>17/7</a:t>
                      </a:r>
                    </a:p>
                  </a:txBody>
                  <a:tcPr>
                    <a:solidFill>
                      <a:srgbClr val="FFFFFF"/>
                    </a:solidFill>
                  </a:tcPr>
                </a:tc>
              </a:tr>
              <a:tr h="256032">
                <a:tc>
                  <a:txBody>
                    <a:bodyPr wrap="none"/>
                    <a:lstStyle/>
                    <a:p>
                      <a:pPr algn="ctr"/>
                      <a:r>
                        <a:rPr sz="850" b="1" i="0">
                          <a:solidFill>
                            <a:srgbClr val="002060"/>
                          </a:solidFill>
                          <a:latin typeface="Arial"/>
                        </a:rPr>
                        <a:t>12</a:t>
                      </a:r>
                    </a:p>
                  </a:txBody>
                  <a:tcPr>
                    <a:solidFill>
                      <a:srgbClr val="F2F2F2"/>
                    </a:solidFill>
                  </a:tcPr>
                </a:tc>
                <a:tc>
                  <a:txBody>
                    <a:bodyPr wrap="none"/>
                    <a:lstStyle/>
                    <a:p>
                      <a:pPr algn="l"/>
                      <a:r>
                        <a:rPr sz="850" b="0" i="0">
                          <a:solidFill>
                            <a:srgbClr val="262626"/>
                          </a:solidFill>
                          <a:latin typeface="Arial"/>
                        </a:rPr>
                        <a:t>Ivana Kuriackova</a:t>
                      </a:r>
                    </a:p>
                  </a:txBody>
                  <a:tcPr>
                    <a:solidFill>
                      <a:srgbClr val="F2F2F2"/>
                    </a:solidFill>
                  </a:tcPr>
                </a:tc>
                <a:tc>
                  <a:txBody>
                    <a:bodyPr wrap="none"/>
                    <a:lstStyle/>
                    <a:p>
                      <a:pPr algn="ctr"/>
                      <a:r>
                        <a:rPr sz="850" b="1" i="0">
                          <a:solidFill>
                            <a:srgbClr val="262626"/>
                          </a:solidFill>
                          <a:latin typeface="Arial"/>
                        </a:rPr>
                        <a:t>38%</a:t>
                      </a:r>
                    </a:p>
                  </a:txBody>
                  <a:tcPr>
                    <a:solidFill>
                      <a:srgbClr val="F2F2F2"/>
                    </a:solidFill>
                  </a:tcPr>
                </a:tc>
                <a:tc>
                  <a:txBody>
                    <a:bodyPr wrap="none"/>
                    <a:lstStyle/>
                    <a:p>
                      <a:pPr algn="ctr"/>
                      <a:r>
                        <a:rPr sz="850" b="1" i="0">
                          <a:solidFill>
                            <a:srgbClr val="262626"/>
                          </a:solidFill>
                          <a:latin typeface="Arial"/>
                        </a:rPr>
                        <a:t>10:13</a:t>
                      </a:r>
                    </a:p>
                  </a:txBody>
                  <a:tcPr>
                    <a:solidFill>
                      <a:srgbClr val="F2F2F2"/>
                    </a:solidFill>
                  </a:tcPr>
                </a:tc>
                <a:tc>
                  <a:txBody>
                    <a:bodyPr wrap="none"/>
                    <a:lstStyle/>
                    <a:p>
                      <a:pPr algn="ctr"/>
                      <a:r>
                        <a:rPr sz="850" b="0" i="0">
                          <a:solidFill>
                            <a:srgbClr val="262626"/>
                          </a:solidFill>
                          <a:latin typeface="Arial"/>
                        </a:rPr>
                        <a:t>20:26</a:t>
                      </a:r>
                    </a:p>
                  </a:txBody>
                  <a:tcPr>
                    <a:solidFill>
                      <a:srgbClr val="F2F2F2"/>
                    </a:solidFill>
                  </a:tcPr>
                </a:tc>
                <a:tc>
                  <a:txBody>
                    <a:bodyPr wrap="none"/>
                    <a:lstStyle/>
                    <a:p>
                      <a:pPr algn="ctr"/>
                      <a:r>
                        <a:rPr sz="850" b="0" i="0">
                          <a:solidFill>
                            <a:srgbClr val="BFBFBF"/>
                          </a:solidFill>
                          <a:latin typeface="Arial"/>
                        </a:rPr>
                        <a:t>9/17</a:t>
                      </a:r>
                    </a:p>
                  </a:txBody>
                  <a:tcPr>
                    <a:solidFill>
                      <a:srgbClr val="F2F2F2"/>
                    </a:solidFill>
                  </a:tcPr>
                </a:tc>
              </a:tr>
              <a:tr h="256032">
                <a:tc>
                  <a:txBody>
                    <a:bodyPr wrap="none"/>
                    <a:lstStyle/>
                    <a:p>
                      <a:pPr algn="ctr"/>
                      <a:r>
                        <a:rPr sz="850" b="1" i="0">
                          <a:solidFill>
                            <a:srgbClr val="002060"/>
                          </a:solidFill>
                          <a:latin typeface="Arial"/>
                        </a:rPr>
                        <a:t>13</a:t>
                      </a:r>
                    </a:p>
                  </a:txBody>
                  <a:tcPr>
                    <a:solidFill>
                      <a:srgbClr val="FFFFFF"/>
                    </a:solidFill>
                  </a:tcPr>
                </a:tc>
                <a:tc>
                  <a:txBody>
                    <a:bodyPr wrap="none"/>
                    <a:lstStyle/>
                    <a:p>
                      <a:pPr algn="l"/>
                      <a:r>
                        <a:rPr sz="850" b="0" i="0">
                          <a:solidFill>
                            <a:srgbClr val="262626"/>
                          </a:solidFill>
                          <a:latin typeface="Arial"/>
                        </a:rPr>
                        <a:t>Cecilia Perez</a:t>
                      </a:r>
                    </a:p>
                  </a:txBody>
                  <a:tcPr>
                    <a:solidFill>
                      <a:srgbClr val="FFFFFF"/>
                    </a:solidFill>
                  </a:tcPr>
                </a:tc>
                <a:tc>
                  <a:txBody>
                    <a:bodyPr wrap="none"/>
                    <a:lstStyle/>
                    <a:p>
                      <a:pPr algn="ctr"/>
                      <a:r>
                        <a:rPr sz="850" b="1" i="0">
                          <a:solidFill>
                            <a:srgbClr val="262626"/>
                          </a:solidFill>
                          <a:latin typeface="Arial"/>
                        </a:rPr>
                        <a:t>38%</a:t>
                      </a:r>
                    </a:p>
                  </a:txBody>
                  <a:tcPr>
                    <a:solidFill>
                      <a:srgbClr val="FFFFFF"/>
                    </a:solidFill>
                  </a:tcPr>
                </a:tc>
                <a:tc>
                  <a:txBody>
                    <a:bodyPr wrap="none"/>
                    <a:lstStyle/>
                    <a:p>
                      <a:pPr algn="ctr"/>
                      <a:r>
                        <a:rPr sz="850" b="1" i="0">
                          <a:solidFill>
                            <a:srgbClr val="262626"/>
                          </a:solidFill>
                          <a:latin typeface="Arial"/>
                        </a:rPr>
                        <a:t>10:31</a:t>
                      </a:r>
                    </a:p>
                  </a:txBody>
                  <a:tcPr>
                    <a:solidFill>
                      <a:srgbClr val="FFFFFF"/>
                    </a:solidFill>
                  </a:tcPr>
                </a:tc>
                <a:tc>
                  <a:txBody>
                    <a:bodyPr wrap="none"/>
                    <a:lstStyle/>
                    <a:p>
                      <a:pPr algn="ctr"/>
                      <a:r>
                        <a:rPr sz="850" b="0" i="0">
                          <a:solidFill>
                            <a:srgbClr val="262626"/>
                          </a:solidFill>
                          <a:latin typeface="Arial"/>
                        </a:rPr>
                        <a:t>19:36</a:t>
                      </a:r>
                    </a:p>
                  </a:txBody>
                  <a:tcPr>
                    <a:solidFill>
                      <a:srgbClr val="FFFFFF"/>
                    </a:solidFill>
                  </a:tcPr>
                </a:tc>
                <a:tc>
                  <a:txBody>
                    <a:bodyPr wrap="none"/>
                    <a:lstStyle/>
                    <a:p>
                      <a:pPr algn="ctr"/>
                      <a:r>
                        <a:rPr sz="850" b="0" i="0">
                          <a:solidFill>
                            <a:srgbClr val="BFBFBF"/>
                          </a:solidFill>
                          <a:latin typeface="Arial"/>
                        </a:rPr>
                        <a:t>16/5</a:t>
                      </a:r>
                    </a:p>
                  </a:txBody>
                  <a:tcPr>
                    <a:solidFill>
                      <a:srgbClr val="FFFFFF"/>
                    </a:solidFill>
                  </a:tcPr>
                </a:tc>
              </a:tr>
              <a:tr h="256032">
                <a:tc>
                  <a:txBody>
                    <a:bodyPr wrap="none"/>
                    <a:lstStyle/>
                    <a:p>
                      <a:pPr algn="ctr"/>
                      <a:r>
                        <a:rPr sz="850" b="1" i="0">
                          <a:solidFill>
                            <a:srgbClr val="002060"/>
                          </a:solidFill>
                          <a:latin typeface="Arial"/>
                        </a:rPr>
                        <a:t>14</a:t>
                      </a:r>
                    </a:p>
                  </a:txBody>
                  <a:tcPr>
                    <a:solidFill>
                      <a:srgbClr val="F2F2F2"/>
                    </a:solidFill>
                  </a:tcPr>
                </a:tc>
                <a:tc>
                  <a:txBody>
                    <a:bodyPr wrap="none"/>
                    <a:lstStyle/>
                    <a:p>
                      <a:pPr algn="l"/>
                      <a:r>
                        <a:rPr sz="850" b="0" i="0">
                          <a:solidFill>
                            <a:srgbClr val="262626"/>
                          </a:solidFill>
                          <a:latin typeface="Arial"/>
                        </a:rPr>
                        <a:t>Maria De Los Angeles Bonilla Garcia</a:t>
                      </a:r>
                    </a:p>
                  </a:txBody>
                  <a:tcPr>
                    <a:solidFill>
                      <a:srgbClr val="F2F2F2"/>
                    </a:solidFill>
                  </a:tcPr>
                </a:tc>
                <a:tc>
                  <a:txBody>
                    <a:bodyPr wrap="none"/>
                    <a:lstStyle/>
                    <a:p>
                      <a:pPr algn="ctr"/>
                      <a:r>
                        <a:rPr sz="850" b="1" i="0">
                          <a:solidFill>
                            <a:srgbClr val="262626"/>
                          </a:solidFill>
                          <a:latin typeface="Arial"/>
                        </a:rPr>
                        <a:t>36%</a:t>
                      </a:r>
                    </a:p>
                  </a:txBody>
                  <a:tcPr>
                    <a:solidFill>
                      <a:srgbClr val="F2F2F2"/>
                    </a:solidFill>
                  </a:tcPr>
                </a:tc>
                <a:tc>
                  <a:txBody>
                    <a:bodyPr wrap="none"/>
                    <a:lstStyle/>
                    <a:p>
                      <a:pPr algn="ctr"/>
                      <a:r>
                        <a:rPr sz="850" b="1" i="0">
                          <a:solidFill>
                            <a:srgbClr val="262626"/>
                          </a:solidFill>
                          <a:latin typeface="Arial"/>
                        </a:rPr>
                        <a:t>10:22</a:t>
                      </a:r>
                    </a:p>
                  </a:txBody>
                  <a:tcPr>
                    <a:solidFill>
                      <a:srgbClr val="F2F2F2"/>
                    </a:solidFill>
                  </a:tcPr>
                </a:tc>
                <a:tc>
                  <a:txBody>
                    <a:bodyPr wrap="none"/>
                    <a:lstStyle/>
                    <a:p>
                      <a:pPr algn="ctr"/>
                      <a:r>
                        <a:rPr sz="850" b="0" i="0">
                          <a:solidFill>
                            <a:srgbClr val="262626"/>
                          </a:solidFill>
                          <a:latin typeface="Arial"/>
                        </a:rPr>
                        <a:t>—</a:t>
                      </a:r>
                    </a:p>
                  </a:txBody>
                  <a:tcPr>
                    <a:solidFill>
                      <a:srgbClr val="F2F2F2"/>
                    </a:solidFill>
                  </a:tcPr>
                </a:tc>
                <a:tc>
                  <a:txBody>
                    <a:bodyPr wrap="none"/>
                    <a:lstStyle/>
                    <a:p>
                      <a:pPr algn="ctr"/>
                      <a:r>
                        <a:rPr sz="850" b="0" i="0">
                          <a:solidFill>
                            <a:srgbClr val="BFBFBF"/>
                          </a:solidFill>
                          <a:latin typeface="Arial"/>
                        </a:rPr>
                        <a:t>11/0</a:t>
                      </a:r>
                    </a:p>
                  </a:txBody>
                  <a:tcPr>
                    <a:solidFill>
                      <a:srgbClr val="F2F2F2"/>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USA World Rankings Snapshot</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Asuncion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97280"/>
            <a:ext cx="11640312" cy="384048"/>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70432"/>
            <a:ext cx="11430000" cy="256032"/>
          </a:xfrm>
          <a:prstGeom prst="rect">
            <a:avLst/>
          </a:prstGeom>
          <a:noFill/>
        </p:spPr>
        <p:txBody>
          <a:bodyPr wrap="square">
            <a:spAutoFit/>
          </a:bodyPr>
          <a:lstStyle/>
          <a:p>
            <a:pPr algn="ctr"/>
            <a:r>
              <a:rPr sz="1200" b="1" i="0">
                <a:solidFill>
                  <a:srgbClr val="002060"/>
                </a:solidFill>
                <a:latin typeface="Arial"/>
              </a:rPr>
              <a:t>As of 2026-08-03   •   World Triathlon Rankings   •   Heading into Asuncion   •   Race tier: World Cup</a:t>
            </a:r>
          </a:p>
        </p:txBody>
      </p:sp>
      <p:sp>
        <p:nvSpPr>
          <p:cNvPr id="10" name="Rectangle 9"/>
          <p:cNvSpPr/>
          <p:nvPr/>
        </p:nvSpPr>
        <p:spPr>
          <a:xfrm>
            <a:off x="274320" y="1600200"/>
            <a:ext cx="11640312" cy="29260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627632"/>
            <a:ext cx="11430000" cy="246888"/>
          </a:xfrm>
          <a:prstGeom prst="rect">
            <a:avLst/>
          </a:prstGeom>
          <a:noFill/>
        </p:spPr>
        <p:txBody>
          <a:bodyPr wrap="square">
            <a:spAutoFit/>
          </a:bodyPr>
          <a:lstStyle/>
          <a:p>
            <a:pPr algn="l"/>
            <a:r>
              <a:rPr sz="1200" b="1" i="0">
                <a:solidFill>
                  <a:srgbClr val="FFFFFF"/>
                </a:solidFill>
                <a:latin typeface="Arial"/>
              </a:rPr>
              <a:t>Max Points Available at this Race</a:t>
            </a:r>
          </a:p>
        </p:txBody>
      </p:sp>
      <p:sp>
        <p:nvSpPr>
          <p:cNvPr id="12" name="Rectangle 11"/>
          <p:cNvSpPr/>
          <p:nvPr/>
        </p:nvSpPr>
        <p:spPr>
          <a:xfrm>
            <a:off x="274320" y="1984248"/>
            <a:ext cx="1803196" cy="502920"/>
          </a:xfrm>
          <a:prstGeom prst="rect">
            <a:avLst/>
          </a:prstGeom>
          <a:solidFill>
            <a:srgbClr val="F2F2F2"/>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2011680"/>
            <a:ext cx="1803196" cy="182880"/>
          </a:xfrm>
          <a:prstGeom prst="rect">
            <a:avLst/>
          </a:prstGeom>
          <a:noFill/>
        </p:spPr>
        <p:txBody>
          <a:bodyPr wrap="square">
            <a:spAutoFit/>
          </a:bodyPr>
          <a:lstStyle/>
          <a:p>
            <a:pPr algn="ctr"/>
            <a:r>
              <a:rPr sz="900" b="1" i="0">
                <a:solidFill>
                  <a:srgbClr val="002060"/>
                </a:solidFill>
                <a:latin typeface="Arial"/>
              </a:rPr>
              <a:t>Win</a:t>
            </a:r>
          </a:p>
        </p:txBody>
      </p:sp>
      <p:sp>
        <p:nvSpPr>
          <p:cNvPr id="14" name="TextBox 13"/>
          <p:cNvSpPr txBox="1"/>
          <p:nvPr/>
        </p:nvSpPr>
        <p:spPr>
          <a:xfrm>
            <a:off x="274320" y="2185416"/>
            <a:ext cx="1803196" cy="292608"/>
          </a:xfrm>
          <a:prstGeom prst="rect">
            <a:avLst/>
          </a:prstGeom>
          <a:noFill/>
        </p:spPr>
        <p:txBody>
          <a:bodyPr wrap="square">
            <a:spAutoFit/>
          </a:bodyPr>
          <a:lstStyle/>
          <a:p>
            <a:pPr algn="ctr"/>
            <a:r>
              <a:rPr sz="1400" b="1" i="0">
                <a:solidFill>
                  <a:srgbClr val="C00000"/>
                </a:solidFill>
                <a:latin typeface="Arial"/>
              </a:rPr>
              <a:t>500 pts</a:t>
            </a:r>
          </a:p>
        </p:txBody>
      </p:sp>
      <p:sp>
        <p:nvSpPr>
          <p:cNvPr id="15" name="Rectangle 14"/>
          <p:cNvSpPr/>
          <p:nvPr/>
        </p:nvSpPr>
        <p:spPr>
          <a:xfrm>
            <a:off x="2242108" y="1984248"/>
            <a:ext cx="1803196" cy="502920"/>
          </a:xfrm>
          <a:prstGeom prst="rect">
            <a:avLst/>
          </a:prstGeom>
          <a:solidFill>
            <a:srgbClr val="F2F2F2"/>
          </a:solidFill>
          <a:ln w="1905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42108" y="2011680"/>
            <a:ext cx="1803196" cy="182880"/>
          </a:xfrm>
          <a:prstGeom prst="rect">
            <a:avLst/>
          </a:prstGeom>
          <a:noFill/>
        </p:spPr>
        <p:txBody>
          <a:bodyPr wrap="square">
            <a:spAutoFit/>
          </a:bodyPr>
          <a:lstStyle/>
          <a:p>
            <a:pPr algn="ctr"/>
            <a:r>
              <a:rPr sz="900" b="1" i="0">
                <a:solidFill>
                  <a:srgbClr val="002060"/>
                </a:solidFill>
                <a:latin typeface="Arial"/>
              </a:rPr>
              <a:t>Podium</a:t>
            </a:r>
          </a:p>
        </p:txBody>
      </p:sp>
      <p:sp>
        <p:nvSpPr>
          <p:cNvPr id="17" name="TextBox 16"/>
          <p:cNvSpPr txBox="1"/>
          <p:nvPr/>
        </p:nvSpPr>
        <p:spPr>
          <a:xfrm>
            <a:off x="2242108" y="2185416"/>
            <a:ext cx="1803196" cy="292608"/>
          </a:xfrm>
          <a:prstGeom prst="rect">
            <a:avLst/>
          </a:prstGeom>
          <a:noFill/>
        </p:spPr>
        <p:txBody>
          <a:bodyPr wrap="square">
            <a:spAutoFit/>
          </a:bodyPr>
          <a:lstStyle/>
          <a:p>
            <a:pPr algn="ctr"/>
            <a:r>
              <a:rPr sz="1400" b="1" i="0">
                <a:solidFill>
                  <a:srgbClr val="002060"/>
                </a:solidFill>
                <a:latin typeface="Arial"/>
              </a:rPr>
              <a:t>427 pts</a:t>
            </a:r>
          </a:p>
        </p:txBody>
      </p:sp>
      <p:sp>
        <p:nvSpPr>
          <p:cNvPr id="18" name="Rectangle 17"/>
          <p:cNvSpPr/>
          <p:nvPr/>
        </p:nvSpPr>
        <p:spPr>
          <a:xfrm>
            <a:off x="4209896" y="1984248"/>
            <a:ext cx="1803196" cy="502920"/>
          </a:xfrm>
          <a:prstGeom prst="rect">
            <a:avLst/>
          </a:prstGeom>
          <a:solidFill>
            <a:srgbClr val="F2F2F2"/>
          </a:solidFill>
          <a:ln w="1905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9896" y="2011680"/>
            <a:ext cx="1803196" cy="182880"/>
          </a:xfrm>
          <a:prstGeom prst="rect">
            <a:avLst/>
          </a:prstGeom>
          <a:noFill/>
        </p:spPr>
        <p:txBody>
          <a:bodyPr wrap="square">
            <a:spAutoFit/>
          </a:bodyPr>
          <a:lstStyle/>
          <a:p>
            <a:pPr algn="ctr"/>
            <a:r>
              <a:rPr sz="900" b="1" i="0">
                <a:solidFill>
                  <a:srgbClr val="002060"/>
                </a:solidFill>
                <a:latin typeface="Arial"/>
              </a:rPr>
              <a:t>Top 5</a:t>
            </a:r>
          </a:p>
        </p:txBody>
      </p:sp>
      <p:sp>
        <p:nvSpPr>
          <p:cNvPr id="20" name="TextBox 19"/>
          <p:cNvSpPr txBox="1"/>
          <p:nvPr/>
        </p:nvSpPr>
        <p:spPr>
          <a:xfrm>
            <a:off x="4209896" y="2185416"/>
            <a:ext cx="1803196" cy="292608"/>
          </a:xfrm>
          <a:prstGeom prst="rect">
            <a:avLst/>
          </a:prstGeom>
          <a:noFill/>
        </p:spPr>
        <p:txBody>
          <a:bodyPr wrap="square">
            <a:spAutoFit/>
          </a:bodyPr>
          <a:lstStyle/>
          <a:p>
            <a:pPr algn="ctr"/>
            <a:r>
              <a:rPr sz="1400" b="1" i="0">
                <a:solidFill>
                  <a:srgbClr val="002060"/>
                </a:solidFill>
                <a:latin typeface="Arial"/>
              </a:rPr>
              <a:t>366 pts</a:t>
            </a:r>
          </a:p>
        </p:txBody>
      </p:sp>
      <p:sp>
        <p:nvSpPr>
          <p:cNvPr id="21" name="Rectangle 20"/>
          <p:cNvSpPr/>
          <p:nvPr/>
        </p:nvSpPr>
        <p:spPr>
          <a:xfrm>
            <a:off x="6177684" y="1984248"/>
            <a:ext cx="1803196" cy="502920"/>
          </a:xfrm>
          <a:prstGeom prst="rect">
            <a:avLst/>
          </a:prstGeom>
          <a:solidFill>
            <a:srgbClr val="F2F2F2"/>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77684" y="2011680"/>
            <a:ext cx="1803196" cy="182880"/>
          </a:xfrm>
          <a:prstGeom prst="rect">
            <a:avLst/>
          </a:prstGeom>
          <a:noFill/>
        </p:spPr>
        <p:txBody>
          <a:bodyPr wrap="square">
            <a:spAutoFit/>
          </a:bodyPr>
          <a:lstStyle/>
          <a:p>
            <a:pPr algn="ctr"/>
            <a:r>
              <a:rPr sz="900" b="1" i="0">
                <a:solidFill>
                  <a:srgbClr val="002060"/>
                </a:solidFill>
                <a:latin typeface="Arial"/>
              </a:rPr>
              <a:t>Top 10</a:t>
            </a:r>
          </a:p>
        </p:txBody>
      </p:sp>
      <p:sp>
        <p:nvSpPr>
          <p:cNvPr id="23" name="TextBox 22"/>
          <p:cNvSpPr txBox="1"/>
          <p:nvPr/>
        </p:nvSpPr>
        <p:spPr>
          <a:xfrm>
            <a:off x="6177684" y="2185416"/>
            <a:ext cx="1803196" cy="292608"/>
          </a:xfrm>
          <a:prstGeom prst="rect">
            <a:avLst/>
          </a:prstGeom>
          <a:noFill/>
        </p:spPr>
        <p:txBody>
          <a:bodyPr wrap="square">
            <a:spAutoFit/>
          </a:bodyPr>
          <a:lstStyle/>
          <a:p>
            <a:pPr algn="ctr"/>
            <a:r>
              <a:rPr sz="1400" b="1" i="0">
                <a:solidFill>
                  <a:srgbClr val="BFBFBF"/>
                </a:solidFill>
                <a:latin typeface="Arial"/>
              </a:rPr>
              <a:t>247 pts</a:t>
            </a:r>
          </a:p>
        </p:txBody>
      </p:sp>
      <p:sp>
        <p:nvSpPr>
          <p:cNvPr id="24" name="Rectangle 23"/>
          <p:cNvSpPr/>
          <p:nvPr/>
        </p:nvSpPr>
        <p:spPr>
          <a:xfrm>
            <a:off x="8145472" y="1984248"/>
            <a:ext cx="1803196" cy="502920"/>
          </a:xfrm>
          <a:prstGeom prst="rect">
            <a:avLst/>
          </a:prstGeom>
          <a:solidFill>
            <a:srgbClr val="F2F2F2"/>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45472" y="2011680"/>
            <a:ext cx="1803196" cy="182880"/>
          </a:xfrm>
          <a:prstGeom prst="rect">
            <a:avLst/>
          </a:prstGeom>
          <a:noFill/>
        </p:spPr>
        <p:txBody>
          <a:bodyPr wrap="square">
            <a:spAutoFit/>
          </a:bodyPr>
          <a:lstStyle/>
          <a:p>
            <a:pPr algn="ctr"/>
            <a:r>
              <a:rPr sz="900" b="1" i="0">
                <a:solidFill>
                  <a:srgbClr val="002060"/>
                </a:solidFill>
                <a:latin typeface="Arial"/>
              </a:rPr>
              <a:t>Top 15</a:t>
            </a:r>
          </a:p>
        </p:txBody>
      </p:sp>
      <p:sp>
        <p:nvSpPr>
          <p:cNvPr id="26" name="TextBox 25"/>
          <p:cNvSpPr txBox="1"/>
          <p:nvPr/>
        </p:nvSpPr>
        <p:spPr>
          <a:xfrm>
            <a:off x="8145472" y="2185416"/>
            <a:ext cx="1803196" cy="292608"/>
          </a:xfrm>
          <a:prstGeom prst="rect">
            <a:avLst/>
          </a:prstGeom>
          <a:noFill/>
        </p:spPr>
        <p:txBody>
          <a:bodyPr wrap="square">
            <a:spAutoFit/>
          </a:bodyPr>
          <a:lstStyle/>
          <a:p>
            <a:pPr algn="ctr"/>
            <a:r>
              <a:rPr sz="1400" b="1" i="0">
                <a:solidFill>
                  <a:srgbClr val="BFBFBF"/>
                </a:solidFill>
                <a:latin typeface="Arial"/>
              </a:rPr>
              <a:t>167 pts</a:t>
            </a:r>
          </a:p>
        </p:txBody>
      </p:sp>
      <p:sp>
        <p:nvSpPr>
          <p:cNvPr id="27" name="Rectangle 26"/>
          <p:cNvSpPr/>
          <p:nvPr/>
        </p:nvSpPr>
        <p:spPr>
          <a:xfrm>
            <a:off x="10113260" y="1984248"/>
            <a:ext cx="1803196" cy="502920"/>
          </a:xfrm>
          <a:prstGeom prst="rect">
            <a:avLst/>
          </a:prstGeom>
          <a:solidFill>
            <a:srgbClr val="F2F2F2"/>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13260" y="2011680"/>
            <a:ext cx="1803196" cy="182880"/>
          </a:xfrm>
          <a:prstGeom prst="rect">
            <a:avLst/>
          </a:prstGeom>
          <a:noFill/>
        </p:spPr>
        <p:txBody>
          <a:bodyPr wrap="square">
            <a:spAutoFit/>
          </a:bodyPr>
          <a:lstStyle/>
          <a:p>
            <a:pPr algn="ctr"/>
            <a:r>
              <a:rPr sz="900" b="1" i="0">
                <a:solidFill>
                  <a:srgbClr val="002060"/>
                </a:solidFill>
                <a:latin typeface="Arial"/>
              </a:rPr>
              <a:t>Top 20</a:t>
            </a:r>
          </a:p>
        </p:txBody>
      </p:sp>
      <p:sp>
        <p:nvSpPr>
          <p:cNvPr id="29" name="TextBox 28"/>
          <p:cNvSpPr txBox="1"/>
          <p:nvPr/>
        </p:nvSpPr>
        <p:spPr>
          <a:xfrm>
            <a:off x="10113260" y="2185416"/>
            <a:ext cx="1803196" cy="292608"/>
          </a:xfrm>
          <a:prstGeom prst="rect">
            <a:avLst/>
          </a:prstGeom>
          <a:noFill/>
        </p:spPr>
        <p:txBody>
          <a:bodyPr wrap="square">
            <a:spAutoFit/>
          </a:bodyPr>
          <a:lstStyle/>
          <a:p>
            <a:pPr algn="ctr"/>
            <a:r>
              <a:rPr sz="1400" b="1" i="0">
                <a:solidFill>
                  <a:srgbClr val="BFBFBF"/>
                </a:solidFill>
                <a:latin typeface="Arial"/>
              </a:rPr>
              <a:t>113 pts</a:t>
            </a:r>
          </a:p>
        </p:txBody>
      </p:sp>
      <p:sp>
        <p:nvSpPr>
          <p:cNvPr id="30" name="Rectangle 29"/>
          <p:cNvSpPr/>
          <p:nvPr/>
        </p:nvSpPr>
        <p:spPr>
          <a:xfrm>
            <a:off x="274320" y="2606040"/>
            <a:ext cx="5788152" cy="29260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2633472"/>
            <a:ext cx="5788152" cy="237744"/>
          </a:xfrm>
          <a:prstGeom prst="rect">
            <a:avLst/>
          </a:prstGeom>
          <a:noFill/>
        </p:spPr>
        <p:txBody>
          <a:bodyPr wrap="square">
            <a:spAutoFit/>
          </a:bodyPr>
          <a:lstStyle/>
          <a:p>
            <a:pPr algn="ctr"/>
            <a:r>
              <a:rPr sz="1100" b="1" i="0">
                <a:solidFill>
                  <a:srgbClr val="FFFFFF"/>
                </a:solidFill>
                <a:latin typeface="Arial"/>
              </a:rPr>
              <a:t>ELITE MEN</a:t>
            </a:r>
          </a:p>
        </p:txBody>
      </p:sp>
      <p:graphicFrame>
        <p:nvGraphicFramePr>
          <p:cNvPr id="32" name="Table 31"/>
          <p:cNvGraphicFramePr>
            <a:graphicFrameLocks noGrp="1"/>
          </p:cNvGraphicFramePr>
          <p:nvPr/>
        </p:nvGraphicFramePr>
        <p:xfrm>
          <a:off x="274320" y="2935224"/>
          <a:ext cx="5787236" cy="3584448"/>
        </p:xfrm>
        <a:graphic>
          <a:graphicData uri="http://schemas.openxmlformats.org/drawingml/2006/table">
            <a:tbl>
              <a:tblPr firstRow="1" bandRow="1">
                <a:tableStyleId>{5C22544A-7EE6-4342-B048-85BDC9FD1C3A}</a:tableStyleId>
              </a:tblPr>
              <a:tblGrid>
                <a:gridCol w="783640"/>
                <a:gridCol w="2531973"/>
                <a:gridCol w="1145743"/>
                <a:gridCol w="662940"/>
                <a:gridCol w="662940"/>
              </a:tblGrid>
              <a:tr h="224028">
                <a:tc>
                  <a:txBody>
                    <a:bodyPr wrap="none"/>
                    <a:lstStyle/>
                    <a:p>
                      <a:pPr algn="ctr"/>
                      <a:r>
                        <a:rPr sz="900" b="1" i="0">
                          <a:solidFill>
                            <a:srgbClr val="FFFFFF"/>
                          </a:solidFill>
                          <a:latin typeface="Arial"/>
                        </a:rPr>
                        <a:t>Rank</a:t>
                      </a:r>
                    </a:p>
                  </a:txBody>
                  <a:tcPr>
                    <a:solidFill>
                      <a:srgbClr val="002060"/>
                    </a:solidFill>
                  </a:tcPr>
                </a:tc>
                <a:tc>
                  <a:txBody>
                    <a:bodyPr wrap="none"/>
                    <a:lstStyle/>
                    <a:p>
                      <a:pPr algn="l"/>
                      <a:r>
                        <a:rPr sz="900" b="1" i="0">
                          <a:solidFill>
                            <a:srgbClr val="FFFFFF"/>
                          </a:solidFill>
                          <a:latin typeface="Arial"/>
                        </a:rPr>
                        <a:t>Athlete</a:t>
                      </a:r>
                    </a:p>
                  </a:txBody>
                  <a:tcPr>
                    <a:solidFill>
                      <a:srgbClr val="002060"/>
                    </a:solidFill>
                  </a:tcPr>
                </a:tc>
                <a:tc>
                  <a:txBody>
                    <a:bodyPr wrap="none"/>
                    <a:lstStyle/>
                    <a:p>
                      <a:pPr algn="ctr"/>
                      <a:r>
                        <a:rPr sz="900" b="1" i="0">
                          <a:solidFill>
                            <a:srgbClr val="FFFFFF"/>
                          </a:solidFill>
                          <a:latin typeface="Arial"/>
                        </a:rPr>
                        <a:t>Points</a:t>
                      </a:r>
                    </a:p>
                  </a:txBody>
                  <a:tcPr>
                    <a:solidFill>
                      <a:srgbClr val="002060"/>
                    </a:solidFill>
                  </a:tcPr>
                </a:tc>
                <a:tc>
                  <a:txBody>
                    <a:bodyPr wrap="none"/>
                    <a:lstStyle/>
                    <a:p>
                      <a:pPr algn="ctr"/>
                      <a:r>
                        <a:rPr sz="900" b="1" i="0">
                          <a:solidFill>
                            <a:srgbClr val="FFFFFF"/>
                          </a:solidFill>
                          <a:latin typeface="Arial"/>
                        </a:rPr>
                        <a:t>Curr</a:t>
                      </a:r>
                    </a:p>
                  </a:txBody>
                  <a:tcPr>
                    <a:solidFill>
                      <a:srgbClr val="002060"/>
                    </a:solidFill>
                  </a:tcPr>
                </a:tc>
                <a:tc>
                  <a:txBody>
                    <a:bodyPr wrap="none"/>
                    <a:lstStyle/>
                    <a:p>
                      <a:pPr algn="ctr"/>
                      <a:r>
                        <a:rPr sz="900" b="1" i="0">
                          <a:solidFill>
                            <a:srgbClr val="FFFFFF"/>
                          </a:solidFill>
                          <a:latin typeface="Arial"/>
                        </a:rPr>
                        <a:t>Prev</a:t>
                      </a:r>
                    </a:p>
                  </a:txBody>
                  <a:tcPr>
                    <a:solidFill>
                      <a:srgbClr val="002060"/>
                    </a:solidFill>
                  </a:tcPr>
                </a:tc>
              </a:tr>
              <a:tr h="224028">
                <a:tc>
                  <a:txBody>
                    <a:bodyPr wrap="none"/>
                    <a:lstStyle/>
                    <a:p>
                      <a:pPr algn="ctr"/>
                      <a:r>
                        <a:rPr sz="850" b="1" i="0">
                          <a:solidFill>
                            <a:srgbClr val="262626"/>
                          </a:solidFill>
                          <a:latin typeface="Arial"/>
                        </a:rPr>
                        <a:t>20</a:t>
                      </a:r>
                    </a:p>
                  </a:txBody>
                  <a:tcPr>
                    <a:solidFill>
                      <a:srgbClr val="FFFFFF"/>
                    </a:solidFill>
                  </a:tcPr>
                </a:tc>
                <a:tc>
                  <a:txBody>
                    <a:bodyPr wrap="none"/>
                    <a:lstStyle/>
                    <a:p>
                      <a:pPr algn="l"/>
                      <a:r>
                        <a:rPr sz="850" b="0" i="0">
                          <a:solidFill>
                            <a:srgbClr val="262626"/>
                          </a:solidFill>
                          <a:latin typeface="Arial"/>
                        </a:rPr>
                        <a:t>Reese Vannerson</a:t>
                      </a:r>
                    </a:p>
                  </a:txBody>
                  <a:tcPr>
                    <a:solidFill>
                      <a:srgbClr val="FFFFFF"/>
                    </a:solidFill>
                  </a:tcPr>
                </a:tc>
                <a:tc>
                  <a:txBody>
                    <a:bodyPr wrap="none"/>
                    <a:lstStyle/>
                    <a:p>
                      <a:pPr algn="ctr"/>
                      <a:r>
                        <a:rPr sz="850" b="0" i="0">
                          <a:solidFill>
                            <a:srgbClr val="262626"/>
                          </a:solidFill>
                          <a:latin typeface="Arial"/>
                        </a:rPr>
                        <a:t>2,911</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21</a:t>
                      </a:r>
                    </a:p>
                  </a:txBody>
                  <a:tcPr>
                    <a:solidFill>
                      <a:srgbClr val="F2F2F2"/>
                    </a:solidFill>
                  </a:tcPr>
                </a:tc>
                <a:tc>
                  <a:txBody>
                    <a:bodyPr wrap="none"/>
                    <a:lstStyle/>
                    <a:p>
                      <a:pPr algn="l"/>
                      <a:r>
                        <a:rPr sz="850" b="0" i="0">
                          <a:solidFill>
                            <a:srgbClr val="262626"/>
                          </a:solidFill>
                          <a:latin typeface="Arial"/>
                        </a:rPr>
                        <a:t>John Reed</a:t>
                      </a:r>
                    </a:p>
                  </a:txBody>
                  <a:tcPr>
                    <a:solidFill>
                      <a:srgbClr val="F2F2F2"/>
                    </a:solidFill>
                  </a:tcPr>
                </a:tc>
                <a:tc>
                  <a:txBody>
                    <a:bodyPr wrap="none"/>
                    <a:lstStyle/>
                    <a:p>
                      <a:pPr algn="ctr"/>
                      <a:r>
                        <a:rPr sz="850" b="0" i="0">
                          <a:solidFill>
                            <a:srgbClr val="262626"/>
                          </a:solidFill>
                          <a:latin typeface="Arial"/>
                        </a:rPr>
                        <a:t>2,898</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27</a:t>
                      </a:r>
                    </a:p>
                  </a:txBody>
                  <a:tcPr>
                    <a:solidFill>
                      <a:srgbClr val="FFFFFF"/>
                    </a:solidFill>
                  </a:tcPr>
                </a:tc>
                <a:tc>
                  <a:txBody>
                    <a:bodyPr wrap="none"/>
                    <a:lstStyle/>
                    <a:p>
                      <a:pPr algn="l"/>
                      <a:r>
                        <a:rPr sz="850" b="0" i="0">
                          <a:solidFill>
                            <a:srgbClr val="262626"/>
                          </a:solidFill>
                          <a:latin typeface="Arial"/>
                        </a:rPr>
                        <a:t>Morgan Pearson</a:t>
                      </a:r>
                    </a:p>
                  </a:txBody>
                  <a:tcPr>
                    <a:solidFill>
                      <a:srgbClr val="FFFFFF"/>
                    </a:solidFill>
                  </a:tcPr>
                </a:tc>
                <a:tc>
                  <a:txBody>
                    <a:bodyPr wrap="none"/>
                    <a:lstStyle/>
                    <a:p>
                      <a:pPr algn="ctr"/>
                      <a:r>
                        <a:rPr sz="850" b="0" i="0">
                          <a:solidFill>
                            <a:srgbClr val="262626"/>
                          </a:solidFill>
                          <a:latin typeface="Arial"/>
                        </a:rPr>
                        <a:t>2,680</a:t>
                      </a:r>
                    </a:p>
                  </a:txBody>
                  <a:tcPr>
                    <a:solidFill>
                      <a:srgbClr val="FFFFFF"/>
                    </a:solidFill>
                  </a:tcPr>
                </a:tc>
                <a:tc>
                  <a:txBody>
                    <a:bodyPr wrap="none"/>
                    <a:lstStyle/>
                    <a:p>
                      <a:pPr algn="ctr"/>
                      <a:r>
                        <a:rPr sz="850" b="0" i="0">
                          <a:solidFill>
                            <a:srgbClr val="262626"/>
                          </a:solidFill>
                          <a:latin typeface="Arial"/>
                        </a:rPr>
                        <a:t>5</a:t>
                      </a:r>
                    </a:p>
                  </a:txBody>
                  <a:tcPr>
                    <a:solidFill>
                      <a:srgbClr val="FFFFFF"/>
                    </a:solidFill>
                  </a:tcPr>
                </a:tc>
                <a:tc>
                  <a:txBody>
                    <a:bodyPr wrap="none"/>
                    <a:lstStyle/>
                    <a:p>
                      <a:pPr algn="ctr"/>
                      <a:r>
                        <a:rPr sz="850" b="0" i="0">
                          <a:solidFill>
                            <a:srgbClr val="262626"/>
                          </a:solidFill>
                          <a:latin typeface="Arial"/>
                        </a:rPr>
                        <a:t>4</a:t>
                      </a:r>
                    </a:p>
                  </a:txBody>
                  <a:tcPr>
                    <a:solidFill>
                      <a:srgbClr val="FFFFFF"/>
                    </a:solidFill>
                  </a:tcPr>
                </a:tc>
              </a:tr>
              <a:tr h="224028">
                <a:tc>
                  <a:txBody>
                    <a:bodyPr wrap="none"/>
                    <a:lstStyle/>
                    <a:p>
                      <a:pPr algn="ctr"/>
                      <a:r>
                        <a:rPr sz="850" b="1" i="0">
                          <a:solidFill>
                            <a:srgbClr val="262626"/>
                          </a:solidFill>
                          <a:latin typeface="Arial"/>
                        </a:rPr>
                        <a:t>42</a:t>
                      </a:r>
                    </a:p>
                  </a:txBody>
                  <a:tcPr>
                    <a:solidFill>
                      <a:srgbClr val="F2F2F2"/>
                    </a:solidFill>
                  </a:tcPr>
                </a:tc>
                <a:tc>
                  <a:txBody>
                    <a:bodyPr wrap="none"/>
                    <a:lstStyle/>
                    <a:p>
                      <a:pPr algn="l"/>
                      <a:r>
                        <a:rPr sz="850" b="0" i="0">
                          <a:solidFill>
                            <a:srgbClr val="262626"/>
                          </a:solidFill>
                          <a:latin typeface="Arial"/>
                        </a:rPr>
                        <a:t>Braxton Legg</a:t>
                      </a:r>
                    </a:p>
                  </a:txBody>
                  <a:tcPr>
                    <a:solidFill>
                      <a:srgbClr val="F2F2F2"/>
                    </a:solidFill>
                  </a:tcPr>
                </a:tc>
                <a:tc>
                  <a:txBody>
                    <a:bodyPr wrap="none"/>
                    <a:lstStyle/>
                    <a:p>
                      <a:pPr algn="ctr"/>
                      <a:r>
                        <a:rPr sz="850" b="0" i="0">
                          <a:solidFill>
                            <a:srgbClr val="262626"/>
                          </a:solidFill>
                          <a:latin typeface="Arial"/>
                        </a:rPr>
                        <a:t>2,442</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52</a:t>
                      </a:r>
                    </a:p>
                  </a:txBody>
                  <a:tcPr>
                    <a:solidFill>
                      <a:srgbClr val="FFFFFF"/>
                    </a:solidFill>
                  </a:tcPr>
                </a:tc>
                <a:tc>
                  <a:txBody>
                    <a:bodyPr wrap="none"/>
                    <a:lstStyle/>
                    <a:p>
                      <a:pPr algn="l"/>
                      <a:r>
                        <a:rPr sz="850" b="0" i="0">
                          <a:solidFill>
                            <a:srgbClr val="262626"/>
                          </a:solidFill>
                          <a:latin typeface="Arial"/>
                        </a:rPr>
                        <a:t>Seth Rider</a:t>
                      </a:r>
                    </a:p>
                  </a:txBody>
                  <a:tcPr>
                    <a:solidFill>
                      <a:srgbClr val="FFFFFF"/>
                    </a:solidFill>
                  </a:tcPr>
                </a:tc>
                <a:tc>
                  <a:txBody>
                    <a:bodyPr wrap="none"/>
                    <a:lstStyle/>
                    <a:p>
                      <a:pPr algn="ctr"/>
                      <a:r>
                        <a:rPr sz="850" b="0" i="0">
                          <a:solidFill>
                            <a:srgbClr val="262626"/>
                          </a:solidFill>
                          <a:latin typeface="Arial"/>
                        </a:rPr>
                        <a:t>2,243</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4</a:t>
                      </a:r>
                    </a:p>
                  </a:txBody>
                  <a:tcPr>
                    <a:solidFill>
                      <a:srgbClr val="FFFFFF"/>
                    </a:solidFill>
                  </a:tcPr>
                </a:tc>
              </a:tr>
              <a:tr h="224028">
                <a:tc>
                  <a:txBody>
                    <a:bodyPr wrap="none"/>
                    <a:lstStyle/>
                    <a:p>
                      <a:pPr algn="ctr"/>
                      <a:r>
                        <a:rPr sz="850" b="1" i="0">
                          <a:solidFill>
                            <a:srgbClr val="262626"/>
                          </a:solidFill>
                          <a:latin typeface="Arial"/>
                        </a:rPr>
                        <a:t>53</a:t>
                      </a:r>
                    </a:p>
                  </a:txBody>
                  <a:tcPr>
                    <a:solidFill>
                      <a:srgbClr val="F2F2F2"/>
                    </a:solidFill>
                  </a:tcPr>
                </a:tc>
                <a:tc>
                  <a:txBody>
                    <a:bodyPr wrap="none"/>
                    <a:lstStyle/>
                    <a:p>
                      <a:pPr algn="l"/>
                      <a:r>
                        <a:rPr sz="850" b="0" i="0">
                          <a:solidFill>
                            <a:srgbClr val="262626"/>
                          </a:solidFill>
                          <a:latin typeface="Arial"/>
                        </a:rPr>
                        <a:t>Sullivan Middaugh</a:t>
                      </a:r>
                    </a:p>
                  </a:txBody>
                  <a:tcPr>
                    <a:solidFill>
                      <a:srgbClr val="F2F2F2"/>
                    </a:solidFill>
                  </a:tcPr>
                </a:tc>
                <a:tc>
                  <a:txBody>
                    <a:bodyPr wrap="none"/>
                    <a:lstStyle/>
                    <a:p>
                      <a:pPr algn="ctr"/>
                      <a:r>
                        <a:rPr sz="850" b="0" i="0">
                          <a:solidFill>
                            <a:srgbClr val="262626"/>
                          </a:solidFill>
                          <a:latin typeface="Arial"/>
                        </a:rPr>
                        <a:t>2,234</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72</a:t>
                      </a:r>
                    </a:p>
                  </a:txBody>
                  <a:tcPr>
                    <a:solidFill>
                      <a:srgbClr val="FFFFFF"/>
                    </a:solidFill>
                  </a:tcPr>
                </a:tc>
                <a:tc>
                  <a:txBody>
                    <a:bodyPr wrap="none"/>
                    <a:lstStyle/>
                    <a:p>
                      <a:pPr algn="l"/>
                      <a:r>
                        <a:rPr sz="850" b="0" i="0">
                          <a:solidFill>
                            <a:srgbClr val="262626"/>
                          </a:solidFill>
                          <a:latin typeface="Arial"/>
                        </a:rPr>
                        <a:t>Keller Norland</a:t>
                      </a:r>
                    </a:p>
                  </a:txBody>
                  <a:tcPr>
                    <a:solidFill>
                      <a:srgbClr val="FFFFFF"/>
                    </a:solidFill>
                  </a:tcPr>
                </a:tc>
                <a:tc>
                  <a:txBody>
                    <a:bodyPr wrap="none"/>
                    <a:lstStyle/>
                    <a:p>
                      <a:pPr algn="ctr"/>
                      <a:r>
                        <a:rPr sz="850" b="0" i="0">
                          <a:solidFill>
                            <a:srgbClr val="262626"/>
                          </a:solidFill>
                          <a:latin typeface="Arial"/>
                        </a:rPr>
                        <a:t>1,863</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77</a:t>
                      </a:r>
                    </a:p>
                  </a:txBody>
                  <a:tcPr>
                    <a:solidFill>
                      <a:srgbClr val="F2F2F2"/>
                    </a:solidFill>
                  </a:tcPr>
                </a:tc>
                <a:tc>
                  <a:txBody>
                    <a:bodyPr wrap="none"/>
                    <a:lstStyle/>
                    <a:p>
                      <a:pPr algn="l"/>
                      <a:r>
                        <a:rPr sz="850" b="0" i="0">
                          <a:solidFill>
                            <a:srgbClr val="262626"/>
                          </a:solidFill>
                          <a:latin typeface="Arial"/>
                        </a:rPr>
                        <a:t>Blake Bullard</a:t>
                      </a:r>
                    </a:p>
                  </a:txBody>
                  <a:tcPr>
                    <a:solidFill>
                      <a:srgbClr val="F2F2F2"/>
                    </a:solidFill>
                  </a:tcPr>
                </a:tc>
                <a:tc>
                  <a:txBody>
                    <a:bodyPr wrap="none"/>
                    <a:lstStyle/>
                    <a:p>
                      <a:pPr algn="ctr"/>
                      <a:r>
                        <a:rPr sz="850" b="0" i="0">
                          <a:solidFill>
                            <a:srgbClr val="262626"/>
                          </a:solidFill>
                          <a:latin typeface="Arial"/>
                        </a:rPr>
                        <a:t>1,761</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82</a:t>
                      </a:r>
                    </a:p>
                  </a:txBody>
                  <a:tcPr>
                    <a:solidFill>
                      <a:srgbClr val="FFFFFF"/>
                    </a:solidFill>
                  </a:tcPr>
                </a:tc>
                <a:tc>
                  <a:txBody>
                    <a:bodyPr wrap="none"/>
                    <a:lstStyle/>
                    <a:p>
                      <a:pPr algn="l"/>
                      <a:r>
                        <a:rPr sz="850" b="0" i="0">
                          <a:solidFill>
                            <a:srgbClr val="262626"/>
                          </a:solidFill>
                          <a:latin typeface="Arial"/>
                        </a:rPr>
                        <a:t>Chase McQueen</a:t>
                      </a:r>
                    </a:p>
                  </a:txBody>
                  <a:tcPr>
                    <a:solidFill>
                      <a:srgbClr val="FFFFFF"/>
                    </a:solidFill>
                  </a:tcPr>
                </a:tc>
                <a:tc>
                  <a:txBody>
                    <a:bodyPr wrap="none"/>
                    <a:lstStyle/>
                    <a:p>
                      <a:pPr algn="ctr"/>
                      <a:r>
                        <a:rPr sz="850" b="0" i="0">
                          <a:solidFill>
                            <a:srgbClr val="262626"/>
                          </a:solidFill>
                          <a:latin typeface="Arial"/>
                        </a:rPr>
                        <a:t>1,708</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107</a:t>
                      </a:r>
                    </a:p>
                  </a:txBody>
                  <a:tcPr>
                    <a:solidFill>
                      <a:srgbClr val="F2F2F2"/>
                    </a:solidFill>
                  </a:tcPr>
                </a:tc>
                <a:tc>
                  <a:txBody>
                    <a:bodyPr wrap="none"/>
                    <a:lstStyle/>
                    <a:p>
                      <a:pPr algn="l"/>
                      <a:r>
                        <a:rPr sz="850" b="0" i="0">
                          <a:solidFill>
                            <a:srgbClr val="262626"/>
                          </a:solidFill>
                          <a:latin typeface="Arial"/>
                        </a:rPr>
                        <a:t>Porter Middaugh</a:t>
                      </a:r>
                    </a:p>
                  </a:txBody>
                  <a:tcPr>
                    <a:solidFill>
                      <a:srgbClr val="F2F2F2"/>
                    </a:solidFill>
                  </a:tcPr>
                </a:tc>
                <a:tc>
                  <a:txBody>
                    <a:bodyPr wrap="none"/>
                    <a:lstStyle/>
                    <a:p>
                      <a:pPr algn="ctr"/>
                      <a:r>
                        <a:rPr sz="850" b="0" i="0">
                          <a:solidFill>
                            <a:srgbClr val="262626"/>
                          </a:solidFill>
                          <a:latin typeface="Arial"/>
                        </a:rPr>
                        <a:t>1,494</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112</a:t>
                      </a:r>
                    </a:p>
                  </a:txBody>
                  <a:tcPr>
                    <a:solidFill>
                      <a:srgbClr val="FFFFFF"/>
                    </a:solidFill>
                  </a:tcPr>
                </a:tc>
                <a:tc>
                  <a:txBody>
                    <a:bodyPr wrap="none"/>
                    <a:lstStyle/>
                    <a:p>
                      <a:pPr algn="l"/>
                      <a:r>
                        <a:rPr sz="850" b="0" i="0">
                          <a:solidFill>
                            <a:srgbClr val="262626"/>
                          </a:solidFill>
                          <a:latin typeface="Arial"/>
                        </a:rPr>
                        <a:t>Darr Smith</a:t>
                      </a:r>
                    </a:p>
                  </a:txBody>
                  <a:tcPr>
                    <a:solidFill>
                      <a:srgbClr val="FFFFFF"/>
                    </a:solidFill>
                  </a:tcPr>
                </a:tc>
                <a:tc>
                  <a:txBody>
                    <a:bodyPr wrap="none"/>
                    <a:lstStyle/>
                    <a:p>
                      <a:pPr algn="ctr"/>
                      <a:r>
                        <a:rPr sz="850" b="0" i="0">
                          <a:solidFill>
                            <a:srgbClr val="262626"/>
                          </a:solidFill>
                          <a:latin typeface="Arial"/>
                        </a:rPr>
                        <a:t>1,452</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116</a:t>
                      </a:r>
                    </a:p>
                  </a:txBody>
                  <a:tcPr>
                    <a:solidFill>
                      <a:srgbClr val="F2F2F2"/>
                    </a:solidFill>
                  </a:tcPr>
                </a:tc>
                <a:tc>
                  <a:txBody>
                    <a:bodyPr wrap="none"/>
                    <a:lstStyle/>
                    <a:p>
                      <a:pPr algn="l"/>
                      <a:r>
                        <a:rPr sz="850" b="0" i="0">
                          <a:solidFill>
                            <a:srgbClr val="262626"/>
                          </a:solidFill>
                          <a:latin typeface="Arial"/>
                        </a:rPr>
                        <a:t>Zach Leachman</a:t>
                      </a:r>
                    </a:p>
                  </a:txBody>
                  <a:tcPr>
                    <a:solidFill>
                      <a:srgbClr val="F2F2F2"/>
                    </a:solidFill>
                  </a:tcPr>
                </a:tc>
                <a:tc>
                  <a:txBody>
                    <a:bodyPr wrap="none"/>
                    <a:lstStyle/>
                    <a:p>
                      <a:pPr algn="ctr"/>
                      <a:r>
                        <a:rPr sz="850" b="0" i="0">
                          <a:solidFill>
                            <a:srgbClr val="262626"/>
                          </a:solidFill>
                          <a:latin typeface="Arial"/>
                        </a:rPr>
                        <a:t>1,433</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a:t>
                      </a:r>
                    </a:p>
                  </a:txBody>
                  <a:tcPr>
                    <a:solidFill>
                      <a:srgbClr val="F2F2F2"/>
                    </a:solidFill>
                  </a:tcPr>
                </a:tc>
              </a:tr>
              <a:tr h="224028">
                <a:tc>
                  <a:txBody>
                    <a:bodyPr wrap="none"/>
                    <a:lstStyle/>
                    <a:p>
                      <a:pPr algn="ctr"/>
                      <a:r>
                        <a:rPr sz="850" b="1" i="0">
                          <a:solidFill>
                            <a:srgbClr val="262626"/>
                          </a:solidFill>
                          <a:latin typeface="Arial"/>
                        </a:rPr>
                        <a:t>173</a:t>
                      </a:r>
                    </a:p>
                  </a:txBody>
                  <a:tcPr>
                    <a:solidFill>
                      <a:srgbClr val="FFFFFF"/>
                    </a:solidFill>
                  </a:tcPr>
                </a:tc>
                <a:tc>
                  <a:txBody>
                    <a:bodyPr wrap="none"/>
                    <a:lstStyle/>
                    <a:p>
                      <a:pPr algn="l"/>
                      <a:r>
                        <a:rPr sz="850" b="0" i="0">
                          <a:solidFill>
                            <a:srgbClr val="262626"/>
                          </a:solidFill>
                          <a:latin typeface="Arial"/>
                        </a:rPr>
                        <a:t>Carter Stuhlmacher</a:t>
                      </a:r>
                    </a:p>
                  </a:txBody>
                  <a:tcPr>
                    <a:solidFill>
                      <a:srgbClr val="FFFFFF"/>
                    </a:solidFill>
                  </a:tcPr>
                </a:tc>
                <a:tc>
                  <a:txBody>
                    <a:bodyPr wrap="none"/>
                    <a:lstStyle/>
                    <a:p>
                      <a:pPr algn="ctr"/>
                      <a:r>
                        <a:rPr sz="850" b="0" i="0">
                          <a:solidFill>
                            <a:srgbClr val="262626"/>
                          </a:solidFill>
                          <a:latin typeface="Arial"/>
                        </a:rPr>
                        <a:t>1,041</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4</a:t>
                      </a:r>
                    </a:p>
                  </a:txBody>
                  <a:tcPr>
                    <a:solidFill>
                      <a:srgbClr val="FFFFFF"/>
                    </a:solidFill>
                  </a:tcPr>
                </a:tc>
              </a:tr>
              <a:tr h="224028">
                <a:tc>
                  <a:txBody>
                    <a:bodyPr wrap="none"/>
                    <a:lstStyle/>
                    <a:p>
                      <a:pPr algn="ctr"/>
                      <a:r>
                        <a:rPr sz="850" b="1" i="0">
                          <a:solidFill>
                            <a:srgbClr val="262626"/>
                          </a:solidFill>
                          <a:latin typeface="Arial"/>
                        </a:rPr>
                        <a:t>280</a:t>
                      </a:r>
                    </a:p>
                  </a:txBody>
                  <a:tcPr>
                    <a:solidFill>
                      <a:srgbClr val="F2F2F2"/>
                    </a:solidFill>
                  </a:tcPr>
                </a:tc>
                <a:tc>
                  <a:txBody>
                    <a:bodyPr wrap="none"/>
                    <a:lstStyle/>
                    <a:p>
                      <a:pPr algn="l"/>
                      <a:r>
                        <a:rPr sz="850" b="0" i="0">
                          <a:solidFill>
                            <a:srgbClr val="262626"/>
                          </a:solidFill>
                          <a:latin typeface="Arial"/>
                        </a:rPr>
                        <a:t>Cole Jamieson </a:t>
                      </a:r>
                    </a:p>
                  </a:txBody>
                  <a:tcPr>
                    <a:solidFill>
                      <a:srgbClr val="F2F2F2"/>
                    </a:solidFill>
                  </a:tcPr>
                </a:tc>
                <a:tc>
                  <a:txBody>
                    <a:bodyPr wrap="none"/>
                    <a:lstStyle/>
                    <a:p>
                      <a:pPr algn="ctr"/>
                      <a:r>
                        <a:rPr sz="850" b="0" i="0">
                          <a:solidFill>
                            <a:srgbClr val="262626"/>
                          </a:solidFill>
                          <a:latin typeface="Arial"/>
                        </a:rPr>
                        <a:t>600</a:t>
                      </a:r>
                    </a:p>
                  </a:txBody>
                  <a:tcPr>
                    <a:solidFill>
                      <a:srgbClr val="F2F2F2"/>
                    </a:solidFill>
                  </a:tcPr>
                </a:tc>
                <a:tc>
                  <a:txBody>
                    <a:bodyPr wrap="none"/>
                    <a:lstStyle/>
                    <a:p>
                      <a:pPr algn="ctr"/>
                      <a:r>
                        <a:rPr sz="850" b="0" i="0">
                          <a:solidFill>
                            <a:srgbClr val="262626"/>
                          </a:solidFill>
                          <a:latin typeface="Arial"/>
                        </a:rPr>
                        <a:t>4</a:t>
                      </a:r>
                    </a:p>
                  </a:txBody>
                  <a:tcPr>
                    <a:solidFill>
                      <a:srgbClr val="F2F2F2"/>
                    </a:solidFill>
                  </a:tcPr>
                </a:tc>
                <a:tc>
                  <a:txBody>
                    <a:bodyPr wrap="none"/>
                    <a:lstStyle/>
                    <a:p>
                      <a:pPr algn="ctr"/>
                      <a:r>
                        <a:rPr sz="850" b="0" i="0">
                          <a:solidFill>
                            <a:srgbClr val="262626"/>
                          </a:solidFill>
                          <a:latin typeface="Arial"/>
                        </a:rPr>
                        <a:t>2</a:t>
                      </a:r>
                    </a:p>
                  </a:txBody>
                  <a:tcPr>
                    <a:solidFill>
                      <a:srgbClr val="F2F2F2"/>
                    </a:solidFill>
                  </a:tcPr>
                </a:tc>
              </a:tr>
              <a:tr h="224028">
                <a:tc>
                  <a:txBody>
                    <a:bodyPr wrap="none"/>
                    <a:lstStyle/>
                    <a:p>
                      <a:pPr algn="ctr"/>
                      <a:r>
                        <a:rPr sz="850" b="1" i="0">
                          <a:solidFill>
                            <a:srgbClr val="262626"/>
                          </a:solidFill>
                          <a:latin typeface="Arial"/>
                        </a:rPr>
                        <a:t>381</a:t>
                      </a:r>
                    </a:p>
                  </a:txBody>
                  <a:tcPr>
                    <a:solidFill>
                      <a:srgbClr val="FFFFFF"/>
                    </a:solidFill>
                  </a:tcPr>
                </a:tc>
                <a:tc>
                  <a:txBody>
                    <a:bodyPr wrap="none"/>
                    <a:lstStyle/>
                    <a:p>
                      <a:pPr algn="l"/>
                      <a:r>
                        <a:rPr sz="850" b="0" i="0">
                          <a:solidFill>
                            <a:srgbClr val="262626"/>
                          </a:solidFill>
                          <a:latin typeface="Arial"/>
                        </a:rPr>
                        <a:t>Isaac Lamprecht</a:t>
                      </a:r>
                    </a:p>
                  </a:txBody>
                  <a:tcPr>
                    <a:solidFill>
                      <a:srgbClr val="FFFFFF"/>
                    </a:solidFill>
                  </a:tcPr>
                </a:tc>
                <a:tc>
                  <a:txBody>
                    <a:bodyPr wrap="none"/>
                    <a:lstStyle/>
                    <a:p>
                      <a:pPr algn="ctr"/>
                      <a:r>
                        <a:rPr sz="850" b="0" i="0">
                          <a:solidFill>
                            <a:srgbClr val="262626"/>
                          </a:solidFill>
                          <a:latin typeface="Arial"/>
                        </a:rPr>
                        <a:t>375</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2</a:t>
                      </a:r>
                    </a:p>
                  </a:txBody>
                  <a:tcPr>
                    <a:solidFill>
                      <a:srgbClr val="FFFFFF"/>
                    </a:solidFill>
                  </a:tcPr>
                </a:tc>
              </a:tr>
            </a:tbl>
          </a:graphicData>
        </a:graphic>
      </p:graphicFrame>
      <p:sp>
        <p:nvSpPr>
          <p:cNvPr id="33" name="Rectangle 32"/>
          <p:cNvSpPr/>
          <p:nvPr/>
        </p:nvSpPr>
        <p:spPr>
          <a:xfrm>
            <a:off x="6126480" y="2606040"/>
            <a:ext cx="5788152" cy="29260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0" y="2633472"/>
            <a:ext cx="5788152" cy="237744"/>
          </a:xfrm>
          <a:prstGeom prst="rect">
            <a:avLst/>
          </a:prstGeom>
          <a:noFill/>
        </p:spPr>
        <p:txBody>
          <a:bodyPr wrap="square">
            <a:spAutoFit/>
          </a:bodyPr>
          <a:lstStyle/>
          <a:p>
            <a:pPr algn="ctr"/>
            <a:r>
              <a:rPr sz="1100" b="1" i="0">
                <a:solidFill>
                  <a:srgbClr val="FFFFFF"/>
                </a:solidFill>
                <a:latin typeface="Arial"/>
              </a:rPr>
              <a:t>ELITE WOMEN</a:t>
            </a:r>
          </a:p>
        </p:txBody>
      </p:sp>
      <p:graphicFrame>
        <p:nvGraphicFramePr>
          <p:cNvPr id="35" name="Table 34"/>
          <p:cNvGraphicFramePr>
            <a:graphicFrameLocks noGrp="1"/>
          </p:cNvGraphicFramePr>
          <p:nvPr/>
        </p:nvGraphicFramePr>
        <p:xfrm>
          <a:off x="6126480" y="2935224"/>
          <a:ext cx="5787236" cy="3584448"/>
        </p:xfrm>
        <a:graphic>
          <a:graphicData uri="http://schemas.openxmlformats.org/drawingml/2006/table">
            <a:tbl>
              <a:tblPr firstRow="1" bandRow="1">
                <a:tableStyleId>{5C22544A-7EE6-4342-B048-85BDC9FD1C3A}</a:tableStyleId>
              </a:tblPr>
              <a:tblGrid>
                <a:gridCol w="783640"/>
                <a:gridCol w="2531973"/>
                <a:gridCol w="1145743"/>
                <a:gridCol w="662940"/>
                <a:gridCol w="662940"/>
              </a:tblGrid>
              <a:tr h="224028">
                <a:tc>
                  <a:txBody>
                    <a:bodyPr wrap="none"/>
                    <a:lstStyle/>
                    <a:p>
                      <a:pPr algn="ctr"/>
                      <a:r>
                        <a:rPr sz="900" b="1" i="0">
                          <a:solidFill>
                            <a:srgbClr val="FFFFFF"/>
                          </a:solidFill>
                          <a:latin typeface="Arial"/>
                        </a:rPr>
                        <a:t>Rank</a:t>
                      </a:r>
                    </a:p>
                  </a:txBody>
                  <a:tcPr>
                    <a:solidFill>
                      <a:srgbClr val="002060"/>
                    </a:solidFill>
                  </a:tcPr>
                </a:tc>
                <a:tc>
                  <a:txBody>
                    <a:bodyPr wrap="none"/>
                    <a:lstStyle/>
                    <a:p>
                      <a:pPr algn="l"/>
                      <a:r>
                        <a:rPr sz="900" b="1" i="0">
                          <a:solidFill>
                            <a:srgbClr val="FFFFFF"/>
                          </a:solidFill>
                          <a:latin typeface="Arial"/>
                        </a:rPr>
                        <a:t>Athlete</a:t>
                      </a:r>
                    </a:p>
                  </a:txBody>
                  <a:tcPr>
                    <a:solidFill>
                      <a:srgbClr val="002060"/>
                    </a:solidFill>
                  </a:tcPr>
                </a:tc>
                <a:tc>
                  <a:txBody>
                    <a:bodyPr wrap="none"/>
                    <a:lstStyle/>
                    <a:p>
                      <a:pPr algn="ctr"/>
                      <a:r>
                        <a:rPr sz="900" b="1" i="0">
                          <a:solidFill>
                            <a:srgbClr val="FFFFFF"/>
                          </a:solidFill>
                          <a:latin typeface="Arial"/>
                        </a:rPr>
                        <a:t>Points</a:t>
                      </a:r>
                    </a:p>
                  </a:txBody>
                  <a:tcPr>
                    <a:solidFill>
                      <a:srgbClr val="002060"/>
                    </a:solidFill>
                  </a:tcPr>
                </a:tc>
                <a:tc>
                  <a:txBody>
                    <a:bodyPr wrap="none"/>
                    <a:lstStyle/>
                    <a:p>
                      <a:pPr algn="ctr"/>
                      <a:r>
                        <a:rPr sz="900" b="1" i="0">
                          <a:solidFill>
                            <a:srgbClr val="FFFFFF"/>
                          </a:solidFill>
                          <a:latin typeface="Arial"/>
                        </a:rPr>
                        <a:t>Curr</a:t>
                      </a:r>
                    </a:p>
                  </a:txBody>
                  <a:tcPr>
                    <a:solidFill>
                      <a:srgbClr val="002060"/>
                    </a:solidFill>
                  </a:tcPr>
                </a:tc>
                <a:tc>
                  <a:txBody>
                    <a:bodyPr wrap="none"/>
                    <a:lstStyle/>
                    <a:p>
                      <a:pPr algn="ctr"/>
                      <a:r>
                        <a:rPr sz="900" b="1" i="0">
                          <a:solidFill>
                            <a:srgbClr val="FFFFFF"/>
                          </a:solidFill>
                          <a:latin typeface="Arial"/>
                        </a:rPr>
                        <a:t>Prev</a:t>
                      </a:r>
                    </a:p>
                  </a:txBody>
                  <a:tcPr>
                    <a:solidFill>
                      <a:srgbClr val="002060"/>
                    </a:solidFill>
                  </a:tcPr>
                </a:tc>
              </a:tr>
              <a:tr h="224028">
                <a:tc>
                  <a:txBody>
                    <a:bodyPr wrap="none"/>
                    <a:lstStyle/>
                    <a:p>
                      <a:pPr algn="ctr"/>
                      <a:r>
                        <a:rPr sz="850" b="1" i="0">
                          <a:solidFill>
                            <a:srgbClr val="262626"/>
                          </a:solidFill>
                          <a:latin typeface="Arial"/>
                        </a:rPr>
                        <a:t>9</a:t>
                      </a:r>
                    </a:p>
                  </a:txBody>
                  <a:tcPr>
                    <a:solidFill>
                      <a:srgbClr val="FFFFFF"/>
                    </a:solidFill>
                  </a:tcPr>
                </a:tc>
                <a:tc>
                  <a:txBody>
                    <a:bodyPr wrap="none"/>
                    <a:lstStyle/>
                    <a:p>
                      <a:pPr algn="l"/>
                      <a:r>
                        <a:rPr sz="850" b="0" i="0">
                          <a:solidFill>
                            <a:srgbClr val="262626"/>
                          </a:solidFill>
                          <a:latin typeface="Arial"/>
                        </a:rPr>
                        <a:t>Taylor Spivey</a:t>
                      </a:r>
                    </a:p>
                  </a:txBody>
                  <a:tcPr>
                    <a:solidFill>
                      <a:srgbClr val="FFFFFF"/>
                    </a:solidFill>
                  </a:tcPr>
                </a:tc>
                <a:tc>
                  <a:txBody>
                    <a:bodyPr wrap="none"/>
                    <a:lstStyle/>
                    <a:p>
                      <a:pPr algn="ctr"/>
                      <a:r>
                        <a:rPr sz="850" b="0" i="0">
                          <a:solidFill>
                            <a:srgbClr val="262626"/>
                          </a:solidFill>
                          <a:latin typeface="Arial"/>
                        </a:rPr>
                        <a:t>5,091</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3</a:t>
                      </a:r>
                    </a:p>
                  </a:txBody>
                  <a:tcPr>
                    <a:solidFill>
                      <a:srgbClr val="FFFFFF"/>
                    </a:solidFill>
                  </a:tcPr>
                </a:tc>
              </a:tr>
              <a:tr h="224028">
                <a:tc>
                  <a:txBody>
                    <a:bodyPr wrap="none"/>
                    <a:lstStyle/>
                    <a:p>
                      <a:pPr algn="ctr"/>
                      <a:r>
                        <a:rPr sz="850" b="1" i="0">
                          <a:solidFill>
                            <a:srgbClr val="262626"/>
                          </a:solidFill>
                          <a:latin typeface="Arial"/>
                        </a:rPr>
                        <a:t>16</a:t>
                      </a:r>
                    </a:p>
                  </a:txBody>
                  <a:tcPr>
                    <a:solidFill>
                      <a:srgbClr val="F2F2F2"/>
                    </a:solidFill>
                  </a:tcPr>
                </a:tc>
                <a:tc>
                  <a:txBody>
                    <a:bodyPr wrap="none"/>
                    <a:lstStyle/>
                    <a:p>
                      <a:pPr algn="l"/>
                      <a:r>
                        <a:rPr sz="850" b="0" i="0">
                          <a:solidFill>
                            <a:srgbClr val="262626"/>
                          </a:solidFill>
                          <a:latin typeface="Arial"/>
                        </a:rPr>
                        <a:t>Gina Sereno</a:t>
                      </a:r>
                    </a:p>
                  </a:txBody>
                  <a:tcPr>
                    <a:solidFill>
                      <a:srgbClr val="F2F2F2"/>
                    </a:solidFill>
                  </a:tcPr>
                </a:tc>
                <a:tc>
                  <a:txBody>
                    <a:bodyPr wrap="none"/>
                    <a:lstStyle/>
                    <a:p>
                      <a:pPr algn="ctr"/>
                      <a:r>
                        <a:rPr sz="850" b="0" i="0">
                          <a:solidFill>
                            <a:srgbClr val="262626"/>
                          </a:solidFill>
                          <a:latin typeface="Arial"/>
                        </a:rPr>
                        <a:t>3,205</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26</a:t>
                      </a:r>
                    </a:p>
                  </a:txBody>
                  <a:tcPr>
                    <a:solidFill>
                      <a:srgbClr val="FFFFFF"/>
                    </a:solidFill>
                  </a:tcPr>
                </a:tc>
                <a:tc>
                  <a:txBody>
                    <a:bodyPr wrap="none"/>
                    <a:lstStyle/>
                    <a:p>
                      <a:pPr algn="l"/>
                      <a:r>
                        <a:rPr sz="850" b="0" i="0">
                          <a:solidFill>
                            <a:srgbClr val="262626"/>
                          </a:solidFill>
                          <a:latin typeface="Arial"/>
                        </a:rPr>
                        <a:t>Gwen Jorgensen</a:t>
                      </a:r>
                    </a:p>
                  </a:txBody>
                  <a:tcPr>
                    <a:solidFill>
                      <a:srgbClr val="FFFFFF"/>
                    </a:solidFill>
                  </a:tcPr>
                </a:tc>
                <a:tc>
                  <a:txBody>
                    <a:bodyPr wrap="none"/>
                    <a:lstStyle/>
                    <a:p>
                      <a:pPr algn="ctr"/>
                      <a:r>
                        <a:rPr sz="850" b="0" i="0">
                          <a:solidFill>
                            <a:srgbClr val="262626"/>
                          </a:solidFill>
                          <a:latin typeface="Arial"/>
                        </a:rPr>
                        <a:t>2,700</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38</a:t>
                      </a:r>
                    </a:p>
                  </a:txBody>
                  <a:tcPr>
                    <a:solidFill>
                      <a:srgbClr val="F2F2F2"/>
                    </a:solidFill>
                  </a:tcPr>
                </a:tc>
                <a:tc>
                  <a:txBody>
                    <a:bodyPr wrap="none"/>
                    <a:lstStyle/>
                    <a:p>
                      <a:pPr algn="l"/>
                      <a:r>
                        <a:rPr sz="850" b="0" i="0">
                          <a:solidFill>
                            <a:srgbClr val="262626"/>
                          </a:solidFill>
                          <a:latin typeface="Arial"/>
                        </a:rPr>
                        <a:t>Danielle Orie</a:t>
                      </a:r>
                    </a:p>
                  </a:txBody>
                  <a:tcPr>
                    <a:solidFill>
                      <a:srgbClr val="F2F2F2"/>
                    </a:solidFill>
                  </a:tcPr>
                </a:tc>
                <a:tc>
                  <a:txBody>
                    <a:bodyPr wrap="none"/>
                    <a:lstStyle/>
                    <a:p>
                      <a:pPr algn="ctr"/>
                      <a:r>
                        <a:rPr sz="850" b="0" i="0">
                          <a:solidFill>
                            <a:srgbClr val="262626"/>
                          </a:solidFill>
                          <a:latin typeface="Arial"/>
                        </a:rPr>
                        <a:t>2,432</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40</a:t>
                      </a:r>
                    </a:p>
                  </a:txBody>
                  <a:tcPr>
                    <a:solidFill>
                      <a:srgbClr val="FFFFFF"/>
                    </a:solidFill>
                  </a:tcPr>
                </a:tc>
                <a:tc>
                  <a:txBody>
                    <a:bodyPr wrap="none"/>
                    <a:lstStyle/>
                    <a:p>
                      <a:pPr algn="l"/>
                      <a:r>
                        <a:rPr sz="850" b="0" i="0">
                          <a:solidFill>
                            <a:srgbClr val="262626"/>
                          </a:solidFill>
                          <a:latin typeface="Arial"/>
                        </a:rPr>
                        <a:t>Erika Ackerlund</a:t>
                      </a:r>
                    </a:p>
                  </a:txBody>
                  <a:tcPr>
                    <a:solidFill>
                      <a:srgbClr val="FFFFFF"/>
                    </a:solidFill>
                  </a:tcPr>
                </a:tc>
                <a:tc>
                  <a:txBody>
                    <a:bodyPr wrap="none"/>
                    <a:lstStyle/>
                    <a:p>
                      <a:pPr algn="ctr"/>
                      <a:r>
                        <a:rPr sz="850" b="0" i="0">
                          <a:solidFill>
                            <a:srgbClr val="262626"/>
                          </a:solidFill>
                          <a:latin typeface="Arial"/>
                        </a:rPr>
                        <a:t>2,341</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47</a:t>
                      </a:r>
                    </a:p>
                  </a:txBody>
                  <a:tcPr>
                    <a:solidFill>
                      <a:srgbClr val="F2F2F2"/>
                    </a:solidFill>
                  </a:tcPr>
                </a:tc>
                <a:tc>
                  <a:txBody>
                    <a:bodyPr wrap="none"/>
                    <a:lstStyle/>
                    <a:p>
                      <a:pPr algn="l"/>
                      <a:r>
                        <a:rPr sz="850" b="0" i="0">
                          <a:solidFill>
                            <a:srgbClr val="262626"/>
                          </a:solidFill>
                          <a:latin typeface="Arial"/>
                        </a:rPr>
                        <a:t>Kelly Wetteland</a:t>
                      </a:r>
                    </a:p>
                  </a:txBody>
                  <a:tcPr>
                    <a:solidFill>
                      <a:srgbClr val="F2F2F2"/>
                    </a:solidFill>
                  </a:tcPr>
                </a:tc>
                <a:tc>
                  <a:txBody>
                    <a:bodyPr wrap="none"/>
                    <a:lstStyle/>
                    <a:p>
                      <a:pPr algn="ctr"/>
                      <a:r>
                        <a:rPr sz="850" b="0" i="0">
                          <a:solidFill>
                            <a:srgbClr val="262626"/>
                          </a:solidFill>
                          <a:latin typeface="Arial"/>
                        </a:rPr>
                        <a:t>2,109</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3</a:t>
                      </a:r>
                    </a:p>
                  </a:txBody>
                  <a:tcPr>
                    <a:solidFill>
                      <a:srgbClr val="F2F2F2"/>
                    </a:solidFill>
                  </a:tcPr>
                </a:tc>
              </a:tr>
              <a:tr h="224028">
                <a:tc>
                  <a:txBody>
                    <a:bodyPr wrap="none"/>
                    <a:lstStyle/>
                    <a:p>
                      <a:pPr algn="ctr"/>
                      <a:r>
                        <a:rPr sz="850" b="1" i="0">
                          <a:solidFill>
                            <a:srgbClr val="262626"/>
                          </a:solidFill>
                          <a:latin typeface="Arial"/>
                        </a:rPr>
                        <a:t>52</a:t>
                      </a:r>
                    </a:p>
                  </a:txBody>
                  <a:tcPr>
                    <a:solidFill>
                      <a:srgbClr val="FFFFFF"/>
                    </a:solidFill>
                  </a:tcPr>
                </a:tc>
                <a:tc>
                  <a:txBody>
                    <a:bodyPr wrap="none"/>
                    <a:lstStyle/>
                    <a:p>
                      <a:pPr algn="l"/>
                      <a:r>
                        <a:rPr sz="850" b="0" i="0">
                          <a:solidFill>
                            <a:srgbClr val="262626"/>
                          </a:solidFill>
                          <a:latin typeface="Arial"/>
                        </a:rPr>
                        <a:t>Taylor Knibb</a:t>
                      </a:r>
                    </a:p>
                  </a:txBody>
                  <a:tcPr>
                    <a:solidFill>
                      <a:srgbClr val="FFFFFF"/>
                    </a:solidFill>
                  </a:tcPr>
                </a:tc>
                <a:tc>
                  <a:txBody>
                    <a:bodyPr wrap="none"/>
                    <a:lstStyle/>
                    <a:p>
                      <a:pPr algn="ctr"/>
                      <a:r>
                        <a:rPr sz="850" b="0" i="0">
                          <a:solidFill>
                            <a:srgbClr val="262626"/>
                          </a:solidFill>
                          <a:latin typeface="Arial"/>
                        </a:rPr>
                        <a:t>2,047</a:t>
                      </a:r>
                    </a:p>
                  </a:txBody>
                  <a:tcPr>
                    <a:solidFill>
                      <a:srgbClr val="FFFFFF"/>
                    </a:solidFill>
                  </a:tcPr>
                </a:tc>
                <a:tc>
                  <a:txBody>
                    <a:bodyPr wrap="none"/>
                    <a:lstStyle/>
                    <a:p>
                      <a:pPr algn="ctr"/>
                      <a:r>
                        <a:rPr sz="850" b="0" i="0">
                          <a:solidFill>
                            <a:srgbClr val="262626"/>
                          </a:solidFill>
                          <a:latin typeface="Arial"/>
                        </a:rPr>
                        <a:t>4</a:t>
                      </a:r>
                    </a:p>
                  </a:txBody>
                  <a:tcPr>
                    <a:solidFill>
                      <a:srgbClr val="FFFFFF"/>
                    </a:solidFill>
                  </a:tcPr>
                </a:tc>
                <a:tc>
                  <a:txBody>
                    <a:bodyPr wrap="none"/>
                    <a:lstStyle/>
                    <a:p>
                      <a:pPr algn="ctr"/>
                      <a:r>
                        <a:rPr sz="850" b="0" i="0">
                          <a:solidFill>
                            <a:srgbClr val="262626"/>
                          </a:solidFill>
                          <a:latin typeface="Arial"/>
                        </a:rPr>
                        <a:t>—</a:t>
                      </a:r>
                    </a:p>
                  </a:txBody>
                  <a:tcPr>
                    <a:solidFill>
                      <a:srgbClr val="FFFFFF"/>
                    </a:solidFill>
                  </a:tcPr>
                </a:tc>
              </a:tr>
              <a:tr h="224028">
                <a:tc>
                  <a:txBody>
                    <a:bodyPr wrap="none"/>
                    <a:lstStyle/>
                    <a:p>
                      <a:pPr algn="ctr"/>
                      <a:r>
                        <a:rPr sz="850" b="1" i="0">
                          <a:solidFill>
                            <a:srgbClr val="262626"/>
                          </a:solidFill>
                          <a:latin typeface="Arial"/>
                        </a:rPr>
                        <a:t>60</a:t>
                      </a:r>
                    </a:p>
                  </a:txBody>
                  <a:tcPr>
                    <a:solidFill>
                      <a:srgbClr val="F2F2F2"/>
                    </a:solidFill>
                  </a:tcPr>
                </a:tc>
                <a:tc>
                  <a:txBody>
                    <a:bodyPr wrap="none"/>
                    <a:lstStyle/>
                    <a:p>
                      <a:pPr algn="l"/>
                      <a:r>
                        <a:rPr sz="850" b="0" i="0">
                          <a:solidFill>
                            <a:srgbClr val="262626"/>
                          </a:solidFill>
                          <a:latin typeface="Arial"/>
                        </a:rPr>
                        <a:t>Naomi Ruff</a:t>
                      </a:r>
                    </a:p>
                  </a:txBody>
                  <a:tcPr>
                    <a:solidFill>
                      <a:srgbClr val="F2F2F2"/>
                    </a:solidFill>
                  </a:tcPr>
                </a:tc>
                <a:tc>
                  <a:txBody>
                    <a:bodyPr wrap="none"/>
                    <a:lstStyle/>
                    <a:p>
                      <a:pPr algn="ctr"/>
                      <a:r>
                        <a:rPr sz="850" b="0" i="0">
                          <a:solidFill>
                            <a:srgbClr val="262626"/>
                          </a:solidFill>
                          <a:latin typeface="Arial"/>
                        </a:rPr>
                        <a:t>1,997</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r>
              <a:tr h="224028">
                <a:tc>
                  <a:txBody>
                    <a:bodyPr wrap="none"/>
                    <a:lstStyle/>
                    <a:p>
                      <a:pPr algn="ctr"/>
                      <a:r>
                        <a:rPr sz="850" b="1" i="0">
                          <a:solidFill>
                            <a:srgbClr val="262626"/>
                          </a:solidFill>
                          <a:latin typeface="Arial"/>
                        </a:rPr>
                        <a:t>86</a:t>
                      </a:r>
                    </a:p>
                  </a:txBody>
                  <a:tcPr>
                    <a:solidFill>
                      <a:srgbClr val="FFFFFF"/>
                    </a:solidFill>
                  </a:tcPr>
                </a:tc>
                <a:tc>
                  <a:txBody>
                    <a:bodyPr wrap="none"/>
                    <a:lstStyle/>
                    <a:p>
                      <a:pPr algn="l"/>
                      <a:r>
                        <a:rPr sz="850" b="0" i="0">
                          <a:solidFill>
                            <a:srgbClr val="262626"/>
                          </a:solidFill>
                          <a:latin typeface="Arial"/>
                        </a:rPr>
                        <a:t>Kirsten Kasper</a:t>
                      </a:r>
                    </a:p>
                  </a:txBody>
                  <a:tcPr>
                    <a:solidFill>
                      <a:srgbClr val="FFFFFF"/>
                    </a:solidFill>
                  </a:tcPr>
                </a:tc>
                <a:tc>
                  <a:txBody>
                    <a:bodyPr wrap="none"/>
                    <a:lstStyle/>
                    <a:p>
                      <a:pPr algn="ctr"/>
                      <a:r>
                        <a:rPr sz="850" b="0" i="0">
                          <a:solidFill>
                            <a:srgbClr val="262626"/>
                          </a:solidFill>
                          <a:latin typeface="Arial"/>
                        </a:rPr>
                        <a:t>1,551</a:t>
                      </a:r>
                    </a:p>
                  </a:txBody>
                  <a:tcPr>
                    <a:solidFill>
                      <a:srgbClr val="FFFFFF"/>
                    </a:solidFill>
                  </a:tcPr>
                </a:tc>
                <a:tc>
                  <a:txBody>
                    <a:bodyPr wrap="none"/>
                    <a:lstStyle/>
                    <a:p>
                      <a:pPr algn="ctr"/>
                      <a:r>
                        <a:rPr sz="850" b="0" i="0">
                          <a:solidFill>
                            <a:srgbClr val="262626"/>
                          </a:solidFill>
                          <a:latin typeface="Arial"/>
                        </a:rPr>
                        <a:t>5</a:t>
                      </a:r>
                    </a:p>
                  </a:txBody>
                  <a:tcPr>
                    <a:solidFill>
                      <a:srgbClr val="FFFFFF"/>
                    </a:solidFill>
                  </a:tcPr>
                </a:tc>
                <a:tc>
                  <a:txBody>
                    <a:bodyPr wrap="none"/>
                    <a:lstStyle/>
                    <a:p>
                      <a:pPr algn="ctr"/>
                      <a:r>
                        <a:rPr sz="850" b="0" i="0">
                          <a:solidFill>
                            <a:srgbClr val="262626"/>
                          </a:solidFill>
                          <a:latin typeface="Arial"/>
                        </a:rPr>
                        <a:t>2</a:t>
                      </a:r>
                    </a:p>
                  </a:txBody>
                  <a:tcPr>
                    <a:solidFill>
                      <a:srgbClr val="FFFFFF"/>
                    </a:solidFill>
                  </a:tcPr>
                </a:tc>
              </a:tr>
              <a:tr h="224028">
                <a:tc>
                  <a:txBody>
                    <a:bodyPr wrap="none"/>
                    <a:lstStyle/>
                    <a:p>
                      <a:pPr algn="ctr"/>
                      <a:r>
                        <a:rPr sz="850" b="1" i="0">
                          <a:solidFill>
                            <a:srgbClr val="262626"/>
                          </a:solidFill>
                          <a:latin typeface="Arial"/>
                        </a:rPr>
                        <a:t>87</a:t>
                      </a:r>
                    </a:p>
                  </a:txBody>
                  <a:tcPr>
                    <a:solidFill>
                      <a:srgbClr val="F2F2F2"/>
                    </a:solidFill>
                  </a:tcPr>
                </a:tc>
                <a:tc>
                  <a:txBody>
                    <a:bodyPr wrap="none"/>
                    <a:lstStyle/>
                    <a:p>
                      <a:pPr algn="l"/>
                      <a:r>
                        <a:rPr sz="850" b="0" i="0">
                          <a:solidFill>
                            <a:srgbClr val="262626"/>
                          </a:solidFill>
                          <a:latin typeface="Arial"/>
                        </a:rPr>
                        <a:t>Joy Gill</a:t>
                      </a:r>
                    </a:p>
                  </a:txBody>
                  <a:tcPr>
                    <a:solidFill>
                      <a:srgbClr val="F2F2F2"/>
                    </a:solidFill>
                  </a:tcPr>
                </a:tc>
                <a:tc>
                  <a:txBody>
                    <a:bodyPr wrap="none"/>
                    <a:lstStyle/>
                    <a:p>
                      <a:pPr algn="ctr"/>
                      <a:r>
                        <a:rPr sz="850" b="0" i="0">
                          <a:solidFill>
                            <a:srgbClr val="262626"/>
                          </a:solidFill>
                          <a:latin typeface="Arial"/>
                        </a:rPr>
                        <a:t>1,547</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5</a:t>
                      </a:r>
                    </a:p>
                  </a:txBody>
                  <a:tcPr>
                    <a:solidFill>
                      <a:srgbClr val="F2F2F2"/>
                    </a:solidFill>
                  </a:tcPr>
                </a:tc>
              </a:tr>
              <a:tr h="224028">
                <a:tc>
                  <a:txBody>
                    <a:bodyPr wrap="none"/>
                    <a:lstStyle/>
                    <a:p>
                      <a:pPr algn="ctr"/>
                      <a:r>
                        <a:rPr sz="850" b="1" i="0">
                          <a:solidFill>
                            <a:srgbClr val="262626"/>
                          </a:solidFill>
                          <a:latin typeface="Arial"/>
                        </a:rPr>
                        <a:t>88</a:t>
                      </a:r>
                    </a:p>
                  </a:txBody>
                  <a:tcPr>
                    <a:solidFill>
                      <a:srgbClr val="FFFFFF"/>
                    </a:solidFill>
                  </a:tcPr>
                </a:tc>
                <a:tc>
                  <a:txBody>
                    <a:bodyPr wrap="none"/>
                    <a:lstStyle/>
                    <a:p>
                      <a:pPr algn="l"/>
                      <a:r>
                        <a:rPr sz="850" b="0" i="0">
                          <a:solidFill>
                            <a:srgbClr val="262626"/>
                          </a:solidFill>
                          <a:latin typeface="Arial"/>
                        </a:rPr>
                        <a:t>Eleanor Beveridge</a:t>
                      </a:r>
                    </a:p>
                  </a:txBody>
                  <a:tcPr>
                    <a:solidFill>
                      <a:srgbClr val="FFFFFF"/>
                    </a:solidFill>
                  </a:tcPr>
                </a:tc>
                <a:tc>
                  <a:txBody>
                    <a:bodyPr wrap="none"/>
                    <a:lstStyle/>
                    <a:p>
                      <a:pPr algn="ctr"/>
                      <a:r>
                        <a:rPr sz="850" b="0" i="0">
                          <a:solidFill>
                            <a:srgbClr val="262626"/>
                          </a:solidFill>
                          <a:latin typeface="Arial"/>
                        </a:rPr>
                        <a:t>1,544</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113</a:t>
                      </a:r>
                    </a:p>
                  </a:txBody>
                  <a:tcPr>
                    <a:solidFill>
                      <a:srgbClr val="F2F2F2"/>
                    </a:solidFill>
                  </a:tcPr>
                </a:tc>
                <a:tc>
                  <a:txBody>
                    <a:bodyPr wrap="none"/>
                    <a:lstStyle/>
                    <a:p>
                      <a:pPr algn="l"/>
                      <a:r>
                        <a:rPr sz="850" b="0" i="0">
                          <a:solidFill>
                            <a:srgbClr val="262626"/>
                          </a:solidFill>
                          <a:latin typeface="Arial"/>
                        </a:rPr>
                        <a:t>Rachel Werking</a:t>
                      </a:r>
                    </a:p>
                  </a:txBody>
                  <a:tcPr>
                    <a:solidFill>
                      <a:srgbClr val="F2F2F2"/>
                    </a:solidFill>
                  </a:tcPr>
                </a:tc>
                <a:tc>
                  <a:txBody>
                    <a:bodyPr wrap="none"/>
                    <a:lstStyle/>
                    <a:p>
                      <a:pPr algn="ctr"/>
                      <a:r>
                        <a:rPr sz="850" b="0" i="0">
                          <a:solidFill>
                            <a:srgbClr val="262626"/>
                          </a:solidFill>
                          <a:latin typeface="Arial"/>
                        </a:rPr>
                        <a:t>1,302</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2</a:t>
                      </a:r>
                    </a:p>
                  </a:txBody>
                  <a:tcPr>
                    <a:solidFill>
                      <a:srgbClr val="F2F2F2"/>
                    </a:solidFill>
                  </a:tcPr>
                </a:tc>
              </a:tr>
              <a:tr h="224028">
                <a:tc>
                  <a:txBody>
                    <a:bodyPr wrap="none"/>
                    <a:lstStyle/>
                    <a:p>
                      <a:pPr algn="ctr"/>
                      <a:r>
                        <a:rPr sz="850" b="1" i="0">
                          <a:solidFill>
                            <a:srgbClr val="262626"/>
                          </a:solidFill>
                          <a:latin typeface="Arial"/>
                        </a:rPr>
                        <a:t>124</a:t>
                      </a:r>
                    </a:p>
                  </a:txBody>
                  <a:tcPr>
                    <a:solidFill>
                      <a:srgbClr val="FFFFFF"/>
                    </a:solidFill>
                  </a:tcPr>
                </a:tc>
                <a:tc>
                  <a:txBody>
                    <a:bodyPr wrap="none"/>
                    <a:lstStyle/>
                    <a:p>
                      <a:pPr algn="l"/>
                      <a:r>
                        <a:rPr sz="850" b="0" i="0">
                          <a:solidFill>
                            <a:srgbClr val="262626"/>
                          </a:solidFill>
                          <a:latin typeface="Arial"/>
                        </a:rPr>
                        <a:t>Michelle Magnani</a:t>
                      </a:r>
                    </a:p>
                  </a:txBody>
                  <a:tcPr>
                    <a:solidFill>
                      <a:srgbClr val="FFFFFF"/>
                    </a:solidFill>
                  </a:tcPr>
                </a:tc>
                <a:tc>
                  <a:txBody>
                    <a:bodyPr wrap="none"/>
                    <a:lstStyle/>
                    <a:p>
                      <a:pPr algn="ctr"/>
                      <a:r>
                        <a:rPr sz="850" b="0" i="0">
                          <a:solidFill>
                            <a:srgbClr val="262626"/>
                          </a:solidFill>
                          <a:latin typeface="Arial"/>
                        </a:rPr>
                        <a:t>1,242</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r>
              <a:tr h="224028">
                <a:tc>
                  <a:txBody>
                    <a:bodyPr wrap="none"/>
                    <a:lstStyle/>
                    <a:p>
                      <a:pPr algn="ctr"/>
                      <a:r>
                        <a:rPr sz="850" b="1" i="0">
                          <a:solidFill>
                            <a:srgbClr val="262626"/>
                          </a:solidFill>
                          <a:latin typeface="Arial"/>
                        </a:rPr>
                        <a:t>159</a:t>
                      </a:r>
                    </a:p>
                  </a:txBody>
                  <a:tcPr>
                    <a:solidFill>
                      <a:srgbClr val="F2F2F2"/>
                    </a:solidFill>
                  </a:tcPr>
                </a:tc>
                <a:tc>
                  <a:txBody>
                    <a:bodyPr wrap="none"/>
                    <a:lstStyle/>
                    <a:p>
                      <a:pPr algn="l"/>
                      <a:r>
                        <a:rPr sz="850" b="0" i="0">
                          <a:solidFill>
                            <a:srgbClr val="262626"/>
                          </a:solidFill>
                          <a:latin typeface="Arial"/>
                        </a:rPr>
                        <a:t>Katie McCune</a:t>
                      </a:r>
                    </a:p>
                  </a:txBody>
                  <a:tcPr>
                    <a:solidFill>
                      <a:srgbClr val="F2F2F2"/>
                    </a:solidFill>
                  </a:tcPr>
                </a:tc>
                <a:tc>
                  <a:txBody>
                    <a:bodyPr wrap="none"/>
                    <a:lstStyle/>
                    <a:p>
                      <a:pPr algn="ctr"/>
                      <a:r>
                        <a:rPr sz="850" b="0" i="0">
                          <a:solidFill>
                            <a:srgbClr val="262626"/>
                          </a:solidFill>
                          <a:latin typeface="Arial"/>
                        </a:rPr>
                        <a:t>1,042</a:t>
                      </a:r>
                    </a:p>
                  </a:txBody>
                  <a:tcPr>
                    <a:solidFill>
                      <a:srgbClr val="F2F2F2"/>
                    </a:solidFill>
                  </a:tcPr>
                </a:tc>
                <a:tc>
                  <a:txBody>
                    <a:bodyPr wrap="none"/>
                    <a:lstStyle/>
                    <a:p>
                      <a:pPr algn="ctr"/>
                      <a:r>
                        <a:rPr sz="850" b="0" i="0">
                          <a:solidFill>
                            <a:srgbClr val="262626"/>
                          </a:solidFill>
                          <a:latin typeface="Arial"/>
                        </a:rPr>
                        <a:t>6</a:t>
                      </a:r>
                    </a:p>
                  </a:txBody>
                  <a:tcPr>
                    <a:solidFill>
                      <a:srgbClr val="F2F2F2"/>
                    </a:solidFill>
                  </a:tcPr>
                </a:tc>
                <a:tc>
                  <a:txBody>
                    <a:bodyPr wrap="none"/>
                    <a:lstStyle/>
                    <a:p>
                      <a:pPr algn="ctr"/>
                      <a:r>
                        <a:rPr sz="850" b="0" i="0">
                          <a:solidFill>
                            <a:srgbClr val="262626"/>
                          </a:solidFill>
                          <a:latin typeface="Arial"/>
                        </a:rPr>
                        <a:t>1</a:t>
                      </a:r>
                    </a:p>
                  </a:txBody>
                  <a:tcPr>
                    <a:solidFill>
                      <a:srgbClr val="F2F2F2"/>
                    </a:solidFill>
                  </a:tcPr>
                </a:tc>
              </a:tr>
              <a:tr h="224028">
                <a:tc>
                  <a:txBody>
                    <a:bodyPr wrap="none"/>
                    <a:lstStyle/>
                    <a:p>
                      <a:pPr algn="ctr"/>
                      <a:r>
                        <a:rPr sz="850" b="1" i="0">
                          <a:solidFill>
                            <a:srgbClr val="262626"/>
                          </a:solidFill>
                          <a:latin typeface="Arial"/>
                        </a:rPr>
                        <a:t>165</a:t>
                      </a:r>
                    </a:p>
                  </a:txBody>
                  <a:tcPr>
                    <a:solidFill>
                      <a:srgbClr val="FFFFFF"/>
                    </a:solidFill>
                  </a:tcPr>
                </a:tc>
                <a:tc>
                  <a:txBody>
                    <a:bodyPr wrap="none"/>
                    <a:lstStyle/>
                    <a:p>
                      <a:pPr algn="l"/>
                      <a:r>
                        <a:rPr sz="850" b="0" i="0">
                          <a:solidFill>
                            <a:srgbClr val="262626"/>
                          </a:solidFill>
                          <a:latin typeface="Arial"/>
                        </a:rPr>
                        <a:t>Ellison Wolfe</a:t>
                      </a:r>
                    </a:p>
                  </a:txBody>
                  <a:tcPr>
                    <a:solidFill>
                      <a:srgbClr val="FFFFFF"/>
                    </a:solidFill>
                  </a:tcPr>
                </a:tc>
                <a:tc>
                  <a:txBody>
                    <a:bodyPr wrap="none"/>
                    <a:lstStyle/>
                    <a:p>
                      <a:pPr algn="ctr"/>
                      <a:r>
                        <a:rPr sz="850" b="0" i="0">
                          <a:solidFill>
                            <a:srgbClr val="262626"/>
                          </a:solidFill>
                          <a:latin typeface="Arial"/>
                        </a:rPr>
                        <a:t>1,002</a:t>
                      </a:r>
                    </a:p>
                  </a:txBody>
                  <a:tcPr>
                    <a:solidFill>
                      <a:srgbClr val="FFFFFF"/>
                    </a:solidFill>
                  </a:tcPr>
                </a:tc>
                <a:tc>
                  <a:txBody>
                    <a:bodyPr wrap="none"/>
                    <a:lstStyle/>
                    <a:p>
                      <a:pPr algn="ctr"/>
                      <a:r>
                        <a:rPr sz="850" b="0" i="0">
                          <a:solidFill>
                            <a:srgbClr val="262626"/>
                          </a:solidFill>
                          <a:latin typeface="Arial"/>
                        </a:rPr>
                        <a:t>6</a:t>
                      </a:r>
                    </a:p>
                  </a:txBody>
                  <a:tcPr>
                    <a:solidFill>
                      <a:srgbClr val="FFFFFF"/>
                    </a:solidFill>
                  </a:tcPr>
                </a:tc>
                <a:tc>
                  <a:txBody>
                    <a:bodyPr wrap="none"/>
                    <a:lstStyle/>
                    <a:p>
                      <a:pPr algn="ctr"/>
                      <a:r>
                        <a:rPr sz="850" b="0" i="0">
                          <a:solidFill>
                            <a:srgbClr val="262626"/>
                          </a:solidFill>
                          <a:latin typeface="Arial"/>
                        </a:rPr>
                        <a:t>4</a:t>
                      </a:r>
                    </a:p>
                  </a:txBody>
                  <a:tcP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Olympic Qualification Pace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Asuncion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97280"/>
            <a:ext cx="11640312" cy="664768"/>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88720"/>
            <a:ext cx="11430000" cy="329184"/>
          </a:xfrm>
          <a:prstGeom prst="rect">
            <a:avLst/>
          </a:prstGeom>
          <a:noFill/>
        </p:spPr>
        <p:txBody>
          <a:bodyPr wrap="square">
            <a:spAutoFit/>
          </a:bodyPr>
          <a:lstStyle/>
          <a:p>
            <a:pPr algn="ctr"/>
            <a:r>
              <a:rPr sz="1500" b="1" i="0">
                <a:solidFill>
                  <a:srgbClr val="FFFFFF"/>
                </a:solidFill>
                <a:latin typeface="Arial"/>
              </a:rPr>
              <a:t>Paris 2024 OQR cutoff (30th): 3,626.69 pts   ÷   12-event cap =   302 pts / event on pace</a:t>
            </a:r>
          </a:p>
        </p:txBody>
      </p:sp>
      <p:sp>
        <p:nvSpPr>
          <p:cNvPr id="10" name="TextBox 9"/>
          <p:cNvSpPr txBox="1"/>
          <p:nvPr/>
        </p:nvSpPr>
        <p:spPr>
          <a:xfrm>
            <a:off x="365760" y="1458468"/>
            <a:ext cx="11430000" cy="329184"/>
          </a:xfrm>
          <a:prstGeom prst="rect">
            <a:avLst/>
          </a:prstGeom>
          <a:noFill/>
        </p:spPr>
        <p:txBody>
          <a:bodyPr wrap="square">
            <a:spAutoFit/>
          </a:bodyPr>
          <a:lstStyle/>
          <a:p>
            <a:pPr algn="ctr"/>
            <a:r>
              <a:rPr sz="1100" b="0" i="1">
                <a:solidFill>
                  <a:srgbClr val="AABBDD"/>
                </a:solidFill>
                <a:latin typeface="Arial"/>
              </a:rPr>
              <a:t>An athlete who averages ~302 pts per event across their best 12 events is on pace to clear the LA 2028 qualifying threshold.</a:t>
            </a:r>
          </a:p>
        </p:txBody>
      </p:sp>
      <p:sp>
        <p:nvSpPr>
          <p:cNvPr id="11" name="Rectangle 10"/>
          <p:cNvSpPr/>
          <p:nvPr/>
        </p:nvSpPr>
        <p:spPr>
          <a:xfrm>
            <a:off x="274320" y="1812340"/>
            <a:ext cx="11640312" cy="29260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1839772"/>
            <a:ext cx="11430000" cy="237744"/>
          </a:xfrm>
          <a:prstGeom prst="rect">
            <a:avLst/>
          </a:prstGeom>
          <a:noFill/>
        </p:spPr>
        <p:txBody>
          <a:bodyPr wrap="square">
            <a:spAutoFit/>
          </a:bodyPr>
          <a:lstStyle/>
          <a:p>
            <a:pPr algn="ctr"/>
            <a:r>
              <a:rPr sz="1100" b="1" i="0">
                <a:solidFill>
                  <a:srgbClr val="FFFFFF"/>
                </a:solidFill>
                <a:latin typeface="Arial"/>
              </a:rPr>
              <a:t>FINISH POSITION AT EACH TIER THAT HITS 302-PT PACE</a:t>
            </a:r>
          </a:p>
        </p:txBody>
      </p:sp>
      <p:graphicFrame>
        <p:nvGraphicFramePr>
          <p:cNvPr id="13" name="Table 12"/>
          <p:cNvGraphicFramePr>
            <a:graphicFrameLocks noGrp="1"/>
          </p:cNvGraphicFramePr>
          <p:nvPr/>
        </p:nvGraphicFramePr>
        <p:xfrm>
          <a:off x="274320" y="2196388"/>
          <a:ext cx="11640309" cy="1371600"/>
        </p:xfrm>
        <a:graphic>
          <a:graphicData uri="http://schemas.openxmlformats.org/drawingml/2006/table">
            <a:tbl>
              <a:tblPr firstRow="1" bandRow="1">
                <a:tableStyleId>{5C22544A-7EE6-4342-B048-85BDC9FD1C3A}</a:tableStyleId>
              </a:tblPr>
              <a:tblGrid>
                <a:gridCol w="4399178"/>
                <a:gridCol w="1375257"/>
                <a:gridCol w="2200046"/>
                <a:gridCol w="2749600"/>
                <a:gridCol w="916228"/>
              </a:tblGrid>
              <a:tr h="274320">
                <a:tc>
                  <a:txBody>
                    <a:bodyPr wrap="none"/>
                    <a:lstStyle/>
                    <a:p>
                      <a:pPr algn="l"/>
                      <a:r>
                        <a:rPr sz="950" b="1" i="0">
                          <a:solidFill>
                            <a:srgbClr val="FFFFFF"/>
                          </a:solidFill>
                          <a:latin typeface="Arial"/>
                        </a:rPr>
                        <a:t>Tier</a:t>
                      </a:r>
                    </a:p>
                  </a:txBody>
                  <a:tcPr>
                    <a:solidFill>
                      <a:srgbClr val="002060"/>
                    </a:solidFill>
                  </a:tcPr>
                </a:tc>
                <a:tc>
                  <a:txBody>
                    <a:bodyPr wrap="none"/>
                    <a:lstStyle/>
                    <a:p>
                      <a:pPr algn="ctr"/>
                      <a:r>
                        <a:rPr sz="950" b="1" i="0">
                          <a:solidFill>
                            <a:srgbClr val="FFFFFF"/>
                          </a:solidFill>
                          <a:latin typeface="Arial"/>
                        </a:rPr>
                        <a:t>Win pts</a:t>
                      </a:r>
                    </a:p>
                  </a:txBody>
                  <a:tcPr>
                    <a:solidFill>
                      <a:srgbClr val="002060"/>
                    </a:solidFill>
                  </a:tcPr>
                </a:tc>
                <a:tc>
                  <a:txBody>
                    <a:bodyPr wrap="none"/>
                    <a:lstStyle/>
                    <a:p>
                      <a:pPr algn="ctr"/>
                      <a:r>
                        <a:rPr sz="950" b="1" i="0">
                          <a:solidFill>
                            <a:srgbClr val="FFFFFF"/>
                          </a:solidFill>
                          <a:latin typeface="Arial"/>
                        </a:rPr>
                        <a:t>Last on-pace pos</a:t>
                      </a:r>
                    </a:p>
                  </a:txBody>
                  <a:tcPr>
                    <a:solidFill>
                      <a:srgbClr val="002060"/>
                    </a:solidFill>
                  </a:tcPr>
                </a:tc>
                <a:tc>
                  <a:txBody>
                    <a:bodyPr wrap="none"/>
                    <a:lstStyle/>
                    <a:p>
                      <a:pPr algn="ctr"/>
                      <a:r>
                        <a:rPr sz="950" b="1" i="0">
                          <a:solidFill>
                            <a:srgbClr val="FFFFFF"/>
                          </a:solidFill>
                          <a:latin typeface="Arial"/>
                        </a:rPr>
                        <a:t>First off-pace pos (pts)</a:t>
                      </a:r>
                    </a:p>
                  </a:txBody>
                  <a:tcPr>
                    <a:solidFill>
                      <a:srgbClr val="002060"/>
                    </a:solidFill>
                  </a:tcPr>
                </a:tc>
                <a:tc>
                  <a:txBody>
                    <a:bodyPr wrap="none"/>
                    <a:lstStyle/>
                    <a:p>
                      <a:pPr algn="ctr"/>
                      <a:r>
                        <a:rPr sz="950" b="1" i="0">
                          <a:solidFill>
                            <a:srgbClr val="FFFFFF"/>
                          </a:solidFill>
                          <a:latin typeface="Arial"/>
                        </a:rPr>
                        <a:t>Verdict</a:t>
                      </a:r>
                    </a:p>
                  </a:txBody>
                  <a:tcPr>
                    <a:solidFill>
                      <a:srgbClr val="002060"/>
                    </a:solidFill>
                  </a:tcPr>
                </a:tc>
              </a:tr>
              <a:tr h="274320">
                <a:tc>
                  <a:txBody>
                    <a:bodyPr wrap="none"/>
                    <a:lstStyle/>
                    <a:p>
                      <a:pPr algn="l"/>
                      <a:r>
                        <a:rPr sz="950" b="0" i="0">
                          <a:solidFill>
                            <a:srgbClr val="262626"/>
                          </a:solidFill>
                          <a:latin typeface="Arial"/>
                        </a:rPr>
                        <a:t>World Championship Series</a:t>
                      </a:r>
                    </a:p>
                  </a:txBody>
                  <a:tcPr>
                    <a:solidFill>
                      <a:srgbClr val="FFFFFF"/>
                    </a:solidFill>
                  </a:tcPr>
                </a:tc>
                <a:tc>
                  <a:txBody>
                    <a:bodyPr wrap="none"/>
                    <a:lstStyle/>
                    <a:p>
                      <a:pPr algn="ctr"/>
                      <a:r>
                        <a:rPr sz="950" b="1" i="0">
                          <a:solidFill>
                            <a:srgbClr val="262626"/>
                          </a:solidFill>
                          <a:latin typeface="Arial"/>
                        </a:rPr>
                        <a:t>1000</a:t>
                      </a:r>
                    </a:p>
                  </a:txBody>
                  <a:tcPr>
                    <a:solidFill>
                      <a:srgbClr val="FFFFFF"/>
                    </a:solidFill>
                  </a:tcPr>
                </a:tc>
                <a:tc>
                  <a:txBody>
                    <a:bodyPr wrap="none"/>
                    <a:lstStyle/>
                    <a:p>
                      <a:pPr algn="ctr"/>
                      <a:r>
                        <a:rPr sz="950" b="1" i="0">
                          <a:solidFill>
                            <a:srgbClr val="262626"/>
                          </a:solidFill>
                          <a:latin typeface="Arial"/>
                        </a:rPr>
                        <a:t>#16</a:t>
                      </a:r>
                    </a:p>
                  </a:txBody>
                  <a:tcPr>
                    <a:solidFill>
                      <a:srgbClr val="FFFFFF"/>
                    </a:solidFill>
                  </a:tcPr>
                </a:tc>
                <a:tc>
                  <a:txBody>
                    <a:bodyPr wrap="none"/>
                    <a:lstStyle/>
                    <a:p>
                      <a:pPr algn="ctr"/>
                      <a:r>
                        <a:rPr sz="950" b="0" i="0">
                          <a:solidFill>
                            <a:srgbClr val="262626"/>
                          </a:solidFill>
                          <a:latin typeface="Arial"/>
                        </a:rPr>
                        <a:t>#17 (287 pts)</a:t>
                      </a:r>
                    </a:p>
                  </a:txBody>
                  <a:tcPr>
                    <a:solidFill>
                      <a:srgbClr val="FFFFFF"/>
                    </a:solidFill>
                  </a:tcPr>
                </a:tc>
                <a:tc>
                  <a:txBody>
                    <a:bodyPr wrap="none"/>
                    <a:lstStyle/>
                    <a:p>
                      <a:pPr algn="ctr"/>
                      <a:r>
                        <a:rPr sz="950" b="1" i="0">
                          <a:solidFill>
                            <a:srgbClr val="1B7F3A"/>
                          </a:solidFill>
                          <a:latin typeface="Arial"/>
                        </a:rPr>
                        <a:t>Top 16</a:t>
                      </a:r>
                    </a:p>
                  </a:txBody>
                  <a:tcPr>
                    <a:solidFill>
                      <a:srgbClr val="FFFFFF"/>
                    </a:solidFill>
                  </a:tcPr>
                </a:tc>
              </a:tr>
              <a:tr h="274320">
                <a:tc>
                  <a:txBody>
                    <a:bodyPr wrap="none"/>
                    <a:lstStyle/>
                    <a:p>
                      <a:pPr algn="l"/>
                      <a:r>
                        <a:rPr sz="950" b="0" i="0">
                          <a:solidFill>
                            <a:srgbClr val="262626"/>
                          </a:solidFill>
                          <a:latin typeface="Arial"/>
                        </a:rPr>
                        <a:t>World Cup</a:t>
                      </a:r>
                    </a:p>
                  </a:txBody>
                  <a:tcPr>
                    <a:solidFill>
                      <a:srgbClr val="F2F2F2"/>
                    </a:solidFill>
                  </a:tcPr>
                </a:tc>
                <a:tc>
                  <a:txBody>
                    <a:bodyPr wrap="none"/>
                    <a:lstStyle/>
                    <a:p>
                      <a:pPr algn="ctr"/>
                      <a:r>
                        <a:rPr sz="950" b="1" i="0">
                          <a:solidFill>
                            <a:srgbClr val="262626"/>
                          </a:solidFill>
                          <a:latin typeface="Arial"/>
                        </a:rPr>
                        <a:t>500</a:t>
                      </a:r>
                    </a:p>
                  </a:txBody>
                  <a:tcPr>
                    <a:solidFill>
                      <a:srgbClr val="F2F2F2"/>
                    </a:solidFill>
                  </a:tcPr>
                </a:tc>
                <a:tc>
                  <a:txBody>
                    <a:bodyPr wrap="none"/>
                    <a:lstStyle/>
                    <a:p>
                      <a:pPr algn="ctr"/>
                      <a:r>
                        <a:rPr sz="950" b="1" i="0">
                          <a:solidFill>
                            <a:srgbClr val="262626"/>
                          </a:solidFill>
                          <a:latin typeface="Arial"/>
                        </a:rPr>
                        <a:t>#7</a:t>
                      </a:r>
                    </a:p>
                  </a:txBody>
                  <a:tcPr>
                    <a:solidFill>
                      <a:srgbClr val="F2F2F2"/>
                    </a:solidFill>
                  </a:tcPr>
                </a:tc>
                <a:tc>
                  <a:txBody>
                    <a:bodyPr wrap="none"/>
                    <a:lstStyle/>
                    <a:p>
                      <a:pPr algn="ctr"/>
                      <a:r>
                        <a:rPr sz="950" b="0" i="0">
                          <a:solidFill>
                            <a:srgbClr val="262626"/>
                          </a:solidFill>
                          <a:latin typeface="Arial"/>
                        </a:rPr>
                        <a:t>#8 (290 pts)</a:t>
                      </a:r>
                    </a:p>
                  </a:txBody>
                  <a:tcPr>
                    <a:solidFill>
                      <a:srgbClr val="F2F2F2"/>
                    </a:solidFill>
                  </a:tcPr>
                </a:tc>
                <a:tc>
                  <a:txBody>
                    <a:bodyPr wrap="none"/>
                    <a:lstStyle/>
                    <a:p>
                      <a:pPr algn="ctr"/>
                      <a:r>
                        <a:rPr sz="950" b="1" i="0">
                          <a:solidFill>
                            <a:srgbClr val="1B7F3A"/>
                          </a:solidFill>
                          <a:latin typeface="Arial"/>
                        </a:rPr>
                        <a:t>Top 7</a:t>
                      </a:r>
                    </a:p>
                  </a:txBody>
                  <a:tcPr>
                    <a:solidFill>
                      <a:srgbClr val="F2F2F2"/>
                    </a:solidFill>
                  </a:tcPr>
                </a:tc>
              </a:tr>
              <a:tr h="274320">
                <a:tc>
                  <a:txBody>
                    <a:bodyPr wrap="none"/>
                    <a:lstStyle/>
                    <a:p>
                      <a:pPr algn="l"/>
                      <a:r>
                        <a:rPr sz="950" b="0" i="0">
                          <a:solidFill>
                            <a:srgbClr val="262626"/>
                          </a:solidFill>
                          <a:latin typeface="Arial"/>
                        </a:rPr>
                        <a:t>Continental Championships (Americas)</a:t>
                      </a:r>
                    </a:p>
                  </a:txBody>
                  <a:tcPr>
                    <a:solidFill>
                      <a:srgbClr val="FFFFFF"/>
                    </a:solidFill>
                  </a:tcPr>
                </a:tc>
                <a:tc>
                  <a:txBody>
                    <a:bodyPr wrap="none"/>
                    <a:lstStyle/>
                    <a:p>
                      <a:pPr algn="ctr"/>
                      <a:r>
                        <a:rPr sz="950" b="1" i="0">
                          <a:solidFill>
                            <a:srgbClr val="262626"/>
                          </a:solidFill>
                          <a:latin typeface="Arial"/>
                        </a:rPr>
                        <a:t>590</a:t>
                      </a:r>
                    </a:p>
                  </a:txBody>
                  <a:tcPr>
                    <a:solidFill>
                      <a:srgbClr val="FFFFFF"/>
                    </a:solidFill>
                  </a:tcPr>
                </a:tc>
                <a:tc>
                  <a:txBody>
                    <a:bodyPr wrap="none"/>
                    <a:lstStyle/>
                    <a:p>
                      <a:pPr algn="ctr"/>
                      <a:r>
                        <a:rPr sz="950" b="1" i="0">
                          <a:solidFill>
                            <a:srgbClr val="262626"/>
                          </a:solidFill>
                          <a:latin typeface="Arial"/>
                        </a:rPr>
                        <a:t>#9</a:t>
                      </a:r>
                    </a:p>
                  </a:txBody>
                  <a:tcPr>
                    <a:solidFill>
                      <a:srgbClr val="FFFFFF"/>
                    </a:solidFill>
                  </a:tcPr>
                </a:tc>
                <a:tc>
                  <a:txBody>
                    <a:bodyPr wrap="none"/>
                    <a:lstStyle/>
                    <a:p>
                      <a:pPr algn="ctr"/>
                      <a:r>
                        <a:rPr sz="950" b="0" i="0">
                          <a:solidFill>
                            <a:srgbClr val="262626"/>
                          </a:solidFill>
                          <a:latin typeface="Arial"/>
                        </a:rPr>
                        <a:t>#10 (293 pts)</a:t>
                      </a:r>
                    </a:p>
                  </a:txBody>
                  <a:tcPr>
                    <a:solidFill>
                      <a:srgbClr val="FFFFFF"/>
                    </a:solidFill>
                  </a:tcPr>
                </a:tc>
                <a:tc>
                  <a:txBody>
                    <a:bodyPr wrap="none"/>
                    <a:lstStyle/>
                    <a:p>
                      <a:pPr algn="ctr"/>
                      <a:r>
                        <a:rPr sz="950" b="1" i="0">
                          <a:solidFill>
                            <a:srgbClr val="1B7F3A"/>
                          </a:solidFill>
                          <a:latin typeface="Arial"/>
                        </a:rPr>
                        <a:t>Top 9</a:t>
                      </a:r>
                    </a:p>
                  </a:txBody>
                  <a:tcPr>
                    <a:solidFill>
                      <a:srgbClr val="FFFFFF"/>
                    </a:solidFill>
                  </a:tcPr>
                </a:tc>
              </a:tr>
              <a:tr h="274320">
                <a:tc>
                  <a:txBody>
                    <a:bodyPr wrap="none"/>
                    <a:lstStyle/>
                    <a:p>
                      <a:pPr algn="l"/>
                      <a:r>
                        <a:rPr sz="950" b="0" i="0">
                          <a:solidFill>
                            <a:srgbClr val="262626"/>
                          </a:solidFill>
                          <a:latin typeface="Arial"/>
                        </a:rPr>
                        <a:t>Continental Cup (Americas)</a:t>
                      </a:r>
                    </a:p>
                  </a:txBody>
                  <a:tcPr>
                    <a:solidFill>
                      <a:srgbClr val="F2F2F2"/>
                    </a:solidFill>
                  </a:tcPr>
                </a:tc>
                <a:tc>
                  <a:txBody>
                    <a:bodyPr wrap="none"/>
                    <a:lstStyle/>
                    <a:p>
                      <a:pPr algn="ctr"/>
                      <a:r>
                        <a:rPr sz="950" b="1" i="0">
                          <a:solidFill>
                            <a:srgbClr val="262626"/>
                          </a:solidFill>
                          <a:latin typeface="Arial"/>
                        </a:rPr>
                        <a:t>280</a:t>
                      </a:r>
                    </a:p>
                  </a:txBody>
                  <a:tcPr>
                    <a:solidFill>
                      <a:srgbClr val="F2F2F2"/>
                    </a:solidFill>
                  </a:tcPr>
                </a:tc>
                <a:tc>
                  <a:txBody>
                    <a:bodyPr wrap="none"/>
                    <a:lstStyle/>
                    <a:p>
                      <a:pPr algn="ctr"/>
                      <a:r>
                        <a:rPr sz="950" b="1" i="0">
                          <a:solidFill>
                            <a:srgbClr val="262626"/>
                          </a:solidFill>
                          <a:latin typeface="Arial"/>
                        </a:rPr>
                        <a:t>None (win = 280)</a:t>
                      </a:r>
                    </a:p>
                  </a:txBody>
                  <a:tcPr>
                    <a:solidFill>
                      <a:srgbClr val="F2F2F2"/>
                    </a:solidFill>
                  </a:tcPr>
                </a:tc>
                <a:tc>
                  <a:txBody>
                    <a:bodyPr wrap="none"/>
                    <a:lstStyle/>
                    <a:p>
                      <a:pPr algn="ctr"/>
                      <a:r>
                        <a:rPr sz="950" b="0" i="0">
                          <a:solidFill>
                            <a:srgbClr val="262626"/>
                          </a:solidFill>
                          <a:latin typeface="Arial"/>
                        </a:rPr>
                        <a:t>—</a:t>
                      </a:r>
                    </a:p>
                  </a:txBody>
                  <a:tcPr>
                    <a:solidFill>
                      <a:srgbClr val="F2F2F2"/>
                    </a:solidFill>
                  </a:tcPr>
                </a:tc>
                <a:tc>
                  <a:txBody>
                    <a:bodyPr wrap="none"/>
                    <a:lstStyle/>
                    <a:p>
                      <a:pPr algn="ctr"/>
                      <a:r>
                        <a:rPr sz="950" b="1" i="0">
                          <a:solidFill>
                            <a:srgbClr val="C00000"/>
                          </a:solidFill>
                          <a:latin typeface="Arial"/>
                        </a:rPr>
                        <a:t>Not achievable</a:t>
                      </a:r>
                    </a:p>
                  </a:txBody>
                  <a:tcPr>
                    <a:solidFill>
                      <a:srgbClr val="F2F2F2"/>
                    </a:solidFill>
                  </a:tcPr>
                </a:tc>
              </a:tr>
            </a:tbl>
          </a:graphicData>
        </a:graphic>
      </p:graphicFrame>
      <p:sp>
        <p:nvSpPr>
          <p:cNvPr id="14" name="Rectangle 13"/>
          <p:cNvSpPr/>
          <p:nvPr/>
        </p:nvSpPr>
        <p:spPr>
          <a:xfrm>
            <a:off x="274320" y="361188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3639312"/>
            <a:ext cx="5806440" cy="219456"/>
          </a:xfrm>
          <a:prstGeom prst="rect">
            <a:avLst/>
          </a:prstGeom>
          <a:noFill/>
        </p:spPr>
        <p:txBody>
          <a:bodyPr wrap="square">
            <a:spAutoFit/>
          </a:bodyPr>
          <a:lstStyle/>
          <a:p>
            <a:pPr algn="ctr"/>
            <a:r>
              <a:rPr sz="1100" b="1" i="0">
                <a:solidFill>
                  <a:srgbClr val="FFFFFF"/>
                </a:solidFill>
                <a:latin typeface="Arial"/>
              </a:rPr>
              <a:t>USA MEN</a:t>
            </a:r>
          </a:p>
        </p:txBody>
      </p:sp>
      <p:graphicFrame>
        <p:nvGraphicFramePr>
          <p:cNvPr id="16" name="Table 15"/>
          <p:cNvGraphicFramePr>
            <a:graphicFrameLocks noGrp="1"/>
          </p:cNvGraphicFramePr>
          <p:nvPr/>
        </p:nvGraphicFramePr>
        <p:xfrm>
          <a:off x="274320" y="3931920"/>
          <a:ext cx="5806440" cy="2414016"/>
        </p:xfrm>
        <a:graphic>
          <a:graphicData uri="http://schemas.openxmlformats.org/drawingml/2006/table">
            <a:tbl>
              <a:tblPr firstRow="1" bandRow="1">
                <a:tableStyleId>{5C22544A-7EE6-4342-B048-85BDC9FD1C3A}</a:tableStyleId>
              </a:tblPr>
              <a:tblGrid>
                <a:gridCol w="411480"/>
                <a:gridCol w="1920240"/>
                <a:gridCol w="731520"/>
                <a:gridCol w="502920"/>
                <a:gridCol w="411480"/>
                <a:gridCol w="411480"/>
                <a:gridCol w="685800"/>
                <a:gridCol w="731520"/>
              </a:tblGrid>
              <a:tr h="201168">
                <a:tc>
                  <a:txBody>
                    <a:bodyPr wrap="none"/>
                    <a:lstStyle/>
                    <a:p>
                      <a:pPr algn="ctr"/>
                      <a:r>
                        <a:rPr sz="850" b="1" i="0">
                          <a:solidFill>
                            <a:srgbClr val="FFFFFF"/>
                          </a:solidFill>
                          <a:latin typeface="Arial"/>
                        </a:rPr>
                        <a:t>Rk</a:t>
                      </a:r>
                    </a:p>
                  </a:txBody>
                  <a:tcPr>
                    <a:solidFill>
                      <a:srgbClr val="002060"/>
                    </a:solidFill>
                  </a:tcPr>
                </a:tc>
                <a:tc>
                  <a:txBody>
                    <a:bodyPr wrap="none"/>
                    <a:lstStyle/>
                    <a:p>
                      <a:pPr algn="l"/>
                      <a:r>
                        <a:rPr sz="850" b="1" i="0">
                          <a:solidFill>
                            <a:srgbClr val="FFFFFF"/>
                          </a:solidFill>
                          <a:latin typeface="Arial"/>
                        </a:rPr>
                        <a:t>Athlete</a:t>
                      </a:r>
                    </a:p>
                  </a:txBody>
                  <a:tcPr>
                    <a:solidFill>
                      <a:srgbClr val="002060"/>
                    </a:solidFill>
                  </a:tcPr>
                </a:tc>
                <a:tc>
                  <a:txBody>
                    <a:bodyPr wrap="none"/>
                    <a:lstStyle/>
                    <a:p>
                      <a:pPr algn="ctr"/>
                      <a:r>
                        <a:rPr sz="850" b="1" i="0">
                          <a:solidFill>
                            <a:srgbClr val="FFFFFF"/>
                          </a:solidFill>
                          <a:latin typeface="Arial"/>
                        </a:rPr>
                        <a:t>Total</a:t>
                      </a:r>
                    </a:p>
                  </a:txBody>
                  <a:tcPr>
                    <a:solidFill>
                      <a:srgbClr val="002060"/>
                    </a:solidFill>
                  </a:tcPr>
                </a:tc>
                <a:tc>
                  <a:txBody>
                    <a:bodyPr wrap="none"/>
                    <a:lstStyle/>
                    <a:p>
                      <a:pPr algn="ctr"/>
                      <a:r>
                        <a:rPr sz="850" b="1" i="0">
                          <a:solidFill>
                            <a:srgbClr val="FFFFFF"/>
                          </a:solidFill>
                          <a:latin typeface="Arial"/>
                        </a:rPr>
                        <a:t>Races</a:t>
                      </a:r>
                    </a:p>
                  </a:txBody>
                  <a:tcPr>
                    <a:solidFill>
                      <a:srgbClr val="002060"/>
                    </a:solidFill>
                  </a:tcPr>
                </a:tc>
                <a:tc>
                  <a:txBody>
                    <a:bodyPr wrap="none"/>
                    <a:lstStyle/>
                    <a:p>
                      <a:pPr algn="ctr"/>
                      <a:r>
                        <a:rPr sz="850" b="1" i="0">
                          <a:solidFill>
                            <a:srgbClr val="FFFFFF"/>
                          </a:solidFill>
                          <a:latin typeface="Arial"/>
                        </a:rPr>
                        <a:t>On</a:t>
                      </a:r>
                    </a:p>
                  </a:txBody>
                  <a:tcPr>
                    <a:solidFill>
                      <a:srgbClr val="002060"/>
                    </a:solidFill>
                  </a:tcPr>
                </a:tc>
                <a:tc>
                  <a:txBody>
                    <a:bodyPr wrap="none"/>
                    <a:lstStyle/>
                    <a:p>
                      <a:pPr algn="ctr"/>
                      <a:r>
                        <a:rPr sz="850" b="1" i="0">
                          <a:solidFill>
                            <a:srgbClr val="FFFFFF"/>
                          </a:solidFill>
                          <a:latin typeface="Arial"/>
                        </a:rPr>
                        <a:t>Off</a:t>
                      </a:r>
                    </a:p>
                  </a:txBody>
                  <a:tcPr>
                    <a:solidFill>
                      <a:srgbClr val="002060"/>
                    </a:solidFill>
                  </a:tcPr>
                </a:tc>
                <a:tc>
                  <a:txBody>
                    <a:bodyPr wrap="none"/>
                    <a:lstStyle/>
                    <a:p>
                      <a:pPr algn="ctr"/>
                      <a:r>
                        <a:rPr sz="850" b="1" i="0">
                          <a:solidFill>
                            <a:srgbClr val="FFFFFF"/>
                          </a:solidFill>
                          <a:latin typeface="Arial"/>
                        </a:rPr>
                        <a:t>Pace</a:t>
                      </a:r>
                    </a:p>
                  </a:txBody>
                  <a:tcPr>
                    <a:solidFill>
                      <a:srgbClr val="002060"/>
                    </a:solidFill>
                  </a:tcPr>
                </a:tc>
                <a:tc>
                  <a:txBody>
                    <a:bodyPr wrap="none"/>
                    <a:lstStyle/>
                    <a:p>
                      <a:pPr algn="ctr"/>
                      <a:r>
                        <a:rPr sz="850" b="1" i="0">
                          <a:solidFill>
                            <a:srgbClr val="FFFFFF"/>
                          </a:solidFill>
                          <a:latin typeface="Arial"/>
                        </a:rPr>
                        <a:t>Proj @12</a:t>
                      </a:r>
                    </a:p>
                  </a:txBody>
                  <a:tcPr>
                    <a:solidFill>
                      <a:srgbClr val="002060"/>
                    </a:solidFill>
                  </a:tcPr>
                </a:tc>
              </a:tr>
              <a:tr h="201168">
                <a:tc>
                  <a:txBody>
                    <a:bodyPr wrap="none"/>
                    <a:lstStyle/>
                    <a:p>
                      <a:pPr algn="ctr"/>
                      <a:r>
                        <a:rPr sz="750" b="1" i="0">
                          <a:solidFill>
                            <a:srgbClr val="262626"/>
                          </a:solidFill>
                          <a:latin typeface="Arial"/>
                        </a:rPr>
                        <a:t>13</a:t>
                      </a:r>
                    </a:p>
                  </a:txBody>
                  <a:tcPr>
                    <a:solidFill>
                      <a:srgbClr val="FFFFFF"/>
                    </a:solidFill>
                  </a:tcPr>
                </a:tc>
                <a:tc>
                  <a:txBody>
                    <a:bodyPr wrap="none"/>
                    <a:lstStyle/>
                    <a:p>
                      <a:pPr algn="l"/>
                      <a:r>
                        <a:rPr sz="750" b="0" i="0">
                          <a:solidFill>
                            <a:srgbClr val="262626"/>
                          </a:solidFill>
                          <a:latin typeface="Arial"/>
                        </a:rPr>
                        <a:t>Reese Vannerson</a:t>
                      </a:r>
                    </a:p>
                  </a:txBody>
                  <a:tcPr>
                    <a:solidFill>
                      <a:srgbClr val="FFFFFF"/>
                    </a:solidFill>
                  </a:tcPr>
                </a:tc>
                <a:tc>
                  <a:txBody>
                    <a:bodyPr wrap="none"/>
                    <a:lstStyle/>
                    <a:p>
                      <a:pPr algn="ctr"/>
                      <a:r>
                        <a:rPr sz="750" b="1" i="0">
                          <a:solidFill>
                            <a:srgbClr val="262626"/>
                          </a:solidFill>
                          <a:latin typeface="Arial"/>
                        </a:rPr>
                        <a:t>1,479</a:t>
                      </a:r>
                    </a:p>
                  </a:txBody>
                  <a:tcPr>
                    <a:solidFill>
                      <a:srgbClr val="FFFFFF"/>
                    </a:solidFill>
                  </a:tcPr>
                </a:tc>
                <a:tc>
                  <a:txBody>
                    <a:bodyPr wrap="none"/>
                    <a:lstStyle/>
                    <a:p>
                      <a:pPr algn="ctr"/>
                      <a:r>
                        <a:rPr sz="750" b="0" i="0">
                          <a:solidFill>
                            <a:srgbClr val="262626"/>
                          </a:solidFill>
                          <a:latin typeface="Arial"/>
                        </a:rPr>
                        <a:t>4</a:t>
                      </a:r>
                    </a:p>
                  </a:txBody>
                  <a:tcPr>
                    <a:solidFill>
                      <a:srgbClr val="FFFFFF"/>
                    </a:solidFill>
                  </a:tcPr>
                </a:tc>
                <a:tc>
                  <a:txBody>
                    <a:bodyPr wrap="none"/>
                    <a:lstStyle/>
                    <a:p>
                      <a:pPr algn="ctr"/>
                      <a:r>
                        <a:rPr sz="750" b="1" i="0">
                          <a:solidFill>
                            <a:srgbClr val="1B7F3A"/>
                          </a:solidFill>
                          <a:latin typeface="Arial"/>
                        </a:rPr>
                        <a:t>3</a:t>
                      </a:r>
                    </a:p>
                  </a:txBody>
                  <a:tcPr>
                    <a:solidFill>
                      <a:srgbClr val="FFFFFF"/>
                    </a:solidFill>
                  </a:tcPr>
                </a:tc>
                <a:tc>
                  <a:txBody>
                    <a:bodyPr wrap="none"/>
                    <a:lstStyle/>
                    <a:p>
                      <a:pPr algn="ctr"/>
                      <a:r>
                        <a:rPr sz="750" b="1" i="0">
                          <a:solidFill>
                            <a:srgbClr val="C00000"/>
                          </a:solidFill>
                          <a:latin typeface="Arial"/>
                        </a:rPr>
                        <a:t>1</a:t>
                      </a:r>
                    </a:p>
                  </a:txBody>
                  <a:tcPr>
                    <a:solidFill>
                      <a:srgbClr val="FFFFFF"/>
                    </a:solidFill>
                  </a:tcPr>
                </a:tc>
                <a:tc>
                  <a:txBody>
                    <a:bodyPr wrap="none"/>
                    <a:lstStyle/>
                    <a:p>
                      <a:pPr algn="ctr"/>
                      <a:r>
                        <a:rPr sz="750" b="0" i="0">
                          <a:solidFill>
                            <a:srgbClr val="262626"/>
                          </a:solidFill>
                          <a:latin typeface="Arial"/>
                        </a:rPr>
                        <a:t>369</a:t>
                      </a:r>
                    </a:p>
                  </a:txBody>
                  <a:tcPr>
                    <a:solidFill>
                      <a:srgbClr val="FFFFFF"/>
                    </a:solidFill>
                  </a:tcPr>
                </a:tc>
                <a:tc>
                  <a:txBody>
                    <a:bodyPr wrap="none"/>
                    <a:lstStyle/>
                    <a:p>
                      <a:pPr algn="ctr"/>
                      <a:r>
                        <a:rPr sz="750" b="1" i="0">
                          <a:solidFill>
                            <a:srgbClr val="1B7F3A"/>
                          </a:solidFill>
                          <a:latin typeface="Arial"/>
                        </a:rPr>
                        <a:t>4,439</a:t>
                      </a:r>
                    </a:p>
                  </a:txBody>
                  <a:tcPr>
                    <a:solidFill>
                      <a:srgbClr val="FFFFFF"/>
                    </a:solidFill>
                  </a:tcPr>
                </a:tc>
              </a:tr>
              <a:tr h="201168">
                <a:tc>
                  <a:txBody>
                    <a:bodyPr wrap="none"/>
                    <a:lstStyle/>
                    <a:p>
                      <a:pPr algn="ctr"/>
                      <a:r>
                        <a:rPr sz="750" b="1" i="0">
                          <a:solidFill>
                            <a:srgbClr val="262626"/>
                          </a:solidFill>
                          <a:latin typeface="Arial"/>
                        </a:rPr>
                        <a:t>16</a:t>
                      </a:r>
                    </a:p>
                  </a:txBody>
                  <a:tcPr>
                    <a:solidFill>
                      <a:srgbClr val="F2F2F2"/>
                    </a:solidFill>
                  </a:tcPr>
                </a:tc>
                <a:tc>
                  <a:txBody>
                    <a:bodyPr wrap="none"/>
                    <a:lstStyle/>
                    <a:p>
                      <a:pPr algn="l"/>
                      <a:r>
                        <a:rPr sz="750" b="0" i="0">
                          <a:solidFill>
                            <a:srgbClr val="262626"/>
                          </a:solidFill>
                          <a:latin typeface="Arial"/>
                        </a:rPr>
                        <a:t>Seth Rider</a:t>
                      </a:r>
                    </a:p>
                  </a:txBody>
                  <a:tcPr>
                    <a:solidFill>
                      <a:srgbClr val="F2F2F2"/>
                    </a:solidFill>
                  </a:tcPr>
                </a:tc>
                <a:tc>
                  <a:txBody>
                    <a:bodyPr wrap="none"/>
                    <a:lstStyle/>
                    <a:p>
                      <a:pPr algn="ctr"/>
                      <a:r>
                        <a:rPr sz="750" b="1" i="0">
                          <a:solidFill>
                            <a:srgbClr val="262626"/>
                          </a:solidFill>
                          <a:latin typeface="Arial"/>
                        </a:rPr>
                        <a:t>1,341</a:t>
                      </a:r>
                    </a:p>
                  </a:txBody>
                  <a:tcPr>
                    <a:solidFill>
                      <a:srgbClr val="F2F2F2"/>
                    </a:solidFill>
                  </a:tcPr>
                </a:tc>
                <a:tc>
                  <a:txBody>
                    <a:bodyPr wrap="none"/>
                    <a:lstStyle/>
                    <a:p>
                      <a:pPr algn="ctr"/>
                      <a:r>
                        <a:rPr sz="750" b="0" i="0">
                          <a:solidFill>
                            <a:srgbClr val="262626"/>
                          </a:solidFill>
                          <a:latin typeface="Arial"/>
                        </a:rPr>
                        <a:t>4</a:t>
                      </a:r>
                    </a:p>
                  </a:txBody>
                  <a:tcPr>
                    <a:solidFill>
                      <a:srgbClr val="F2F2F2"/>
                    </a:solidFill>
                  </a:tcPr>
                </a:tc>
                <a:tc>
                  <a:txBody>
                    <a:bodyPr wrap="none"/>
                    <a:lstStyle/>
                    <a:p>
                      <a:pPr algn="ctr"/>
                      <a:r>
                        <a:rPr sz="750" b="1" i="0">
                          <a:solidFill>
                            <a:srgbClr val="1B7F3A"/>
                          </a:solidFill>
                          <a:latin typeface="Arial"/>
                        </a:rPr>
                        <a:t>3</a:t>
                      </a:r>
                    </a:p>
                  </a:txBody>
                  <a:tcPr>
                    <a:solidFill>
                      <a:srgbClr val="F2F2F2"/>
                    </a:solidFill>
                  </a:tcPr>
                </a:tc>
                <a:tc>
                  <a:txBody>
                    <a:bodyPr wrap="none"/>
                    <a:lstStyle/>
                    <a:p>
                      <a:pPr algn="ctr"/>
                      <a:r>
                        <a:rPr sz="750" b="1" i="0">
                          <a:solidFill>
                            <a:srgbClr val="C00000"/>
                          </a:solidFill>
                          <a:latin typeface="Arial"/>
                        </a:rPr>
                        <a:t>1</a:t>
                      </a:r>
                    </a:p>
                  </a:txBody>
                  <a:tcPr>
                    <a:solidFill>
                      <a:srgbClr val="F2F2F2"/>
                    </a:solidFill>
                  </a:tcPr>
                </a:tc>
                <a:tc>
                  <a:txBody>
                    <a:bodyPr wrap="none"/>
                    <a:lstStyle/>
                    <a:p>
                      <a:pPr algn="ctr"/>
                      <a:r>
                        <a:rPr sz="750" b="0" i="0">
                          <a:solidFill>
                            <a:srgbClr val="262626"/>
                          </a:solidFill>
                          <a:latin typeface="Arial"/>
                        </a:rPr>
                        <a:t>335</a:t>
                      </a:r>
                    </a:p>
                  </a:txBody>
                  <a:tcPr>
                    <a:solidFill>
                      <a:srgbClr val="F2F2F2"/>
                    </a:solidFill>
                  </a:tcPr>
                </a:tc>
                <a:tc>
                  <a:txBody>
                    <a:bodyPr wrap="none"/>
                    <a:lstStyle/>
                    <a:p>
                      <a:pPr algn="ctr"/>
                      <a:r>
                        <a:rPr sz="750" b="1" i="0">
                          <a:solidFill>
                            <a:srgbClr val="1B7F3A"/>
                          </a:solidFill>
                          <a:latin typeface="Arial"/>
                        </a:rPr>
                        <a:t>4,023</a:t>
                      </a:r>
                    </a:p>
                  </a:txBody>
                  <a:tcPr>
                    <a:solidFill>
                      <a:srgbClr val="F2F2F2"/>
                    </a:solidFill>
                  </a:tcPr>
                </a:tc>
              </a:tr>
              <a:tr h="201168">
                <a:tc>
                  <a:txBody>
                    <a:bodyPr wrap="none"/>
                    <a:lstStyle/>
                    <a:p>
                      <a:pPr algn="ctr"/>
                      <a:r>
                        <a:rPr sz="750" b="1" i="0">
                          <a:solidFill>
                            <a:srgbClr val="262626"/>
                          </a:solidFill>
                          <a:latin typeface="Arial"/>
                        </a:rPr>
                        <a:t>17</a:t>
                      </a:r>
                    </a:p>
                  </a:txBody>
                  <a:tcPr>
                    <a:solidFill>
                      <a:srgbClr val="FFFFFF"/>
                    </a:solidFill>
                  </a:tcPr>
                </a:tc>
                <a:tc>
                  <a:txBody>
                    <a:bodyPr wrap="none"/>
                    <a:lstStyle/>
                    <a:p>
                      <a:pPr algn="l"/>
                      <a:r>
                        <a:rPr sz="750" b="0" i="0">
                          <a:solidFill>
                            <a:srgbClr val="262626"/>
                          </a:solidFill>
                          <a:latin typeface="Arial"/>
                        </a:rPr>
                        <a:t>Sullivan Middaugh</a:t>
                      </a:r>
                    </a:p>
                  </a:txBody>
                  <a:tcPr>
                    <a:solidFill>
                      <a:srgbClr val="FFFFFF"/>
                    </a:solidFill>
                  </a:tcPr>
                </a:tc>
                <a:tc>
                  <a:txBody>
                    <a:bodyPr wrap="none"/>
                    <a:lstStyle/>
                    <a:p>
                      <a:pPr algn="ctr"/>
                      <a:r>
                        <a:rPr sz="750" b="1" i="0">
                          <a:solidFill>
                            <a:srgbClr val="262626"/>
                          </a:solidFill>
                          <a:latin typeface="Arial"/>
                        </a:rPr>
                        <a:t>1,305</a:t>
                      </a:r>
                    </a:p>
                  </a:txBody>
                  <a:tcPr>
                    <a:solidFill>
                      <a:srgbClr val="FFFFFF"/>
                    </a:solidFill>
                  </a:tcPr>
                </a:tc>
                <a:tc>
                  <a:txBody>
                    <a:bodyPr wrap="none"/>
                    <a:lstStyle/>
                    <a:p>
                      <a:pPr algn="ctr"/>
                      <a:r>
                        <a:rPr sz="750" b="0" i="0">
                          <a:solidFill>
                            <a:srgbClr val="262626"/>
                          </a:solidFill>
                          <a:latin typeface="Arial"/>
                        </a:rPr>
                        <a:t>4</a:t>
                      </a:r>
                    </a:p>
                  </a:txBody>
                  <a:tcPr>
                    <a:solidFill>
                      <a:srgbClr val="FFFFFF"/>
                    </a:solidFill>
                  </a:tcPr>
                </a:tc>
                <a:tc>
                  <a:txBody>
                    <a:bodyPr wrap="none"/>
                    <a:lstStyle/>
                    <a:p>
                      <a:pPr algn="ctr"/>
                      <a:r>
                        <a:rPr sz="750" b="1" i="0">
                          <a:solidFill>
                            <a:srgbClr val="1B7F3A"/>
                          </a:solidFill>
                          <a:latin typeface="Arial"/>
                        </a:rPr>
                        <a:t>2</a:t>
                      </a:r>
                    </a:p>
                  </a:txBody>
                  <a:tcPr>
                    <a:solidFill>
                      <a:srgbClr val="FFFFFF"/>
                    </a:solidFill>
                  </a:tcPr>
                </a:tc>
                <a:tc>
                  <a:txBody>
                    <a:bodyPr wrap="none"/>
                    <a:lstStyle/>
                    <a:p>
                      <a:pPr algn="ctr"/>
                      <a:r>
                        <a:rPr sz="750" b="1" i="0">
                          <a:solidFill>
                            <a:srgbClr val="C00000"/>
                          </a:solidFill>
                          <a:latin typeface="Arial"/>
                        </a:rPr>
                        <a:t>2</a:t>
                      </a:r>
                    </a:p>
                  </a:txBody>
                  <a:tcPr>
                    <a:solidFill>
                      <a:srgbClr val="FFFFFF"/>
                    </a:solidFill>
                  </a:tcPr>
                </a:tc>
                <a:tc>
                  <a:txBody>
                    <a:bodyPr wrap="none"/>
                    <a:lstStyle/>
                    <a:p>
                      <a:pPr algn="ctr"/>
                      <a:r>
                        <a:rPr sz="750" b="0" i="0">
                          <a:solidFill>
                            <a:srgbClr val="262626"/>
                          </a:solidFill>
                          <a:latin typeface="Arial"/>
                        </a:rPr>
                        <a:t>326</a:t>
                      </a:r>
                    </a:p>
                  </a:txBody>
                  <a:tcPr>
                    <a:solidFill>
                      <a:srgbClr val="FFFFFF"/>
                    </a:solidFill>
                  </a:tcPr>
                </a:tc>
                <a:tc>
                  <a:txBody>
                    <a:bodyPr wrap="none"/>
                    <a:lstStyle/>
                    <a:p>
                      <a:pPr algn="ctr"/>
                      <a:r>
                        <a:rPr sz="750" b="1" i="0">
                          <a:solidFill>
                            <a:srgbClr val="1B7F3A"/>
                          </a:solidFill>
                          <a:latin typeface="Arial"/>
                        </a:rPr>
                        <a:t>3,916</a:t>
                      </a:r>
                    </a:p>
                  </a:txBody>
                  <a:tcPr>
                    <a:solidFill>
                      <a:srgbClr val="FFFFFF"/>
                    </a:solidFill>
                  </a:tcPr>
                </a:tc>
              </a:tr>
              <a:tr h="201168">
                <a:tc>
                  <a:txBody>
                    <a:bodyPr wrap="none"/>
                    <a:lstStyle/>
                    <a:p>
                      <a:pPr algn="ctr"/>
                      <a:r>
                        <a:rPr sz="750" b="1" i="0">
                          <a:solidFill>
                            <a:srgbClr val="262626"/>
                          </a:solidFill>
                          <a:latin typeface="Arial"/>
                        </a:rPr>
                        <a:t>18</a:t>
                      </a:r>
                    </a:p>
                  </a:txBody>
                  <a:tcPr>
                    <a:solidFill>
                      <a:srgbClr val="F2F2F2"/>
                    </a:solidFill>
                  </a:tcPr>
                </a:tc>
                <a:tc>
                  <a:txBody>
                    <a:bodyPr wrap="none"/>
                    <a:lstStyle/>
                    <a:p>
                      <a:pPr algn="l"/>
                      <a:r>
                        <a:rPr sz="750" b="0" i="0">
                          <a:solidFill>
                            <a:srgbClr val="262626"/>
                          </a:solidFill>
                          <a:latin typeface="Arial"/>
                        </a:rPr>
                        <a:t>Braxton Legg</a:t>
                      </a:r>
                    </a:p>
                  </a:txBody>
                  <a:tcPr>
                    <a:solidFill>
                      <a:srgbClr val="F2F2F2"/>
                    </a:solidFill>
                  </a:tcPr>
                </a:tc>
                <a:tc>
                  <a:txBody>
                    <a:bodyPr wrap="none"/>
                    <a:lstStyle/>
                    <a:p>
                      <a:pPr algn="ctr"/>
                      <a:r>
                        <a:rPr sz="750" b="1" i="0">
                          <a:solidFill>
                            <a:srgbClr val="262626"/>
                          </a:solidFill>
                          <a:latin typeface="Arial"/>
                        </a:rPr>
                        <a:t>1,274</a:t>
                      </a:r>
                    </a:p>
                  </a:txBody>
                  <a:tcPr>
                    <a:solidFill>
                      <a:srgbClr val="F2F2F2"/>
                    </a:solidFill>
                  </a:tcPr>
                </a:tc>
                <a:tc>
                  <a:txBody>
                    <a:bodyPr wrap="none"/>
                    <a:lstStyle/>
                    <a:p>
                      <a:pPr algn="ctr"/>
                      <a:r>
                        <a:rPr sz="750" b="0" i="0">
                          <a:solidFill>
                            <a:srgbClr val="262626"/>
                          </a:solidFill>
                          <a:latin typeface="Arial"/>
                        </a:rPr>
                        <a:t>4</a:t>
                      </a:r>
                    </a:p>
                  </a:txBody>
                  <a:tcPr>
                    <a:solidFill>
                      <a:srgbClr val="F2F2F2"/>
                    </a:solidFill>
                  </a:tcPr>
                </a:tc>
                <a:tc>
                  <a:txBody>
                    <a:bodyPr wrap="none"/>
                    <a:lstStyle/>
                    <a:p>
                      <a:pPr algn="ctr"/>
                      <a:r>
                        <a:rPr sz="750" b="1" i="0">
                          <a:solidFill>
                            <a:srgbClr val="1B7F3A"/>
                          </a:solidFill>
                          <a:latin typeface="Arial"/>
                        </a:rPr>
                        <a:t>2</a:t>
                      </a:r>
                    </a:p>
                  </a:txBody>
                  <a:tcPr>
                    <a:solidFill>
                      <a:srgbClr val="F2F2F2"/>
                    </a:solidFill>
                  </a:tcPr>
                </a:tc>
                <a:tc>
                  <a:txBody>
                    <a:bodyPr wrap="none"/>
                    <a:lstStyle/>
                    <a:p>
                      <a:pPr algn="ctr"/>
                      <a:r>
                        <a:rPr sz="750" b="1" i="0">
                          <a:solidFill>
                            <a:srgbClr val="C00000"/>
                          </a:solidFill>
                          <a:latin typeface="Arial"/>
                        </a:rPr>
                        <a:t>2</a:t>
                      </a:r>
                    </a:p>
                  </a:txBody>
                  <a:tcPr>
                    <a:solidFill>
                      <a:srgbClr val="F2F2F2"/>
                    </a:solidFill>
                  </a:tcPr>
                </a:tc>
                <a:tc>
                  <a:txBody>
                    <a:bodyPr wrap="none"/>
                    <a:lstStyle/>
                    <a:p>
                      <a:pPr algn="ctr"/>
                      <a:r>
                        <a:rPr sz="750" b="0" i="0">
                          <a:solidFill>
                            <a:srgbClr val="262626"/>
                          </a:solidFill>
                          <a:latin typeface="Arial"/>
                        </a:rPr>
                        <a:t>318</a:t>
                      </a:r>
                    </a:p>
                  </a:txBody>
                  <a:tcPr>
                    <a:solidFill>
                      <a:srgbClr val="F2F2F2"/>
                    </a:solidFill>
                  </a:tcPr>
                </a:tc>
                <a:tc>
                  <a:txBody>
                    <a:bodyPr wrap="none"/>
                    <a:lstStyle/>
                    <a:p>
                      <a:pPr algn="ctr"/>
                      <a:r>
                        <a:rPr sz="750" b="1" i="0">
                          <a:solidFill>
                            <a:srgbClr val="1B7F3A"/>
                          </a:solidFill>
                          <a:latin typeface="Arial"/>
                        </a:rPr>
                        <a:t>3,823</a:t>
                      </a:r>
                    </a:p>
                  </a:txBody>
                  <a:tcPr>
                    <a:solidFill>
                      <a:srgbClr val="F2F2F2"/>
                    </a:solidFill>
                  </a:tcPr>
                </a:tc>
              </a:tr>
              <a:tr h="201168">
                <a:tc>
                  <a:txBody>
                    <a:bodyPr wrap="none"/>
                    <a:lstStyle/>
                    <a:p>
                      <a:pPr algn="ctr"/>
                      <a:r>
                        <a:rPr sz="750" b="1" i="0">
                          <a:solidFill>
                            <a:srgbClr val="262626"/>
                          </a:solidFill>
                          <a:latin typeface="Arial"/>
                        </a:rPr>
                        <a:t>33</a:t>
                      </a:r>
                    </a:p>
                  </a:txBody>
                  <a:tcPr>
                    <a:solidFill>
                      <a:srgbClr val="FFFFFF"/>
                    </a:solidFill>
                  </a:tcPr>
                </a:tc>
                <a:tc>
                  <a:txBody>
                    <a:bodyPr wrap="none"/>
                    <a:lstStyle/>
                    <a:p>
                      <a:pPr algn="l"/>
                      <a:r>
                        <a:rPr sz="750" b="0" i="0">
                          <a:solidFill>
                            <a:srgbClr val="262626"/>
                          </a:solidFill>
                          <a:latin typeface="Arial"/>
                        </a:rPr>
                        <a:t>Morgan Pearson</a:t>
                      </a:r>
                    </a:p>
                  </a:txBody>
                  <a:tcPr>
                    <a:solidFill>
                      <a:srgbClr val="FFFFFF"/>
                    </a:solidFill>
                  </a:tcPr>
                </a:tc>
                <a:tc>
                  <a:txBody>
                    <a:bodyPr wrap="none"/>
                    <a:lstStyle/>
                    <a:p>
                      <a:pPr algn="ctr"/>
                      <a:r>
                        <a:rPr sz="750" b="1" i="0">
                          <a:solidFill>
                            <a:srgbClr val="262626"/>
                          </a:solidFill>
                          <a:latin typeface="Arial"/>
                        </a:rPr>
                        <a:t>904</a:t>
                      </a:r>
                    </a:p>
                  </a:txBody>
                  <a:tcPr>
                    <a:solidFill>
                      <a:srgbClr val="FFFFFF"/>
                    </a:solidFill>
                  </a:tcPr>
                </a:tc>
                <a:tc>
                  <a:txBody>
                    <a:bodyPr wrap="none"/>
                    <a:lstStyle/>
                    <a:p>
                      <a:pPr algn="ctr"/>
                      <a:r>
                        <a:rPr sz="750" b="0" i="0">
                          <a:solidFill>
                            <a:srgbClr val="262626"/>
                          </a:solidFill>
                          <a:latin typeface="Arial"/>
                        </a:rPr>
                        <a:t>2</a:t>
                      </a:r>
                    </a:p>
                  </a:txBody>
                  <a:tcPr>
                    <a:solidFill>
                      <a:srgbClr val="FFFFFF"/>
                    </a:solidFill>
                  </a:tcPr>
                </a:tc>
                <a:tc>
                  <a:txBody>
                    <a:bodyPr wrap="none"/>
                    <a:lstStyle/>
                    <a:p>
                      <a:pPr algn="ctr"/>
                      <a:r>
                        <a:rPr sz="750" b="1" i="0">
                          <a:solidFill>
                            <a:srgbClr val="1B7F3A"/>
                          </a:solidFill>
                          <a:latin typeface="Arial"/>
                        </a:rPr>
                        <a:t>1</a:t>
                      </a:r>
                    </a:p>
                  </a:txBody>
                  <a:tcPr>
                    <a:solidFill>
                      <a:srgbClr val="FFFFFF"/>
                    </a:solidFill>
                  </a:tcPr>
                </a:tc>
                <a:tc>
                  <a:txBody>
                    <a:bodyPr wrap="none"/>
                    <a:lstStyle/>
                    <a:p>
                      <a:pPr algn="ctr"/>
                      <a:r>
                        <a:rPr sz="750" b="1" i="0">
                          <a:solidFill>
                            <a:srgbClr val="C00000"/>
                          </a:solidFill>
                          <a:latin typeface="Arial"/>
                        </a:rPr>
                        <a:t>1</a:t>
                      </a:r>
                    </a:p>
                  </a:txBody>
                  <a:tcPr>
                    <a:solidFill>
                      <a:srgbClr val="FFFFFF"/>
                    </a:solidFill>
                  </a:tcPr>
                </a:tc>
                <a:tc>
                  <a:txBody>
                    <a:bodyPr wrap="none"/>
                    <a:lstStyle/>
                    <a:p>
                      <a:pPr algn="ctr"/>
                      <a:r>
                        <a:rPr sz="750" b="0" i="0">
                          <a:solidFill>
                            <a:srgbClr val="262626"/>
                          </a:solidFill>
                          <a:latin typeface="Arial"/>
                        </a:rPr>
                        <a:t>452</a:t>
                      </a:r>
                    </a:p>
                  </a:txBody>
                  <a:tcPr>
                    <a:solidFill>
                      <a:srgbClr val="FFFFFF"/>
                    </a:solidFill>
                  </a:tcPr>
                </a:tc>
                <a:tc>
                  <a:txBody>
                    <a:bodyPr wrap="none"/>
                    <a:lstStyle/>
                    <a:p>
                      <a:pPr algn="ctr"/>
                      <a:r>
                        <a:rPr sz="750" b="1" i="0">
                          <a:solidFill>
                            <a:srgbClr val="1B7F3A"/>
                          </a:solidFill>
                          <a:latin typeface="Arial"/>
                        </a:rPr>
                        <a:t>5,425</a:t>
                      </a:r>
                    </a:p>
                  </a:txBody>
                  <a:tcPr>
                    <a:solidFill>
                      <a:srgbClr val="FFFFFF"/>
                    </a:solidFill>
                  </a:tcPr>
                </a:tc>
              </a:tr>
              <a:tr h="201168">
                <a:tc>
                  <a:txBody>
                    <a:bodyPr wrap="none"/>
                    <a:lstStyle/>
                    <a:p>
                      <a:pPr algn="ctr"/>
                      <a:r>
                        <a:rPr sz="750" b="1" i="0">
                          <a:solidFill>
                            <a:srgbClr val="262626"/>
                          </a:solidFill>
                          <a:latin typeface="Arial"/>
                        </a:rPr>
                        <a:t>39</a:t>
                      </a:r>
                    </a:p>
                  </a:txBody>
                  <a:tcPr>
                    <a:solidFill>
                      <a:srgbClr val="F2F2F2"/>
                    </a:solidFill>
                  </a:tcPr>
                </a:tc>
                <a:tc>
                  <a:txBody>
                    <a:bodyPr wrap="none"/>
                    <a:lstStyle/>
                    <a:p>
                      <a:pPr algn="l"/>
                      <a:r>
                        <a:rPr sz="750" b="0" i="0">
                          <a:solidFill>
                            <a:srgbClr val="262626"/>
                          </a:solidFill>
                          <a:latin typeface="Arial"/>
                        </a:rPr>
                        <a:t>Chase McQueen</a:t>
                      </a:r>
                    </a:p>
                  </a:txBody>
                  <a:tcPr>
                    <a:solidFill>
                      <a:srgbClr val="F2F2F2"/>
                    </a:solidFill>
                  </a:tcPr>
                </a:tc>
                <a:tc>
                  <a:txBody>
                    <a:bodyPr wrap="none"/>
                    <a:lstStyle/>
                    <a:p>
                      <a:pPr algn="ctr"/>
                      <a:r>
                        <a:rPr sz="750" b="1" i="0">
                          <a:solidFill>
                            <a:srgbClr val="262626"/>
                          </a:solidFill>
                          <a:latin typeface="Arial"/>
                        </a:rPr>
                        <a:t>816</a:t>
                      </a:r>
                    </a:p>
                  </a:txBody>
                  <a:tcPr>
                    <a:solidFill>
                      <a:srgbClr val="F2F2F2"/>
                    </a:solidFill>
                  </a:tcPr>
                </a:tc>
                <a:tc>
                  <a:txBody>
                    <a:bodyPr wrap="none"/>
                    <a:lstStyle/>
                    <a:p>
                      <a:pPr algn="ctr"/>
                      <a:r>
                        <a:rPr sz="750" b="0" i="0">
                          <a:solidFill>
                            <a:srgbClr val="262626"/>
                          </a:solidFill>
                          <a:latin typeface="Arial"/>
                        </a:rPr>
                        <a:t>4</a:t>
                      </a:r>
                    </a:p>
                  </a:txBody>
                  <a:tcPr>
                    <a:solidFill>
                      <a:srgbClr val="F2F2F2"/>
                    </a:solidFill>
                  </a:tcPr>
                </a:tc>
                <a:tc>
                  <a:txBody>
                    <a:bodyPr wrap="none"/>
                    <a:lstStyle/>
                    <a:p>
                      <a:pPr algn="ctr"/>
                      <a:r>
                        <a:rPr sz="750" b="1" i="0">
                          <a:solidFill>
                            <a:srgbClr val="1B7F3A"/>
                          </a:solidFill>
                          <a:latin typeface="Arial"/>
                        </a:rPr>
                        <a:t>1</a:t>
                      </a:r>
                    </a:p>
                  </a:txBody>
                  <a:tcPr>
                    <a:solidFill>
                      <a:srgbClr val="F2F2F2"/>
                    </a:solidFill>
                  </a:tcPr>
                </a:tc>
                <a:tc>
                  <a:txBody>
                    <a:bodyPr wrap="none"/>
                    <a:lstStyle/>
                    <a:p>
                      <a:pPr algn="ctr"/>
                      <a:r>
                        <a:rPr sz="750" b="1" i="0">
                          <a:solidFill>
                            <a:srgbClr val="C00000"/>
                          </a:solidFill>
                          <a:latin typeface="Arial"/>
                        </a:rPr>
                        <a:t>3</a:t>
                      </a:r>
                    </a:p>
                  </a:txBody>
                  <a:tcPr>
                    <a:solidFill>
                      <a:srgbClr val="F2F2F2"/>
                    </a:solidFill>
                  </a:tcPr>
                </a:tc>
                <a:tc>
                  <a:txBody>
                    <a:bodyPr wrap="none"/>
                    <a:lstStyle/>
                    <a:p>
                      <a:pPr algn="ctr"/>
                      <a:r>
                        <a:rPr sz="750" b="0" i="0">
                          <a:solidFill>
                            <a:srgbClr val="262626"/>
                          </a:solidFill>
                          <a:latin typeface="Arial"/>
                        </a:rPr>
                        <a:t>204</a:t>
                      </a:r>
                    </a:p>
                  </a:txBody>
                  <a:tcPr>
                    <a:solidFill>
                      <a:srgbClr val="F2F2F2"/>
                    </a:solidFill>
                  </a:tcPr>
                </a:tc>
                <a:tc>
                  <a:txBody>
                    <a:bodyPr wrap="none"/>
                    <a:lstStyle/>
                    <a:p>
                      <a:pPr algn="ctr"/>
                      <a:r>
                        <a:rPr sz="750" b="1" i="0">
                          <a:solidFill>
                            <a:srgbClr val="262626"/>
                          </a:solidFill>
                          <a:latin typeface="Arial"/>
                        </a:rPr>
                        <a:t>2,450</a:t>
                      </a:r>
                    </a:p>
                  </a:txBody>
                  <a:tcPr>
                    <a:solidFill>
                      <a:srgbClr val="F2F2F2"/>
                    </a:solidFill>
                  </a:tcPr>
                </a:tc>
              </a:tr>
              <a:tr h="201168">
                <a:tc>
                  <a:txBody>
                    <a:bodyPr wrap="none"/>
                    <a:lstStyle/>
                    <a:p>
                      <a:pPr algn="ctr"/>
                      <a:r>
                        <a:rPr sz="750" b="1" i="0">
                          <a:solidFill>
                            <a:srgbClr val="262626"/>
                          </a:solidFill>
                          <a:latin typeface="Arial"/>
                        </a:rPr>
                        <a:t>48</a:t>
                      </a:r>
                    </a:p>
                  </a:txBody>
                  <a:tcPr>
                    <a:solidFill>
                      <a:srgbClr val="FFFFFF"/>
                    </a:solidFill>
                  </a:tcPr>
                </a:tc>
                <a:tc>
                  <a:txBody>
                    <a:bodyPr wrap="none"/>
                    <a:lstStyle/>
                    <a:p>
                      <a:pPr algn="l"/>
                      <a:r>
                        <a:rPr sz="750" b="0" i="0">
                          <a:solidFill>
                            <a:srgbClr val="262626"/>
                          </a:solidFill>
                          <a:latin typeface="Arial"/>
                        </a:rPr>
                        <a:t>Keller Norland</a:t>
                      </a:r>
                    </a:p>
                  </a:txBody>
                  <a:tcPr>
                    <a:solidFill>
                      <a:srgbClr val="FFFFFF"/>
                    </a:solidFill>
                  </a:tcPr>
                </a:tc>
                <a:tc>
                  <a:txBody>
                    <a:bodyPr wrap="none"/>
                    <a:lstStyle/>
                    <a:p>
                      <a:pPr algn="ctr"/>
                      <a:r>
                        <a:rPr sz="750" b="1" i="0">
                          <a:solidFill>
                            <a:srgbClr val="262626"/>
                          </a:solidFill>
                          <a:latin typeface="Arial"/>
                        </a:rPr>
                        <a:t>748</a:t>
                      </a:r>
                    </a:p>
                  </a:txBody>
                  <a:tcPr>
                    <a:solidFill>
                      <a:srgbClr val="FFFFFF"/>
                    </a:solidFill>
                  </a:tcPr>
                </a:tc>
                <a:tc>
                  <a:txBody>
                    <a:bodyPr wrap="none"/>
                    <a:lstStyle/>
                    <a:p>
                      <a:pPr algn="ctr"/>
                      <a:r>
                        <a:rPr sz="750" b="0" i="0">
                          <a:solidFill>
                            <a:srgbClr val="262626"/>
                          </a:solidFill>
                          <a:latin typeface="Arial"/>
                        </a:rPr>
                        <a:t>2</a:t>
                      </a:r>
                    </a:p>
                  </a:txBody>
                  <a:tcPr>
                    <a:solidFill>
                      <a:srgbClr val="FFFFFF"/>
                    </a:solidFill>
                  </a:tcPr>
                </a:tc>
                <a:tc>
                  <a:txBody>
                    <a:bodyPr wrap="none"/>
                    <a:lstStyle/>
                    <a:p>
                      <a:pPr algn="ctr"/>
                      <a:r>
                        <a:rPr sz="750" b="1" i="0">
                          <a:solidFill>
                            <a:srgbClr val="1B7F3A"/>
                          </a:solidFill>
                          <a:latin typeface="Arial"/>
                        </a:rPr>
                        <a:t>1</a:t>
                      </a:r>
                    </a:p>
                  </a:txBody>
                  <a:tcPr>
                    <a:solidFill>
                      <a:srgbClr val="FFFFFF"/>
                    </a:solidFill>
                  </a:tcPr>
                </a:tc>
                <a:tc>
                  <a:txBody>
                    <a:bodyPr wrap="none"/>
                    <a:lstStyle/>
                    <a:p>
                      <a:pPr algn="ctr"/>
                      <a:r>
                        <a:rPr sz="750" b="1" i="0">
                          <a:solidFill>
                            <a:srgbClr val="C00000"/>
                          </a:solidFill>
                          <a:latin typeface="Arial"/>
                        </a:rPr>
                        <a:t>1</a:t>
                      </a:r>
                    </a:p>
                  </a:txBody>
                  <a:tcPr>
                    <a:solidFill>
                      <a:srgbClr val="FFFFFF"/>
                    </a:solidFill>
                  </a:tcPr>
                </a:tc>
                <a:tc>
                  <a:txBody>
                    <a:bodyPr wrap="none"/>
                    <a:lstStyle/>
                    <a:p>
                      <a:pPr algn="ctr"/>
                      <a:r>
                        <a:rPr sz="750" b="0" i="0">
                          <a:solidFill>
                            <a:srgbClr val="262626"/>
                          </a:solidFill>
                          <a:latin typeface="Arial"/>
                        </a:rPr>
                        <a:t>374</a:t>
                      </a:r>
                    </a:p>
                  </a:txBody>
                  <a:tcPr>
                    <a:solidFill>
                      <a:srgbClr val="FFFFFF"/>
                    </a:solidFill>
                  </a:tcPr>
                </a:tc>
                <a:tc>
                  <a:txBody>
                    <a:bodyPr wrap="none"/>
                    <a:lstStyle/>
                    <a:p>
                      <a:pPr algn="ctr"/>
                      <a:r>
                        <a:rPr sz="750" b="1" i="0">
                          <a:solidFill>
                            <a:srgbClr val="1B7F3A"/>
                          </a:solidFill>
                          <a:latin typeface="Arial"/>
                        </a:rPr>
                        <a:t>4,493</a:t>
                      </a:r>
                    </a:p>
                  </a:txBody>
                  <a:tcPr>
                    <a:solidFill>
                      <a:srgbClr val="FFFFFF"/>
                    </a:solidFill>
                  </a:tcPr>
                </a:tc>
              </a:tr>
              <a:tr h="201168">
                <a:tc>
                  <a:txBody>
                    <a:bodyPr wrap="none"/>
                    <a:lstStyle/>
                    <a:p>
                      <a:pPr algn="ctr"/>
                      <a:r>
                        <a:rPr sz="750" b="1" i="0">
                          <a:solidFill>
                            <a:srgbClr val="262626"/>
                          </a:solidFill>
                          <a:latin typeface="Arial"/>
                        </a:rPr>
                        <a:t>54</a:t>
                      </a:r>
                    </a:p>
                  </a:txBody>
                  <a:tcPr>
                    <a:solidFill>
                      <a:srgbClr val="F2F2F2"/>
                    </a:solidFill>
                  </a:tcPr>
                </a:tc>
                <a:tc>
                  <a:txBody>
                    <a:bodyPr wrap="none"/>
                    <a:lstStyle/>
                    <a:p>
                      <a:pPr algn="l"/>
                      <a:r>
                        <a:rPr sz="750" b="0" i="0">
                          <a:solidFill>
                            <a:srgbClr val="262626"/>
                          </a:solidFill>
                          <a:latin typeface="Arial"/>
                        </a:rPr>
                        <a:t>John Reed</a:t>
                      </a:r>
                    </a:p>
                  </a:txBody>
                  <a:tcPr>
                    <a:solidFill>
                      <a:srgbClr val="F2F2F2"/>
                    </a:solidFill>
                  </a:tcPr>
                </a:tc>
                <a:tc>
                  <a:txBody>
                    <a:bodyPr wrap="none"/>
                    <a:lstStyle/>
                    <a:p>
                      <a:pPr algn="ctr"/>
                      <a:r>
                        <a:rPr sz="750" b="1" i="0">
                          <a:solidFill>
                            <a:srgbClr val="262626"/>
                          </a:solidFill>
                          <a:latin typeface="Arial"/>
                        </a:rPr>
                        <a:t>599</a:t>
                      </a:r>
                    </a:p>
                  </a:txBody>
                  <a:tcPr>
                    <a:solidFill>
                      <a:srgbClr val="F2F2F2"/>
                    </a:solidFill>
                  </a:tcPr>
                </a:tc>
                <a:tc>
                  <a:txBody>
                    <a:bodyPr wrap="none"/>
                    <a:lstStyle/>
                    <a:p>
                      <a:pPr algn="ctr"/>
                      <a:r>
                        <a:rPr sz="750" b="0" i="0">
                          <a:solidFill>
                            <a:srgbClr val="262626"/>
                          </a:solidFill>
                          <a:latin typeface="Arial"/>
                        </a:rPr>
                        <a:t>2</a:t>
                      </a:r>
                    </a:p>
                  </a:txBody>
                  <a:tcPr>
                    <a:solidFill>
                      <a:srgbClr val="F2F2F2"/>
                    </a:solidFill>
                  </a:tcPr>
                </a:tc>
                <a:tc>
                  <a:txBody>
                    <a:bodyPr wrap="none"/>
                    <a:lstStyle/>
                    <a:p>
                      <a:pPr algn="ctr"/>
                      <a:r>
                        <a:rPr sz="750" b="1" i="0">
                          <a:solidFill>
                            <a:srgbClr val="1B7F3A"/>
                          </a:solidFill>
                          <a:latin typeface="Arial"/>
                        </a:rPr>
                        <a:t>1</a:t>
                      </a:r>
                    </a:p>
                  </a:txBody>
                  <a:tcPr>
                    <a:solidFill>
                      <a:srgbClr val="F2F2F2"/>
                    </a:solidFill>
                  </a:tcPr>
                </a:tc>
                <a:tc>
                  <a:txBody>
                    <a:bodyPr wrap="none"/>
                    <a:lstStyle/>
                    <a:p>
                      <a:pPr algn="ctr"/>
                      <a:r>
                        <a:rPr sz="750" b="1" i="0">
                          <a:solidFill>
                            <a:srgbClr val="C00000"/>
                          </a:solidFill>
                          <a:latin typeface="Arial"/>
                        </a:rPr>
                        <a:t>1</a:t>
                      </a:r>
                    </a:p>
                  </a:txBody>
                  <a:tcPr>
                    <a:solidFill>
                      <a:srgbClr val="F2F2F2"/>
                    </a:solidFill>
                  </a:tcPr>
                </a:tc>
                <a:tc>
                  <a:txBody>
                    <a:bodyPr wrap="none"/>
                    <a:lstStyle/>
                    <a:p>
                      <a:pPr algn="ctr"/>
                      <a:r>
                        <a:rPr sz="750" b="0" i="0">
                          <a:solidFill>
                            <a:srgbClr val="262626"/>
                          </a:solidFill>
                          <a:latin typeface="Arial"/>
                        </a:rPr>
                        <a:t>299</a:t>
                      </a:r>
                    </a:p>
                  </a:txBody>
                  <a:tcPr>
                    <a:solidFill>
                      <a:srgbClr val="F2F2F2"/>
                    </a:solidFill>
                  </a:tcPr>
                </a:tc>
                <a:tc>
                  <a:txBody>
                    <a:bodyPr wrap="none"/>
                    <a:lstStyle/>
                    <a:p>
                      <a:pPr algn="ctr"/>
                      <a:r>
                        <a:rPr sz="750" b="1" i="0">
                          <a:solidFill>
                            <a:srgbClr val="262626"/>
                          </a:solidFill>
                          <a:latin typeface="Arial"/>
                        </a:rPr>
                        <a:t>3,598</a:t>
                      </a:r>
                    </a:p>
                  </a:txBody>
                  <a:tcPr>
                    <a:solidFill>
                      <a:srgbClr val="F2F2F2"/>
                    </a:solidFill>
                  </a:tcPr>
                </a:tc>
              </a:tr>
              <a:tr h="201168">
                <a:tc>
                  <a:txBody>
                    <a:bodyPr wrap="none"/>
                    <a:lstStyle/>
                    <a:p>
                      <a:pPr algn="ctr"/>
                      <a:r>
                        <a:rPr sz="750" b="1" i="0">
                          <a:solidFill>
                            <a:srgbClr val="262626"/>
                          </a:solidFill>
                          <a:latin typeface="Arial"/>
                        </a:rPr>
                        <a:t>61</a:t>
                      </a:r>
                    </a:p>
                  </a:txBody>
                  <a:tcPr>
                    <a:solidFill>
                      <a:srgbClr val="FFFFFF"/>
                    </a:solidFill>
                  </a:tcPr>
                </a:tc>
                <a:tc>
                  <a:txBody>
                    <a:bodyPr wrap="none"/>
                    <a:lstStyle/>
                    <a:p>
                      <a:pPr algn="l"/>
                      <a:r>
                        <a:rPr sz="750" b="0" i="0">
                          <a:solidFill>
                            <a:srgbClr val="262626"/>
                          </a:solidFill>
                          <a:latin typeface="Arial"/>
                        </a:rPr>
                        <a:t>Blake Bullard</a:t>
                      </a:r>
                    </a:p>
                  </a:txBody>
                  <a:tcPr>
                    <a:solidFill>
                      <a:srgbClr val="FFFFFF"/>
                    </a:solidFill>
                  </a:tcPr>
                </a:tc>
                <a:tc>
                  <a:txBody>
                    <a:bodyPr wrap="none"/>
                    <a:lstStyle/>
                    <a:p>
                      <a:pPr algn="ctr"/>
                      <a:r>
                        <a:rPr sz="750" b="1" i="0">
                          <a:solidFill>
                            <a:srgbClr val="262626"/>
                          </a:solidFill>
                          <a:latin typeface="Arial"/>
                        </a:rPr>
                        <a:t>513</a:t>
                      </a:r>
                    </a:p>
                  </a:txBody>
                  <a:tcPr>
                    <a:solidFill>
                      <a:srgbClr val="FFFFFF"/>
                    </a:solidFill>
                  </a:tcPr>
                </a:tc>
                <a:tc>
                  <a:txBody>
                    <a:bodyPr wrap="none"/>
                    <a:lstStyle/>
                    <a:p>
                      <a:pPr algn="ctr"/>
                      <a:r>
                        <a:rPr sz="750" b="0" i="0">
                          <a:solidFill>
                            <a:srgbClr val="262626"/>
                          </a:solidFill>
                          <a:latin typeface="Arial"/>
                        </a:rPr>
                        <a:t>3</a:t>
                      </a:r>
                    </a:p>
                  </a:txBody>
                  <a:tcPr>
                    <a:solidFill>
                      <a:srgbClr val="FFFFFF"/>
                    </a:solidFill>
                  </a:tcPr>
                </a:tc>
                <a:tc>
                  <a:txBody>
                    <a:bodyPr wrap="none"/>
                    <a:lstStyle/>
                    <a:p>
                      <a:pPr algn="ctr"/>
                      <a:r>
                        <a:rPr sz="750" b="1" i="0">
                          <a:solidFill>
                            <a:srgbClr val="1B7F3A"/>
                          </a:solidFill>
                          <a:latin typeface="Arial"/>
                        </a:rPr>
                        <a:t>0</a:t>
                      </a:r>
                    </a:p>
                  </a:txBody>
                  <a:tcPr>
                    <a:solidFill>
                      <a:srgbClr val="FFFFFF"/>
                    </a:solidFill>
                  </a:tcPr>
                </a:tc>
                <a:tc>
                  <a:txBody>
                    <a:bodyPr wrap="none"/>
                    <a:lstStyle/>
                    <a:p>
                      <a:pPr algn="ctr"/>
                      <a:r>
                        <a:rPr sz="750" b="1" i="0">
                          <a:solidFill>
                            <a:srgbClr val="C00000"/>
                          </a:solidFill>
                          <a:latin typeface="Arial"/>
                        </a:rPr>
                        <a:t>3</a:t>
                      </a:r>
                    </a:p>
                  </a:txBody>
                  <a:tcPr>
                    <a:solidFill>
                      <a:srgbClr val="FFFFFF"/>
                    </a:solidFill>
                  </a:tcPr>
                </a:tc>
                <a:tc>
                  <a:txBody>
                    <a:bodyPr wrap="none"/>
                    <a:lstStyle/>
                    <a:p>
                      <a:pPr algn="ctr"/>
                      <a:r>
                        <a:rPr sz="750" b="0" i="0">
                          <a:solidFill>
                            <a:srgbClr val="262626"/>
                          </a:solidFill>
                          <a:latin typeface="Arial"/>
                        </a:rPr>
                        <a:t>171</a:t>
                      </a:r>
                    </a:p>
                  </a:txBody>
                  <a:tcPr>
                    <a:solidFill>
                      <a:srgbClr val="FFFFFF"/>
                    </a:solidFill>
                  </a:tcPr>
                </a:tc>
                <a:tc>
                  <a:txBody>
                    <a:bodyPr wrap="none"/>
                    <a:lstStyle/>
                    <a:p>
                      <a:pPr algn="ctr"/>
                      <a:r>
                        <a:rPr sz="750" b="1" i="0">
                          <a:solidFill>
                            <a:srgbClr val="262626"/>
                          </a:solidFill>
                          <a:latin typeface="Arial"/>
                        </a:rPr>
                        <a:t>2,055</a:t>
                      </a:r>
                    </a:p>
                  </a:txBody>
                  <a:tcPr>
                    <a:solidFill>
                      <a:srgbClr val="FFFFFF"/>
                    </a:solidFill>
                  </a:tcPr>
                </a:tc>
              </a:tr>
              <a:tr h="201168">
                <a:tc>
                  <a:txBody>
                    <a:bodyPr wrap="none"/>
                    <a:lstStyle/>
                    <a:p>
                      <a:pPr algn="ctr"/>
                      <a:r>
                        <a:rPr sz="750" b="1" i="0">
                          <a:solidFill>
                            <a:srgbClr val="262626"/>
                          </a:solidFill>
                          <a:latin typeface="Arial"/>
                        </a:rPr>
                        <a:t>64</a:t>
                      </a:r>
                    </a:p>
                  </a:txBody>
                  <a:tcPr>
                    <a:solidFill>
                      <a:srgbClr val="F2F2F2"/>
                    </a:solidFill>
                  </a:tcPr>
                </a:tc>
                <a:tc>
                  <a:txBody>
                    <a:bodyPr wrap="none"/>
                    <a:lstStyle/>
                    <a:p>
                      <a:pPr algn="l"/>
                      <a:r>
                        <a:rPr sz="750" b="0" i="0">
                          <a:solidFill>
                            <a:srgbClr val="262626"/>
                          </a:solidFill>
                          <a:latin typeface="Arial"/>
                        </a:rPr>
                        <a:t>Porter Middaugh</a:t>
                      </a:r>
                    </a:p>
                  </a:txBody>
                  <a:tcPr>
                    <a:solidFill>
                      <a:srgbClr val="F2F2F2"/>
                    </a:solidFill>
                  </a:tcPr>
                </a:tc>
                <a:tc>
                  <a:txBody>
                    <a:bodyPr wrap="none"/>
                    <a:lstStyle/>
                    <a:p>
                      <a:pPr algn="ctr"/>
                      <a:r>
                        <a:rPr sz="750" b="1" i="0">
                          <a:solidFill>
                            <a:srgbClr val="262626"/>
                          </a:solidFill>
                          <a:latin typeface="Arial"/>
                        </a:rPr>
                        <a:t>453</a:t>
                      </a:r>
                    </a:p>
                  </a:txBody>
                  <a:tcPr>
                    <a:solidFill>
                      <a:srgbClr val="F2F2F2"/>
                    </a:solidFill>
                  </a:tcPr>
                </a:tc>
                <a:tc>
                  <a:txBody>
                    <a:bodyPr wrap="none"/>
                    <a:lstStyle/>
                    <a:p>
                      <a:pPr algn="ctr"/>
                      <a:r>
                        <a:rPr sz="750" b="0" i="0">
                          <a:solidFill>
                            <a:srgbClr val="262626"/>
                          </a:solidFill>
                          <a:latin typeface="Arial"/>
                        </a:rPr>
                        <a:t>2</a:t>
                      </a:r>
                    </a:p>
                  </a:txBody>
                  <a:tcPr>
                    <a:solidFill>
                      <a:srgbClr val="F2F2F2"/>
                    </a:solidFill>
                  </a:tcPr>
                </a:tc>
                <a:tc>
                  <a:txBody>
                    <a:bodyPr wrap="none"/>
                    <a:lstStyle/>
                    <a:p>
                      <a:pPr algn="ctr"/>
                      <a:r>
                        <a:rPr sz="750" b="1" i="0">
                          <a:solidFill>
                            <a:srgbClr val="1B7F3A"/>
                          </a:solidFill>
                          <a:latin typeface="Arial"/>
                        </a:rPr>
                        <a:t>1</a:t>
                      </a:r>
                    </a:p>
                  </a:txBody>
                  <a:tcPr>
                    <a:solidFill>
                      <a:srgbClr val="F2F2F2"/>
                    </a:solidFill>
                  </a:tcPr>
                </a:tc>
                <a:tc>
                  <a:txBody>
                    <a:bodyPr wrap="none"/>
                    <a:lstStyle/>
                    <a:p>
                      <a:pPr algn="ctr"/>
                      <a:r>
                        <a:rPr sz="750" b="1" i="0">
                          <a:solidFill>
                            <a:srgbClr val="C00000"/>
                          </a:solidFill>
                          <a:latin typeface="Arial"/>
                        </a:rPr>
                        <a:t>1</a:t>
                      </a:r>
                    </a:p>
                  </a:txBody>
                  <a:tcPr>
                    <a:solidFill>
                      <a:srgbClr val="F2F2F2"/>
                    </a:solidFill>
                  </a:tcPr>
                </a:tc>
                <a:tc>
                  <a:txBody>
                    <a:bodyPr wrap="none"/>
                    <a:lstStyle/>
                    <a:p>
                      <a:pPr algn="ctr"/>
                      <a:r>
                        <a:rPr sz="750" b="0" i="0">
                          <a:solidFill>
                            <a:srgbClr val="262626"/>
                          </a:solidFill>
                          <a:latin typeface="Arial"/>
                        </a:rPr>
                        <a:t>226</a:t>
                      </a:r>
                    </a:p>
                  </a:txBody>
                  <a:tcPr>
                    <a:solidFill>
                      <a:srgbClr val="F2F2F2"/>
                    </a:solidFill>
                  </a:tcPr>
                </a:tc>
                <a:tc>
                  <a:txBody>
                    <a:bodyPr wrap="none"/>
                    <a:lstStyle/>
                    <a:p>
                      <a:pPr algn="ctr"/>
                      <a:r>
                        <a:rPr sz="750" b="1" i="0">
                          <a:solidFill>
                            <a:srgbClr val="262626"/>
                          </a:solidFill>
                          <a:latin typeface="Arial"/>
                        </a:rPr>
                        <a:t>2,722</a:t>
                      </a:r>
                    </a:p>
                  </a:txBody>
                  <a:tcPr>
                    <a:solidFill>
                      <a:srgbClr val="F2F2F2"/>
                    </a:solidFill>
                  </a:tcPr>
                </a:tc>
              </a:tr>
              <a:tr h="201168">
                <a:tc>
                  <a:txBody>
                    <a:bodyPr wrap="none"/>
                    <a:lstStyle/>
                    <a:p>
                      <a:pPr algn="ctr"/>
                      <a:r>
                        <a:rPr sz="750" b="1" i="0">
                          <a:solidFill>
                            <a:srgbClr val="262626"/>
                          </a:solidFill>
                          <a:latin typeface="Arial"/>
                        </a:rPr>
                        <a:t>98</a:t>
                      </a:r>
                    </a:p>
                  </a:txBody>
                  <a:tcPr>
                    <a:solidFill>
                      <a:srgbClr val="FFFFFF"/>
                    </a:solidFill>
                  </a:tcPr>
                </a:tc>
                <a:tc>
                  <a:txBody>
                    <a:bodyPr wrap="none"/>
                    <a:lstStyle/>
                    <a:p>
                      <a:pPr algn="l"/>
                      <a:r>
                        <a:rPr sz="750" b="0" i="0">
                          <a:solidFill>
                            <a:srgbClr val="262626"/>
                          </a:solidFill>
                          <a:latin typeface="Arial"/>
                        </a:rPr>
                        <a:t>Zach Leachman</a:t>
                      </a:r>
                    </a:p>
                  </a:txBody>
                  <a:tcPr>
                    <a:solidFill>
                      <a:srgbClr val="FFFFFF"/>
                    </a:solidFill>
                  </a:tcPr>
                </a:tc>
                <a:tc>
                  <a:txBody>
                    <a:bodyPr wrap="none"/>
                    <a:lstStyle/>
                    <a:p>
                      <a:pPr algn="ctr"/>
                      <a:r>
                        <a:rPr sz="750" b="1" i="0">
                          <a:solidFill>
                            <a:srgbClr val="262626"/>
                          </a:solidFill>
                          <a:latin typeface="Arial"/>
                        </a:rPr>
                        <a:t>212</a:t>
                      </a:r>
                    </a:p>
                  </a:txBody>
                  <a:tcPr>
                    <a:solidFill>
                      <a:srgbClr val="FFFFFF"/>
                    </a:solidFill>
                  </a:tcPr>
                </a:tc>
                <a:tc>
                  <a:txBody>
                    <a:bodyPr wrap="none"/>
                    <a:lstStyle/>
                    <a:p>
                      <a:pPr algn="ctr"/>
                      <a:r>
                        <a:rPr sz="750" b="0" i="0">
                          <a:solidFill>
                            <a:srgbClr val="262626"/>
                          </a:solidFill>
                          <a:latin typeface="Arial"/>
                        </a:rPr>
                        <a:t>1</a:t>
                      </a:r>
                    </a:p>
                  </a:txBody>
                  <a:tcPr>
                    <a:solidFill>
                      <a:srgbClr val="FFFFFF"/>
                    </a:solidFill>
                  </a:tcPr>
                </a:tc>
                <a:tc>
                  <a:txBody>
                    <a:bodyPr wrap="none"/>
                    <a:lstStyle/>
                    <a:p>
                      <a:pPr algn="ctr"/>
                      <a:r>
                        <a:rPr sz="750" b="1" i="0">
                          <a:solidFill>
                            <a:srgbClr val="1B7F3A"/>
                          </a:solidFill>
                          <a:latin typeface="Arial"/>
                        </a:rPr>
                        <a:t>0</a:t>
                      </a:r>
                    </a:p>
                  </a:txBody>
                  <a:tcPr>
                    <a:solidFill>
                      <a:srgbClr val="FFFFFF"/>
                    </a:solidFill>
                  </a:tcPr>
                </a:tc>
                <a:tc>
                  <a:txBody>
                    <a:bodyPr wrap="none"/>
                    <a:lstStyle/>
                    <a:p>
                      <a:pPr algn="ctr"/>
                      <a:r>
                        <a:rPr sz="750" b="1" i="0">
                          <a:solidFill>
                            <a:srgbClr val="C00000"/>
                          </a:solidFill>
                          <a:latin typeface="Arial"/>
                        </a:rPr>
                        <a:t>1</a:t>
                      </a:r>
                    </a:p>
                  </a:txBody>
                  <a:tcPr>
                    <a:solidFill>
                      <a:srgbClr val="FFFFFF"/>
                    </a:solidFill>
                  </a:tcPr>
                </a:tc>
                <a:tc>
                  <a:txBody>
                    <a:bodyPr wrap="none"/>
                    <a:lstStyle/>
                    <a:p>
                      <a:pPr algn="ctr"/>
                      <a:r>
                        <a:rPr sz="750" b="0" i="0">
                          <a:solidFill>
                            <a:srgbClr val="262626"/>
                          </a:solidFill>
                          <a:latin typeface="Arial"/>
                        </a:rPr>
                        <a:t>212</a:t>
                      </a:r>
                    </a:p>
                  </a:txBody>
                  <a:tcPr>
                    <a:solidFill>
                      <a:srgbClr val="FFFFFF"/>
                    </a:solidFill>
                  </a:tcPr>
                </a:tc>
                <a:tc>
                  <a:txBody>
                    <a:bodyPr wrap="none"/>
                    <a:lstStyle/>
                    <a:p>
                      <a:pPr algn="ctr"/>
                      <a:r>
                        <a:rPr sz="750" b="1" i="0">
                          <a:solidFill>
                            <a:srgbClr val="262626"/>
                          </a:solidFill>
                          <a:latin typeface="Arial"/>
                        </a:rPr>
                        <a:t>2,545</a:t>
                      </a:r>
                    </a:p>
                  </a:txBody>
                  <a:tcPr>
                    <a:solidFill>
                      <a:srgbClr val="FFFFFF"/>
                    </a:solidFill>
                  </a:tcPr>
                </a:tc>
              </a:tr>
            </a:tbl>
          </a:graphicData>
        </a:graphic>
      </p:graphicFrame>
      <p:sp>
        <p:nvSpPr>
          <p:cNvPr id="17" name="Rectangle 16"/>
          <p:cNvSpPr/>
          <p:nvPr/>
        </p:nvSpPr>
        <p:spPr>
          <a:xfrm>
            <a:off x="6126480" y="361188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0" y="3639312"/>
            <a:ext cx="5806440" cy="219456"/>
          </a:xfrm>
          <a:prstGeom prst="rect">
            <a:avLst/>
          </a:prstGeom>
          <a:noFill/>
        </p:spPr>
        <p:txBody>
          <a:bodyPr wrap="square">
            <a:spAutoFit/>
          </a:bodyPr>
          <a:lstStyle/>
          <a:p>
            <a:pPr algn="ctr"/>
            <a:r>
              <a:rPr sz="1100" b="1" i="0">
                <a:solidFill>
                  <a:srgbClr val="FFFFFF"/>
                </a:solidFill>
                <a:latin typeface="Arial"/>
              </a:rPr>
              <a:t>USA WOMEN</a:t>
            </a:r>
          </a:p>
        </p:txBody>
      </p:sp>
      <p:graphicFrame>
        <p:nvGraphicFramePr>
          <p:cNvPr id="19" name="Table 18"/>
          <p:cNvGraphicFramePr>
            <a:graphicFrameLocks noGrp="1"/>
          </p:cNvGraphicFramePr>
          <p:nvPr/>
        </p:nvGraphicFramePr>
        <p:xfrm>
          <a:off x="6126480" y="3931920"/>
          <a:ext cx="5806440" cy="2414016"/>
        </p:xfrm>
        <a:graphic>
          <a:graphicData uri="http://schemas.openxmlformats.org/drawingml/2006/table">
            <a:tbl>
              <a:tblPr firstRow="1" bandRow="1">
                <a:tableStyleId>{5C22544A-7EE6-4342-B048-85BDC9FD1C3A}</a:tableStyleId>
              </a:tblPr>
              <a:tblGrid>
                <a:gridCol w="411480"/>
                <a:gridCol w="1920240"/>
                <a:gridCol w="731520"/>
                <a:gridCol w="502920"/>
                <a:gridCol w="411480"/>
                <a:gridCol w="411480"/>
                <a:gridCol w="685800"/>
                <a:gridCol w="731520"/>
              </a:tblGrid>
              <a:tr h="201168">
                <a:tc>
                  <a:txBody>
                    <a:bodyPr wrap="none"/>
                    <a:lstStyle/>
                    <a:p>
                      <a:pPr algn="ctr"/>
                      <a:r>
                        <a:rPr sz="850" b="1" i="0">
                          <a:solidFill>
                            <a:srgbClr val="FFFFFF"/>
                          </a:solidFill>
                          <a:latin typeface="Arial"/>
                        </a:rPr>
                        <a:t>Rk</a:t>
                      </a:r>
                    </a:p>
                  </a:txBody>
                  <a:tcPr>
                    <a:solidFill>
                      <a:srgbClr val="002060"/>
                    </a:solidFill>
                  </a:tcPr>
                </a:tc>
                <a:tc>
                  <a:txBody>
                    <a:bodyPr wrap="none"/>
                    <a:lstStyle/>
                    <a:p>
                      <a:pPr algn="l"/>
                      <a:r>
                        <a:rPr sz="850" b="1" i="0">
                          <a:solidFill>
                            <a:srgbClr val="FFFFFF"/>
                          </a:solidFill>
                          <a:latin typeface="Arial"/>
                        </a:rPr>
                        <a:t>Athlete</a:t>
                      </a:r>
                    </a:p>
                  </a:txBody>
                  <a:tcPr>
                    <a:solidFill>
                      <a:srgbClr val="002060"/>
                    </a:solidFill>
                  </a:tcPr>
                </a:tc>
                <a:tc>
                  <a:txBody>
                    <a:bodyPr wrap="none"/>
                    <a:lstStyle/>
                    <a:p>
                      <a:pPr algn="ctr"/>
                      <a:r>
                        <a:rPr sz="850" b="1" i="0">
                          <a:solidFill>
                            <a:srgbClr val="FFFFFF"/>
                          </a:solidFill>
                          <a:latin typeface="Arial"/>
                        </a:rPr>
                        <a:t>Total</a:t>
                      </a:r>
                    </a:p>
                  </a:txBody>
                  <a:tcPr>
                    <a:solidFill>
                      <a:srgbClr val="002060"/>
                    </a:solidFill>
                  </a:tcPr>
                </a:tc>
                <a:tc>
                  <a:txBody>
                    <a:bodyPr wrap="none"/>
                    <a:lstStyle/>
                    <a:p>
                      <a:pPr algn="ctr"/>
                      <a:r>
                        <a:rPr sz="850" b="1" i="0">
                          <a:solidFill>
                            <a:srgbClr val="FFFFFF"/>
                          </a:solidFill>
                          <a:latin typeface="Arial"/>
                        </a:rPr>
                        <a:t>Races</a:t>
                      </a:r>
                    </a:p>
                  </a:txBody>
                  <a:tcPr>
                    <a:solidFill>
                      <a:srgbClr val="002060"/>
                    </a:solidFill>
                  </a:tcPr>
                </a:tc>
                <a:tc>
                  <a:txBody>
                    <a:bodyPr wrap="none"/>
                    <a:lstStyle/>
                    <a:p>
                      <a:pPr algn="ctr"/>
                      <a:r>
                        <a:rPr sz="850" b="1" i="0">
                          <a:solidFill>
                            <a:srgbClr val="FFFFFF"/>
                          </a:solidFill>
                          <a:latin typeface="Arial"/>
                        </a:rPr>
                        <a:t>On</a:t>
                      </a:r>
                    </a:p>
                  </a:txBody>
                  <a:tcPr>
                    <a:solidFill>
                      <a:srgbClr val="002060"/>
                    </a:solidFill>
                  </a:tcPr>
                </a:tc>
                <a:tc>
                  <a:txBody>
                    <a:bodyPr wrap="none"/>
                    <a:lstStyle/>
                    <a:p>
                      <a:pPr algn="ctr"/>
                      <a:r>
                        <a:rPr sz="850" b="1" i="0">
                          <a:solidFill>
                            <a:srgbClr val="FFFFFF"/>
                          </a:solidFill>
                          <a:latin typeface="Arial"/>
                        </a:rPr>
                        <a:t>Off</a:t>
                      </a:r>
                    </a:p>
                  </a:txBody>
                  <a:tcPr>
                    <a:solidFill>
                      <a:srgbClr val="002060"/>
                    </a:solidFill>
                  </a:tcPr>
                </a:tc>
                <a:tc>
                  <a:txBody>
                    <a:bodyPr wrap="none"/>
                    <a:lstStyle/>
                    <a:p>
                      <a:pPr algn="ctr"/>
                      <a:r>
                        <a:rPr sz="850" b="1" i="0">
                          <a:solidFill>
                            <a:srgbClr val="FFFFFF"/>
                          </a:solidFill>
                          <a:latin typeface="Arial"/>
                        </a:rPr>
                        <a:t>Pace</a:t>
                      </a:r>
                    </a:p>
                  </a:txBody>
                  <a:tcPr>
                    <a:solidFill>
                      <a:srgbClr val="002060"/>
                    </a:solidFill>
                  </a:tcPr>
                </a:tc>
                <a:tc>
                  <a:txBody>
                    <a:bodyPr wrap="none"/>
                    <a:lstStyle/>
                    <a:p>
                      <a:pPr algn="ctr"/>
                      <a:r>
                        <a:rPr sz="850" b="1" i="0">
                          <a:solidFill>
                            <a:srgbClr val="FFFFFF"/>
                          </a:solidFill>
                          <a:latin typeface="Arial"/>
                        </a:rPr>
                        <a:t>Proj @12</a:t>
                      </a:r>
                    </a:p>
                  </a:txBody>
                  <a:tcPr>
                    <a:solidFill>
                      <a:srgbClr val="002060"/>
                    </a:solidFill>
                  </a:tcPr>
                </a:tc>
              </a:tr>
              <a:tr h="201168">
                <a:tc>
                  <a:txBody>
                    <a:bodyPr wrap="none"/>
                    <a:lstStyle/>
                    <a:p>
                      <a:pPr algn="ctr"/>
                      <a:r>
                        <a:rPr sz="750" b="1" i="0">
                          <a:solidFill>
                            <a:srgbClr val="262626"/>
                          </a:solidFill>
                          <a:latin typeface="Arial"/>
                        </a:rPr>
                        <a:t>9</a:t>
                      </a:r>
                    </a:p>
                  </a:txBody>
                  <a:tcPr>
                    <a:solidFill>
                      <a:srgbClr val="FFFFFF"/>
                    </a:solidFill>
                  </a:tcPr>
                </a:tc>
                <a:tc>
                  <a:txBody>
                    <a:bodyPr wrap="none"/>
                    <a:lstStyle/>
                    <a:p>
                      <a:pPr algn="l"/>
                      <a:r>
                        <a:rPr sz="750" b="0" i="0">
                          <a:solidFill>
                            <a:srgbClr val="262626"/>
                          </a:solidFill>
                          <a:latin typeface="Arial"/>
                        </a:rPr>
                        <a:t>Taylor Knibb</a:t>
                      </a:r>
                    </a:p>
                  </a:txBody>
                  <a:tcPr>
                    <a:solidFill>
                      <a:srgbClr val="FFFFFF"/>
                    </a:solidFill>
                  </a:tcPr>
                </a:tc>
                <a:tc>
                  <a:txBody>
                    <a:bodyPr wrap="none"/>
                    <a:lstStyle/>
                    <a:p>
                      <a:pPr algn="ctr"/>
                      <a:r>
                        <a:rPr sz="750" b="1" i="0">
                          <a:solidFill>
                            <a:srgbClr val="262626"/>
                          </a:solidFill>
                          <a:latin typeface="Arial"/>
                        </a:rPr>
                        <a:t>2,047</a:t>
                      </a:r>
                    </a:p>
                  </a:txBody>
                  <a:tcPr>
                    <a:solidFill>
                      <a:srgbClr val="FFFFFF"/>
                    </a:solidFill>
                  </a:tcPr>
                </a:tc>
                <a:tc>
                  <a:txBody>
                    <a:bodyPr wrap="none"/>
                    <a:lstStyle/>
                    <a:p>
                      <a:pPr algn="ctr"/>
                      <a:r>
                        <a:rPr sz="750" b="0" i="0">
                          <a:solidFill>
                            <a:srgbClr val="262626"/>
                          </a:solidFill>
                          <a:latin typeface="Arial"/>
                        </a:rPr>
                        <a:t>4</a:t>
                      </a:r>
                    </a:p>
                  </a:txBody>
                  <a:tcPr>
                    <a:solidFill>
                      <a:srgbClr val="FFFFFF"/>
                    </a:solidFill>
                  </a:tcPr>
                </a:tc>
                <a:tc>
                  <a:txBody>
                    <a:bodyPr wrap="none"/>
                    <a:lstStyle/>
                    <a:p>
                      <a:pPr algn="ctr"/>
                      <a:r>
                        <a:rPr sz="750" b="1" i="0">
                          <a:solidFill>
                            <a:srgbClr val="1B7F3A"/>
                          </a:solidFill>
                          <a:latin typeface="Arial"/>
                        </a:rPr>
                        <a:t>4</a:t>
                      </a:r>
                    </a:p>
                  </a:txBody>
                  <a:tcPr>
                    <a:solidFill>
                      <a:srgbClr val="FFFFFF"/>
                    </a:solidFill>
                  </a:tcPr>
                </a:tc>
                <a:tc>
                  <a:txBody>
                    <a:bodyPr wrap="none"/>
                    <a:lstStyle/>
                    <a:p>
                      <a:pPr algn="ctr"/>
                      <a:r>
                        <a:rPr sz="750" b="1" i="0">
                          <a:solidFill>
                            <a:srgbClr val="C00000"/>
                          </a:solidFill>
                          <a:latin typeface="Arial"/>
                        </a:rPr>
                        <a:t>0</a:t>
                      </a:r>
                    </a:p>
                  </a:txBody>
                  <a:tcPr>
                    <a:solidFill>
                      <a:srgbClr val="FFFFFF"/>
                    </a:solidFill>
                  </a:tcPr>
                </a:tc>
                <a:tc>
                  <a:txBody>
                    <a:bodyPr wrap="none"/>
                    <a:lstStyle/>
                    <a:p>
                      <a:pPr algn="ctr"/>
                      <a:r>
                        <a:rPr sz="750" b="0" i="0">
                          <a:solidFill>
                            <a:srgbClr val="262626"/>
                          </a:solidFill>
                          <a:latin typeface="Arial"/>
                        </a:rPr>
                        <a:t>511</a:t>
                      </a:r>
                    </a:p>
                  </a:txBody>
                  <a:tcPr>
                    <a:solidFill>
                      <a:srgbClr val="FFFFFF"/>
                    </a:solidFill>
                  </a:tcPr>
                </a:tc>
                <a:tc>
                  <a:txBody>
                    <a:bodyPr wrap="none"/>
                    <a:lstStyle/>
                    <a:p>
                      <a:pPr algn="ctr"/>
                      <a:r>
                        <a:rPr sz="750" b="1" i="0">
                          <a:solidFill>
                            <a:srgbClr val="1B7F3A"/>
                          </a:solidFill>
                          <a:latin typeface="Arial"/>
                        </a:rPr>
                        <a:t>6,142</a:t>
                      </a:r>
                    </a:p>
                  </a:txBody>
                  <a:tcPr>
                    <a:solidFill>
                      <a:srgbClr val="FFFFFF"/>
                    </a:solidFill>
                  </a:tcPr>
                </a:tc>
              </a:tr>
              <a:tr h="201168">
                <a:tc>
                  <a:txBody>
                    <a:bodyPr wrap="none"/>
                    <a:lstStyle/>
                    <a:p>
                      <a:pPr algn="ctr"/>
                      <a:r>
                        <a:rPr sz="750" b="1" i="0">
                          <a:solidFill>
                            <a:srgbClr val="262626"/>
                          </a:solidFill>
                          <a:latin typeface="Arial"/>
                        </a:rPr>
                        <a:t>13</a:t>
                      </a:r>
                    </a:p>
                  </a:txBody>
                  <a:tcPr>
                    <a:solidFill>
                      <a:srgbClr val="F2F2F2"/>
                    </a:solidFill>
                  </a:tcPr>
                </a:tc>
                <a:tc>
                  <a:txBody>
                    <a:bodyPr wrap="none"/>
                    <a:lstStyle/>
                    <a:p>
                      <a:pPr algn="l"/>
                      <a:r>
                        <a:rPr sz="750" b="0" i="0">
                          <a:solidFill>
                            <a:srgbClr val="262626"/>
                          </a:solidFill>
                          <a:latin typeface="Arial"/>
                        </a:rPr>
                        <a:t>Taylor Spivey</a:t>
                      </a:r>
                    </a:p>
                  </a:txBody>
                  <a:tcPr>
                    <a:solidFill>
                      <a:srgbClr val="F2F2F2"/>
                    </a:solidFill>
                  </a:tcPr>
                </a:tc>
                <a:tc>
                  <a:txBody>
                    <a:bodyPr wrap="none"/>
                    <a:lstStyle/>
                    <a:p>
                      <a:pPr algn="ctr"/>
                      <a:r>
                        <a:rPr sz="750" b="1" i="0">
                          <a:solidFill>
                            <a:srgbClr val="262626"/>
                          </a:solidFill>
                          <a:latin typeface="Arial"/>
                        </a:rPr>
                        <a:t>1,795</a:t>
                      </a:r>
                    </a:p>
                  </a:txBody>
                  <a:tcPr>
                    <a:solidFill>
                      <a:srgbClr val="F2F2F2"/>
                    </a:solidFill>
                  </a:tcPr>
                </a:tc>
                <a:tc>
                  <a:txBody>
                    <a:bodyPr wrap="none"/>
                    <a:lstStyle/>
                    <a:p>
                      <a:pPr algn="ctr"/>
                      <a:r>
                        <a:rPr sz="750" b="0" i="0">
                          <a:solidFill>
                            <a:srgbClr val="262626"/>
                          </a:solidFill>
                          <a:latin typeface="Arial"/>
                        </a:rPr>
                        <a:t>3</a:t>
                      </a:r>
                    </a:p>
                  </a:txBody>
                  <a:tcPr>
                    <a:solidFill>
                      <a:srgbClr val="F2F2F2"/>
                    </a:solidFill>
                  </a:tcPr>
                </a:tc>
                <a:tc>
                  <a:txBody>
                    <a:bodyPr wrap="none"/>
                    <a:lstStyle/>
                    <a:p>
                      <a:pPr algn="ctr"/>
                      <a:r>
                        <a:rPr sz="750" b="1" i="0">
                          <a:solidFill>
                            <a:srgbClr val="1B7F3A"/>
                          </a:solidFill>
                          <a:latin typeface="Arial"/>
                        </a:rPr>
                        <a:t>3</a:t>
                      </a:r>
                    </a:p>
                  </a:txBody>
                  <a:tcPr>
                    <a:solidFill>
                      <a:srgbClr val="F2F2F2"/>
                    </a:solidFill>
                  </a:tcPr>
                </a:tc>
                <a:tc>
                  <a:txBody>
                    <a:bodyPr wrap="none"/>
                    <a:lstStyle/>
                    <a:p>
                      <a:pPr algn="ctr"/>
                      <a:r>
                        <a:rPr sz="750" b="1" i="0">
                          <a:solidFill>
                            <a:srgbClr val="C00000"/>
                          </a:solidFill>
                          <a:latin typeface="Arial"/>
                        </a:rPr>
                        <a:t>0</a:t>
                      </a:r>
                    </a:p>
                  </a:txBody>
                  <a:tcPr>
                    <a:solidFill>
                      <a:srgbClr val="F2F2F2"/>
                    </a:solidFill>
                  </a:tcPr>
                </a:tc>
                <a:tc>
                  <a:txBody>
                    <a:bodyPr wrap="none"/>
                    <a:lstStyle/>
                    <a:p>
                      <a:pPr algn="ctr"/>
                      <a:r>
                        <a:rPr sz="750" b="0" i="0">
                          <a:solidFill>
                            <a:srgbClr val="262626"/>
                          </a:solidFill>
                          <a:latin typeface="Arial"/>
                        </a:rPr>
                        <a:t>598</a:t>
                      </a:r>
                    </a:p>
                  </a:txBody>
                  <a:tcPr>
                    <a:solidFill>
                      <a:srgbClr val="F2F2F2"/>
                    </a:solidFill>
                  </a:tcPr>
                </a:tc>
                <a:tc>
                  <a:txBody>
                    <a:bodyPr wrap="none"/>
                    <a:lstStyle/>
                    <a:p>
                      <a:pPr algn="ctr"/>
                      <a:r>
                        <a:rPr sz="750" b="1" i="0">
                          <a:solidFill>
                            <a:srgbClr val="1B7F3A"/>
                          </a:solidFill>
                          <a:latin typeface="Arial"/>
                        </a:rPr>
                        <a:t>7,180</a:t>
                      </a:r>
                    </a:p>
                  </a:txBody>
                  <a:tcPr>
                    <a:solidFill>
                      <a:srgbClr val="F2F2F2"/>
                    </a:solidFill>
                  </a:tcPr>
                </a:tc>
              </a:tr>
              <a:tr h="201168">
                <a:tc>
                  <a:txBody>
                    <a:bodyPr wrap="none"/>
                    <a:lstStyle/>
                    <a:p>
                      <a:pPr algn="ctr"/>
                      <a:r>
                        <a:rPr sz="750" b="1" i="0">
                          <a:solidFill>
                            <a:srgbClr val="262626"/>
                          </a:solidFill>
                          <a:latin typeface="Arial"/>
                        </a:rPr>
                        <a:t>15</a:t>
                      </a:r>
                    </a:p>
                  </a:txBody>
                  <a:tcPr>
                    <a:solidFill>
                      <a:srgbClr val="FFFFFF"/>
                    </a:solidFill>
                  </a:tcPr>
                </a:tc>
                <a:tc>
                  <a:txBody>
                    <a:bodyPr wrap="none"/>
                    <a:lstStyle/>
                    <a:p>
                      <a:pPr algn="l"/>
                      <a:r>
                        <a:rPr sz="750" b="0" i="0">
                          <a:solidFill>
                            <a:srgbClr val="262626"/>
                          </a:solidFill>
                          <a:latin typeface="Arial"/>
                        </a:rPr>
                        <a:t>Gina Sereno</a:t>
                      </a:r>
                    </a:p>
                  </a:txBody>
                  <a:tcPr>
                    <a:solidFill>
                      <a:srgbClr val="FFFFFF"/>
                    </a:solidFill>
                  </a:tcPr>
                </a:tc>
                <a:tc>
                  <a:txBody>
                    <a:bodyPr wrap="none"/>
                    <a:lstStyle/>
                    <a:p>
                      <a:pPr algn="ctr"/>
                      <a:r>
                        <a:rPr sz="750" b="1" i="0">
                          <a:solidFill>
                            <a:srgbClr val="262626"/>
                          </a:solidFill>
                          <a:latin typeface="Arial"/>
                        </a:rPr>
                        <a:t>1,450</a:t>
                      </a:r>
                    </a:p>
                  </a:txBody>
                  <a:tcPr>
                    <a:solidFill>
                      <a:srgbClr val="FFFFFF"/>
                    </a:solidFill>
                  </a:tcPr>
                </a:tc>
                <a:tc>
                  <a:txBody>
                    <a:bodyPr wrap="none"/>
                    <a:lstStyle/>
                    <a:p>
                      <a:pPr algn="ctr"/>
                      <a:r>
                        <a:rPr sz="750" b="0" i="0">
                          <a:solidFill>
                            <a:srgbClr val="262626"/>
                          </a:solidFill>
                          <a:latin typeface="Arial"/>
                        </a:rPr>
                        <a:t>4</a:t>
                      </a:r>
                    </a:p>
                  </a:txBody>
                  <a:tcPr>
                    <a:solidFill>
                      <a:srgbClr val="FFFFFF"/>
                    </a:solidFill>
                  </a:tcPr>
                </a:tc>
                <a:tc>
                  <a:txBody>
                    <a:bodyPr wrap="none"/>
                    <a:lstStyle/>
                    <a:p>
                      <a:pPr algn="ctr"/>
                      <a:r>
                        <a:rPr sz="750" b="1" i="0">
                          <a:solidFill>
                            <a:srgbClr val="1B7F3A"/>
                          </a:solidFill>
                          <a:latin typeface="Arial"/>
                        </a:rPr>
                        <a:t>2</a:t>
                      </a:r>
                    </a:p>
                  </a:txBody>
                  <a:tcPr>
                    <a:solidFill>
                      <a:srgbClr val="FFFFFF"/>
                    </a:solidFill>
                  </a:tcPr>
                </a:tc>
                <a:tc>
                  <a:txBody>
                    <a:bodyPr wrap="none"/>
                    <a:lstStyle/>
                    <a:p>
                      <a:pPr algn="ctr"/>
                      <a:r>
                        <a:rPr sz="750" b="1" i="0">
                          <a:solidFill>
                            <a:srgbClr val="C00000"/>
                          </a:solidFill>
                          <a:latin typeface="Arial"/>
                        </a:rPr>
                        <a:t>2</a:t>
                      </a:r>
                    </a:p>
                  </a:txBody>
                  <a:tcPr>
                    <a:solidFill>
                      <a:srgbClr val="FFFFFF"/>
                    </a:solidFill>
                  </a:tcPr>
                </a:tc>
                <a:tc>
                  <a:txBody>
                    <a:bodyPr wrap="none"/>
                    <a:lstStyle/>
                    <a:p>
                      <a:pPr algn="ctr"/>
                      <a:r>
                        <a:rPr sz="750" b="0" i="0">
                          <a:solidFill>
                            <a:srgbClr val="262626"/>
                          </a:solidFill>
                          <a:latin typeface="Arial"/>
                        </a:rPr>
                        <a:t>362</a:t>
                      </a:r>
                    </a:p>
                  </a:txBody>
                  <a:tcPr>
                    <a:solidFill>
                      <a:srgbClr val="FFFFFF"/>
                    </a:solidFill>
                  </a:tcPr>
                </a:tc>
                <a:tc>
                  <a:txBody>
                    <a:bodyPr wrap="none"/>
                    <a:lstStyle/>
                    <a:p>
                      <a:pPr algn="ctr"/>
                      <a:r>
                        <a:rPr sz="750" b="1" i="0">
                          <a:solidFill>
                            <a:srgbClr val="1B7F3A"/>
                          </a:solidFill>
                          <a:latin typeface="Arial"/>
                        </a:rPr>
                        <a:t>4,351</a:t>
                      </a:r>
                    </a:p>
                  </a:txBody>
                  <a:tcPr>
                    <a:solidFill>
                      <a:srgbClr val="FFFFFF"/>
                    </a:solidFill>
                  </a:tcPr>
                </a:tc>
              </a:tr>
              <a:tr h="201168">
                <a:tc>
                  <a:txBody>
                    <a:bodyPr wrap="none"/>
                    <a:lstStyle/>
                    <a:p>
                      <a:pPr algn="ctr"/>
                      <a:r>
                        <a:rPr sz="750" b="1" i="0">
                          <a:solidFill>
                            <a:srgbClr val="262626"/>
                          </a:solidFill>
                          <a:latin typeface="Arial"/>
                        </a:rPr>
                        <a:t>19</a:t>
                      </a:r>
                    </a:p>
                  </a:txBody>
                  <a:tcPr>
                    <a:solidFill>
                      <a:srgbClr val="F2F2F2"/>
                    </a:solidFill>
                  </a:tcPr>
                </a:tc>
                <a:tc>
                  <a:txBody>
                    <a:bodyPr wrap="none"/>
                    <a:lstStyle/>
                    <a:p>
                      <a:pPr algn="l"/>
                      <a:r>
                        <a:rPr sz="750" b="0" i="0">
                          <a:solidFill>
                            <a:srgbClr val="262626"/>
                          </a:solidFill>
                          <a:latin typeface="Arial"/>
                        </a:rPr>
                        <a:t>Danielle Orie</a:t>
                      </a:r>
                    </a:p>
                  </a:txBody>
                  <a:tcPr>
                    <a:solidFill>
                      <a:srgbClr val="F2F2F2"/>
                    </a:solidFill>
                  </a:tcPr>
                </a:tc>
                <a:tc>
                  <a:txBody>
                    <a:bodyPr wrap="none"/>
                    <a:lstStyle/>
                    <a:p>
                      <a:pPr algn="ctr"/>
                      <a:r>
                        <a:rPr sz="750" b="1" i="0">
                          <a:solidFill>
                            <a:srgbClr val="262626"/>
                          </a:solidFill>
                          <a:latin typeface="Arial"/>
                        </a:rPr>
                        <a:t>1,146</a:t>
                      </a:r>
                    </a:p>
                  </a:txBody>
                  <a:tcPr>
                    <a:solidFill>
                      <a:srgbClr val="F2F2F2"/>
                    </a:solidFill>
                  </a:tcPr>
                </a:tc>
                <a:tc>
                  <a:txBody>
                    <a:bodyPr wrap="none"/>
                    <a:lstStyle/>
                    <a:p>
                      <a:pPr algn="ctr"/>
                      <a:r>
                        <a:rPr sz="750" b="0" i="0">
                          <a:solidFill>
                            <a:srgbClr val="262626"/>
                          </a:solidFill>
                          <a:latin typeface="Arial"/>
                        </a:rPr>
                        <a:t>4</a:t>
                      </a:r>
                    </a:p>
                  </a:txBody>
                  <a:tcPr>
                    <a:solidFill>
                      <a:srgbClr val="F2F2F2"/>
                    </a:solidFill>
                  </a:tcPr>
                </a:tc>
                <a:tc>
                  <a:txBody>
                    <a:bodyPr wrap="none"/>
                    <a:lstStyle/>
                    <a:p>
                      <a:pPr algn="ctr"/>
                      <a:r>
                        <a:rPr sz="750" b="1" i="0">
                          <a:solidFill>
                            <a:srgbClr val="1B7F3A"/>
                          </a:solidFill>
                          <a:latin typeface="Arial"/>
                        </a:rPr>
                        <a:t>2</a:t>
                      </a:r>
                    </a:p>
                  </a:txBody>
                  <a:tcPr>
                    <a:solidFill>
                      <a:srgbClr val="F2F2F2"/>
                    </a:solidFill>
                  </a:tcPr>
                </a:tc>
                <a:tc>
                  <a:txBody>
                    <a:bodyPr wrap="none"/>
                    <a:lstStyle/>
                    <a:p>
                      <a:pPr algn="ctr"/>
                      <a:r>
                        <a:rPr sz="750" b="1" i="0">
                          <a:solidFill>
                            <a:srgbClr val="C00000"/>
                          </a:solidFill>
                          <a:latin typeface="Arial"/>
                        </a:rPr>
                        <a:t>2</a:t>
                      </a:r>
                    </a:p>
                  </a:txBody>
                  <a:tcPr>
                    <a:solidFill>
                      <a:srgbClr val="F2F2F2"/>
                    </a:solidFill>
                  </a:tcPr>
                </a:tc>
                <a:tc>
                  <a:txBody>
                    <a:bodyPr wrap="none"/>
                    <a:lstStyle/>
                    <a:p>
                      <a:pPr algn="ctr"/>
                      <a:r>
                        <a:rPr sz="750" b="0" i="0">
                          <a:solidFill>
                            <a:srgbClr val="262626"/>
                          </a:solidFill>
                          <a:latin typeface="Arial"/>
                        </a:rPr>
                        <a:t>286</a:t>
                      </a:r>
                    </a:p>
                  </a:txBody>
                  <a:tcPr>
                    <a:solidFill>
                      <a:srgbClr val="F2F2F2"/>
                    </a:solidFill>
                  </a:tcPr>
                </a:tc>
                <a:tc>
                  <a:txBody>
                    <a:bodyPr wrap="none"/>
                    <a:lstStyle/>
                    <a:p>
                      <a:pPr algn="ctr"/>
                      <a:r>
                        <a:rPr sz="750" b="1" i="0">
                          <a:solidFill>
                            <a:srgbClr val="262626"/>
                          </a:solidFill>
                          <a:latin typeface="Arial"/>
                        </a:rPr>
                        <a:t>3,439</a:t>
                      </a:r>
                    </a:p>
                  </a:txBody>
                  <a:tcPr>
                    <a:solidFill>
                      <a:srgbClr val="F2F2F2"/>
                    </a:solidFill>
                  </a:tcPr>
                </a:tc>
              </a:tr>
              <a:tr h="201168">
                <a:tc>
                  <a:txBody>
                    <a:bodyPr wrap="none"/>
                    <a:lstStyle/>
                    <a:p>
                      <a:pPr algn="ctr"/>
                      <a:r>
                        <a:rPr sz="750" b="1" i="0">
                          <a:solidFill>
                            <a:srgbClr val="262626"/>
                          </a:solidFill>
                          <a:latin typeface="Arial"/>
                        </a:rPr>
                        <a:t>25</a:t>
                      </a:r>
                    </a:p>
                  </a:txBody>
                  <a:tcPr>
                    <a:solidFill>
                      <a:srgbClr val="FFFFFF"/>
                    </a:solidFill>
                  </a:tcPr>
                </a:tc>
                <a:tc>
                  <a:txBody>
                    <a:bodyPr wrap="none"/>
                    <a:lstStyle/>
                    <a:p>
                      <a:pPr algn="l"/>
                      <a:r>
                        <a:rPr sz="750" b="0" i="0">
                          <a:solidFill>
                            <a:srgbClr val="262626"/>
                          </a:solidFill>
                          <a:latin typeface="Arial"/>
                        </a:rPr>
                        <a:t>Kelly Wetteland</a:t>
                      </a:r>
                    </a:p>
                  </a:txBody>
                  <a:tcPr>
                    <a:solidFill>
                      <a:srgbClr val="FFFFFF"/>
                    </a:solidFill>
                  </a:tcPr>
                </a:tc>
                <a:tc>
                  <a:txBody>
                    <a:bodyPr wrap="none"/>
                    <a:lstStyle/>
                    <a:p>
                      <a:pPr algn="ctr"/>
                      <a:r>
                        <a:rPr sz="750" b="1" i="0">
                          <a:solidFill>
                            <a:srgbClr val="262626"/>
                          </a:solidFill>
                          <a:latin typeface="Arial"/>
                        </a:rPr>
                        <a:t>925</a:t>
                      </a:r>
                    </a:p>
                  </a:txBody>
                  <a:tcPr>
                    <a:solidFill>
                      <a:srgbClr val="FFFFFF"/>
                    </a:solidFill>
                  </a:tcPr>
                </a:tc>
                <a:tc>
                  <a:txBody>
                    <a:bodyPr wrap="none"/>
                    <a:lstStyle/>
                    <a:p>
                      <a:pPr algn="ctr"/>
                      <a:r>
                        <a:rPr sz="750" b="0" i="0">
                          <a:solidFill>
                            <a:srgbClr val="262626"/>
                          </a:solidFill>
                          <a:latin typeface="Arial"/>
                        </a:rPr>
                        <a:t>2</a:t>
                      </a:r>
                    </a:p>
                  </a:txBody>
                  <a:tcPr>
                    <a:solidFill>
                      <a:srgbClr val="FFFFFF"/>
                    </a:solidFill>
                  </a:tcPr>
                </a:tc>
                <a:tc>
                  <a:txBody>
                    <a:bodyPr wrap="none"/>
                    <a:lstStyle/>
                    <a:p>
                      <a:pPr algn="ctr"/>
                      <a:r>
                        <a:rPr sz="750" b="1" i="0">
                          <a:solidFill>
                            <a:srgbClr val="1B7F3A"/>
                          </a:solidFill>
                          <a:latin typeface="Arial"/>
                        </a:rPr>
                        <a:t>2</a:t>
                      </a:r>
                    </a:p>
                  </a:txBody>
                  <a:tcPr>
                    <a:solidFill>
                      <a:srgbClr val="FFFFFF"/>
                    </a:solidFill>
                  </a:tcPr>
                </a:tc>
                <a:tc>
                  <a:txBody>
                    <a:bodyPr wrap="none"/>
                    <a:lstStyle/>
                    <a:p>
                      <a:pPr algn="ctr"/>
                      <a:r>
                        <a:rPr sz="750" b="1" i="0">
                          <a:solidFill>
                            <a:srgbClr val="C00000"/>
                          </a:solidFill>
                          <a:latin typeface="Arial"/>
                        </a:rPr>
                        <a:t>0</a:t>
                      </a:r>
                    </a:p>
                  </a:txBody>
                  <a:tcPr>
                    <a:solidFill>
                      <a:srgbClr val="FFFFFF"/>
                    </a:solidFill>
                  </a:tcPr>
                </a:tc>
                <a:tc>
                  <a:txBody>
                    <a:bodyPr wrap="none"/>
                    <a:lstStyle/>
                    <a:p>
                      <a:pPr algn="ctr"/>
                      <a:r>
                        <a:rPr sz="750" b="0" i="0">
                          <a:solidFill>
                            <a:srgbClr val="262626"/>
                          </a:solidFill>
                          <a:latin typeface="Arial"/>
                        </a:rPr>
                        <a:t>462</a:t>
                      </a:r>
                    </a:p>
                  </a:txBody>
                  <a:tcPr>
                    <a:solidFill>
                      <a:srgbClr val="FFFFFF"/>
                    </a:solidFill>
                  </a:tcPr>
                </a:tc>
                <a:tc>
                  <a:txBody>
                    <a:bodyPr wrap="none"/>
                    <a:lstStyle/>
                    <a:p>
                      <a:pPr algn="ctr"/>
                      <a:r>
                        <a:rPr sz="750" b="1" i="0">
                          <a:solidFill>
                            <a:srgbClr val="1B7F3A"/>
                          </a:solidFill>
                          <a:latin typeface="Arial"/>
                        </a:rPr>
                        <a:t>5,550</a:t>
                      </a:r>
                    </a:p>
                  </a:txBody>
                  <a:tcPr>
                    <a:solidFill>
                      <a:srgbClr val="FFFFFF"/>
                    </a:solidFill>
                  </a:tcPr>
                </a:tc>
              </a:tr>
              <a:tr h="201168">
                <a:tc>
                  <a:txBody>
                    <a:bodyPr wrap="none"/>
                    <a:lstStyle/>
                    <a:p>
                      <a:pPr algn="ctr"/>
                      <a:r>
                        <a:rPr sz="750" b="1" i="0">
                          <a:solidFill>
                            <a:srgbClr val="262626"/>
                          </a:solidFill>
                          <a:latin typeface="Arial"/>
                        </a:rPr>
                        <a:t>29</a:t>
                      </a:r>
                    </a:p>
                  </a:txBody>
                  <a:tcPr>
                    <a:solidFill>
                      <a:srgbClr val="F2F2F2"/>
                    </a:solidFill>
                  </a:tcPr>
                </a:tc>
                <a:tc>
                  <a:txBody>
                    <a:bodyPr wrap="none"/>
                    <a:lstStyle/>
                    <a:p>
                      <a:pPr algn="l"/>
                      <a:r>
                        <a:rPr sz="750" b="0" i="0">
                          <a:solidFill>
                            <a:srgbClr val="262626"/>
                          </a:solidFill>
                          <a:latin typeface="Arial"/>
                        </a:rPr>
                        <a:t>Naomi Ruff</a:t>
                      </a:r>
                    </a:p>
                  </a:txBody>
                  <a:tcPr>
                    <a:solidFill>
                      <a:srgbClr val="F2F2F2"/>
                    </a:solidFill>
                  </a:tcPr>
                </a:tc>
                <a:tc>
                  <a:txBody>
                    <a:bodyPr wrap="none"/>
                    <a:lstStyle/>
                    <a:p>
                      <a:pPr algn="ctr"/>
                      <a:r>
                        <a:rPr sz="750" b="1" i="0">
                          <a:solidFill>
                            <a:srgbClr val="262626"/>
                          </a:solidFill>
                          <a:latin typeface="Arial"/>
                        </a:rPr>
                        <a:t>882</a:t>
                      </a:r>
                    </a:p>
                  </a:txBody>
                  <a:tcPr>
                    <a:solidFill>
                      <a:srgbClr val="F2F2F2"/>
                    </a:solidFill>
                  </a:tcPr>
                </a:tc>
                <a:tc>
                  <a:txBody>
                    <a:bodyPr wrap="none"/>
                    <a:lstStyle/>
                    <a:p>
                      <a:pPr algn="ctr"/>
                      <a:r>
                        <a:rPr sz="750" b="0" i="0">
                          <a:solidFill>
                            <a:srgbClr val="262626"/>
                          </a:solidFill>
                          <a:latin typeface="Arial"/>
                        </a:rPr>
                        <a:t>3</a:t>
                      </a:r>
                    </a:p>
                  </a:txBody>
                  <a:tcPr>
                    <a:solidFill>
                      <a:srgbClr val="F2F2F2"/>
                    </a:solidFill>
                  </a:tcPr>
                </a:tc>
                <a:tc>
                  <a:txBody>
                    <a:bodyPr wrap="none"/>
                    <a:lstStyle/>
                    <a:p>
                      <a:pPr algn="ctr"/>
                      <a:r>
                        <a:rPr sz="750" b="1" i="0">
                          <a:solidFill>
                            <a:srgbClr val="1B7F3A"/>
                          </a:solidFill>
                          <a:latin typeface="Arial"/>
                        </a:rPr>
                        <a:t>1</a:t>
                      </a:r>
                    </a:p>
                  </a:txBody>
                  <a:tcPr>
                    <a:solidFill>
                      <a:srgbClr val="F2F2F2"/>
                    </a:solidFill>
                  </a:tcPr>
                </a:tc>
                <a:tc>
                  <a:txBody>
                    <a:bodyPr wrap="none"/>
                    <a:lstStyle/>
                    <a:p>
                      <a:pPr algn="ctr"/>
                      <a:r>
                        <a:rPr sz="750" b="1" i="0">
                          <a:solidFill>
                            <a:srgbClr val="C00000"/>
                          </a:solidFill>
                          <a:latin typeface="Arial"/>
                        </a:rPr>
                        <a:t>2</a:t>
                      </a:r>
                    </a:p>
                  </a:txBody>
                  <a:tcPr>
                    <a:solidFill>
                      <a:srgbClr val="F2F2F2"/>
                    </a:solidFill>
                  </a:tcPr>
                </a:tc>
                <a:tc>
                  <a:txBody>
                    <a:bodyPr wrap="none"/>
                    <a:lstStyle/>
                    <a:p>
                      <a:pPr algn="ctr"/>
                      <a:r>
                        <a:rPr sz="750" b="0" i="0">
                          <a:solidFill>
                            <a:srgbClr val="262626"/>
                          </a:solidFill>
                          <a:latin typeface="Arial"/>
                        </a:rPr>
                        <a:t>294</a:t>
                      </a:r>
                    </a:p>
                  </a:txBody>
                  <a:tcPr>
                    <a:solidFill>
                      <a:srgbClr val="F2F2F2"/>
                    </a:solidFill>
                  </a:tcPr>
                </a:tc>
                <a:tc>
                  <a:txBody>
                    <a:bodyPr wrap="none"/>
                    <a:lstStyle/>
                    <a:p>
                      <a:pPr algn="ctr"/>
                      <a:r>
                        <a:rPr sz="750" b="1" i="0">
                          <a:solidFill>
                            <a:srgbClr val="262626"/>
                          </a:solidFill>
                          <a:latin typeface="Arial"/>
                        </a:rPr>
                        <a:t>3,530</a:t>
                      </a:r>
                    </a:p>
                  </a:txBody>
                  <a:tcPr>
                    <a:solidFill>
                      <a:srgbClr val="F2F2F2"/>
                    </a:solidFill>
                  </a:tcPr>
                </a:tc>
              </a:tr>
              <a:tr h="201168">
                <a:tc>
                  <a:txBody>
                    <a:bodyPr wrap="none"/>
                    <a:lstStyle/>
                    <a:p>
                      <a:pPr algn="ctr"/>
                      <a:r>
                        <a:rPr sz="750" b="1" i="0">
                          <a:solidFill>
                            <a:srgbClr val="262626"/>
                          </a:solidFill>
                          <a:latin typeface="Arial"/>
                        </a:rPr>
                        <a:t>41</a:t>
                      </a:r>
                    </a:p>
                  </a:txBody>
                  <a:tcPr>
                    <a:solidFill>
                      <a:srgbClr val="FFFFFF"/>
                    </a:solidFill>
                  </a:tcPr>
                </a:tc>
                <a:tc>
                  <a:txBody>
                    <a:bodyPr wrap="none"/>
                    <a:lstStyle/>
                    <a:p>
                      <a:pPr algn="l"/>
                      <a:r>
                        <a:rPr sz="750" b="0" i="0">
                          <a:solidFill>
                            <a:srgbClr val="262626"/>
                          </a:solidFill>
                          <a:latin typeface="Arial"/>
                        </a:rPr>
                        <a:t>Erika Ackerlund</a:t>
                      </a:r>
                    </a:p>
                  </a:txBody>
                  <a:tcPr>
                    <a:solidFill>
                      <a:srgbClr val="FFFFFF"/>
                    </a:solidFill>
                  </a:tcPr>
                </a:tc>
                <a:tc>
                  <a:txBody>
                    <a:bodyPr wrap="none"/>
                    <a:lstStyle/>
                    <a:p>
                      <a:pPr algn="ctr"/>
                      <a:r>
                        <a:rPr sz="750" b="1" i="0">
                          <a:solidFill>
                            <a:srgbClr val="262626"/>
                          </a:solidFill>
                          <a:latin typeface="Arial"/>
                        </a:rPr>
                        <a:t>720</a:t>
                      </a:r>
                    </a:p>
                  </a:txBody>
                  <a:tcPr>
                    <a:solidFill>
                      <a:srgbClr val="FFFFFF"/>
                    </a:solidFill>
                  </a:tcPr>
                </a:tc>
                <a:tc>
                  <a:txBody>
                    <a:bodyPr wrap="none"/>
                    <a:lstStyle/>
                    <a:p>
                      <a:pPr algn="ctr"/>
                      <a:r>
                        <a:rPr sz="750" b="0" i="0">
                          <a:solidFill>
                            <a:srgbClr val="262626"/>
                          </a:solidFill>
                          <a:latin typeface="Arial"/>
                        </a:rPr>
                        <a:t>3</a:t>
                      </a:r>
                    </a:p>
                  </a:txBody>
                  <a:tcPr>
                    <a:solidFill>
                      <a:srgbClr val="FFFFFF"/>
                    </a:solidFill>
                  </a:tcPr>
                </a:tc>
                <a:tc>
                  <a:txBody>
                    <a:bodyPr wrap="none"/>
                    <a:lstStyle/>
                    <a:p>
                      <a:pPr algn="ctr"/>
                      <a:r>
                        <a:rPr sz="750" b="1" i="0">
                          <a:solidFill>
                            <a:srgbClr val="1B7F3A"/>
                          </a:solidFill>
                          <a:latin typeface="Arial"/>
                        </a:rPr>
                        <a:t>1</a:t>
                      </a:r>
                    </a:p>
                  </a:txBody>
                  <a:tcPr>
                    <a:solidFill>
                      <a:srgbClr val="FFFFFF"/>
                    </a:solidFill>
                  </a:tcPr>
                </a:tc>
                <a:tc>
                  <a:txBody>
                    <a:bodyPr wrap="none"/>
                    <a:lstStyle/>
                    <a:p>
                      <a:pPr algn="ctr"/>
                      <a:r>
                        <a:rPr sz="750" b="1" i="0">
                          <a:solidFill>
                            <a:srgbClr val="C00000"/>
                          </a:solidFill>
                          <a:latin typeface="Arial"/>
                        </a:rPr>
                        <a:t>2</a:t>
                      </a:r>
                    </a:p>
                  </a:txBody>
                  <a:tcPr>
                    <a:solidFill>
                      <a:srgbClr val="FFFFFF"/>
                    </a:solidFill>
                  </a:tcPr>
                </a:tc>
                <a:tc>
                  <a:txBody>
                    <a:bodyPr wrap="none"/>
                    <a:lstStyle/>
                    <a:p>
                      <a:pPr algn="ctr"/>
                      <a:r>
                        <a:rPr sz="750" b="0" i="0">
                          <a:solidFill>
                            <a:srgbClr val="262626"/>
                          </a:solidFill>
                          <a:latin typeface="Arial"/>
                        </a:rPr>
                        <a:t>240</a:t>
                      </a:r>
                    </a:p>
                  </a:txBody>
                  <a:tcPr>
                    <a:solidFill>
                      <a:srgbClr val="FFFFFF"/>
                    </a:solidFill>
                  </a:tcPr>
                </a:tc>
                <a:tc>
                  <a:txBody>
                    <a:bodyPr wrap="none"/>
                    <a:lstStyle/>
                    <a:p>
                      <a:pPr algn="ctr"/>
                      <a:r>
                        <a:rPr sz="750" b="1" i="0">
                          <a:solidFill>
                            <a:srgbClr val="262626"/>
                          </a:solidFill>
                          <a:latin typeface="Arial"/>
                        </a:rPr>
                        <a:t>2,882</a:t>
                      </a:r>
                    </a:p>
                  </a:txBody>
                  <a:tcPr>
                    <a:solidFill>
                      <a:srgbClr val="FFFFFF"/>
                    </a:solidFill>
                  </a:tcPr>
                </a:tc>
              </a:tr>
              <a:tr h="201168">
                <a:tc>
                  <a:txBody>
                    <a:bodyPr wrap="none"/>
                    <a:lstStyle/>
                    <a:p>
                      <a:pPr algn="ctr"/>
                      <a:r>
                        <a:rPr sz="750" b="1" i="0">
                          <a:solidFill>
                            <a:srgbClr val="262626"/>
                          </a:solidFill>
                          <a:latin typeface="Arial"/>
                        </a:rPr>
                        <a:t>52</a:t>
                      </a:r>
                    </a:p>
                  </a:txBody>
                  <a:tcPr>
                    <a:solidFill>
                      <a:srgbClr val="F2F2F2"/>
                    </a:solidFill>
                  </a:tcPr>
                </a:tc>
                <a:tc>
                  <a:txBody>
                    <a:bodyPr wrap="none"/>
                    <a:lstStyle/>
                    <a:p>
                      <a:pPr algn="l"/>
                      <a:r>
                        <a:rPr sz="750" b="0" i="0">
                          <a:solidFill>
                            <a:srgbClr val="262626"/>
                          </a:solidFill>
                          <a:latin typeface="Arial"/>
                        </a:rPr>
                        <a:t>Eleanor Beveridge</a:t>
                      </a:r>
                    </a:p>
                  </a:txBody>
                  <a:tcPr>
                    <a:solidFill>
                      <a:srgbClr val="F2F2F2"/>
                    </a:solidFill>
                  </a:tcPr>
                </a:tc>
                <a:tc>
                  <a:txBody>
                    <a:bodyPr wrap="none"/>
                    <a:lstStyle/>
                    <a:p>
                      <a:pPr algn="ctr"/>
                      <a:r>
                        <a:rPr sz="750" b="1" i="0">
                          <a:solidFill>
                            <a:srgbClr val="262626"/>
                          </a:solidFill>
                          <a:latin typeface="Arial"/>
                        </a:rPr>
                        <a:t>567</a:t>
                      </a:r>
                    </a:p>
                  </a:txBody>
                  <a:tcPr>
                    <a:solidFill>
                      <a:srgbClr val="F2F2F2"/>
                    </a:solidFill>
                  </a:tcPr>
                </a:tc>
                <a:tc>
                  <a:txBody>
                    <a:bodyPr wrap="none"/>
                    <a:lstStyle/>
                    <a:p>
                      <a:pPr algn="ctr"/>
                      <a:r>
                        <a:rPr sz="750" b="0" i="0">
                          <a:solidFill>
                            <a:srgbClr val="262626"/>
                          </a:solidFill>
                          <a:latin typeface="Arial"/>
                        </a:rPr>
                        <a:t>3</a:t>
                      </a:r>
                    </a:p>
                  </a:txBody>
                  <a:tcPr>
                    <a:solidFill>
                      <a:srgbClr val="F2F2F2"/>
                    </a:solidFill>
                  </a:tcPr>
                </a:tc>
                <a:tc>
                  <a:txBody>
                    <a:bodyPr wrap="none"/>
                    <a:lstStyle/>
                    <a:p>
                      <a:pPr algn="ctr"/>
                      <a:r>
                        <a:rPr sz="750" b="1" i="0">
                          <a:solidFill>
                            <a:srgbClr val="1B7F3A"/>
                          </a:solidFill>
                          <a:latin typeface="Arial"/>
                        </a:rPr>
                        <a:t>0</a:t>
                      </a:r>
                    </a:p>
                  </a:txBody>
                  <a:tcPr>
                    <a:solidFill>
                      <a:srgbClr val="F2F2F2"/>
                    </a:solidFill>
                  </a:tcPr>
                </a:tc>
                <a:tc>
                  <a:txBody>
                    <a:bodyPr wrap="none"/>
                    <a:lstStyle/>
                    <a:p>
                      <a:pPr algn="ctr"/>
                      <a:r>
                        <a:rPr sz="750" b="1" i="0">
                          <a:solidFill>
                            <a:srgbClr val="C00000"/>
                          </a:solidFill>
                          <a:latin typeface="Arial"/>
                        </a:rPr>
                        <a:t>3</a:t>
                      </a:r>
                    </a:p>
                  </a:txBody>
                  <a:tcPr>
                    <a:solidFill>
                      <a:srgbClr val="F2F2F2"/>
                    </a:solidFill>
                  </a:tcPr>
                </a:tc>
                <a:tc>
                  <a:txBody>
                    <a:bodyPr wrap="none"/>
                    <a:lstStyle/>
                    <a:p>
                      <a:pPr algn="ctr"/>
                      <a:r>
                        <a:rPr sz="750" b="0" i="0">
                          <a:solidFill>
                            <a:srgbClr val="262626"/>
                          </a:solidFill>
                          <a:latin typeface="Arial"/>
                        </a:rPr>
                        <a:t>189</a:t>
                      </a:r>
                    </a:p>
                  </a:txBody>
                  <a:tcPr>
                    <a:solidFill>
                      <a:srgbClr val="F2F2F2"/>
                    </a:solidFill>
                  </a:tcPr>
                </a:tc>
                <a:tc>
                  <a:txBody>
                    <a:bodyPr wrap="none"/>
                    <a:lstStyle/>
                    <a:p>
                      <a:pPr algn="ctr"/>
                      <a:r>
                        <a:rPr sz="750" b="1" i="0">
                          <a:solidFill>
                            <a:srgbClr val="262626"/>
                          </a:solidFill>
                          <a:latin typeface="Arial"/>
                        </a:rPr>
                        <a:t>2,269</a:t>
                      </a:r>
                    </a:p>
                  </a:txBody>
                  <a:tcPr>
                    <a:solidFill>
                      <a:srgbClr val="F2F2F2"/>
                    </a:solidFill>
                  </a:tcPr>
                </a:tc>
              </a:tr>
              <a:tr h="201168">
                <a:tc>
                  <a:txBody>
                    <a:bodyPr wrap="none"/>
                    <a:lstStyle/>
                    <a:p>
                      <a:pPr algn="ctr"/>
                      <a:r>
                        <a:rPr sz="750" b="1" i="0">
                          <a:solidFill>
                            <a:srgbClr val="262626"/>
                          </a:solidFill>
                          <a:latin typeface="Arial"/>
                        </a:rPr>
                        <a:t>54</a:t>
                      </a:r>
                    </a:p>
                  </a:txBody>
                  <a:tcPr>
                    <a:solidFill>
                      <a:srgbClr val="FFFFFF"/>
                    </a:solidFill>
                  </a:tcPr>
                </a:tc>
                <a:tc>
                  <a:txBody>
                    <a:bodyPr wrap="none"/>
                    <a:lstStyle/>
                    <a:p>
                      <a:pPr algn="l"/>
                      <a:r>
                        <a:rPr sz="750" b="0" i="0">
                          <a:solidFill>
                            <a:srgbClr val="262626"/>
                          </a:solidFill>
                          <a:latin typeface="Arial"/>
                        </a:rPr>
                        <a:t>Gwen Jorgensen</a:t>
                      </a:r>
                    </a:p>
                  </a:txBody>
                  <a:tcPr>
                    <a:solidFill>
                      <a:srgbClr val="FFFFFF"/>
                    </a:solidFill>
                  </a:tcPr>
                </a:tc>
                <a:tc>
                  <a:txBody>
                    <a:bodyPr wrap="none"/>
                    <a:lstStyle/>
                    <a:p>
                      <a:pPr algn="ctr"/>
                      <a:r>
                        <a:rPr sz="750" b="1" i="0">
                          <a:solidFill>
                            <a:srgbClr val="262626"/>
                          </a:solidFill>
                          <a:latin typeface="Arial"/>
                        </a:rPr>
                        <a:t>556</a:t>
                      </a:r>
                    </a:p>
                  </a:txBody>
                  <a:tcPr>
                    <a:solidFill>
                      <a:srgbClr val="FFFFFF"/>
                    </a:solidFill>
                  </a:tcPr>
                </a:tc>
                <a:tc>
                  <a:txBody>
                    <a:bodyPr wrap="none"/>
                    <a:lstStyle/>
                    <a:p>
                      <a:pPr algn="ctr"/>
                      <a:r>
                        <a:rPr sz="750" b="0" i="0">
                          <a:solidFill>
                            <a:srgbClr val="262626"/>
                          </a:solidFill>
                          <a:latin typeface="Arial"/>
                        </a:rPr>
                        <a:t>2</a:t>
                      </a:r>
                    </a:p>
                  </a:txBody>
                  <a:tcPr>
                    <a:solidFill>
                      <a:srgbClr val="FFFFFF"/>
                    </a:solidFill>
                  </a:tcPr>
                </a:tc>
                <a:tc>
                  <a:txBody>
                    <a:bodyPr wrap="none"/>
                    <a:lstStyle/>
                    <a:p>
                      <a:pPr algn="ctr"/>
                      <a:r>
                        <a:rPr sz="750" b="1" i="0">
                          <a:solidFill>
                            <a:srgbClr val="1B7F3A"/>
                          </a:solidFill>
                          <a:latin typeface="Arial"/>
                        </a:rPr>
                        <a:t>1</a:t>
                      </a:r>
                    </a:p>
                  </a:txBody>
                  <a:tcPr>
                    <a:solidFill>
                      <a:srgbClr val="FFFFFF"/>
                    </a:solidFill>
                  </a:tcPr>
                </a:tc>
                <a:tc>
                  <a:txBody>
                    <a:bodyPr wrap="none"/>
                    <a:lstStyle/>
                    <a:p>
                      <a:pPr algn="ctr"/>
                      <a:r>
                        <a:rPr sz="750" b="1" i="0">
                          <a:solidFill>
                            <a:srgbClr val="C00000"/>
                          </a:solidFill>
                          <a:latin typeface="Arial"/>
                        </a:rPr>
                        <a:t>1</a:t>
                      </a:r>
                    </a:p>
                  </a:txBody>
                  <a:tcPr>
                    <a:solidFill>
                      <a:srgbClr val="FFFFFF"/>
                    </a:solidFill>
                  </a:tcPr>
                </a:tc>
                <a:tc>
                  <a:txBody>
                    <a:bodyPr wrap="none"/>
                    <a:lstStyle/>
                    <a:p>
                      <a:pPr algn="ctr"/>
                      <a:r>
                        <a:rPr sz="750" b="0" i="0">
                          <a:solidFill>
                            <a:srgbClr val="262626"/>
                          </a:solidFill>
                          <a:latin typeface="Arial"/>
                        </a:rPr>
                        <a:t>278</a:t>
                      </a:r>
                    </a:p>
                  </a:txBody>
                  <a:tcPr>
                    <a:solidFill>
                      <a:srgbClr val="FFFFFF"/>
                    </a:solidFill>
                  </a:tcPr>
                </a:tc>
                <a:tc>
                  <a:txBody>
                    <a:bodyPr wrap="none"/>
                    <a:lstStyle/>
                    <a:p>
                      <a:pPr algn="ctr"/>
                      <a:r>
                        <a:rPr sz="750" b="1" i="0">
                          <a:solidFill>
                            <a:srgbClr val="262626"/>
                          </a:solidFill>
                          <a:latin typeface="Arial"/>
                        </a:rPr>
                        <a:t>3,337</a:t>
                      </a:r>
                    </a:p>
                  </a:txBody>
                  <a:tcPr>
                    <a:solidFill>
                      <a:srgbClr val="FFFFFF"/>
                    </a:solidFill>
                  </a:tcPr>
                </a:tc>
              </a:tr>
              <a:tr h="201168">
                <a:tc>
                  <a:txBody>
                    <a:bodyPr wrap="none"/>
                    <a:lstStyle/>
                    <a:p>
                      <a:pPr algn="ctr"/>
                      <a:r>
                        <a:rPr sz="750" b="1" i="0">
                          <a:solidFill>
                            <a:srgbClr val="262626"/>
                          </a:solidFill>
                          <a:latin typeface="Arial"/>
                        </a:rPr>
                        <a:t>84</a:t>
                      </a:r>
                    </a:p>
                  </a:txBody>
                  <a:tcPr>
                    <a:solidFill>
                      <a:srgbClr val="F2F2F2"/>
                    </a:solidFill>
                  </a:tcPr>
                </a:tc>
                <a:tc>
                  <a:txBody>
                    <a:bodyPr wrap="none"/>
                    <a:lstStyle/>
                    <a:p>
                      <a:pPr algn="l"/>
                      <a:r>
                        <a:rPr sz="750" b="0" i="0">
                          <a:solidFill>
                            <a:srgbClr val="262626"/>
                          </a:solidFill>
                          <a:latin typeface="Arial"/>
                        </a:rPr>
                        <a:t>Rachel Werking</a:t>
                      </a:r>
                    </a:p>
                  </a:txBody>
                  <a:tcPr>
                    <a:solidFill>
                      <a:srgbClr val="F2F2F2"/>
                    </a:solidFill>
                  </a:tcPr>
                </a:tc>
                <a:tc>
                  <a:txBody>
                    <a:bodyPr wrap="none"/>
                    <a:lstStyle/>
                    <a:p>
                      <a:pPr algn="ctr"/>
                      <a:r>
                        <a:rPr sz="750" b="1" i="0">
                          <a:solidFill>
                            <a:srgbClr val="262626"/>
                          </a:solidFill>
                          <a:latin typeface="Arial"/>
                        </a:rPr>
                        <a:t>271</a:t>
                      </a:r>
                    </a:p>
                  </a:txBody>
                  <a:tcPr>
                    <a:solidFill>
                      <a:srgbClr val="F2F2F2"/>
                    </a:solidFill>
                  </a:tcPr>
                </a:tc>
                <a:tc>
                  <a:txBody>
                    <a:bodyPr wrap="none"/>
                    <a:lstStyle/>
                    <a:p>
                      <a:pPr algn="ctr"/>
                      <a:r>
                        <a:rPr sz="750" b="0" i="0">
                          <a:solidFill>
                            <a:srgbClr val="262626"/>
                          </a:solidFill>
                          <a:latin typeface="Arial"/>
                        </a:rPr>
                        <a:t>2</a:t>
                      </a:r>
                    </a:p>
                  </a:txBody>
                  <a:tcPr>
                    <a:solidFill>
                      <a:srgbClr val="F2F2F2"/>
                    </a:solidFill>
                  </a:tcPr>
                </a:tc>
                <a:tc>
                  <a:txBody>
                    <a:bodyPr wrap="none"/>
                    <a:lstStyle/>
                    <a:p>
                      <a:pPr algn="ctr"/>
                      <a:r>
                        <a:rPr sz="750" b="1" i="0">
                          <a:solidFill>
                            <a:srgbClr val="1B7F3A"/>
                          </a:solidFill>
                          <a:latin typeface="Arial"/>
                        </a:rPr>
                        <a:t>0</a:t>
                      </a:r>
                    </a:p>
                  </a:txBody>
                  <a:tcPr>
                    <a:solidFill>
                      <a:srgbClr val="F2F2F2"/>
                    </a:solidFill>
                  </a:tcPr>
                </a:tc>
                <a:tc>
                  <a:txBody>
                    <a:bodyPr wrap="none"/>
                    <a:lstStyle/>
                    <a:p>
                      <a:pPr algn="ctr"/>
                      <a:r>
                        <a:rPr sz="750" b="1" i="0">
                          <a:solidFill>
                            <a:srgbClr val="C00000"/>
                          </a:solidFill>
                          <a:latin typeface="Arial"/>
                        </a:rPr>
                        <a:t>2</a:t>
                      </a:r>
                    </a:p>
                  </a:txBody>
                  <a:tcPr>
                    <a:solidFill>
                      <a:srgbClr val="F2F2F2"/>
                    </a:solidFill>
                  </a:tcPr>
                </a:tc>
                <a:tc>
                  <a:txBody>
                    <a:bodyPr wrap="none"/>
                    <a:lstStyle/>
                    <a:p>
                      <a:pPr algn="ctr"/>
                      <a:r>
                        <a:rPr sz="750" b="0" i="0">
                          <a:solidFill>
                            <a:srgbClr val="262626"/>
                          </a:solidFill>
                          <a:latin typeface="Arial"/>
                        </a:rPr>
                        <a:t>135</a:t>
                      </a:r>
                    </a:p>
                  </a:txBody>
                  <a:tcPr>
                    <a:solidFill>
                      <a:srgbClr val="F2F2F2"/>
                    </a:solidFill>
                  </a:tcPr>
                </a:tc>
                <a:tc>
                  <a:txBody>
                    <a:bodyPr wrap="none"/>
                    <a:lstStyle/>
                    <a:p>
                      <a:pPr algn="ctr"/>
                      <a:r>
                        <a:rPr sz="750" b="1" i="0">
                          <a:solidFill>
                            <a:srgbClr val="262626"/>
                          </a:solidFill>
                          <a:latin typeface="Arial"/>
                        </a:rPr>
                        <a:t>1,629</a:t>
                      </a:r>
                    </a:p>
                  </a:txBody>
                  <a:tcPr>
                    <a:solidFill>
                      <a:srgbClr val="F2F2F2"/>
                    </a:solidFill>
                  </a:tcPr>
                </a:tc>
              </a:tr>
              <a:tr h="201168">
                <a:tc>
                  <a:txBody>
                    <a:bodyPr wrap="none"/>
                    <a:lstStyle/>
                    <a:p>
                      <a:pPr algn="ctr"/>
                      <a:r>
                        <a:rPr sz="750" b="1" i="0">
                          <a:solidFill>
                            <a:srgbClr val="262626"/>
                          </a:solidFill>
                          <a:latin typeface="Arial"/>
                        </a:rPr>
                        <a:t>104</a:t>
                      </a:r>
                    </a:p>
                  </a:txBody>
                  <a:tcPr>
                    <a:solidFill>
                      <a:srgbClr val="FFFFFF"/>
                    </a:solidFill>
                  </a:tcPr>
                </a:tc>
                <a:tc>
                  <a:txBody>
                    <a:bodyPr wrap="none"/>
                    <a:lstStyle/>
                    <a:p>
                      <a:pPr algn="l"/>
                      <a:r>
                        <a:rPr sz="750" b="0" i="0">
                          <a:solidFill>
                            <a:srgbClr val="262626"/>
                          </a:solidFill>
                          <a:latin typeface="Arial"/>
                        </a:rPr>
                        <a:t>Joy Gill</a:t>
                      </a:r>
                    </a:p>
                  </a:txBody>
                  <a:tcPr>
                    <a:solidFill>
                      <a:srgbClr val="FFFFFF"/>
                    </a:solidFill>
                  </a:tcPr>
                </a:tc>
                <a:tc>
                  <a:txBody>
                    <a:bodyPr wrap="none"/>
                    <a:lstStyle/>
                    <a:p>
                      <a:pPr algn="ctr"/>
                      <a:r>
                        <a:rPr sz="750" b="1" i="0">
                          <a:solidFill>
                            <a:srgbClr val="262626"/>
                          </a:solidFill>
                          <a:latin typeface="Arial"/>
                        </a:rPr>
                        <a:t>200</a:t>
                      </a:r>
                    </a:p>
                  </a:txBody>
                  <a:tcPr>
                    <a:solidFill>
                      <a:srgbClr val="FFFFFF"/>
                    </a:solidFill>
                  </a:tcPr>
                </a:tc>
                <a:tc>
                  <a:txBody>
                    <a:bodyPr wrap="none"/>
                    <a:lstStyle/>
                    <a:p>
                      <a:pPr algn="ctr"/>
                      <a:r>
                        <a:rPr sz="750" b="0" i="0">
                          <a:solidFill>
                            <a:srgbClr val="262626"/>
                          </a:solidFill>
                          <a:latin typeface="Arial"/>
                        </a:rPr>
                        <a:t>2</a:t>
                      </a:r>
                    </a:p>
                  </a:txBody>
                  <a:tcPr>
                    <a:solidFill>
                      <a:srgbClr val="FFFFFF"/>
                    </a:solidFill>
                  </a:tcPr>
                </a:tc>
                <a:tc>
                  <a:txBody>
                    <a:bodyPr wrap="none"/>
                    <a:lstStyle/>
                    <a:p>
                      <a:pPr algn="ctr"/>
                      <a:r>
                        <a:rPr sz="750" b="1" i="0">
                          <a:solidFill>
                            <a:srgbClr val="1B7F3A"/>
                          </a:solidFill>
                          <a:latin typeface="Arial"/>
                        </a:rPr>
                        <a:t>0</a:t>
                      </a:r>
                    </a:p>
                  </a:txBody>
                  <a:tcPr>
                    <a:solidFill>
                      <a:srgbClr val="FFFFFF"/>
                    </a:solidFill>
                  </a:tcPr>
                </a:tc>
                <a:tc>
                  <a:txBody>
                    <a:bodyPr wrap="none"/>
                    <a:lstStyle/>
                    <a:p>
                      <a:pPr algn="ctr"/>
                      <a:r>
                        <a:rPr sz="750" b="1" i="0">
                          <a:solidFill>
                            <a:srgbClr val="C00000"/>
                          </a:solidFill>
                          <a:latin typeface="Arial"/>
                        </a:rPr>
                        <a:t>2</a:t>
                      </a:r>
                    </a:p>
                  </a:txBody>
                  <a:tcPr>
                    <a:solidFill>
                      <a:srgbClr val="FFFFFF"/>
                    </a:solidFill>
                  </a:tcPr>
                </a:tc>
                <a:tc>
                  <a:txBody>
                    <a:bodyPr wrap="none"/>
                    <a:lstStyle/>
                    <a:p>
                      <a:pPr algn="ctr"/>
                      <a:r>
                        <a:rPr sz="750" b="0" i="0">
                          <a:solidFill>
                            <a:srgbClr val="262626"/>
                          </a:solidFill>
                          <a:latin typeface="Arial"/>
                        </a:rPr>
                        <a:t>100</a:t>
                      </a:r>
                    </a:p>
                  </a:txBody>
                  <a:tcPr>
                    <a:solidFill>
                      <a:srgbClr val="FFFFFF"/>
                    </a:solidFill>
                  </a:tcPr>
                </a:tc>
                <a:tc>
                  <a:txBody>
                    <a:bodyPr wrap="none"/>
                    <a:lstStyle/>
                    <a:p>
                      <a:pPr algn="ctr"/>
                      <a:r>
                        <a:rPr sz="750" b="1" i="0">
                          <a:solidFill>
                            <a:srgbClr val="262626"/>
                          </a:solidFill>
                          <a:latin typeface="Arial"/>
                        </a:rPr>
                        <a:t>1,203</a:t>
                      </a:r>
                    </a:p>
                  </a:txBody>
                  <a:tcPr>
                    <a:solidFill>
                      <a:srgbClr val="FFFFFF"/>
                    </a:solidFill>
                  </a:tcPr>
                </a:tc>
              </a:tr>
            </a:tbl>
          </a:graphicData>
        </a:graphic>
      </p:graphicFrame>
      <p:sp>
        <p:nvSpPr>
          <p:cNvPr id="20" name="TextBox 19"/>
          <p:cNvSpPr txBox="1"/>
          <p:nvPr/>
        </p:nvSpPr>
        <p:spPr>
          <a:xfrm>
            <a:off x="274320" y="6419088"/>
            <a:ext cx="11640312" cy="274320"/>
          </a:xfrm>
          <a:prstGeom prst="rect">
            <a:avLst/>
          </a:prstGeom>
          <a:noFill/>
        </p:spPr>
        <p:txBody>
          <a:bodyPr wrap="square">
            <a:spAutoFit/>
          </a:bodyPr>
          <a:lstStyle/>
          <a:p>
            <a:pPr algn="ctr"/>
            <a:r>
              <a:rPr sz="800" b="0" i="1">
                <a:solidFill>
                  <a:srgbClr val="BFBFBF"/>
                </a:solidFill>
                <a:latin typeface="Arial"/>
              </a:rPr>
              <a:t>On = events scoring ≥ pace.  Off = events &lt; pace.  Pace = total breakdown pts ÷ events raced.  Proj @12 = current total + (avg pts × remaining events to cap); green if ≥ Paris cutoff.  Cutoff estimate: Paris 2024 = 3,627 pts / 12 events = 302 pts/event.  Tier positions use a geometric 0.925 points model.  Source: World Triathlon rankings database.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USA Olympic Qualification Snapshot</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Asuncion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97280"/>
            <a:ext cx="11640312" cy="384048"/>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70432"/>
            <a:ext cx="11430000" cy="256032"/>
          </a:xfrm>
          <a:prstGeom prst="rect">
            <a:avLst/>
          </a:prstGeom>
          <a:noFill/>
        </p:spPr>
        <p:txBody>
          <a:bodyPr wrap="square">
            <a:spAutoFit/>
          </a:bodyPr>
          <a:lstStyle/>
          <a:p>
            <a:pPr algn="ctr"/>
            <a:r>
              <a:rPr sz="1200" b="1" i="0">
                <a:solidFill>
                  <a:srgbClr val="002060"/>
                </a:solidFill>
                <a:latin typeface="Arial"/>
              </a:rPr>
              <a:t>As of 2026-08-02   •   Olympic Qualification Rankings (LA 2028 cycle)   •   Heading into Asuncion</a:t>
            </a:r>
          </a:p>
        </p:txBody>
      </p:sp>
      <p:sp>
        <p:nvSpPr>
          <p:cNvPr id="10" name="Rectangle 9"/>
          <p:cNvSpPr/>
          <p:nvPr/>
        </p:nvSpPr>
        <p:spPr>
          <a:xfrm>
            <a:off x="274320" y="1691640"/>
            <a:ext cx="5788152" cy="29260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1719072"/>
            <a:ext cx="5788152" cy="237744"/>
          </a:xfrm>
          <a:prstGeom prst="rect">
            <a:avLst/>
          </a:prstGeom>
          <a:noFill/>
        </p:spPr>
        <p:txBody>
          <a:bodyPr wrap="square">
            <a:spAutoFit/>
          </a:bodyPr>
          <a:lstStyle/>
          <a:p>
            <a:pPr algn="ctr"/>
            <a:r>
              <a:rPr sz="1100" b="1" i="0">
                <a:solidFill>
                  <a:srgbClr val="FFFFFF"/>
                </a:solidFill>
                <a:latin typeface="Arial"/>
              </a:rPr>
              <a:t>ELITE MEN</a:t>
            </a:r>
          </a:p>
        </p:txBody>
      </p:sp>
      <p:graphicFrame>
        <p:nvGraphicFramePr>
          <p:cNvPr id="12" name="Table 11"/>
          <p:cNvGraphicFramePr>
            <a:graphicFrameLocks noGrp="1"/>
          </p:cNvGraphicFramePr>
          <p:nvPr/>
        </p:nvGraphicFramePr>
        <p:xfrm>
          <a:off x="274320" y="2020824"/>
          <a:ext cx="5787236" cy="2912364"/>
        </p:xfrm>
        <a:graphic>
          <a:graphicData uri="http://schemas.openxmlformats.org/drawingml/2006/table">
            <a:tbl>
              <a:tblPr firstRow="1" bandRow="1">
                <a:tableStyleId>{5C22544A-7EE6-4342-B048-85BDC9FD1C3A}</a:tableStyleId>
              </a:tblPr>
              <a:tblGrid>
                <a:gridCol w="783640"/>
                <a:gridCol w="2531973"/>
                <a:gridCol w="1136599"/>
                <a:gridCol w="672084"/>
                <a:gridCol w="662940"/>
              </a:tblGrid>
              <a:tr h="224028">
                <a:tc>
                  <a:txBody>
                    <a:bodyPr wrap="none"/>
                    <a:lstStyle/>
                    <a:p>
                      <a:pPr algn="ctr"/>
                      <a:r>
                        <a:rPr sz="900" b="1" i="0">
                          <a:solidFill>
                            <a:srgbClr val="FFFFFF"/>
                          </a:solidFill>
                          <a:latin typeface="Arial"/>
                        </a:rPr>
                        <a:t>Rank</a:t>
                      </a:r>
                    </a:p>
                  </a:txBody>
                  <a:tcPr>
                    <a:solidFill>
                      <a:srgbClr val="002060"/>
                    </a:solidFill>
                  </a:tcPr>
                </a:tc>
                <a:tc>
                  <a:txBody>
                    <a:bodyPr wrap="none"/>
                    <a:lstStyle/>
                    <a:p>
                      <a:pPr algn="l"/>
                      <a:r>
                        <a:rPr sz="900" b="1" i="0">
                          <a:solidFill>
                            <a:srgbClr val="FFFFFF"/>
                          </a:solidFill>
                          <a:latin typeface="Arial"/>
                        </a:rPr>
                        <a:t>Athlete</a:t>
                      </a:r>
                    </a:p>
                  </a:txBody>
                  <a:tcPr>
                    <a:solidFill>
                      <a:srgbClr val="002060"/>
                    </a:solidFill>
                  </a:tcPr>
                </a:tc>
                <a:tc>
                  <a:txBody>
                    <a:bodyPr wrap="none"/>
                    <a:lstStyle/>
                    <a:p>
                      <a:pPr algn="ctr"/>
                      <a:r>
                        <a:rPr sz="900" b="1" i="0">
                          <a:solidFill>
                            <a:srgbClr val="FFFFFF"/>
                          </a:solidFill>
                          <a:latin typeface="Arial"/>
                        </a:rPr>
                        <a:t>Points</a:t>
                      </a:r>
                    </a:p>
                  </a:txBody>
                  <a:tcPr>
                    <a:solidFill>
                      <a:srgbClr val="002060"/>
                    </a:solidFill>
                  </a:tcPr>
                </a:tc>
                <a:tc>
                  <a:txBody>
                    <a:bodyPr wrap="none"/>
                    <a:lstStyle/>
                    <a:p>
                      <a:pPr algn="ctr"/>
                      <a:r>
                        <a:rPr sz="900" b="1" i="0">
                          <a:solidFill>
                            <a:srgbClr val="FFFFFF"/>
                          </a:solidFill>
                          <a:latin typeface="Arial"/>
                        </a:rPr>
                        <a:t>Second</a:t>
                      </a:r>
                    </a:p>
                  </a:txBody>
                  <a:tcPr>
                    <a:solidFill>
                      <a:srgbClr val="002060"/>
                    </a:solidFill>
                  </a:tcPr>
                </a:tc>
                <a:tc>
                  <a:txBody>
                    <a:bodyPr wrap="none"/>
                    <a:lstStyle/>
                    <a:p>
                      <a:pPr algn="ctr"/>
                      <a:r>
                        <a:rPr sz="900" b="1" i="0">
                          <a:solidFill>
                            <a:srgbClr val="FFFFFF"/>
                          </a:solidFill>
                          <a:latin typeface="Arial"/>
                        </a:rPr>
                        <a:t>First</a:t>
                      </a:r>
                    </a:p>
                  </a:txBody>
                  <a:tcPr>
                    <a:solidFill>
                      <a:srgbClr val="002060"/>
                    </a:solidFill>
                  </a:tcPr>
                </a:tc>
              </a:tr>
              <a:tr h="224028">
                <a:tc>
                  <a:txBody>
                    <a:bodyPr wrap="none"/>
                    <a:lstStyle/>
                    <a:p>
                      <a:pPr algn="ctr"/>
                      <a:r>
                        <a:rPr sz="850" b="1" i="0">
                          <a:solidFill>
                            <a:srgbClr val="262626"/>
                          </a:solidFill>
                          <a:latin typeface="Arial"/>
                        </a:rPr>
                        <a:t>13</a:t>
                      </a:r>
                    </a:p>
                  </a:txBody>
                  <a:tcPr>
                    <a:solidFill>
                      <a:srgbClr val="FFFFFF"/>
                    </a:solidFill>
                  </a:tcPr>
                </a:tc>
                <a:tc>
                  <a:txBody>
                    <a:bodyPr wrap="none"/>
                    <a:lstStyle/>
                    <a:p>
                      <a:pPr algn="l"/>
                      <a:r>
                        <a:rPr sz="850" b="0" i="0">
                          <a:solidFill>
                            <a:srgbClr val="262626"/>
                          </a:solidFill>
                          <a:latin typeface="Arial"/>
                        </a:rPr>
                        <a:t>Reese Vannerson</a:t>
                      </a:r>
                    </a:p>
                  </a:txBody>
                  <a:tcPr>
                    <a:solidFill>
                      <a:srgbClr val="FFFFFF"/>
                    </a:solidFill>
                  </a:tcPr>
                </a:tc>
                <a:tc>
                  <a:txBody>
                    <a:bodyPr wrap="none"/>
                    <a:lstStyle/>
                    <a:p>
                      <a:pPr algn="ctr"/>
                      <a:r>
                        <a:rPr sz="850" b="0" i="0">
                          <a:solidFill>
                            <a:srgbClr val="262626"/>
                          </a:solidFill>
                          <a:latin typeface="Arial"/>
                        </a:rPr>
                        <a:t>1,479</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4</a:t>
                      </a:r>
                    </a:p>
                  </a:txBody>
                  <a:tcPr>
                    <a:solidFill>
                      <a:srgbClr val="FFFFFF"/>
                    </a:solidFill>
                  </a:tcPr>
                </a:tc>
              </a:tr>
              <a:tr h="224028">
                <a:tc>
                  <a:txBody>
                    <a:bodyPr wrap="none"/>
                    <a:lstStyle/>
                    <a:p>
                      <a:pPr algn="ctr"/>
                      <a:r>
                        <a:rPr sz="850" b="1" i="0">
                          <a:solidFill>
                            <a:srgbClr val="262626"/>
                          </a:solidFill>
                          <a:latin typeface="Arial"/>
                        </a:rPr>
                        <a:t>16</a:t>
                      </a:r>
                    </a:p>
                  </a:txBody>
                  <a:tcPr>
                    <a:solidFill>
                      <a:srgbClr val="F2F2F2"/>
                    </a:solidFill>
                  </a:tcPr>
                </a:tc>
                <a:tc>
                  <a:txBody>
                    <a:bodyPr wrap="none"/>
                    <a:lstStyle/>
                    <a:p>
                      <a:pPr algn="l"/>
                      <a:r>
                        <a:rPr sz="850" b="0" i="0">
                          <a:solidFill>
                            <a:srgbClr val="262626"/>
                          </a:solidFill>
                          <a:latin typeface="Arial"/>
                        </a:rPr>
                        <a:t>Seth Rider</a:t>
                      </a:r>
                    </a:p>
                  </a:txBody>
                  <a:tcPr>
                    <a:solidFill>
                      <a:srgbClr val="F2F2F2"/>
                    </a:solidFill>
                  </a:tcPr>
                </a:tc>
                <a:tc>
                  <a:txBody>
                    <a:bodyPr wrap="none"/>
                    <a:lstStyle/>
                    <a:p>
                      <a:pPr algn="ctr"/>
                      <a:r>
                        <a:rPr sz="850" b="0" i="0">
                          <a:solidFill>
                            <a:srgbClr val="262626"/>
                          </a:solidFill>
                          <a:latin typeface="Arial"/>
                        </a:rPr>
                        <a:t>1,341</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4</a:t>
                      </a:r>
                    </a:p>
                  </a:txBody>
                  <a:tcPr>
                    <a:solidFill>
                      <a:srgbClr val="F2F2F2"/>
                    </a:solidFill>
                  </a:tcPr>
                </a:tc>
              </a:tr>
              <a:tr h="224028">
                <a:tc>
                  <a:txBody>
                    <a:bodyPr wrap="none"/>
                    <a:lstStyle/>
                    <a:p>
                      <a:pPr algn="ctr"/>
                      <a:r>
                        <a:rPr sz="850" b="1" i="0">
                          <a:solidFill>
                            <a:srgbClr val="262626"/>
                          </a:solidFill>
                          <a:latin typeface="Arial"/>
                        </a:rPr>
                        <a:t>17</a:t>
                      </a:r>
                    </a:p>
                  </a:txBody>
                  <a:tcPr>
                    <a:solidFill>
                      <a:srgbClr val="FFFFFF"/>
                    </a:solidFill>
                  </a:tcPr>
                </a:tc>
                <a:tc>
                  <a:txBody>
                    <a:bodyPr wrap="none"/>
                    <a:lstStyle/>
                    <a:p>
                      <a:pPr algn="l"/>
                      <a:r>
                        <a:rPr sz="850" b="0" i="0">
                          <a:solidFill>
                            <a:srgbClr val="262626"/>
                          </a:solidFill>
                          <a:latin typeface="Arial"/>
                        </a:rPr>
                        <a:t>Sullivan Middaugh</a:t>
                      </a:r>
                    </a:p>
                  </a:txBody>
                  <a:tcPr>
                    <a:solidFill>
                      <a:srgbClr val="FFFFFF"/>
                    </a:solidFill>
                  </a:tcPr>
                </a:tc>
                <a:tc>
                  <a:txBody>
                    <a:bodyPr wrap="none"/>
                    <a:lstStyle/>
                    <a:p>
                      <a:pPr algn="ctr"/>
                      <a:r>
                        <a:rPr sz="850" b="0" i="0">
                          <a:solidFill>
                            <a:srgbClr val="262626"/>
                          </a:solidFill>
                          <a:latin typeface="Arial"/>
                        </a:rPr>
                        <a:t>1,305</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4</a:t>
                      </a:r>
                    </a:p>
                  </a:txBody>
                  <a:tcPr>
                    <a:solidFill>
                      <a:srgbClr val="FFFFFF"/>
                    </a:solidFill>
                  </a:tcPr>
                </a:tc>
              </a:tr>
              <a:tr h="224028">
                <a:tc>
                  <a:txBody>
                    <a:bodyPr wrap="none"/>
                    <a:lstStyle/>
                    <a:p>
                      <a:pPr algn="ctr"/>
                      <a:r>
                        <a:rPr sz="850" b="1" i="0">
                          <a:solidFill>
                            <a:srgbClr val="262626"/>
                          </a:solidFill>
                          <a:latin typeface="Arial"/>
                        </a:rPr>
                        <a:t>18</a:t>
                      </a:r>
                    </a:p>
                  </a:txBody>
                  <a:tcPr>
                    <a:solidFill>
                      <a:srgbClr val="F2F2F2"/>
                    </a:solidFill>
                  </a:tcPr>
                </a:tc>
                <a:tc>
                  <a:txBody>
                    <a:bodyPr wrap="none"/>
                    <a:lstStyle/>
                    <a:p>
                      <a:pPr algn="l"/>
                      <a:r>
                        <a:rPr sz="850" b="0" i="0">
                          <a:solidFill>
                            <a:srgbClr val="262626"/>
                          </a:solidFill>
                          <a:latin typeface="Arial"/>
                        </a:rPr>
                        <a:t>Braxton Legg</a:t>
                      </a:r>
                    </a:p>
                  </a:txBody>
                  <a:tcPr>
                    <a:solidFill>
                      <a:srgbClr val="F2F2F2"/>
                    </a:solidFill>
                  </a:tcPr>
                </a:tc>
                <a:tc>
                  <a:txBody>
                    <a:bodyPr wrap="none"/>
                    <a:lstStyle/>
                    <a:p>
                      <a:pPr algn="ctr"/>
                      <a:r>
                        <a:rPr sz="850" b="0" i="0">
                          <a:solidFill>
                            <a:srgbClr val="262626"/>
                          </a:solidFill>
                          <a:latin typeface="Arial"/>
                        </a:rPr>
                        <a:t>1,274</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4</a:t>
                      </a:r>
                    </a:p>
                  </a:txBody>
                  <a:tcPr>
                    <a:solidFill>
                      <a:srgbClr val="F2F2F2"/>
                    </a:solidFill>
                  </a:tcPr>
                </a:tc>
              </a:tr>
              <a:tr h="224028">
                <a:tc>
                  <a:txBody>
                    <a:bodyPr wrap="none"/>
                    <a:lstStyle/>
                    <a:p>
                      <a:pPr algn="ctr"/>
                      <a:r>
                        <a:rPr sz="850" b="1" i="0">
                          <a:solidFill>
                            <a:srgbClr val="262626"/>
                          </a:solidFill>
                          <a:latin typeface="Arial"/>
                        </a:rPr>
                        <a:t>33</a:t>
                      </a:r>
                    </a:p>
                  </a:txBody>
                  <a:tcPr>
                    <a:solidFill>
                      <a:srgbClr val="FFFFFF"/>
                    </a:solidFill>
                  </a:tcPr>
                </a:tc>
                <a:tc>
                  <a:txBody>
                    <a:bodyPr wrap="none"/>
                    <a:lstStyle/>
                    <a:p>
                      <a:pPr algn="l"/>
                      <a:r>
                        <a:rPr sz="850" b="0" i="0">
                          <a:solidFill>
                            <a:srgbClr val="262626"/>
                          </a:solidFill>
                          <a:latin typeface="Arial"/>
                        </a:rPr>
                        <a:t>Morgan Pearson</a:t>
                      </a:r>
                    </a:p>
                  </a:txBody>
                  <a:tcPr>
                    <a:solidFill>
                      <a:srgbClr val="FFFFFF"/>
                    </a:solidFill>
                  </a:tcPr>
                </a:tc>
                <a:tc>
                  <a:txBody>
                    <a:bodyPr wrap="none"/>
                    <a:lstStyle/>
                    <a:p>
                      <a:pPr algn="ctr"/>
                      <a:r>
                        <a:rPr sz="850" b="0" i="0">
                          <a:solidFill>
                            <a:srgbClr val="262626"/>
                          </a:solidFill>
                          <a:latin typeface="Arial"/>
                        </a:rPr>
                        <a:t>904</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2</a:t>
                      </a:r>
                    </a:p>
                  </a:txBody>
                  <a:tcPr>
                    <a:solidFill>
                      <a:srgbClr val="FFFFFF"/>
                    </a:solidFill>
                  </a:tcPr>
                </a:tc>
              </a:tr>
              <a:tr h="224028">
                <a:tc>
                  <a:txBody>
                    <a:bodyPr wrap="none"/>
                    <a:lstStyle/>
                    <a:p>
                      <a:pPr algn="ctr"/>
                      <a:r>
                        <a:rPr sz="850" b="1" i="0">
                          <a:solidFill>
                            <a:srgbClr val="262626"/>
                          </a:solidFill>
                          <a:latin typeface="Arial"/>
                        </a:rPr>
                        <a:t>39</a:t>
                      </a:r>
                    </a:p>
                  </a:txBody>
                  <a:tcPr>
                    <a:solidFill>
                      <a:srgbClr val="F2F2F2"/>
                    </a:solidFill>
                  </a:tcPr>
                </a:tc>
                <a:tc>
                  <a:txBody>
                    <a:bodyPr wrap="none"/>
                    <a:lstStyle/>
                    <a:p>
                      <a:pPr algn="l"/>
                      <a:r>
                        <a:rPr sz="850" b="0" i="0">
                          <a:solidFill>
                            <a:srgbClr val="262626"/>
                          </a:solidFill>
                          <a:latin typeface="Arial"/>
                        </a:rPr>
                        <a:t>Chase McQueen</a:t>
                      </a:r>
                    </a:p>
                  </a:txBody>
                  <a:tcPr>
                    <a:solidFill>
                      <a:srgbClr val="F2F2F2"/>
                    </a:solidFill>
                  </a:tcPr>
                </a:tc>
                <a:tc>
                  <a:txBody>
                    <a:bodyPr wrap="none"/>
                    <a:lstStyle/>
                    <a:p>
                      <a:pPr algn="ctr"/>
                      <a:r>
                        <a:rPr sz="850" b="0" i="0">
                          <a:solidFill>
                            <a:srgbClr val="262626"/>
                          </a:solidFill>
                          <a:latin typeface="Arial"/>
                        </a:rPr>
                        <a:t>816</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4</a:t>
                      </a:r>
                    </a:p>
                  </a:txBody>
                  <a:tcPr>
                    <a:solidFill>
                      <a:srgbClr val="F2F2F2"/>
                    </a:solidFill>
                  </a:tcPr>
                </a:tc>
              </a:tr>
              <a:tr h="224028">
                <a:tc>
                  <a:txBody>
                    <a:bodyPr wrap="none"/>
                    <a:lstStyle/>
                    <a:p>
                      <a:pPr algn="ctr"/>
                      <a:r>
                        <a:rPr sz="850" b="1" i="0">
                          <a:solidFill>
                            <a:srgbClr val="262626"/>
                          </a:solidFill>
                          <a:latin typeface="Arial"/>
                        </a:rPr>
                        <a:t>48</a:t>
                      </a:r>
                    </a:p>
                  </a:txBody>
                  <a:tcPr>
                    <a:solidFill>
                      <a:srgbClr val="FFFFFF"/>
                    </a:solidFill>
                  </a:tcPr>
                </a:tc>
                <a:tc>
                  <a:txBody>
                    <a:bodyPr wrap="none"/>
                    <a:lstStyle/>
                    <a:p>
                      <a:pPr algn="l"/>
                      <a:r>
                        <a:rPr sz="850" b="0" i="0">
                          <a:solidFill>
                            <a:srgbClr val="262626"/>
                          </a:solidFill>
                          <a:latin typeface="Arial"/>
                        </a:rPr>
                        <a:t>Keller Norland</a:t>
                      </a:r>
                    </a:p>
                  </a:txBody>
                  <a:tcPr>
                    <a:solidFill>
                      <a:srgbClr val="FFFFFF"/>
                    </a:solidFill>
                  </a:tcPr>
                </a:tc>
                <a:tc>
                  <a:txBody>
                    <a:bodyPr wrap="none"/>
                    <a:lstStyle/>
                    <a:p>
                      <a:pPr algn="ctr"/>
                      <a:r>
                        <a:rPr sz="850" b="0" i="0">
                          <a:solidFill>
                            <a:srgbClr val="262626"/>
                          </a:solidFill>
                          <a:latin typeface="Arial"/>
                        </a:rPr>
                        <a:t>748</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2</a:t>
                      </a:r>
                    </a:p>
                  </a:txBody>
                  <a:tcPr>
                    <a:solidFill>
                      <a:srgbClr val="FFFFFF"/>
                    </a:solidFill>
                  </a:tcPr>
                </a:tc>
              </a:tr>
              <a:tr h="224028">
                <a:tc>
                  <a:txBody>
                    <a:bodyPr wrap="none"/>
                    <a:lstStyle/>
                    <a:p>
                      <a:pPr algn="ctr"/>
                      <a:r>
                        <a:rPr sz="850" b="1" i="0">
                          <a:solidFill>
                            <a:srgbClr val="262626"/>
                          </a:solidFill>
                          <a:latin typeface="Arial"/>
                        </a:rPr>
                        <a:t>54</a:t>
                      </a:r>
                    </a:p>
                  </a:txBody>
                  <a:tcPr>
                    <a:solidFill>
                      <a:srgbClr val="F2F2F2"/>
                    </a:solidFill>
                  </a:tcPr>
                </a:tc>
                <a:tc>
                  <a:txBody>
                    <a:bodyPr wrap="none"/>
                    <a:lstStyle/>
                    <a:p>
                      <a:pPr algn="l"/>
                      <a:r>
                        <a:rPr sz="850" b="0" i="0">
                          <a:solidFill>
                            <a:srgbClr val="262626"/>
                          </a:solidFill>
                          <a:latin typeface="Arial"/>
                        </a:rPr>
                        <a:t>John Reed</a:t>
                      </a:r>
                    </a:p>
                  </a:txBody>
                  <a:tcPr>
                    <a:solidFill>
                      <a:srgbClr val="F2F2F2"/>
                    </a:solidFill>
                  </a:tcPr>
                </a:tc>
                <a:tc>
                  <a:txBody>
                    <a:bodyPr wrap="none"/>
                    <a:lstStyle/>
                    <a:p>
                      <a:pPr algn="ctr"/>
                      <a:r>
                        <a:rPr sz="850" b="0" i="0">
                          <a:solidFill>
                            <a:srgbClr val="262626"/>
                          </a:solidFill>
                          <a:latin typeface="Arial"/>
                        </a:rPr>
                        <a:t>599</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2</a:t>
                      </a:r>
                    </a:p>
                  </a:txBody>
                  <a:tcPr>
                    <a:solidFill>
                      <a:srgbClr val="F2F2F2"/>
                    </a:solidFill>
                  </a:tcPr>
                </a:tc>
              </a:tr>
              <a:tr h="224028">
                <a:tc>
                  <a:txBody>
                    <a:bodyPr wrap="none"/>
                    <a:lstStyle/>
                    <a:p>
                      <a:pPr algn="ctr"/>
                      <a:r>
                        <a:rPr sz="850" b="1" i="0">
                          <a:solidFill>
                            <a:srgbClr val="262626"/>
                          </a:solidFill>
                          <a:latin typeface="Arial"/>
                        </a:rPr>
                        <a:t>61</a:t>
                      </a:r>
                    </a:p>
                  </a:txBody>
                  <a:tcPr>
                    <a:solidFill>
                      <a:srgbClr val="FFFFFF"/>
                    </a:solidFill>
                  </a:tcPr>
                </a:tc>
                <a:tc>
                  <a:txBody>
                    <a:bodyPr wrap="none"/>
                    <a:lstStyle/>
                    <a:p>
                      <a:pPr algn="l"/>
                      <a:r>
                        <a:rPr sz="850" b="0" i="0">
                          <a:solidFill>
                            <a:srgbClr val="262626"/>
                          </a:solidFill>
                          <a:latin typeface="Arial"/>
                        </a:rPr>
                        <a:t>Blake Bullard</a:t>
                      </a:r>
                    </a:p>
                  </a:txBody>
                  <a:tcPr>
                    <a:solidFill>
                      <a:srgbClr val="FFFFFF"/>
                    </a:solidFill>
                  </a:tcPr>
                </a:tc>
                <a:tc>
                  <a:txBody>
                    <a:bodyPr wrap="none"/>
                    <a:lstStyle/>
                    <a:p>
                      <a:pPr algn="ctr"/>
                      <a:r>
                        <a:rPr sz="850" b="0" i="0">
                          <a:solidFill>
                            <a:srgbClr val="262626"/>
                          </a:solidFill>
                          <a:latin typeface="Arial"/>
                        </a:rPr>
                        <a:t>513</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3</a:t>
                      </a:r>
                    </a:p>
                  </a:txBody>
                  <a:tcPr>
                    <a:solidFill>
                      <a:srgbClr val="FFFFFF"/>
                    </a:solidFill>
                  </a:tcPr>
                </a:tc>
              </a:tr>
              <a:tr h="224028">
                <a:tc>
                  <a:txBody>
                    <a:bodyPr wrap="none"/>
                    <a:lstStyle/>
                    <a:p>
                      <a:pPr algn="ctr"/>
                      <a:r>
                        <a:rPr sz="850" b="1" i="0">
                          <a:solidFill>
                            <a:srgbClr val="262626"/>
                          </a:solidFill>
                          <a:latin typeface="Arial"/>
                        </a:rPr>
                        <a:t>64</a:t>
                      </a:r>
                    </a:p>
                  </a:txBody>
                  <a:tcPr>
                    <a:solidFill>
                      <a:srgbClr val="F2F2F2"/>
                    </a:solidFill>
                  </a:tcPr>
                </a:tc>
                <a:tc>
                  <a:txBody>
                    <a:bodyPr wrap="none"/>
                    <a:lstStyle/>
                    <a:p>
                      <a:pPr algn="l"/>
                      <a:r>
                        <a:rPr sz="850" b="0" i="0">
                          <a:solidFill>
                            <a:srgbClr val="262626"/>
                          </a:solidFill>
                          <a:latin typeface="Arial"/>
                        </a:rPr>
                        <a:t>Porter Middaugh</a:t>
                      </a:r>
                    </a:p>
                  </a:txBody>
                  <a:tcPr>
                    <a:solidFill>
                      <a:srgbClr val="F2F2F2"/>
                    </a:solidFill>
                  </a:tcPr>
                </a:tc>
                <a:tc>
                  <a:txBody>
                    <a:bodyPr wrap="none"/>
                    <a:lstStyle/>
                    <a:p>
                      <a:pPr algn="ctr"/>
                      <a:r>
                        <a:rPr sz="850" b="0" i="0">
                          <a:solidFill>
                            <a:srgbClr val="262626"/>
                          </a:solidFill>
                          <a:latin typeface="Arial"/>
                        </a:rPr>
                        <a:t>453</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2</a:t>
                      </a:r>
                    </a:p>
                  </a:txBody>
                  <a:tcPr>
                    <a:solidFill>
                      <a:srgbClr val="F2F2F2"/>
                    </a:solidFill>
                  </a:tcPr>
                </a:tc>
              </a:tr>
              <a:tr h="224028">
                <a:tc>
                  <a:txBody>
                    <a:bodyPr wrap="none"/>
                    <a:lstStyle/>
                    <a:p>
                      <a:pPr algn="ctr"/>
                      <a:r>
                        <a:rPr sz="850" b="1" i="0">
                          <a:solidFill>
                            <a:srgbClr val="262626"/>
                          </a:solidFill>
                          <a:latin typeface="Arial"/>
                        </a:rPr>
                        <a:t>98</a:t>
                      </a:r>
                    </a:p>
                  </a:txBody>
                  <a:tcPr>
                    <a:solidFill>
                      <a:srgbClr val="FFFFFF"/>
                    </a:solidFill>
                  </a:tcPr>
                </a:tc>
                <a:tc>
                  <a:txBody>
                    <a:bodyPr wrap="none"/>
                    <a:lstStyle/>
                    <a:p>
                      <a:pPr algn="l"/>
                      <a:r>
                        <a:rPr sz="850" b="0" i="0">
                          <a:solidFill>
                            <a:srgbClr val="262626"/>
                          </a:solidFill>
                          <a:latin typeface="Arial"/>
                        </a:rPr>
                        <a:t>Zach Leachman</a:t>
                      </a:r>
                    </a:p>
                  </a:txBody>
                  <a:tcPr>
                    <a:solidFill>
                      <a:srgbClr val="FFFFFF"/>
                    </a:solidFill>
                  </a:tcPr>
                </a:tc>
                <a:tc>
                  <a:txBody>
                    <a:bodyPr wrap="none"/>
                    <a:lstStyle/>
                    <a:p>
                      <a:pPr algn="ctr"/>
                      <a:r>
                        <a:rPr sz="850" b="0" i="0">
                          <a:solidFill>
                            <a:srgbClr val="262626"/>
                          </a:solidFill>
                          <a:latin typeface="Arial"/>
                        </a:rPr>
                        <a:t>212</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1</a:t>
                      </a:r>
                    </a:p>
                  </a:txBody>
                  <a:tcPr>
                    <a:solidFill>
                      <a:srgbClr val="FFFFFF"/>
                    </a:solidFill>
                  </a:tcPr>
                </a:tc>
              </a:tr>
              <a:tr h="224028">
                <a:tc>
                  <a:txBody>
                    <a:bodyPr wrap="none"/>
                    <a:lstStyle/>
                    <a:p>
                      <a:pPr algn="ctr"/>
                      <a:r>
                        <a:rPr sz="850" b="1" i="0">
                          <a:solidFill>
                            <a:srgbClr val="262626"/>
                          </a:solidFill>
                          <a:latin typeface="Arial"/>
                        </a:rPr>
                        <a:t>113</a:t>
                      </a:r>
                    </a:p>
                  </a:txBody>
                  <a:tcPr>
                    <a:solidFill>
                      <a:srgbClr val="F2F2F2"/>
                    </a:solidFill>
                  </a:tcPr>
                </a:tc>
                <a:tc>
                  <a:txBody>
                    <a:bodyPr wrap="none"/>
                    <a:lstStyle/>
                    <a:p>
                      <a:pPr algn="l"/>
                      <a:r>
                        <a:rPr sz="850" b="0" i="0">
                          <a:solidFill>
                            <a:srgbClr val="262626"/>
                          </a:solidFill>
                          <a:latin typeface="Arial"/>
                        </a:rPr>
                        <a:t>Cole Jamieson </a:t>
                      </a:r>
                    </a:p>
                  </a:txBody>
                  <a:tcPr>
                    <a:solidFill>
                      <a:srgbClr val="F2F2F2"/>
                    </a:solidFill>
                  </a:tcPr>
                </a:tc>
                <a:tc>
                  <a:txBody>
                    <a:bodyPr wrap="none"/>
                    <a:lstStyle/>
                    <a:p>
                      <a:pPr algn="ctr"/>
                      <a:r>
                        <a:rPr sz="850" b="0" i="0">
                          <a:solidFill>
                            <a:srgbClr val="262626"/>
                          </a:solidFill>
                          <a:latin typeface="Arial"/>
                        </a:rPr>
                        <a:t>169</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1</a:t>
                      </a:r>
                    </a:p>
                  </a:txBody>
                  <a:tcPr>
                    <a:solidFill>
                      <a:srgbClr val="F2F2F2"/>
                    </a:solidFill>
                  </a:tcPr>
                </a:tc>
              </a:tr>
            </a:tbl>
          </a:graphicData>
        </a:graphic>
      </p:graphicFrame>
      <p:sp>
        <p:nvSpPr>
          <p:cNvPr id="13" name="Rectangle 12"/>
          <p:cNvSpPr/>
          <p:nvPr/>
        </p:nvSpPr>
        <p:spPr>
          <a:xfrm>
            <a:off x="6126480" y="1691640"/>
            <a:ext cx="5788152" cy="29260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0" y="1719072"/>
            <a:ext cx="5788152" cy="237744"/>
          </a:xfrm>
          <a:prstGeom prst="rect">
            <a:avLst/>
          </a:prstGeom>
          <a:noFill/>
        </p:spPr>
        <p:txBody>
          <a:bodyPr wrap="square">
            <a:spAutoFit/>
          </a:bodyPr>
          <a:lstStyle/>
          <a:p>
            <a:pPr algn="ctr"/>
            <a:r>
              <a:rPr sz="1100" b="1" i="0">
                <a:solidFill>
                  <a:srgbClr val="FFFFFF"/>
                </a:solidFill>
                <a:latin typeface="Arial"/>
              </a:rPr>
              <a:t>ELITE WOMEN</a:t>
            </a:r>
          </a:p>
        </p:txBody>
      </p:sp>
      <p:graphicFrame>
        <p:nvGraphicFramePr>
          <p:cNvPr id="15" name="Table 14"/>
          <p:cNvGraphicFramePr>
            <a:graphicFrameLocks noGrp="1"/>
          </p:cNvGraphicFramePr>
          <p:nvPr/>
        </p:nvGraphicFramePr>
        <p:xfrm>
          <a:off x="6126480" y="2020824"/>
          <a:ext cx="5787236" cy="2912364"/>
        </p:xfrm>
        <a:graphic>
          <a:graphicData uri="http://schemas.openxmlformats.org/drawingml/2006/table">
            <a:tbl>
              <a:tblPr firstRow="1" bandRow="1">
                <a:tableStyleId>{5C22544A-7EE6-4342-B048-85BDC9FD1C3A}</a:tableStyleId>
              </a:tblPr>
              <a:tblGrid>
                <a:gridCol w="783640"/>
                <a:gridCol w="2531973"/>
                <a:gridCol w="1136599"/>
                <a:gridCol w="672084"/>
                <a:gridCol w="662940"/>
              </a:tblGrid>
              <a:tr h="224028">
                <a:tc>
                  <a:txBody>
                    <a:bodyPr wrap="none"/>
                    <a:lstStyle/>
                    <a:p>
                      <a:pPr algn="ctr"/>
                      <a:r>
                        <a:rPr sz="900" b="1" i="0">
                          <a:solidFill>
                            <a:srgbClr val="FFFFFF"/>
                          </a:solidFill>
                          <a:latin typeface="Arial"/>
                        </a:rPr>
                        <a:t>Rank</a:t>
                      </a:r>
                    </a:p>
                  </a:txBody>
                  <a:tcPr>
                    <a:solidFill>
                      <a:srgbClr val="002060"/>
                    </a:solidFill>
                  </a:tcPr>
                </a:tc>
                <a:tc>
                  <a:txBody>
                    <a:bodyPr wrap="none"/>
                    <a:lstStyle/>
                    <a:p>
                      <a:pPr algn="l"/>
                      <a:r>
                        <a:rPr sz="900" b="1" i="0">
                          <a:solidFill>
                            <a:srgbClr val="FFFFFF"/>
                          </a:solidFill>
                          <a:latin typeface="Arial"/>
                        </a:rPr>
                        <a:t>Athlete</a:t>
                      </a:r>
                    </a:p>
                  </a:txBody>
                  <a:tcPr>
                    <a:solidFill>
                      <a:srgbClr val="002060"/>
                    </a:solidFill>
                  </a:tcPr>
                </a:tc>
                <a:tc>
                  <a:txBody>
                    <a:bodyPr wrap="none"/>
                    <a:lstStyle/>
                    <a:p>
                      <a:pPr algn="ctr"/>
                      <a:r>
                        <a:rPr sz="900" b="1" i="0">
                          <a:solidFill>
                            <a:srgbClr val="FFFFFF"/>
                          </a:solidFill>
                          <a:latin typeface="Arial"/>
                        </a:rPr>
                        <a:t>Points</a:t>
                      </a:r>
                    </a:p>
                  </a:txBody>
                  <a:tcPr>
                    <a:solidFill>
                      <a:srgbClr val="002060"/>
                    </a:solidFill>
                  </a:tcPr>
                </a:tc>
                <a:tc>
                  <a:txBody>
                    <a:bodyPr wrap="none"/>
                    <a:lstStyle/>
                    <a:p>
                      <a:pPr algn="ctr"/>
                      <a:r>
                        <a:rPr sz="900" b="1" i="0">
                          <a:solidFill>
                            <a:srgbClr val="FFFFFF"/>
                          </a:solidFill>
                          <a:latin typeface="Arial"/>
                        </a:rPr>
                        <a:t>Second</a:t>
                      </a:r>
                    </a:p>
                  </a:txBody>
                  <a:tcPr>
                    <a:solidFill>
                      <a:srgbClr val="002060"/>
                    </a:solidFill>
                  </a:tcPr>
                </a:tc>
                <a:tc>
                  <a:txBody>
                    <a:bodyPr wrap="none"/>
                    <a:lstStyle/>
                    <a:p>
                      <a:pPr algn="ctr"/>
                      <a:r>
                        <a:rPr sz="900" b="1" i="0">
                          <a:solidFill>
                            <a:srgbClr val="FFFFFF"/>
                          </a:solidFill>
                          <a:latin typeface="Arial"/>
                        </a:rPr>
                        <a:t>First</a:t>
                      </a:r>
                    </a:p>
                  </a:txBody>
                  <a:tcPr>
                    <a:solidFill>
                      <a:srgbClr val="002060"/>
                    </a:solidFill>
                  </a:tcPr>
                </a:tc>
              </a:tr>
              <a:tr h="224028">
                <a:tc>
                  <a:txBody>
                    <a:bodyPr wrap="none"/>
                    <a:lstStyle/>
                    <a:p>
                      <a:pPr algn="ctr"/>
                      <a:r>
                        <a:rPr sz="850" b="1" i="0">
                          <a:solidFill>
                            <a:srgbClr val="262626"/>
                          </a:solidFill>
                          <a:latin typeface="Arial"/>
                        </a:rPr>
                        <a:t>9</a:t>
                      </a:r>
                    </a:p>
                  </a:txBody>
                  <a:tcPr>
                    <a:solidFill>
                      <a:srgbClr val="FFFFFF"/>
                    </a:solidFill>
                  </a:tcPr>
                </a:tc>
                <a:tc>
                  <a:txBody>
                    <a:bodyPr wrap="none"/>
                    <a:lstStyle/>
                    <a:p>
                      <a:pPr algn="l"/>
                      <a:r>
                        <a:rPr sz="850" b="0" i="0">
                          <a:solidFill>
                            <a:srgbClr val="262626"/>
                          </a:solidFill>
                          <a:latin typeface="Arial"/>
                        </a:rPr>
                        <a:t>Taylor Knibb</a:t>
                      </a:r>
                    </a:p>
                  </a:txBody>
                  <a:tcPr>
                    <a:solidFill>
                      <a:srgbClr val="FFFFFF"/>
                    </a:solidFill>
                  </a:tcPr>
                </a:tc>
                <a:tc>
                  <a:txBody>
                    <a:bodyPr wrap="none"/>
                    <a:lstStyle/>
                    <a:p>
                      <a:pPr algn="ctr"/>
                      <a:r>
                        <a:rPr sz="850" b="0" i="0">
                          <a:solidFill>
                            <a:srgbClr val="262626"/>
                          </a:solidFill>
                          <a:latin typeface="Arial"/>
                        </a:rPr>
                        <a:t>2,047</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4</a:t>
                      </a:r>
                    </a:p>
                  </a:txBody>
                  <a:tcPr>
                    <a:solidFill>
                      <a:srgbClr val="FFFFFF"/>
                    </a:solidFill>
                  </a:tcPr>
                </a:tc>
              </a:tr>
              <a:tr h="224028">
                <a:tc>
                  <a:txBody>
                    <a:bodyPr wrap="none"/>
                    <a:lstStyle/>
                    <a:p>
                      <a:pPr algn="ctr"/>
                      <a:r>
                        <a:rPr sz="850" b="1" i="0">
                          <a:solidFill>
                            <a:srgbClr val="262626"/>
                          </a:solidFill>
                          <a:latin typeface="Arial"/>
                        </a:rPr>
                        <a:t>13</a:t>
                      </a:r>
                    </a:p>
                  </a:txBody>
                  <a:tcPr>
                    <a:solidFill>
                      <a:srgbClr val="F2F2F2"/>
                    </a:solidFill>
                  </a:tcPr>
                </a:tc>
                <a:tc>
                  <a:txBody>
                    <a:bodyPr wrap="none"/>
                    <a:lstStyle/>
                    <a:p>
                      <a:pPr algn="l"/>
                      <a:r>
                        <a:rPr sz="850" b="0" i="0">
                          <a:solidFill>
                            <a:srgbClr val="262626"/>
                          </a:solidFill>
                          <a:latin typeface="Arial"/>
                        </a:rPr>
                        <a:t>Taylor Spivey</a:t>
                      </a:r>
                    </a:p>
                  </a:txBody>
                  <a:tcPr>
                    <a:solidFill>
                      <a:srgbClr val="F2F2F2"/>
                    </a:solidFill>
                  </a:tcPr>
                </a:tc>
                <a:tc>
                  <a:txBody>
                    <a:bodyPr wrap="none"/>
                    <a:lstStyle/>
                    <a:p>
                      <a:pPr algn="ctr"/>
                      <a:r>
                        <a:rPr sz="850" b="0" i="0">
                          <a:solidFill>
                            <a:srgbClr val="262626"/>
                          </a:solidFill>
                          <a:latin typeface="Arial"/>
                        </a:rPr>
                        <a:t>1,795</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3</a:t>
                      </a:r>
                    </a:p>
                  </a:txBody>
                  <a:tcPr>
                    <a:solidFill>
                      <a:srgbClr val="F2F2F2"/>
                    </a:solidFill>
                  </a:tcPr>
                </a:tc>
              </a:tr>
              <a:tr h="224028">
                <a:tc>
                  <a:txBody>
                    <a:bodyPr wrap="none"/>
                    <a:lstStyle/>
                    <a:p>
                      <a:pPr algn="ctr"/>
                      <a:r>
                        <a:rPr sz="850" b="1" i="0">
                          <a:solidFill>
                            <a:srgbClr val="262626"/>
                          </a:solidFill>
                          <a:latin typeface="Arial"/>
                        </a:rPr>
                        <a:t>15</a:t>
                      </a:r>
                    </a:p>
                  </a:txBody>
                  <a:tcPr>
                    <a:solidFill>
                      <a:srgbClr val="FFFFFF"/>
                    </a:solidFill>
                  </a:tcPr>
                </a:tc>
                <a:tc>
                  <a:txBody>
                    <a:bodyPr wrap="none"/>
                    <a:lstStyle/>
                    <a:p>
                      <a:pPr algn="l"/>
                      <a:r>
                        <a:rPr sz="850" b="0" i="0">
                          <a:solidFill>
                            <a:srgbClr val="262626"/>
                          </a:solidFill>
                          <a:latin typeface="Arial"/>
                        </a:rPr>
                        <a:t>Gina Sereno</a:t>
                      </a:r>
                    </a:p>
                  </a:txBody>
                  <a:tcPr>
                    <a:solidFill>
                      <a:srgbClr val="FFFFFF"/>
                    </a:solidFill>
                  </a:tcPr>
                </a:tc>
                <a:tc>
                  <a:txBody>
                    <a:bodyPr wrap="none"/>
                    <a:lstStyle/>
                    <a:p>
                      <a:pPr algn="ctr"/>
                      <a:r>
                        <a:rPr sz="850" b="0" i="0">
                          <a:solidFill>
                            <a:srgbClr val="262626"/>
                          </a:solidFill>
                          <a:latin typeface="Arial"/>
                        </a:rPr>
                        <a:t>1,450</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4</a:t>
                      </a:r>
                    </a:p>
                  </a:txBody>
                  <a:tcPr>
                    <a:solidFill>
                      <a:srgbClr val="FFFFFF"/>
                    </a:solidFill>
                  </a:tcPr>
                </a:tc>
              </a:tr>
              <a:tr h="224028">
                <a:tc>
                  <a:txBody>
                    <a:bodyPr wrap="none"/>
                    <a:lstStyle/>
                    <a:p>
                      <a:pPr algn="ctr"/>
                      <a:r>
                        <a:rPr sz="850" b="1" i="0">
                          <a:solidFill>
                            <a:srgbClr val="262626"/>
                          </a:solidFill>
                          <a:latin typeface="Arial"/>
                        </a:rPr>
                        <a:t>19</a:t>
                      </a:r>
                    </a:p>
                  </a:txBody>
                  <a:tcPr>
                    <a:solidFill>
                      <a:srgbClr val="F2F2F2"/>
                    </a:solidFill>
                  </a:tcPr>
                </a:tc>
                <a:tc>
                  <a:txBody>
                    <a:bodyPr wrap="none"/>
                    <a:lstStyle/>
                    <a:p>
                      <a:pPr algn="l"/>
                      <a:r>
                        <a:rPr sz="850" b="0" i="0">
                          <a:solidFill>
                            <a:srgbClr val="262626"/>
                          </a:solidFill>
                          <a:latin typeface="Arial"/>
                        </a:rPr>
                        <a:t>Danielle Orie</a:t>
                      </a:r>
                    </a:p>
                  </a:txBody>
                  <a:tcPr>
                    <a:solidFill>
                      <a:srgbClr val="F2F2F2"/>
                    </a:solidFill>
                  </a:tcPr>
                </a:tc>
                <a:tc>
                  <a:txBody>
                    <a:bodyPr wrap="none"/>
                    <a:lstStyle/>
                    <a:p>
                      <a:pPr algn="ctr"/>
                      <a:r>
                        <a:rPr sz="850" b="0" i="0">
                          <a:solidFill>
                            <a:srgbClr val="262626"/>
                          </a:solidFill>
                          <a:latin typeface="Arial"/>
                        </a:rPr>
                        <a:t>1,146</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4</a:t>
                      </a:r>
                    </a:p>
                  </a:txBody>
                  <a:tcPr>
                    <a:solidFill>
                      <a:srgbClr val="F2F2F2"/>
                    </a:solidFill>
                  </a:tcPr>
                </a:tc>
              </a:tr>
              <a:tr h="224028">
                <a:tc>
                  <a:txBody>
                    <a:bodyPr wrap="none"/>
                    <a:lstStyle/>
                    <a:p>
                      <a:pPr algn="ctr"/>
                      <a:r>
                        <a:rPr sz="850" b="1" i="0">
                          <a:solidFill>
                            <a:srgbClr val="262626"/>
                          </a:solidFill>
                          <a:latin typeface="Arial"/>
                        </a:rPr>
                        <a:t>25</a:t>
                      </a:r>
                    </a:p>
                  </a:txBody>
                  <a:tcPr>
                    <a:solidFill>
                      <a:srgbClr val="FFFFFF"/>
                    </a:solidFill>
                  </a:tcPr>
                </a:tc>
                <a:tc>
                  <a:txBody>
                    <a:bodyPr wrap="none"/>
                    <a:lstStyle/>
                    <a:p>
                      <a:pPr algn="l"/>
                      <a:r>
                        <a:rPr sz="850" b="0" i="0">
                          <a:solidFill>
                            <a:srgbClr val="262626"/>
                          </a:solidFill>
                          <a:latin typeface="Arial"/>
                        </a:rPr>
                        <a:t>Kelly Wetteland</a:t>
                      </a:r>
                    </a:p>
                  </a:txBody>
                  <a:tcPr>
                    <a:solidFill>
                      <a:srgbClr val="FFFFFF"/>
                    </a:solidFill>
                  </a:tcPr>
                </a:tc>
                <a:tc>
                  <a:txBody>
                    <a:bodyPr wrap="none"/>
                    <a:lstStyle/>
                    <a:p>
                      <a:pPr algn="ctr"/>
                      <a:r>
                        <a:rPr sz="850" b="0" i="0">
                          <a:solidFill>
                            <a:srgbClr val="262626"/>
                          </a:solidFill>
                          <a:latin typeface="Arial"/>
                        </a:rPr>
                        <a:t>925</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2</a:t>
                      </a:r>
                    </a:p>
                  </a:txBody>
                  <a:tcPr>
                    <a:solidFill>
                      <a:srgbClr val="FFFFFF"/>
                    </a:solidFill>
                  </a:tcPr>
                </a:tc>
              </a:tr>
              <a:tr h="224028">
                <a:tc>
                  <a:txBody>
                    <a:bodyPr wrap="none"/>
                    <a:lstStyle/>
                    <a:p>
                      <a:pPr algn="ctr"/>
                      <a:r>
                        <a:rPr sz="850" b="1" i="0">
                          <a:solidFill>
                            <a:srgbClr val="262626"/>
                          </a:solidFill>
                          <a:latin typeface="Arial"/>
                        </a:rPr>
                        <a:t>29</a:t>
                      </a:r>
                    </a:p>
                  </a:txBody>
                  <a:tcPr>
                    <a:solidFill>
                      <a:srgbClr val="F2F2F2"/>
                    </a:solidFill>
                  </a:tcPr>
                </a:tc>
                <a:tc>
                  <a:txBody>
                    <a:bodyPr wrap="none"/>
                    <a:lstStyle/>
                    <a:p>
                      <a:pPr algn="l"/>
                      <a:r>
                        <a:rPr sz="850" b="0" i="0">
                          <a:solidFill>
                            <a:srgbClr val="262626"/>
                          </a:solidFill>
                          <a:latin typeface="Arial"/>
                        </a:rPr>
                        <a:t>Naomi Ruff</a:t>
                      </a:r>
                    </a:p>
                  </a:txBody>
                  <a:tcPr>
                    <a:solidFill>
                      <a:srgbClr val="F2F2F2"/>
                    </a:solidFill>
                  </a:tcPr>
                </a:tc>
                <a:tc>
                  <a:txBody>
                    <a:bodyPr wrap="none"/>
                    <a:lstStyle/>
                    <a:p>
                      <a:pPr algn="ctr"/>
                      <a:r>
                        <a:rPr sz="850" b="0" i="0">
                          <a:solidFill>
                            <a:srgbClr val="262626"/>
                          </a:solidFill>
                          <a:latin typeface="Arial"/>
                        </a:rPr>
                        <a:t>882</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3</a:t>
                      </a:r>
                    </a:p>
                  </a:txBody>
                  <a:tcPr>
                    <a:solidFill>
                      <a:srgbClr val="F2F2F2"/>
                    </a:solidFill>
                  </a:tcPr>
                </a:tc>
              </a:tr>
              <a:tr h="224028">
                <a:tc>
                  <a:txBody>
                    <a:bodyPr wrap="none"/>
                    <a:lstStyle/>
                    <a:p>
                      <a:pPr algn="ctr"/>
                      <a:r>
                        <a:rPr sz="850" b="1" i="0">
                          <a:solidFill>
                            <a:srgbClr val="262626"/>
                          </a:solidFill>
                          <a:latin typeface="Arial"/>
                        </a:rPr>
                        <a:t>41</a:t>
                      </a:r>
                    </a:p>
                  </a:txBody>
                  <a:tcPr>
                    <a:solidFill>
                      <a:srgbClr val="FFFFFF"/>
                    </a:solidFill>
                  </a:tcPr>
                </a:tc>
                <a:tc>
                  <a:txBody>
                    <a:bodyPr wrap="none"/>
                    <a:lstStyle/>
                    <a:p>
                      <a:pPr algn="l"/>
                      <a:r>
                        <a:rPr sz="850" b="0" i="0">
                          <a:solidFill>
                            <a:srgbClr val="262626"/>
                          </a:solidFill>
                          <a:latin typeface="Arial"/>
                        </a:rPr>
                        <a:t>Erika Ackerlund</a:t>
                      </a:r>
                    </a:p>
                  </a:txBody>
                  <a:tcPr>
                    <a:solidFill>
                      <a:srgbClr val="FFFFFF"/>
                    </a:solidFill>
                  </a:tcPr>
                </a:tc>
                <a:tc>
                  <a:txBody>
                    <a:bodyPr wrap="none"/>
                    <a:lstStyle/>
                    <a:p>
                      <a:pPr algn="ctr"/>
                      <a:r>
                        <a:rPr sz="850" b="0" i="0">
                          <a:solidFill>
                            <a:srgbClr val="262626"/>
                          </a:solidFill>
                          <a:latin typeface="Arial"/>
                        </a:rPr>
                        <a:t>720</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3</a:t>
                      </a:r>
                    </a:p>
                  </a:txBody>
                  <a:tcPr>
                    <a:solidFill>
                      <a:srgbClr val="FFFFFF"/>
                    </a:solidFill>
                  </a:tcPr>
                </a:tc>
              </a:tr>
              <a:tr h="224028">
                <a:tc>
                  <a:txBody>
                    <a:bodyPr wrap="none"/>
                    <a:lstStyle/>
                    <a:p>
                      <a:pPr algn="ctr"/>
                      <a:r>
                        <a:rPr sz="850" b="1" i="0">
                          <a:solidFill>
                            <a:srgbClr val="262626"/>
                          </a:solidFill>
                          <a:latin typeface="Arial"/>
                        </a:rPr>
                        <a:t>52</a:t>
                      </a:r>
                    </a:p>
                  </a:txBody>
                  <a:tcPr>
                    <a:solidFill>
                      <a:srgbClr val="F2F2F2"/>
                    </a:solidFill>
                  </a:tcPr>
                </a:tc>
                <a:tc>
                  <a:txBody>
                    <a:bodyPr wrap="none"/>
                    <a:lstStyle/>
                    <a:p>
                      <a:pPr algn="l"/>
                      <a:r>
                        <a:rPr sz="850" b="0" i="0">
                          <a:solidFill>
                            <a:srgbClr val="262626"/>
                          </a:solidFill>
                          <a:latin typeface="Arial"/>
                        </a:rPr>
                        <a:t>Eleanor Beveridge</a:t>
                      </a:r>
                    </a:p>
                  </a:txBody>
                  <a:tcPr>
                    <a:solidFill>
                      <a:srgbClr val="F2F2F2"/>
                    </a:solidFill>
                  </a:tcPr>
                </a:tc>
                <a:tc>
                  <a:txBody>
                    <a:bodyPr wrap="none"/>
                    <a:lstStyle/>
                    <a:p>
                      <a:pPr algn="ctr"/>
                      <a:r>
                        <a:rPr sz="850" b="0" i="0">
                          <a:solidFill>
                            <a:srgbClr val="262626"/>
                          </a:solidFill>
                          <a:latin typeface="Arial"/>
                        </a:rPr>
                        <a:t>567</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3</a:t>
                      </a:r>
                    </a:p>
                  </a:txBody>
                  <a:tcPr>
                    <a:solidFill>
                      <a:srgbClr val="F2F2F2"/>
                    </a:solidFill>
                  </a:tcPr>
                </a:tc>
              </a:tr>
              <a:tr h="224028">
                <a:tc>
                  <a:txBody>
                    <a:bodyPr wrap="none"/>
                    <a:lstStyle/>
                    <a:p>
                      <a:pPr algn="ctr"/>
                      <a:r>
                        <a:rPr sz="850" b="1" i="0">
                          <a:solidFill>
                            <a:srgbClr val="262626"/>
                          </a:solidFill>
                          <a:latin typeface="Arial"/>
                        </a:rPr>
                        <a:t>54</a:t>
                      </a:r>
                    </a:p>
                  </a:txBody>
                  <a:tcPr>
                    <a:solidFill>
                      <a:srgbClr val="FFFFFF"/>
                    </a:solidFill>
                  </a:tcPr>
                </a:tc>
                <a:tc>
                  <a:txBody>
                    <a:bodyPr wrap="none"/>
                    <a:lstStyle/>
                    <a:p>
                      <a:pPr algn="l"/>
                      <a:r>
                        <a:rPr sz="850" b="0" i="0">
                          <a:solidFill>
                            <a:srgbClr val="262626"/>
                          </a:solidFill>
                          <a:latin typeface="Arial"/>
                        </a:rPr>
                        <a:t>Gwen Jorgensen</a:t>
                      </a:r>
                    </a:p>
                  </a:txBody>
                  <a:tcPr>
                    <a:solidFill>
                      <a:srgbClr val="FFFFFF"/>
                    </a:solidFill>
                  </a:tcPr>
                </a:tc>
                <a:tc>
                  <a:txBody>
                    <a:bodyPr wrap="none"/>
                    <a:lstStyle/>
                    <a:p>
                      <a:pPr algn="ctr"/>
                      <a:r>
                        <a:rPr sz="850" b="0" i="0">
                          <a:solidFill>
                            <a:srgbClr val="262626"/>
                          </a:solidFill>
                          <a:latin typeface="Arial"/>
                        </a:rPr>
                        <a:t>556</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2</a:t>
                      </a:r>
                    </a:p>
                  </a:txBody>
                  <a:tcPr>
                    <a:solidFill>
                      <a:srgbClr val="FFFFFF"/>
                    </a:solidFill>
                  </a:tcPr>
                </a:tc>
              </a:tr>
              <a:tr h="224028">
                <a:tc>
                  <a:txBody>
                    <a:bodyPr wrap="none"/>
                    <a:lstStyle/>
                    <a:p>
                      <a:pPr algn="ctr"/>
                      <a:r>
                        <a:rPr sz="850" b="1" i="0">
                          <a:solidFill>
                            <a:srgbClr val="262626"/>
                          </a:solidFill>
                          <a:latin typeface="Arial"/>
                        </a:rPr>
                        <a:t>84</a:t>
                      </a:r>
                    </a:p>
                  </a:txBody>
                  <a:tcPr>
                    <a:solidFill>
                      <a:srgbClr val="F2F2F2"/>
                    </a:solidFill>
                  </a:tcPr>
                </a:tc>
                <a:tc>
                  <a:txBody>
                    <a:bodyPr wrap="none"/>
                    <a:lstStyle/>
                    <a:p>
                      <a:pPr algn="l"/>
                      <a:r>
                        <a:rPr sz="850" b="0" i="0">
                          <a:solidFill>
                            <a:srgbClr val="262626"/>
                          </a:solidFill>
                          <a:latin typeface="Arial"/>
                        </a:rPr>
                        <a:t>Rachel Werking</a:t>
                      </a:r>
                    </a:p>
                  </a:txBody>
                  <a:tcPr>
                    <a:solidFill>
                      <a:srgbClr val="F2F2F2"/>
                    </a:solidFill>
                  </a:tcPr>
                </a:tc>
                <a:tc>
                  <a:txBody>
                    <a:bodyPr wrap="none"/>
                    <a:lstStyle/>
                    <a:p>
                      <a:pPr algn="ctr"/>
                      <a:r>
                        <a:rPr sz="850" b="0" i="0">
                          <a:solidFill>
                            <a:srgbClr val="262626"/>
                          </a:solidFill>
                          <a:latin typeface="Arial"/>
                        </a:rPr>
                        <a:t>271</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2</a:t>
                      </a:r>
                    </a:p>
                  </a:txBody>
                  <a:tcPr>
                    <a:solidFill>
                      <a:srgbClr val="F2F2F2"/>
                    </a:solidFill>
                  </a:tcPr>
                </a:tc>
              </a:tr>
              <a:tr h="224028">
                <a:tc>
                  <a:txBody>
                    <a:bodyPr wrap="none"/>
                    <a:lstStyle/>
                    <a:p>
                      <a:pPr algn="ctr"/>
                      <a:r>
                        <a:rPr sz="850" b="1" i="0">
                          <a:solidFill>
                            <a:srgbClr val="262626"/>
                          </a:solidFill>
                          <a:latin typeface="Arial"/>
                        </a:rPr>
                        <a:t>104</a:t>
                      </a:r>
                    </a:p>
                  </a:txBody>
                  <a:tcPr>
                    <a:solidFill>
                      <a:srgbClr val="FFFFFF"/>
                    </a:solidFill>
                  </a:tcPr>
                </a:tc>
                <a:tc>
                  <a:txBody>
                    <a:bodyPr wrap="none"/>
                    <a:lstStyle/>
                    <a:p>
                      <a:pPr algn="l"/>
                      <a:r>
                        <a:rPr sz="850" b="0" i="0">
                          <a:solidFill>
                            <a:srgbClr val="262626"/>
                          </a:solidFill>
                          <a:latin typeface="Arial"/>
                        </a:rPr>
                        <a:t>Joy Gill</a:t>
                      </a:r>
                    </a:p>
                  </a:txBody>
                  <a:tcPr>
                    <a:solidFill>
                      <a:srgbClr val="FFFFFF"/>
                    </a:solidFill>
                  </a:tcPr>
                </a:tc>
                <a:tc>
                  <a:txBody>
                    <a:bodyPr wrap="none"/>
                    <a:lstStyle/>
                    <a:p>
                      <a:pPr algn="ctr"/>
                      <a:r>
                        <a:rPr sz="850" b="0" i="0">
                          <a:solidFill>
                            <a:srgbClr val="262626"/>
                          </a:solidFill>
                          <a:latin typeface="Arial"/>
                        </a:rPr>
                        <a:t>200</a:t>
                      </a:r>
                    </a:p>
                  </a:txBody>
                  <a:tcPr>
                    <a:solidFill>
                      <a:srgbClr val="FFFFFF"/>
                    </a:solidFill>
                  </a:tcPr>
                </a:tc>
                <a:tc>
                  <a:txBody>
                    <a:bodyPr wrap="none"/>
                    <a:lstStyle/>
                    <a:p>
                      <a:pPr algn="ctr"/>
                      <a:r>
                        <a:rPr sz="850" b="0" i="0">
                          <a:solidFill>
                            <a:srgbClr val="262626"/>
                          </a:solidFill>
                          <a:latin typeface="Arial"/>
                        </a:rPr>
                        <a:t>0</a:t>
                      </a:r>
                    </a:p>
                  </a:txBody>
                  <a:tcPr>
                    <a:solidFill>
                      <a:srgbClr val="FFFFFF"/>
                    </a:solidFill>
                  </a:tcPr>
                </a:tc>
                <a:tc>
                  <a:txBody>
                    <a:bodyPr wrap="none"/>
                    <a:lstStyle/>
                    <a:p>
                      <a:pPr algn="ctr"/>
                      <a:r>
                        <a:rPr sz="850" b="0" i="0">
                          <a:solidFill>
                            <a:srgbClr val="262626"/>
                          </a:solidFill>
                          <a:latin typeface="Arial"/>
                        </a:rPr>
                        <a:t>2</a:t>
                      </a:r>
                    </a:p>
                  </a:txBody>
                  <a:tcPr>
                    <a:solidFill>
                      <a:srgbClr val="FFFFFF"/>
                    </a:solidFill>
                  </a:tcPr>
                </a:tc>
              </a:tr>
              <a:tr h="224028">
                <a:tc>
                  <a:txBody>
                    <a:bodyPr wrap="none"/>
                    <a:lstStyle/>
                    <a:p>
                      <a:pPr algn="ctr"/>
                      <a:r>
                        <a:rPr sz="850" b="1" i="0">
                          <a:solidFill>
                            <a:srgbClr val="262626"/>
                          </a:solidFill>
                          <a:latin typeface="Arial"/>
                        </a:rPr>
                        <a:t>108</a:t>
                      </a:r>
                    </a:p>
                  </a:txBody>
                  <a:tcPr>
                    <a:solidFill>
                      <a:srgbClr val="F2F2F2"/>
                    </a:solidFill>
                  </a:tcPr>
                </a:tc>
                <a:tc>
                  <a:txBody>
                    <a:bodyPr wrap="none"/>
                    <a:lstStyle/>
                    <a:p>
                      <a:pPr algn="l"/>
                      <a:r>
                        <a:rPr sz="850" b="0" i="0">
                          <a:solidFill>
                            <a:srgbClr val="262626"/>
                          </a:solidFill>
                          <a:latin typeface="Arial"/>
                        </a:rPr>
                        <a:t>Michelle Magnani</a:t>
                      </a:r>
                    </a:p>
                  </a:txBody>
                  <a:tcPr>
                    <a:solidFill>
                      <a:srgbClr val="F2F2F2"/>
                    </a:solidFill>
                  </a:tcPr>
                </a:tc>
                <a:tc>
                  <a:txBody>
                    <a:bodyPr wrap="none"/>
                    <a:lstStyle/>
                    <a:p>
                      <a:pPr algn="ctr"/>
                      <a:r>
                        <a:rPr sz="850" b="0" i="0">
                          <a:solidFill>
                            <a:srgbClr val="262626"/>
                          </a:solidFill>
                          <a:latin typeface="Arial"/>
                        </a:rPr>
                        <a:t>184</a:t>
                      </a:r>
                    </a:p>
                  </a:txBody>
                  <a:tcPr>
                    <a:solidFill>
                      <a:srgbClr val="F2F2F2"/>
                    </a:solidFill>
                  </a:tcPr>
                </a:tc>
                <a:tc>
                  <a:txBody>
                    <a:bodyPr wrap="none"/>
                    <a:lstStyle/>
                    <a:p>
                      <a:pPr algn="ctr"/>
                      <a:r>
                        <a:rPr sz="850" b="0" i="0">
                          <a:solidFill>
                            <a:srgbClr val="262626"/>
                          </a:solidFill>
                          <a:latin typeface="Arial"/>
                        </a:rPr>
                        <a:t>0</a:t>
                      </a:r>
                    </a:p>
                  </a:txBody>
                  <a:tcPr>
                    <a:solidFill>
                      <a:srgbClr val="F2F2F2"/>
                    </a:solidFill>
                  </a:tcPr>
                </a:tc>
                <a:tc>
                  <a:txBody>
                    <a:bodyPr wrap="none"/>
                    <a:lstStyle/>
                    <a:p>
                      <a:pPr algn="ctr"/>
                      <a:r>
                        <a:rPr sz="850" b="0" i="0">
                          <a:solidFill>
                            <a:srgbClr val="262626"/>
                          </a:solidFill>
                          <a:latin typeface="Arial"/>
                        </a:rPr>
                        <a:t>2</a:t>
                      </a:r>
                    </a:p>
                  </a:txBody>
                  <a:tcPr>
                    <a:solidFill>
                      <a:srgbClr val="F2F2F2"/>
                    </a:solidFill>
                  </a:tcPr>
                </a:tc>
              </a:tr>
            </a:tbl>
          </a:graphicData>
        </a:graphic>
      </p:graphicFrame>
      <p:sp>
        <p:nvSpPr>
          <p:cNvPr id="16" name="TextBox 15"/>
          <p:cNvSpPr txBox="1"/>
          <p:nvPr/>
        </p:nvSpPr>
        <p:spPr>
          <a:xfrm>
            <a:off x="274320" y="6419088"/>
            <a:ext cx="11640312" cy="274320"/>
          </a:xfrm>
          <a:prstGeom prst="rect">
            <a:avLst/>
          </a:prstGeom>
          <a:noFill/>
        </p:spPr>
        <p:txBody>
          <a:bodyPr wrap="square">
            <a:spAutoFit/>
          </a:bodyPr>
          <a:lstStyle/>
          <a:p>
            <a:pPr algn="ctr"/>
            <a:r>
              <a:rPr sz="800" b="0" i="1">
                <a:solidFill>
                  <a:srgbClr val="BFBFBF"/>
                </a:solidFill>
                <a:latin typeface="Arial"/>
              </a:rPr>
              <a:t>Rankings: latest weekly snapshot.  Second / First = events counted in the second vs first scoring period of the LA 2028 OQR cycle.  Because the cycle is still in its first year, most results appear under First.  Source: World Triathlon rankings database.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