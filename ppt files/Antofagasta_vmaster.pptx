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73" r:id="rId12"/>
    <p:sldId id="266" r:id="rId13"/>
    <p:sldId id="267" r:id="rId14"/>
    <p:sldId id="268" r:id="rId15"/>
    <p:sldId id="270" r:id="rId16"/>
    <p:sldId id="269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vents.triathlon.org/2026-americas-triathlon-championships-antofagasta-/race-info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ANTOFAGASTA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July 3 – 5,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C1BA9-72A0-A44B-D3AB-AE4CDE7B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B7FBF1-5B5E-9D1D-EDB0-A76899F42638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1B7C5-0EF0-9B3D-6969-BB1C07E785FA}"/>
              </a:ext>
            </a:extLst>
          </p:cNvPr>
          <p:cNvSpPr txBox="1"/>
          <p:nvPr/>
        </p:nvSpPr>
        <p:spPr>
          <a:xfrm>
            <a:off x="228600" y="4572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56CA7-6084-CF65-93B4-B5FB1B97CC06}"/>
              </a:ext>
            </a:extLst>
          </p:cNvPr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A4CFBC-CADD-0641-0087-B5444D0AE7E6}"/>
              </a:ext>
            </a:extLst>
          </p:cNvPr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>
            <a:extLst>
              <a:ext uri="{FF2B5EF4-FFF2-40B4-BE49-F238E27FC236}">
                <a16:creationId xmlns:a16="http://schemas.microsoft.com/office/drawing/2014/main" id="{9DD4B6EC-FA3F-D8E1-B2BA-D2246089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6762DE-75B7-DB7D-0111-4E03F573B51D}"/>
              </a:ext>
            </a:extLst>
          </p:cNvPr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464307-6246-A8D7-BB69-9C093CC0C6EB}"/>
              </a:ext>
            </a:extLst>
          </p:cNvPr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18422-9968-0612-2E39-B0988DA07645}"/>
              </a:ext>
            </a:extLst>
          </p:cNvPr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July 3 – 5, 2026   •   Balneario Municipal, Av República de Croacia, Antofagasta (CLT, UTC-4)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FDD9DF-7C00-9336-97E4-BB11E51199EB}"/>
              </a:ext>
            </a:extLst>
          </p:cNvPr>
          <p:cNvSpPr/>
          <p:nvPr/>
        </p:nvSpPr>
        <p:spPr>
          <a:xfrm>
            <a:off x="274320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104FE-24CE-C6E1-E568-C4D9FE90354F}"/>
              </a:ext>
            </a:extLst>
          </p:cNvPr>
          <p:cNvSpPr txBox="1"/>
          <p:nvPr/>
        </p:nvSpPr>
        <p:spPr>
          <a:xfrm>
            <a:off x="365760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July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5322D5-0F25-0575-BD10-53509A7AD550}"/>
              </a:ext>
            </a:extLst>
          </p:cNvPr>
          <p:cNvSpPr txBox="1"/>
          <p:nvPr/>
        </p:nvSpPr>
        <p:spPr>
          <a:xfrm>
            <a:off x="365760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43C9D7A-D1FD-1867-DE01-B5731B741B1D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2240280"/>
          <a:ext cx="3727703" cy="3017520"/>
        </p:xfrm>
        <a:graphic>
          <a:graphicData uri="http://schemas.openxmlformats.org/drawingml/2006/table">
            <a:tbl>
              <a:tblPr firstRow="1" bandRow="1">
                <a:solidFill>
                  <a:srgbClr val="F0F0F0"/>
                </a:solidFill>
                <a:tableStyleId>{5C22544A-7EE6-4342-B048-85BDC9FD1C3A}</a:tableStyleId>
              </a:tblPr>
              <a:tblGrid>
                <a:gridCol w="13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9:00</a:t>
                      </a:r>
                      <a:endParaRPr sz="1000" b="1" i="0" kern="1200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Elite / Junior Cycling familiarization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9:30</a:t>
                      </a:r>
                      <a:endParaRPr sz="1000" b="1" i="0" kern="1200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Elite / Junior Swimming familiarization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All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Para Triathlon Cycling + Swim familiarizations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82942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13:00 – 18:00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Age-Group Registration / Kit delivery — ENJOY Antofagasta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0687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16:00 – 16:45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★ Elite / Junior briefing — ENJOY Antofagasta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16:45 – 18:15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Elite / Junior Registration / Kit delivery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BAE4FE1-9153-64CD-822A-C1EB90BA43A0}"/>
              </a:ext>
            </a:extLst>
          </p:cNvPr>
          <p:cNvSpPr/>
          <p:nvPr/>
        </p:nvSpPr>
        <p:spPr>
          <a:xfrm>
            <a:off x="4230624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56A163-E912-5197-DE83-36845A513316}"/>
              </a:ext>
            </a:extLst>
          </p:cNvPr>
          <p:cNvSpPr txBox="1"/>
          <p:nvPr/>
        </p:nvSpPr>
        <p:spPr>
          <a:xfrm>
            <a:off x="4322064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July 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8BDEC-87E9-284E-810A-B9242C399538}"/>
              </a:ext>
            </a:extLst>
          </p:cNvPr>
          <p:cNvSpPr txBox="1"/>
          <p:nvPr/>
        </p:nvSpPr>
        <p:spPr>
          <a:xfrm>
            <a:off x="4322064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CHAMPIONSHIP RACE DAY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2487D78-4248-AD8A-00CD-C9DB98AF64DC}"/>
              </a:ext>
            </a:extLst>
          </p:cNvPr>
          <p:cNvGraphicFramePr>
            <a:graphicFrameLocks noGrp="1"/>
          </p:cNvGraphicFramePr>
          <p:nvPr/>
        </p:nvGraphicFramePr>
        <p:xfrm>
          <a:off x="4230624" y="2240280"/>
          <a:ext cx="3727703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5:30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</a:t>
                      </a:r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ALL ★ </a:t>
                      </a:r>
                      <a:b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</a:br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Athlete Room Opens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40402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Junior Women Championship — Sprint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06029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Junior Men Championship — Sprint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20536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9:30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Elite / U23 Women Championship</a:t>
                      </a:r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 Transition Opens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755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10:15 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Elite / U23 Women Championship — </a:t>
                      </a:r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Start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11:30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Elite / U23 Men Championship — </a:t>
                      </a:r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Transition Opens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12:30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★ Elite / U23 Men Championship — </a:t>
                      </a:r>
                      <a:r>
                        <a:rPr lang="en-US" sz="1000" b="1" i="0" dirty="0">
                          <a:solidFill>
                            <a:srgbClr val="C00000"/>
                          </a:solidFill>
                          <a:latin typeface="Arial"/>
                        </a:rPr>
                        <a:t>Start</a:t>
                      </a:r>
                      <a:endParaRPr sz="1000" b="1" i="0" dirty="0">
                        <a:solidFill>
                          <a:srgbClr val="C00000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908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16:00 – 16:45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Para Triathlon Championship Briefing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014031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F78F139F-D96C-F2A1-EEC9-637F32D4452E}"/>
              </a:ext>
            </a:extLst>
          </p:cNvPr>
          <p:cNvSpPr/>
          <p:nvPr/>
        </p:nvSpPr>
        <p:spPr>
          <a:xfrm>
            <a:off x="8186928" y="1691640"/>
            <a:ext cx="3727704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CEE83F-2578-0D0F-E737-496B849A5420}"/>
              </a:ext>
            </a:extLst>
          </p:cNvPr>
          <p:cNvSpPr txBox="1"/>
          <p:nvPr/>
        </p:nvSpPr>
        <p:spPr>
          <a:xfrm>
            <a:off x="8278368" y="1728216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 • July 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619658-CCDF-5341-5C8B-49DFE70C1A06}"/>
              </a:ext>
            </a:extLst>
          </p:cNvPr>
          <p:cNvSpPr txBox="1"/>
          <p:nvPr/>
        </p:nvSpPr>
        <p:spPr>
          <a:xfrm>
            <a:off x="8278368" y="1929384"/>
            <a:ext cx="3544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Para + AG + Relay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113ECAC-9980-A7F4-7A6F-085759EB8D77}"/>
              </a:ext>
            </a:extLst>
          </p:cNvPr>
          <p:cNvGraphicFramePr>
            <a:graphicFrameLocks noGrp="1"/>
          </p:cNvGraphicFramePr>
          <p:nvPr/>
        </p:nvGraphicFramePr>
        <p:xfrm>
          <a:off x="8193278" y="2246630"/>
          <a:ext cx="3727703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0" i="0" kern="1200" dirty="0">
                          <a:solidFill>
                            <a:srgbClr val="262626"/>
                          </a:solidFill>
                          <a:latin typeface="Arial"/>
                          <a:ea typeface="+mn-ea"/>
                          <a:cs typeface="+mn-cs"/>
                        </a:rPr>
                        <a:t>AM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0" i="0" kern="1200" dirty="0">
                          <a:solidFill>
                            <a:srgbClr val="262626"/>
                          </a:solidFill>
                          <a:latin typeface="Arial"/>
                          <a:ea typeface="+mn-ea"/>
                          <a:cs typeface="+mn-cs"/>
                        </a:rPr>
                        <a:t>★ Para Triathlon Championship — Sprint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Youth Women Championship — Super Sprint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Youth Men Championship — Super Sprint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Mid-day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Age-Group Championship —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14:00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2×2 Mixed Relay — Elite + Juniors</a:t>
                      </a:r>
                      <a:r>
                        <a:rPr lang="en-US"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 – Transition Opens</a:t>
                      </a:r>
                      <a:endParaRPr sz="1000" b="1" i="0" kern="1200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14:40</a:t>
                      </a:r>
                      <a:endParaRPr sz="1000" b="1" i="0" kern="1200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2×2 Mixed Relay — Elite + Juniors</a:t>
                      </a:r>
                      <a:r>
                        <a:rPr lang="en-US"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 – Start</a:t>
                      </a:r>
                      <a:endParaRPr sz="1000" b="1" i="0" kern="1200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90742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16:20</a:t>
                      </a:r>
                      <a:endParaRPr sz="1000" b="1" i="0" kern="1200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2×2 Mixed Relay — Elite + Juniors</a:t>
                      </a:r>
                      <a:r>
                        <a:rPr lang="en-US" sz="1000" b="1" i="0" kern="1200" dirty="0">
                          <a:solidFill>
                            <a:srgbClr val="C00000"/>
                          </a:solidFill>
                          <a:latin typeface="Arial"/>
                          <a:ea typeface="+mn-ea"/>
                          <a:cs typeface="+mn-cs"/>
                        </a:rPr>
                        <a:t> – Medal Ceremony</a:t>
                      </a:r>
                      <a:endParaRPr sz="1000" b="1" i="0" kern="1200" dirty="0">
                        <a:solidFill>
                          <a:srgbClr val="C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68358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2113099-2F47-0711-A171-5EA51E9BF55B}"/>
              </a:ext>
            </a:extLst>
          </p:cNvPr>
          <p:cNvSpPr txBox="1"/>
          <p:nvPr/>
        </p:nvSpPr>
        <p:spPr>
          <a:xfrm>
            <a:off x="274320" y="6355080"/>
            <a:ext cx="116403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BFBFBF"/>
                </a:solidFill>
                <a:latin typeface="Arial"/>
              </a:rPr>
              <a:t>Times </a:t>
            </a:r>
            <a:r>
              <a:rPr sz="900" b="0" i="1" dirty="0" err="1">
                <a:solidFill>
                  <a:srgbClr val="BFBFBF"/>
                </a:solidFill>
                <a:latin typeface="Arial"/>
              </a:rPr>
              <a:t>Balneario</a:t>
            </a:r>
            <a:r>
              <a:rPr sz="900" b="0" i="1" dirty="0">
                <a:solidFill>
                  <a:srgbClr val="BFBFBF"/>
                </a:solidFill>
                <a:latin typeface="Arial"/>
              </a:rPr>
              <a:t> Municipal, Av República de </a:t>
            </a:r>
            <a:r>
              <a:rPr sz="900" b="0" i="1" dirty="0" err="1">
                <a:solidFill>
                  <a:srgbClr val="BFBFBF"/>
                </a:solidFill>
                <a:latin typeface="Arial"/>
              </a:rPr>
              <a:t>Croacia</a:t>
            </a:r>
            <a:r>
              <a:rPr sz="900" b="0" i="1" dirty="0">
                <a:solidFill>
                  <a:srgbClr val="BFBFBF"/>
                </a:solidFill>
                <a:latin typeface="Arial"/>
              </a:rPr>
              <a:t>, Antofagasta (CLT, UTC-4). </a:t>
            </a:r>
          </a:p>
        </p:txBody>
      </p:sp>
    </p:spTree>
    <p:extLst>
      <p:ext uri="{BB962C8B-B14F-4D97-AF65-F5344CB8AC3E}">
        <p14:creationId xmlns:p14="http://schemas.microsoft.com/office/powerpoint/2010/main" val="1336891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ANTOFAGASTA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First-time Americas Triathlon &amp; Para Championships host. Antofagasta sits on Chile's northern Pacific coast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 between the Atacama desert. E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xpect a cool, dry, light-wind race in Southern Hemisphere winter (avg high 18 °C). Elite/U23 athletes contest a Standard race on Saturday with a bike circuit slightly longer than typical (8 × 5.414 km = 43.3 km), and the swim uses a distinctive beach-exit-and-re-entry between laps. Expect a wetsuit race in 14–16 °C ocean water.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Pacific Ocean swim (~14–16 °C)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. 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Standard format swims 2 laps with a beach exit + re-entry between them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 with almost 100% chance of a wetsuit-legal swim. </a:t>
            </a:r>
            <a:endParaRPr sz="11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Bike: 8 × 5.414 km laps (43.3 km — ~3 km longer than standard 40 km) along Av República de </a:t>
            </a:r>
            <a:r>
              <a:rPr sz="1100" b="0" i="0" dirty="0" err="1">
                <a:solidFill>
                  <a:srgbClr val="262626"/>
                </a:solidFill>
                <a:latin typeface="Arial"/>
              </a:rPr>
              <a:t>Croacia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 ↔ Av </a:t>
            </a:r>
            <a:r>
              <a:rPr sz="1100" b="0" i="0" dirty="0" err="1">
                <a:solidFill>
                  <a:srgbClr val="262626"/>
                </a:solidFill>
                <a:latin typeface="Arial"/>
              </a:rPr>
              <a:t>Ejército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. Flat, fast, 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some potential exposure 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to ocean breeze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s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Run: 4 × 2.5 km laps on Av Grecia coastal road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F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lat asphalt out-and-back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. Potential for 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fast splits 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given the 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cool conditions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 and terrain.</a:t>
            </a:r>
            <a:endParaRPr sz="110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62626"/>
                </a:solidFill>
                <a:latin typeface="Arial"/>
              </a:rPr>
              <a:t>•  First-ever AT Championships in Antofagasta</a:t>
            </a:r>
            <a:r>
              <a:rPr lang="en-US" sz="110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100" dirty="0">
                <a:solidFill>
                  <a:srgbClr val="262626"/>
                </a:solidFill>
                <a:latin typeface="Arial"/>
              </a:rPr>
              <a:t>N</a:t>
            </a:r>
            <a:r>
              <a:rPr sz="1100" b="0" i="0" dirty="0">
                <a:solidFill>
                  <a:srgbClr val="262626"/>
                </a:solidFill>
                <a:latin typeface="Arial"/>
              </a:rPr>
              <a:t>o prior race-day data;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1.5 km – 2 laps × 750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43.3 km – 8 laps × 5.414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10 km – 4 laps × 2.5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Standard Triathlon (Elite)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262626"/>
                </a:solidFill>
                <a:latin typeface="Arial"/>
                <a:hlinkClick r:id="rId3"/>
              </a:rPr>
              <a:t>Race Info | 2026 Americas Triathlon &amp; Para Championships Antofagasta</a:t>
            </a:r>
            <a:endParaRPr sz="1000" b="0" i="1" dirty="0">
              <a:solidFill>
                <a:srgbClr val="262626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08960" y="1067769"/>
            <a:ext cx="5669280" cy="3542887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59772" y="46101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365346"/>
              </p:ext>
            </p:extLst>
          </p:nvPr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8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1.5 km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Ocean swim. Beach start with early protection. Quick left turn after exiting harbor. Water looks generally calm, but expect for it to be wetsuit legal.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43.3 km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Pancake flat bike course. Slightly longer than standard distance (3km extra). 8 laps on simple out and back stretch.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10 km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i="0" dirty="0">
                          <a:solidFill>
                            <a:srgbClr val="262626"/>
                          </a:solidFill>
                          <a:latin typeface="Arial"/>
                        </a:rPr>
                        <a:t>Pancake flat run course on asphalt road. Cool temperatures and flat conditions should allow for fast conditions. </a:t>
                      </a:r>
                      <a:endParaRPr sz="1000" b="0" i="0" dirty="0">
                        <a:solidFill>
                          <a:srgbClr val="262626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D8C3F262-DF94-CDF0-6740-0193B2EAB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663" y="1115010"/>
            <a:ext cx="4993874" cy="3402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230368" cy="551383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BFBFBF"/>
                </a:solidFill>
                <a:latin typeface="Arial"/>
              </a:rPr>
              <a:t>[Drop swim course map here]
Save the </a:t>
            </a:r>
            <a:r>
              <a:rPr sz="1000" b="0" i="1" dirty="0" err="1">
                <a:solidFill>
                  <a:srgbClr val="BFBFBF"/>
                </a:solidFill>
                <a:latin typeface="Arial"/>
              </a:rPr>
              <a:t>organiser</a:t>
            </a:r>
            <a:r>
              <a:rPr sz="1000" b="0" i="1" dirty="0">
                <a:solidFill>
                  <a:srgbClr val="BFBFBF"/>
                </a:solidFill>
                <a:latin typeface="Arial"/>
              </a:rPr>
              <a:t> map as:
ppt files/support/antofagasta_swim_course.png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1.5 km   •   2 × 750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Open ocean — Pacific (Humboldt Current)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1.5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Pacific Ocean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Beach start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15.7 °C (7-yr avg)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262626"/>
                </a:solidFill>
                <a:latin typeface="Arial"/>
              </a:rPr>
              <a:t>Wetsuit mandatory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Pacific Ocean swim directly off the </a:t>
            </a:r>
            <a:r>
              <a:rPr sz="1050" b="0" i="0" dirty="0" err="1">
                <a:solidFill>
                  <a:srgbClr val="262626"/>
                </a:solidFill>
                <a:latin typeface="Arial"/>
              </a:rPr>
              <a:t>Balneario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 Municipal beach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. Some e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xposed open water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</a:t>
            </a:r>
            <a:endParaRPr sz="10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 dirty="0">
                <a:solidFill>
                  <a:srgbClr val="262626"/>
                </a:solidFill>
                <a:latin typeface="Arial"/>
              </a:rPr>
              <a:t>•  Buoy-marked rectangular course, counter-clockwise direction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; Standard distance BEACH EXIT AND RE-ENTRY between laps/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646210"/>
            <a:ext cx="6126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July is winter in Southern Hemisphere, water typically 14–16 °C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90F2CE4-130B-6EFF-72F8-80500BEA0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152484"/>
            <a:ext cx="5120640" cy="315479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88A1BCF-7AC3-4FE0-4BEF-8370DC3DC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407240"/>
            <a:ext cx="5230368" cy="218524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E5FA3B2-C8A1-6127-CA3C-A5A2479C2C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943407"/>
            <a:ext cx="3633470" cy="17134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BFF03-7AE5-FC70-FED8-378DCF84C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F563BF-6135-720E-4747-296E2CD7C3E4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684EA-F7CD-2117-C2A6-16F59541891D}"/>
              </a:ext>
            </a:extLst>
          </p:cNvPr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5DDD0-7516-2879-03E4-053988574336}"/>
              </a:ext>
            </a:extLst>
          </p:cNvPr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771410-8A99-8CB8-5CA1-F848A86B9A12}"/>
              </a:ext>
            </a:extLst>
          </p:cNvPr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>
            <a:extLst>
              <a:ext uri="{FF2B5EF4-FFF2-40B4-BE49-F238E27FC236}">
                <a16:creationId xmlns:a16="http://schemas.microsoft.com/office/drawing/2014/main" id="{A8AA93CE-5D87-6B16-F553-A7C1A5601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E1FE67-4C81-5A02-E3E2-500320CAEEC3}"/>
              </a:ext>
            </a:extLst>
          </p:cNvPr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932203-3EFF-BC1F-62D0-C9EC16E4D029}"/>
              </a:ext>
            </a:extLst>
          </p:cNvPr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670DA-ED2F-1712-970F-F70395CF2BAD}"/>
              </a:ext>
            </a:extLst>
          </p:cNvPr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files/support/antofagasta_bike_course.png
It will be embedded automatically on the next run.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6EC3C-2667-8397-4CBB-45F133F9F9D3}"/>
              </a:ext>
            </a:extLst>
          </p:cNvPr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16EFFE-1D2A-C644-A278-8F76921A9077}"/>
              </a:ext>
            </a:extLst>
          </p:cNvPr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2FDEF1-CFCA-45AA-580C-26D0FEA2A1F9}"/>
              </a:ext>
            </a:extLst>
          </p:cNvPr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rial"/>
              </a:rPr>
              <a:t>43.3 km   •   8 × 5.414 km loops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091A2D-76FC-6464-F86E-EBC51BAA6BC5}"/>
              </a:ext>
            </a:extLst>
          </p:cNvPr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coastal urban — Av República de Croacia ↔ Av Ejército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722B1F-781C-F740-1FD8-D120C1E80B64}"/>
              </a:ext>
            </a:extLst>
          </p:cNvPr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D395EE-AAA4-29C1-24E6-0E9C7C717D2C}"/>
              </a:ext>
            </a:extLst>
          </p:cNvPr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9C642-BEB5-F66F-98E6-00AF84ACFA85}"/>
              </a:ext>
            </a:extLst>
          </p:cNvPr>
          <p:cNvSpPr txBox="1"/>
          <p:nvPr/>
        </p:nvSpPr>
        <p:spPr>
          <a:xfrm>
            <a:off x="566928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262626"/>
                </a:solidFill>
                <a:latin typeface="Arial"/>
              </a:rPr>
              <a:t>Flat</a:t>
            </a:r>
            <a:r>
              <a:rPr lang="en-US" sz="1500" b="1" i="0" dirty="0">
                <a:solidFill>
                  <a:srgbClr val="262626"/>
                </a:solidFill>
                <a:latin typeface="Arial"/>
              </a:rPr>
              <a:t> (22m / lap)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F8731D-B3AC-8984-85E5-0EEDA8D1DE32}"/>
              </a:ext>
            </a:extLst>
          </p:cNvPr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E0A919-D288-8206-6A9D-7254D4172CB1}"/>
              </a:ext>
            </a:extLst>
          </p:cNvPr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8BDBE4-DBFC-3B9F-95DD-FB7D24FCFADF}"/>
              </a:ext>
            </a:extLst>
          </p:cNvPr>
          <p:cNvSpPr txBox="1"/>
          <p:nvPr/>
        </p:nvSpPr>
        <p:spPr>
          <a:xfrm>
            <a:off x="777240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22m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3203E9-4AB4-C06D-3EFE-E4853B7CC02B}"/>
              </a:ext>
            </a:extLst>
          </p:cNvPr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93ADC2-56A2-3D5E-3027-50D490C85DE1}"/>
              </a:ext>
            </a:extLst>
          </p:cNvPr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DE183-3E5A-63B6-A935-244C5C00722E}"/>
              </a:ext>
            </a:extLst>
          </p:cNvPr>
          <p:cNvSpPr txBox="1"/>
          <p:nvPr/>
        </p:nvSpPr>
        <p:spPr>
          <a:xfrm>
            <a:off x="9875520" y="2340864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0" dirty="0">
                <a:solidFill>
                  <a:srgbClr val="262626"/>
                </a:solidFill>
                <a:latin typeface="Arial"/>
              </a:rPr>
              <a:t>0.1%</a:t>
            </a:r>
            <a:endParaRPr sz="15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1A731B-1493-FE87-6AF6-0AD4EBC5DBBA}"/>
              </a:ext>
            </a:extLst>
          </p:cNvPr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D7AA17-EE32-CCFE-DC0E-6188332AC8C5}"/>
              </a:ext>
            </a:extLst>
          </p:cNvPr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FB3E48-E02A-E811-4EEF-3D7B9404D435}"/>
              </a:ext>
            </a:extLst>
          </p:cNvPr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CCD1E7-0C78-68B1-C131-46A92313AC95}"/>
              </a:ext>
            </a:extLst>
          </p:cNvPr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6DB76B-67F3-6443-A87D-AE91AB24FF10}"/>
              </a:ext>
            </a:extLst>
          </p:cNvPr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373364-F815-8C06-672D-7CF42085382A}"/>
              </a:ext>
            </a:extLst>
          </p:cNvPr>
          <p:cNvSpPr txBox="1"/>
          <p:nvPr/>
        </p:nvSpPr>
        <p:spPr>
          <a:xfrm>
            <a:off x="7772400" y="3054096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262626"/>
                </a:solidFill>
                <a:latin typeface="Arial"/>
              </a:rPr>
              <a:t>Coastal Pacific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F3B47D-2173-FFD8-6F8F-C9AC72F1EA82}"/>
              </a:ext>
            </a:extLst>
          </p:cNvPr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4938F6-2C09-6175-FB52-D8FA2EF07DE6}"/>
              </a:ext>
            </a:extLst>
          </p:cNvPr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AEBE40-5FC5-7361-CB20-C212442E4172}"/>
              </a:ext>
            </a:extLst>
          </p:cNvPr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8 × 5.414 km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78835BD-F2B8-C993-B282-21A86D6C205F}"/>
              </a:ext>
            </a:extLst>
          </p:cNvPr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24A526-0374-052A-66FF-BBD3FBAFBB1A}"/>
              </a:ext>
            </a:extLst>
          </p:cNvPr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3C821E-C9DF-F560-9F25-190DA848AAA8}"/>
              </a:ext>
            </a:extLst>
          </p:cNvPr>
          <p:cNvSpPr txBox="1"/>
          <p:nvPr/>
        </p:nvSpPr>
        <p:spPr>
          <a:xfrm>
            <a:off x="5669280" y="4069080"/>
            <a:ext cx="6126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8 × 5.414 km loops = 43.3 km (~3 km longer than a typical 40 km Olympic bike)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E8EDD0-39A4-6F5A-B2A9-F568487990AE}"/>
              </a:ext>
            </a:extLst>
          </p:cNvPr>
          <p:cNvSpPr txBox="1"/>
          <p:nvPr/>
        </p:nvSpPr>
        <p:spPr>
          <a:xfrm>
            <a:off x="5669280" y="4361688"/>
            <a:ext cx="6126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Out-and-back beach corridor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74C0A5-0ED9-4E6F-EC6A-12FB0419508E}"/>
              </a:ext>
            </a:extLst>
          </p:cNvPr>
          <p:cNvSpPr txBox="1"/>
          <p:nvPr/>
        </p:nvSpPr>
        <p:spPr>
          <a:xfrm>
            <a:off x="5669280" y="4630590"/>
            <a:ext cx="6126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Pacific coastal exposur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e. Potential for some wind</a:t>
            </a:r>
            <a:endParaRPr sz="10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793773-7F94-694F-49EE-06B097E661AF}"/>
              </a:ext>
            </a:extLst>
          </p:cNvPr>
          <p:cNvSpPr txBox="1"/>
          <p:nvPr/>
        </p:nvSpPr>
        <p:spPr>
          <a:xfrm>
            <a:off x="5669280" y="523951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Closed urban circuit on a wide multi-lane coastal avenue — fast, low-technical, hammer-friendly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B67AE2-5167-FA5C-7481-0C84DCB3BEA1}"/>
              </a:ext>
            </a:extLst>
          </p:cNvPr>
          <p:cNvSpPr txBox="1"/>
          <p:nvPr/>
        </p:nvSpPr>
        <p:spPr>
          <a:xfrm>
            <a:off x="5669280" y="553212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8 laps = 8 transit passes through the Plaza Rotonda turnaround — bike-handling premium on the lap point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8F92FE7-B045-DBDC-ADD3-D1E6140819F5}"/>
              </a:ext>
            </a:extLst>
          </p:cNvPr>
          <p:cNvSpPr/>
          <p:nvPr/>
        </p:nvSpPr>
        <p:spPr>
          <a:xfrm>
            <a:off x="274320" y="5120640"/>
            <a:ext cx="11640312" cy="14173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56FDFE-480F-F476-2BCB-966FFE717B80}"/>
              </a:ext>
            </a:extLst>
          </p:cNvPr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4C9DA8DC-8697-CC32-9B09-CEE2A77E3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57" y="1124713"/>
            <a:ext cx="5259343" cy="361188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A8A1315F-3A2F-BD22-31D5-843BC0BE2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1" y="5196438"/>
            <a:ext cx="11612880" cy="115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52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Arial"/>
              </a:rPr>
              <a:t>Bike </a:t>
            </a:r>
            <a:r>
              <a:rPr lang="en-US" sz="2800" b="1" i="0" dirty="0">
                <a:solidFill>
                  <a:srgbClr val="FFFFFF"/>
                </a:solidFill>
                <a:latin typeface="Arial"/>
              </a:rPr>
              <a:t>Photos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2C8AB0F-3AD3-39EC-73C3-7ED50B04A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923" y="1752600"/>
            <a:ext cx="4720945" cy="403225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9CAF370-9E19-12C9-0C6E-D54BED0F9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86" y="1752600"/>
            <a:ext cx="6652814" cy="4032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files/support/antofagasta_run_course.png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10.0 km   •   4 × 2.5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Asphalt — Av Grecia coastal road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10.0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4 × 2.5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  <a:latin typeface="Arial"/>
              </a:rPr>
              <a:t>24 m (6m / lap)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rgbClr val="262626"/>
                </a:solidFill>
                <a:latin typeface="Arial"/>
              </a:rPr>
              <a:t>0%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Standard distance: 4 × 2.5 km laps along flat coastal roa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d with wide, smooth asphalt</a:t>
            </a:r>
            <a:endParaRPr sz="10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Out-and-back to turnaround at intersection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Cool winter temperatures (~13–18 °C) 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promote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 aggressive run pacing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6035040"/>
            <a:ext cx="11640312" cy="29260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60807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62626"/>
                </a:solidFill>
                <a:latin typeface="Arial"/>
              </a:rPr>
              <a:t>Not in race brief: Elevation profile (course is flat coastal road; no published grade data)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EEE88B0-8425-FA77-4388-EEA3F3F53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144817"/>
            <a:ext cx="5120640" cy="4112983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85B9706-F01E-32A9-00CA-BBDB87E8C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35" y="5346851"/>
            <a:ext cx="11830353" cy="13008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Race-Day Weather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2026-07-04   •   Historical climatology — same calendar day, 7-year mean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7040880" cy="3108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498079" y="16459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19" y="16824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race window — 10:00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16367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34655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5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15.7 °C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88551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39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15.1 °C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60735" y="20116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79023" y="20391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9023" y="22128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34655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5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7.4 km/h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8551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06839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39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0735" y="25786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79023" y="26060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79023" y="27797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3246120"/>
            <a:ext cx="44165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19" y="3282696"/>
            <a:ext cx="42336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Mid-day — 12:00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34655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Temperature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34655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16.3 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8551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06839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Apparent / Heat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15.8 °C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0735" y="3611880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79023" y="3639312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Humidity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79023" y="3813048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76%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16367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34655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34655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9.4 km/h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88551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06839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UV peak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39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0735" y="4178808"/>
            <a:ext cx="1435608" cy="530352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479023" y="4206240"/>
            <a:ext cx="1399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Arial"/>
              </a:rPr>
              <a:t>Heat Stress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79023" y="4379976"/>
            <a:ext cx="1399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7F3A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84632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487375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Hydration &amp; Cooling Cues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5212080"/>
            <a:ext cx="1143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Cool to mild outlook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S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tandard fluid plan 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and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no special pre-cooling required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504688"/>
            <a:ext cx="11430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262626"/>
                </a:solidFill>
                <a:latin typeface="Arial"/>
              </a:rPr>
              <a:t>•  Cold air pre-race — extended warm-up + warm clothing to lounge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Parka for sta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ying warm after warmup and during introductions can offer a </a:t>
            </a:r>
            <a:r>
              <a:rPr lang="en-US" sz="1050" dirty="0" err="1">
                <a:solidFill>
                  <a:srgbClr val="262626"/>
                </a:solidFill>
                <a:latin typeface="Arial"/>
              </a:rPr>
              <a:t>lfit</a:t>
            </a:r>
            <a:endParaRPr sz="1050" b="0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Data source: Open-Meteo. Forecast will replace climatology once race day is within 16 days. Historical Race Conditions slide shows what actually happened in prior years.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Antofagasta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262626"/>
                </a:solidFill>
                <a:latin typeface="Arial"/>
              </a:rPr>
              <a:t>No direct US → Antofagasta flights</a:t>
            </a:r>
            <a:r>
              <a:rPr lang="en-US" sz="1050" b="0" i="0" dirty="0">
                <a:solidFill>
                  <a:srgbClr val="262626"/>
                </a:solidFill>
                <a:latin typeface="Arial"/>
              </a:rPr>
              <a:t>. 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E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very itinerary connects through Santiago de Chile (SCL). Cleanest route: Denver → SCL (overnight via DFW / IAH / MIA / ATL), then a 2-hour domestic hop SCL → ANF on LATAM, SKY, or </a:t>
            </a:r>
            <a:r>
              <a:rPr sz="1050" b="0" i="0" dirty="0" err="1">
                <a:solidFill>
                  <a:srgbClr val="262626"/>
                </a:solidFill>
                <a:latin typeface="Arial"/>
              </a:rPr>
              <a:t>JetSMART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. Total door-to-door is typically 18–22 h with a layover in Santiago. Only +2 h time-zone shift from Denver to Chile (CLT, UTC-4), so jet-lag impact is minimal</a:t>
            </a:r>
            <a:r>
              <a:rPr lang="en-US" sz="1050" dirty="0">
                <a:solidFill>
                  <a:srgbClr val="262626"/>
                </a:solidFill>
                <a:latin typeface="Arial"/>
              </a:rPr>
              <a:t>, </a:t>
            </a:r>
            <a:r>
              <a:rPr sz="1050" b="0" i="0" dirty="0">
                <a:solidFill>
                  <a:srgbClr val="262626"/>
                </a:solidFill>
                <a:latin typeface="Arial"/>
              </a:rPr>
              <a:t>but the long overnight leg warrants an extra recovery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SCL → ANF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2-stop itinerary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~14 – 16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Plus SCL layover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Chile ahead of Denver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262626"/>
                </a:solidFill>
                <a:latin typeface="Arial"/>
              </a:rPr>
              <a:t>WT Sponsored</a:t>
            </a:r>
            <a:endParaRPr sz="1400" b="1" i="0" dirty="0">
              <a:solidFill>
                <a:srgbClr val="262626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LOC-recommended / taxi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00C16A-B200-130C-FE3A-218BFE6E3F74}"/>
              </a:ext>
            </a:extLst>
          </p:cNvPr>
          <p:cNvGrpSpPr/>
          <p:nvPr/>
        </p:nvGrpSpPr>
        <p:grpSpPr>
          <a:xfrm>
            <a:off x="9696297" y="2240280"/>
            <a:ext cx="2218334" cy="868680"/>
            <a:chOff x="9696297" y="2240280"/>
            <a:chExt cx="2218334" cy="868680"/>
          </a:xfrm>
        </p:grpSpPr>
        <p:sp>
          <p:nvSpPr>
            <p:cNvPr id="27" name="Rectangle 26"/>
            <p:cNvSpPr/>
            <p:nvPr/>
          </p:nvSpPr>
          <p:spPr>
            <a:xfrm>
              <a:off x="9696297" y="2240280"/>
              <a:ext cx="2218334" cy="8686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769449" y="2286000"/>
              <a:ext cx="2072030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1" i="0">
                  <a:solidFill>
                    <a:srgbClr val="002060"/>
                  </a:solidFill>
                  <a:latin typeface="Arial"/>
                </a:rPr>
                <a:t>Transfer Distance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769449" y="2496312"/>
              <a:ext cx="207203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262626"/>
                  </a:solidFill>
                  <a:latin typeface="Arial"/>
                </a:rPr>
                <a:t>~25 min by car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769449" y="2807208"/>
              <a:ext cx="2072030" cy="256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 i="1">
                  <a:solidFill>
                    <a:srgbClr val="BFBFBF"/>
                  </a:solidFill>
                  <a:latin typeface="Arial"/>
                </a:rPr>
                <a:t>Andrés Sabella → Av Angamos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B346B7A-C82C-E1CF-F48C-1C7D13435BF0}"/>
              </a:ext>
            </a:extLst>
          </p:cNvPr>
          <p:cNvGrpSpPr/>
          <p:nvPr/>
        </p:nvGrpSpPr>
        <p:grpSpPr>
          <a:xfrm>
            <a:off x="274320" y="3291840"/>
            <a:ext cx="6929322" cy="1526346"/>
            <a:chOff x="274320" y="3291840"/>
            <a:chExt cx="5669280" cy="1526346"/>
          </a:xfrm>
        </p:grpSpPr>
        <p:sp>
          <p:nvSpPr>
            <p:cNvPr id="31" name="Rectangle 30"/>
            <p:cNvSpPr/>
            <p:nvPr/>
          </p:nvSpPr>
          <p:spPr>
            <a:xfrm>
              <a:off x="274320" y="3291840"/>
              <a:ext cx="5669280" cy="152634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11480" y="3401568"/>
              <a:ext cx="539496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1" i="0">
                  <a:solidFill>
                    <a:srgbClr val="002060"/>
                  </a:solidFill>
                  <a:latin typeface="Arial"/>
                </a:rPr>
                <a:t>Host Hotel / Official Accommodation Read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38912" y="3749040"/>
              <a:ext cx="5340096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>
                  <a:solidFill>
                    <a:srgbClr val="262626"/>
                  </a:solidFill>
                  <a:latin typeface="Arial"/>
                </a:rPr>
                <a:t>•  Official hotel: ENJOY ANTOFAGASTA, Av Angamos 1455. +56 5 5265 3000.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38912" y="4005739"/>
              <a:ext cx="534009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•  Alternates (all close to venue): Holiday Inn Express</a:t>
              </a:r>
              <a:r>
                <a:rPr lang="en-US" sz="1000" dirty="0">
                  <a:solidFill>
                    <a:srgbClr val="262626"/>
                  </a:solidFill>
                  <a:latin typeface="Arial"/>
                </a:rPr>
                <a:t>. Location for USA Men’s Group</a:t>
              </a:r>
              <a:endParaRPr sz="1000" b="0" i="0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38912" y="4211812"/>
              <a:ext cx="534009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•  ENJOY is also the official briefing venue (Elite, Para, Youth, AG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2B7C63C-FD26-9E27-6925-718D1A9948A5}"/>
              </a:ext>
            </a:extLst>
          </p:cNvPr>
          <p:cNvGrpSpPr/>
          <p:nvPr/>
        </p:nvGrpSpPr>
        <p:grpSpPr>
          <a:xfrm>
            <a:off x="274320" y="4985452"/>
            <a:ext cx="6929322" cy="1526346"/>
            <a:chOff x="6217920" y="3291840"/>
            <a:chExt cx="5669280" cy="1526346"/>
          </a:xfrm>
        </p:grpSpPr>
        <p:sp>
          <p:nvSpPr>
            <p:cNvPr id="38" name="Rectangle 37"/>
            <p:cNvSpPr/>
            <p:nvPr/>
          </p:nvSpPr>
          <p:spPr>
            <a:xfrm>
              <a:off x="6217920" y="3291840"/>
              <a:ext cx="5669280" cy="152634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355080" y="3401568"/>
              <a:ext cx="539496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300" b="1" i="0">
                  <a:solidFill>
                    <a:srgbClr val="002060"/>
                  </a:solidFill>
                  <a:latin typeface="Arial"/>
                </a:rPr>
                <a:t>Food / Grocery Options Near Hotel + Venue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382512" y="3749040"/>
              <a:ext cx="53400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•  </a:t>
              </a:r>
              <a:r>
                <a:rPr lang="en-US" sz="1000" dirty="0">
                  <a:solidFill>
                    <a:srgbClr val="262626"/>
                  </a:solidFill>
                  <a:latin typeface="Arial"/>
                </a:rPr>
                <a:t>Supermarkets Brands</a:t>
              </a:r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: </a:t>
              </a:r>
              <a:r>
                <a:rPr sz="1000" b="0" i="0" dirty="0" err="1">
                  <a:solidFill>
                    <a:srgbClr val="262626"/>
                  </a:solidFill>
                  <a:latin typeface="Arial"/>
                </a:rPr>
                <a:t>Líder</a:t>
              </a:r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 / Jumbo / </a:t>
              </a:r>
              <a:r>
                <a:rPr sz="1000" b="0" i="0" dirty="0" err="1">
                  <a:solidFill>
                    <a:srgbClr val="262626"/>
                  </a:solidFill>
                  <a:latin typeface="Arial"/>
                </a:rPr>
                <a:t>Unimarc</a:t>
              </a:r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 supermarkets in central Antofagasta</a:t>
              </a:r>
              <a:r>
                <a:rPr lang="en-US" sz="1000" b="0" i="0" dirty="0">
                  <a:solidFill>
                    <a:srgbClr val="262626"/>
                  </a:solidFill>
                  <a:latin typeface="Arial"/>
                </a:rPr>
                <a:t>; Pharmacies (Cruz Verde / </a:t>
              </a:r>
              <a:r>
                <a:rPr lang="en-US" sz="1000" b="0" i="0" dirty="0" err="1">
                  <a:solidFill>
                    <a:srgbClr val="262626"/>
                  </a:solidFill>
                  <a:latin typeface="Arial"/>
                </a:rPr>
                <a:t>Salcobrand</a:t>
              </a:r>
              <a:r>
                <a:rPr lang="en-US" sz="1000" b="0" i="0" dirty="0">
                  <a:solidFill>
                    <a:srgbClr val="262626"/>
                  </a:solidFill>
                  <a:latin typeface="Arial"/>
                </a:rPr>
                <a:t>). </a:t>
              </a:r>
              <a:endParaRPr sz="1000" b="0" i="0" dirty="0">
                <a:solidFill>
                  <a:srgbClr val="262626"/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382512" y="4087368"/>
              <a:ext cx="53400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•  Hydration note: bottled / filtered water only</a:t>
              </a:r>
              <a:r>
                <a:rPr lang="en-US" sz="1000" b="0" i="0" dirty="0">
                  <a:solidFill>
                    <a:srgbClr val="262626"/>
                  </a:solidFill>
                  <a:latin typeface="Arial"/>
                </a:rPr>
                <a:t>/ </a:t>
              </a:r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Antofagasta tap water is desalinated but variable; stick to sealed bottles for race week to remove GI risk.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382512" y="4418076"/>
              <a:ext cx="53400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•  Cool-weather kit: pack warm layers + windbreaker</a:t>
              </a:r>
              <a:r>
                <a:rPr lang="en-US" sz="1000" dirty="0">
                  <a:solidFill>
                    <a:srgbClr val="262626"/>
                  </a:solidFill>
                  <a:latin typeface="Arial"/>
                </a:rPr>
                <a:t>. </a:t>
              </a:r>
              <a:r>
                <a:rPr sz="1000" b="0" i="0" dirty="0">
                  <a:solidFill>
                    <a:srgbClr val="262626"/>
                  </a:solidFill>
                  <a:latin typeface="Arial"/>
                </a:rPr>
                <a:t>July is winter; mornings can be 12–13 °C with ocean breeze.</a:t>
              </a:r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5CFF3E50-E206-178E-ADA8-28C338E04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183628"/>
            <a:ext cx="3020135" cy="34326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8DAE-49E8-622F-AE03-0544D7263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D4190A-31CC-9509-1EBC-7CBABF5470D3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FF7978-ED2A-54C5-B8C0-992BB80EEAC3}"/>
              </a:ext>
            </a:extLst>
          </p:cNvPr>
          <p:cNvSpPr txBox="1"/>
          <p:nvPr/>
        </p:nvSpPr>
        <p:spPr>
          <a:xfrm>
            <a:off x="228600" y="45720"/>
            <a:ext cx="9601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  <a:latin typeface="Arial"/>
              </a:rPr>
              <a:t>Accommodation and Training</a:t>
            </a:r>
            <a:endParaRPr sz="2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F6AE33-2CB5-A5D4-AB94-3A67A9991F22}"/>
              </a:ext>
            </a:extLst>
          </p:cNvPr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61ABA-4DC8-7006-8A17-B37901314FD8}"/>
              </a:ext>
            </a:extLst>
          </p:cNvPr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>
            <a:extLst>
              <a:ext uri="{FF2B5EF4-FFF2-40B4-BE49-F238E27FC236}">
                <a16:creationId xmlns:a16="http://schemas.microsoft.com/office/drawing/2014/main" id="{B9361169-5ADC-F72B-133E-DB34C1C53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6AEAAD-B000-972B-341C-E26941E6B791}"/>
              </a:ext>
            </a:extLst>
          </p:cNvPr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6B3E42-32B8-592D-4944-5F807C4243B1}"/>
              </a:ext>
            </a:extLst>
          </p:cNvPr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531EB-5493-ED92-292D-BE3AB38B9E34}"/>
              </a:ext>
            </a:extLst>
          </p:cNvPr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files/support/antofagasta_run_course.png
It will be embedded automatically on the next run.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92AD2-2E15-D7C7-2069-43FE183C07BC}"/>
              </a:ext>
            </a:extLst>
          </p:cNvPr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Americas Triathlon NF Information Package — Antofagasta 4–5 Jul 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424FF3-274F-6BD0-A696-1AE173F796FC}"/>
              </a:ext>
            </a:extLst>
          </p:cNvPr>
          <p:cNvSpPr/>
          <p:nvPr/>
        </p:nvSpPr>
        <p:spPr>
          <a:xfrm>
            <a:off x="6610350" y="1143000"/>
            <a:ext cx="527685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B90A14-5061-8038-DB5A-13CA0E8C48AC}"/>
              </a:ext>
            </a:extLst>
          </p:cNvPr>
          <p:cNvSpPr txBox="1"/>
          <p:nvPr/>
        </p:nvSpPr>
        <p:spPr>
          <a:xfrm>
            <a:off x="6610350" y="1252728"/>
            <a:ext cx="52768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i="0" dirty="0">
                <a:solidFill>
                  <a:srgbClr val="FFFFFF"/>
                </a:solidFill>
                <a:latin typeface="Arial"/>
              </a:rPr>
              <a:t>Week Training Guide</a:t>
            </a:r>
            <a:endParaRPr sz="2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15AB88-772F-642F-C1C7-7EDA504120A7}"/>
              </a:ext>
            </a:extLst>
          </p:cNvPr>
          <p:cNvSpPr txBox="1"/>
          <p:nvPr/>
        </p:nvSpPr>
        <p:spPr>
          <a:xfrm>
            <a:off x="6610350" y="1636776"/>
            <a:ext cx="5276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solidFill>
                  <a:srgbClr val="AABBDD"/>
                </a:solidFill>
                <a:latin typeface="Arial"/>
              </a:rPr>
              <a:t>Assumes Holiday Inn </a:t>
            </a:r>
            <a:r>
              <a:rPr lang="en-US" sz="1100" b="0" i="1" dirty="0" err="1">
                <a:solidFill>
                  <a:srgbClr val="AABBDD"/>
                </a:solidFill>
                <a:latin typeface="Arial"/>
              </a:rPr>
              <a:t>Accomodation</a:t>
            </a:r>
            <a:endParaRPr sz="1100" b="0" i="1" dirty="0">
              <a:solidFill>
                <a:srgbClr val="AABBDD"/>
              </a:solidFill>
              <a:latin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FB8BCC-E498-C1F7-68FF-978D303D3F1A}"/>
              </a:ext>
            </a:extLst>
          </p:cNvPr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B2323F-C83E-2BA0-6847-B63B1FA80D54}"/>
              </a:ext>
            </a:extLst>
          </p:cNvPr>
          <p:cNvSpPr txBox="1"/>
          <p:nvPr/>
        </p:nvSpPr>
        <p:spPr>
          <a:xfrm>
            <a:off x="6610350" y="2105683"/>
            <a:ext cx="5185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Distance from Holiday Inn to BEACH START – 1.4km or ~20 min walk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B7EE24E-5ACF-F659-AB92-9E3F47BD5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6001870" cy="4991100"/>
          </a:xfrm>
          <a:prstGeom prst="rect">
            <a:avLst/>
          </a:prstGeom>
        </p:spPr>
      </p:pic>
      <p:sp>
        <p:nvSpPr>
          <p:cNvPr id="39" name="Star: 5 Points 38">
            <a:extLst>
              <a:ext uri="{FF2B5EF4-FFF2-40B4-BE49-F238E27FC236}">
                <a16:creationId xmlns:a16="http://schemas.microsoft.com/office/drawing/2014/main" id="{21507D54-8016-46C2-6613-2C4EB71F08E4}"/>
              </a:ext>
            </a:extLst>
          </p:cNvPr>
          <p:cNvSpPr/>
          <p:nvPr/>
        </p:nvSpPr>
        <p:spPr>
          <a:xfrm>
            <a:off x="3875890" y="4567187"/>
            <a:ext cx="685800" cy="513067"/>
          </a:xfrm>
          <a:prstGeom prst="star5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F19369E1-3AD2-DAB0-8C7D-F9B03E1B8B8E}"/>
              </a:ext>
            </a:extLst>
          </p:cNvPr>
          <p:cNvSpPr/>
          <p:nvPr/>
        </p:nvSpPr>
        <p:spPr>
          <a:xfrm>
            <a:off x="2171700" y="3611880"/>
            <a:ext cx="1244600" cy="921004"/>
          </a:xfrm>
          <a:prstGeom prst="wedgeRectCallout">
            <a:avLst>
              <a:gd name="adj1" fmla="val 115463"/>
              <a:gd name="adj2" fmla="val 85321"/>
            </a:avLst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Pool Location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68BA98-5BCA-E043-F3FD-EB393B856208}"/>
              </a:ext>
            </a:extLst>
          </p:cNvPr>
          <p:cNvSpPr txBox="1"/>
          <p:nvPr/>
        </p:nvSpPr>
        <p:spPr>
          <a:xfrm>
            <a:off x="6610350" y="2404872"/>
            <a:ext cx="518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262626"/>
                </a:solidFill>
                <a:latin typeface="Arial"/>
              </a:rPr>
              <a:t>•  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Distance from Holiday Inn to OLYMPIC TRAINING POOL – 1.1km or ~</a:t>
            </a:r>
            <a:r>
              <a:rPr lang="en-US" sz="1200" dirty="0">
                <a:solidFill>
                  <a:srgbClr val="262626"/>
                </a:solidFill>
                <a:latin typeface="Arial"/>
              </a:rPr>
              <a:t>17</a:t>
            </a:r>
            <a:r>
              <a:rPr lang="en-US" sz="1200" b="0" i="0" dirty="0">
                <a:solidFill>
                  <a:srgbClr val="262626"/>
                </a:solidFill>
                <a:latin typeface="Arial"/>
              </a:rPr>
              <a:t> min walk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4F6B00-0B78-567B-68BD-6FDA62C599AB}"/>
              </a:ext>
            </a:extLst>
          </p:cNvPr>
          <p:cNvSpPr txBox="1"/>
          <p:nvPr/>
        </p:nvSpPr>
        <p:spPr>
          <a:xfrm>
            <a:off x="6610350" y="3280371"/>
            <a:ext cx="518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•  UBER Operates in Antofagasta at low prices making allowing for cheap 10 min drives to the racecourse and the training pool.</a:t>
            </a:r>
          </a:p>
        </p:txBody>
      </p:sp>
      <p:sp>
        <p:nvSpPr>
          <p:cNvPr id="50" name="Star: 5 Points 49">
            <a:extLst>
              <a:ext uri="{FF2B5EF4-FFF2-40B4-BE49-F238E27FC236}">
                <a16:creationId xmlns:a16="http://schemas.microsoft.com/office/drawing/2014/main" id="{F996AD4B-BF24-B2C6-74DF-3D601149CADD}"/>
              </a:ext>
            </a:extLst>
          </p:cNvPr>
          <p:cNvSpPr/>
          <p:nvPr/>
        </p:nvSpPr>
        <p:spPr>
          <a:xfrm>
            <a:off x="5669280" y="980415"/>
            <a:ext cx="685800" cy="513067"/>
          </a:xfrm>
          <a:prstGeom prst="star5">
            <a:avLst/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Speech Bubble: Rectangle 51">
            <a:extLst>
              <a:ext uri="{FF2B5EF4-FFF2-40B4-BE49-F238E27FC236}">
                <a16:creationId xmlns:a16="http://schemas.microsoft.com/office/drawing/2014/main" id="{AB273ECC-E497-283B-9770-40067D79A415}"/>
              </a:ext>
            </a:extLst>
          </p:cNvPr>
          <p:cNvSpPr/>
          <p:nvPr/>
        </p:nvSpPr>
        <p:spPr>
          <a:xfrm>
            <a:off x="3098800" y="1322578"/>
            <a:ext cx="1244600" cy="921004"/>
          </a:xfrm>
          <a:prstGeom prst="wedgeRectCallout">
            <a:avLst>
              <a:gd name="adj1" fmla="val 159341"/>
              <a:gd name="adj2" fmla="val -49125"/>
            </a:avLst>
          </a:prstGeom>
          <a:solidFill>
            <a:schemeClr val="tx2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Groceries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31ED9B-326B-584B-60E2-369A76F2D089}"/>
              </a:ext>
            </a:extLst>
          </p:cNvPr>
          <p:cNvSpPr txBox="1"/>
          <p:nvPr/>
        </p:nvSpPr>
        <p:spPr>
          <a:xfrm>
            <a:off x="6610350" y="2837111"/>
            <a:ext cx="51854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•  Distance from Holiday Inn to supermarket UNIMARC – 250 meters or 5 min walk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4E32DBD-C109-7109-6EC9-959AB4113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2602" y="3877056"/>
            <a:ext cx="2930818" cy="275127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1AF0A3C-07ED-3D3E-4C13-E2018F69DCA2}"/>
              </a:ext>
            </a:extLst>
          </p:cNvPr>
          <p:cNvSpPr txBox="1"/>
          <p:nvPr/>
        </p:nvSpPr>
        <p:spPr>
          <a:xfrm>
            <a:off x="6610350" y="3885516"/>
            <a:ext cx="2432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262626"/>
                </a:solidFill>
                <a:latin typeface="Arial"/>
              </a:rPr>
              <a:t>•  Race Briefing held at ENJOY Antofagasta, 3km from the Holiday Inn. Short 10-15 min drive through the center of town. </a:t>
            </a:r>
          </a:p>
        </p:txBody>
      </p:sp>
    </p:spTree>
    <p:extLst>
      <p:ext uri="{BB962C8B-B14F-4D97-AF65-F5344CB8AC3E}">
        <p14:creationId xmlns:p14="http://schemas.microsoft.com/office/powerpoint/2010/main" val="2091498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Antofagasta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2662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6,703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Diego Moya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2,904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Manoel Messias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Mathis Beaulieu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2,213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Martin Sobey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2,065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Liam Donnelly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1,726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904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1,607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480974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48280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212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Ranked on Startlist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965960"/>
          <a:ext cx="5486400" cy="2662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Maria Carolina Velasquez Soto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Djenyfer Arnold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2,458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Rosa Maria Tapia Vidal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1,988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Ana Maria Valentina Torres Gomez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1,840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Rosa Elena Martinez Melchior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1,639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90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Giovanna Lacerda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1,595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904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1,479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217920" y="4809744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60" y="482803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Returning Podium Athletes on Startlist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22122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262626"/>
                </a:solidFill>
                <a:latin typeface="Arial"/>
              </a:rPr>
              <a:t>No prior race history at this 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BFBFBF"/>
                </a:solidFill>
                <a:latin typeface="Arial"/>
              </a:rPr>
              <a:t>Rankings = </a:t>
            </a:r>
            <a:r>
              <a:rPr lang="en-US" sz="900" b="0" i="1" dirty="0">
                <a:solidFill>
                  <a:srgbClr val="BFBFBF"/>
                </a:solidFill>
                <a:latin typeface="Arial"/>
              </a:rPr>
              <a:t>latest local database snapshot. Updated weekly</a:t>
            </a:r>
            <a:endParaRPr sz="900" b="0" i="1" dirty="0">
              <a:solidFill>
                <a:srgbClr val="BFBFB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Swim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40312" cy="3200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2060"/>
                </a:solidFill>
                <a:latin typeface="Arial"/>
              </a:rPr>
              <a:t>Ranked by EWMA swim features from the elite prediction model   •   Front Pack % → Avg Gap → EWMA split   •   Distance: Standard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82880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Ramón Armando Matute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+8.2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Kauê Willy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Chris Gregor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+25.7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Diego Moya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Yhousman David Perdomo Peña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+17.7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Alvaro Campos Solano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79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79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79" y="182880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Caroline Theil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Vittoria Lopes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Moira Miranda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+16.3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Macarena Salazar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Leslie Amat Alvarez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Paula Vega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MEN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4389120"/>
          <a:ext cx="5806436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David Vega Campoverde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Nicolas Probert Vargas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Dixon Hernandez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João Vitor Mazorca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 Ubilla Sabada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Alfredo Miguel Rodríguez Figueroa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26479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79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WOMEN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26479" y="4389120"/>
          <a:ext cx="5806436" cy="2237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5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Sidney Clement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20:02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Yaniuska Mared Jimenez Arriechi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11:25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Alexandra Campbell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+26.1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Jimena Renata De La Peña Schott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Shelby Lajeunesse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+31.0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Maria De Los Angeles Bonilla Garcia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World Rankings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2026-06-22   •   World Triathlon Rankings   •   Heading into Antofagasta   •   Race tier: Continental Championships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Max Points Available at this 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590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1804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87524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Podium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7524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464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9288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5008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5008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363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6772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2492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2492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234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4256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9976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9976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158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11740" y="1984248"/>
            <a:ext cx="1802892" cy="50292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57460" y="2011680"/>
            <a:ext cx="17114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7460" y="2185416"/>
            <a:ext cx="17114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107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060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2935224"/>
          <a:ext cx="5806437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3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7741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15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79" y="26060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26479" y="26334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26479" y="2935224"/>
          <a:ext cx="5806437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3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2,101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▲2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1,231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▼2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Katie McCune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BFBFBF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Jimena Renata De La Peña Schott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 dirty="0">
                          <a:solidFill>
                            <a:srgbClr val="1B7F3A"/>
                          </a:solidFill>
                          <a:latin typeface="Arial"/>
                        </a:rPr>
                        <a:t>▲34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Olympic Qualification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66446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Arial"/>
              </a:rPr>
              <a:t>Paris 2024 OQR cutoff (30th): 3,626.69 pts   ÷   12-event cap =   302 pts / event on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584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AABBDD"/>
                </a:solidFill>
                <a:latin typeface="Arial"/>
              </a:rPr>
              <a:t>An athlete who averages ~302 pts per event across their best 12 events is on pace to clear the LA 2028 qualifying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1229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83972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FINISH POSITION AT EACH TIER THAT HITS 302-PT PACE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196338"/>
          <a:ext cx="11640312" cy="1405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9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6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Win pts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Last on-pace pos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First off-pace pos (pts)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#17 (287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#8 (290 pts)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Championships (Americas)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#7 (296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950" b="0" i="0" dirty="0">
                          <a:solidFill>
                            <a:srgbClr val="262626"/>
                          </a:solidFill>
                          <a:latin typeface="Arial"/>
                        </a:rPr>
                        <a:t>Continental Cup (Americas)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dirty="0">
                          <a:solidFill>
                            <a:srgbClr val="262626"/>
                          </a:solidFill>
                          <a:latin typeface="Arial"/>
                        </a:rPr>
                        <a:t>None (win = 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 dirty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 dirty="0">
                          <a:solidFill>
                            <a:srgbClr val="C00000"/>
                          </a:solidFill>
                          <a:latin typeface="Arial"/>
                        </a:rPr>
                        <a:t>Not achievable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74320" y="35737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36012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MEN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3893820"/>
          <a:ext cx="5806432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3,209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4,749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3,758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2,545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2,159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1,724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26479" y="35737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79" y="36012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WOMEN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26487" y="3885692"/>
          <a:ext cx="5806432" cy="248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1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4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7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 dirty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 dirty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 dirty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 dirty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 dirty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 dirty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 dirty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 dirty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2,975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 dirty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2,178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 dirty="0">
                          <a:solidFill>
                            <a:srgbClr val="262626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 dirty="0">
                          <a:solidFill>
                            <a:srgbClr val="262626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 dirty="0">
                          <a:solidFill>
                            <a:srgbClr val="262626"/>
                          </a:solidFill>
                          <a:latin typeface="Arial"/>
                        </a:rPr>
                        <a:t>1,353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258"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 dirty="0">
                          <a:solidFill>
                            <a:srgbClr val="262626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6380226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 dirty="0">
                <a:solidFill>
                  <a:srgbClr val="BFBFBF"/>
                </a:solidFill>
                <a:latin typeface="Arial"/>
              </a:rPr>
              <a:t>Current early-cycle rank-30 line:  Men #30: Luke Willian = 459 pts   •   Women #30: Marcela Alvarez Solis = 396 pts   (low because LA 2028 cycle is just opening — Paris cutoff 3,627 pts is the 3-year benchmark)
On-pace = events scoring ≥302 pts. Off-pace = events &lt;302 pts. Pace = total breakdown pts ÷ events raced. </a:t>
            </a:r>
            <a:r>
              <a:rPr sz="800" b="0" i="1" dirty="0" err="1">
                <a:solidFill>
                  <a:srgbClr val="BFBFBF"/>
                </a:solidFill>
                <a:latin typeface="Arial"/>
              </a:rPr>
              <a:t>Proj</a:t>
            </a:r>
            <a:r>
              <a:rPr sz="800" b="0" i="1" dirty="0">
                <a:solidFill>
                  <a:srgbClr val="BFBFBF"/>
                </a:solidFill>
                <a:latin typeface="Arial"/>
              </a:rPr>
              <a:t> @12 = pace × 12-event cap (green if ≥ Paris cutoff).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Olympic Qualification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Antofagasta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002060"/>
                </a:solidFill>
                <a:latin typeface="Arial"/>
              </a:rPr>
              <a:t>As of</a:t>
            </a:r>
            <a:r>
              <a:rPr lang="en-US" sz="1200" b="1" i="0" dirty="0">
                <a:solidFill>
                  <a:srgbClr val="002060"/>
                </a:solidFill>
                <a:latin typeface="Arial"/>
              </a:rPr>
              <a:t> Week</a:t>
            </a:r>
            <a:r>
              <a:rPr sz="1200" b="1" i="0" dirty="0">
                <a:solidFill>
                  <a:srgbClr val="002060"/>
                </a:solidFill>
                <a:latin typeface="Arial"/>
              </a:rPr>
              <a:t> 2026-06-20   •   Olympic Qualification Rankings (LA 2028 cycle)   •   Heading into Antofagasta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719072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020824"/>
          <a:ext cx="578802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0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solidFill>
                            <a:srgbClr val="FFFFFF"/>
                          </a:solidFill>
                          <a:latin typeface="Arial"/>
                        </a:rPr>
                        <a:t>Second</a:t>
                      </a:r>
                      <a:endParaRPr sz="900" b="1" i="0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solidFill>
                            <a:srgbClr val="FFFFFF"/>
                          </a:solidFill>
                          <a:latin typeface="Arial"/>
                        </a:rPr>
                        <a:t>First</a:t>
                      </a:r>
                      <a:endParaRPr sz="900" b="1" i="0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 dirty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79" y="1691640"/>
            <a:ext cx="5806440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79" y="1773936"/>
            <a:ext cx="5806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78" y="2020824"/>
          <a:ext cx="578802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32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solidFill>
                            <a:srgbClr val="FFFFFF"/>
                          </a:solidFill>
                          <a:latin typeface="Arial"/>
                        </a:rPr>
                        <a:t>Second</a:t>
                      </a:r>
                      <a:endParaRPr sz="900" b="1" i="0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solidFill>
                            <a:srgbClr val="FFFFFF"/>
                          </a:solidFill>
                          <a:latin typeface="Arial"/>
                        </a:rPr>
                        <a:t>First</a:t>
                      </a:r>
                      <a:endParaRPr sz="900" b="1" i="0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i="0" dirty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28600" y="6377432"/>
            <a:ext cx="116403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 dirty="0">
                <a:solidFill>
                  <a:srgbClr val="BFBFBF"/>
                </a:solidFill>
                <a:latin typeface="Arial"/>
              </a:rPr>
              <a:t>Rankings: </a:t>
            </a:r>
            <a:r>
              <a:rPr lang="en-US" sz="800" i="1" dirty="0">
                <a:solidFill>
                  <a:srgbClr val="BFBFBF"/>
                </a:solidFill>
                <a:latin typeface="Arial"/>
              </a:rPr>
              <a:t>L</a:t>
            </a:r>
            <a:r>
              <a:rPr sz="800" b="0" i="1" dirty="0">
                <a:solidFill>
                  <a:srgbClr val="BFBFBF"/>
                </a:solidFill>
                <a:latin typeface="Arial"/>
              </a:rPr>
              <a:t>atest weekly snapshot.   Curr / Prev = events scoring in Year 2 vs Year 1 of the LA 2028 OQR cycle (results show as Period 'First' in the per-race breakdown). All current results are in Year 1 because we are still inside the first year of the qualifying window, so points appear under 'Prev'..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3176</Words>
  <Application>Microsoft Office PowerPoint</Application>
  <PresentationFormat>Custom</PresentationFormat>
  <Paragraphs>1032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High</dc:creator>
  <cp:keywords/>
  <dc:description>generated using python-pptx</dc:description>
  <cp:lastModifiedBy>John High</cp:lastModifiedBy>
  <cp:revision>6</cp:revision>
  <dcterms:created xsi:type="dcterms:W3CDTF">2013-01-27T09:14:16Z</dcterms:created>
  <dcterms:modified xsi:type="dcterms:W3CDTF">2026-06-24T18:32:41Z</dcterms:modified>
  <cp:category/>
</cp:coreProperties>
</file>