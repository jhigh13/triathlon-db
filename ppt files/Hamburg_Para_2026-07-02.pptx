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430000" y="0"/>
            <a:ext cx="758952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749039"/>
            <a:ext cx="107899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9202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</a:rPr>
              <a:t>HAMBURG RACE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BBDD"/>
                </a:solidFill>
                <a:latin typeface="Arial"/>
              </a:rPr>
              <a:t>Elite Analysis  ·  July 9 – 12,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090B0"/>
                </a:solidFill>
                <a:latin typeface="Arial"/>
              </a:rPr>
              <a:t>USA Triathlon High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Week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July 9 – 12, 2026   •   Rathausmarkt / Binnenalster, Hamburg, Germany (CEST, UTC+2)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Thu • July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Athlete Check-In / Open Training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240280"/>
          <a:ext cx="2738627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/>
                <a:gridCol w="1752721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Athlete check-in and registration — TBD per athlete guide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 / bike / run open training windows — TBD per athlete guide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241548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2988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Fri • July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2988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Familiarization &amp; Briefing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41548" y="2240280"/>
          <a:ext cx="2738627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/>
                <a:gridCol w="1752721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Course familiarization — swim, bike, run circuits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Mandatory Elite athlete briefing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Race package distribution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208776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Sat • July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ELITE SPRINT RACE DAY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08776" y="2240280"/>
          <a:ext cx="2738627" cy="653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/>
                <a:gridCol w="1752721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11:30 – 12:45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athletes' lounge check-in +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12:15 – 13:00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swim warm-up + transition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13:15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~14:06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— projected finish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Men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13:45 – 14:45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athletes' lounge check-in + warm-up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14:15 – 14:55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swim warm-up + transition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athletes' introduction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15:00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ELITE WOMEN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~15:55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— projected finish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16:05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Elite Women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Evening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team declaration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9176004" y="1691640"/>
            <a:ext cx="2738628" cy="4572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7444" y="1728216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Sun • July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44" y="1929384"/>
            <a:ext cx="25557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AABBDD"/>
                </a:solidFill>
                <a:latin typeface="Arial"/>
              </a:rPr>
              <a:t>Mixed Relay Day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9176004" y="2240280"/>
          <a:ext cx="2738627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906"/>
                <a:gridCol w="1752721"/>
              </a:tblGrid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team managers' meeting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17:30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 i="0">
                          <a:solidFill>
                            <a:srgbClr val="C00000"/>
                          </a:solidFill>
                          <a:latin typeface="Arial"/>
                        </a:rPr>
                        <a:t>★ MIXED RELAY START</a:t>
                      </a:r>
                    </a:p>
                  </a:txBody>
                  <a:tcPr>
                    <a:solidFill>
                      <a:srgbClr val="FDECEC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~18:45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projected finish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Post-finish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Mixed Relay medals ceremony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274320" y="635508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Times Rathausmarkt / Binnenalster, Hamburg, Germany (CEST, UTC+2). Schedule confirmed from World Triathlon race-info page / athlete guide; subject to organiser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Course Differentiators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972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2060"/>
                </a:solidFill>
                <a:latin typeface="Arial"/>
              </a:rPr>
              <a:t>HAMBURG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27632"/>
            <a:ext cx="6035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WTCS Hamburg is one of the sport's flagship city-center races, set in the heart of Hamburg along the Binnenalster and the historic Rathausmarkt. The sprint format — 750 m Alster swim, 6 × 3.3 km technical urban bike, 2 × 5 km flat run — rewards athletes who can handle high-frequency cornering on the bike and sustain race pace on fresh legs off a large pack. Hamburg has hosted elite triathlon since 2008 and consistently delivers fast, tactical racing in front of one of the largest crowds on the WTCS calendar.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971800"/>
            <a:ext cx="603504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990088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383280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Sheltered 750 m Binnenalster swim — flat calm fresh water, pontoon start, non-wetsuit typical in July.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41648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6 × 3.3 km urban bike (19.8 km) — flat but highly technical with multiple turns; large packs 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700016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2 × 5 km flat run through city-center streets — fast finishing conditions, cobblestone sections.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358384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•  Elite Men 13:15 / Elite Women 15:00 Saturday July 11. Mixed Relay Sunday July 12.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1155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COURSE AT A GLANCE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Swim: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750 m – 1 lap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8470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8470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19.8 km – 6 laps × 3.3 km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185415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8541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10 km – 2 laps × 5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237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Format: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523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Sprint Triathlon (WTCS)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Bike Laps: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8620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060"/>
                </a:solidFill>
                <a:latin typeface="Arial"/>
              </a:rPr>
              <a:t>Run Laps: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657600"/>
            <a:ext cx="530352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675887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QUICK LINKS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069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Arial"/>
              </a:rPr>
              <a:t>Current Race Info: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3708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62626"/>
                </a:solidFill>
                <a:latin typeface="Arial"/>
              </a:rPr>
              <a:t>Race Info | 2026 World Triathlon Championship Series Hamburg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Course Profile &amp;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upcoming course map or race photo here]
Right-click → Replace Image, or paste screenshot
of the World Triathlon course map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2026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[PLACEHOLDER: World Triathlon event page URL]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15568"/>
            <a:ext cx="5669280" cy="33375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488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[PLACEHOLDER: Insert previous year course map or race photo here]
Right-click → Replace Image, or paste screenshot
of the World Triathlon course map PDF.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07992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2025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773168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https://www.triathlon.org/events/event/2025_world_triathlon_championship_series_hamburg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956048"/>
          <a:ext cx="116403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554480"/>
                <a:gridCol w="914400"/>
                <a:gridCol w="7708392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Discipline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Laps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Terrain / Notes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Swim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Open-water, Bay of Hamburg]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Bike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19.8 km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coastal road circuit, closed course]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5.0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[PLACEHOLDER: e.g. Flat multi-lap, cobblestone city-centre finish]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swim course map here]
Save the organiser map as:
ppt files/support/hamburg_swim_course.png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750 m   •   single lap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Sheltered urban lake — fresh water, calm conditions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750 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Binnenalster / Kleine Alster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Pontoon start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Water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18.0–22.0 °C (expected)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Wetsuit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Likely non-wetsuit (20 °C)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Single 750 m loop in the sheltered Binnenalster / Kleine Alster — flat, calm, navigation-friendly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Pontoon start into the Alster canal — fast, mass-start entry with good visibility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Fresh water lake in city center — no ocean chop, swell, or current; pure positioning swim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July morning water mid-to-high teens Celsius — bring both wetsuit options; decision made day-of per WT measurement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Short run into T1 from the Alster exit ramp — transition area directly adjacent to city hall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29184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course map here]
Save the organiser course map as:
ppt files/support/hamburg_bike_course.png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19.8 km   •   6 × 3.3 km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urban circuit — Rathausmarkt, Alsterufer, Jungfernstieg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Elevation / Lap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Flat (no data)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Climb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City-center setting — generally sheltered, variable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Loops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62626"/>
                </a:solidFill>
                <a:latin typeface="Arial"/>
              </a:rPr>
              <a:t>6 × 3.3 km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70332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73075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Implications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06908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6 × 3.3 km laps (19.8 km total) around Hamburg's city center — one of the most technical WTCS bike courses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36168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Pancake-flat throughout, but high-frequency turns through Rathausmarkt and along the Alster reward bike-handling over raw power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65429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Drafting packs form easily on the long straights; Hamburg historically produces large lead packs of 30+ athletes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94690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Cobblestone sections near the Rathaus and Jungfernstieg add vibration load — check tire pressure pre-race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3951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Wheel station on each lap — mark position early; packs do not slow for late changes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120640"/>
            <a:ext cx="11640312" cy="141732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FBFBF"/>
                </a:solidFill>
                <a:latin typeface="Arial"/>
              </a:rPr>
              <a:t>Flat course — published profile shows no significant climbs.
No elevation chart synthesized; if a race GPS FIT becomes available, real contours will replace this block.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Course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120640" cy="38404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FBFBF"/>
                </a:solidFill>
                <a:latin typeface="Arial"/>
              </a:rPr>
              <a:t>[Drop run course map here]
Save the organiser map as:
ppt files/support/hamburg_run_course.png
It will be embedded automatically on the next run.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02920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Source: World Triathlon race info — 2026 WTCS Hamburg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143000"/>
            <a:ext cx="6309360" cy="822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25272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10.0 km   •   2 × 5.0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36776"/>
            <a:ext cx="6309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Closed urban — Rathausmarkt, Alsterarkaden, city hall precinct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10.0 km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8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Lap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2 × 5.0 km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2103120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13969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Total Climb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23408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2356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Avg Grade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Max ▲ /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Not published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29800" y="2816352"/>
            <a:ext cx="2011680" cy="64008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0" y="28529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Heat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305409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LOW–MODERATE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11880"/>
            <a:ext cx="63093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363931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Tactical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977640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2 × 5 km laps through Hamburg's historic city center — flat, fast, spectator-dense course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270248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Cobblestone sections on Rathausmarkt and adjacent squares add vibration; stay relaxed in the upper body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562856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Wide avenues on most of the loop allow for tactical racing and late-race surges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855464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13:15 / 15:00 summer starts — July Hamburg averages ~22 °C, manageable but warm; aid stations every lap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148072"/>
            <a:ext cx="6126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Arial"/>
              </a:rPr>
              <a:t>•  Penalty box positioned at the finish area — drafting tickets from the bike carry into the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Travel &amp; Arrival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Denver, CO → Hamburg race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960120"/>
          </a:xfrm>
          <a:prstGeom prst="rect">
            <a:avLst/>
          </a:prstGeom>
          <a:solidFill>
            <a:srgbClr val="E9EFF9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6128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Core travel 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62626"/>
                </a:solidFill>
                <a:latin typeface="Arial"/>
              </a:rPr>
              <a:t>Denver → Hamburg requires one or two stops — typical routes connect through London (LHR), Amsterdam (AMS), Frankfurt (FRA), or Paris (CDG) before the short onward hop into Hamburg (HAM). Lufthansa and United operate the most athlete-friendly itineraries from DEN. CEST (UTC+2) is 8 hours ahead of MDT, so plan 3–4 days of pre-race arrival to manage jet lag. Hamburg Airport (HAM) is 10 km from the city center — taxi/rideshare ~20 min, S-Bahn line S1 links the airport to the Hauptbahnhof in ~25 min. Most WTCS hotels sit within 1–2 km of the Alster.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Primary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DEN → 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1–2 stops (FRA/AMS/LHR typical)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29814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2966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Flight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2966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~14–16h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966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Including layover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5308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8460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Time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8460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+8h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58460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CEST ahead of MDT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40803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3955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Airport Transfer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955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HAM → City 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13955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S-Bahn S1 ~25 min or taxi ~20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6297" y="2240280"/>
            <a:ext cx="2218334" cy="86868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9449" y="2286000"/>
            <a:ext cx="20720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Arial"/>
              </a:rPr>
              <a:t>Transfer 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9449" y="2496312"/>
            <a:ext cx="207203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62626"/>
                </a:solidFill>
                <a:latin typeface="Arial"/>
              </a:rPr>
              <a:t>~10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9449" y="2807208"/>
            <a:ext cx="207203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HAM Airport to Binnenalster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Host Hotel / Official Accommodation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Historic WTCS host hotels cluster along the Außenalster and inner city: Radisson Blu, Fairmont Hotel Vier Jahreszeiten, and NH Hotels are common LOC choices.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Binnenalster / Rathausmarkt area gives walking distance to transition — no shuttle needed for pre-race check-in or familiarization.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City centre parking is limited and expensive — most athletes walk or use S-Bahn from the hotel to the venue.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Check the official 2026 WTCS Hamburg athlete guide (typically released 2–3 weeks prior) for confirmed host hotel and rate codes.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91840"/>
            <a:ext cx="566928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40156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2060"/>
                </a:solidFill>
                <a:latin typeface="Arial"/>
              </a:rPr>
              <a:t>Food / Grocery Options Near Hotel + Venue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749040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Best stock-up: REWE, Edeka, or Aldi branches within 10 min walk of the Binnenalster area; Hamburger Str / Mönckebergstraße corridor has most options.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059936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Quick basics: dm (pharmacy/snack), Starbucks, Backwerk, and bakeries throughout the Rathausmarkt pedestrian zone.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370832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Athlete-friendly meals: Zum Alten Rathaus, Block House (Hamburg chain, reliable protein), and Superkitchen near the Alster area.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681728"/>
            <a:ext cx="5340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 Race-morning note: T1 / transition area is surrounded by city center — café and bakery options open early for race-morning breakfast.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Environmental Risk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70432"/>
          <a:ext cx="470915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190"/>
                <a:gridCol w="800557"/>
                <a:gridCol w="894740"/>
                <a:gridCol w="800557"/>
                <a:gridCol w="800557"/>
                <a:gridCol w="800557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Wind km/h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Precip mm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15.0°*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14.5°*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15.5°*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24.4°*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74320" y="1078992"/>
            <a:ext cx="4709160" cy="914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45720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RACE-DAY WEATHER (08:00–11:00 local)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166360" y="1170432"/>
          <a:ext cx="406907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9738"/>
                <a:gridCol w="823504"/>
                <a:gridCol w="726621"/>
                <a:gridCol w="823504"/>
                <a:gridCol w="1065711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PM2.5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EU AQI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UV Index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5.7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Fair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12080" y="1088136"/>
            <a:ext cx="39319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2060"/>
                </a:solidFill>
                <a:latin typeface="Arial"/>
              </a:rPr>
              <a:t>AIR QUALITY (Open-Meteo archive)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67912"/>
            <a:ext cx="11640312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8862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HEALTH &amp; WATER QUALITY RISK FACTORS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5196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Quality: [PLACEHOLDER: Historical water quality data for Hamburg — e.g. bacterial counts, EU Bathing Water Directive status, known algae / pollution events. Check local environmental agency reports for May race window.]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5775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Athlete Health Incidents: [PLACEHOLDER: Any known GI illness, respiratory, or heat-related incidents at this or comparable venues. E.g. Sunderland 2023 — reported GI illness post-swim for multiple athletes.]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46354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Water Temperature: [PLACEHOLDER: Historical open-water temperature for Hamburg in May (not available from Open-Meteo; check Copernicus Marine / NOAA or WT historical results).]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069330"/>
            <a:ext cx="11430000" cy="605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62626"/>
                </a:solidFill>
                <a:latin typeface="Arial"/>
              </a:rPr>
              <a:t>• Heat / Humidity Risk: Auto-derived from above table — flag if humidity &gt;70% or air temp &gt;25°C at race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Weather and AQ data: Open-Meteo historical archive (archive-api.open-meteo.com). EU AQI: Good ≤20, Fair ≤40, Moderate ≤60, Poor ≤80, Very Poor &gt;80.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Who to Watch — Hamburg Race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by World Ranking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Vasco Vilaca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Miguel Hidalgo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6,703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Matthew 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Henry Graf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5,726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David Cantero Del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Csongor Lehmann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5,030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Dorian Coninx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Luke Willian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Ricardo Batista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5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Alessio Crociani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3,921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5056632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074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Last Year's Podium at Hamburg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422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Matthew Hauser   (00:50:07)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715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2.  Vasco Vilaca   (00:50:14)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076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Alessio Crociani   (00:50:36)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669280" cy="3657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2344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664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Top 10 by World Ranking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17920" y="1965960"/>
          <a:ext cx="5486400" cy="2907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1463040"/>
              </a:tblGrid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Beth Potter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7,399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Lisa Tertsch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6,914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Jeanne Lehair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6,295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Leonie Periault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6,170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Cassandre 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Jolien Vermeylen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5,111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Emma Lombardi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4,767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64344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Diana Isakova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352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Bianca Seregni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4,659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217920" y="5056632"/>
            <a:ext cx="5669280" cy="2743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507492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Last Year's Podium at Hamburg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4223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Arial"/>
              </a:rPr>
              <a:t>1.  Leonie Periault   (00:56:25)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71500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2.  Cassandre Beaugrand   (00:56:29)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60076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3.  Beth Potter   (00:56:32)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446520"/>
            <a:ext cx="11640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BFBFBF"/>
                </a:solidFill>
                <a:latin typeface="Arial"/>
              </a:rPr>
              <a:t>Rankings = current World Triathlon rankings snapshot; startlist intersect uses program_entries when available.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Top Swim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11640312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15568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Arial"/>
              </a:rPr>
              <a:t>Ranked by EWMA swim split (span-5, most recent)   •   Lead Pack % = within 15 s of swim leader   •   WTCS / Championship Finals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82880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Jan Diener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Kauê Willy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Gjalt Panjer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Kyle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+28.0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8:53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Jannik Schaufler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Brayden Mercer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James Edgar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80" y="150876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53619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182880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Cecilia Perez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Carlotta Missaglia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Karolina Helga Horváth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Sandra Dodet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+40.5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Nele Dequae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+50.0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9:56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Margot Garabedian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+25.5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Julia Bröcker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+34.7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10:09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27432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MEN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274320" y="438912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Pavel Sorokin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Jules Rethoret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Esteban Basanta Fouz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Mitch Kolkman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Nicolas Probert Vargas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+27.5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17:54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Sebastian Wernersen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+22.0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Alessio Crociani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6126480" y="40690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40965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U23 WOMEN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26480" y="4389120"/>
          <a:ext cx="5807351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985"/>
                <a:gridCol w="1902866"/>
                <a:gridCol w="1025042"/>
                <a:gridCol w="1025042"/>
                <a:gridCol w="975664"/>
                <a:gridCol w="536752"/>
              </a:tblGrid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Lead Pack %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Avg Gap (s)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EWMA Swim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Tara Sosinski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Angelica Prestia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18:48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Sophia Howell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Selina Klamt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+19.5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Jessica Fullagar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+20.0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Ilona Hadhoum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00206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Heidi Juránková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+45.5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BFBFBF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World Rankings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2026-07-06   •   World Triathlon Rankings   •   Heading into Hamburg   •   Race tier: WTCS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Max Points Available at this Race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Arial"/>
              </a:rPr>
              <a:t>1,000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2108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42108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Podium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2108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855 pts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9896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9896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9896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732 pts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7684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7684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7684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495 pts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5472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45472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5472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Arial"/>
              </a:rPr>
              <a:t>335 pts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13260" y="1984248"/>
            <a:ext cx="1803196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13260" y="2011680"/>
            <a:ext cx="18031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Arial"/>
              </a:rPr>
              <a:t>Top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13260" y="2185416"/>
            <a:ext cx="18031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FBFBF"/>
                </a:solidFill>
                <a:latin typeface="Arial"/>
              </a:rPr>
              <a:t>227 pts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74320" y="2935224"/>
          <a:ext cx="578723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45743"/>
                <a:gridCol w="662940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3,147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Morgan Pearson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1,748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Darr Smith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Luke Anthony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Matthew McGoey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80" y="26060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6334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26480" y="2935224"/>
          <a:ext cx="5787236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45743"/>
                <a:gridCol w="662940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Curr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Prev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2,432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Erika Ackerlund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1,988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1,858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1,479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1,253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Ellison Wolfe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Katie McCune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Olympic Qualification 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66476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88720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Paris 2024 OQR cutoff (30th): 3,626.69 pts   ÷   12-event cap =   302 pts / event on 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458468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BBDD"/>
                </a:solidFill>
                <a:latin typeface="Arial"/>
              </a:rPr>
              <a:t>An athlete who averages ~302 pts per event across their best 12 events is on pace to clear the LA 2028 qualifying threshold.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2340"/>
            <a:ext cx="11640312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39772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FINISH POSITION AT EACH TIER THAT HITS 302-PT PACE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2196388"/>
          <a:ext cx="1164030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9178"/>
                <a:gridCol w="1375257"/>
                <a:gridCol w="2200046"/>
                <a:gridCol w="2749600"/>
                <a:gridCol w="916228"/>
              </a:tblGrid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Win pts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Last on-pace pos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First off-pace pos (pts)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1000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#17 (287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World Cup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#8 (290 pts)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Championships (Americas)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#9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#10 (293 pts)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1B7F3A"/>
                          </a:solidFill>
                          <a:latin typeface="Arial"/>
                        </a:rPr>
                        <a:t>Top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Continental Cup (Americas)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Arial"/>
                        </a:rPr>
                        <a:t>None (win = 280)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Arial"/>
                        </a:rPr>
                        <a:t>Not achievable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7432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MEN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3931920"/>
          <a:ext cx="58064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920240"/>
                <a:gridCol w="731520"/>
                <a:gridCol w="502920"/>
                <a:gridCol w="411480"/>
                <a:gridCol w="411480"/>
                <a:gridCol w="685800"/>
                <a:gridCol w="731520"/>
              </a:tblGrid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3,059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3,209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2,621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Cole Jamieson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2,038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126480" y="3611880"/>
            <a:ext cx="5806440" cy="2743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639312"/>
            <a:ext cx="5806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USA WOMEN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26480" y="3931920"/>
          <a:ext cx="58064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920240"/>
                <a:gridCol w="731520"/>
                <a:gridCol w="502920"/>
                <a:gridCol w="411480"/>
                <a:gridCol w="411480"/>
                <a:gridCol w="685800"/>
                <a:gridCol w="731520"/>
              </a:tblGrid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Races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On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Off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Pace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Proj @12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4,226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6,953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3,114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5,949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5,526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2,014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1B7F3A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C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0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750" b="1" i="0">
                          <a:solidFill>
                            <a:srgbClr val="262626"/>
                          </a:solidFill>
                          <a:latin typeface="Arial"/>
                        </a:rPr>
                        <a:t>1,353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274320" y="64190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On = events scoring ≥ pace.  Off = events &lt; pace.  Pace = total breakdown pts ÷ events raced.  Proj @12 = current total + (avg pts × remaining events to cap); green if ≥ Paris cutoff.  Cutoff estimate: Paris 2024 = 3,627 pts / 12 events = 302 pts/event.  Tier positions use a geometric 0.925 points model.  Source: World Triathlon rankings database.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USA Olympic Qualification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11640312" cy="3840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2060"/>
                </a:solidFill>
                <a:latin typeface="Arial"/>
              </a:rPr>
              <a:t>As of 2026-07-06   •   Olympic Qualification Rankings (LA 2028 cycle)   •   Heading into Hamburg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916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7190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020824"/>
          <a:ext cx="5787236" cy="291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36599"/>
                <a:gridCol w="672084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Second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Reese Vannerson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Chase McQueen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Sullivan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677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John Reed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Braxton Legg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Seth Rider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Keller Norland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Blake Bullard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Zach Leachman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Cole Jamieson 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Porter Middaugh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Carter Stuhlmacher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126480" y="1691640"/>
            <a:ext cx="5788152" cy="2926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719072"/>
            <a:ext cx="57881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126480" y="2020824"/>
          <a:ext cx="5787236" cy="291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640"/>
                <a:gridCol w="2531973"/>
                <a:gridCol w="1136599"/>
                <a:gridCol w="672084"/>
                <a:gridCol w="662940"/>
              </a:tblGrid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Athlete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Points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Second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First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Danielle Orie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1,146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Knibb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921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Gina Sereno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Taylor Spivey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Eleanor Beveridge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Gwen Jorgensen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Kelly Wetteland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Naomi Ruff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Rachel Werking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Joy Gill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Kirsten Kasper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 wrap="none"/>
                    <a:lstStyle/>
                    <a:p>
                      <a:pPr algn="ctr"/>
                      <a:r>
                        <a:rPr sz="850" b="1" i="0">
                          <a:solidFill>
                            <a:srgbClr val="262626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Michelle Magnani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4320" y="6419088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BFBFBF"/>
                </a:solidFill>
                <a:latin typeface="Arial"/>
              </a:rPr>
              <a:t>Rankings: latest weekly snapshot.  Second / First = events counted in the second vs first scoring period of the LA 2028 OQR cycle.  Because the cycle is still in its first year, most results appear under First.  Source: World Triathlon rankings database.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HAMBURG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Men race at Hamburg has been held 8 times in this analysis window (2018–2025). Hayden Wilde is the most successful athlete in this span with 2 victories. The event is staged as part of the World Championship Series / World Championships, World Championship Series calendar.
[PLACEHOLDER: Add 1–2 sentences on notable storylines, competitive history, or what makes this event significant for Elite 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Swim positioning matters — an average of 18 athletes exit the water within 15 sec of the leader. Entering the bike in the front pack is critical; conserve energy with a disciplined swim line rather than sprinting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~1:18/km with a ~60s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Mola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Birtwhistle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55:09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15.0°*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Luis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49:13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14.5°*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Hellwig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15.5°*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Wilde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Series, Age-Group Event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Wilde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19:26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24.4°*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Hauser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50:03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Hauser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50:07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62s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2018: 8 DNF/LAP (1 in lead group at t1)  |  2019: 8 DNF/LAP  |  2020: 6 DNF/LAP (1 in lead group at t1)  |  2021: 2 DNF/LAP  |  2022: 1 DNF/LAP  |  2024: 5 DNF/LAP (1 in lead group at t1)  |  2025: 6 DNF/LAP (1 in lead group at t1)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53:29
+5s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53:32
+8s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53:42
+18s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53:57
+33s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54:11
+47s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55:10
+1s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55:13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55:17
+8s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55:45
+36s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56:01
+52s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49:15
+2s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49:18
+5s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49:24
+11s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49:42
+29s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50:08
+55s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53:09
+1s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53:12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53:25
+17s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53:51
+43s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53:13
+3s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53:26
+16s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53:36
+26s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53:43
+33s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54:05
+55s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19:28
+2s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19:28
+2s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19:33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19:52
+26s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21:48
+142s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50:09
+6s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50:10
+7s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50:19
+16s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50:41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51:11
+68s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50:14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50:36
+29s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50:47
+40s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51:13
+66s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51:43
+96s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15.0°*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14.5°*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15.5°*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24.4°*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384048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Arial"/>
              </a:rPr>
              <a:t>ELITE WOMEN</a:t>
            </a:r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5760720"/>
            <a:ext cx="18288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Overview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6400800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1556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RACE HISTORY AT HAMBURG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508760"/>
            <a:ext cx="640080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Arial"/>
              </a:rPr>
              <a:t>The Elite Women race at Hamburg has been held 8 times in this analysis window (2018–2025). Cassandre Beaugrand is the most successful athlete in this span with 3 victories. The event is staged as part of the World Championship Series / World Championships, World Championship Series calendar.
[PLACEHOLDER: Add 1–2 sentences on notable storylines, competitive history, or what makes this event significant for Elite Women athletes. E.g. defending champions, record performances, dramatic finishes.]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1097280"/>
            <a:ext cx="498348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1155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3 KEYS TO SUCCESS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55448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53619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Swim positioning matters — an average of 18 athletes exit the water within 15 sec of the leader. Entering the bike in the front pack is critical; conserve energy with a disciplined swim line rather than sprinting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324612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322783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[PLACEHOLDER: Key 2 — Describe bike strategy: is this a pack race or do breakaways form? What power/tactics are needed to stay in the lead group?]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4937760"/>
            <a:ext cx="384048" cy="3840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4919472"/>
            <a:ext cx="44348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Arial"/>
              </a:rPr>
              <a:t>Run speed separates the podium — the fastest run pace averages ~1:28/km with a ~66s spread between fastest and average finisher. Either a pre-built lead from the bike or exceptional run speed is required to win.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Results Summary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82"/>
                <a:gridCol w="957428"/>
                <a:gridCol w="1914856"/>
                <a:gridCol w="554300"/>
                <a:gridCol w="755864"/>
                <a:gridCol w="2015638"/>
                <a:gridCol w="1007819"/>
                <a:gridCol w="806255"/>
                <a:gridCol w="856646"/>
                <a:gridCol w="705473"/>
                <a:gridCol w="705473"/>
                <a:gridCol w="705473"/>
              </a:tblGrid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Category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Field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DNF/LAP/DNS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Winner Time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Swim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Bike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</a:rPr>
                        <a:t>Run km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58:06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Stanford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59:24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15.0°*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Taylor-Brown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54:16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14.5°*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Lindemann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58:17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15.5°*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Duffy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58:37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Championships, World Championship Series, Age-Group Event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Beaugrand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21:35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24.4°*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7.5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Beaugrand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Arial"/>
                        </a:rPr>
                        <a:t>World Championship Series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Periault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56:25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21.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19.8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Arial"/>
                        </a:rPr>
                        <a:t>5.0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* Course distance changed vs. prior year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Swim Exit Dynamics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1164031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Bike Pack Evolution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07899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262626"/>
                </a:solidFill>
                <a:latin typeface="Arial"/>
              </a:rPr>
              <a:t>Lead pack = athletes within 15 sec of leader. T1 = lead group entering the bike; T2 = lead group exiting the bike.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81328"/>
            <a:ext cx="11640312" cy="3749039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5285232"/>
          <a:ext cx="11640311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828800"/>
                <a:gridCol w="1828800"/>
                <a:gridCol w="1188720"/>
                <a:gridCol w="2286000"/>
                <a:gridCol w="3822191"/>
              </a:tblGrid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Lead Size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Group @ T2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Chase Gap*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47s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+43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Arial"/>
                        </a:rPr>
                        <a:t>82s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65392"/>
            <a:ext cx="11640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FBFBF"/>
                </a:solidFill>
                <a:latin typeface="Arial"/>
              </a:rPr>
              <a:t>Lead pack = athletes within 15 sec of leader. Chase group = athletes within 15 sec of the first athlete outside the lead pack. * Chase Gap = seconds from the last lead-pack athlete to the first chase-group athlete at T2.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720840"/>
            <a:ext cx="116403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FBFBF"/>
                </a:solidFill>
                <a:latin typeface="Arial"/>
              </a:rPr>
              <a:t>Dropouts: 2018: 6 DNF/LAP  |  2019: 5 DNF/LAP  |  2020: 5 DNF/LAP  |  2022: 2 DNF/LAP (1 in lead group at t1)  |  2024: 3 DNF/LAP (1 in lead group at t1)  |  2025: 3 DNF/LAP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Run Split Analysis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5568"/>
            <a:ext cx="112471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Key Position Times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40312" cy="301752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187952"/>
          <a:ext cx="116403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833372"/>
                <a:gridCol w="1833372"/>
                <a:gridCol w="1833372"/>
                <a:gridCol w="1833372"/>
                <a:gridCol w="1833372"/>
                <a:gridCol w="1833372"/>
              </a:tblGrid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5th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20th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58:36
+30s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58:37
+31s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58:44
+38s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59:10
+64s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1:00:01
+115s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59:31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59:42
+18s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59:49
+25s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1:00:06
+42s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1:01:13
+109s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54:25
+9s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54:39
+23s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54:50
+34s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55:32
+76s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56:11
+115s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58:21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58:26
+9s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58:36
+19s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58:48
+31s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59:30
+73s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58:43
+6s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58:53
+16s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59:00
+23s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59:11
+34s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59:45
+68s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21:45
+10s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21:47
+12s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21:55
+20s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22:30
+55s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55:30
+11s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55:31
+12s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55:35
+16s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56:17
+58s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56:44
+85s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none"/>
                    <a:lstStyle/>
                    <a:p>
                      <a:pPr algn="ctr"/>
                      <a:r>
                        <a:rPr sz="1000" b="1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56:29
+4s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56:32
+7s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56:47
+22s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56:59
+34s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850" b="0" i="0">
                          <a:solidFill>
                            <a:srgbClr val="262626"/>
                          </a:solidFill>
                          <a:latin typeface="Arial"/>
                        </a:rPr>
                        <a:t>57:21
+56s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Race Conditions  —  Elite Women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217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Arial"/>
              </a:rPr>
              <a:t>Hamburg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SA_Triathlon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27432"/>
            <a:ext cx="123444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1143000"/>
          <a:ext cx="1164030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571"/>
                <a:gridCol w="864604"/>
                <a:gridCol w="910110"/>
                <a:gridCol w="819099"/>
                <a:gridCol w="910110"/>
                <a:gridCol w="864604"/>
                <a:gridCol w="864604"/>
                <a:gridCol w="819099"/>
                <a:gridCol w="4996506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Air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Humidity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Wind (km/h)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Precip (mm)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Water Temp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Wetsuit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Conditions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2019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15.0°*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14.5°*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Sep 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15.5°*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24.4°*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54%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19.2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Jul 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0.8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21.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forbidden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035040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FBFBF"/>
                </a:solidFill>
                <a:latin typeface="Arial"/>
              </a:rPr>
              <a:t>Air temp, humidity, wind, and precipitation sourced from Open-Meteo historical archive (race window 08:00–11:00 local) where WT API data is absent. Values marked * are Open-Meteo estimates. Water temp and wetsuit ruling are from the World Triathlon API per program.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