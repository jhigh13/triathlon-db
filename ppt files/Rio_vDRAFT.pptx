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RIO DE JANEIRO RACE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Elite Analysis  ·  August 1 – 2,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Week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Rio de Janeiro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August 1 – 2, 2026   •   Triathlon Arena, Copacabana Beach, Av Atlântica (BRT, UTC-3)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5705856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728216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Sat • Aug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Familiarization &amp; Briefing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240280"/>
          <a:ext cx="57058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4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1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08:00 – 08:45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 course familiarization — Triathlon Arena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09:00 – 09:45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 course familiarization — Triathlon Arena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16:00 – 17:00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Mandatory Elite Athletes' briefing — Othon Palace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Post-briefing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Race pack + credentials 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208776" y="1691640"/>
            <a:ext cx="5705856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0216" y="1728216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Sun • Aug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1929384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WORLD CUP RACE DAY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08776" y="2240280"/>
          <a:ext cx="57058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4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1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05:30 – 06:30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Athletes' lounge open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05:30 – 06:45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Transition 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06:20 – 06:45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Swim course open for warm-up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06:50 – 06:58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07:00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WOMEN RACE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06:45 – 08:45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Athletes' lounge 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08:00 – 08:45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Transition + swim warm-up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08:50 – 08:58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09:00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MEN RACE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&amp; Women medal ceremony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74320" y="63550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Times Triathlon Arena, Copacabana Beach, Av Atlântica (BRT, UTC-3). Schedule confirmed from World Triathlon race-info page / athlete guide; subject to organiser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Rio de Janeiro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RIO DE JANEIRO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The World Triathlon Cup returns to Copacabana Beach — the 2016 Olympic triathlon venue — for a sprint-distance race on August 2. A beach-start 750 m ocean swim in Atlantic surf feeds a dead-flat, fast 20.8 km bike along Avenida Atlântica and a 2-lap, 5 km run down the iconic Copacabana promenade. Warm 22–24 °C water means a non-wetsuit swim; the flat swim-and-bike put the whole race on the run. Morning starts (Women 07:00, Men 09:00) in Rio's mild August winter.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Beach-start 750 m ocean swim off Copacabana — Atlantic surf entry, non-wetsuit (22–24 °C).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Flat &amp; fast 20.8 km bike (6 laps) along the Avenida Atlântica seafront — big packs, high speed.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001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5 km run (2 laps) on the iconic Copacabana promenade — flat and fast; this is where it's decided.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2016 Olympic venue; morning starts (W 07:00 / M 09:00) in mild Rio winter conditions.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750 m – 1 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20.8 km – 6 laps × 3.47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8541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5 km – 2 laps × 2.5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23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Sprint Triathlon (World Cup)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Race Info | 2026 World Triathlon Cup Rio de Janeiro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B69A0-65C6-96E9-A20B-FB38094BE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036A26-6B40-D1C6-1318-3E62449C6258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B463A-362A-155F-943F-33D33D2EF921}"/>
              </a:ext>
            </a:extLst>
          </p:cNvPr>
          <p:cNvSpPr txBox="1"/>
          <p:nvPr/>
        </p:nvSpPr>
        <p:spPr>
          <a:xfrm>
            <a:off x="228600" y="45720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Arial"/>
              </a:rPr>
              <a:t>Course Photos</a:t>
            </a:r>
            <a:endParaRPr sz="28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AE0AE-64FE-26D1-896A-48DD5B92102A}"/>
              </a:ext>
            </a:extLst>
          </p:cNvPr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Edmonton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3073E9-434E-3930-6FFC-31BD6603F2F5}"/>
              </a:ext>
            </a:extLst>
          </p:cNvPr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>
            <a:extLst>
              <a:ext uri="{FF2B5EF4-FFF2-40B4-BE49-F238E27FC236}">
                <a16:creationId xmlns:a16="http://schemas.microsoft.com/office/drawing/2014/main" id="{D44948B8-9264-8202-F318-A1B3AC5D7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3436C4D-1E0F-A63C-1BD7-FA0DC4832037}"/>
              </a:ext>
            </a:extLst>
          </p:cNvPr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2BEE1E5-3F11-12F2-8790-017EFF6B4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662" y="1110699"/>
            <a:ext cx="4699320" cy="19944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31591DB-1F7A-76D5-12EA-13F80CF0E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" y="3588284"/>
            <a:ext cx="5113385" cy="298199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ABC7DF6-464C-B0DB-D760-3E0AFF52CE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462" y="3232555"/>
            <a:ext cx="4054533" cy="3360854"/>
          </a:xfrm>
          <a:prstGeom prst="rect">
            <a:avLst/>
          </a:prstGeom>
        </p:spPr>
      </p:pic>
      <p:sp>
        <p:nvSpPr>
          <p:cNvPr id="45" name="Speech Bubble: Rectangle 44">
            <a:extLst>
              <a:ext uri="{FF2B5EF4-FFF2-40B4-BE49-F238E27FC236}">
                <a16:creationId xmlns:a16="http://schemas.microsoft.com/office/drawing/2014/main" id="{D54DE021-5F3B-B2A9-E300-715AE37740D5}"/>
              </a:ext>
            </a:extLst>
          </p:cNvPr>
          <p:cNvSpPr/>
          <p:nvPr/>
        </p:nvSpPr>
        <p:spPr>
          <a:xfrm>
            <a:off x="5468937" y="1307932"/>
            <a:ext cx="914400" cy="612648"/>
          </a:xfrm>
          <a:prstGeom prst="wedgeRectCallout">
            <a:avLst>
              <a:gd name="adj1" fmla="val -65972"/>
              <a:gd name="adj2" fmla="val -1762"/>
            </a:avLst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Swim Area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3A51FDAA-59CC-338D-E9AD-F772327F8324}"/>
              </a:ext>
            </a:extLst>
          </p:cNvPr>
          <p:cNvSpPr/>
          <p:nvPr/>
        </p:nvSpPr>
        <p:spPr>
          <a:xfrm>
            <a:off x="5314950" y="2444750"/>
            <a:ext cx="1236662" cy="612648"/>
          </a:xfrm>
          <a:prstGeom prst="wedgeRectCallout">
            <a:avLst>
              <a:gd name="adj1" fmla="val 88195"/>
              <a:gd name="adj2" fmla="val -11090"/>
            </a:avLst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Transition</a:t>
            </a:r>
          </a:p>
        </p:txBody>
      </p:sp>
      <p:sp>
        <p:nvSpPr>
          <p:cNvPr id="49" name="Speech Bubble: Rectangle 48">
            <a:extLst>
              <a:ext uri="{FF2B5EF4-FFF2-40B4-BE49-F238E27FC236}">
                <a16:creationId xmlns:a16="http://schemas.microsoft.com/office/drawing/2014/main" id="{3C612AB9-E711-E95B-E719-1542F125ED7F}"/>
              </a:ext>
            </a:extLst>
          </p:cNvPr>
          <p:cNvSpPr/>
          <p:nvPr/>
        </p:nvSpPr>
        <p:spPr>
          <a:xfrm>
            <a:off x="5391150" y="3641832"/>
            <a:ext cx="1236662" cy="981730"/>
          </a:xfrm>
          <a:prstGeom prst="wedgeRectCallout">
            <a:avLst>
              <a:gd name="adj1" fmla="val -59173"/>
              <a:gd name="adj2" fmla="val 311"/>
            </a:avLst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Beginning of Bike Climb</a:t>
            </a:r>
          </a:p>
        </p:txBody>
      </p:sp>
      <p:sp>
        <p:nvSpPr>
          <p:cNvPr id="51" name="Speech Bubble: Rectangle 50">
            <a:extLst>
              <a:ext uri="{FF2B5EF4-FFF2-40B4-BE49-F238E27FC236}">
                <a16:creationId xmlns:a16="http://schemas.microsoft.com/office/drawing/2014/main" id="{13AD81E9-BCC1-9324-62CF-107D9F404C7A}"/>
              </a:ext>
            </a:extLst>
          </p:cNvPr>
          <p:cNvSpPr/>
          <p:nvPr/>
        </p:nvSpPr>
        <p:spPr>
          <a:xfrm>
            <a:off x="6248400" y="5079281"/>
            <a:ext cx="1236662" cy="981730"/>
          </a:xfrm>
          <a:prstGeom prst="wedgeRectCallout">
            <a:avLst>
              <a:gd name="adj1" fmla="val 63035"/>
              <a:gd name="adj2" fmla="val 23596"/>
            </a:avLst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Halfway / End of Bike Climb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32BE2F-80F2-B9D6-F7F9-E757EFFD69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8" y="1110682"/>
            <a:ext cx="5169252" cy="275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Rio de Janeiro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swim course map here]
Save the organiser map as:
ppt files/support/rio de janeiro_swim_course.png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2026 World Triathlon Cup Rio Athlete's Guide v2.0 (Copacabana)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750 m   •   single 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Open ocean — Atlantic surf, beach 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750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Copacabana Beach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62626"/>
                </a:solidFill>
                <a:latin typeface="Arial"/>
              </a:rPr>
              <a:t>Beach start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Water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22.5 °C (live)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Wetsuit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Forbidden (&gt; 22 °C)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3487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Single 750 m counterclockwise ocean loop off Copacabana Beach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. Same course as 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the 2016 Olympic swim 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611271"/>
            <a:ext cx="3487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Beach start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 with some potential for ocean swell and chop. Protection from the fort and pier though tends to lead to calmer conditions.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83557" y="5318682"/>
            <a:ext cx="3398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Warm water (22–24 °C)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. Prepare for 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non-wetsuit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 and to 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manage 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potential warm water and air temps. 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83557" y="5958070"/>
            <a:ext cx="34127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Exit 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is close to the entry point. 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Run up the beach to transition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89AAFDA-ABFB-6839-0C31-098748743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1" y="1147510"/>
            <a:ext cx="5166360" cy="386340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5317C66-F0CD-8EF0-4CDD-73698B603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397" y="3957367"/>
            <a:ext cx="2759403" cy="2600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Rio de Janeiro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course map here]
Save the organiser course map as:
ppt files/support/rio de janeiro_bike_course.png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2026 World Triathlon Cup Rio Athlete's Guide v2.0 (Copacabana)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20.8 km   •   6 × 3.47 km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seafront circuit — Avenida Atlântica, Copacabana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Elevation / 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0" dirty="0">
                <a:solidFill>
                  <a:srgbClr val="262626"/>
                </a:solidFill>
                <a:latin typeface="Arial"/>
              </a:rPr>
              <a:t>65 ft / lap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0" dirty="0">
                <a:solidFill>
                  <a:srgbClr val="262626"/>
                </a:solidFill>
                <a:latin typeface="Arial"/>
              </a:rPr>
              <a:t>390 ft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0" dirty="0">
                <a:solidFill>
                  <a:srgbClr val="262626"/>
                </a:solidFill>
                <a:latin typeface="Arial"/>
              </a:rPr>
              <a:t>0%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Climb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262626"/>
                </a:solidFill>
                <a:latin typeface="Arial"/>
              </a:rPr>
              <a:t>Beachfront exposed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Loops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6 × 3.47 km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70332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73075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Implications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0690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Fast and flat: 6 counterclockwise laps along the Copacabana seafront (Avenida Atlântica) = 20.8 km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36168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Classic beachfront out-and-back — the same waters/roads that hosted the 2016 Olympic triathlon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5429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Dead-flat, high-speed course built for spectators; expect large lead packs and a bunch finish onto the 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94690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Sea-breeze exposure along the beachfront straights can shape pack dynamics into the turns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23951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NOTE: guide is internally inconsistent — header says 20.8 km / 6 laps, body text says 20 km / 4 × 5 km. Confirm final lap count at briefing.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221224"/>
            <a:ext cx="11640312" cy="1316736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5577840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FBFBF"/>
                </a:solidFill>
                <a:latin typeface="Arial"/>
              </a:rPr>
              <a:t>Flat course — published profile shows no significant climbs.
No elevation chart synthesized; if a race GPS FIT becomes available, real contours will replace this block.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4AD910E-7ECD-AC80-8112-E83DD439F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25" y="1141282"/>
            <a:ext cx="5093335" cy="391535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E636932-971F-B76B-A5BD-9326D10A9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93" y="5226812"/>
            <a:ext cx="11640440" cy="12306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Rio de Janeiro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files/support/rio de janeiro_run_course.png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2026 World Triathlon Cup Rio Athlete's Guide v2.0 (Copacabana)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5.0 km   •   2 × 2.5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Paved seafront promenade — Avenida Atlântica, Copacabana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5.0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 × 2.5 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▲ /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Heat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MODERATE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Flat and fast: 2 counterclockwise laps of 2.5 km along the Copacabana seafront (5 km total)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Iconic promenade course — the black-and-white Portuguese-wave pavement of Avenida Atlântica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Aid stations positioned throughout each lap; flat profile favours aggressive, even-paced running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August is Rio winter but sun on the exposed beachfront can push perceived heat up — 09:00 men's start runs into rising sun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Race decided here: with a flat swim and flat bike, the run is where the World Cup is won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60807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Arial"/>
              </a:rPr>
              <a:t>Not in race brief: Elevation profile (course is flat — no published grade data)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Race-Day Weather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Rio de Janeiro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2026-08-02   •   Historical climatology — same calendar day, 7-year mean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00200"/>
            <a:ext cx="7040880" cy="3108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98079" y="16459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19" y="16824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 — 07:00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6367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34655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5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19.1 °C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1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39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20.3 °C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60735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79023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3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82%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34655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5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5.7 km/h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8551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6839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0735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79023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9023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32461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19" y="32826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 — 09:00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6367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34655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21.9 °C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8551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06839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39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23.5 °C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60735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79023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9023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71%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16367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34655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4655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5.7 km/h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88551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06839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39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60735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479023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9023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84632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487375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Hydration &amp; Cooling Cues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21208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Cool to mild outlook — standard fluid plan (~500 ml/h), no special pre-cooling required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50468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Men's race runs 2.8 °C hotter than women's — heat-acclim work + heavier cooling kit for the 08:30 start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Data source: Open-Meteo. Forecast will replace climatology once race day is within 16 days. Historical Race Conditions slide shows what actually happened in prior years.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Travel &amp; Arrival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Denver, CO → Rio de Janeiro race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960120"/>
          </a:xfrm>
          <a:prstGeom prst="rect">
            <a:avLst/>
          </a:prstGeom>
          <a:solidFill>
            <a:srgbClr val="E9EFF9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Core travel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Denver → Rio (GIG) is an overnight, one-stop haul — typically via ATL, IAH, MIA, or JFK/EWR on United/American/LATAM, ~13–15 h door-to-door. Only +4 h time-zone shift (MDT → BRT), so jet-lag is moderate — the bigger factor is the long overnight leg. The LOC runs a FREE airport shuttle GIG → Othon Palace Copacabana (bikes included) on July 29–31 — registration is mandatory or you self-arrange (~BRL 80–150 by Uber/99). Land by ~July 30 to settle before the Aug 1 briefing and Aug 2 race.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Primary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DEN → GIG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1-stop, overnight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9814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02966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Flight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2966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~13–15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966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via ATL / IAH / MIA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5308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58460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Time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460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+4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8460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Rio ahead of Denver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0803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13955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Airport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955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GIG → Othon Palace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3955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Free LOC shuttle (register)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6297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69449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Transfer 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9449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~20 km / 30–60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9449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Traffic-dependent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Host Hotel / Accommodation 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Official host hotel: Othon Palace Copacabana, Av Atlântica 3264 — directly facing Copacabana Beach.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Walking distance to the Triathlon Arena (central median of Av Atlântica, ~height 3806) — no race-morning commute.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Free LOC airport shuttle GIG ↔ Othon (bikes included) on Jul 29–31 / Aug 2–3 — mandatory registration via the LOC form.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Copacabana is dense and walkable; the beachfront promenade is the venue, training ground, and social hub in one.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992624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Brazil entry: check current US-passport visa/ETA status well before travel — requirements have shifted recently.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Food / Grocery Options Near 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Grocery: Zona Sul and Pão de Açúcar supermarkets along/near Av Nossa Senhora de Copacabana for staples, water, fruit, snacks.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Bottled/filtered water only — do not drink tap water in Rio; stock sealed bottles for race week to avoid GI risk.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Athlete-friendly: açaí bowls, grilled meats/fish, rice-and-beans, and juice bars are everywhere — easy carb + protein, but be selective with raw/street food pre-race.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The athletes' lounge provides sealed water + fruit before/after the race; bring your own race-morning fueling from the hotel.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4992624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Sun + exposed beachfront: pre-stock electrolytes and high-SPF sunscreen for daily training on the sand.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Rio de Janeiro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70432"/>
          <a:ext cx="4709158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1078992"/>
            <a:ext cx="470916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088136"/>
            <a:ext cx="45720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RACE-DAY WEATHER (07:00–11:00 local)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66360" y="1170432"/>
          <a:ext cx="4069078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7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12080" y="1088136"/>
            <a:ext cx="3931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AIR QUALITY (Open-Meteo archive)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01368"/>
            <a:ext cx="11640312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81965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85416"/>
            <a:ext cx="11430000" cy="1122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Quality: [PLACEHOLDER: Historical water quality data for Rio de Janeiro — e.g. bacterial counts, EU Bathing Water Directive status, known algae / pollution events. Check local environmental agency reports for May race window.]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307842"/>
            <a:ext cx="11430000" cy="1122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Athlete Health Incidents: [PLACEHOLDER: Any known GI illness, respiratory, or heat-related incidents at this or comparable venues. E.g. Sunderland 2023 — reported GI illness post-swim for multiple athletes.]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430268"/>
            <a:ext cx="11430000" cy="1122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Temperature: [PLACEHOLDER: Historical open-water temperature for Rio de Janeiro in May (not available from Open-Meteo; check Copernicus Marine / NOAA or WT historical results).]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52694"/>
            <a:ext cx="11430000" cy="1122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Heat / Humidity Risk: Auto-derived from above table — flag if humidity &gt;70% or air temp &gt;25°C at race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to Watch — Rio de Janeiro Race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Ranked on Startlist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65960"/>
          <a:ext cx="548640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Diego Moya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2,911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Jawad Abdelmoula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2,532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Mathis Beaulieu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2,443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Manoel Messias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2,150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Luke Schofield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2,124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Kazushi Jozuka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1,917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352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Andree Buc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1,889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5056632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507492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4681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 prior race history at this venue.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Ranked on Startlist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1965960"/>
          <a:ext cx="548640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Djenyfer Arnold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Verena Steinhauser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2,627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Manami Hayashi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2,432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Erika Ackerlund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Mariana Vargem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2,145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Sophia Howell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Beatrice Mallozzi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2,028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344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Mako Hiraizumi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1,998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352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Zuzana Michalickova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1,993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217920" y="5056632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507492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4681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 prior race history at this venue.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Rankings = current World Triathlon rankings snapshot; startlist intersect uses program_entries when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Top Swim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Rio de Janeiro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40312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Ranked by Lead Pack % (within 15 s of swim leader — robust to course speed)   •   EWMA swim split (span-5) shown per distance; Sprint = this race   •   WTCS / World Cup / Continental, last 4 yrs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828800"/>
          <a:ext cx="58064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6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Lead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EWMA Spr ▸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EWMA Std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Spr/Std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Aiden Longcroft-Harris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9:12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21/8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Ramón Armando Matute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9:12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17/5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Pietro Giovannini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8:48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Dylan McCullough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14/7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Diego Moya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8:32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19/11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Kevin Tarek Viñuela Gonzalez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8:21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16:54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17/14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Martin Demuth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18/14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Luigi Antonio Loddi Vanzella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9:28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10/1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Gabriel Terán Carvajal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8:57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20/7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Kauê Willy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8:54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18/7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Badr Siwane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10:17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22/9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Filip Vilenica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8:58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4/0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James Corbett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19/12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Mitch Kolkman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9:03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15/4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26480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80" y="1828800"/>
          <a:ext cx="58064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6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Lead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EWMA Spr ▸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EWMA Std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Spr/Std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Vittoria Lopes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8/9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9:34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8/1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Erin McConnell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9:28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13/0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Sophia Howell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9:49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27/8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Cecilia Santamaria Surroca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9:56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18/10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Moira Miranda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10:13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15/4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Djenyfer Arnold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9/14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Tjasa Vrtacic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9:19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14/2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Hollie Elliott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16/6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Josephine Seerig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10:15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12/3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Manami Hayashi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10:09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20/8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12/6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Melanie Santos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Rafaela Capó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10:08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21:12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6/4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USA World Rankings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Rio de Janeiro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As of 2026-07-27   •   World Triathlon Rankings   •   Heading into Rio de Janeiro   •   Race tier: World Cup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Max Points Available at this Race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Arial"/>
              </a:rPr>
              <a:t>500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2108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42108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Podium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2108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427 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9896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9896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9896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366 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7684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7684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7684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FBFBF"/>
                </a:solidFill>
                <a:latin typeface="Arial"/>
              </a:rPr>
              <a:t>247 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45472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45472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5472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FBFBF"/>
                </a:solidFill>
                <a:latin typeface="Arial"/>
              </a:rPr>
              <a:t>167 pts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13260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13260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13260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FBFBF"/>
                </a:solidFill>
                <a:latin typeface="Arial"/>
              </a:rPr>
              <a:t>113 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060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26334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74320" y="2935224"/>
          <a:ext cx="5787236" cy="3589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2,898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Morgan Pearson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2,281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2,124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Keller Norland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Porter Middaugh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Carter Stuhlmacher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Cole Jamieson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Isaac Lamprecht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6126480" y="26060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0" y="26334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126480" y="2935224"/>
          <a:ext cx="5787236" cy="3589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5,256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3,205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2,432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Erika Ackerlund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2,129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1,843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1,302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Katie McCune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Ellison Wolfe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Olympic Qualification 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Rio de Janeiro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66476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Paris 2024 OQR cutoff (30th): 3,626.69 pts   ÷   12-event cap =   302 pts / event on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584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An athlete who averages ~302 pts per event across their best 12 events is on pace to clear the LA 2028 qualifying threshold.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1234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8397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FINISH POSITION AT EACH TIER THAT HITS 302-PT PACE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196388"/>
          <a:ext cx="11640309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9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6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Win pts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Last on-pace pos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First off-pace pos (pts)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#17 (287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#8 (290 pts)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Championships (Americas)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#10 (293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Cup (Americas)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None (win = 280)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Arial"/>
                        </a:rPr>
                        <a:t>Not achievable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74320" y="36118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36393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MEN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3931920"/>
          <a:ext cx="5806440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Pace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Proj @12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1,341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4,023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4,063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Morgan Pearson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5,425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3,097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Keller Norland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6,234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2,545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Cole Jamieson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126480" y="36118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36393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WOMEN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126480" y="3931920"/>
          <a:ext cx="5806440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Pace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Proj @12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6,142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1,795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598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7,180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4,351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1,146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3,439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2,269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5,550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Erika Ackerlund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1,629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74320" y="64190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On = events scoring ≥ pace.  Off = events &lt; pace.  Pace = total breakdown pts ÷ events raced.  Proj @12 = current total + (avg pts × remaining events to cap); green if ≥ Paris cutoff.  Cutoff estimate: Paris 2024 = 3,627 pts / 12 events = 302 pts/event.  Tier positions use a geometric 0.925 points model.  Source: World Triathlon rankings database.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3051</Words>
  <Application>Microsoft Office PowerPoint</Application>
  <PresentationFormat>Custom</PresentationFormat>
  <Paragraphs>892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High</cp:lastModifiedBy>
  <cp:revision>2</cp:revision>
  <dcterms:created xsi:type="dcterms:W3CDTF">2013-01-27T09:14:16Z</dcterms:created>
  <dcterms:modified xsi:type="dcterms:W3CDTF">2026-07-28T03:00:20Z</dcterms:modified>
  <cp:category/>
</cp:coreProperties>
</file>